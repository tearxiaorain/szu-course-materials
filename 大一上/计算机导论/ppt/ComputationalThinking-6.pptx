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sldIdLst>
    <p:sldId id="434" r:id="rId2"/>
    <p:sldId id="435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0" r:id="rId26"/>
    <p:sldId id="461" r:id="rId27"/>
    <p:sldId id="462" r:id="rId2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9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2F08E28-89D0-4229-9D1A-8D4B842DDCF0}" type="datetimeFigureOut">
              <a:rPr lang="zh-CN" altLang="en-US"/>
              <a:pPr>
                <a:defRPr/>
              </a:pPr>
              <a:t>2023/10/18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F33C670-63A7-4329-90EF-C5CA8C038F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381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9001BC-8D93-43B2-B1CF-36AE87F61A76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域名抢注，域名服务器攻击，国家安全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69654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67576-0CFE-4881-A1C1-9E1B785D9BE6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E0FE6-CD3A-4122-9F7D-A153410423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1838ED-F915-4572-A9EA-4A4EACF8DCF4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41D9C-B0F9-4B82-B4AC-78E23B381E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8FEBD-81EB-4CAF-8780-FE4CF90E3610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DBAB1-0C62-441C-B04F-819C379BF8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0DF9A-C6B2-4B08-8A44-CFF1BCB7EB73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63DBC-F38D-401A-B5F6-924203B6E3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03D46-BD62-4521-8630-CA1748A2EA26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419D2-FD6A-48DC-B240-C53BF3A46E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68845-1683-46CA-8E0D-06681313DA9A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88DC7-4C47-4F9F-AFB8-800EF989CD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E2BD3-5863-4067-BA38-AAB2B2E5A02F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93502-6F41-4604-A968-FD553A6F7B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4C8CC-6C74-4CF5-8755-C951D08E1673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E70DB-907D-4446-A19A-BEA9EA3268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FF7D4-0381-4FE4-A40E-F7AC785E5ADB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0DF1A-5453-44B1-AB4F-E00A36CFAF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F257F-1A74-43FB-8039-1A899565D6AD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A813C-7113-4049-8596-7460AEA9D8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291F-B613-4695-AACD-82268E9222A7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C4353-B5E3-4A63-8C2C-6DA60FADAF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268413"/>
            <a:ext cx="8229600" cy="4857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34A83-818E-4756-9A06-0760D5EE79DB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D2AA2-4B2E-43D9-9E14-B12BFBD733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68313" y="404813"/>
            <a:ext cx="822960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268413"/>
            <a:ext cx="82296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B76AD06-A8EA-4EF1-9AD2-748CBF211D3F}" type="datetime1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4C8B227-46DD-4BEB-A1C5-4B8B130D711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ctrTitle"/>
          </p:nvPr>
        </p:nvSpPr>
        <p:spPr>
          <a:xfrm>
            <a:off x="0" y="1752600"/>
            <a:ext cx="9144000" cy="1470025"/>
          </a:xfrm>
        </p:spPr>
        <p:txBody>
          <a:bodyPr/>
          <a:lstStyle/>
          <a:p>
            <a:pPr algn="ctr" eaLnBrk="1" hangingPunct="1"/>
            <a:r>
              <a:rPr lang="en-US" altLang="zh-CN" sz="4000" dirty="0">
                <a:latin typeface="Times New Roman" pitchFamily="18" charset="0"/>
                <a:ea typeface="黑体" pitchFamily="49" charset="-122"/>
              </a:rPr>
              <a:t>Introduction to Computational Thinking</a:t>
            </a: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Chapter 6:  Networking and the Internet</a:t>
            </a:r>
            <a:endParaRPr lang="zh-CN" altLang="en-US" sz="32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919572" y="3933056"/>
            <a:ext cx="7304856" cy="1752600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en-US" altLang="zh-CN" dirty="0"/>
              <a:t>Rui Mao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altLang="zh-CN" dirty="0"/>
              <a:t>Shenzhen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2463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Chapter 6:  Networking and the Internet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085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6.1 Network Fundamentals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6.1.1 Network Classifications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6.1.2 Protocols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6.1.3 Connecting Networks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6.1.4 Inter-process Communication</a:t>
            </a:r>
          </a:p>
          <a:p>
            <a:pPr eaLnBrk="1" hangingPunct="1"/>
            <a:r>
              <a:rPr lang="en-US" altLang="zh-CN" dirty="0"/>
              <a:t>6.2 The Internet</a:t>
            </a:r>
          </a:p>
          <a:p>
            <a:pPr eaLnBrk="1" hangingPunct="1"/>
            <a:r>
              <a:rPr lang="en-US" altLang="zh-CN" dirty="0"/>
              <a:t>6.3 The World Wide Web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6.1 Network Fundamentals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6.1.1 Network Classifications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28775"/>
            <a:ext cx="8610600" cy="4419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/>
              <a:t>Scope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Local area network (LAN,</a:t>
            </a:r>
            <a:r>
              <a:rPr lang="zh-CN" altLang="en-US"/>
              <a:t>局域网</a:t>
            </a:r>
            <a:r>
              <a:rPr lang="en-US" altLang="zh-CN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Metropolitan area network (MAN,</a:t>
            </a:r>
            <a:r>
              <a:rPr lang="zh-CN" altLang="en-US"/>
              <a:t>城域网</a:t>
            </a:r>
            <a:r>
              <a:rPr lang="en-US" altLang="zh-CN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Wide area network (WAN,</a:t>
            </a:r>
            <a:r>
              <a:rPr lang="zh-CN" altLang="en-US"/>
              <a:t>广域网</a:t>
            </a:r>
            <a:r>
              <a:rPr lang="en-US" altLang="zh-CN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/>
              <a:t>Ownership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Closed versus open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/>
              <a:t>Topology (</a:t>
            </a:r>
            <a:r>
              <a:rPr lang="zh-CN" altLang="en-US"/>
              <a:t>拓扑</a:t>
            </a:r>
            <a:r>
              <a:rPr lang="en-US" altLang="zh-CN"/>
              <a:t>, configuration)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Bus (Ethernet,</a:t>
            </a:r>
            <a:r>
              <a:rPr lang="zh-CN" altLang="en-US"/>
              <a:t>以太网</a:t>
            </a:r>
            <a:r>
              <a:rPr lang="en-US" altLang="zh-CN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/>
              <a:t>Star (Wireless networks with central Access Point)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6.1</a:t>
            </a:r>
            <a:r>
              <a:rPr lang="en-US" altLang="zh-CN" dirty="0">
                <a:ea typeface="宋体" pitchFamily="2" charset="-122"/>
              </a:rPr>
              <a:t>  Network topologies</a:t>
            </a:r>
          </a:p>
        </p:txBody>
      </p:sp>
      <p:pic>
        <p:nvPicPr>
          <p:cNvPr id="5123" name="Picture 9" descr="fig04_01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2425" y="1649413"/>
            <a:ext cx="589915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TextBox 4"/>
          <p:cNvSpPr txBox="1">
            <a:spLocks noChangeArrowheads="1"/>
          </p:cNvSpPr>
          <p:nvPr/>
        </p:nvSpPr>
        <p:spPr bwMode="auto">
          <a:xfrm>
            <a:off x="1403350" y="5732463"/>
            <a:ext cx="64817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Bus vs. Star: communicate directly or via a central machine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6.1</a:t>
            </a:r>
            <a:r>
              <a:rPr lang="en-US" altLang="zh-CN" dirty="0">
                <a:ea typeface="宋体" pitchFamily="2" charset="-122"/>
              </a:rPr>
              <a:t>  Network topologies (continued)</a:t>
            </a:r>
          </a:p>
        </p:txBody>
      </p:sp>
      <p:pic>
        <p:nvPicPr>
          <p:cNvPr id="6147" name="Picture 13" descr="fig04_01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752600"/>
            <a:ext cx="617855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6.1.2 Protocols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388350" cy="5065712"/>
          </a:xfrm>
        </p:spPr>
        <p:txBody>
          <a:bodyPr/>
          <a:lstStyle/>
          <a:p>
            <a:pPr eaLnBrk="1" hangingPunct="1"/>
            <a:r>
              <a:rPr lang="en-US" altLang="zh-CN"/>
              <a:t>CSMA/CD (Carrier Sense Multiple Access/Collision Detect, </a:t>
            </a:r>
            <a:r>
              <a:rPr lang="zh-CN" altLang="en-US"/>
              <a:t>载波监听多路访问</a:t>
            </a:r>
            <a:r>
              <a:rPr lang="en-US" altLang="zh-CN"/>
              <a:t>/ </a:t>
            </a:r>
            <a:r>
              <a:rPr lang="zh-CN" altLang="en-US"/>
              <a:t>冲突检测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/>
              <a:t>Used in Ethernet</a:t>
            </a:r>
          </a:p>
          <a:p>
            <a:pPr lvl="1" eaLnBrk="1" hangingPunct="1"/>
            <a:r>
              <a:rPr lang="en-US" altLang="zh-CN"/>
              <a:t>Silent bus provides right to introduce new message</a:t>
            </a:r>
          </a:p>
          <a:p>
            <a:pPr eaLnBrk="1" hangingPunct="1"/>
            <a:r>
              <a:rPr lang="en-US" altLang="zh-CN"/>
              <a:t>CSMA/CA</a:t>
            </a:r>
          </a:p>
          <a:p>
            <a:pPr lvl="1" eaLnBrk="1" hangingPunct="1"/>
            <a:r>
              <a:rPr lang="en-US" altLang="zh-CN"/>
              <a:t>Used in WiFi</a:t>
            </a:r>
          </a:p>
          <a:p>
            <a:pPr lvl="1" eaLnBrk="1" hangingPunct="1"/>
            <a:r>
              <a:rPr lang="en-US" altLang="zh-CN"/>
              <a:t>Hidden terminal problem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1675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6.2</a:t>
            </a:r>
            <a:r>
              <a:rPr lang="en-US" altLang="zh-CN" dirty="0">
                <a:ea typeface="宋体" pitchFamily="2" charset="-122"/>
              </a:rPr>
              <a:t>  Communication over a bus network</a:t>
            </a:r>
            <a:endParaRPr lang="en-US" altLang="zh-CN" b="0" dirty="0">
              <a:ea typeface="宋体" pitchFamily="2" charset="-122"/>
            </a:endParaRPr>
          </a:p>
        </p:txBody>
      </p:sp>
      <p:pic>
        <p:nvPicPr>
          <p:cNvPr id="8195" name="Picture 11" descr="fig04_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7963" y="2205038"/>
            <a:ext cx="6599237" cy="261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1675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6.3</a:t>
            </a:r>
            <a:r>
              <a:rPr lang="en-US" altLang="zh-CN" dirty="0">
                <a:ea typeface="宋体" pitchFamily="2" charset="-122"/>
              </a:rPr>
              <a:t>  The hidden terminal problem</a:t>
            </a:r>
            <a:endParaRPr lang="en-US" altLang="zh-CN" b="0" dirty="0">
              <a:ea typeface="宋体" pitchFamily="2" charset="-122"/>
            </a:endParaRPr>
          </a:p>
        </p:txBody>
      </p:sp>
      <p:pic>
        <p:nvPicPr>
          <p:cNvPr id="9219" name="Picture 9" descr="fig04_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447800"/>
            <a:ext cx="4810125" cy="452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6.1.3 Connecting Networks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Repeater (</a:t>
            </a:r>
            <a:r>
              <a:rPr lang="zh-CN" altLang="en-US" b="1" dirty="0"/>
              <a:t>中继器</a:t>
            </a:r>
            <a:r>
              <a:rPr lang="en-US" altLang="zh-CN" b="1" dirty="0"/>
              <a:t>):</a:t>
            </a:r>
            <a:r>
              <a:rPr lang="en-US" altLang="zh-CN" dirty="0"/>
              <a:t> Extends a network</a:t>
            </a:r>
          </a:p>
          <a:p>
            <a:pPr eaLnBrk="1" hangingPunct="1"/>
            <a:r>
              <a:rPr lang="en-US" altLang="zh-CN" b="1" dirty="0"/>
              <a:t>Hub (</a:t>
            </a:r>
            <a:r>
              <a:rPr lang="zh-CN" altLang="en-US" b="1" dirty="0"/>
              <a:t>集线器</a:t>
            </a:r>
            <a:r>
              <a:rPr lang="en-US" altLang="zh-CN" b="1" dirty="0"/>
              <a:t>):</a:t>
            </a:r>
            <a:r>
              <a:rPr lang="en-US" altLang="zh-CN" dirty="0"/>
              <a:t> like a </a:t>
            </a:r>
            <a:r>
              <a:rPr lang="zh-CN" altLang="en-US" dirty="0"/>
              <a:t>电源插座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Bridge (</a:t>
            </a:r>
            <a:r>
              <a:rPr lang="zh-CN" altLang="en-US" b="1" dirty="0"/>
              <a:t>网桥</a:t>
            </a:r>
            <a:r>
              <a:rPr lang="en-US" altLang="zh-CN" b="1" dirty="0"/>
              <a:t>):</a:t>
            </a:r>
            <a:r>
              <a:rPr lang="en-US" altLang="zh-CN" dirty="0"/>
              <a:t> Connects two compatible networks, with filtering</a:t>
            </a:r>
          </a:p>
          <a:p>
            <a:pPr eaLnBrk="1" hangingPunct="1"/>
            <a:r>
              <a:rPr lang="en-US" altLang="zh-CN" b="1" dirty="0"/>
              <a:t>Switch (</a:t>
            </a:r>
            <a:r>
              <a:rPr lang="zh-CN" altLang="en-US" b="1" dirty="0"/>
              <a:t>交换机</a:t>
            </a:r>
            <a:r>
              <a:rPr lang="en-US" altLang="zh-CN" b="1" dirty="0"/>
              <a:t>):</a:t>
            </a:r>
            <a:r>
              <a:rPr lang="en-US" altLang="zh-CN" dirty="0"/>
              <a:t> Connects several compatible networks , with filtering</a:t>
            </a:r>
          </a:p>
          <a:p>
            <a:pPr eaLnBrk="1" hangingPunct="1"/>
            <a:r>
              <a:rPr lang="en-US" altLang="zh-CN" b="1" dirty="0"/>
              <a:t>Router (</a:t>
            </a:r>
            <a:r>
              <a:rPr lang="zh-CN" altLang="en-US" b="1" dirty="0"/>
              <a:t>路由器</a:t>
            </a:r>
            <a:r>
              <a:rPr lang="en-US" altLang="zh-CN" b="1" dirty="0"/>
              <a:t>):</a:t>
            </a:r>
            <a:r>
              <a:rPr lang="en-US" altLang="zh-CN" dirty="0"/>
              <a:t> Connects two incompatible networks resulting in a network of networks called an </a:t>
            </a:r>
            <a:r>
              <a:rPr lang="en-US" altLang="zh-CN" b="1" dirty="0"/>
              <a:t>internet (</a:t>
            </a:r>
            <a:r>
              <a:rPr lang="zh-CN" altLang="en-US" b="1" dirty="0"/>
              <a:t>互联网</a:t>
            </a:r>
            <a:r>
              <a:rPr lang="en-US" altLang="zh-CN" b="1" dirty="0"/>
              <a:t>, vs. Internet)</a:t>
            </a:r>
          </a:p>
          <a:p>
            <a:pPr eaLnBrk="1" hangingPunct="1"/>
            <a:r>
              <a:rPr lang="en-US" altLang="zh-CN" b="1" dirty="0"/>
              <a:t>Gateway (</a:t>
            </a:r>
            <a:r>
              <a:rPr lang="zh-CN" altLang="en-US" b="1" dirty="0"/>
              <a:t>网关</a:t>
            </a:r>
            <a:r>
              <a:rPr lang="en-US" altLang="zh-CN" b="1" dirty="0"/>
              <a:t>)</a:t>
            </a:r>
          </a:p>
          <a:p>
            <a:pPr lvl="1" eaLnBrk="1" hangingPunct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30238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6.4</a:t>
            </a:r>
            <a:r>
              <a:rPr lang="en-US" altLang="zh-CN" dirty="0">
                <a:ea typeface="宋体" pitchFamily="2" charset="-122"/>
              </a:rPr>
              <a:t>  Building a large bus network from smaller ones</a:t>
            </a:r>
          </a:p>
        </p:txBody>
      </p:sp>
      <p:pic>
        <p:nvPicPr>
          <p:cNvPr id="11267" name="Picture 7" descr="4-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684213" y="2033588"/>
            <a:ext cx="7550150" cy="360680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382000" cy="1524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6.5</a:t>
            </a:r>
            <a:r>
              <a:rPr lang="en-US" altLang="zh-CN" dirty="0">
                <a:ea typeface="宋体" pitchFamily="2" charset="-122"/>
              </a:rPr>
              <a:t>  Routers connecting two </a:t>
            </a:r>
            <a:r>
              <a:rPr lang="en-US" altLang="zh-CN" dirty="0" err="1">
                <a:ea typeface="宋体" pitchFamily="2" charset="-122"/>
              </a:rPr>
              <a:t>WiFi</a:t>
            </a:r>
            <a:r>
              <a:rPr lang="en-US" altLang="zh-CN" dirty="0">
                <a:ea typeface="宋体" pitchFamily="2" charset="-122"/>
              </a:rPr>
              <a:t> networks and an Ethernet network to form an internet</a:t>
            </a:r>
            <a:endParaRPr lang="en-US" altLang="zh-CN" b="0" dirty="0">
              <a:ea typeface="宋体" pitchFamily="2" charset="-122"/>
            </a:endParaRPr>
          </a:p>
        </p:txBody>
      </p:sp>
      <p:pic>
        <p:nvPicPr>
          <p:cNvPr id="12291" name="Picture 9" descr="fig04_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52203"/>
            <a:ext cx="66484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2463"/>
            <a:ext cx="9144000" cy="688975"/>
          </a:xfrm>
        </p:spPr>
        <p:txBody>
          <a:bodyPr/>
          <a:lstStyle/>
          <a:p>
            <a:pPr eaLnBrk="1" hangingPunct="1"/>
            <a:endParaRPr lang="en-US" altLang="zh-CN">
              <a:ea typeface="宋体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08525"/>
          </a:xfrm>
        </p:spPr>
        <p:txBody>
          <a:bodyPr/>
          <a:lstStyle/>
          <a:p>
            <a:pPr eaLnBrk="1" hangingPunct="1"/>
            <a:r>
              <a:rPr lang="en-US" altLang="zh-CN" dirty="0"/>
              <a:t>6.1 Network Fundamentals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6.2 The Internet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6.2.1 Internet Architecture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6.2.2 Internet Addressing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6.2.3 Internet Applications</a:t>
            </a:r>
          </a:p>
          <a:p>
            <a:pPr eaLnBrk="1" hangingPunct="1"/>
            <a:r>
              <a:rPr lang="en-US" altLang="zh-CN" dirty="0"/>
              <a:t>6.3 The World Wide Web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6.2 The Internet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pPr eaLnBrk="1" hangingPunct="1"/>
            <a:r>
              <a:rPr lang="en-US" altLang="zh-CN"/>
              <a:t>The Internet: An internet that spans the world</a:t>
            </a:r>
          </a:p>
          <a:p>
            <a:pPr lvl="1" eaLnBrk="1" hangingPunct="1"/>
            <a:r>
              <a:rPr lang="en-US" altLang="zh-CN"/>
              <a:t>Original goal was to develop a means of connecting networks that would not be disrupted by local disasters. (DARPA)</a:t>
            </a:r>
          </a:p>
          <a:p>
            <a:pPr lvl="1" eaLnBrk="1" hangingPunct="1"/>
            <a:r>
              <a:rPr lang="en-US" altLang="zh-CN"/>
              <a:t>Today it has shifted from an academic research project to a commercial undertaking.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6.2.1 Internet Architecture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Internet Service Provider (ISP)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Tier-1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Tier-2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Access ISP: Provides connectivity to the Internet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Traditional telephone (dial up connection)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Cable connections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DSL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Wireless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Modem:</a:t>
            </a:r>
            <a:r>
              <a:rPr lang="zh-CN" altLang="en-US"/>
              <a:t>调制解调器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5775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6.7</a:t>
            </a:r>
            <a:r>
              <a:rPr lang="en-US" altLang="zh-CN" dirty="0">
                <a:ea typeface="宋体" pitchFamily="2" charset="-122"/>
              </a:rPr>
              <a:t>  Internet Composition</a:t>
            </a:r>
          </a:p>
        </p:txBody>
      </p:sp>
      <p:pic>
        <p:nvPicPr>
          <p:cNvPr id="18435" name="Picture 10" descr="fig04_0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604125" cy="353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6.2.2 Internet Addressing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604250" cy="50657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IP address: pattern of 32 or 128 bits often represented in dotted decimal notation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IPV4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IPV6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Mnemonic [ni'mɔnik] address: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Domain names (</a:t>
            </a:r>
            <a:r>
              <a:rPr lang="zh-CN" altLang="en-US"/>
              <a:t>域名</a:t>
            </a:r>
            <a:r>
              <a:rPr lang="en-US" altLang="zh-CN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Top-Level Domains</a:t>
            </a:r>
            <a:r>
              <a:rPr lang="zh-CN" altLang="en-US"/>
              <a:t>：</a:t>
            </a:r>
            <a:r>
              <a:rPr lang="en-US" altLang="zh-CN"/>
              <a:t>.com, .org, .gov, .ca, sustc.edu.cn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Domain name system (DNS)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Name servers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DNS lookup (</a:t>
            </a:r>
            <a:r>
              <a:rPr lang="zh-CN" altLang="en-US"/>
              <a:t>域名解析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7213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Internet Corporation for Assigned Names &amp; Numbers (ICANN)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531938"/>
            <a:ext cx="8229600" cy="3697287"/>
          </a:xfrm>
        </p:spPr>
        <p:txBody>
          <a:bodyPr/>
          <a:lstStyle/>
          <a:p>
            <a:pPr eaLnBrk="1" hangingPunct="1"/>
            <a:r>
              <a:rPr lang="en-US" altLang="zh-CN"/>
              <a:t>Allocates IP addresses to ISPs who then assign those addresses within their regions.</a:t>
            </a:r>
          </a:p>
          <a:p>
            <a:pPr eaLnBrk="1" hangingPunct="1"/>
            <a:r>
              <a:rPr lang="en-US" altLang="zh-CN"/>
              <a:t>Oversees the registration of domains and domain names.</a:t>
            </a:r>
          </a:p>
          <a:p>
            <a:pPr eaLnBrk="1" hangingPunct="1"/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6.2.3 Internet Applications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Traditional applications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916113"/>
            <a:ext cx="8229600" cy="4465637"/>
          </a:xfrm>
        </p:spPr>
        <p:txBody>
          <a:bodyPr/>
          <a:lstStyle/>
          <a:p>
            <a:pPr eaLnBrk="1" hangingPunct="1"/>
            <a:r>
              <a:rPr lang="en-US" altLang="zh-CN"/>
              <a:t>Electronic Mail (email)</a:t>
            </a:r>
          </a:p>
          <a:p>
            <a:pPr lvl="1" eaLnBrk="1" hangingPunct="1"/>
            <a:r>
              <a:rPr lang="en-US" altLang="zh-CN"/>
              <a:t>Domain mail server collects incoming mail (SMTP) and transmits outing mail</a:t>
            </a:r>
          </a:p>
          <a:p>
            <a:pPr lvl="1" eaLnBrk="1" hangingPunct="1"/>
            <a:r>
              <a:rPr lang="en-US" altLang="zh-CN"/>
              <a:t>Mail server delivers collected incoming mail to clients via POP3 or IMAP</a:t>
            </a:r>
          </a:p>
          <a:p>
            <a:pPr eaLnBrk="1" hangingPunct="1"/>
            <a:r>
              <a:rPr lang="en-US" altLang="zh-CN"/>
              <a:t>File Transfer Protocol (FTP)</a:t>
            </a:r>
          </a:p>
          <a:p>
            <a:pPr eaLnBrk="1" hangingPunct="1"/>
            <a:r>
              <a:rPr lang="en-US" altLang="zh-CN"/>
              <a:t>Telnet and SSH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More Recent Applications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800" y="1316038"/>
            <a:ext cx="8229600" cy="5065712"/>
          </a:xfrm>
        </p:spPr>
        <p:txBody>
          <a:bodyPr/>
          <a:lstStyle/>
          <a:p>
            <a:pPr eaLnBrk="1" hangingPunct="1"/>
            <a:r>
              <a:rPr lang="en-US" altLang="zh-CN"/>
              <a:t>Voice Over IP (VoIP)</a:t>
            </a:r>
          </a:p>
          <a:p>
            <a:pPr eaLnBrk="1" hangingPunct="1"/>
            <a:r>
              <a:rPr lang="en-US" altLang="zh-CN"/>
              <a:t>Internet Radio</a:t>
            </a:r>
          </a:p>
          <a:p>
            <a:pPr lvl="1" eaLnBrk="1" hangingPunct="1"/>
            <a:r>
              <a:rPr lang="en-US" altLang="zh-CN"/>
              <a:t>N-unicast</a:t>
            </a:r>
          </a:p>
          <a:p>
            <a:pPr lvl="1" eaLnBrk="1" hangingPunct="1"/>
            <a:r>
              <a:rPr lang="en-US" altLang="zh-CN"/>
              <a:t>Multicast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2463"/>
            <a:ext cx="9144000" cy="688975"/>
          </a:xfrm>
        </p:spPr>
        <p:txBody>
          <a:bodyPr/>
          <a:lstStyle/>
          <a:p>
            <a:pPr eaLnBrk="1" hangingPunct="1"/>
            <a:endParaRPr lang="en-US" altLang="zh-CN">
              <a:ea typeface="宋体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708525"/>
          </a:xfrm>
        </p:spPr>
        <p:txBody>
          <a:bodyPr/>
          <a:lstStyle/>
          <a:p>
            <a:pPr eaLnBrk="1" hangingPunct="1"/>
            <a:r>
              <a:rPr lang="en-US" altLang="zh-CN" dirty="0"/>
              <a:t>6.1 Network Fundamentals</a:t>
            </a:r>
          </a:p>
          <a:p>
            <a:pPr eaLnBrk="1" hangingPunct="1"/>
            <a:r>
              <a:rPr lang="en-US" altLang="zh-CN" dirty="0"/>
              <a:t>6.2 The Internet</a:t>
            </a:r>
          </a:p>
          <a:p>
            <a:pPr eaLnBrk="1" hangingPunct="1"/>
            <a:r>
              <a:rPr lang="en-US" altLang="zh-CN" dirty="0">
                <a:solidFill>
                  <a:srgbClr val="FF3300"/>
                </a:solidFill>
              </a:rPr>
              <a:t>6.3 The World Wide Web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solidFill>
                  <a:srgbClr val="FF3300"/>
                </a:solidFill>
              </a:rPr>
              <a:t>6.3.1 Web implementation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solidFill>
                  <a:srgbClr val="FF3300"/>
                </a:solidFill>
              </a:rPr>
              <a:t>6.3.2 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chemeClr val="accent2"/>
                </a:solidFill>
                <a:ea typeface="宋体" pitchFamily="2" charset="-122"/>
              </a:rPr>
              <a:t>6.3 The World Wide Web</a:t>
            </a:r>
            <a:br>
              <a:rPr lang="en-US" altLang="zh-CN" sz="3200" dirty="0">
                <a:ea typeface="宋体" pitchFamily="2" charset="-122"/>
              </a:rPr>
            </a:b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6.3.1 Web implementation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916113"/>
            <a:ext cx="8229600" cy="4491037"/>
          </a:xfrm>
        </p:spPr>
        <p:txBody>
          <a:bodyPr/>
          <a:lstStyle/>
          <a:p>
            <a:pPr eaLnBrk="1" hangingPunct="1"/>
            <a:r>
              <a:rPr lang="en-US" altLang="zh-CN"/>
              <a:t>Hypertext and HTTP (HyperText Transfer Protocol)</a:t>
            </a:r>
          </a:p>
          <a:p>
            <a:pPr eaLnBrk="1" hangingPunct="1"/>
            <a:r>
              <a:rPr lang="en-US" altLang="zh-CN"/>
              <a:t>Browser gets documents from Web server</a:t>
            </a:r>
          </a:p>
          <a:p>
            <a:pPr eaLnBrk="1" hangingPunct="1"/>
            <a:r>
              <a:rPr lang="en-US" altLang="zh-CN"/>
              <a:t>Documents identified by URLs (Uniform Resource Locator)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438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6.8</a:t>
            </a:r>
            <a:r>
              <a:rPr lang="en-US" altLang="zh-CN" dirty="0">
                <a:ea typeface="宋体" pitchFamily="2" charset="-122"/>
              </a:rPr>
              <a:t>  A typical URL</a:t>
            </a:r>
          </a:p>
        </p:txBody>
      </p:sp>
      <p:pic>
        <p:nvPicPr>
          <p:cNvPr id="25603" name="Picture 4" descr="fig_04_06"/>
          <p:cNvPicPr preferRelativeResize="0"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</a:blip>
          <a:srcRect/>
          <a:stretch>
            <a:fillRect/>
          </a:stretch>
        </p:blipFill>
        <p:spPr>
          <a:xfrm>
            <a:off x="457200" y="2116138"/>
            <a:ext cx="8305800" cy="3082925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6.3.2 HTML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00213"/>
            <a:ext cx="8686800" cy="4624387"/>
          </a:xfrm>
        </p:spPr>
        <p:txBody>
          <a:bodyPr/>
          <a:lstStyle/>
          <a:p>
            <a:pPr eaLnBrk="1" hangingPunct="1"/>
            <a:r>
              <a:rPr lang="en-US" altLang="zh-CN" sz="2400"/>
              <a:t>Hypertext Document Format </a:t>
            </a:r>
          </a:p>
          <a:p>
            <a:pPr eaLnBrk="1" hangingPunct="1">
              <a:buFontTx/>
              <a:buChar char="•"/>
            </a:pPr>
            <a:r>
              <a:rPr lang="en-US" altLang="zh-CN" sz="2400"/>
              <a:t>Encoded as text file</a:t>
            </a:r>
          </a:p>
          <a:p>
            <a:pPr eaLnBrk="1" hangingPunct="1">
              <a:buFontTx/>
              <a:buChar char="•"/>
            </a:pPr>
            <a:r>
              <a:rPr lang="en-US" altLang="zh-CN" sz="2400"/>
              <a:t>Contains tags to communicate with browser</a:t>
            </a:r>
          </a:p>
          <a:p>
            <a:pPr lvl="1" eaLnBrk="1" hangingPunct="1"/>
            <a:r>
              <a:rPr lang="en-US" altLang="zh-CN"/>
              <a:t>Appearance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/>
              <a:t>&lt;h1&gt; to start a level one heading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/>
              <a:t>&lt;p&gt; to start a new paragraph</a:t>
            </a:r>
          </a:p>
          <a:p>
            <a:pPr lvl="1" eaLnBrk="1" hangingPunct="1"/>
            <a:r>
              <a:rPr lang="en-US" altLang="zh-CN"/>
              <a:t>Links to other documents and content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/>
              <a:t>&lt;a href = . . . &gt;</a:t>
            </a:r>
          </a:p>
          <a:p>
            <a:pPr lvl="1" eaLnBrk="1" hangingPunct="1"/>
            <a:r>
              <a:rPr lang="en-US" altLang="zh-CN"/>
              <a:t>Insert images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/>
              <a:t>&lt;img src = . . . &gt;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241D9C-B0F9-4B82-B4AC-78E23B381EC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8000"/>
            <a:ext cx="9144000" cy="688975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6.9</a:t>
            </a:r>
            <a:r>
              <a:rPr lang="en-US" altLang="zh-CN" dirty="0">
                <a:ea typeface="宋体" pitchFamily="2" charset="-122"/>
              </a:rPr>
              <a:t>  A simple Web page</a:t>
            </a:r>
          </a:p>
        </p:txBody>
      </p:sp>
      <p:pic>
        <p:nvPicPr>
          <p:cNvPr id="27651" name="Picture 10" descr="fig04_09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3163" y="1281113"/>
            <a:ext cx="6796087" cy="429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57213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6.9</a:t>
            </a:r>
            <a:r>
              <a:rPr lang="en-US" altLang="zh-CN" dirty="0">
                <a:ea typeface="宋体" pitchFamily="2" charset="-122"/>
              </a:rPr>
              <a:t>  A simple Web page (continued)</a:t>
            </a:r>
          </a:p>
        </p:txBody>
      </p:sp>
      <p:pic>
        <p:nvPicPr>
          <p:cNvPr id="28675" name="Picture 7" descr="fig04_09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981200"/>
            <a:ext cx="5540375" cy="342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6.10</a:t>
            </a:r>
            <a:r>
              <a:rPr lang="en-US" altLang="zh-CN" dirty="0">
                <a:ea typeface="宋体" pitchFamily="2" charset="-122"/>
              </a:rPr>
              <a:t>  An enhanced simple Web page</a:t>
            </a:r>
          </a:p>
        </p:txBody>
      </p:sp>
      <p:pic>
        <p:nvPicPr>
          <p:cNvPr id="29699" name="Picture 6" descr="fig_04_08ab"/>
          <p:cNvPicPr preferRelativeResize="0">
            <a:picLocks noChangeAspect="1" noChangeArrowheads="1"/>
          </p:cNvPicPr>
          <p:nvPr/>
        </p:nvPicPr>
        <p:blipFill>
          <a:blip r:embed="rId2">
            <a:grayscl/>
          </a:blip>
          <a:srcRect b="39499"/>
          <a:stretch>
            <a:fillRect/>
          </a:stretch>
        </p:blipFill>
        <p:spPr bwMode="auto">
          <a:xfrm>
            <a:off x="1295400" y="1600200"/>
            <a:ext cx="6273800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5775"/>
            <a:ext cx="8305800" cy="1143000"/>
          </a:xfrm>
        </p:spPr>
        <p:txBody>
          <a:bodyPr/>
          <a:lstStyle/>
          <a:p>
            <a:pPr eaLnBrk="1" hangingPunct="1"/>
            <a:r>
              <a:rPr lang="en-US" altLang="zh-CN" b="0" dirty="0">
                <a:ea typeface="宋体" pitchFamily="2" charset="-122"/>
              </a:rPr>
              <a:t>Figure 6.10</a:t>
            </a:r>
            <a:r>
              <a:rPr lang="en-US" altLang="zh-CN" dirty="0">
                <a:ea typeface="宋体" pitchFamily="2" charset="-122"/>
              </a:rPr>
              <a:t>  An enhanced simple Web page (continued)</a:t>
            </a:r>
          </a:p>
        </p:txBody>
      </p:sp>
      <p:pic>
        <p:nvPicPr>
          <p:cNvPr id="30723" name="Picture 6" descr="fig_04_08ab"/>
          <p:cNvPicPr preferRelativeResize="0">
            <a:picLocks noChangeAspect="1" noChangeArrowheads="1"/>
          </p:cNvPicPr>
          <p:nvPr/>
        </p:nvPicPr>
        <p:blipFill>
          <a:blip r:embed="rId2">
            <a:grayscl/>
          </a:blip>
          <a:srcRect t="60545"/>
          <a:stretch>
            <a:fillRect/>
          </a:stretch>
        </p:blipFill>
        <p:spPr bwMode="auto">
          <a:xfrm>
            <a:off x="1168400" y="1601788"/>
            <a:ext cx="6807200" cy="342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88DC7-4C47-4F9F-AFB8-800EF989CD13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hpcc-宣传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nhpcc-宣传册</Template>
  <TotalTime>567</TotalTime>
  <Words>713</Words>
  <Application>Microsoft Office PowerPoint</Application>
  <PresentationFormat>全屏显示(4:3)</PresentationFormat>
  <Paragraphs>140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黑体</vt:lpstr>
      <vt:lpstr>宋体</vt:lpstr>
      <vt:lpstr>Arial</vt:lpstr>
      <vt:lpstr>Calibri</vt:lpstr>
      <vt:lpstr>Times New Roman</vt:lpstr>
      <vt:lpstr>nhpcc-宣传册</vt:lpstr>
      <vt:lpstr>Introduction to Computational Thinking Chapter 6:  Networking and the Internet</vt:lpstr>
      <vt:lpstr>Chapter 6:  Networking and the Internet</vt:lpstr>
      <vt:lpstr>6.1 Network Fundamentals 6.1.1 Network Classifications</vt:lpstr>
      <vt:lpstr>Figure 6.1  Network topologies</vt:lpstr>
      <vt:lpstr>Figure 6.1  Network topologies (continued)</vt:lpstr>
      <vt:lpstr>6.1.2 Protocols</vt:lpstr>
      <vt:lpstr>Figure 6.2  Communication over a bus network</vt:lpstr>
      <vt:lpstr>Figure 6.3  The hidden terminal problem</vt:lpstr>
      <vt:lpstr>6.1.3 Connecting Networks</vt:lpstr>
      <vt:lpstr>Figure 6.4  Building a large bus network from smaller ones</vt:lpstr>
      <vt:lpstr>Figure 6.5  Routers connecting two WiFi networks and an Ethernet network to form an internet</vt:lpstr>
      <vt:lpstr>PowerPoint 演示文稿</vt:lpstr>
      <vt:lpstr>6.2 The Internet</vt:lpstr>
      <vt:lpstr>6.2.1 Internet Architecture</vt:lpstr>
      <vt:lpstr>Figure 6.7  Internet Composition</vt:lpstr>
      <vt:lpstr>6.2.2 Internet Addressing</vt:lpstr>
      <vt:lpstr>Internet Corporation for Assigned Names &amp; Numbers (ICANN)</vt:lpstr>
      <vt:lpstr>6.2.3 Internet Applications Traditional applications</vt:lpstr>
      <vt:lpstr>More Recent Applications</vt:lpstr>
      <vt:lpstr>PowerPoint 演示文稿</vt:lpstr>
      <vt:lpstr>6.3 The World Wide Web  6.3.1 Web implementation</vt:lpstr>
      <vt:lpstr>Figure 6.8  A typical URL</vt:lpstr>
      <vt:lpstr>6.3.2 HTML</vt:lpstr>
      <vt:lpstr>Figure 6.9  A simple Web page</vt:lpstr>
      <vt:lpstr>Figure 6.9  A simple Web page (continued)</vt:lpstr>
      <vt:lpstr>Figure 6.10  An enhanced simple Web page</vt:lpstr>
      <vt:lpstr>Figure 6.10  An enhanced simple Web page (continued)</vt:lpstr>
    </vt:vector>
  </TitlesOfParts>
  <Company>深圳大学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计算机前沿技术讲座 2011年秋季</dc:title>
  <dc:creator>毛睿</dc:creator>
  <cp:lastModifiedBy>Rui Mao</cp:lastModifiedBy>
  <cp:revision>48</cp:revision>
  <dcterms:created xsi:type="dcterms:W3CDTF">2011-09-12T12:30:47Z</dcterms:created>
  <dcterms:modified xsi:type="dcterms:W3CDTF">2023-10-18T03:47:19Z</dcterms:modified>
</cp:coreProperties>
</file>