
<file path=[Content_Types].xml><?xml version="1.0" encoding="utf-8"?>
<Types xmlns="http://schemas.openxmlformats.org/package/2006/content-types">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8">
  <p:sldMasterIdLst>
    <p:sldMasterId id="2147483660" r:id="rId1"/>
  </p:sldMasterIdLst>
  <p:notesMasterIdLst>
    <p:notesMasterId r:id="rId40"/>
  </p:notesMasterIdLst>
  <p:sldIdLst>
    <p:sldId id="293" r:id="rId2"/>
    <p:sldId id="256" r:id="rId3"/>
    <p:sldId id="257" r:id="rId4"/>
    <p:sldId id="258" r:id="rId5"/>
    <p:sldId id="260" r:id="rId6"/>
    <p:sldId id="259" r:id="rId7"/>
    <p:sldId id="262" r:id="rId8"/>
    <p:sldId id="263" r:id="rId9"/>
    <p:sldId id="264" r:id="rId10"/>
    <p:sldId id="261" r:id="rId11"/>
    <p:sldId id="266" r:id="rId12"/>
    <p:sldId id="265" r:id="rId13"/>
    <p:sldId id="270" r:id="rId14"/>
    <p:sldId id="287" r:id="rId15"/>
    <p:sldId id="267" r:id="rId16"/>
    <p:sldId id="284" r:id="rId17"/>
    <p:sldId id="283" r:id="rId18"/>
    <p:sldId id="285" r:id="rId19"/>
    <p:sldId id="268" r:id="rId20"/>
    <p:sldId id="269" r:id="rId21"/>
    <p:sldId id="286" r:id="rId22"/>
    <p:sldId id="271" r:id="rId23"/>
    <p:sldId id="272" r:id="rId24"/>
    <p:sldId id="288" r:id="rId25"/>
    <p:sldId id="273" r:id="rId26"/>
    <p:sldId id="274" r:id="rId27"/>
    <p:sldId id="290" r:id="rId28"/>
    <p:sldId id="289" r:id="rId29"/>
    <p:sldId id="275" r:id="rId30"/>
    <p:sldId id="291" r:id="rId31"/>
    <p:sldId id="276" r:id="rId32"/>
    <p:sldId id="277" r:id="rId33"/>
    <p:sldId id="292" r:id="rId34"/>
    <p:sldId id="278" r:id="rId35"/>
    <p:sldId id="279" r:id="rId36"/>
    <p:sldId id="280" r:id="rId37"/>
    <p:sldId id="281" r:id="rId38"/>
    <p:sldId id="282" r:id="rId3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39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165" d="100"/>
          <a:sy n="165" d="100"/>
        </p:scale>
        <p:origin x="1680" y="10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A28B7B7-3B5B-4357-942D-15785DF3BD00}"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zh-CN" altLang="en-US"/>
        </a:p>
      </dgm:t>
    </dgm:pt>
    <dgm:pt modelId="{A248F3C7-AE73-4E75-9F06-1D3AC4A328A9}">
      <dgm:prSet phldrT="[文本]"/>
      <dgm:spPr/>
      <dgm:t>
        <a:bodyPr/>
        <a:lstStyle/>
        <a:p>
          <a:r>
            <a:rPr lang="zh-CN" dirty="0"/>
            <a:t>程序设计语言</a:t>
          </a:r>
          <a:endParaRPr lang="zh-CN" altLang="en-US" dirty="0"/>
        </a:p>
      </dgm:t>
    </dgm:pt>
    <dgm:pt modelId="{B7457A76-694D-4F47-8B1B-7A0D67D6EE43}" type="parTrans" cxnId="{96DA404C-B86A-4DFB-B512-F48185BDAB17}">
      <dgm:prSet/>
      <dgm:spPr/>
      <dgm:t>
        <a:bodyPr/>
        <a:lstStyle/>
        <a:p>
          <a:endParaRPr lang="zh-CN" altLang="en-US"/>
        </a:p>
      </dgm:t>
    </dgm:pt>
    <dgm:pt modelId="{3BECB548-789D-4E0B-8256-5FE2DA3DEBAE}" type="sibTrans" cxnId="{96DA404C-B86A-4DFB-B512-F48185BDAB17}">
      <dgm:prSet/>
      <dgm:spPr/>
      <dgm:t>
        <a:bodyPr/>
        <a:lstStyle/>
        <a:p>
          <a:endParaRPr lang="zh-CN" altLang="en-US"/>
        </a:p>
      </dgm:t>
    </dgm:pt>
    <dgm:pt modelId="{A52E9045-D1EB-4C3C-9A8B-3C6110D9B3D8}">
      <dgm:prSet phldrT="[文本]"/>
      <dgm:spPr/>
      <dgm:t>
        <a:bodyPr/>
        <a:lstStyle/>
        <a:p>
          <a:r>
            <a:rPr lang="zh-CN" altLang="zh-CN" dirty="0"/>
            <a:t>机器语言</a:t>
          </a:r>
          <a:endParaRPr lang="zh-CN" altLang="en-US" dirty="0"/>
        </a:p>
      </dgm:t>
    </dgm:pt>
    <dgm:pt modelId="{AFD1706D-1EDA-4569-9571-AA8A07698B3D}" type="parTrans" cxnId="{1A672A62-1C0D-4525-9E79-A4E615F2B8EC}">
      <dgm:prSet/>
      <dgm:spPr/>
      <dgm:t>
        <a:bodyPr/>
        <a:lstStyle/>
        <a:p>
          <a:endParaRPr lang="zh-CN" altLang="en-US"/>
        </a:p>
      </dgm:t>
    </dgm:pt>
    <dgm:pt modelId="{3D67BA31-F681-4D6E-B2E0-5506BF8F5451}" type="sibTrans" cxnId="{1A672A62-1C0D-4525-9E79-A4E615F2B8EC}">
      <dgm:prSet/>
      <dgm:spPr/>
      <dgm:t>
        <a:bodyPr/>
        <a:lstStyle/>
        <a:p>
          <a:endParaRPr lang="zh-CN" altLang="en-US"/>
        </a:p>
      </dgm:t>
    </dgm:pt>
    <dgm:pt modelId="{B7929363-0BB8-4596-B02A-CCC56D256DD0}">
      <dgm:prSet phldrT="[文本]"/>
      <dgm:spPr/>
      <dgm:t>
        <a:bodyPr/>
        <a:lstStyle/>
        <a:p>
          <a:r>
            <a:rPr lang="zh-CN" altLang="zh-CN" dirty="0"/>
            <a:t>汇编语言</a:t>
          </a:r>
          <a:endParaRPr lang="zh-CN" altLang="en-US" dirty="0"/>
        </a:p>
      </dgm:t>
    </dgm:pt>
    <dgm:pt modelId="{A6B9CA04-2F1D-46ED-821E-D698BE98AF56}" type="parTrans" cxnId="{954B47C8-E327-457D-9383-94E6B78FC5C7}">
      <dgm:prSet/>
      <dgm:spPr/>
      <dgm:t>
        <a:bodyPr/>
        <a:lstStyle/>
        <a:p>
          <a:endParaRPr lang="zh-CN" altLang="en-US"/>
        </a:p>
      </dgm:t>
    </dgm:pt>
    <dgm:pt modelId="{B312A6F9-679F-4A14-861E-B61143A4967B}" type="sibTrans" cxnId="{954B47C8-E327-457D-9383-94E6B78FC5C7}">
      <dgm:prSet/>
      <dgm:spPr/>
      <dgm:t>
        <a:bodyPr/>
        <a:lstStyle/>
        <a:p>
          <a:endParaRPr lang="zh-CN" altLang="en-US"/>
        </a:p>
      </dgm:t>
    </dgm:pt>
    <dgm:pt modelId="{948924CC-D566-4F96-9653-9FE262053C39}">
      <dgm:prSet/>
      <dgm:spPr/>
      <dgm:t>
        <a:bodyPr/>
        <a:lstStyle/>
        <a:p>
          <a:r>
            <a:rPr lang="zh-CN" altLang="zh-CN" dirty="0"/>
            <a:t>高级语言</a:t>
          </a:r>
          <a:endParaRPr lang="zh-CN" altLang="en-US" dirty="0"/>
        </a:p>
      </dgm:t>
    </dgm:pt>
    <dgm:pt modelId="{1E612041-593D-45E4-8A6C-B6A8DE424389}" type="parTrans" cxnId="{95527012-85FC-4A2D-8D08-6D22A0D75F07}">
      <dgm:prSet/>
      <dgm:spPr/>
      <dgm:t>
        <a:bodyPr/>
        <a:lstStyle/>
        <a:p>
          <a:endParaRPr lang="zh-CN" altLang="en-US"/>
        </a:p>
      </dgm:t>
    </dgm:pt>
    <dgm:pt modelId="{DBE66345-6844-4947-B854-20903021A392}" type="sibTrans" cxnId="{95527012-85FC-4A2D-8D08-6D22A0D75F07}">
      <dgm:prSet/>
      <dgm:spPr/>
      <dgm:t>
        <a:bodyPr/>
        <a:lstStyle/>
        <a:p>
          <a:endParaRPr lang="zh-CN" altLang="en-US"/>
        </a:p>
      </dgm:t>
    </dgm:pt>
    <dgm:pt modelId="{ECA31C30-9A03-4A5F-8409-09A247CAACED}">
      <dgm:prSet/>
      <dgm:spPr/>
      <dgm:t>
        <a:bodyPr/>
        <a:lstStyle/>
        <a:p>
          <a:r>
            <a:rPr lang="zh-CN" altLang="zh-CN" dirty="0"/>
            <a:t>命令式程序设计语言</a:t>
          </a:r>
          <a:endParaRPr lang="zh-CN" altLang="en-US" dirty="0"/>
        </a:p>
      </dgm:t>
    </dgm:pt>
    <dgm:pt modelId="{8506CB60-1158-4E81-861E-21DCE7D4C4CC}" type="parTrans" cxnId="{877CEDAD-47C0-41A4-A2C9-E7F899E2B5B3}">
      <dgm:prSet/>
      <dgm:spPr/>
      <dgm:t>
        <a:bodyPr/>
        <a:lstStyle/>
        <a:p>
          <a:endParaRPr lang="zh-CN" altLang="en-US"/>
        </a:p>
      </dgm:t>
    </dgm:pt>
    <dgm:pt modelId="{23CBB9E1-0526-4D7C-B213-FE6B676B584C}" type="sibTrans" cxnId="{877CEDAD-47C0-41A4-A2C9-E7F899E2B5B3}">
      <dgm:prSet/>
      <dgm:spPr/>
      <dgm:t>
        <a:bodyPr/>
        <a:lstStyle/>
        <a:p>
          <a:endParaRPr lang="zh-CN" altLang="en-US"/>
        </a:p>
      </dgm:t>
    </dgm:pt>
    <dgm:pt modelId="{C3FF5018-4E45-4702-AC93-57120A5B1C0A}">
      <dgm:prSet/>
      <dgm:spPr/>
      <dgm:t>
        <a:bodyPr/>
        <a:lstStyle/>
        <a:p>
          <a:r>
            <a:rPr lang="zh-CN" altLang="zh-CN"/>
            <a:t>函数式程序设计语言</a:t>
          </a:r>
          <a:endParaRPr lang="zh-CN" altLang="en-US"/>
        </a:p>
      </dgm:t>
    </dgm:pt>
    <dgm:pt modelId="{A8339758-1B4B-4E09-8F8C-75CA3CA275C1}" type="parTrans" cxnId="{B14A4A50-1AF9-4F91-B254-EFBCE876E2A5}">
      <dgm:prSet/>
      <dgm:spPr/>
      <dgm:t>
        <a:bodyPr/>
        <a:lstStyle/>
        <a:p>
          <a:endParaRPr lang="zh-CN" altLang="en-US"/>
        </a:p>
      </dgm:t>
    </dgm:pt>
    <dgm:pt modelId="{85BB2741-128F-49A4-B2C6-AA48C9C404EA}" type="sibTrans" cxnId="{B14A4A50-1AF9-4F91-B254-EFBCE876E2A5}">
      <dgm:prSet/>
      <dgm:spPr/>
      <dgm:t>
        <a:bodyPr/>
        <a:lstStyle/>
        <a:p>
          <a:endParaRPr lang="zh-CN" altLang="en-US"/>
        </a:p>
      </dgm:t>
    </dgm:pt>
    <dgm:pt modelId="{72E5253C-3CBE-44D9-B613-F5387B0E20C7}">
      <dgm:prSet/>
      <dgm:spPr/>
      <dgm:t>
        <a:bodyPr/>
        <a:lstStyle/>
        <a:p>
          <a:r>
            <a:rPr lang="zh-CN" altLang="zh-CN"/>
            <a:t>逻辑程序设计语言</a:t>
          </a:r>
          <a:endParaRPr lang="zh-CN" altLang="en-US"/>
        </a:p>
      </dgm:t>
    </dgm:pt>
    <dgm:pt modelId="{5BEB2886-D8B2-4572-9658-82E5C51D5E90}" type="parTrans" cxnId="{0F371715-42A3-47AD-BD7E-757E31C267CE}">
      <dgm:prSet/>
      <dgm:spPr/>
      <dgm:t>
        <a:bodyPr/>
        <a:lstStyle/>
        <a:p>
          <a:endParaRPr lang="zh-CN" altLang="en-US"/>
        </a:p>
      </dgm:t>
    </dgm:pt>
    <dgm:pt modelId="{526F6C67-1E77-44C4-8310-44B71BEDB4D7}" type="sibTrans" cxnId="{0F371715-42A3-47AD-BD7E-757E31C267CE}">
      <dgm:prSet/>
      <dgm:spPr/>
      <dgm:t>
        <a:bodyPr/>
        <a:lstStyle/>
        <a:p>
          <a:endParaRPr lang="zh-CN" altLang="en-US"/>
        </a:p>
      </dgm:t>
    </dgm:pt>
    <dgm:pt modelId="{A51623B2-AE8E-44CD-B9A1-A5F992815968}">
      <dgm:prSet/>
      <dgm:spPr/>
      <dgm:t>
        <a:bodyPr/>
        <a:lstStyle/>
        <a:p>
          <a:r>
            <a:rPr lang="zh-CN"/>
            <a:t>结构化程序设计语言</a:t>
          </a:r>
          <a:endParaRPr lang="zh-CN" altLang="en-US"/>
        </a:p>
      </dgm:t>
    </dgm:pt>
    <dgm:pt modelId="{04EB035E-2845-469D-9D58-D1A133A7AB1A}" type="parTrans" cxnId="{F429A3DF-A31A-4E7F-A8A8-5BA949935941}">
      <dgm:prSet/>
      <dgm:spPr/>
      <dgm:t>
        <a:bodyPr/>
        <a:lstStyle/>
        <a:p>
          <a:endParaRPr lang="zh-CN" altLang="en-US"/>
        </a:p>
      </dgm:t>
    </dgm:pt>
    <dgm:pt modelId="{E8499EB5-670C-4BB6-B51E-BAFFA6671FAB}" type="sibTrans" cxnId="{F429A3DF-A31A-4E7F-A8A8-5BA949935941}">
      <dgm:prSet/>
      <dgm:spPr/>
      <dgm:t>
        <a:bodyPr/>
        <a:lstStyle/>
        <a:p>
          <a:endParaRPr lang="zh-CN" altLang="en-US"/>
        </a:p>
      </dgm:t>
    </dgm:pt>
    <dgm:pt modelId="{003188A8-2A87-4D22-9DA0-F9E79F6DD858}">
      <dgm:prSet/>
      <dgm:spPr/>
      <dgm:t>
        <a:bodyPr/>
        <a:lstStyle/>
        <a:p>
          <a:r>
            <a:rPr lang="zh-CN"/>
            <a:t>面向对象程序设计语言</a:t>
          </a:r>
          <a:endParaRPr lang="zh-CN" altLang="en-US"/>
        </a:p>
      </dgm:t>
    </dgm:pt>
    <dgm:pt modelId="{231806EC-7307-4771-91D8-A6F65C8E2D89}" type="parTrans" cxnId="{70C8985E-A346-48DA-A32D-0070DE386D0A}">
      <dgm:prSet/>
      <dgm:spPr/>
      <dgm:t>
        <a:bodyPr/>
        <a:lstStyle/>
        <a:p>
          <a:endParaRPr lang="zh-CN" altLang="en-US"/>
        </a:p>
      </dgm:t>
    </dgm:pt>
    <dgm:pt modelId="{58165A63-971D-4AC6-A409-348C774F4234}" type="sibTrans" cxnId="{70C8985E-A346-48DA-A32D-0070DE386D0A}">
      <dgm:prSet/>
      <dgm:spPr/>
      <dgm:t>
        <a:bodyPr/>
        <a:lstStyle/>
        <a:p>
          <a:endParaRPr lang="zh-CN" altLang="en-US"/>
        </a:p>
      </dgm:t>
    </dgm:pt>
    <dgm:pt modelId="{6B7ADE4F-5AA4-4699-BD4F-2B5269151D87}" type="pres">
      <dgm:prSet presAssocID="{9A28B7B7-3B5B-4357-942D-15785DF3BD00}" presName="diagram" presStyleCnt="0">
        <dgm:presLayoutVars>
          <dgm:chPref val="1"/>
          <dgm:dir/>
          <dgm:animOne val="branch"/>
          <dgm:animLvl val="lvl"/>
          <dgm:resizeHandles val="exact"/>
        </dgm:presLayoutVars>
      </dgm:prSet>
      <dgm:spPr/>
    </dgm:pt>
    <dgm:pt modelId="{50634456-0869-4F69-B11D-7606F6E266E2}" type="pres">
      <dgm:prSet presAssocID="{A248F3C7-AE73-4E75-9F06-1D3AC4A328A9}" presName="root1" presStyleCnt="0"/>
      <dgm:spPr/>
    </dgm:pt>
    <dgm:pt modelId="{90AB2689-E9D9-414C-B768-31AEE382827D}" type="pres">
      <dgm:prSet presAssocID="{A248F3C7-AE73-4E75-9F06-1D3AC4A328A9}" presName="LevelOneTextNode" presStyleLbl="node0" presStyleIdx="0" presStyleCnt="1">
        <dgm:presLayoutVars>
          <dgm:chPref val="3"/>
        </dgm:presLayoutVars>
      </dgm:prSet>
      <dgm:spPr/>
    </dgm:pt>
    <dgm:pt modelId="{BD2A64D6-14A9-430E-859D-1734EE043B59}" type="pres">
      <dgm:prSet presAssocID="{A248F3C7-AE73-4E75-9F06-1D3AC4A328A9}" presName="level2hierChild" presStyleCnt="0"/>
      <dgm:spPr/>
    </dgm:pt>
    <dgm:pt modelId="{964B48AA-B535-4B3B-926A-BBC7E471298B}" type="pres">
      <dgm:prSet presAssocID="{AFD1706D-1EDA-4569-9571-AA8A07698B3D}" presName="conn2-1" presStyleLbl="parChTrans1D2" presStyleIdx="0" presStyleCnt="3"/>
      <dgm:spPr/>
    </dgm:pt>
    <dgm:pt modelId="{927C25BF-C34A-41CC-BC39-B109B20365F7}" type="pres">
      <dgm:prSet presAssocID="{AFD1706D-1EDA-4569-9571-AA8A07698B3D}" presName="connTx" presStyleLbl="parChTrans1D2" presStyleIdx="0" presStyleCnt="3"/>
      <dgm:spPr/>
    </dgm:pt>
    <dgm:pt modelId="{466ABB48-57A0-4A44-8283-0C5967DB49F6}" type="pres">
      <dgm:prSet presAssocID="{A52E9045-D1EB-4C3C-9A8B-3C6110D9B3D8}" presName="root2" presStyleCnt="0"/>
      <dgm:spPr/>
    </dgm:pt>
    <dgm:pt modelId="{EF622E90-A0BC-4C67-8EC1-3D4894BAA9CC}" type="pres">
      <dgm:prSet presAssocID="{A52E9045-D1EB-4C3C-9A8B-3C6110D9B3D8}" presName="LevelTwoTextNode" presStyleLbl="node2" presStyleIdx="0" presStyleCnt="3">
        <dgm:presLayoutVars>
          <dgm:chPref val="3"/>
        </dgm:presLayoutVars>
      </dgm:prSet>
      <dgm:spPr/>
    </dgm:pt>
    <dgm:pt modelId="{9B7E989C-189A-4C16-AAA2-2CA2E07D2EFD}" type="pres">
      <dgm:prSet presAssocID="{A52E9045-D1EB-4C3C-9A8B-3C6110D9B3D8}" presName="level3hierChild" presStyleCnt="0"/>
      <dgm:spPr/>
    </dgm:pt>
    <dgm:pt modelId="{0431FEB7-3378-4B7E-A42C-11227A96BA3B}" type="pres">
      <dgm:prSet presAssocID="{A6B9CA04-2F1D-46ED-821E-D698BE98AF56}" presName="conn2-1" presStyleLbl="parChTrans1D2" presStyleIdx="1" presStyleCnt="3"/>
      <dgm:spPr/>
    </dgm:pt>
    <dgm:pt modelId="{C16BFE97-FA7F-42A0-B55E-F5DE669E4000}" type="pres">
      <dgm:prSet presAssocID="{A6B9CA04-2F1D-46ED-821E-D698BE98AF56}" presName="connTx" presStyleLbl="parChTrans1D2" presStyleIdx="1" presStyleCnt="3"/>
      <dgm:spPr/>
    </dgm:pt>
    <dgm:pt modelId="{458C7DF4-8E40-47ED-ADC8-9ADC0A2D1B0F}" type="pres">
      <dgm:prSet presAssocID="{B7929363-0BB8-4596-B02A-CCC56D256DD0}" presName="root2" presStyleCnt="0"/>
      <dgm:spPr/>
    </dgm:pt>
    <dgm:pt modelId="{2A180C5E-2054-4A55-9D08-74FDBFA99BFF}" type="pres">
      <dgm:prSet presAssocID="{B7929363-0BB8-4596-B02A-CCC56D256DD0}" presName="LevelTwoTextNode" presStyleLbl="node2" presStyleIdx="1" presStyleCnt="3">
        <dgm:presLayoutVars>
          <dgm:chPref val="3"/>
        </dgm:presLayoutVars>
      </dgm:prSet>
      <dgm:spPr/>
    </dgm:pt>
    <dgm:pt modelId="{8EF579E1-709F-482A-BBC9-E19DBFE766BD}" type="pres">
      <dgm:prSet presAssocID="{B7929363-0BB8-4596-B02A-CCC56D256DD0}" presName="level3hierChild" presStyleCnt="0"/>
      <dgm:spPr/>
    </dgm:pt>
    <dgm:pt modelId="{CFFFDB27-54FE-484D-8EF6-6B160DB847F4}" type="pres">
      <dgm:prSet presAssocID="{1E612041-593D-45E4-8A6C-B6A8DE424389}" presName="conn2-1" presStyleLbl="parChTrans1D2" presStyleIdx="2" presStyleCnt="3"/>
      <dgm:spPr/>
    </dgm:pt>
    <dgm:pt modelId="{0ABF24E5-07AC-449B-A5E2-DE30F220CF78}" type="pres">
      <dgm:prSet presAssocID="{1E612041-593D-45E4-8A6C-B6A8DE424389}" presName="connTx" presStyleLbl="parChTrans1D2" presStyleIdx="2" presStyleCnt="3"/>
      <dgm:spPr/>
    </dgm:pt>
    <dgm:pt modelId="{2DC33721-91B7-4876-A595-FCAA2073A350}" type="pres">
      <dgm:prSet presAssocID="{948924CC-D566-4F96-9653-9FE262053C39}" presName="root2" presStyleCnt="0"/>
      <dgm:spPr/>
    </dgm:pt>
    <dgm:pt modelId="{64B656C3-9A14-4106-B665-E8770A312760}" type="pres">
      <dgm:prSet presAssocID="{948924CC-D566-4F96-9653-9FE262053C39}" presName="LevelTwoTextNode" presStyleLbl="node2" presStyleIdx="2" presStyleCnt="3">
        <dgm:presLayoutVars>
          <dgm:chPref val="3"/>
        </dgm:presLayoutVars>
      </dgm:prSet>
      <dgm:spPr/>
    </dgm:pt>
    <dgm:pt modelId="{B686F2FB-1D84-4BD0-BB2E-D7E3D176D4C0}" type="pres">
      <dgm:prSet presAssocID="{948924CC-D566-4F96-9653-9FE262053C39}" presName="level3hierChild" presStyleCnt="0"/>
      <dgm:spPr/>
    </dgm:pt>
    <dgm:pt modelId="{376725F1-2F65-4D42-B675-81207171037F}" type="pres">
      <dgm:prSet presAssocID="{8506CB60-1158-4E81-861E-21DCE7D4C4CC}" presName="conn2-1" presStyleLbl="parChTrans1D3" presStyleIdx="0" presStyleCnt="3"/>
      <dgm:spPr/>
    </dgm:pt>
    <dgm:pt modelId="{0F86DD56-1D83-4D85-8BF8-E75E513ED03F}" type="pres">
      <dgm:prSet presAssocID="{8506CB60-1158-4E81-861E-21DCE7D4C4CC}" presName="connTx" presStyleLbl="parChTrans1D3" presStyleIdx="0" presStyleCnt="3"/>
      <dgm:spPr/>
    </dgm:pt>
    <dgm:pt modelId="{2DA896CA-55FC-48FB-96C7-B1B5C32C15AA}" type="pres">
      <dgm:prSet presAssocID="{ECA31C30-9A03-4A5F-8409-09A247CAACED}" presName="root2" presStyleCnt="0"/>
      <dgm:spPr/>
    </dgm:pt>
    <dgm:pt modelId="{D935055D-6FD9-4D10-B930-A8456D4FFCAA}" type="pres">
      <dgm:prSet presAssocID="{ECA31C30-9A03-4A5F-8409-09A247CAACED}" presName="LevelTwoTextNode" presStyleLbl="node3" presStyleIdx="0" presStyleCnt="3">
        <dgm:presLayoutVars>
          <dgm:chPref val="3"/>
        </dgm:presLayoutVars>
      </dgm:prSet>
      <dgm:spPr/>
    </dgm:pt>
    <dgm:pt modelId="{EB92BB96-7060-4F4F-A4E1-A9A58149EF90}" type="pres">
      <dgm:prSet presAssocID="{ECA31C30-9A03-4A5F-8409-09A247CAACED}" presName="level3hierChild" presStyleCnt="0"/>
      <dgm:spPr/>
    </dgm:pt>
    <dgm:pt modelId="{CE35D44F-7987-425B-805F-15A8B560EC78}" type="pres">
      <dgm:prSet presAssocID="{04EB035E-2845-469D-9D58-D1A133A7AB1A}" presName="conn2-1" presStyleLbl="parChTrans1D4" presStyleIdx="0" presStyleCnt="2"/>
      <dgm:spPr/>
    </dgm:pt>
    <dgm:pt modelId="{A089EBB7-CEED-4E01-B0AA-1DB2F8E2ACDE}" type="pres">
      <dgm:prSet presAssocID="{04EB035E-2845-469D-9D58-D1A133A7AB1A}" presName="connTx" presStyleLbl="parChTrans1D4" presStyleIdx="0" presStyleCnt="2"/>
      <dgm:spPr/>
    </dgm:pt>
    <dgm:pt modelId="{5C383EAA-68CD-4AF2-8F29-873763CED671}" type="pres">
      <dgm:prSet presAssocID="{A51623B2-AE8E-44CD-B9A1-A5F992815968}" presName="root2" presStyleCnt="0"/>
      <dgm:spPr/>
    </dgm:pt>
    <dgm:pt modelId="{C5245F37-D145-4B89-9918-53AADD1203F8}" type="pres">
      <dgm:prSet presAssocID="{A51623B2-AE8E-44CD-B9A1-A5F992815968}" presName="LevelTwoTextNode" presStyleLbl="node4" presStyleIdx="0" presStyleCnt="2">
        <dgm:presLayoutVars>
          <dgm:chPref val="3"/>
        </dgm:presLayoutVars>
      </dgm:prSet>
      <dgm:spPr/>
    </dgm:pt>
    <dgm:pt modelId="{BBEDE899-1A14-4711-A9A3-D03EF64AD1E0}" type="pres">
      <dgm:prSet presAssocID="{A51623B2-AE8E-44CD-B9A1-A5F992815968}" presName="level3hierChild" presStyleCnt="0"/>
      <dgm:spPr/>
    </dgm:pt>
    <dgm:pt modelId="{5154FA41-4925-41F5-812F-2B13F7E8B1F7}" type="pres">
      <dgm:prSet presAssocID="{231806EC-7307-4771-91D8-A6F65C8E2D89}" presName="conn2-1" presStyleLbl="parChTrans1D4" presStyleIdx="1" presStyleCnt="2"/>
      <dgm:spPr/>
    </dgm:pt>
    <dgm:pt modelId="{98156543-2228-48A0-84FD-B760FD2A475D}" type="pres">
      <dgm:prSet presAssocID="{231806EC-7307-4771-91D8-A6F65C8E2D89}" presName="connTx" presStyleLbl="parChTrans1D4" presStyleIdx="1" presStyleCnt="2"/>
      <dgm:spPr/>
    </dgm:pt>
    <dgm:pt modelId="{FA0C175C-2CD3-43F1-B15C-21F372F52C2E}" type="pres">
      <dgm:prSet presAssocID="{003188A8-2A87-4D22-9DA0-F9E79F6DD858}" presName="root2" presStyleCnt="0"/>
      <dgm:spPr/>
    </dgm:pt>
    <dgm:pt modelId="{AC6576F1-1A5D-4033-89F2-100E326F07CC}" type="pres">
      <dgm:prSet presAssocID="{003188A8-2A87-4D22-9DA0-F9E79F6DD858}" presName="LevelTwoTextNode" presStyleLbl="node4" presStyleIdx="1" presStyleCnt="2">
        <dgm:presLayoutVars>
          <dgm:chPref val="3"/>
        </dgm:presLayoutVars>
      </dgm:prSet>
      <dgm:spPr/>
    </dgm:pt>
    <dgm:pt modelId="{44F3C673-E9AB-4F0C-9C8E-244943302423}" type="pres">
      <dgm:prSet presAssocID="{003188A8-2A87-4D22-9DA0-F9E79F6DD858}" presName="level3hierChild" presStyleCnt="0"/>
      <dgm:spPr/>
    </dgm:pt>
    <dgm:pt modelId="{780140C6-1054-48F7-8074-63D264BE6A5A}" type="pres">
      <dgm:prSet presAssocID="{A8339758-1B4B-4E09-8F8C-75CA3CA275C1}" presName="conn2-1" presStyleLbl="parChTrans1D3" presStyleIdx="1" presStyleCnt="3"/>
      <dgm:spPr/>
    </dgm:pt>
    <dgm:pt modelId="{354E76A6-45FE-4B5E-A0E6-58EE89911A09}" type="pres">
      <dgm:prSet presAssocID="{A8339758-1B4B-4E09-8F8C-75CA3CA275C1}" presName="connTx" presStyleLbl="parChTrans1D3" presStyleIdx="1" presStyleCnt="3"/>
      <dgm:spPr/>
    </dgm:pt>
    <dgm:pt modelId="{170AFD89-392A-4456-8820-4E9638BD62E1}" type="pres">
      <dgm:prSet presAssocID="{C3FF5018-4E45-4702-AC93-57120A5B1C0A}" presName="root2" presStyleCnt="0"/>
      <dgm:spPr/>
    </dgm:pt>
    <dgm:pt modelId="{855EF88A-1AB1-4F94-97D6-C077148D4EA9}" type="pres">
      <dgm:prSet presAssocID="{C3FF5018-4E45-4702-AC93-57120A5B1C0A}" presName="LevelTwoTextNode" presStyleLbl="node3" presStyleIdx="1" presStyleCnt="3">
        <dgm:presLayoutVars>
          <dgm:chPref val="3"/>
        </dgm:presLayoutVars>
      </dgm:prSet>
      <dgm:spPr/>
    </dgm:pt>
    <dgm:pt modelId="{E9B9D8DF-4866-4A2C-BE33-C32194772963}" type="pres">
      <dgm:prSet presAssocID="{C3FF5018-4E45-4702-AC93-57120A5B1C0A}" presName="level3hierChild" presStyleCnt="0"/>
      <dgm:spPr/>
    </dgm:pt>
    <dgm:pt modelId="{324260D8-4E63-4DB6-9355-E8FBA102E17C}" type="pres">
      <dgm:prSet presAssocID="{5BEB2886-D8B2-4572-9658-82E5C51D5E90}" presName="conn2-1" presStyleLbl="parChTrans1D3" presStyleIdx="2" presStyleCnt="3"/>
      <dgm:spPr/>
    </dgm:pt>
    <dgm:pt modelId="{D4A2A703-C5EB-48CF-8EA8-D9A9B568B3BA}" type="pres">
      <dgm:prSet presAssocID="{5BEB2886-D8B2-4572-9658-82E5C51D5E90}" presName="connTx" presStyleLbl="parChTrans1D3" presStyleIdx="2" presStyleCnt="3"/>
      <dgm:spPr/>
    </dgm:pt>
    <dgm:pt modelId="{35387627-7469-4D6E-9214-497FAE8B8415}" type="pres">
      <dgm:prSet presAssocID="{72E5253C-3CBE-44D9-B613-F5387B0E20C7}" presName="root2" presStyleCnt="0"/>
      <dgm:spPr/>
    </dgm:pt>
    <dgm:pt modelId="{11980F09-E5A5-4B41-81B1-30075417C3C6}" type="pres">
      <dgm:prSet presAssocID="{72E5253C-3CBE-44D9-B613-F5387B0E20C7}" presName="LevelTwoTextNode" presStyleLbl="node3" presStyleIdx="2" presStyleCnt="3">
        <dgm:presLayoutVars>
          <dgm:chPref val="3"/>
        </dgm:presLayoutVars>
      </dgm:prSet>
      <dgm:spPr/>
    </dgm:pt>
    <dgm:pt modelId="{6B977F2A-4908-4AE1-98D4-AD1B752C0923}" type="pres">
      <dgm:prSet presAssocID="{72E5253C-3CBE-44D9-B613-F5387B0E20C7}" presName="level3hierChild" presStyleCnt="0"/>
      <dgm:spPr/>
    </dgm:pt>
  </dgm:ptLst>
  <dgm:cxnLst>
    <dgm:cxn modelId="{118FEC03-D879-427F-BFFA-4EDA80CED67B}" type="presOf" srcId="{A8339758-1B4B-4E09-8F8C-75CA3CA275C1}" destId="{780140C6-1054-48F7-8074-63D264BE6A5A}" srcOrd="0" destOrd="0" presId="urn:microsoft.com/office/officeart/2005/8/layout/hierarchy2"/>
    <dgm:cxn modelId="{68BB1E0B-7E9F-4119-B07E-5462E95256D9}" type="presOf" srcId="{AFD1706D-1EDA-4569-9571-AA8A07698B3D}" destId="{964B48AA-B535-4B3B-926A-BBC7E471298B}" srcOrd="0" destOrd="0" presId="urn:microsoft.com/office/officeart/2005/8/layout/hierarchy2"/>
    <dgm:cxn modelId="{95527012-85FC-4A2D-8D08-6D22A0D75F07}" srcId="{A248F3C7-AE73-4E75-9F06-1D3AC4A328A9}" destId="{948924CC-D566-4F96-9653-9FE262053C39}" srcOrd="2" destOrd="0" parTransId="{1E612041-593D-45E4-8A6C-B6A8DE424389}" sibTransId="{DBE66345-6844-4947-B854-20903021A392}"/>
    <dgm:cxn modelId="{0F371715-42A3-47AD-BD7E-757E31C267CE}" srcId="{948924CC-D566-4F96-9653-9FE262053C39}" destId="{72E5253C-3CBE-44D9-B613-F5387B0E20C7}" srcOrd="2" destOrd="0" parTransId="{5BEB2886-D8B2-4572-9658-82E5C51D5E90}" sibTransId="{526F6C67-1E77-44C4-8310-44B71BEDB4D7}"/>
    <dgm:cxn modelId="{55C6441D-CEE2-4F7A-A8D3-0384F42C879B}" type="presOf" srcId="{231806EC-7307-4771-91D8-A6F65C8E2D89}" destId="{5154FA41-4925-41F5-812F-2B13F7E8B1F7}" srcOrd="0" destOrd="0" presId="urn:microsoft.com/office/officeart/2005/8/layout/hierarchy2"/>
    <dgm:cxn modelId="{9C39B620-BA13-4C79-9F02-DC3402203054}" type="presOf" srcId="{04EB035E-2845-469D-9D58-D1A133A7AB1A}" destId="{CE35D44F-7987-425B-805F-15A8B560EC78}" srcOrd="0" destOrd="0" presId="urn:microsoft.com/office/officeart/2005/8/layout/hierarchy2"/>
    <dgm:cxn modelId="{2214FC29-2052-40AC-B17F-CA0094782711}" type="presOf" srcId="{A8339758-1B4B-4E09-8F8C-75CA3CA275C1}" destId="{354E76A6-45FE-4B5E-A0E6-58EE89911A09}" srcOrd="1" destOrd="0" presId="urn:microsoft.com/office/officeart/2005/8/layout/hierarchy2"/>
    <dgm:cxn modelId="{2A9BD42A-3CDE-44A6-B869-186766AC71F6}" type="presOf" srcId="{B7929363-0BB8-4596-B02A-CCC56D256DD0}" destId="{2A180C5E-2054-4A55-9D08-74FDBFA99BFF}" srcOrd="0" destOrd="0" presId="urn:microsoft.com/office/officeart/2005/8/layout/hierarchy2"/>
    <dgm:cxn modelId="{380E5935-5DD2-41A6-877D-CCED81BF5F93}" type="presOf" srcId="{A248F3C7-AE73-4E75-9F06-1D3AC4A328A9}" destId="{90AB2689-E9D9-414C-B768-31AEE382827D}" srcOrd="0" destOrd="0" presId="urn:microsoft.com/office/officeart/2005/8/layout/hierarchy2"/>
    <dgm:cxn modelId="{70C8985E-A346-48DA-A32D-0070DE386D0A}" srcId="{ECA31C30-9A03-4A5F-8409-09A247CAACED}" destId="{003188A8-2A87-4D22-9DA0-F9E79F6DD858}" srcOrd="1" destOrd="0" parTransId="{231806EC-7307-4771-91D8-A6F65C8E2D89}" sibTransId="{58165A63-971D-4AC6-A409-348C774F4234}"/>
    <dgm:cxn modelId="{1A672A62-1C0D-4525-9E79-A4E615F2B8EC}" srcId="{A248F3C7-AE73-4E75-9F06-1D3AC4A328A9}" destId="{A52E9045-D1EB-4C3C-9A8B-3C6110D9B3D8}" srcOrd="0" destOrd="0" parTransId="{AFD1706D-1EDA-4569-9571-AA8A07698B3D}" sibTransId="{3D67BA31-F681-4D6E-B2E0-5506BF8F5451}"/>
    <dgm:cxn modelId="{78AA7443-31F0-48D9-A73E-4AED344D11BD}" type="presOf" srcId="{9A28B7B7-3B5B-4357-942D-15785DF3BD00}" destId="{6B7ADE4F-5AA4-4699-BD4F-2B5269151D87}" srcOrd="0" destOrd="0" presId="urn:microsoft.com/office/officeart/2005/8/layout/hierarchy2"/>
    <dgm:cxn modelId="{DC751F6A-19D9-4136-A86E-598A9FA651A7}" type="presOf" srcId="{A6B9CA04-2F1D-46ED-821E-D698BE98AF56}" destId="{C16BFE97-FA7F-42A0-B55E-F5DE669E4000}" srcOrd="1" destOrd="0" presId="urn:microsoft.com/office/officeart/2005/8/layout/hierarchy2"/>
    <dgm:cxn modelId="{96DA404C-B86A-4DFB-B512-F48185BDAB17}" srcId="{9A28B7B7-3B5B-4357-942D-15785DF3BD00}" destId="{A248F3C7-AE73-4E75-9F06-1D3AC4A328A9}" srcOrd="0" destOrd="0" parTransId="{B7457A76-694D-4F47-8B1B-7A0D67D6EE43}" sibTransId="{3BECB548-789D-4E0B-8256-5FE2DA3DEBAE}"/>
    <dgm:cxn modelId="{B14A4A50-1AF9-4F91-B254-EFBCE876E2A5}" srcId="{948924CC-D566-4F96-9653-9FE262053C39}" destId="{C3FF5018-4E45-4702-AC93-57120A5B1C0A}" srcOrd="1" destOrd="0" parTransId="{A8339758-1B4B-4E09-8F8C-75CA3CA275C1}" sibTransId="{85BB2741-128F-49A4-B2C6-AA48C9C404EA}"/>
    <dgm:cxn modelId="{BD681F73-B9E1-4A1C-8944-7DD349EB3220}" type="presOf" srcId="{1E612041-593D-45E4-8A6C-B6A8DE424389}" destId="{0ABF24E5-07AC-449B-A5E2-DE30F220CF78}" srcOrd="1" destOrd="0" presId="urn:microsoft.com/office/officeart/2005/8/layout/hierarchy2"/>
    <dgm:cxn modelId="{23AEA977-8987-47FB-B300-5A0D19525C1D}" type="presOf" srcId="{948924CC-D566-4F96-9653-9FE262053C39}" destId="{64B656C3-9A14-4106-B665-E8770A312760}" srcOrd="0" destOrd="0" presId="urn:microsoft.com/office/officeart/2005/8/layout/hierarchy2"/>
    <dgm:cxn modelId="{4C8A4D7A-74CB-414E-8C5F-D8AE50D04EF4}" type="presOf" srcId="{ECA31C30-9A03-4A5F-8409-09A247CAACED}" destId="{D935055D-6FD9-4D10-B930-A8456D4FFCAA}" srcOrd="0" destOrd="0" presId="urn:microsoft.com/office/officeart/2005/8/layout/hierarchy2"/>
    <dgm:cxn modelId="{4C58168B-3AAE-477E-A648-4CCB7824D214}" type="presOf" srcId="{C3FF5018-4E45-4702-AC93-57120A5B1C0A}" destId="{855EF88A-1AB1-4F94-97D6-C077148D4EA9}" srcOrd="0" destOrd="0" presId="urn:microsoft.com/office/officeart/2005/8/layout/hierarchy2"/>
    <dgm:cxn modelId="{17A96191-FD43-4A03-84B1-5D17F5B116A2}" type="presOf" srcId="{5BEB2886-D8B2-4572-9658-82E5C51D5E90}" destId="{D4A2A703-C5EB-48CF-8EA8-D9A9B568B3BA}" srcOrd="1" destOrd="0" presId="urn:microsoft.com/office/officeart/2005/8/layout/hierarchy2"/>
    <dgm:cxn modelId="{F3797A98-BD78-464E-88AF-A361F9B546B1}" type="presOf" srcId="{A52E9045-D1EB-4C3C-9A8B-3C6110D9B3D8}" destId="{EF622E90-A0BC-4C67-8EC1-3D4894BAA9CC}" srcOrd="0" destOrd="0" presId="urn:microsoft.com/office/officeart/2005/8/layout/hierarchy2"/>
    <dgm:cxn modelId="{3B3B329B-0424-4E4B-8D70-B8647E940258}" type="presOf" srcId="{8506CB60-1158-4E81-861E-21DCE7D4C4CC}" destId="{376725F1-2F65-4D42-B675-81207171037F}" srcOrd="0" destOrd="0" presId="urn:microsoft.com/office/officeart/2005/8/layout/hierarchy2"/>
    <dgm:cxn modelId="{6D007DA0-7AEA-45CF-B2B1-C23B269C660A}" type="presOf" srcId="{AFD1706D-1EDA-4569-9571-AA8A07698B3D}" destId="{927C25BF-C34A-41CC-BC39-B109B20365F7}" srcOrd="1" destOrd="0" presId="urn:microsoft.com/office/officeart/2005/8/layout/hierarchy2"/>
    <dgm:cxn modelId="{A0D06EA1-6936-403F-A17A-BFD7DEB07FF8}" type="presOf" srcId="{72E5253C-3CBE-44D9-B613-F5387B0E20C7}" destId="{11980F09-E5A5-4B41-81B1-30075417C3C6}" srcOrd="0" destOrd="0" presId="urn:microsoft.com/office/officeart/2005/8/layout/hierarchy2"/>
    <dgm:cxn modelId="{E472CBA1-A65E-4326-8576-2AFDDF4F9490}" type="presOf" srcId="{231806EC-7307-4771-91D8-A6F65C8E2D89}" destId="{98156543-2228-48A0-84FD-B760FD2A475D}" srcOrd="1" destOrd="0" presId="urn:microsoft.com/office/officeart/2005/8/layout/hierarchy2"/>
    <dgm:cxn modelId="{19D6DBA3-82B7-4183-A7FF-2F12050F7B35}" type="presOf" srcId="{04EB035E-2845-469D-9D58-D1A133A7AB1A}" destId="{A089EBB7-CEED-4E01-B0AA-1DB2F8E2ACDE}" srcOrd="1" destOrd="0" presId="urn:microsoft.com/office/officeart/2005/8/layout/hierarchy2"/>
    <dgm:cxn modelId="{3AD499A6-B185-455D-989A-AD6C0187726F}" type="presOf" srcId="{A6B9CA04-2F1D-46ED-821E-D698BE98AF56}" destId="{0431FEB7-3378-4B7E-A42C-11227A96BA3B}" srcOrd="0" destOrd="0" presId="urn:microsoft.com/office/officeart/2005/8/layout/hierarchy2"/>
    <dgm:cxn modelId="{877CEDAD-47C0-41A4-A2C9-E7F899E2B5B3}" srcId="{948924CC-D566-4F96-9653-9FE262053C39}" destId="{ECA31C30-9A03-4A5F-8409-09A247CAACED}" srcOrd="0" destOrd="0" parTransId="{8506CB60-1158-4E81-861E-21DCE7D4C4CC}" sibTransId="{23CBB9E1-0526-4D7C-B213-FE6B676B584C}"/>
    <dgm:cxn modelId="{97BAF4AE-1CD9-48CA-9486-AE8E4A838304}" type="presOf" srcId="{003188A8-2A87-4D22-9DA0-F9E79F6DD858}" destId="{AC6576F1-1A5D-4033-89F2-100E326F07CC}" srcOrd="0" destOrd="0" presId="urn:microsoft.com/office/officeart/2005/8/layout/hierarchy2"/>
    <dgm:cxn modelId="{F4EACBAF-0478-4764-9A6D-E144AC1FDACC}" type="presOf" srcId="{1E612041-593D-45E4-8A6C-B6A8DE424389}" destId="{CFFFDB27-54FE-484D-8EF6-6B160DB847F4}" srcOrd="0" destOrd="0" presId="urn:microsoft.com/office/officeart/2005/8/layout/hierarchy2"/>
    <dgm:cxn modelId="{8F529AB7-ADE4-4C49-A536-B045B19D34E1}" type="presOf" srcId="{8506CB60-1158-4E81-861E-21DCE7D4C4CC}" destId="{0F86DD56-1D83-4D85-8BF8-E75E513ED03F}" srcOrd="1" destOrd="0" presId="urn:microsoft.com/office/officeart/2005/8/layout/hierarchy2"/>
    <dgm:cxn modelId="{954B47C8-E327-457D-9383-94E6B78FC5C7}" srcId="{A248F3C7-AE73-4E75-9F06-1D3AC4A328A9}" destId="{B7929363-0BB8-4596-B02A-CCC56D256DD0}" srcOrd="1" destOrd="0" parTransId="{A6B9CA04-2F1D-46ED-821E-D698BE98AF56}" sibTransId="{B312A6F9-679F-4A14-861E-B61143A4967B}"/>
    <dgm:cxn modelId="{5E1316CA-2D82-4B44-8299-DC2F8BF3B59B}" type="presOf" srcId="{5BEB2886-D8B2-4572-9658-82E5C51D5E90}" destId="{324260D8-4E63-4DB6-9355-E8FBA102E17C}" srcOrd="0" destOrd="0" presId="urn:microsoft.com/office/officeart/2005/8/layout/hierarchy2"/>
    <dgm:cxn modelId="{F429A3DF-A31A-4E7F-A8A8-5BA949935941}" srcId="{ECA31C30-9A03-4A5F-8409-09A247CAACED}" destId="{A51623B2-AE8E-44CD-B9A1-A5F992815968}" srcOrd="0" destOrd="0" parTransId="{04EB035E-2845-469D-9D58-D1A133A7AB1A}" sibTransId="{E8499EB5-670C-4BB6-B51E-BAFFA6671FAB}"/>
    <dgm:cxn modelId="{305A32F0-F9B4-4B55-8B37-F9303EBDB381}" type="presOf" srcId="{A51623B2-AE8E-44CD-B9A1-A5F992815968}" destId="{C5245F37-D145-4B89-9918-53AADD1203F8}" srcOrd="0" destOrd="0" presId="urn:microsoft.com/office/officeart/2005/8/layout/hierarchy2"/>
    <dgm:cxn modelId="{6C8E523C-8730-427E-BAA5-166956951E11}" type="presParOf" srcId="{6B7ADE4F-5AA4-4699-BD4F-2B5269151D87}" destId="{50634456-0869-4F69-B11D-7606F6E266E2}" srcOrd="0" destOrd="0" presId="urn:microsoft.com/office/officeart/2005/8/layout/hierarchy2"/>
    <dgm:cxn modelId="{E2190267-E398-4593-8603-C01C38621BC7}" type="presParOf" srcId="{50634456-0869-4F69-B11D-7606F6E266E2}" destId="{90AB2689-E9D9-414C-B768-31AEE382827D}" srcOrd="0" destOrd="0" presId="urn:microsoft.com/office/officeart/2005/8/layout/hierarchy2"/>
    <dgm:cxn modelId="{81918120-C2C9-4CAA-81E9-5525EE526C2E}" type="presParOf" srcId="{50634456-0869-4F69-B11D-7606F6E266E2}" destId="{BD2A64D6-14A9-430E-859D-1734EE043B59}" srcOrd="1" destOrd="0" presId="urn:microsoft.com/office/officeart/2005/8/layout/hierarchy2"/>
    <dgm:cxn modelId="{58C71BE4-8608-4FC5-BD77-1B0D3718B311}" type="presParOf" srcId="{BD2A64D6-14A9-430E-859D-1734EE043B59}" destId="{964B48AA-B535-4B3B-926A-BBC7E471298B}" srcOrd="0" destOrd="0" presId="urn:microsoft.com/office/officeart/2005/8/layout/hierarchy2"/>
    <dgm:cxn modelId="{743870F0-31A4-47CA-BD7C-37391AEAAEB1}" type="presParOf" srcId="{964B48AA-B535-4B3B-926A-BBC7E471298B}" destId="{927C25BF-C34A-41CC-BC39-B109B20365F7}" srcOrd="0" destOrd="0" presId="urn:microsoft.com/office/officeart/2005/8/layout/hierarchy2"/>
    <dgm:cxn modelId="{56A589D7-C8B1-4F8B-82FB-C2257ECB1C6C}" type="presParOf" srcId="{BD2A64D6-14A9-430E-859D-1734EE043B59}" destId="{466ABB48-57A0-4A44-8283-0C5967DB49F6}" srcOrd="1" destOrd="0" presId="urn:microsoft.com/office/officeart/2005/8/layout/hierarchy2"/>
    <dgm:cxn modelId="{3446F2D4-9BB8-4FDA-A7F9-3E89B1F256B2}" type="presParOf" srcId="{466ABB48-57A0-4A44-8283-0C5967DB49F6}" destId="{EF622E90-A0BC-4C67-8EC1-3D4894BAA9CC}" srcOrd="0" destOrd="0" presId="urn:microsoft.com/office/officeart/2005/8/layout/hierarchy2"/>
    <dgm:cxn modelId="{361FEE4F-9FD1-47F8-A206-B96BEF3F49AA}" type="presParOf" srcId="{466ABB48-57A0-4A44-8283-0C5967DB49F6}" destId="{9B7E989C-189A-4C16-AAA2-2CA2E07D2EFD}" srcOrd="1" destOrd="0" presId="urn:microsoft.com/office/officeart/2005/8/layout/hierarchy2"/>
    <dgm:cxn modelId="{B9D3FF50-98CF-431E-8D28-9FE95C4D6934}" type="presParOf" srcId="{BD2A64D6-14A9-430E-859D-1734EE043B59}" destId="{0431FEB7-3378-4B7E-A42C-11227A96BA3B}" srcOrd="2" destOrd="0" presId="urn:microsoft.com/office/officeart/2005/8/layout/hierarchy2"/>
    <dgm:cxn modelId="{9CEF1B4B-EB80-4422-B72B-25D0C259F05D}" type="presParOf" srcId="{0431FEB7-3378-4B7E-A42C-11227A96BA3B}" destId="{C16BFE97-FA7F-42A0-B55E-F5DE669E4000}" srcOrd="0" destOrd="0" presId="urn:microsoft.com/office/officeart/2005/8/layout/hierarchy2"/>
    <dgm:cxn modelId="{3F5B59E4-998A-4A70-94BE-7D0A2A6B41B5}" type="presParOf" srcId="{BD2A64D6-14A9-430E-859D-1734EE043B59}" destId="{458C7DF4-8E40-47ED-ADC8-9ADC0A2D1B0F}" srcOrd="3" destOrd="0" presId="urn:microsoft.com/office/officeart/2005/8/layout/hierarchy2"/>
    <dgm:cxn modelId="{0807138C-D475-4EF6-BB94-352E5F963348}" type="presParOf" srcId="{458C7DF4-8E40-47ED-ADC8-9ADC0A2D1B0F}" destId="{2A180C5E-2054-4A55-9D08-74FDBFA99BFF}" srcOrd="0" destOrd="0" presId="urn:microsoft.com/office/officeart/2005/8/layout/hierarchy2"/>
    <dgm:cxn modelId="{FE4F4B45-4D9A-4022-A233-4F3B3E55BFB6}" type="presParOf" srcId="{458C7DF4-8E40-47ED-ADC8-9ADC0A2D1B0F}" destId="{8EF579E1-709F-482A-BBC9-E19DBFE766BD}" srcOrd="1" destOrd="0" presId="urn:microsoft.com/office/officeart/2005/8/layout/hierarchy2"/>
    <dgm:cxn modelId="{32C43AA8-6EF8-495D-81AE-FA243AFFF663}" type="presParOf" srcId="{BD2A64D6-14A9-430E-859D-1734EE043B59}" destId="{CFFFDB27-54FE-484D-8EF6-6B160DB847F4}" srcOrd="4" destOrd="0" presId="urn:microsoft.com/office/officeart/2005/8/layout/hierarchy2"/>
    <dgm:cxn modelId="{0A7DCA2D-2CDD-4EE9-8D10-AD148DD1B2F8}" type="presParOf" srcId="{CFFFDB27-54FE-484D-8EF6-6B160DB847F4}" destId="{0ABF24E5-07AC-449B-A5E2-DE30F220CF78}" srcOrd="0" destOrd="0" presId="urn:microsoft.com/office/officeart/2005/8/layout/hierarchy2"/>
    <dgm:cxn modelId="{F25237A7-58B5-4BAD-86FA-A314E402152D}" type="presParOf" srcId="{BD2A64D6-14A9-430E-859D-1734EE043B59}" destId="{2DC33721-91B7-4876-A595-FCAA2073A350}" srcOrd="5" destOrd="0" presId="urn:microsoft.com/office/officeart/2005/8/layout/hierarchy2"/>
    <dgm:cxn modelId="{F623C425-EC53-4A33-BC6F-6B450703E3D4}" type="presParOf" srcId="{2DC33721-91B7-4876-A595-FCAA2073A350}" destId="{64B656C3-9A14-4106-B665-E8770A312760}" srcOrd="0" destOrd="0" presId="urn:microsoft.com/office/officeart/2005/8/layout/hierarchy2"/>
    <dgm:cxn modelId="{3F7E563E-70F2-4585-804F-C0E3A2AA5DC7}" type="presParOf" srcId="{2DC33721-91B7-4876-A595-FCAA2073A350}" destId="{B686F2FB-1D84-4BD0-BB2E-D7E3D176D4C0}" srcOrd="1" destOrd="0" presId="urn:microsoft.com/office/officeart/2005/8/layout/hierarchy2"/>
    <dgm:cxn modelId="{E3EBF662-6E66-4EA0-8060-314BF1FE5041}" type="presParOf" srcId="{B686F2FB-1D84-4BD0-BB2E-D7E3D176D4C0}" destId="{376725F1-2F65-4D42-B675-81207171037F}" srcOrd="0" destOrd="0" presId="urn:microsoft.com/office/officeart/2005/8/layout/hierarchy2"/>
    <dgm:cxn modelId="{5F87D7CA-84E1-4FA0-8F35-666BCE80F826}" type="presParOf" srcId="{376725F1-2F65-4D42-B675-81207171037F}" destId="{0F86DD56-1D83-4D85-8BF8-E75E513ED03F}" srcOrd="0" destOrd="0" presId="urn:microsoft.com/office/officeart/2005/8/layout/hierarchy2"/>
    <dgm:cxn modelId="{331BB736-95E5-486F-9F6D-FA2BC8950AA6}" type="presParOf" srcId="{B686F2FB-1D84-4BD0-BB2E-D7E3D176D4C0}" destId="{2DA896CA-55FC-48FB-96C7-B1B5C32C15AA}" srcOrd="1" destOrd="0" presId="urn:microsoft.com/office/officeart/2005/8/layout/hierarchy2"/>
    <dgm:cxn modelId="{8E850E69-1B49-470B-ABD5-AA4F8EC0A6B2}" type="presParOf" srcId="{2DA896CA-55FC-48FB-96C7-B1B5C32C15AA}" destId="{D935055D-6FD9-4D10-B930-A8456D4FFCAA}" srcOrd="0" destOrd="0" presId="urn:microsoft.com/office/officeart/2005/8/layout/hierarchy2"/>
    <dgm:cxn modelId="{6CEE4AD2-8EEC-487F-8343-94133701B4F2}" type="presParOf" srcId="{2DA896CA-55FC-48FB-96C7-B1B5C32C15AA}" destId="{EB92BB96-7060-4F4F-A4E1-A9A58149EF90}" srcOrd="1" destOrd="0" presId="urn:microsoft.com/office/officeart/2005/8/layout/hierarchy2"/>
    <dgm:cxn modelId="{9815C998-DFF4-4D4A-927C-C193DE32BB3F}" type="presParOf" srcId="{EB92BB96-7060-4F4F-A4E1-A9A58149EF90}" destId="{CE35D44F-7987-425B-805F-15A8B560EC78}" srcOrd="0" destOrd="0" presId="urn:microsoft.com/office/officeart/2005/8/layout/hierarchy2"/>
    <dgm:cxn modelId="{DD869315-1978-4B6E-87E5-7C6691809610}" type="presParOf" srcId="{CE35D44F-7987-425B-805F-15A8B560EC78}" destId="{A089EBB7-CEED-4E01-B0AA-1DB2F8E2ACDE}" srcOrd="0" destOrd="0" presId="urn:microsoft.com/office/officeart/2005/8/layout/hierarchy2"/>
    <dgm:cxn modelId="{CD70A7B6-DA94-43BF-BF42-8158F4E3EC44}" type="presParOf" srcId="{EB92BB96-7060-4F4F-A4E1-A9A58149EF90}" destId="{5C383EAA-68CD-4AF2-8F29-873763CED671}" srcOrd="1" destOrd="0" presId="urn:microsoft.com/office/officeart/2005/8/layout/hierarchy2"/>
    <dgm:cxn modelId="{4F61B17A-E53F-4325-AD7F-01D309AE95E7}" type="presParOf" srcId="{5C383EAA-68CD-4AF2-8F29-873763CED671}" destId="{C5245F37-D145-4B89-9918-53AADD1203F8}" srcOrd="0" destOrd="0" presId="urn:microsoft.com/office/officeart/2005/8/layout/hierarchy2"/>
    <dgm:cxn modelId="{ACB0CC99-527B-43CB-8B11-85A7FCD4E7C1}" type="presParOf" srcId="{5C383EAA-68CD-4AF2-8F29-873763CED671}" destId="{BBEDE899-1A14-4711-A9A3-D03EF64AD1E0}" srcOrd="1" destOrd="0" presId="urn:microsoft.com/office/officeart/2005/8/layout/hierarchy2"/>
    <dgm:cxn modelId="{7991ACE0-B63B-4B31-BF01-C2E81D97C742}" type="presParOf" srcId="{EB92BB96-7060-4F4F-A4E1-A9A58149EF90}" destId="{5154FA41-4925-41F5-812F-2B13F7E8B1F7}" srcOrd="2" destOrd="0" presId="urn:microsoft.com/office/officeart/2005/8/layout/hierarchy2"/>
    <dgm:cxn modelId="{8A82A1BC-C5F3-4B86-9C35-8EC497A01BB3}" type="presParOf" srcId="{5154FA41-4925-41F5-812F-2B13F7E8B1F7}" destId="{98156543-2228-48A0-84FD-B760FD2A475D}" srcOrd="0" destOrd="0" presId="urn:microsoft.com/office/officeart/2005/8/layout/hierarchy2"/>
    <dgm:cxn modelId="{BD52B13D-F03B-464C-97A2-305F0BEF9FF1}" type="presParOf" srcId="{EB92BB96-7060-4F4F-A4E1-A9A58149EF90}" destId="{FA0C175C-2CD3-43F1-B15C-21F372F52C2E}" srcOrd="3" destOrd="0" presId="urn:microsoft.com/office/officeart/2005/8/layout/hierarchy2"/>
    <dgm:cxn modelId="{FA14A704-5115-4B72-A2E3-C8FFC9F96EEB}" type="presParOf" srcId="{FA0C175C-2CD3-43F1-B15C-21F372F52C2E}" destId="{AC6576F1-1A5D-4033-89F2-100E326F07CC}" srcOrd="0" destOrd="0" presId="urn:microsoft.com/office/officeart/2005/8/layout/hierarchy2"/>
    <dgm:cxn modelId="{2AEEB165-C2A6-4314-AB60-D1E5B6755D70}" type="presParOf" srcId="{FA0C175C-2CD3-43F1-B15C-21F372F52C2E}" destId="{44F3C673-E9AB-4F0C-9C8E-244943302423}" srcOrd="1" destOrd="0" presId="urn:microsoft.com/office/officeart/2005/8/layout/hierarchy2"/>
    <dgm:cxn modelId="{5D6B0C3A-EC5F-4D95-A359-BDA66F629F38}" type="presParOf" srcId="{B686F2FB-1D84-4BD0-BB2E-D7E3D176D4C0}" destId="{780140C6-1054-48F7-8074-63D264BE6A5A}" srcOrd="2" destOrd="0" presId="urn:microsoft.com/office/officeart/2005/8/layout/hierarchy2"/>
    <dgm:cxn modelId="{0B0C53AC-6D95-4291-BDDD-9ED3BAC3E92B}" type="presParOf" srcId="{780140C6-1054-48F7-8074-63D264BE6A5A}" destId="{354E76A6-45FE-4B5E-A0E6-58EE89911A09}" srcOrd="0" destOrd="0" presId="urn:microsoft.com/office/officeart/2005/8/layout/hierarchy2"/>
    <dgm:cxn modelId="{3742CFBA-6145-4E89-A349-50952BD503B7}" type="presParOf" srcId="{B686F2FB-1D84-4BD0-BB2E-D7E3D176D4C0}" destId="{170AFD89-392A-4456-8820-4E9638BD62E1}" srcOrd="3" destOrd="0" presId="urn:microsoft.com/office/officeart/2005/8/layout/hierarchy2"/>
    <dgm:cxn modelId="{1C19F739-1EAE-490B-BEBC-C3CD840B614B}" type="presParOf" srcId="{170AFD89-392A-4456-8820-4E9638BD62E1}" destId="{855EF88A-1AB1-4F94-97D6-C077148D4EA9}" srcOrd="0" destOrd="0" presId="urn:microsoft.com/office/officeart/2005/8/layout/hierarchy2"/>
    <dgm:cxn modelId="{425C198F-E9A7-4144-B49A-5C8BBA173F22}" type="presParOf" srcId="{170AFD89-392A-4456-8820-4E9638BD62E1}" destId="{E9B9D8DF-4866-4A2C-BE33-C32194772963}" srcOrd="1" destOrd="0" presId="urn:microsoft.com/office/officeart/2005/8/layout/hierarchy2"/>
    <dgm:cxn modelId="{00807259-2E71-42D7-A3D0-B3E5B4E479D6}" type="presParOf" srcId="{B686F2FB-1D84-4BD0-BB2E-D7E3D176D4C0}" destId="{324260D8-4E63-4DB6-9355-E8FBA102E17C}" srcOrd="4" destOrd="0" presId="urn:microsoft.com/office/officeart/2005/8/layout/hierarchy2"/>
    <dgm:cxn modelId="{92B09A3F-38CB-49B5-965B-51FABBDF5BE2}" type="presParOf" srcId="{324260D8-4E63-4DB6-9355-E8FBA102E17C}" destId="{D4A2A703-C5EB-48CF-8EA8-D9A9B568B3BA}" srcOrd="0" destOrd="0" presId="urn:microsoft.com/office/officeart/2005/8/layout/hierarchy2"/>
    <dgm:cxn modelId="{ADA2F357-402C-43F0-B30B-3E4022FCA34F}" type="presParOf" srcId="{B686F2FB-1D84-4BD0-BB2E-D7E3D176D4C0}" destId="{35387627-7469-4D6E-9214-497FAE8B8415}" srcOrd="5" destOrd="0" presId="urn:microsoft.com/office/officeart/2005/8/layout/hierarchy2"/>
    <dgm:cxn modelId="{CE81A57C-FFD8-4306-B883-CEAA58E53782}" type="presParOf" srcId="{35387627-7469-4D6E-9214-497FAE8B8415}" destId="{11980F09-E5A5-4B41-81B1-30075417C3C6}" srcOrd="0" destOrd="0" presId="urn:microsoft.com/office/officeart/2005/8/layout/hierarchy2"/>
    <dgm:cxn modelId="{F96E06E1-4039-4A3E-BCB0-2C595486E8E5}" type="presParOf" srcId="{35387627-7469-4D6E-9214-497FAE8B8415}" destId="{6B977F2A-4908-4AE1-98D4-AD1B752C0923}"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AB2689-E9D9-414C-B768-31AEE382827D}">
      <dsp:nvSpPr>
        <dsp:cNvPr id="0" name=""/>
        <dsp:cNvSpPr/>
      </dsp:nvSpPr>
      <dsp:spPr>
        <a:xfrm>
          <a:off x="3968" y="1402705"/>
          <a:ext cx="1170781" cy="5853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zh-CN" sz="1700" kern="1200" dirty="0"/>
            <a:t>程序设计语言</a:t>
          </a:r>
          <a:endParaRPr lang="zh-CN" altLang="en-US" sz="1700" kern="1200" dirty="0"/>
        </a:p>
      </dsp:txBody>
      <dsp:txXfrm>
        <a:off x="21113" y="1419850"/>
        <a:ext cx="1136491" cy="551100"/>
      </dsp:txXfrm>
    </dsp:sp>
    <dsp:sp modelId="{964B48AA-B535-4B3B-926A-BBC7E471298B}">
      <dsp:nvSpPr>
        <dsp:cNvPr id="0" name=""/>
        <dsp:cNvSpPr/>
      </dsp:nvSpPr>
      <dsp:spPr>
        <a:xfrm rot="18289469">
          <a:off x="998871" y="1345836"/>
          <a:ext cx="820069" cy="25927"/>
        </a:xfrm>
        <a:custGeom>
          <a:avLst/>
          <a:gdLst/>
          <a:ahLst/>
          <a:cxnLst/>
          <a:rect l="0" t="0" r="0" b="0"/>
          <a:pathLst>
            <a:path>
              <a:moveTo>
                <a:pt x="0" y="12963"/>
              </a:moveTo>
              <a:lnTo>
                <a:pt x="820069" y="1296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388404" y="1338299"/>
        <a:ext cx="41003" cy="41003"/>
      </dsp:txXfrm>
    </dsp:sp>
    <dsp:sp modelId="{EF622E90-A0BC-4C67-8EC1-3D4894BAA9CC}">
      <dsp:nvSpPr>
        <dsp:cNvPr id="0" name=""/>
        <dsp:cNvSpPr/>
      </dsp:nvSpPr>
      <dsp:spPr>
        <a:xfrm>
          <a:off x="1643062" y="729505"/>
          <a:ext cx="1170781" cy="5853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zh-CN" altLang="zh-CN" sz="1700" kern="1200" dirty="0"/>
            <a:t>机器语言</a:t>
          </a:r>
          <a:endParaRPr lang="zh-CN" altLang="en-US" sz="1700" kern="1200" dirty="0"/>
        </a:p>
      </dsp:txBody>
      <dsp:txXfrm>
        <a:off x="1660207" y="746650"/>
        <a:ext cx="1136491" cy="551100"/>
      </dsp:txXfrm>
    </dsp:sp>
    <dsp:sp modelId="{0431FEB7-3378-4B7E-A42C-11227A96BA3B}">
      <dsp:nvSpPr>
        <dsp:cNvPr id="0" name=""/>
        <dsp:cNvSpPr/>
      </dsp:nvSpPr>
      <dsp:spPr>
        <a:xfrm>
          <a:off x="1174749" y="1682436"/>
          <a:ext cx="468312" cy="25927"/>
        </a:xfrm>
        <a:custGeom>
          <a:avLst/>
          <a:gdLst/>
          <a:ahLst/>
          <a:cxnLst/>
          <a:rect l="0" t="0" r="0" b="0"/>
          <a:pathLst>
            <a:path>
              <a:moveTo>
                <a:pt x="0" y="12963"/>
              </a:moveTo>
              <a:lnTo>
                <a:pt x="468312" y="1296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397198" y="1683692"/>
        <a:ext cx="23415" cy="23415"/>
      </dsp:txXfrm>
    </dsp:sp>
    <dsp:sp modelId="{2A180C5E-2054-4A55-9D08-74FDBFA99BFF}">
      <dsp:nvSpPr>
        <dsp:cNvPr id="0" name=""/>
        <dsp:cNvSpPr/>
      </dsp:nvSpPr>
      <dsp:spPr>
        <a:xfrm>
          <a:off x="1643062" y="1402705"/>
          <a:ext cx="1170781" cy="5853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zh-CN" altLang="zh-CN" sz="1700" kern="1200" dirty="0"/>
            <a:t>汇编语言</a:t>
          </a:r>
          <a:endParaRPr lang="zh-CN" altLang="en-US" sz="1700" kern="1200" dirty="0"/>
        </a:p>
      </dsp:txBody>
      <dsp:txXfrm>
        <a:off x="1660207" y="1419850"/>
        <a:ext cx="1136491" cy="551100"/>
      </dsp:txXfrm>
    </dsp:sp>
    <dsp:sp modelId="{CFFFDB27-54FE-484D-8EF6-6B160DB847F4}">
      <dsp:nvSpPr>
        <dsp:cNvPr id="0" name=""/>
        <dsp:cNvSpPr/>
      </dsp:nvSpPr>
      <dsp:spPr>
        <a:xfrm rot="3310531">
          <a:off x="998871" y="2019036"/>
          <a:ext cx="820069" cy="25927"/>
        </a:xfrm>
        <a:custGeom>
          <a:avLst/>
          <a:gdLst/>
          <a:ahLst/>
          <a:cxnLst/>
          <a:rect l="0" t="0" r="0" b="0"/>
          <a:pathLst>
            <a:path>
              <a:moveTo>
                <a:pt x="0" y="12963"/>
              </a:moveTo>
              <a:lnTo>
                <a:pt x="820069" y="1296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388404" y="2011498"/>
        <a:ext cx="41003" cy="41003"/>
      </dsp:txXfrm>
    </dsp:sp>
    <dsp:sp modelId="{64B656C3-9A14-4106-B665-E8770A312760}">
      <dsp:nvSpPr>
        <dsp:cNvPr id="0" name=""/>
        <dsp:cNvSpPr/>
      </dsp:nvSpPr>
      <dsp:spPr>
        <a:xfrm>
          <a:off x="1643062" y="2075904"/>
          <a:ext cx="1170781" cy="5853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zh-CN" altLang="zh-CN" sz="1700" kern="1200" dirty="0"/>
            <a:t>高级语言</a:t>
          </a:r>
          <a:endParaRPr lang="zh-CN" altLang="en-US" sz="1700" kern="1200" dirty="0"/>
        </a:p>
      </dsp:txBody>
      <dsp:txXfrm>
        <a:off x="1660207" y="2093049"/>
        <a:ext cx="1136491" cy="551100"/>
      </dsp:txXfrm>
    </dsp:sp>
    <dsp:sp modelId="{376725F1-2F65-4D42-B675-81207171037F}">
      <dsp:nvSpPr>
        <dsp:cNvPr id="0" name=""/>
        <dsp:cNvSpPr/>
      </dsp:nvSpPr>
      <dsp:spPr>
        <a:xfrm rot="18289469">
          <a:off x="2637965" y="2019036"/>
          <a:ext cx="820069" cy="25927"/>
        </a:xfrm>
        <a:custGeom>
          <a:avLst/>
          <a:gdLst/>
          <a:ahLst/>
          <a:cxnLst/>
          <a:rect l="0" t="0" r="0" b="0"/>
          <a:pathLst>
            <a:path>
              <a:moveTo>
                <a:pt x="0" y="12963"/>
              </a:moveTo>
              <a:lnTo>
                <a:pt x="820069" y="1296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027498" y="2011498"/>
        <a:ext cx="41003" cy="41003"/>
      </dsp:txXfrm>
    </dsp:sp>
    <dsp:sp modelId="{D935055D-6FD9-4D10-B930-A8456D4FFCAA}">
      <dsp:nvSpPr>
        <dsp:cNvPr id="0" name=""/>
        <dsp:cNvSpPr/>
      </dsp:nvSpPr>
      <dsp:spPr>
        <a:xfrm>
          <a:off x="3282156" y="1402705"/>
          <a:ext cx="1170781" cy="5853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zh-CN" altLang="zh-CN" sz="1700" kern="1200" dirty="0"/>
            <a:t>命令式程序设计语言</a:t>
          </a:r>
          <a:endParaRPr lang="zh-CN" altLang="en-US" sz="1700" kern="1200" dirty="0"/>
        </a:p>
      </dsp:txBody>
      <dsp:txXfrm>
        <a:off x="3299301" y="1419850"/>
        <a:ext cx="1136491" cy="551100"/>
      </dsp:txXfrm>
    </dsp:sp>
    <dsp:sp modelId="{CE35D44F-7987-425B-805F-15A8B560EC78}">
      <dsp:nvSpPr>
        <dsp:cNvPr id="0" name=""/>
        <dsp:cNvSpPr/>
      </dsp:nvSpPr>
      <dsp:spPr>
        <a:xfrm rot="19457599">
          <a:off x="4398729" y="1514136"/>
          <a:ext cx="576728" cy="25927"/>
        </a:xfrm>
        <a:custGeom>
          <a:avLst/>
          <a:gdLst/>
          <a:ahLst/>
          <a:cxnLst/>
          <a:rect l="0" t="0" r="0" b="0"/>
          <a:pathLst>
            <a:path>
              <a:moveTo>
                <a:pt x="0" y="12963"/>
              </a:moveTo>
              <a:lnTo>
                <a:pt x="576728" y="1296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672675" y="1512682"/>
        <a:ext cx="28836" cy="28836"/>
      </dsp:txXfrm>
    </dsp:sp>
    <dsp:sp modelId="{C5245F37-D145-4B89-9918-53AADD1203F8}">
      <dsp:nvSpPr>
        <dsp:cNvPr id="0" name=""/>
        <dsp:cNvSpPr/>
      </dsp:nvSpPr>
      <dsp:spPr>
        <a:xfrm>
          <a:off x="4921250" y="1066105"/>
          <a:ext cx="1170781" cy="5853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zh-CN" sz="1700" kern="1200"/>
            <a:t>结构化程序设计语言</a:t>
          </a:r>
          <a:endParaRPr lang="zh-CN" altLang="en-US" sz="1700" kern="1200"/>
        </a:p>
      </dsp:txBody>
      <dsp:txXfrm>
        <a:off x="4938395" y="1083250"/>
        <a:ext cx="1136491" cy="551100"/>
      </dsp:txXfrm>
    </dsp:sp>
    <dsp:sp modelId="{5154FA41-4925-41F5-812F-2B13F7E8B1F7}">
      <dsp:nvSpPr>
        <dsp:cNvPr id="0" name=""/>
        <dsp:cNvSpPr/>
      </dsp:nvSpPr>
      <dsp:spPr>
        <a:xfrm rot="2142401">
          <a:off x="4398729" y="1850736"/>
          <a:ext cx="576728" cy="25927"/>
        </a:xfrm>
        <a:custGeom>
          <a:avLst/>
          <a:gdLst/>
          <a:ahLst/>
          <a:cxnLst/>
          <a:rect l="0" t="0" r="0" b="0"/>
          <a:pathLst>
            <a:path>
              <a:moveTo>
                <a:pt x="0" y="12963"/>
              </a:moveTo>
              <a:lnTo>
                <a:pt x="576728" y="1296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672675" y="1849281"/>
        <a:ext cx="28836" cy="28836"/>
      </dsp:txXfrm>
    </dsp:sp>
    <dsp:sp modelId="{AC6576F1-1A5D-4033-89F2-100E326F07CC}">
      <dsp:nvSpPr>
        <dsp:cNvPr id="0" name=""/>
        <dsp:cNvSpPr/>
      </dsp:nvSpPr>
      <dsp:spPr>
        <a:xfrm>
          <a:off x="4921250" y="1739304"/>
          <a:ext cx="1170781" cy="5853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zh-CN" sz="1700" kern="1200"/>
            <a:t>面向对象程序设计语言</a:t>
          </a:r>
          <a:endParaRPr lang="zh-CN" altLang="en-US" sz="1700" kern="1200"/>
        </a:p>
      </dsp:txBody>
      <dsp:txXfrm>
        <a:off x="4938395" y="1756449"/>
        <a:ext cx="1136491" cy="551100"/>
      </dsp:txXfrm>
    </dsp:sp>
    <dsp:sp modelId="{780140C6-1054-48F7-8074-63D264BE6A5A}">
      <dsp:nvSpPr>
        <dsp:cNvPr id="0" name=""/>
        <dsp:cNvSpPr/>
      </dsp:nvSpPr>
      <dsp:spPr>
        <a:xfrm>
          <a:off x="2813843" y="2355635"/>
          <a:ext cx="468312" cy="25927"/>
        </a:xfrm>
        <a:custGeom>
          <a:avLst/>
          <a:gdLst/>
          <a:ahLst/>
          <a:cxnLst/>
          <a:rect l="0" t="0" r="0" b="0"/>
          <a:pathLst>
            <a:path>
              <a:moveTo>
                <a:pt x="0" y="12963"/>
              </a:moveTo>
              <a:lnTo>
                <a:pt x="468312" y="1296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036292" y="2356891"/>
        <a:ext cx="23415" cy="23415"/>
      </dsp:txXfrm>
    </dsp:sp>
    <dsp:sp modelId="{855EF88A-1AB1-4F94-97D6-C077148D4EA9}">
      <dsp:nvSpPr>
        <dsp:cNvPr id="0" name=""/>
        <dsp:cNvSpPr/>
      </dsp:nvSpPr>
      <dsp:spPr>
        <a:xfrm>
          <a:off x="3282156" y="2075904"/>
          <a:ext cx="1170781" cy="5853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zh-CN" altLang="zh-CN" sz="1700" kern="1200"/>
            <a:t>函数式程序设计语言</a:t>
          </a:r>
          <a:endParaRPr lang="zh-CN" altLang="en-US" sz="1700" kern="1200"/>
        </a:p>
      </dsp:txBody>
      <dsp:txXfrm>
        <a:off x="3299301" y="2093049"/>
        <a:ext cx="1136491" cy="551100"/>
      </dsp:txXfrm>
    </dsp:sp>
    <dsp:sp modelId="{324260D8-4E63-4DB6-9355-E8FBA102E17C}">
      <dsp:nvSpPr>
        <dsp:cNvPr id="0" name=""/>
        <dsp:cNvSpPr/>
      </dsp:nvSpPr>
      <dsp:spPr>
        <a:xfrm rot="3310531">
          <a:off x="2637965" y="2692235"/>
          <a:ext cx="820069" cy="25927"/>
        </a:xfrm>
        <a:custGeom>
          <a:avLst/>
          <a:gdLst/>
          <a:ahLst/>
          <a:cxnLst/>
          <a:rect l="0" t="0" r="0" b="0"/>
          <a:pathLst>
            <a:path>
              <a:moveTo>
                <a:pt x="0" y="12963"/>
              </a:moveTo>
              <a:lnTo>
                <a:pt x="820069" y="1296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3027498" y="2684697"/>
        <a:ext cx="41003" cy="41003"/>
      </dsp:txXfrm>
    </dsp:sp>
    <dsp:sp modelId="{11980F09-E5A5-4B41-81B1-30075417C3C6}">
      <dsp:nvSpPr>
        <dsp:cNvPr id="0" name=""/>
        <dsp:cNvSpPr/>
      </dsp:nvSpPr>
      <dsp:spPr>
        <a:xfrm>
          <a:off x="3282156" y="2749103"/>
          <a:ext cx="1170781" cy="5853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zh-CN" altLang="zh-CN" sz="1700" kern="1200"/>
            <a:t>逻辑程序设计语言</a:t>
          </a:r>
          <a:endParaRPr lang="zh-CN" altLang="en-US" sz="1700" kern="1200"/>
        </a:p>
      </dsp:txBody>
      <dsp:txXfrm>
        <a:off x="3299301" y="2766248"/>
        <a:ext cx="1136491" cy="55110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F83AD1C-05B3-438F-8E20-E3E058812D96}" type="datetimeFigureOut">
              <a:rPr lang="zh-CN" altLang="en-US" smtClean="0"/>
              <a:pPr/>
              <a:t>2023/10/18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CCF53C7-AE8B-426E-BBB5-57A4986D06A0}" type="slidenum">
              <a:rPr lang="zh-CN" altLang="en-US" smtClean="0"/>
              <a:pPr/>
              <a:t>‹#›</a:t>
            </a:fld>
            <a:endParaRPr lang="zh-CN" altLang="en-US"/>
          </a:p>
        </p:txBody>
      </p:sp>
    </p:spTree>
    <p:extLst>
      <p:ext uri="{BB962C8B-B14F-4D97-AF65-F5344CB8AC3E}">
        <p14:creationId xmlns:p14="http://schemas.microsoft.com/office/powerpoint/2010/main" val="1282595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CCF53C7-AE8B-426E-BBB5-57A4986D06A0}" type="slidenum">
              <a:rPr lang="zh-CN" altLang="en-US" smtClean="0"/>
              <a:pPr/>
              <a:t>18</a:t>
            </a:fld>
            <a:endParaRPr lang="zh-CN" altLang="en-US"/>
          </a:p>
        </p:txBody>
      </p:sp>
    </p:spTree>
    <p:extLst>
      <p:ext uri="{BB962C8B-B14F-4D97-AF65-F5344CB8AC3E}">
        <p14:creationId xmlns:p14="http://schemas.microsoft.com/office/powerpoint/2010/main" val="14152917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2023/10/18</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291273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2023/10/18</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711960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2023/10/18</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70385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2023/10/18</a:t>
            </a:fld>
            <a:endParaRPr lang="zh-CN" altLang="en-US"/>
          </a:p>
        </p:txBody>
      </p:sp>
      <p:sp>
        <p:nvSpPr>
          <p:cNvPr id="6" name="页脚占位符 4"/>
          <p:cNvSpPr>
            <a:spLocks noGrp="1"/>
          </p:cNvSpPr>
          <p:nvPr>
            <p:ph type="ftr" sz="quarter" idx="11"/>
          </p:nvPr>
        </p:nvSpPr>
        <p:spPr/>
        <p:txBody>
          <a:bodyPr/>
          <a:lstStyle>
            <a:lvl1pPr>
              <a:defRPr/>
            </a:lvl1pPr>
          </a:lstStyle>
          <a:p>
            <a:endParaRPr lang="zh-CN" altLang="en-US"/>
          </a:p>
        </p:txBody>
      </p:sp>
      <p:sp>
        <p:nvSpPr>
          <p:cNvPr id="7"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653339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2023/10/18</a:t>
            </a:fld>
            <a:endParaRPr lang="zh-CN" altLang="en-US"/>
          </a:p>
        </p:txBody>
      </p:sp>
      <p:sp>
        <p:nvSpPr>
          <p:cNvPr id="8" name="页脚占位符 4"/>
          <p:cNvSpPr>
            <a:spLocks noGrp="1"/>
          </p:cNvSpPr>
          <p:nvPr>
            <p:ph type="ftr" sz="quarter" idx="11"/>
          </p:nvPr>
        </p:nvSpPr>
        <p:spPr/>
        <p:txBody>
          <a:bodyPr/>
          <a:lstStyle>
            <a:lvl1pPr>
              <a:defRPr/>
            </a:lvl1pPr>
          </a:lstStyle>
          <a:p>
            <a:endParaRPr lang="zh-CN" altLang="en-US"/>
          </a:p>
        </p:txBody>
      </p:sp>
      <p:sp>
        <p:nvSpPr>
          <p:cNvPr id="9"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2703656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2023/10/18</a:t>
            </a:fld>
            <a:endParaRPr lang="zh-CN" altLang="en-US"/>
          </a:p>
        </p:txBody>
      </p:sp>
      <p:sp>
        <p:nvSpPr>
          <p:cNvPr id="4" name="页脚占位符 4"/>
          <p:cNvSpPr>
            <a:spLocks noGrp="1"/>
          </p:cNvSpPr>
          <p:nvPr>
            <p:ph type="ftr" sz="quarter" idx="11"/>
          </p:nvPr>
        </p:nvSpPr>
        <p:spPr/>
        <p:txBody>
          <a:bodyPr/>
          <a:lstStyle>
            <a:lvl1pPr>
              <a:defRPr/>
            </a:lvl1pPr>
          </a:lstStyle>
          <a:p>
            <a:endParaRPr lang="zh-CN" altLang="en-US"/>
          </a:p>
        </p:txBody>
      </p:sp>
      <p:sp>
        <p:nvSpPr>
          <p:cNvPr id="5"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2315265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2023/10/18</a:t>
            </a:fld>
            <a:endParaRPr lang="zh-CN" altLang="en-US"/>
          </a:p>
        </p:txBody>
      </p:sp>
      <p:sp>
        <p:nvSpPr>
          <p:cNvPr id="3" name="页脚占位符 4"/>
          <p:cNvSpPr>
            <a:spLocks noGrp="1"/>
          </p:cNvSpPr>
          <p:nvPr>
            <p:ph type="ftr" sz="quarter" idx="11"/>
          </p:nvPr>
        </p:nvSpPr>
        <p:spPr/>
        <p:txBody>
          <a:bodyPr/>
          <a:lstStyle>
            <a:lvl1pPr>
              <a:defRPr/>
            </a:lvl1pPr>
          </a:lstStyle>
          <a:p>
            <a:endParaRPr lang="zh-CN" altLang="en-US"/>
          </a:p>
        </p:txBody>
      </p:sp>
      <p:sp>
        <p:nvSpPr>
          <p:cNvPr id="4"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678399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2023/10/18</a:t>
            </a:fld>
            <a:endParaRPr lang="zh-CN" altLang="en-US"/>
          </a:p>
        </p:txBody>
      </p:sp>
      <p:sp>
        <p:nvSpPr>
          <p:cNvPr id="6" name="页脚占位符 4"/>
          <p:cNvSpPr>
            <a:spLocks noGrp="1"/>
          </p:cNvSpPr>
          <p:nvPr>
            <p:ph type="ftr" sz="quarter" idx="11"/>
          </p:nvPr>
        </p:nvSpPr>
        <p:spPr/>
        <p:txBody>
          <a:bodyPr/>
          <a:lstStyle>
            <a:lvl1pPr>
              <a:defRPr/>
            </a:lvl1pPr>
          </a:lstStyle>
          <a:p>
            <a:endParaRPr lang="zh-CN" altLang="en-US"/>
          </a:p>
        </p:txBody>
      </p:sp>
      <p:sp>
        <p:nvSpPr>
          <p:cNvPr id="7"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093833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2023/10/18</a:t>
            </a:fld>
            <a:endParaRPr lang="zh-CN" altLang="en-US"/>
          </a:p>
        </p:txBody>
      </p:sp>
      <p:sp>
        <p:nvSpPr>
          <p:cNvPr id="6" name="页脚占位符 4"/>
          <p:cNvSpPr>
            <a:spLocks noGrp="1"/>
          </p:cNvSpPr>
          <p:nvPr>
            <p:ph type="ftr" sz="quarter" idx="11"/>
          </p:nvPr>
        </p:nvSpPr>
        <p:spPr/>
        <p:txBody>
          <a:bodyPr/>
          <a:lstStyle>
            <a:lvl1pPr>
              <a:defRPr/>
            </a:lvl1pPr>
          </a:lstStyle>
          <a:p>
            <a:endParaRPr lang="zh-CN" altLang="en-US"/>
          </a:p>
        </p:txBody>
      </p:sp>
      <p:sp>
        <p:nvSpPr>
          <p:cNvPr id="7"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785917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2023/10/18</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59121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2023/10/18</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1919523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68313" y="404813"/>
            <a:ext cx="8229600" cy="633412"/>
          </a:xfrm>
        </p:spPr>
        <p:txBody>
          <a:bodyPr/>
          <a:lstStyle/>
          <a:p>
            <a:r>
              <a:rPr lang="zh-CN" altLang="en-US"/>
              <a:t>单击此处编辑母版标题样式</a:t>
            </a:r>
          </a:p>
        </p:txBody>
      </p:sp>
      <p:sp>
        <p:nvSpPr>
          <p:cNvPr id="3" name="表格占位符 2"/>
          <p:cNvSpPr>
            <a:spLocks noGrp="1"/>
          </p:cNvSpPr>
          <p:nvPr>
            <p:ph type="tbl" idx="1"/>
          </p:nvPr>
        </p:nvSpPr>
        <p:spPr>
          <a:xfrm>
            <a:off x="468313" y="1268413"/>
            <a:ext cx="8229600" cy="4857750"/>
          </a:xfrm>
        </p:spPr>
        <p:txBody>
          <a:bodyPr/>
          <a:lstStyle/>
          <a:p>
            <a:pPr lvl="0"/>
            <a:r>
              <a:rPr lang="zh-CN" altLang="en-US" noProof="0"/>
              <a:t>单击图标添加表格</a:t>
            </a:r>
          </a:p>
        </p:txBody>
      </p:sp>
      <p:sp>
        <p:nvSpPr>
          <p:cNvPr id="4"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2023/10/18</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957258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51" name="标题占位符 1"/>
          <p:cNvSpPr>
            <a:spLocks noGrp="1"/>
          </p:cNvSpPr>
          <p:nvPr>
            <p:ph type="title"/>
          </p:nvPr>
        </p:nvSpPr>
        <p:spPr bwMode="auto">
          <a:xfrm>
            <a:off x="468313" y="404813"/>
            <a:ext cx="8229600" cy="63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2" name="文本占位符 2"/>
          <p:cNvSpPr>
            <a:spLocks noGrp="1"/>
          </p:cNvSpPr>
          <p:nvPr>
            <p:ph type="body" idx="1"/>
          </p:nvPr>
        </p:nvSpPr>
        <p:spPr bwMode="auto">
          <a:xfrm>
            <a:off x="468313" y="1268413"/>
            <a:ext cx="8229600"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fld id="{530820CF-B880-4189-942D-D702A7CBA730}" type="datetimeFigureOut">
              <a:rPr lang="zh-CN" altLang="en-US" smtClean="0"/>
              <a:pPr/>
              <a:t>2023/10/18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fld id="{0C913308-F349-4B6D-A68A-DD1791B4A57B}" type="slidenum">
              <a:rPr lang="zh-CN" altLang="en-US" smtClean="0"/>
              <a:pPr/>
              <a:t>‹#›</a:t>
            </a:fld>
            <a:endParaRPr lang="zh-CN" altLang="en-US"/>
          </a:p>
        </p:txBody>
      </p:sp>
      <p:pic>
        <p:nvPicPr>
          <p:cNvPr id="9" name="图片 8"/>
          <p:cNvPicPr>
            <a:picLocks noChangeAspect="1"/>
          </p:cNvPicPr>
          <p:nvPr userDrawn="1"/>
        </p:nvPicPr>
        <p:blipFill rotWithShape="1">
          <a:blip r:embed="rId14" cstate="print">
            <a:extLst>
              <a:ext uri="{28A0092B-C50C-407E-A947-70E740481C1C}">
                <a14:useLocalDpi xmlns:a14="http://schemas.microsoft.com/office/drawing/2010/main" val="0"/>
              </a:ext>
            </a:extLst>
          </a:blip>
          <a:srcRect l="6296" t="36550" r="6350" b="38215"/>
          <a:stretch/>
        </p:blipFill>
        <p:spPr>
          <a:xfrm>
            <a:off x="34961" y="11565"/>
            <a:ext cx="720615" cy="208177"/>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fontAlgn="base" hangingPunct="1">
        <a:spcBef>
          <a:spcPct val="0"/>
        </a:spcBef>
        <a:spcAft>
          <a:spcPct val="0"/>
        </a:spcAft>
        <a:defRPr sz="3600" b="1" kern="1200">
          <a:solidFill>
            <a:schemeClr val="tx1"/>
          </a:solidFill>
          <a:latin typeface="+mj-lt"/>
          <a:ea typeface="黑体" pitchFamily="2" charset="-122"/>
          <a:cs typeface="+mj-cs"/>
        </a:defRPr>
      </a:lvl1pPr>
      <a:lvl2pPr algn="l" rtl="0" eaLnBrk="1" fontAlgn="base" hangingPunct="1">
        <a:spcBef>
          <a:spcPct val="0"/>
        </a:spcBef>
        <a:spcAft>
          <a:spcPct val="0"/>
        </a:spcAft>
        <a:defRPr sz="3600" b="1">
          <a:solidFill>
            <a:schemeClr val="tx1"/>
          </a:solidFill>
          <a:latin typeface="Calibri" pitchFamily="34" charset="0"/>
          <a:ea typeface="黑体" pitchFamily="2" charset="-122"/>
        </a:defRPr>
      </a:lvl2pPr>
      <a:lvl3pPr algn="l" rtl="0" eaLnBrk="1" fontAlgn="base" hangingPunct="1">
        <a:spcBef>
          <a:spcPct val="0"/>
        </a:spcBef>
        <a:spcAft>
          <a:spcPct val="0"/>
        </a:spcAft>
        <a:defRPr sz="3600" b="1">
          <a:solidFill>
            <a:schemeClr val="tx1"/>
          </a:solidFill>
          <a:latin typeface="Calibri" pitchFamily="34" charset="0"/>
          <a:ea typeface="黑体" pitchFamily="2" charset="-122"/>
        </a:defRPr>
      </a:lvl3pPr>
      <a:lvl4pPr algn="l" rtl="0" eaLnBrk="1" fontAlgn="base" hangingPunct="1">
        <a:spcBef>
          <a:spcPct val="0"/>
        </a:spcBef>
        <a:spcAft>
          <a:spcPct val="0"/>
        </a:spcAft>
        <a:defRPr sz="3600" b="1">
          <a:solidFill>
            <a:schemeClr val="tx1"/>
          </a:solidFill>
          <a:latin typeface="Calibri" pitchFamily="34" charset="0"/>
          <a:ea typeface="黑体" pitchFamily="2" charset="-122"/>
        </a:defRPr>
      </a:lvl4pPr>
      <a:lvl5pPr algn="l" rtl="0" eaLnBrk="1" fontAlgn="base" hangingPunct="1">
        <a:spcBef>
          <a:spcPct val="0"/>
        </a:spcBef>
        <a:spcAft>
          <a:spcPct val="0"/>
        </a:spcAft>
        <a:defRPr sz="3600" b="1">
          <a:solidFill>
            <a:schemeClr val="tx1"/>
          </a:solidFill>
          <a:latin typeface="Calibri" pitchFamily="34" charset="0"/>
          <a:ea typeface="黑体" pitchFamily="2" charset="-122"/>
        </a:defRPr>
      </a:lvl5pPr>
      <a:lvl6pPr marL="457200" algn="ctr" rtl="0" eaLnBrk="1" fontAlgn="base" hangingPunct="1">
        <a:spcBef>
          <a:spcPct val="0"/>
        </a:spcBef>
        <a:spcAft>
          <a:spcPct val="0"/>
        </a:spcAft>
        <a:defRPr sz="4400">
          <a:solidFill>
            <a:schemeClr val="tx1"/>
          </a:solidFill>
          <a:latin typeface="Calibri" pitchFamily="34" charset="0"/>
          <a:ea typeface="宋体" pitchFamily="2" charset="-122"/>
        </a:defRPr>
      </a:lvl6pPr>
      <a:lvl7pPr marL="914400" algn="ctr" rtl="0" eaLnBrk="1" fontAlgn="base" hangingPunct="1">
        <a:spcBef>
          <a:spcPct val="0"/>
        </a:spcBef>
        <a:spcAft>
          <a:spcPct val="0"/>
        </a:spcAft>
        <a:defRPr sz="4400">
          <a:solidFill>
            <a:schemeClr val="tx1"/>
          </a:solidFill>
          <a:latin typeface="Calibri" pitchFamily="34" charset="0"/>
          <a:ea typeface="宋体" pitchFamily="2" charset="-122"/>
        </a:defRPr>
      </a:lvl7pPr>
      <a:lvl8pPr marL="1371600" algn="ctr" rtl="0" eaLnBrk="1" fontAlgn="base" hangingPunct="1">
        <a:spcBef>
          <a:spcPct val="0"/>
        </a:spcBef>
        <a:spcAft>
          <a:spcPct val="0"/>
        </a:spcAft>
        <a:defRPr sz="4400">
          <a:solidFill>
            <a:schemeClr val="tx1"/>
          </a:solidFill>
          <a:latin typeface="Calibri" pitchFamily="34" charset="0"/>
          <a:ea typeface="宋体" pitchFamily="2" charset="-122"/>
        </a:defRPr>
      </a:lvl8pPr>
      <a:lvl9pPr marL="1828800" algn="ctr" rtl="0" eaLnBrk="1" fontAlgn="base" hangingPunct="1">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ctrTitle"/>
          </p:nvPr>
        </p:nvSpPr>
        <p:spPr>
          <a:xfrm>
            <a:off x="0" y="1752600"/>
            <a:ext cx="9144000" cy="1470025"/>
          </a:xfrm>
        </p:spPr>
        <p:txBody>
          <a:bodyPr/>
          <a:lstStyle/>
          <a:p>
            <a:pPr algn="ctr"/>
            <a:r>
              <a:rPr lang="en-US" altLang="zh-CN" sz="4000" dirty="0">
                <a:latin typeface="Times New Roman" pitchFamily="18" charset="0"/>
                <a:ea typeface="黑体" pitchFamily="49" charset="-122"/>
              </a:rPr>
              <a:t>Introduction to Computational Thinking</a:t>
            </a:r>
            <a:br>
              <a:rPr lang="en-US" altLang="zh-CN" sz="3200" dirty="0">
                <a:latin typeface="Times New Roman" pitchFamily="18" charset="0"/>
                <a:ea typeface="黑体" pitchFamily="49" charset="-122"/>
              </a:rPr>
            </a:br>
            <a:r>
              <a:rPr lang="en-US" altLang="zh-CN" sz="3200">
                <a:latin typeface="Times New Roman" pitchFamily="18" charset="0"/>
                <a:ea typeface="黑体" pitchFamily="49" charset="-122"/>
              </a:rPr>
              <a:t>Chapter 7: </a:t>
            </a:r>
            <a:r>
              <a:rPr lang="en-US" altLang="zh-CN" sz="3200" dirty="0">
                <a:latin typeface="Times New Roman" pitchFamily="18" charset="0"/>
                <a:ea typeface="黑体" pitchFamily="49" charset="-122"/>
              </a:rPr>
              <a:t>Programming Languages</a:t>
            </a:r>
            <a:endParaRPr lang="zh-CN" altLang="en-US" sz="3200" dirty="0">
              <a:ea typeface="宋体" pitchFamily="2" charset="-122"/>
            </a:endParaRPr>
          </a:p>
        </p:txBody>
      </p:sp>
      <p:sp>
        <p:nvSpPr>
          <p:cNvPr id="5" name="副标题 2"/>
          <p:cNvSpPr txBox="1">
            <a:spLocks/>
          </p:cNvSpPr>
          <p:nvPr/>
        </p:nvSpPr>
        <p:spPr bwMode="auto">
          <a:xfrm>
            <a:off x="827584" y="4005064"/>
            <a:ext cx="7304856"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1" fontAlgn="base" hangingPunct="1">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1" fontAlgn="base" hangingPunct="1">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1" fontAlgn="base" hangingPunct="1">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1" fontAlgn="base" hangingPunct="1">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defRPr/>
            </a:pPr>
            <a:r>
              <a:rPr lang="en-US" altLang="zh-CN" dirty="0"/>
              <a:t>Rui Mao</a:t>
            </a:r>
          </a:p>
          <a:p>
            <a:pPr>
              <a:defRPr/>
            </a:pPr>
            <a:r>
              <a:rPr lang="en-US" altLang="zh-CN" dirty="0"/>
              <a:t>Shenzhen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755576" y="1628800"/>
            <a:ext cx="7772400" cy="1470025"/>
          </a:xfrm>
        </p:spPr>
        <p:txBody>
          <a:bodyPr/>
          <a:lstStyle/>
          <a:p>
            <a:pPr algn="ctr"/>
            <a:r>
              <a:rPr lang="zh-CN" altLang="zh-CN" dirty="0">
                <a:solidFill>
                  <a:srgbClr val="133984"/>
                </a:solidFill>
                <a:latin typeface="Times New Roman" pitchFamily="18" charset="0"/>
                <a:ea typeface="宋体" charset="-122"/>
                <a:cs typeface="Times New Roman" pitchFamily="18" charset="0"/>
              </a:rPr>
              <a:t>程序设计语言</a:t>
            </a:r>
            <a:r>
              <a:rPr lang="en-US" altLang="zh-CN" dirty="0">
                <a:solidFill>
                  <a:srgbClr val="133984"/>
                </a:solidFill>
                <a:latin typeface="Times New Roman" pitchFamily="18" charset="0"/>
                <a:ea typeface="宋体" charset="-122"/>
                <a:cs typeface="Times New Roman" pitchFamily="18" charset="0"/>
              </a:rPr>
              <a:t>(</a:t>
            </a:r>
            <a:r>
              <a:rPr lang="zh-CN" altLang="en-US" dirty="0">
                <a:solidFill>
                  <a:srgbClr val="133984"/>
                </a:solidFill>
                <a:latin typeface="Times New Roman" pitchFamily="18" charset="0"/>
                <a:ea typeface="宋体" charset="-122"/>
                <a:cs typeface="Times New Roman" pitchFamily="18" charset="0"/>
              </a:rPr>
              <a:t>课本</a:t>
            </a:r>
            <a:r>
              <a:rPr lang="zh-CN" altLang="zh-CN" dirty="0">
                <a:solidFill>
                  <a:srgbClr val="133984"/>
                </a:solidFill>
                <a:latin typeface="Times New Roman" pitchFamily="18" charset="0"/>
                <a:ea typeface="宋体" charset="-122"/>
                <a:cs typeface="Times New Roman" pitchFamily="18" charset="0"/>
              </a:rPr>
              <a:t>第四章</a:t>
            </a:r>
            <a:r>
              <a:rPr lang="en-US" altLang="zh-CN" dirty="0">
                <a:solidFill>
                  <a:srgbClr val="133984"/>
                </a:solidFill>
                <a:latin typeface="Times New Roman" pitchFamily="18" charset="0"/>
                <a:ea typeface="宋体" charset="-122"/>
                <a:cs typeface="Times New Roman" pitchFamily="18" charset="0"/>
              </a:rPr>
              <a:t>)</a:t>
            </a:r>
            <a:br>
              <a:rPr lang="zh-CN" altLang="zh-CN" dirty="0">
                <a:solidFill>
                  <a:srgbClr val="133984"/>
                </a:solidFill>
                <a:latin typeface="Times New Roman" pitchFamily="18" charset="0"/>
                <a:ea typeface="宋体" charset="-122"/>
                <a:cs typeface="Times New Roman" pitchFamily="18" charset="0"/>
              </a:rPr>
            </a:br>
            <a:endParaRPr lang="zh-CN" altLang="en-US" dirty="0">
              <a:solidFill>
                <a:srgbClr val="133984"/>
              </a:solidFill>
              <a:latin typeface="Times New Roman" pitchFamily="18" charset="0"/>
              <a:ea typeface="宋体" charset="-122"/>
              <a:cs typeface="Times New Roman" pitchFamily="18" charset="0"/>
            </a:endParaRPr>
          </a:p>
        </p:txBody>
      </p:sp>
    </p:spTree>
    <p:extLst>
      <p:ext uri="{BB962C8B-B14F-4D97-AF65-F5344CB8AC3E}">
        <p14:creationId xmlns:p14="http://schemas.microsoft.com/office/powerpoint/2010/main" val="229321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620688"/>
            <a:ext cx="8229600" cy="633412"/>
          </a:xfrm>
        </p:spPr>
        <p:txBody>
          <a:bodyPr/>
          <a:lstStyle/>
          <a:p>
            <a:r>
              <a:rPr lang="en-US" altLang="zh-CN" dirty="0">
                <a:solidFill>
                  <a:srgbClr val="133984"/>
                </a:solidFill>
              </a:rPr>
              <a:t>4.1 </a:t>
            </a:r>
            <a:r>
              <a:rPr lang="zh-CN" altLang="en-US" dirty="0">
                <a:solidFill>
                  <a:srgbClr val="133984"/>
                </a:solidFill>
              </a:rPr>
              <a:t>程序设计语言简介</a:t>
            </a:r>
          </a:p>
        </p:txBody>
      </p:sp>
      <p:sp>
        <p:nvSpPr>
          <p:cNvPr id="3" name="内容占位符 2"/>
          <p:cNvSpPr>
            <a:spLocks noGrp="1"/>
          </p:cNvSpPr>
          <p:nvPr>
            <p:ph idx="1"/>
          </p:nvPr>
        </p:nvSpPr>
        <p:spPr>
          <a:xfrm>
            <a:off x="539552" y="1556792"/>
            <a:ext cx="8229600" cy="4857750"/>
          </a:xfrm>
        </p:spPr>
        <p:txBody>
          <a:bodyPr/>
          <a:lstStyle/>
          <a:p>
            <a:pPr marL="0" indent="0">
              <a:buNone/>
            </a:pPr>
            <a:r>
              <a:rPr lang="zh-CN" altLang="zh-CN" dirty="0">
                <a:solidFill>
                  <a:srgbClr val="133984"/>
                </a:solidFill>
              </a:rPr>
              <a:t>根据程序设计语言与计算机硬件的联系程度将</a:t>
            </a:r>
            <a:r>
              <a:rPr lang="zh-CN" altLang="en-US" dirty="0">
                <a:solidFill>
                  <a:srgbClr val="133984"/>
                </a:solidFill>
              </a:rPr>
              <a:t>程序设计语言</a:t>
            </a:r>
            <a:r>
              <a:rPr lang="zh-CN" altLang="zh-CN" dirty="0">
                <a:solidFill>
                  <a:srgbClr val="133984"/>
                </a:solidFill>
              </a:rPr>
              <a:t>分为</a:t>
            </a:r>
            <a:r>
              <a:rPr lang="en-US" altLang="zh-CN" dirty="0">
                <a:solidFill>
                  <a:srgbClr val="133984"/>
                </a:solidFill>
              </a:rPr>
              <a:t>3</a:t>
            </a:r>
            <a:r>
              <a:rPr lang="zh-CN" altLang="zh-CN" dirty="0">
                <a:solidFill>
                  <a:srgbClr val="133984"/>
                </a:solidFill>
              </a:rPr>
              <a:t>类</a:t>
            </a:r>
            <a:endParaRPr lang="en-US" altLang="zh-CN" dirty="0">
              <a:solidFill>
                <a:srgbClr val="133984"/>
              </a:solidFill>
            </a:endParaRPr>
          </a:p>
          <a:p>
            <a:r>
              <a:rPr lang="zh-CN" altLang="en-US" dirty="0">
                <a:solidFill>
                  <a:srgbClr val="133984"/>
                </a:solidFill>
              </a:rPr>
              <a:t>机器语言（</a:t>
            </a:r>
            <a:r>
              <a:rPr lang="en-US" altLang="zh-CN" dirty="0">
                <a:solidFill>
                  <a:srgbClr val="133984"/>
                </a:solidFill>
              </a:rPr>
              <a:t>Machine Language</a:t>
            </a:r>
            <a:r>
              <a:rPr lang="zh-CN" altLang="en-US" dirty="0">
                <a:solidFill>
                  <a:srgbClr val="133984"/>
                </a:solidFill>
              </a:rPr>
              <a:t>）</a:t>
            </a:r>
            <a:endParaRPr lang="en-US" altLang="zh-CN" dirty="0">
              <a:solidFill>
                <a:srgbClr val="133984"/>
              </a:solidFill>
            </a:endParaRPr>
          </a:p>
          <a:p>
            <a:r>
              <a:rPr lang="zh-CN" altLang="en-US" dirty="0">
                <a:solidFill>
                  <a:srgbClr val="133984"/>
                </a:solidFill>
              </a:rPr>
              <a:t>汇编语言（</a:t>
            </a:r>
            <a:r>
              <a:rPr lang="en-US" altLang="zh-CN" dirty="0">
                <a:solidFill>
                  <a:srgbClr val="133984"/>
                </a:solidFill>
              </a:rPr>
              <a:t>Assembly Language</a:t>
            </a:r>
            <a:r>
              <a:rPr lang="zh-CN" altLang="en-US" dirty="0">
                <a:solidFill>
                  <a:srgbClr val="133984"/>
                </a:solidFill>
              </a:rPr>
              <a:t>）</a:t>
            </a:r>
            <a:endParaRPr lang="en-US" altLang="zh-CN" dirty="0">
              <a:solidFill>
                <a:srgbClr val="133984"/>
              </a:solidFill>
            </a:endParaRPr>
          </a:p>
          <a:p>
            <a:r>
              <a:rPr lang="zh-CN" altLang="en-US" dirty="0">
                <a:solidFill>
                  <a:srgbClr val="133984"/>
                </a:solidFill>
              </a:rPr>
              <a:t>高级语言（</a:t>
            </a:r>
            <a:r>
              <a:rPr lang="en-US" altLang="zh-CN" dirty="0">
                <a:solidFill>
                  <a:srgbClr val="133984"/>
                </a:solidFill>
              </a:rPr>
              <a:t>High-level Language</a:t>
            </a:r>
            <a:r>
              <a:rPr lang="zh-CN" altLang="en-US" dirty="0">
                <a:solidFill>
                  <a:srgbClr val="133984"/>
                </a:solidFill>
              </a:rPr>
              <a:t>）</a:t>
            </a:r>
          </a:p>
        </p:txBody>
      </p:sp>
    </p:spTree>
    <p:extLst>
      <p:ext uri="{BB962C8B-B14F-4D97-AF65-F5344CB8AC3E}">
        <p14:creationId xmlns:p14="http://schemas.microsoft.com/office/powerpoint/2010/main" val="2447228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620688"/>
            <a:ext cx="8229600" cy="633412"/>
          </a:xfrm>
        </p:spPr>
        <p:txBody>
          <a:bodyPr/>
          <a:lstStyle/>
          <a:p>
            <a:r>
              <a:rPr lang="zh-CN" altLang="en-US" dirty="0">
                <a:solidFill>
                  <a:srgbClr val="133984"/>
                </a:solidFill>
              </a:rPr>
              <a:t>机器语言</a:t>
            </a:r>
          </a:p>
        </p:txBody>
      </p:sp>
      <p:sp>
        <p:nvSpPr>
          <p:cNvPr id="3" name="内容占位符 2"/>
          <p:cNvSpPr>
            <a:spLocks noGrp="1"/>
          </p:cNvSpPr>
          <p:nvPr>
            <p:ph idx="1"/>
          </p:nvPr>
        </p:nvSpPr>
        <p:spPr>
          <a:xfrm>
            <a:off x="611560" y="1772816"/>
            <a:ext cx="8229600" cy="4857750"/>
          </a:xfrm>
        </p:spPr>
        <p:txBody>
          <a:bodyPr/>
          <a:lstStyle/>
          <a:p>
            <a:r>
              <a:rPr lang="zh-CN" altLang="zh-CN" dirty="0">
                <a:solidFill>
                  <a:srgbClr val="133984"/>
                </a:solidFill>
              </a:rPr>
              <a:t>优点</a:t>
            </a:r>
            <a:r>
              <a:rPr lang="zh-CN" altLang="en-US" dirty="0">
                <a:solidFill>
                  <a:srgbClr val="133984"/>
                </a:solidFill>
              </a:rPr>
              <a:t>：</a:t>
            </a:r>
            <a:r>
              <a:rPr lang="zh-CN" altLang="zh-CN" dirty="0">
                <a:solidFill>
                  <a:srgbClr val="133984"/>
                </a:solidFill>
              </a:rPr>
              <a:t>能够被计算机直接识别，占用内存少，执行速度快。</a:t>
            </a:r>
            <a:endParaRPr lang="en-US" altLang="zh-CN" dirty="0">
              <a:solidFill>
                <a:srgbClr val="133984"/>
              </a:solidFill>
            </a:endParaRPr>
          </a:p>
          <a:p>
            <a:r>
              <a:rPr lang="zh-CN" altLang="en-US" dirty="0">
                <a:solidFill>
                  <a:srgbClr val="133984"/>
                </a:solidFill>
              </a:rPr>
              <a:t>缺点：</a:t>
            </a:r>
            <a:r>
              <a:rPr lang="zh-CN" altLang="zh-CN" dirty="0">
                <a:solidFill>
                  <a:srgbClr val="133984"/>
                </a:solidFill>
              </a:rPr>
              <a:t>难于记忆和识别</a:t>
            </a:r>
            <a:r>
              <a:rPr lang="zh-CN" altLang="en-US" dirty="0">
                <a:solidFill>
                  <a:srgbClr val="133984"/>
                </a:solidFill>
              </a:rPr>
              <a:t>。效率低下，可移植性差。</a:t>
            </a:r>
          </a:p>
        </p:txBody>
      </p:sp>
    </p:spTree>
    <p:extLst>
      <p:ext uri="{BB962C8B-B14F-4D97-AF65-F5344CB8AC3E}">
        <p14:creationId xmlns:p14="http://schemas.microsoft.com/office/powerpoint/2010/main" val="2495728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79512" y="1124744"/>
            <a:ext cx="8820472" cy="2308324"/>
          </a:xfrm>
          <a:prstGeom prst="rect">
            <a:avLst/>
          </a:prstGeom>
        </p:spPr>
        <p:txBody>
          <a:bodyPr wrap="square">
            <a:spAutoFit/>
          </a:bodyPr>
          <a:lstStyle/>
          <a:p>
            <a:r>
              <a:rPr lang="zh-CN" altLang="zh-CN" b="1" dirty="0">
                <a:solidFill>
                  <a:srgbClr val="133984"/>
                </a:solidFill>
              </a:rPr>
              <a:t>例</a:t>
            </a:r>
            <a:r>
              <a:rPr lang="en-US" altLang="zh-CN" b="1" dirty="0">
                <a:solidFill>
                  <a:srgbClr val="133984"/>
                </a:solidFill>
              </a:rPr>
              <a:t> 4.1</a:t>
            </a:r>
            <a:r>
              <a:rPr lang="en-US" altLang="zh-CN" dirty="0">
                <a:solidFill>
                  <a:srgbClr val="133984"/>
                </a:solidFill>
              </a:rPr>
              <a:t> </a:t>
            </a:r>
            <a:r>
              <a:rPr lang="zh-CN" altLang="zh-CN" dirty="0">
                <a:solidFill>
                  <a:srgbClr val="133984"/>
                </a:solidFill>
              </a:rPr>
              <a:t>假设某型号计算机共有</a:t>
            </a:r>
            <a:r>
              <a:rPr lang="en-US" altLang="zh-CN" dirty="0">
                <a:solidFill>
                  <a:srgbClr val="133984"/>
                </a:solidFill>
              </a:rPr>
              <a:t>16</a:t>
            </a:r>
            <a:r>
              <a:rPr lang="zh-CN" altLang="zh-CN" dirty="0">
                <a:solidFill>
                  <a:srgbClr val="133984"/>
                </a:solidFill>
              </a:rPr>
              <a:t>个寄存器，用</a:t>
            </a:r>
            <a:r>
              <a:rPr lang="en-US" altLang="zh-CN" dirty="0">
                <a:solidFill>
                  <a:srgbClr val="133984"/>
                </a:solidFill>
              </a:rPr>
              <a:t>4</a:t>
            </a:r>
            <a:r>
              <a:rPr lang="zh-CN" altLang="zh-CN" dirty="0">
                <a:solidFill>
                  <a:srgbClr val="133984"/>
                </a:solidFill>
              </a:rPr>
              <a:t>位进行编号；共支持</a:t>
            </a:r>
            <a:r>
              <a:rPr lang="en-US" altLang="zh-CN" dirty="0">
                <a:solidFill>
                  <a:srgbClr val="133984"/>
                </a:solidFill>
              </a:rPr>
              <a:t>256</a:t>
            </a:r>
            <a:r>
              <a:rPr lang="zh-CN" altLang="zh-CN" dirty="0">
                <a:solidFill>
                  <a:srgbClr val="133984"/>
                </a:solidFill>
              </a:rPr>
              <a:t>个长度为一个字节的内存单元，用</a:t>
            </a:r>
            <a:r>
              <a:rPr lang="en-US" altLang="zh-CN" dirty="0">
                <a:solidFill>
                  <a:srgbClr val="133984"/>
                </a:solidFill>
              </a:rPr>
              <a:t>8</a:t>
            </a:r>
            <a:r>
              <a:rPr lang="zh-CN" altLang="zh-CN" dirty="0">
                <a:solidFill>
                  <a:srgbClr val="133984"/>
                </a:solidFill>
              </a:rPr>
              <a:t>位进行编号；每条指令长</a:t>
            </a:r>
            <a:r>
              <a:rPr lang="en-US" altLang="zh-CN" dirty="0">
                <a:solidFill>
                  <a:srgbClr val="133984"/>
                </a:solidFill>
              </a:rPr>
              <a:t>2</a:t>
            </a:r>
            <a:r>
              <a:rPr lang="zh-CN" altLang="zh-CN" dirty="0">
                <a:solidFill>
                  <a:srgbClr val="133984"/>
                </a:solidFill>
              </a:rPr>
              <a:t>个字节，前</a:t>
            </a:r>
            <a:r>
              <a:rPr lang="en-US" altLang="zh-CN" dirty="0">
                <a:solidFill>
                  <a:srgbClr val="133984"/>
                </a:solidFill>
              </a:rPr>
              <a:t>4</a:t>
            </a:r>
            <a:r>
              <a:rPr lang="zh-CN" altLang="zh-CN" dirty="0">
                <a:solidFill>
                  <a:srgbClr val="133984"/>
                </a:solidFill>
              </a:rPr>
              <a:t>位是操作的编码，后</a:t>
            </a:r>
            <a:r>
              <a:rPr lang="en-US" altLang="zh-CN" dirty="0">
                <a:solidFill>
                  <a:srgbClr val="133984"/>
                </a:solidFill>
              </a:rPr>
              <a:t>12</a:t>
            </a:r>
            <a:r>
              <a:rPr lang="zh-CN" altLang="zh-CN" dirty="0">
                <a:solidFill>
                  <a:srgbClr val="133984"/>
                </a:solidFill>
              </a:rPr>
              <a:t>位是操作的参数。假设有如下格式的几条指令：</a:t>
            </a:r>
          </a:p>
          <a:p>
            <a:r>
              <a:rPr lang="zh-CN" altLang="zh-CN" dirty="0">
                <a:solidFill>
                  <a:srgbClr val="133984"/>
                </a:solidFill>
              </a:rPr>
              <a:t>操作码</a:t>
            </a:r>
            <a:r>
              <a:rPr lang="en-US" altLang="zh-CN" dirty="0">
                <a:solidFill>
                  <a:srgbClr val="133984"/>
                </a:solidFill>
              </a:rPr>
              <a:t>	</a:t>
            </a:r>
            <a:r>
              <a:rPr lang="zh-CN" altLang="zh-CN" dirty="0">
                <a:solidFill>
                  <a:srgbClr val="133984"/>
                </a:solidFill>
              </a:rPr>
              <a:t>操作数</a:t>
            </a:r>
            <a:r>
              <a:rPr lang="en-US" altLang="zh-CN" dirty="0">
                <a:solidFill>
                  <a:srgbClr val="133984"/>
                </a:solidFill>
              </a:rPr>
              <a:t>	</a:t>
            </a:r>
            <a:r>
              <a:rPr lang="zh-CN" altLang="zh-CN" dirty="0">
                <a:solidFill>
                  <a:srgbClr val="133984"/>
                </a:solidFill>
              </a:rPr>
              <a:t>描述</a:t>
            </a:r>
          </a:p>
          <a:p>
            <a:r>
              <a:rPr lang="en-US" altLang="zh-CN" dirty="0">
                <a:solidFill>
                  <a:srgbClr val="133984"/>
                </a:solidFill>
              </a:rPr>
              <a:t>0000	RXY	</a:t>
            </a:r>
            <a:r>
              <a:rPr lang="zh-CN" altLang="zh-CN" dirty="0">
                <a:solidFill>
                  <a:srgbClr val="133984"/>
                </a:solidFill>
              </a:rPr>
              <a:t>将数值</a:t>
            </a:r>
            <a:r>
              <a:rPr lang="en-US" altLang="zh-CN" dirty="0">
                <a:solidFill>
                  <a:srgbClr val="133984"/>
                </a:solidFill>
              </a:rPr>
              <a:t>XY</a:t>
            </a:r>
            <a:r>
              <a:rPr lang="zh-CN" altLang="zh-CN" dirty="0">
                <a:solidFill>
                  <a:srgbClr val="133984"/>
                </a:solidFill>
              </a:rPr>
              <a:t>（</a:t>
            </a:r>
            <a:r>
              <a:rPr lang="en-US" altLang="zh-CN" dirty="0">
                <a:solidFill>
                  <a:srgbClr val="133984"/>
                </a:solidFill>
              </a:rPr>
              <a:t>8</a:t>
            </a:r>
            <a:r>
              <a:rPr lang="zh-CN" altLang="zh-CN" dirty="0">
                <a:solidFill>
                  <a:srgbClr val="133984"/>
                </a:solidFill>
              </a:rPr>
              <a:t>位）放到编号</a:t>
            </a:r>
            <a:r>
              <a:rPr lang="en-US" altLang="zh-CN" dirty="0">
                <a:solidFill>
                  <a:srgbClr val="133984"/>
                </a:solidFill>
              </a:rPr>
              <a:t>R</a:t>
            </a:r>
            <a:r>
              <a:rPr lang="zh-CN" altLang="zh-CN" dirty="0">
                <a:solidFill>
                  <a:srgbClr val="133984"/>
                </a:solidFill>
              </a:rPr>
              <a:t>（</a:t>
            </a:r>
            <a:r>
              <a:rPr lang="en-US" altLang="zh-CN" dirty="0">
                <a:solidFill>
                  <a:srgbClr val="133984"/>
                </a:solidFill>
              </a:rPr>
              <a:t>4</a:t>
            </a:r>
            <a:r>
              <a:rPr lang="zh-CN" altLang="zh-CN" dirty="0">
                <a:solidFill>
                  <a:srgbClr val="133984"/>
                </a:solidFill>
              </a:rPr>
              <a:t>位）的寄存器中</a:t>
            </a:r>
          </a:p>
          <a:p>
            <a:r>
              <a:rPr lang="en-US" altLang="zh-CN" dirty="0">
                <a:solidFill>
                  <a:srgbClr val="133984"/>
                </a:solidFill>
              </a:rPr>
              <a:t>0001	RST	</a:t>
            </a:r>
            <a:r>
              <a:rPr lang="zh-CN" altLang="zh-CN" dirty="0">
                <a:solidFill>
                  <a:srgbClr val="133984"/>
                </a:solidFill>
              </a:rPr>
              <a:t>将寄存器</a:t>
            </a:r>
            <a:r>
              <a:rPr lang="en-US" altLang="zh-CN" dirty="0">
                <a:solidFill>
                  <a:srgbClr val="133984"/>
                </a:solidFill>
              </a:rPr>
              <a:t>R</a:t>
            </a:r>
            <a:r>
              <a:rPr lang="zh-CN" altLang="zh-CN" dirty="0">
                <a:solidFill>
                  <a:srgbClr val="133984"/>
                </a:solidFill>
              </a:rPr>
              <a:t>（</a:t>
            </a:r>
            <a:r>
              <a:rPr lang="en-US" altLang="zh-CN" dirty="0">
                <a:solidFill>
                  <a:srgbClr val="133984"/>
                </a:solidFill>
              </a:rPr>
              <a:t>4</a:t>
            </a:r>
            <a:r>
              <a:rPr lang="zh-CN" altLang="zh-CN" dirty="0">
                <a:solidFill>
                  <a:srgbClr val="133984"/>
                </a:solidFill>
              </a:rPr>
              <a:t>位）和</a:t>
            </a:r>
            <a:r>
              <a:rPr lang="en-US" altLang="zh-CN" dirty="0">
                <a:solidFill>
                  <a:srgbClr val="133984"/>
                </a:solidFill>
              </a:rPr>
              <a:t>S</a:t>
            </a:r>
            <a:r>
              <a:rPr lang="zh-CN" altLang="zh-CN" dirty="0">
                <a:solidFill>
                  <a:srgbClr val="133984"/>
                </a:solidFill>
              </a:rPr>
              <a:t>（</a:t>
            </a:r>
            <a:r>
              <a:rPr lang="en-US" altLang="zh-CN" dirty="0">
                <a:solidFill>
                  <a:srgbClr val="133984"/>
                </a:solidFill>
              </a:rPr>
              <a:t>4</a:t>
            </a:r>
            <a:r>
              <a:rPr lang="zh-CN" altLang="zh-CN" dirty="0">
                <a:solidFill>
                  <a:srgbClr val="133984"/>
                </a:solidFill>
              </a:rPr>
              <a:t>位）的内容相加放到</a:t>
            </a:r>
            <a:r>
              <a:rPr lang="en-US" altLang="zh-CN" dirty="0">
                <a:solidFill>
                  <a:srgbClr val="133984"/>
                </a:solidFill>
              </a:rPr>
              <a:t>T</a:t>
            </a:r>
            <a:r>
              <a:rPr lang="zh-CN" altLang="zh-CN" dirty="0">
                <a:solidFill>
                  <a:srgbClr val="133984"/>
                </a:solidFill>
              </a:rPr>
              <a:t>（</a:t>
            </a:r>
            <a:r>
              <a:rPr lang="en-US" altLang="zh-CN" dirty="0">
                <a:solidFill>
                  <a:srgbClr val="133984"/>
                </a:solidFill>
              </a:rPr>
              <a:t>4</a:t>
            </a:r>
            <a:r>
              <a:rPr lang="zh-CN" altLang="zh-CN" dirty="0">
                <a:solidFill>
                  <a:srgbClr val="133984"/>
                </a:solidFill>
              </a:rPr>
              <a:t>位）中</a:t>
            </a:r>
          </a:p>
          <a:p>
            <a:r>
              <a:rPr lang="en-US" altLang="zh-CN" dirty="0">
                <a:solidFill>
                  <a:srgbClr val="133984"/>
                </a:solidFill>
              </a:rPr>
              <a:t>0010	RXY	</a:t>
            </a:r>
            <a:r>
              <a:rPr lang="zh-CN" altLang="zh-CN" dirty="0">
                <a:solidFill>
                  <a:srgbClr val="133984"/>
                </a:solidFill>
              </a:rPr>
              <a:t>将寄存器</a:t>
            </a:r>
            <a:r>
              <a:rPr lang="en-US" altLang="zh-CN" dirty="0">
                <a:solidFill>
                  <a:srgbClr val="133984"/>
                </a:solidFill>
              </a:rPr>
              <a:t>R</a:t>
            </a:r>
            <a:r>
              <a:rPr lang="zh-CN" altLang="zh-CN" dirty="0">
                <a:solidFill>
                  <a:srgbClr val="133984"/>
                </a:solidFill>
              </a:rPr>
              <a:t>（</a:t>
            </a:r>
            <a:r>
              <a:rPr lang="en-US" altLang="zh-CN" dirty="0">
                <a:solidFill>
                  <a:srgbClr val="133984"/>
                </a:solidFill>
              </a:rPr>
              <a:t>4</a:t>
            </a:r>
            <a:r>
              <a:rPr lang="zh-CN" altLang="zh-CN" dirty="0">
                <a:solidFill>
                  <a:srgbClr val="133984"/>
                </a:solidFill>
              </a:rPr>
              <a:t>位）的内容写到编号为</a:t>
            </a:r>
            <a:r>
              <a:rPr lang="en-US" altLang="zh-CN" dirty="0">
                <a:solidFill>
                  <a:srgbClr val="133984"/>
                </a:solidFill>
              </a:rPr>
              <a:t>XY</a:t>
            </a:r>
            <a:r>
              <a:rPr lang="zh-CN" altLang="zh-CN" dirty="0">
                <a:solidFill>
                  <a:srgbClr val="133984"/>
                </a:solidFill>
              </a:rPr>
              <a:t>（</a:t>
            </a:r>
            <a:r>
              <a:rPr lang="en-US" altLang="zh-CN" dirty="0">
                <a:solidFill>
                  <a:srgbClr val="133984"/>
                </a:solidFill>
              </a:rPr>
              <a:t>8</a:t>
            </a:r>
            <a:r>
              <a:rPr lang="zh-CN" altLang="zh-CN" dirty="0">
                <a:solidFill>
                  <a:srgbClr val="133984"/>
                </a:solidFill>
              </a:rPr>
              <a:t>位）的内存单元中</a:t>
            </a:r>
          </a:p>
          <a:p>
            <a:r>
              <a:rPr lang="zh-CN" altLang="en-US" dirty="0">
                <a:solidFill>
                  <a:srgbClr val="133984"/>
                </a:solidFill>
              </a:rPr>
              <a:t>用</a:t>
            </a:r>
            <a:r>
              <a:rPr lang="zh-CN" altLang="zh-CN" dirty="0">
                <a:solidFill>
                  <a:srgbClr val="133984"/>
                </a:solidFill>
              </a:rPr>
              <a:t>机器语言求解</a:t>
            </a:r>
            <a:r>
              <a:rPr lang="en-US" altLang="zh-CN" dirty="0">
                <a:solidFill>
                  <a:srgbClr val="133984"/>
                </a:solidFill>
              </a:rPr>
              <a:t>3+7</a:t>
            </a:r>
            <a:r>
              <a:rPr lang="zh-CN" altLang="zh-CN" dirty="0">
                <a:solidFill>
                  <a:srgbClr val="133984"/>
                </a:solidFill>
              </a:rPr>
              <a:t>并把结果写在</a:t>
            </a:r>
            <a:r>
              <a:rPr lang="en-US" altLang="zh-CN" dirty="0">
                <a:solidFill>
                  <a:srgbClr val="133984"/>
                </a:solidFill>
              </a:rPr>
              <a:t>4</a:t>
            </a:r>
            <a:r>
              <a:rPr lang="zh-CN" altLang="zh-CN" dirty="0">
                <a:solidFill>
                  <a:srgbClr val="133984"/>
                </a:solidFill>
              </a:rPr>
              <a:t>号内存单元</a:t>
            </a:r>
            <a:r>
              <a:rPr lang="zh-CN" altLang="en-US" dirty="0">
                <a:solidFill>
                  <a:srgbClr val="133984"/>
                </a:solidFill>
              </a:rPr>
              <a:t>：</a:t>
            </a:r>
            <a:endParaRPr lang="zh-CN" altLang="zh-CN" dirty="0">
              <a:solidFill>
                <a:srgbClr val="133984"/>
              </a:solidFill>
            </a:endParaRPr>
          </a:p>
        </p:txBody>
      </p:sp>
      <p:sp>
        <p:nvSpPr>
          <p:cNvPr id="2" name="TextBox 1"/>
          <p:cNvSpPr txBox="1"/>
          <p:nvPr/>
        </p:nvSpPr>
        <p:spPr>
          <a:xfrm>
            <a:off x="539552" y="4005064"/>
            <a:ext cx="2215671" cy="1754326"/>
          </a:xfrm>
          <a:prstGeom prst="rect">
            <a:avLst/>
          </a:prstGeom>
          <a:noFill/>
        </p:spPr>
        <p:txBody>
          <a:bodyPr wrap="none" rtlCol="0">
            <a:spAutoFit/>
          </a:bodyPr>
          <a:lstStyle/>
          <a:p>
            <a:r>
              <a:rPr lang="zh-CN" altLang="en-US" dirty="0">
                <a:solidFill>
                  <a:srgbClr val="133984"/>
                </a:solidFill>
              </a:rPr>
              <a:t>答案：</a:t>
            </a:r>
            <a:endParaRPr lang="en-US" altLang="zh-CN" dirty="0">
              <a:solidFill>
                <a:srgbClr val="133984"/>
              </a:solidFill>
            </a:endParaRPr>
          </a:p>
          <a:p>
            <a:r>
              <a:rPr lang="en-US" altLang="zh-CN" dirty="0">
                <a:solidFill>
                  <a:srgbClr val="133984"/>
                </a:solidFill>
              </a:rPr>
              <a:t>0000 0001 0000 0011</a:t>
            </a:r>
            <a:endParaRPr lang="zh-CN" altLang="zh-CN" dirty="0">
              <a:solidFill>
                <a:srgbClr val="133984"/>
              </a:solidFill>
            </a:endParaRPr>
          </a:p>
          <a:p>
            <a:r>
              <a:rPr lang="en-US" altLang="zh-CN" dirty="0">
                <a:solidFill>
                  <a:srgbClr val="133984"/>
                </a:solidFill>
              </a:rPr>
              <a:t>0000 0010 0000 0111</a:t>
            </a:r>
            <a:endParaRPr lang="zh-CN" altLang="zh-CN" dirty="0">
              <a:solidFill>
                <a:srgbClr val="133984"/>
              </a:solidFill>
            </a:endParaRPr>
          </a:p>
          <a:p>
            <a:r>
              <a:rPr lang="en-US" altLang="zh-CN" dirty="0">
                <a:solidFill>
                  <a:srgbClr val="133984"/>
                </a:solidFill>
              </a:rPr>
              <a:t>0001 0000 0001 0010</a:t>
            </a:r>
            <a:endParaRPr lang="zh-CN" altLang="zh-CN" dirty="0">
              <a:solidFill>
                <a:srgbClr val="133984"/>
              </a:solidFill>
            </a:endParaRPr>
          </a:p>
          <a:p>
            <a:r>
              <a:rPr lang="en-US" altLang="zh-CN" dirty="0">
                <a:solidFill>
                  <a:srgbClr val="133984"/>
                </a:solidFill>
              </a:rPr>
              <a:t>0010 0010 0000 0100</a:t>
            </a:r>
            <a:endParaRPr lang="zh-CN" altLang="zh-CN" dirty="0">
              <a:solidFill>
                <a:srgbClr val="133984"/>
              </a:solidFill>
            </a:endParaRPr>
          </a:p>
          <a:p>
            <a:endParaRPr lang="zh-CN" altLang="en-US" dirty="0">
              <a:solidFill>
                <a:srgbClr val="133984"/>
              </a:solidFill>
            </a:endParaRPr>
          </a:p>
        </p:txBody>
      </p:sp>
      <p:sp>
        <p:nvSpPr>
          <p:cNvPr id="3" name="云形 2">
            <a:hlinkClick r:id="rId2" action="ppaction://hlinksldjump"/>
          </p:cNvPr>
          <p:cNvSpPr/>
          <p:nvPr/>
        </p:nvSpPr>
        <p:spPr>
          <a:xfrm>
            <a:off x="7510107" y="5371980"/>
            <a:ext cx="914400" cy="914400"/>
          </a:xfrm>
          <a:prstGeom prst="cloud">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dirty="0">
              <a:solidFill>
                <a:srgbClr val="133984"/>
              </a:solidFill>
            </a:endParaRPr>
          </a:p>
        </p:txBody>
      </p:sp>
      <p:sp>
        <p:nvSpPr>
          <p:cNvPr id="5" name="乘号 4"/>
          <p:cNvSpPr/>
          <p:nvPr/>
        </p:nvSpPr>
        <p:spPr>
          <a:xfrm>
            <a:off x="2699792" y="4149080"/>
            <a:ext cx="1656184" cy="1418456"/>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1390948" y="4271104"/>
            <a:ext cx="360040" cy="369332"/>
          </a:xfrm>
          <a:prstGeom prst="rect">
            <a:avLst/>
          </a:prstGeom>
          <a:noFill/>
        </p:spPr>
        <p:txBody>
          <a:bodyPr wrap="square" rtlCol="0">
            <a:spAutoFit/>
          </a:bodyPr>
          <a:lstStyle/>
          <a:p>
            <a:r>
              <a:rPr lang="en-US" altLang="zh-CN" b="1" dirty="0">
                <a:solidFill>
                  <a:srgbClr val="FF0000"/>
                </a:solidFill>
              </a:rPr>
              <a:t>0</a:t>
            </a:r>
            <a:endParaRPr lang="zh-CN" altLang="en-US" b="1" dirty="0">
              <a:solidFill>
                <a:srgbClr val="FF0000"/>
              </a:solidFill>
            </a:endParaRPr>
          </a:p>
        </p:txBody>
      </p:sp>
      <p:sp>
        <p:nvSpPr>
          <p:cNvPr id="8193" name="Rectangle 1"/>
          <p:cNvSpPr>
            <a:spLocks noChangeArrowheads="1"/>
          </p:cNvSpPr>
          <p:nvPr/>
        </p:nvSpPr>
        <p:spPr bwMode="auto">
          <a:xfrm>
            <a:off x="4716016" y="4221088"/>
            <a:ext cx="2231232"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b="0" i="0" u="none" strike="noStrike" cap="none" normalizeH="0" baseline="0" dirty="0" err="1">
                <a:ln>
                  <a:noFill/>
                </a:ln>
                <a:solidFill>
                  <a:schemeClr val="tx1"/>
                </a:solidFill>
                <a:effectLst/>
                <a:latin typeface="Courier New" pitchFamily="49" charset="0"/>
                <a:ea typeface="宋体" pitchFamily="2" charset="-122"/>
                <a:cs typeface="Courier New" pitchFamily="49" charset="0"/>
              </a:rPr>
              <a:t>mov</a:t>
            </a:r>
            <a:r>
              <a:rPr kumimoji="0" lang="en-US" altLang="zh-CN" b="0" i="0" u="none" strike="noStrike" cap="none" normalizeH="0" baseline="0" dirty="0">
                <a:ln>
                  <a:noFill/>
                </a:ln>
                <a:solidFill>
                  <a:schemeClr val="tx1"/>
                </a:solidFill>
                <a:effectLst/>
                <a:latin typeface="Courier New" pitchFamily="49" charset="0"/>
                <a:ea typeface="宋体" pitchFamily="2" charset="-122"/>
                <a:cs typeface="Courier New" pitchFamily="49" charset="0"/>
              </a:rPr>
              <a:t> 0,3</a:t>
            </a:r>
            <a:endParaRPr kumimoji="0" lang="en-US" altLang="zh-CN" sz="28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err="1">
                <a:ln>
                  <a:noFill/>
                </a:ln>
                <a:solidFill>
                  <a:schemeClr val="tx1"/>
                </a:solidFill>
                <a:effectLst/>
                <a:latin typeface="Courier New" pitchFamily="49" charset="0"/>
                <a:ea typeface="宋体" pitchFamily="2" charset="-122"/>
                <a:cs typeface="Courier New" pitchFamily="49" charset="0"/>
              </a:rPr>
              <a:t>mov</a:t>
            </a:r>
            <a:r>
              <a:rPr kumimoji="0" lang="en-US" altLang="zh-CN" b="0" i="0" u="none" strike="noStrike" cap="none" normalizeH="0" baseline="0" dirty="0">
                <a:ln>
                  <a:noFill/>
                </a:ln>
                <a:solidFill>
                  <a:schemeClr val="tx1"/>
                </a:solidFill>
                <a:effectLst/>
                <a:latin typeface="Courier New" pitchFamily="49" charset="0"/>
                <a:ea typeface="宋体" pitchFamily="2" charset="-122"/>
                <a:cs typeface="Courier New" pitchFamily="49" charset="0"/>
              </a:rPr>
              <a:t> 1,7</a:t>
            </a:r>
            <a:endParaRPr kumimoji="0" lang="en-US" altLang="zh-CN" sz="28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Courier New" pitchFamily="49" charset="0"/>
                <a:ea typeface="宋体" pitchFamily="2" charset="-122"/>
                <a:cs typeface="Courier New" pitchFamily="49" charset="0"/>
              </a:rPr>
              <a:t>add 0 1,2</a:t>
            </a:r>
            <a:endParaRPr kumimoji="0" lang="en-US" altLang="zh-CN" sz="28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err="1">
                <a:ln>
                  <a:noFill/>
                </a:ln>
                <a:solidFill>
                  <a:schemeClr val="tx1"/>
                </a:solidFill>
                <a:effectLst/>
                <a:latin typeface="Courier New" pitchFamily="49" charset="0"/>
                <a:ea typeface="宋体" pitchFamily="2" charset="-122"/>
                <a:cs typeface="Courier New" pitchFamily="49" charset="0"/>
              </a:rPr>
              <a:t>str</a:t>
            </a:r>
            <a:r>
              <a:rPr kumimoji="0" lang="en-US" altLang="zh-CN" b="0" i="0" u="none" strike="noStrike" cap="none" normalizeH="0" baseline="0" dirty="0">
                <a:ln>
                  <a:noFill/>
                </a:ln>
                <a:solidFill>
                  <a:schemeClr val="tx1"/>
                </a:solidFill>
                <a:effectLst/>
                <a:latin typeface="Courier New" pitchFamily="49" charset="0"/>
                <a:ea typeface="宋体" pitchFamily="2" charset="-122"/>
                <a:cs typeface="Courier New" pitchFamily="49" charset="0"/>
              </a:rPr>
              <a:t> 2,4</a:t>
            </a:r>
            <a:endParaRPr kumimoji="0" lang="en-US" altLang="zh-CN" sz="4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8" name="TextBox 7"/>
          <p:cNvSpPr txBox="1"/>
          <p:nvPr/>
        </p:nvSpPr>
        <p:spPr>
          <a:xfrm>
            <a:off x="1285032" y="4534520"/>
            <a:ext cx="432048" cy="369332"/>
          </a:xfrm>
          <a:prstGeom prst="rect">
            <a:avLst/>
          </a:prstGeom>
          <a:noFill/>
        </p:spPr>
        <p:txBody>
          <a:bodyPr wrap="square" rtlCol="0">
            <a:spAutoFit/>
          </a:bodyPr>
          <a:lstStyle/>
          <a:p>
            <a:r>
              <a:rPr lang="en-US" altLang="zh-CN" b="1" dirty="0">
                <a:solidFill>
                  <a:srgbClr val="FF0000"/>
                </a:solidFill>
              </a:rPr>
              <a:t>01</a:t>
            </a:r>
            <a:endParaRPr lang="zh-CN" altLang="en-US" b="1" dirty="0">
              <a:solidFill>
                <a:srgbClr val="FF0000"/>
              </a:solidFill>
            </a:endParaRPr>
          </a:p>
        </p:txBody>
      </p:sp>
    </p:spTree>
    <p:extLst>
      <p:ext uri="{BB962C8B-B14F-4D97-AF65-F5344CB8AC3E}">
        <p14:creationId xmlns:p14="http://schemas.microsoft.com/office/powerpoint/2010/main" val="2233296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3"/>
                                        </p:tgtEl>
                                        <p:attrNameLst>
                                          <p:attrName>style.visibility</p:attrName>
                                        </p:attrNameLst>
                                      </p:cBhvr>
                                      <p:to>
                                        <p:strVal val="visible"/>
                                      </p:to>
                                    </p:set>
                                  </p:childTnLst>
                                </p:cTn>
                              </p:par>
                              <p:par>
                                <p:cTn id="11" presetID="2" presetClass="entr" presetSubtype="4"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par>
                                <p:cTn id="15" presetID="6" presetClass="emph" presetSubtype="0" fill="remove" grpId="1" nodeType="withEffect">
                                  <p:stCondLst>
                                    <p:cond delay="0"/>
                                  </p:stCondLst>
                                  <p:childTnLst>
                                    <p:animScale>
                                      <p:cBhvr>
                                        <p:cTn id="16" dur="2000" fill="hold"/>
                                        <p:tgtEl>
                                          <p:spTgt spid="6"/>
                                        </p:tgtEl>
                                      </p:cBhvr>
                                      <p:by x="400000" y="400000"/>
                                    </p:animScale>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par>
                                <p:cTn id="21" presetID="6" presetClass="emph" presetSubtype="0" fill="remove" grpId="1" nodeType="withEffect">
                                  <p:stCondLst>
                                    <p:cond delay="0"/>
                                  </p:stCondLst>
                                  <p:childTnLst>
                                    <p:animScale>
                                      <p:cBhvr>
                                        <p:cTn id="22" dur="2000" fill="hold"/>
                                        <p:tgtEl>
                                          <p:spTgt spid="8"/>
                                        </p:tgtEl>
                                      </p:cBhvr>
                                      <p:by x="400000" y="4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6" grpId="1"/>
      <p:bldP spid="8193" grpId="0"/>
      <p:bldP spid="8" grpId="0"/>
      <p:bldP spid="8"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17421"/>
            <a:ext cx="8229600" cy="1143000"/>
          </a:xfrm>
        </p:spPr>
        <p:txBody>
          <a:bodyPr/>
          <a:lstStyle/>
          <a:p>
            <a:r>
              <a:rPr lang="zh-CN" altLang="en-US" dirty="0">
                <a:solidFill>
                  <a:srgbClr val="133984"/>
                </a:solidFill>
              </a:rPr>
              <a:t>汇编语言</a:t>
            </a:r>
          </a:p>
        </p:txBody>
      </p:sp>
      <p:sp>
        <p:nvSpPr>
          <p:cNvPr id="4" name="Rectangle 10"/>
          <p:cNvSpPr>
            <a:spLocks noChangeArrowheads="1"/>
          </p:cNvSpPr>
          <p:nvPr/>
        </p:nvSpPr>
        <p:spPr bwMode="auto">
          <a:xfrm>
            <a:off x="152400" y="-322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srgbClr val="133984"/>
              </a:solidFill>
            </a:endParaRPr>
          </a:p>
        </p:txBody>
      </p:sp>
      <p:grpSp>
        <p:nvGrpSpPr>
          <p:cNvPr id="5" name="Group 1"/>
          <p:cNvGrpSpPr>
            <a:grpSpLocks noChangeAspect="1"/>
          </p:cNvGrpSpPr>
          <p:nvPr/>
        </p:nvGrpSpPr>
        <p:grpSpPr bwMode="auto">
          <a:xfrm>
            <a:off x="-82902" y="1273229"/>
            <a:ext cx="10036952" cy="1296144"/>
            <a:chOff x="2234" y="2325"/>
            <a:chExt cx="8460" cy="1092"/>
          </a:xfrm>
        </p:grpSpPr>
        <p:sp>
          <p:nvSpPr>
            <p:cNvPr id="6" name="AutoShape 9"/>
            <p:cNvSpPr>
              <a:spLocks noChangeAspect="1" noChangeArrowheads="1" noTextEdit="1"/>
            </p:cNvSpPr>
            <p:nvPr/>
          </p:nvSpPr>
          <p:spPr bwMode="auto">
            <a:xfrm>
              <a:off x="2234" y="2325"/>
              <a:ext cx="8460" cy="10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133984"/>
                </a:solidFill>
              </a:endParaRPr>
            </a:p>
          </p:txBody>
        </p:sp>
        <p:sp>
          <p:nvSpPr>
            <p:cNvPr id="7" name="Text Box 8"/>
            <p:cNvSpPr txBox="1">
              <a:spLocks noChangeArrowheads="1"/>
            </p:cNvSpPr>
            <p:nvPr/>
          </p:nvSpPr>
          <p:spPr bwMode="auto">
            <a:xfrm>
              <a:off x="7094" y="2949"/>
              <a:ext cx="144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a:ln>
                    <a:noFill/>
                  </a:ln>
                  <a:solidFill>
                    <a:srgbClr val="133984"/>
                  </a:solidFill>
                  <a:effectLst/>
                  <a:latin typeface="Times New Roman" pitchFamily="18" charset="0"/>
                  <a:ea typeface="宋体" pitchFamily="2" charset="-122"/>
                  <a:cs typeface="Times New Roman" pitchFamily="18" charset="0"/>
                </a:rPr>
                <a:t>连接程序</a:t>
              </a:r>
              <a:endParaRPr kumimoji="0" lang="zh-CN" b="0" i="0" u="none" strike="noStrike" cap="none" normalizeH="0" baseline="0">
                <a:ln>
                  <a:noFill/>
                </a:ln>
                <a:solidFill>
                  <a:srgbClr val="133984"/>
                </a:solidFill>
                <a:effectLst/>
                <a:latin typeface="Arial" pitchFamily="34" charset="0"/>
                <a:ea typeface="宋体" pitchFamily="2" charset="-122"/>
                <a:cs typeface="宋体" pitchFamily="2" charset="-122"/>
              </a:endParaRPr>
            </a:p>
          </p:txBody>
        </p:sp>
        <p:sp>
          <p:nvSpPr>
            <p:cNvPr id="8" name="Text Box 7"/>
            <p:cNvSpPr txBox="1">
              <a:spLocks noChangeArrowheads="1"/>
            </p:cNvSpPr>
            <p:nvPr/>
          </p:nvSpPr>
          <p:spPr bwMode="auto">
            <a:xfrm>
              <a:off x="4214" y="2949"/>
              <a:ext cx="144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a:ln>
                    <a:noFill/>
                  </a:ln>
                  <a:solidFill>
                    <a:srgbClr val="133984"/>
                  </a:solidFill>
                  <a:effectLst/>
                  <a:latin typeface="Times New Roman" pitchFamily="18" charset="0"/>
                  <a:ea typeface="宋体" pitchFamily="2" charset="-122"/>
                  <a:cs typeface="Times New Roman" pitchFamily="18" charset="0"/>
                </a:rPr>
                <a:t>汇编程序</a:t>
              </a:r>
              <a:endParaRPr kumimoji="0" lang="zh-CN" b="0" i="0" u="none" strike="noStrike" cap="none" normalizeH="0" baseline="0">
                <a:ln>
                  <a:noFill/>
                </a:ln>
                <a:solidFill>
                  <a:srgbClr val="133984"/>
                </a:solidFill>
                <a:effectLst/>
                <a:latin typeface="Arial" pitchFamily="34" charset="0"/>
                <a:ea typeface="宋体" pitchFamily="2" charset="-122"/>
                <a:cs typeface="宋体" pitchFamily="2" charset="-122"/>
              </a:endParaRPr>
            </a:p>
          </p:txBody>
        </p:sp>
        <p:sp>
          <p:nvSpPr>
            <p:cNvPr id="9" name="Text Box 6"/>
            <p:cNvSpPr txBox="1">
              <a:spLocks noChangeArrowheads="1"/>
            </p:cNvSpPr>
            <p:nvPr/>
          </p:nvSpPr>
          <p:spPr bwMode="auto">
            <a:xfrm>
              <a:off x="2594" y="2637"/>
              <a:ext cx="1800" cy="468"/>
            </a:xfrm>
            <a:prstGeom prst="rect">
              <a:avLst/>
            </a:prstGeom>
            <a:solidFill>
              <a:srgbClr val="FFFFFF"/>
            </a:solidFill>
            <a:ln w="9525">
              <a:solidFill>
                <a:srgbClr val="133984"/>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汇编程序源程序</a:t>
              </a:r>
              <a:endParaRPr kumimoji="0" lang="zh-CN" b="0" i="0" u="none" strike="noStrike" cap="none" normalizeH="0" baseline="0" dirty="0">
                <a:ln>
                  <a:noFill/>
                </a:ln>
                <a:solidFill>
                  <a:srgbClr val="133984"/>
                </a:solidFill>
                <a:effectLst/>
                <a:latin typeface="Arial" pitchFamily="34" charset="0"/>
                <a:ea typeface="宋体" pitchFamily="2" charset="-122"/>
                <a:cs typeface="宋体" pitchFamily="2" charset="-122"/>
              </a:endParaRPr>
            </a:p>
          </p:txBody>
        </p:sp>
        <p:sp>
          <p:nvSpPr>
            <p:cNvPr id="10" name="Text Box 5"/>
            <p:cNvSpPr txBox="1">
              <a:spLocks noChangeArrowheads="1"/>
            </p:cNvSpPr>
            <p:nvPr/>
          </p:nvSpPr>
          <p:spPr bwMode="auto">
            <a:xfrm>
              <a:off x="5654" y="2637"/>
              <a:ext cx="1440" cy="468"/>
            </a:xfrm>
            <a:prstGeom prst="rect">
              <a:avLst/>
            </a:prstGeom>
            <a:solidFill>
              <a:srgbClr val="FFFFFF"/>
            </a:solidFill>
            <a:ln w="9525">
              <a:solidFill>
                <a:srgbClr val="133984"/>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a:ln>
                    <a:noFill/>
                  </a:ln>
                  <a:solidFill>
                    <a:srgbClr val="133984"/>
                  </a:solidFill>
                  <a:effectLst/>
                  <a:latin typeface="Times New Roman" pitchFamily="18" charset="0"/>
                  <a:ea typeface="宋体" pitchFamily="2" charset="-122"/>
                  <a:cs typeface="Times New Roman" pitchFamily="18" charset="0"/>
                </a:rPr>
                <a:t>目标程序</a:t>
              </a:r>
              <a:endParaRPr kumimoji="0" lang="zh-CN" b="0" i="0" u="none" strike="noStrike" cap="none" normalizeH="0" baseline="0">
                <a:ln>
                  <a:noFill/>
                </a:ln>
                <a:solidFill>
                  <a:srgbClr val="133984"/>
                </a:solidFill>
                <a:effectLst/>
                <a:latin typeface="Arial" pitchFamily="34" charset="0"/>
                <a:ea typeface="宋体" pitchFamily="2" charset="-122"/>
                <a:cs typeface="宋体" pitchFamily="2" charset="-122"/>
              </a:endParaRPr>
            </a:p>
          </p:txBody>
        </p:sp>
        <p:sp>
          <p:nvSpPr>
            <p:cNvPr id="11" name="Text Box 4"/>
            <p:cNvSpPr txBox="1">
              <a:spLocks noChangeArrowheads="1"/>
            </p:cNvSpPr>
            <p:nvPr/>
          </p:nvSpPr>
          <p:spPr bwMode="auto">
            <a:xfrm>
              <a:off x="8354" y="2637"/>
              <a:ext cx="1440" cy="468"/>
            </a:xfrm>
            <a:prstGeom prst="rect">
              <a:avLst/>
            </a:prstGeom>
            <a:solidFill>
              <a:srgbClr val="FFFFFF"/>
            </a:solidFill>
            <a:ln w="9525">
              <a:solidFill>
                <a:srgbClr val="133984"/>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可执行程序</a:t>
              </a:r>
              <a:endParaRPr kumimoji="0" lang="zh-CN" b="0" i="0" u="none" strike="noStrike" cap="none" normalizeH="0" baseline="0" dirty="0">
                <a:ln>
                  <a:noFill/>
                </a:ln>
                <a:solidFill>
                  <a:srgbClr val="133984"/>
                </a:solidFill>
                <a:effectLst/>
                <a:latin typeface="Arial" pitchFamily="34" charset="0"/>
                <a:ea typeface="宋体" pitchFamily="2" charset="-122"/>
                <a:cs typeface="宋体" pitchFamily="2" charset="-122"/>
              </a:endParaRPr>
            </a:p>
          </p:txBody>
        </p:sp>
        <p:sp>
          <p:nvSpPr>
            <p:cNvPr id="12" name="Line 3"/>
            <p:cNvSpPr>
              <a:spLocks noChangeShapeType="1"/>
            </p:cNvSpPr>
            <p:nvPr/>
          </p:nvSpPr>
          <p:spPr bwMode="auto">
            <a:xfrm>
              <a:off x="4394" y="2793"/>
              <a:ext cx="1260" cy="1"/>
            </a:xfrm>
            <a:prstGeom prst="line">
              <a:avLst/>
            </a:prstGeom>
            <a:noFill/>
            <a:ln w="9525">
              <a:solidFill>
                <a:srgbClr val="133984"/>
              </a:solidFill>
              <a:round/>
              <a:headEnd/>
              <a:tailEnd type="stealth"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133984"/>
                </a:solidFill>
              </a:endParaRPr>
            </a:p>
          </p:txBody>
        </p:sp>
        <p:sp>
          <p:nvSpPr>
            <p:cNvPr id="13" name="Line 2"/>
            <p:cNvSpPr>
              <a:spLocks noChangeShapeType="1"/>
            </p:cNvSpPr>
            <p:nvPr/>
          </p:nvSpPr>
          <p:spPr bwMode="auto">
            <a:xfrm>
              <a:off x="7094" y="2793"/>
              <a:ext cx="1260" cy="1"/>
            </a:xfrm>
            <a:prstGeom prst="line">
              <a:avLst/>
            </a:prstGeom>
            <a:noFill/>
            <a:ln w="9525">
              <a:solidFill>
                <a:srgbClr val="133984"/>
              </a:solidFill>
              <a:round/>
              <a:headEnd/>
              <a:tailEnd type="stealth"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133984"/>
                </a:solidFill>
              </a:endParaRPr>
            </a:p>
          </p:txBody>
        </p:sp>
      </p:grpSp>
      <p:sp>
        <p:nvSpPr>
          <p:cNvPr id="14" name="矩形 13"/>
          <p:cNvSpPr/>
          <p:nvPr/>
        </p:nvSpPr>
        <p:spPr>
          <a:xfrm>
            <a:off x="2479724" y="2702004"/>
            <a:ext cx="4163319" cy="369332"/>
          </a:xfrm>
          <a:prstGeom prst="rect">
            <a:avLst/>
          </a:prstGeom>
        </p:spPr>
        <p:txBody>
          <a:bodyPr wrap="none">
            <a:spAutoFit/>
          </a:bodyPr>
          <a:lstStyle/>
          <a:p>
            <a:r>
              <a:rPr lang="zh-CN" altLang="zh-CN" dirty="0">
                <a:solidFill>
                  <a:srgbClr val="133984"/>
                </a:solidFill>
              </a:rPr>
              <a:t>图</a:t>
            </a:r>
            <a:r>
              <a:rPr lang="en-US" altLang="zh-CN" dirty="0">
                <a:solidFill>
                  <a:srgbClr val="133984"/>
                </a:solidFill>
              </a:rPr>
              <a:t> 4 - 1 </a:t>
            </a:r>
            <a:r>
              <a:rPr lang="zh-CN" altLang="zh-CN" dirty="0">
                <a:solidFill>
                  <a:srgbClr val="133984"/>
                </a:solidFill>
              </a:rPr>
              <a:t>汇编语言翻译成机器语言的过程</a:t>
            </a:r>
          </a:p>
        </p:txBody>
      </p:sp>
      <p:sp>
        <p:nvSpPr>
          <p:cNvPr id="15" name="TextBox 14"/>
          <p:cNvSpPr txBox="1"/>
          <p:nvPr/>
        </p:nvSpPr>
        <p:spPr>
          <a:xfrm>
            <a:off x="755576" y="3284984"/>
            <a:ext cx="877163" cy="369332"/>
          </a:xfrm>
          <a:prstGeom prst="rect">
            <a:avLst/>
          </a:prstGeom>
          <a:noFill/>
        </p:spPr>
        <p:txBody>
          <a:bodyPr wrap="none" rtlCol="0">
            <a:spAutoFit/>
          </a:bodyPr>
          <a:lstStyle/>
          <a:p>
            <a:r>
              <a:rPr lang="zh-CN" altLang="en-US" dirty="0">
                <a:solidFill>
                  <a:srgbClr val="133984"/>
                </a:solidFill>
              </a:rPr>
              <a:t>优点：</a:t>
            </a:r>
          </a:p>
        </p:txBody>
      </p:sp>
      <p:sp>
        <p:nvSpPr>
          <p:cNvPr id="16" name="矩形 15"/>
          <p:cNvSpPr/>
          <p:nvPr/>
        </p:nvSpPr>
        <p:spPr>
          <a:xfrm>
            <a:off x="1165843" y="3699482"/>
            <a:ext cx="1954535" cy="646331"/>
          </a:xfrm>
          <a:prstGeom prst="rect">
            <a:avLst/>
          </a:prstGeom>
        </p:spPr>
        <p:txBody>
          <a:bodyPr wrap="square">
            <a:spAutoFit/>
          </a:bodyPr>
          <a:lstStyle/>
          <a:p>
            <a:r>
              <a:rPr lang="zh-CN" altLang="en-US" dirty="0">
                <a:solidFill>
                  <a:srgbClr val="133984"/>
                </a:solidFill>
              </a:rPr>
              <a:t>相比机器语言更容易识别、记忆</a:t>
            </a:r>
          </a:p>
        </p:txBody>
      </p:sp>
      <p:sp>
        <p:nvSpPr>
          <p:cNvPr id="18" name="TextBox 17"/>
          <p:cNvSpPr txBox="1"/>
          <p:nvPr/>
        </p:nvSpPr>
        <p:spPr>
          <a:xfrm>
            <a:off x="4285818" y="3284984"/>
            <a:ext cx="877163" cy="369332"/>
          </a:xfrm>
          <a:prstGeom prst="rect">
            <a:avLst/>
          </a:prstGeom>
          <a:noFill/>
        </p:spPr>
        <p:txBody>
          <a:bodyPr wrap="none" rtlCol="0">
            <a:spAutoFit/>
          </a:bodyPr>
          <a:lstStyle/>
          <a:p>
            <a:r>
              <a:rPr lang="zh-CN" altLang="en-US" dirty="0">
                <a:solidFill>
                  <a:srgbClr val="133984"/>
                </a:solidFill>
              </a:rPr>
              <a:t>缺点：</a:t>
            </a:r>
          </a:p>
        </p:txBody>
      </p:sp>
      <p:sp>
        <p:nvSpPr>
          <p:cNvPr id="19" name="矩形 18"/>
          <p:cNvSpPr/>
          <p:nvPr/>
        </p:nvSpPr>
        <p:spPr>
          <a:xfrm>
            <a:off x="4801030" y="3654316"/>
            <a:ext cx="2867314" cy="646331"/>
          </a:xfrm>
          <a:prstGeom prst="rect">
            <a:avLst/>
          </a:prstGeom>
        </p:spPr>
        <p:txBody>
          <a:bodyPr wrap="square">
            <a:spAutoFit/>
          </a:bodyPr>
          <a:lstStyle/>
          <a:p>
            <a:r>
              <a:rPr lang="zh-CN" altLang="en-US" dirty="0">
                <a:solidFill>
                  <a:srgbClr val="133984"/>
                </a:solidFill>
              </a:rPr>
              <a:t>需要汇编程序转换为机器语言才能被计算机识别</a:t>
            </a:r>
          </a:p>
        </p:txBody>
      </p:sp>
      <p:sp>
        <p:nvSpPr>
          <p:cNvPr id="20" name="矩形 19"/>
          <p:cNvSpPr/>
          <p:nvPr/>
        </p:nvSpPr>
        <p:spPr>
          <a:xfrm>
            <a:off x="1165842" y="4797152"/>
            <a:ext cx="1954535" cy="646331"/>
          </a:xfrm>
          <a:prstGeom prst="rect">
            <a:avLst/>
          </a:prstGeom>
        </p:spPr>
        <p:txBody>
          <a:bodyPr wrap="square">
            <a:spAutoFit/>
          </a:bodyPr>
          <a:lstStyle/>
          <a:p>
            <a:r>
              <a:rPr lang="zh-CN" altLang="en-US" dirty="0">
                <a:solidFill>
                  <a:srgbClr val="133984"/>
                </a:solidFill>
              </a:rPr>
              <a:t>操控灵活、执行速度快</a:t>
            </a:r>
          </a:p>
        </p:txBody>
      </p:sp>
      <p:sp>
        <p:nvSpPr>
          <p:cNvPr id="21" name="矩形 20"/>
          <p:cNvSpPr/>
          <p:nvPr/>
        </p:nvSpPr>
        <p:spPr>
          <a:xfrm>
            <a:off x="4921758" y="4797151"/>
            <a:ext cx="2602570" cy="646331"/>
          </a:xfrm>
          <a:prstGeom prst="rect">
            <a:avLst/>
          </a:prstGeom>
        </p:spPr>
        <p:txBody>
          <a:bodyPr wrap="square">
            <a:spAutoFit/>
          </a:bodyPr>
          <a:lstStyle/>
          <a:p>
            <a:r>
              <a:rPr lang="zh-CN" altLang="zh-CN" dirty="0">
                <a:solidFill>
                  <a:srgbClr val="133984"/>
                </a:solidFill>
              </a:rPr>
              <a:t>冗长、复杂、容易出错，开发时间长</a:t>
            </a:r>
            <a:endParaRPr lang="zh-CN" altLang="en-US" dirty="0">
              <a:solidFill>
                <a:srgbClr val="133984"/>
              </a:solidFill>
            </a:endParaRPr>
          </a:p>
        </p:txBody>
      </p:sp>
    </p:spTree>
    <p:extLst>
      <p:ext uri="{BB962C8B-B14F-4D97-AF65-F5344CB8AC3E}">
        <p14:creationId xmlns:p14="http://schemas.microsoft.com/office/powerpoint/2010/main" val="3735278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ppt_x"/>
                                          </p:val>
                                        </p:tav>
                                        <p:tav tm="100000">
                                          <p:val>
                                            <p:strVal val="#ppt_x"/>
                                          </p:val>
                                        </p:tav>
                                      </p:tavLst>
                                    </p:anim>
                                    <p:anim calcmode="lin" valueType="num">
                                      <p:cBhvr additive="base">
                                        <p:cTn id="3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8" grpId="0"/>
      <p:bldP spid="19" grpId="0"/>
      <p:bldP spid="20" grpId="0"/>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611560" y="1340768"/>
            <a:ext cx="763284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indent="269875" fontAlgn="base">
              <a:spcBef>
                <a:spcPct val="0"/>
              </a:spcBef>
              <a:spcAft>
                <a:spcPct val="0"/>
              </a:spcAft>
            </a:pPr>
            <a:r>
              <a:rPr kumimoji="0" lang="zh-CN" b="1"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例</a:t>
            </a:r>
            <a:r>
              <a:rPr kumimoji="0" lang="zh-CN" altLang="en-US" b="1" i="0" u="none" strike="noStrike" cap="none" normalizeH="0" baseline="0" dirty="0" bmk="">
                <a:ln>
                  <a:noFill/>
                </a:ln>
                <a:solidFill>
                  <a:srgbClr val="133984"/>
                </a:solidFill>
                <a:effectLst/>
                <a:latin typeface="Times New Roman" pitchFamily="18" charset="0"/>
                <a:ea typeface="宋体" pitchFamily="2" charset="-122"/>
                <a:cs typeface="Times New Roman" pitchFamily="18" charset="0"/>
              </a:rPr>
              <a:t> </a:t>
            </a:r>
            <a:r>
              <a:rPr kumimoji="0" lang="en-US" altLang="zh-CN" b="1" i="0" u="none" strike="noStrike" cap="none" normalizeH="0" baseline="0" dirty="0" bmk="">
                <a:ln>
                  <a:noFill/>
                </a:ln>
                <a:solidFill>
                  <a:srgbClr val="133984"/>
                </a:solidFill>
                <a:effectLst/>
                <a:latin typeface="Times New Roman" pitchFamily="18" charset="0"/>
                <a:ea typeface="宋体" pitchFamily="2" charset="-122"/>
                <a:cs typeface="Times New Roman" pitchFamily="18" charset="0"/>
              </a:rPr>
              <a:t>4.</a:t>
            </a:r>
            <a:r>
              <a:rPr kumimoji="0" lang="en-US" altLang="zh-CN" b="1" i="0" u="none" strike="noStrike" cap="none" normalizeH="0" baseline="0" dirty="0" bmk="_Ref331449570">
                <a:ln>
                  <a:noFill/>
                </a:ln>
                <a:solidFill>
                  <a:srgbClr val="133984"/>
                </a:solidFill>
                <a:effectLst/>
                <a:latin typeface="Times New Roman" pitchFamily="18" charset="0"/>
                <a:ea typeface="宋体" pitchFamily="2" charset="-122"/>
                <a:cs typeface="Times New Roman" pitchFamily="18" charset="0"/>
              </a:rPr>
              <a:t>2</a:t>
            </a:r>
            <a:r>
              <a:rPr kumimoji="0" lang="en-US" altLang="zh-CN"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 </a:t>
            </a:r>
            <a:r>
              <a:rPr kumimoji="0" lang="zh-CN" altLang="en-US"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为</a:t>
            </a:r>
            <a:r>
              <a:rPr kumimoji="0" lang="zh-CN" altLang="en-US" b="1" i="0" u="none" strike="noStrike" cap="none" normalizeH="0" baseline="0" dirty="0">
                <a:ln>
                  <a:noFill/>
                </a:ln>
                <a:solidFill>
                  <a:srgbClr val="133984"/>
                </a:solidFill>
                <a:effectLst/>
                <a:latin typeface="Times New Roman" pitchFamily="18" charset="0"/>
                <a:ea typeface="宋体" pitchFamily="2" charset="-122"/>
                <a:cs typeface="Times New Roman" pitchFamily="18" charset="0"/>
                <a:hlinkClick r:id="rId2" action="ppaction://hlinksldjump"/>
              </a:rPr>
              <a:t>例 </a:t>
            </a:r>
            <a:r>
              <a:rPr kumimoji="0" lang="en-US" altLang="zh-CN" b="1" i="0" u="none" strike="noStrike" cap="none" normalizeH="0" baseline="0" dirty="0">
                <a:ln>
                  <a:noFill/>
                </a:ln>
                <a:solidFill>
                  <a:srgbClr val="133984"/>
                </a:solidFill>
                <a:effectLst/>
                <a:latin typeface="Times New Roman" pitchFamily="18" charset="0"/>
                <a:ea typeface="宋体" pitchFamily="2" charset="-122"/>
                <a:cs typeface="Times New Roman" pitchFamily="18" charset="0"/>
                <a:hlinkClick r:id="rId2" action="ppaction://hlinksldjump"/>
              </a:rPr>
              <a:t>4.1</a:t>
            </a:r>
            <a:r>
              <a:rPr kumimoji="0" lang="zh-CN" altLang="en-US"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中的计算机设计汇编语言，假设用</a:t>
            </a:r>
            <a:r>
              <a:rPr kumimoji="0" lang="en-US" altLang="zh-CN" b="0" i="0" u="none" strike="noStrike" cap="none" normalizeH="0" baseline="0" dirty="0" err="1">
                <a:ln>
                  <a:noFill/>
                </a:ln>
                <a:solidFill>
                  <a:srgbClr val="133984"/>
                </a:solidFill>
                <a:effectLst/>
                <a:latin typeface="Times New Roman" pitchFamily="18" charset="0"/>
                <a:ea typeface="宋体" pitchFamily="2" charset="-122"/>
                <a:cs typeface="Times New Roman" pitchFamily="18" charset="0"/>
              </a:rPr>
              <a:t>mov</a:t>
            </a:r>
            <a:r>
              <a:rPr kumimoji="0" lang="zh-CN" altLang="en-US"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a:t>
            </a:r>
            <a:r>
              <a:rPr kumimoji="0" lang="en-US" altLang="zh-CN"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move</a:t>
            </a:r>
            <a:r>
              <a:rPr kumimoji="0" lang="zh-CN" altLang="en-US"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，移动）表示</a:t>
            </a:r>
            <a:r>
              <a:rPr kumimoji="0" lang="en-US" altLang="zh-CN"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0000</a:t>
            </a:r>
            <a:r>
              <a:rPr kumimoji="0" lang="zh-CN" altLang="en-US"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指令，用</a:t>
            </a:r>
            <a:r>
              <a:rPr kumimoji="0" lang="en-US" altLang="zh-CN"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add</a:t>
            </a:r>
            <a:r>
              <a:rPr kumimoji="0" lang="zh-CN" altLang="en-US"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（相加）表示</a:t>
            </a:r>
            <a:r>
              <a:rPr kumimoji="0" lang="en-US" altLang="zh-CN"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0001</a:t>
            </a:r>
            <a:r>
              <a:rPr kumimoji="0" lang="zh-CN" altLang="en-US"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指令，用</a:t>
            </a:r>
            <a:r>
              <a:rPr kumimoji="0" lang="en-US" altLang="zh-CN" b="0" i="0" u="none" strike="noStrike" cap="none" normalizeH="0" baseline="0" dirty="0" err="1">
                <a:ln>
                  <a:noFill/>
                </a:ln>
                <a:solidFill>
                  <a:srgbClr val="133984"/>
                </a:solidFill>
                <a:effectLst/>
                <a:latin typeface="Times New Roman" pitchFamily="18" charset="0"/>
                <a:ea typeface="宋体" pitchFamily="2" charset="-122"/>
                <a:cs typeface="Times New Roman" pitchFamily="18" charset="0"/>
              </a:rPr>
              <a:t>str</a:t>
            </a:r>
            <a:r>
              <a:rPr kumimoji="0" lang="zh-CN" altLang="en-US"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a:t>
            </a:r>
            <a:r>
              <a:rPr kumimoji="0" lang="en-US" altLang="zh-CN"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store</a:t>
            </a:r>
            <a:r>
              <a:rPr kumimoji="0" lang="zh-CN" altLang="en-US"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，存储）表示</a:t>
            </a:r>
            <a:r>
              <a:rPr kumimoji="0" lang="en-US" altLang="zh-CN"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0010</a:t>
            </a:r>
            <a:r>
              <a:rPr kumimoji="0" lang="zh-CN" altLang="en-US"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指令</a:t>
            </a:r>
            <a:r>
              <a:rPr lang="zh-CN" altLang="en-US" dirty="0">
                <a:solidFill>
                  <a:srgbClr val="133984"/>
                </a:solidFill>
                <a:latin typeface="Times New Roman" pitchFamily="18" charset="0"/>
                <a:ea typeface="宋体" pitchFamily="2" charset="-122"/>
                <a:cs typeface="Times New Roman" pitchFamily="18" charset="0"/>
              </a:rPr>
              <a:t>，用汇编语言</a:t>
            </a:r>
            <a:r>
              <a:rPr kumimoji="0" lang="zh-CN" altLang="en-US"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求解</a:t>
            </a:r>
            <a:r>
              <a:rPr kumimoji="0" lang="en-US" altLang="zh-CN"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3+7</a:t>
            </a:r>
            <a:r>
              <a:rPr kumimoji="0" lang="zh-CN" altLang="en-US"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并把结果写在</a:t>
            </a:r>
            <a:r>
              <a:rPr kumimoji="0" lang="en-US" altLang="zh-CN"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4</a:t>
            </a:r>
            <a:r>
              <a:rPr kumimoji="0" lang="zh-CN" altLang="en-US"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号内存单元：</a:t>
            </a:r>
            <a:endParaRPr kumimoji="0" lang="zh-CN" altLang="en-US" b="0" i="0" u="none" strike="noStrike" cap="none" normalizeH="0" baseline="0" dirty="0">
              <a:ln>
                <a:noFill/>
              </a:ln>
              <a:solidFill>
                <a:srgbClr val="133984"/>
              </a:solidFill>
              <a:effectLst/>
              <a:latin typeface="Arial" pitchFamily="34" charset="0"/>
              <a:ea typeface="宋体" pitchFamily="2" charset="-122"/>
              <a:cs typeface="宋体" pitchFamily="2" charset="-122"/>
            </a:endParaRPr>
          </a:p>
        </p:txBody>
      </p:sp>
      <p:sp>
        <p:nvSpPr>
          <p:cNvPr id="2" name="矩形 1"/>
          <p:cNvSpPr/>
          <p:nvPr/>
        </p:nvSpPr>
        <p:spPr>
          <a:xfrm>
            <a:off x="827584" y="3068960"/>
            <a:ext cx="4572000" cy="1477328"/>
          </a:xfrm>
          <a:prstGeom prst="rect">
            <a:avLst/>
          </a:prstGeom>
        </p:spPr>
        <p:txBody>
          <a:bodyPr>
            <a:spAutoFit/>
          </a:bodyPr>
          <a:lstStyle/>
          <a:p>
            <a:pPr lvl="0" indent="269875" eaLnBrk="0" fontAlgn="base" hangingPunct="0">
              <a:spcBef>
                <a:spcPct val="0"/>
              </a:spcBef>
              <a:spcAft>
                <a:spcPct val="0"/>
              </a:spcAft>
            </a:pPr>
            <a:r>
              <a:rPr lang="zh-CN" altLang="en-US" dirty="0">
                <a:solidFill>
                  <a:srgbClr val="133984"/>
                </a:solidFill>
                <a:latin typeface="Courier New" pitchFamily="49" charset="0"/>
                <a:ea typeface="宋体" pitchFamily="2" charset="-122"/>
                <a:cs typeface="Courier New" pitchFamily="49" charset="0"/>
              </a:rPr>
              <a:t>答案：</a:t>
            </a:r>
            <a:endParaRPr lang="en-US" altLang="zh-CN" dirty="0">
              <a:solidFill>
                <a:srgbClr val="133984"/>
              </a:solidFill>
              <a:latin typeface="Courier New" pitchFamily="49" charset="0"/>
              <a:ea typeface="宋体" pitchFamily="2" charset="-122"/>
              <a:cs typeface="Courier New" pitchFamily="49" charset="0"/>
            </a:endParaRPr>
          </a:p>
          <a:p>
            <a:pPr lvl="0" indent="269875" eaLnBrk="0" fontAlgn="base" hangingPunct="0">
              <a:spcBef>
                <a:spcPct val="0"/>
              </a:spcBef>
              <a:spcAft>
                <a:spcPct val="0"/>
              </a:spcAft>
            </a:pPr>
            <a:r>
              <a:rPr lang="en-US" altLang="zh-CN" dirty="0" err="1">
                <a:solidFill>
                  <a:srgbClr val="133984"/>
                </a:solidFill>
                <a:latin typeface="Courier New" pitchFamily="49" charset="0"/>
                <a:ea typeface="宋体" pitchFamily="2" charset="-122"/>
                <a:cs typeface="Courier New" pitchFamily="49" charset="0"/>
              </a:rPr>
              <a:t>mov</a:t>
            </a:r>
            <a:r>
              <a:rPr lang="en-US" altLang="zh-CN" dirty="0">
                <a:solidFill>
                  <a:srgbClr val="133984"/>
                </a:solidFill>
                <a:latin typeface="Courier New" pitchFamily="49" charset="0"/>
                <a:ea typeface="宋体" pitchFamily="2" charset="-122"/>
                <a:cs typeface="Courier New" pitchFamily="49" charset="0"/>
              </a:rPr>
              <a:t> 0,3</a:t>
            </a:r>
            <a:endParaRPr lang="en-US" altLang="zh-CN" dirty="0">
              <a:solidFill>
                <a:srgbClr val="133984"/>
              </a:solidFill>
              <a:latin typeface="Arial" pitchFamily="34" charset="0"/>
              <a:ea typeface="宋体" pitchFamily="2" charset="-122"/>
              <a:cs typeface="宋体" pitchFamily="2" charset="-122"/>
            </a:endParaRPr>
          </a:p>
          <a:p>
            <a:pPr lvl="0" indent="269875" eaLnBrk="0" fontAlgn="base" hangingPunct="0">
              <a:spcBef>
                <a:spcPct val="0"/>
              </a:spcBef>
              <a:spcAft>
                <a:spcPct val="0"/>
              </a:spcAft>
            </a:pPr>
            <a:r>
              <a:rPr lang="en-US" altLang="zh-CN" dirty="0" err="1">
                <a:solidFill>
                  <a:srgbClr val="133984"/>
                </a:solidFill>
                <a:latin typeface="Courier New" pitchFamily="49" charset="0"/>
                <a:ea typeface="宋体" pitchFamily="2" charset="-122"/>
                <a:cs typeface="Courier New" pitchFamily="49" charset="0"/>
              </a:rPr>
              <a:t>mov</a:t>
            </a:r>
            <a:r>
              <a:rPr lang="en-US" altLang="zh-CN" dirty="0">
                <a:solidFill>
                  <a:srgbClr val="133984"/>
                </a:solidFill>
                <a:latin typeface="Courier New" pitchFamily="49" charset="0"/>
                <a:ea typeface="宋体" pitchFamily="2" charset="-122"/>
                <a:cs typeface="Courier New" pitchFamily="49" charset="0"/>
              </a:rPr>
              <a:t> 1,7</a:t>
            </a:r>
            <a:endParaRPr lang="en-US" altLang="zh-CN" dirty="0">
              <a:solidFill>
                <a:srgbClr val="133984"/>
              </a:solidFill>
              <a:latin typeface="Arial" pitchFamily="34" charset="0"/>
              <a:ea typeface="宋体" pitchFamily="2" charset="-122"/>
              <a:cs typeface="宋体" pitchFamily="2" charset="-122"/>
            </a:endParaRPr>
          </a:p>
          <a:p>
            <a:pPr lvl="0" indent="269875" eaLnBrk="0" fontAlgn="base" hangingPunct="0">
              <a:spcBef>
                <a:spcPct val="0"/>
              </a:spcBef>
              <a:spcAft>
                <a:spcPct val="0"/>
              </a:spcAft>
            </a:pPr>
            <a:r>
              <a:rPr lang="en-US" altLang="zh-CN" dirty="0">
                <a:solidFill>
                  <a:srgbClr val="133984"/>
                </a:solidFill>
                <a:latin typeface="Courier New" pitchFamily="49" charset="0"/>
                <a:ea typeface="宋体" pitchFamily="2" charset="-122"/>
                <a:cs typeface="Courier New" pitchFamily="49" charset="0"/>
              </a:rPr>
              <a:t>add 0 1,2</a:t>
            </a:r>
            <a:endParaRPr lang="en-US" altLang="zh-CN" dirty="0">
              <a:solidFill>
                <a:srgbClr val="133984"/>
              </a:solidFill>
              <a:latin typeface="Arial" pitchFamily="34" charset="0"/>
              <a:ea typeface="宋体" pitchFamily="2" charset="-122"/>
              <a:cs typeface="宋体" pitchFamily="2" charset="-122"/>
            </a:endParaRPr>
          </a:p>
          <a:p>
            <a:pPr lvl="0" indent="269875" eaLnBrk="0" fontAlgn="base" hangingPunct="0">
              <a:spcBef>
                <a:spcPct val="0"/>
              </a:spcBef>
              <a:spcAft>
                <a:spcPct val="0"/>
              </a:spcAft>
            </a:pPr>
            <a:r>
              <a:rPr lang="en-US" altLang="zh-CN" dirty="0" err="1">
                <a:solidFill>
                  <a:srgbClr val="133984"/>
                </a:solidFill>
                <a:latin typeface="Courier New" pitchFamily="49" charset="0"/>
                <a:ea typeface="宋体" pitchFamily="2" charset="-122"/>
                <a:cs typeface="Courier New" pitchFamily="49" charset="0"/>
              </a:rPr>
              <a:t>str</a:t>
            </a:r>
            <a:r>
              <a:rPr lang="en-US" altLang="zh-CN" dirty="0">
                <a:solidFill>
                  <a:srgbClr val="133984"/>
                </a:solidFill>
                <a:latin typeface="Courier New" pitchFamily="49" charset="0"/>
                <a:ea typeface="宋体" pitchFamily="2" charset="-122"/>
                <a:cs typeface="Courier New" pitchFamily="49" charset="0"/>
              </a:rPr>
              <a:t> 2,4</a:t>
            </a:r>
            <a:endParaRPr lang="en-US" altLang="zh-CN" dirty="0">
              <a:solidFill>
                <a:srgbClr val="133984"/>
              </a:solidFill>
              <a:latin typeface="Arial" pitchFamily="34" charset="0"/>
              <a:ea typeface="宋体" pitchFamily="2" charset="-122"/>
              <a:cs typeface="宋体" pitchFamily="2" charset="-122"/>
            </a:endParaRPr>
          </a:p>
        </p:txBody>
      </p:sp>
    </p:spTree>
    <p:extLst>
      <p:ext uri="{BB962C8B-B14F-4D97-AF65-F5344CB8AC3E}">
        <p14:creationId xmlns:p14="http://schemas.microsoft.com/office/powerpoint/2010/main" val="2791661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51971"/>
            <a:ext cx="8229600" cy="1143000"/>
          </a:xfrm>
        </p:spPr>
        <p:txBody>
          <a:bodyPr/>
          <a:lstStyle/>
          <a:p>
            <a:r>
              <a:rPr lang="zh-CN" altLang="en-US" dirty="0">
                <a:solidFill>
                  <a:srgbClr val="133984"/>
                </a:solidFill>
              </a:rPr>
              <a:t>高级语言</a:t>
            </a:r>
          </a:p>
        </p:txBody>
      </p:sp>
      <p:sp>
        <p:nvSpPr>
          <p:cNvPr id="7" name="Rectangle 7"/>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11"/>
          <p:cNvSpPr>
            <a:spLocks noChangeArrowheads="1"/>
          </p:cNvSpPr>
          <p:nvPr/>
        </p:nvSpPr>
        <p:spPr bwMode="auto">
          <a:xfrm>
            <a:off x="0" y="1150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6" name="Rectangle 21"/>
          <p:cNvSpPr>
            <a:spLocks noChangeArrowheads="1"/>
          </p:cNvSpPr>
          <p:nvPr/>
        </p:nvSpPr>
        <p:spPr bwMode="auto">
          <a:xfrm>
            <a:off x="152400" y="1524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7" name="矩形 26"/>
          <p:cNvSpPr/>
          <p:nvPr/>
        </p:nvSpPr>
        <p:spPr>
          <a:xfrm>
            <a:off x="1403648" y="3574341"/>
            <a:ext cx="4572000" cy="461665"/>
          </a:xfrm>
          <a:prstGeom prst="rect">
            <a:avLst/>
          </a:prstGeom>
        </p:spPr>
        <p:txBody>
          <a:bodyPr>
            <a:spAutoFit/>
          </a:bodyPr>
          <a:lstStyle/>
          <a:p>
            <a:r>
              <a:rPr lang="zh-CN" altLang="en-US" sz="2400" dirty="0">
                <a:solidFill>
                  <a:srgbClr val="133984"/>
                </a:solidFill>
              </a:rPr>
              <a:t>缺点：计算机不能直接识别。</a:t>
            </a:r>
          </a:p>
        </p:txBody>
      </p:sp>
      <p:sp>
        <p:nvSpPr>
          <p:cNvPr id="4" name="矩形 3"/>
          <p:cNvSpPr/>
          <p:nvPr/>
        </p:nvSpPr>
        <p:spPr>
          <a:xfrm>
            <a:off x="1403648" y="1889877"/>
            <a:ext cx="5651715" cy="830997"/>
          </a:xfrm>
          <a:prstGeom prst="rect">
            <a:avLst/>
          </a:prstGeom>
        </p:spPr>
        <p:txBody>
          <a:bodyPr wrap="square">
            <a:spAutoFit/>
          </a:bodyPr>
          <a:lstStyle/>
          <a:p>
            <a:r>
              <a:rPr lang="zh-CN" altLang="zh-CN" sz="2400" dirty="0">
                <a:solidFill>
                  <a:srgbClr val="133984"/>
                </a:solidFill>
              </a:rPr>
              <a:t>优点</a:t>
            </a:r>
            <a:r>
              <a:rPr lang="zh-CN" altLang="en-US" sz="2400" dirty="0">
                <a:solidFill>
                  <a:srgbClr val="133984"/>
                </a:solidFill>
              </a:rPr>
              <a:t>：</a:t>
            </a:r>
            <a:r>
              <a:rPr lang="zh-CN" altLang="zh-CN" sz="2400" dirty="0">
                <a:solidFill>
                  <a:srgbClr val="133984"/>
                </a:solidFill>
              </a:rPr>
              <a:t>提高程序设计生产率，提高程序的可读性</a:t>
            </a:r>
            <a:r>
              <a:rPr lang="zh-CN" altLang="en-US" sz="2400" dirty="0">
                <a:solidFill>
                  <a:srgbClr val="133984"/>
                </a:solidFill>
              </a:rPr>
              <a:t>。</a:t>
            </a:r>
            <a:endParaRPr lang="en-US" altLang="zh-CN" sz="2400" dirty="0">
              <a:solidFill>
                <a:srgbClr val="133984"/>
              </a:solidFill>
            </a:endParaRPr>
          </a:p>
        </p:txBody>
      </p:sp>
    </p:spTree>
    <p:extLst>
      <p:ext uri="{BB962C8B-B14F-4D97-AF65-F5344CB8AC3E}">
        <p14:creationId xmlns:p14="http://schemas.microsoft.com/office/powerpoint/2010/main" val="3663624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circle(in)">
                                      <p:cBhvr>
                                        <p:cTn id="12"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1"/>
          <p:cNvGrpSpPr>
            <a:grpSpLocks noChangeAspect="1"/>
          </p:cNvGrpSpPr>
          <p:nvPr/>
        </p:nvGrpSpPr>
        <p:grpSpPr bwMode="auto">
          <a:xfrm>
            <a:off x="668741" y="2119861"/>
            <a:ext cx="7806518" cy="1008112"/>
            <a:chOff x="2234" y="2169"/>
            <a:chExt cx="8460" cy="1092"/>
          </a:xfrm>
        </p:grpSpPr>
        <p:sp>
          <p:nvSpPr>
            <p:cNvPr id="5" name="AutoShape 6"/>
            <p:cNvSpPr>
              <a:spLocks noChangeAspect="1" noChangeArrowheads="1" noTextEdit="1"/>
            </p:cNvSpPr>
            <p:nvPr/>
          </p:nvSpPr>
          <p:spPr bwMode="auto">
            <a:xfrm>
              <a:off x="2234" y="2169"/>
              <a:ext cx="8460" cy="10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solidFill>
                  <a:srgbClr val="133984"/>
                </a:solidFill>
              </a:endParaRPr>
            </a:p>
          </p:txBody>
        </p:sp>
        <p:sp>
          <p:nvSpPr>
            <p:cNvPr id="6" name="Text Box 5"/>
            <p:cNvSpPr txBox="1">
              <a:spLocks noChangeArrowheads="1"/>
            </p:cNvSpPr>
            <p:nvPr/>
          </p:nvSpPr>
          <p:spPr bwMode="auto">
            <a:xfrm>
              <a:off x="5654" y="2949"/>
              <a:ext cx="144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解释程序</a:t>
              </a:r>
              <a:endParaRPr kumimoji="0" lang="zh-CN" b="0" i="0" u="none" strike="noStrike" cap="none" normalizeH="0" baseline="0" dirty="0">
                <a:ln>
                  <a:noFill/>
                </a:ln>
                <a:solidFill>
                  <a:srgbClr val="133984"/>
                </a:solidFill>
                <a:effectLst/>
                <a:latin typeface="Arial" pitchFamily="34" charset="0"/>
                <a:ea typeface="宋体" pitchFamily="2" charset="-122"/>
                <a:cs typeface="宋体" pitchFamily="2" charset="-122"/>
              </a:endParaRPr>
            </a:p>
          </p:txBody>
        </p:sp>
        <p:sp>
          <p:nvSpPr>
            <p:cNvPr id="7" name="Text Box 4"/>
            <p:cNvSpPr txBox="1">
              <a:spLocks noChangeArrowheads="1"/>
            </p:cNvSpPr>
            <p:nvPr/>
          </p:nvSpPr>
          <p:spPr bwMode="auto">
            <a:xfrm>
              <a:off x="3889" y="2637"/>
              <a:ext cx="1945" cy="468"/>
            </a:xfrm>
            <a:prstGeom prst="rect">
              <a:avLst/>
            </a:prstGeom>
            <a:solidFill>
              <a:srgbClr val="FFFFFF"/>
            </a:solidFill>
            <a:ln w="9525">
              <a:solidFill>
                <a:srgbClr val="133984"/>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高级程序源程序</a:t>
              </a:r>
              <a:endParaRPr kumimoji="0" lang="zh-CN" b="0" i="0" u="none" strike="noStrike" cap="none" normalizeH="0" baseline="0" dirty="0">
                <a:ln>
                  <a:noFill/>
                </a:ln>
                <a:solidFill>
                  <a:srgbClr val="133984"/>
                </a:solidFill>
                <a:effectLst/>
                <a:latin typeface="Arial" pitchFamily="34" charset="0"/>
                <a:ea typeface="宋体" pitchFamily="2" charset="-122"/>
                <a:cs typeface="宋体" pitchFamily="2" charset="-122"/>
              </a:endParaRPr>
            </a:p>
          </p:txBody>
        </p:sp>
        <p:sp>
          <p:nvSpPr>
            <p:cNvPr id="8" name="Text Box 3"/>
            <p:cNvSpPr txBox="1">
              <a:spLocks noChangeArrowheads="1"/>
            </p:cNvSpPr>
            <p:nvPr/>
          </p:nvSpPr>
          <p:spPr bwMode="auto">
            <a:xfrm>
              <a:off x="7094" y="2637"/>
              <a:ext cx="1440" cy="468"/>
            </a:xfrm>
            <a:prstGeom prst="rect">
              <a:avLst/>
            </a:prstGeom>
            <a:solidFill>
              <a:srgbClr val="FFFFFF"/>
            </a:solidFill>
            <a:ln w="9525">
              <a:solidFill>
                <a:srgbClr val="133984"/>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执行结果</a:t>
              </a:r>
              <a:endParaRPr kumimoji="0" lang="zh-CN" b="0" i="0" u="none" strike="noStrike" cap="none" normalizeH="0" baseline="0" dirty="0">
                <a:ln>
                  <a:noFill/>
                </a:ln>
                <a:solidFill>
                  <a:srgbClr val="133984"/>
                </a:solidFill>
                <a:effectLst/>
                <a:latin typeface="Arial" pitchFamily="34" charset="0"/>
                <a:ea typeface="宋体" pitchFamily="2" charset="-122"/>
                <a:cs typeface="宋体" pitchFamily="2" charset="-122"/>
              </a:endParaRPr>
            </a:p>
          </p:txBody>
        </p:sp>
        <p:sp>
          <p:nvSpPr>
            <p:cNvPr id="9" name="Line 2"/>
            <p:cNvSpPr>
              <a:spLocks noChangeShapeType="1"/>
            </p:cNvSpPr>
            <p:nvPr/>
          </p:nvSpPr>
          <p:spPr bwMode="auto">
            <a:xfrm>
              <a:off x="5834" y="2793"/>
              <a:ext cx="1260" cy="1"/>
            </a:xfrm>
            <a:prstGeom prst="line">
              <a:avLst/>
            </a:prstGeom>
            <a:noFill/>
            <a:ln w="9525">
              <a:solidFill>
                <a:srgbClr val="133984"/>
              </a:solidFill>
              <a:round/>
              <a:headEnd/>
              <a:tailEnd type="stealth"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solidFill>
                  <a:srgbClr val="133984"/>
                </a:solidFill>
              </a:endParaRPr>
            </a:p>
          </p:txBody>
        </p:sp>
      </p:grpSp>
      <p:sp>
        <p:nvSpPr>
          <p:cNvPr id="10" name="矩形 9"/>
          <p:cNvSpPr/>
          <p:nvPr/>
        </p:nvSpPr>
        <p:spPr>
          <a:xfrm>
            <a:off x="3561453" y="3395856"/>
            <a:ext cx="1854995" cy="369332"/>
          </a:xfrm>
          <a:prstGeom prst="rect">
            <a:avLst/>
          </a:prstGeom>
        </p:spPr>
        <p:txBody>
          <a:bodyPr wrap="none">
            <a:spAutoFit/>
          </a:bodyPr>
          <a:lstStyle/>
          <a:p>
            <a:r>
              <a:rPr lang="zh-CN" altLang="zh-CN" dirty="0">
                <a:solidFill>
                  <a:srgbClr val="133984"/>
                </a:solidFill>
              </a:rPr>
              <a:t>图</a:t>
            </a:r>
            <a:r>
              <a:rPr lang="en-US" altLang="zh-CN" dirty="0">
                <a:solidFill>
                  <a:srgbClr val="133984"/>
                </a:solidFill>
              </a:rPr>
              <a:t> 4 - 3 </a:t>
            </a:r>
            <a:r>
              <a:rPr lang="zh-CN" altLang="zh-CN" dirty="0">
                <a:solidFill>
                  <a:srgbClr val="133984"/>
                </a:solidFill>
              </a:rPr>
              <a:t>解释</a:t>
            </a:r>
            <a:r>
              <a:rPr lang="zh-CN" altLang="en-US" dirty="0">
                <a:solidFill>
                  <a:srgbClr val="133984"/>
                </a:solidFill>
              </a:rPr>
              <a:t>执行</a:t>
            </a:r>
            <a:endParaRPr lang="zh-CN" altLang="zh-CN" dirty="0">
              <a:solidFill>
                <a:srgbClr val="133984"/>
              </a:solidFill>
            </a:endParaRPr>
          </a:p>
        </p:txBody>
      </p:sp>
      <p:grpSp>
        <p:nvGrpSpPr>
          <p:cNvPr id="11" name="Group 12"/>
          <p:cNvGrpSpPr>
            <a:grpSpLocks noChangeAspect="1"/>
          </p:cNvGrpSpPr>
          <p:nvPr/>
        </p:nvGrpSpPr>
        <p:grpSpPr bwMode="auto">
          <a:xfrm>
            <a:off x="172571" y="4566819"/>
            <a:ext cx="8798858" cy="1136260"/>
            <a:chOff x="2234" y="2325"/>
            <a:chExt cx="8460" cy="1092"/>
          </a:xfrm>
        </p:grpSpPr>
        <p:sp>
          <p:nvSpPr>
            <p:cNvPr id="12" name="AutoShape 20"/>
            <p:cNvSpPr>
              <a:spLocks noChangeAspect="1" noChangeArrowheads="1" noTextEdit="1"/>
            </p:cNvSpPr>
            <p:nvPr/>
          </p:nvSpPr>
          <p:spPr bwMode="auto">
            <a:xfrm>
              <a:off x="2234" y="2325"/>
              <a:ext cx="8460" cy="10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Text Box 19"/>
            <p:cNvSpPr txBox="1">
              <a:spLocks noChangeArrowheads="1"/>
            </p:cNvSpPr>
            <p:nvPr/>
          </p:nvSpPr>
          <p:spPr bwMode="auto">
            <a:xfrm>
              <a:off x="7094" y="2949"/>
              <a:ext cx="144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连接程序</a:t>
              </a:r>
              <a:endParaRPr kumimoji="0" lang="zh-CN" b="0" i="0" u="none" strike="noStrike" cap="none" normalizeH="0" baseline="0" dirty="0">
                <a:ln>
                  <a:noFill/>
                </a:ln>
                <a:solidFill>
                  <a:srgbClr val="133984"/>
                </a:solidFill>
                <a:effectLst/>
                <a:latin typeface="Arial" pitchFamily="34" charset="0"/>
                <a:ea typeface="宋体" pitchFamily="2" charset="-122"/>
                <a:cs typeface="宋体" pitchFamily="2" charset="-122"/>
              </a:endParaRPr>
            </a:p>
          </p:txBody>
        </p:sp>
        <p:sp>
          <p:nvSpPr>
            <p:cNvPr id="14" name="Text Box 18"/>
            <p:cNvSpPr txBox="1">
              <a:spLocks noChangeArrowheads="1"/>
            </p:cNvSpPr>
            <p:nvPr/>
          </p:nvSpPr>
          <p:spPr bwMode="auto">
            <a:xfrm>
              <a:off x="4214" y="2949"/>
              <a:ext cx="1440"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8000" tIns="10800" rIns="1800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编译程序</a:t>
              </a:r>
              <a:endParaRPr kumimoji="0" lang="zh-CN" b="0" i="0" u="none" strike="noStrike" cap="none" normalizeH="0" baseline="0" dirty="0">
                <a:ln>
                  <a:noFill/>
                </a:ln>
                <a:solidFill>
                  <a:srgbClr val="133984"/>
                </a:solidFill>
                <a:effectLst/>
                <a:latin typeface="Arial" pitchFamily="34" charset="0"/>
                <a:ea typeface="宋体" pitchFamily="2" charset="-122"/>
                <a:cs typeface="宋体" pitchFamily="2" charset="-122"/>
              </a:endParaRPr>
            </a:p>
          </p:txBody>
        </p:sp>
        <p:sp>
          <p:nvSpPr>
            <p:cNvPr id="15" name="Text Box 17"/>
            <p:cNvSpPr txBox="1">
              <a:spLocks noChangeArrowheads="1"/>
            </p:cNvSpPr>
            <p:nvPr/>
          </p:nvSpPr>
          <p:spPr bwMode="auto">
            <a:xfrm>
              <a:off x="2594" y="2637"/>
              <a:ext cx="1800" cy="468"/>
            </a:xfrm>
            <a:prstGeom prst="rect">
              <a:avLst/>
            </a:prstGeom>
            <a:solidFill>
              <a:srgbClr val="FFFFFF"/>
            </a:solidFill>
            <a:ln w="9525">
              <a:solidFill>
                <a:srgbClr val="133984"/>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高级程序源程序</a:t>
              </a:r>
              <a:endParaRPr kumimoji="0" lang="zh-CN" b="0" i="0" u="none" strike="noStrike" cap="none" normalizeH="0" baseline="0" dirty="0">
                <a:ln>
                  <a:noFill/>
                </a:ln>
                <a:solidFill>
                  <a:srgbClr val="133984"/>
                </a:solidFill>
                <a:effectLst/>
                <a:latin typeface="Arial" pitchFamily="34" charset="0"/>
                <a:ea typeface="宋体" pitchFamily="2" charset="-122"/>
                <a:cs typeface="宋体" pitchFamily="2" charset="-122"/>
              </a:endParaRPr>
            </a:p>
          </p:txBody>
        </p:sp>
        <p:sp>
          <p:nvSpPr>
            <p:cNvPr id="16" name="Text Box 16"/>
            <p:cNvSpPr txBox="1">
              <a:spLocks noChangeArrowheads="1"/>
            </p:cNvSpPr>
            <p:nvPr/>
          </p:nvSpPr>
          <p:spPr bwMode="auto">
            <a:xfrm>
              <a:off x="5654" y="2637"/>
              <a:ext cx="1440" cy="468"/>
            </a:xfrm>
            <a:prstGeom prst="rect">
              <a:avLst/>
            </a:prstGeom>
            <a:solidFill>
              <a:srgbClr val="FFFFFF"/>
            </a:solidFill>
            <a:ln w="9525">
              <a:solidFill>
                <a:srgbClr val="133984"/>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目标程序</a:t>
              </a:r>
              <a:endParaRPr kumimoji="0" lang="zh-CN" b="0" i="0" u="none" strike="noStrike" cap="none" normalizeH="0" baseline="0" dirty="0">
                <a:ln>
                  <a:noFill/>
                </a:ln>
                <a:solidFill>
                  <a:srgbClr val="133984"/>
                </a:solidFill>
                <a:effectLst/>
                <a:latin typeface="Arial" pitchFamily="34" charset="0"/>
                <a:ea typeface="宋体" pitchFamily="2" charset="-122"/>
                <a:cs typeface="宋体" pitchFamily="2" charset="-122"/>
              </a:endParaRPr>
            </a:p>
          </p:txBody>
        </p:sp>
        <p:sp>
          <p:nvSpPr>
            <p:cNvPr id="17" name="Text Box 15"/>
            <p:cNvSpPr txBox="1">
              <a:spLocks noChangeArrowheads="1"/>
            </p:cNvSpPr>
            <p:nvPr/>
          </p:nvSpPr>
          <p:spPr bwMode="auto">
            <a:xfrm>
              <a:off x="8354" y="2637"/>
              <a:ext cx="1440" cy="468"/>
            </a:xfrm>
            <a:prstGeom prst="rect">
              <a:avLst/>
            </a:prstGeom>
            <a:solidFill>
              <a:srgbClr val="FFFFFF"/>
            </a:solidFill>
            <a:ln w="9525">
              <a:solidFill>
                <a:srgbClr val="133984"/>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a:ln>
                    <a:noFill/>
                  </a:ln>
                  <a:solidFill>
                    <a:srgbClr val="133984"/>
                  </a:solidFill>
                  <a:effectLst/>
                  <a:latin typeface="Times New Roman" pitchFamily="18" charset="0"/>
                  <a:ea typeface="宋体" pitchFamily="2" charset="-122"/>
                  <a:cs typeface="Times New Roman" pitchFamily="18" charset="0"/>
                </a:rPr>
                <a:t>可执行程序</a:t>
              </a:r>
              <a:endParaRPr kumimoji="0" lang="zh-CN" b="0" i="0" u="none" strike="noStrike" cap="none" normalizeH="0" baseline="0" dirty="0">
                <a:ln>
                  <a:noFill/>
                </a:ln>
                <a:solidFill>
                  <a:srgbClr val="133984"/>
                </a:solidFill>
                <a:effectLst/>
                <a:latin typeface="Arial" pitchFamily="34" charset="0"/>
                <a:ea typeface="宋体" pitchFamily="2" charset="-122"/>
                <a:cs typeface="宋体" pitchFamily="2" charset="-122"/>
              </a:endParaRPr>
            </a:p>
          </p:txBody>
        </p:sp>
        <p:sp>
          <p:nvSpPr>
            <p:cNvPr id="18" name="Line 14"/>
            <p:cNvSpPr>
              <a:spLocks noChangeShapeType="1"/>
            </p:cNvSpPr>
            <p:nvPr/>
          </p:nvSpPr>
          <p:spPr bwMode="auto">
            <a:xfrm>
              <a:off x="4394" y="2793"/>
              <a:ext cx="1260" cy="1"/>
            </a:xfrm>
            <a:prstGeom prst="line">
              <a:avLst/>
            </a:prstGeom>
            <a:noFill/>
            <a:ln w="9525">
              <a:solidFill>
                <a:srgbClr val="133984"/>
              </a:solidFill>
              <a:round/>
              <a:headEnd/>
              <a:tailEnd type="stealth"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Line 13"/>
            <p:cNvSpPr>
              <a:spLocks noChangeShapeType="1"/>
            </p:cNvSpPr>
            <p:nvPr/>
          </p:nvSpPr>
          <p:spPr bwMode="auto">
            <a:xfrm>
              <a:off x="7094" y="2793"/>
              <a:ext cx="1260" cy="1"/>
            </a:xfrm>
            <a:prstGeom prst="line">
              <a:avLst/>
            </a:prstGeom>
            <a:noFill/>
            <a:ln w="9525">
              <a:solidFill>
                <a:srgbClr val="133984"/>
              </a:solidFill>
              <a:round/>
              <a:headEnd/>
              <a:tailEnd type="stealth"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0" name="Rectangle 27"/>
          <p:cNvSpPr>
            <a:spLocks noChangeArrowheads="1"/>
          </p:cNvSpPr>
          <p:nvPr/>
        </p:nvSpPr>
        <p:spPr bwMode="auto">
          <a:xfrm>
            <a:off x="3633281" y="5717354"/>
            <a:ext cx="187743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a:ln>
                  <a:noFill/>
                </a:ln>
                <a:solidFill>
                  <a:srgbClr val="133984"/>
                </a:solidFill>
                <a:effectLst/>
                <a:latin typeface="Cambria" pitchFamily="18" charset="0"/>
                <a:ea typeface="黑体" pitchFamily="49" charset="-122"/>
                <a:cs typeface="Times New Roman" pitchFamily="18" charset="0"/>
              </a:rPr>
              <a:t>图</a:t>
            </a:r>
            <a:r>
              <a:rPr kumimoji="0" lang="zh-CN" altLang="en-US" b="0" i="0" u="none" strike="noStrike" cap="none" normalizeH="0" baseline="0" dirty="0" bmk="">
                <a:ln>
                  <a:noFill/>
                </a:ln>
                <a:solidFill>
                  <a:srgbClr val="133984"/>
                </a:solidFill>
                <a:effectLst/>
                <a:latin typeface="Cambria" pitchFamily="18" charset="0"/>
                <a:ea typeface="黑体" pitchFamily="49" charset="-122"/>
                <a:cs typeface="Times New Roman" pitchFamily="18" charset="0"/>
              </a:rPr>
              <a:t> </a:t>
            </a:r>
            <a:r>
              <a:rPr kumimoji="0" lang="en-US" altLang="zh-CN" b="0" i="0" u="none" strike="noStrike" cap="none" normalizeH="0" baseline="0" dirty="0" bmk="">
                <a:ln>
                  <a:noFill/>
                </a:ln>
                <a:solidFill>
                  <a:srgbClr val="133984"/>
                </a:solidFill>
                <a:effectLst/>
                <a:latin typeface="Cambria" pitchFamily="18" charset="0"/>
                <a:ea typeface="黑体" pitchFamily="49" charset="-122"/>
                <a:cs typeface="Times New Roman" pitchFamily="18" charset="0"/>
              </a:rPr>
              <a:t>4 - </a:t>
            </a:r>
            <a:r>
              <a:rPr kumimoji="0" lang="en-US" altLang="zh-CN" b="0" i="0" u="none" strike="noStrike" cap="none" normalizeH="0" baseline="0" dirty="0" bmk="_Ref332313007">
                <a:ln>
                  <a:noFill/>
                </a:ln>
                <a:solidFill>
                  <a:srgbClr val="133984"/>
                </a:solidFill>
                <a:effectLst/>
                <a:latin typeface="Cambria" pitchFamily="18" charset="0"/>
                <a:ea typeface="黑体" pitchFamily="49" charset="-122"/>
                <a:cs typeface="Times New Roman" pitchFamily="18" charset="0"/>
              </a:rPr>
              <a:t>4</a:t>
            </a:r>
            <a:r>
              <a:rPr kumimoji="0" lang="en-US" altLang="zh-CN" b="0" i="0" u="none" strike="noStrike" cap="none" normalizeH="0" baseline="0" dirty="0">
                <a:ln>
                  <a:noFill/>
                </a:ln>
                <a:solidFill>
                  <a:srgbClr val="133984"/>
                </a:solidFill>
                <a:effectLst/>
                <a:latin typeface="Cambria" pitchFamily="18" charset="0"/>
                <a:ea typeface="黑体" pitchFamily="49" charset="-122"/>
                <a:cs typeface="Times New Roman" pitchFamily="18" charset="0"/>
              </a:rPr>
              <a:t> </a:t>
            </a:r>
            <a:r>
              <a:rPr kumimoji="0" lang="zh-CN" altLang="en-US" b="0" i="0" u="none" strike="noStrike" cap="none" normalizeH="0" baseline="0" dirty="0">
                <a:ln>
                  <a:noFill/>
                </a:ln>
                <a:solidFill>
                  <a:srgbClr val="133984"/>
                </a:solidFill>
                <a:effectLst/>
                <a:latin typeface="Cambria" pitchFamily="18" charset="0"/>
                <a:ea typeface="黑体" pitchFamily="49" charset="-122"/>
                <a:cs typeface="Times New Roman" pitchFamily="18" charset="0"/>
              </a:rPr>
              <a:t>编译执行</a:t>
            </a:r>
            <a:endParaRPr kumimoji="0" lang="zh-CN" altLang="en-US" b="0" i="0" u="none" strike="noStrike" cap="none" normalizeH="0" baseline="0" dirty="0">
              <a:ln>
                <a:noFill/>
              </a:ln>
              <a:solidFill>
                <a:srgbClr val="133984"/>
              </a:solidFill>
              <a:effectLst/>
              <a:latin typeface="Arial" pitchFamily="34" charset="0"/>
              <a:ea typeface="宋体" pitchFamily="2" charset="-122"/>
              <a:cs typeface="宋体" pitchFamily="2" charset="-122"/>
            </a:endParaRPr>
          </a:p>
        </p:txBody>
      </p:sp>
      <p:sp>
        <p:nvSpPr>
          <p:cNvPr id="21" name="TextBox 20"/>
          <p:cNvSpPr txBox="1"/>
          <p:nvPr/>
        </p:nvSpPr>
        <p:spPr>
          <a:xfrm>
            <a:off x="546990" y="908720"/>
            <a:ext cx="3664970" cy="523220"/>
          </a:xfrm>
          <a:prstGeom prst="rect">
            <a:avLst/>
          </a:prstGeom>
          <a:noFill/>
        </p:spPr>
        <p:txBody>
          <a:bodyPr wrap="square" rtlCol="0">
            <a:spAutoFit/>
          </a:bodyPr>
          <a:lstStyle/>
          <a:p>
            <a:r>
              <a:rPr lang="zh-CN" altLang="en-US" sz="2800" dirty="0">
                <a:solidFill>
                  <a:srgbClr val="133984"/>
                </a:solidFill>
              </a:rPr>
              <a:t>解释执行与编译执行：</a:t>
            </a:r>
          </a:p>
        </p:txBody>
      </p:sp>
    </p:spTree>
    <p:extLst>
      <p:ext uri="{BB962C8B-B14F-4D97-AF65-F5344CB8AC3E}">
        <p14:creationId xmlns:p14="http://schemas.microsoft.com/office/powerpoint/2010/main" val="8626305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65338455"/>
              </p:ext>
            </p:extLst>
          </p:nvPr>
        </p:nvGraphicFramePr>
        <p:xfrm>
          <a:off x="1625600" y="483333"/>
          <a:ext cx="5892800" cy="5829300"/>
        </p:xfrm>
        <a:graphic>
          <a:graphicData uri="http://schemas.openxmlformats.org/presentationml/2006/ole">
            <mc:AlternateContent xmlns:mc="http://schemas.openxmlformats.org/markup-compatibility/2006">
              <mc:Choice xmlns:v="urn:schemas-microsoft-com:vml" Requires="v">
                <p:oleObj spid="_x0000_s3232" name="Visio" r:id="rId3" imgW="3826980" imgH="3785918" progId="Visio.Drawing.11">
                  <p:embed/>
                </p:oleObj>
              </mc:Choice>
              <mc:Fallback>
                <p:oleObj name="Visio" r:id="rId3" imgW="3826980" imgH="3785918" progId="Visio.Drawing.11">
                  <p:embed/>
                  <p:pic>
                    <p:nvPicPr>
                      <p:cNvPr id="0" name="Picture 1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5600" y="483333"/>
                        <a:ext cx="5892800" cy="5829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矩形 5"/>
          <p:cNvSpPr/>
          <p:nvPr/>
        </p:nvSpPr>
        <p:spPr>
          <a:xfrm>
            <a:off x="2374924" y="6304926"/>
            <a:ext cx="4394152" cy="369332"/>
          </a:xfrm>
          <a:prstGeom prst="rect">
            <a:avLst/>
          </a:prstGeom>
        </p:spPr>
        <p:txBody>
          <a:bodyPr wrap="none">
            <a:spAutoFit/>
          </a:bodyPr>
          <a:lstStyle/>
          <a:p>
            <a:r>
              <a:rPr lang="zh-CN" altLang="zh-CN" dirty="0">
                <a:solidFill>
                  <a:srgbClr val="133984"/>
                </a:solidFill>
              </a:rPr>
              <a:t>图</a:t>
            </a:r>
            <a:r>
              <a:rPr lang="en-US" altLang="zh-CN" dirty="0">
                <a:solidFill>
                  <a:srgbClr val="133984"/>
                </a:solidFill>
              </a:rPr>
              <a:t> 4 - 2 </a:t>
            </a:r>
            <a:r>
              <a:rPr lang="zh-CN" altLang="zh-CN" dirty="0">
                <a:solidFill>
                  <a:srgbClr val="133984"/>
                </a:solidFill>
              </a:rPr>
              <a:t>从高级语言到机器语言的转换过程</a:t>
            </a:r>
          </a:p>
        </p:txBody>
      </p:sp>
    </p:spTree>
    <p:extLst>
      <p:ext uri="{BB962C8B-B14F-4D97-AF65-F5344CB8AC3E}">
        <p14:creationId xmlns:p14="http://schemas.microsoft.com/office/powerpoint/2010/main" val="3835759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133984"/>
                </a:solidFill>
              </a:rPr>
              <a:t>发展历史</a:t>
            </a:r>
          </a:p>
        </p:txBody>
      </p:sp>
      <p:sp>
        <p:nvSpPr>
          <p:cNvPr id="3" name="内容占位符 2"/>
          <p:cNvSpPr>
            <a:spLocks noGrp="1"/>
          </p:cNvSpPr>
          <p:nvPr>
            <p:ph idx="1"/>
          </p:nvPr>
        </p:nvSpPr>
        <p:spPr/>
        <p:txBody>
          <a:bodyPr/>
          <a:lstStyle/>
          <a:p>
            <a:r>
              <a:rPr lang="zh-CN" altLang="zh-CN" b="1" dirty="0">
                <a:solidFill>
                  <a:srgbClr val="133984"/>
                </a:solidFill>
              </a:rPr>
              <a:t>①</a:t>
            </a:r>
            <a:r>
              <a:rPr lang="en-US" altLang="zh-CN" b="1" dirty="0">
                <a:solidFill>
                  <a:srgbClr val="133984"/>
                </a:solidFill>
              </a:rPr>
              <a:t> 1940-1950</a:t>
            </a:r>
            <a:r>
              <a:rPr lang="zh-CN" altLang="zh-CN" b="1" dirty="0">
                <a:solidFill>
                  <a:srgbClr val="133984"/>
                </a:solidFill>
              </a:rPr>
              <a:t>：开端</a:t>
            </a:r>
            <a:endParaRPr lang="zh-CN" altLang="zh-CN" dirty="0">
              <a:solidFill>
                <a:srgbClr val="133984"/>
              </a:solidFill>
            </a:endParaRPr>
          </a:p>
          <a:p>
            <a:r>
              <a:rPr lang="zh-CN" altLang="zh-CN" b="1" dirty="0">
                <a:solidFill>
                  <a:srgbClr val="133984"/>
                </a:solidFill>
              </a:rPr>
              <a:t>②</a:t>
            </a:r>
            <a:r>
              <a:rPr lang="en-US" altLang="zh-CN" b="1" dirty="0">
                <a:solidFill>
                  <a:srgbClr val="133984"/>
                </a:solidFill>
              </a:rPr>
              <a:t> 1950-1967</a:t>
            </a:r>
            <a:r>
              <a:rPr lang="zh-CN" altLang="zh-CN" b="1" dirty="0">
                <a:solidFill>
                  <a:srgbClr val="133984"/>
                </a:solidFill>
              </a:rPr>
              <a:t>：百花齐放的阶段</a:t>
            </a:r>
            <a:endParaRPr lang="zh-CN" altLang="zh-CN" dirty="0">
              <a:solidFill>
                <a:srgbClr val="133984"/>
              </a:solidFill>
            </a:endParaRPr>
          </a:p>
          <a:p>
            <a:r>
              <a:rPr lang="zh-CN" altLang="zh-CN" b="1" dirty="0">
                <a:solidFill>
                  <a:srgbClr val="133984"/>
                </a:solidFill>
              </a:rPr>
              <a:t>③</a:t>
            </a:r>
            <a:r>
              <a:rPr lang="en-US" altLang="zh-CN" b="1" dirty="0">
                <a:solidFill>
                  <a:srgbClr val="133984"/>
                </a:solidFill>
              </a:rPr>
              <a:t> 1968-1978</a:t>
            </a:r>
            <a:r>
              <a:rPr lang="zh-CN" altLang="zh-CN" b="1" dirty="0">
                <a:solidFill>
                  <a:srgbClr val="133984"/>
                </a:solidFill>
              </a:rPr>
              <a:t>：范型发展阶段</a:t>
            </a:r>
            <a:endParaRPr lang="zh-CN" altLang="zh-CN" dirty="0">
              <a:solidFill>
                <a:srgbClr val="133984"/>
              </a:solidFill>
            </a:endParaRPr>
          </a:p>
          <a:p>
            <a:r>
              <a:rPr lang="zh-CN" altLang="zh-CN" b="1" dirty="0">
                <a:solidFill>
                  <a:srgbClr val="133984"/>
                </a:solidFill>
              </a:rPr>
              <a:t>④</a:t>
            </a:r>
            <a:r>
              <a:rPr lang="en-US" altLang="zh-CN" b="1" dirty="0">
                <a:solidFill>
                  <a:srgbClr val="133984"/>
                </a:solidFill>
              </a:rPr>
              <a:t> 1979-1989</a:t>
            </a:r>
            <a:r>
              <a:rPr lang="zh-CN" altLang="zh-CN" b="1" dirty="0">
                <a:solidFill>
                  <a:srgbClr val="133984"/>
                </a:solidFill>
              </a:rPr>
              <a:t>：巩固提高阶段</a:t>
            </a:r>
            <a:endParaRPr lang="zh-CN" altLang="zh-CN" dirty="0">
              <a:solidFill>
                <a:srgbClr val="133984"/>
              </a:solidFill>
            </a:endParaRPr>
          </a:p>
          <a:p>
            <a:r>
              <a:rPr lang="zh-CN" altLang="zh-CN" b="1" dirty="0">
                <a:solidFill>
                  <a:srgbClr val="133984"/>
                </a:solidFill>
              </a:rPr>
              <a:t>⑤</a:t>
            </a:r>
            <a:r>
              <a:rPr lang="en-US" altLang="zh-CN" b="1" dirty="0">
                <a:solidFill>
                  <a:srgbClr val="133984"/>
                </a:solidFill>
              </a:rPr>
              <a:t> 1990-1999</a:t>
            </a:r>
            <a:r>
              <a:rPr lang="zh-CN" altLang="zh-CN" b="1" dirty="0">
                <a:solidFill>
                  <a:srgbClr val="133984"/>
                </a:solidFill>
              </a:rPr>
              <a:t>：互联网时代</a:t>
            </a:r>
            <a:endParaRPr lang="zh-CN" altLang="zh-CN" dirty="0">
              <a:solidFill>
                <a:srgbClr val="133984"/>
              </a:solidFill>
            </a:endParaRPr>
          </a:p>
          <a:p>
            <a:r>
              <a:rPr lang="zh-CN" altLang="zh-CN" b="1" dirty="0">
                <a:solidFill>
                  <a:srgbClr val="133984"/>
                </a:solidFill>
              </a:rPr>
              <a:t>⑥</a:t>
            </a:r>
            <a:r>
              <a:rPr lang="en-US" altLang="zh-CN" b="1" dirty="0">
                <a:solidFill>
                  <a:srgbClr val="133984"/>
                </a:solidFill>
              </a:rPr>
              <a:t> 2000-</a:t>
            </a:r>
            <a:r>
              <a:rPr lang="zh-CN" altLang="zh-CN" b="1" dirty="0">
                <a:solidFill>
                  <a:srgbClr val="133984"/>
                </a:solidFill>
              </a:rPr>
              <a:t>：进一步发展的新世纪</a:t>
            </a:r>
            <a:endParaRPr lang="zh-CN" altLang="zh-CN" dirty="0">
              <a:solidFill>
                <a:srgbClr val="133984"/>
              </a:solidFill>
            </a:endParaRPr>
          </a:p>
          <a:p>
            <a:endParaRPr lang="zh-CN" altLang="en-US" dirty="0">
              <a:solidFill>
                <a:srgbClr val="133984"/>
              </a:solidFill>
            </a:endParaRPr>
          </a:p>
        </p:txBody>
      </p:sp>
    </p:spTree>
    <p:extLst>
      <p:ext uri="{BB962C8B-B14F-4D97-AF65-F5344CB8AC3E}">
        <p14:creationId xmlns:p14="http://schemas.microsoft.com/office/powerpoint/2010/main" val="975447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99592" y="3820595"/>
            <a:ext cx="6246440" cy="369332"/>
          </a:xfrm>
          <a:prstGeom prst="rect">
            <a:avLst/>
          </a:prstGeom>
        </p:spPr>
        <p:txBody>
          <a:bodyPr wrap="square">
            <a:spAutoFit/>
          </a:bodyPr>
          <a:lstStyle/>
          <a:p>
            <a:r>
              <a:rPr lang="zh-CN" altLang="zh-CN" dirty="0">
                <a:solidFill>
                  <a:srgbClr val="133984"/>
                </a:solidFill>
              </a:rPr>
              <a:t>其中命令式程序设计语言又可以分为</a:t>
            </a:r>
            <a:r>
              <a:rPr lang="zh-CN" altLang="en-US" dirty="0">
                <a:solidFill>
                  <a:srgbClr val="133984"/>
                </a:solidFill>
              </a:rPr>
              <a:t>：</a:t>
            </a:r>
          </a:p>
        </p:txBody>
      </p:sp>
      <p:sp>
        <p:nvSpPr>
          <p:cNvPr id="5" name="TextBox 4"/>
          <p:cNvSpPr txBox="1"/>
          <p:nvPr/>
        </p:nvSpPr>
        <p:spPr>
          <a:xfrm>
            <a:off x="3779912" y="617262"/>
            <a:ext cx="1313180" cy="769441"/>
          </a:xfrm>
          <a:prstGeom prst="rect">
            <a:avLst/>
          </a:prstGeom>
          <a:noFill/>
        </p:spPr>
        <p:txBody>
          <a:bodyPr wrap="none" rtlCol="0">
            <a:spAutoFit/>
          </a:bodyPr>
          <a:lstStyle/>
          <a:p>
            <a:r>
              <a:rPr lang="zh-CN" altLang="en-US" sz="4400" dirty="0">
                <a:solidFill>
                  <a:srgbClr val="133984"/>
                </a:solidFill>
                <a:latin typeface="+mj-lt"/>
                <a:ea typeface="+mj-ea"/>
                <a:cs typeface="+mj-cs"/>
              </a:rPr>
              <a:t>分类</a:t>
            </a:r>
          </a:p>
        </p:txBody>
      </p:sp>
      <p:sp>
        <p:nvSpPr>
          <p:cNvPr id="2" name="矩形 1"/>
          <p:cNvSpPr/>
          <p:nvPr/>
        </p:nvSpPr>
        <p:spPr>
          <a:xfrm>
            <a:off x="899592" y="3262918"/>
            <a:ext cx="6264696" cy="369332"/>
          </a:xfrm>
          <a:prstGeom prst="rect">
            <a:avLst/>
          </a:prstGeom>
        </p:spPr>
        <p:txBody>
          <a:bodyPr wrap="square">
            <a:spAutoFit/>
          </a:bodyPr>
          <a:lstStyle/>
          <a:p>
            <a:r>
              <a:rPr lang="en-US" altLang="zh-CN" b="1" dirty="0">
                <a:solidFill>
                  <a:srgbClr val="133984"/>
                </a:solidFill>
              </a:rPr>
              <a:t>3</a:t>
            </a:r>
            <a:r>
              <a:rPr lang="zh-CN" altLang="en-US" b="1" dirty="0">
                <a:solidFill>
                  <a:srgbClr val="133984"/>
                </a:solidFill>
              </a:rPr>
              <a:t>、</a:t>
            </a:r>
            <a:r>
              <a:rPr lang="zh-CN" altLang="zh-CN" b="1" dirty="0">
                <a:solidFill>
                  <a:srgbClr val="133984"/>
                </a:solidFill>
              </a:rPr>
              <a:t>逻辑程序设计语言（</a:t>
            </a:r>
            <a:r>
              <a:rPr lang="en-US" altLang="zh-CN" b="1" dirty="0">
                <a:solidFill>
                  <a:srgbClr val="133984"/>
                </a:solidFill>
              </a:rPr>
              <a:t>Logical Programming Language</a:t>
            </a:r>
            <a:r>
              <a:rPr lang="zh-CN" altLang="zh-CN" b="1" dirty="0">
                <a:solidFill>
                  <a:srgbClr val="133984"/>
                </a:solidFill>
              </a:rPr>
              <a:t>）</a:t>
            </a:r>
            <a:endParaRPr lang="zh-CN" altLang="en-US" dirty="0"/>
          </a:p>
        </p:txBody>
      </p:sp>
      <p:sp>
        <p:nvSpPr>
          <p:cNvPr id="3" name="矩形 2"/>
          <p:cNvSpPr/>
          <p:nvPr/>
        </p:nvSpPr>
        <p:spPr>
          <a:xfrm>
            <a:off x="899592" y="1575011"/>
            <a:ext cx="7200800" cy="646331"/>
          </a:xfrm>
          <a:prstGeom prst="rect">
            <a:avLst/>
          </a:prstGeom>
        </p:spPr>
        <p:txBody>
          <a:bodyPr wrap="square">
            <a:spAutoFit/>
          </a:bodyPr>
          <a:lstStyle/>
          <a:p>
            <a:r>
              <a:rPr lang="zh-CN" altLang="zh-CN" dirty="0">
                <a:solidFill>
                  <a:srgbClr val="133984"/>
                </a:solidFill>
              </a:rPr>
              <a:t>数目繁多的高级程序设计语言可以按照其设计理念、组织原理或</a:t>
            </a:r>
            <a:r>
              <a:rPr lang="zh-CN" altLang="zh-CN" b="1" dirty="0">
                <a:solidFill>
                  <a:srgbClr val="133984"/>
                </a:solidFill>
              </a:rPr>
              <a:t>范型（</a:t>
            </a:r>
            <a:r>
              <a:rPr lang="en-US" altLang="zh-CN" b="1" dirty="0">
                <a:solidFill>
                  <a:srgbClr val="133984"/>
                </a:solidFill>
              </a:rPr>
              <a:t>Paradigm</a:t>
            </a:r>
            <a:r>
              <a:rPr lang="zh-CN" altLang="zh-CN" b="1" dirty="0">
                <a:solidFill>
                  <a:srgbClr val="133984"/>
                </a:solidFill>
              </a:rPr>
              <a:t>）</a:t>
            </a:r>
            <a:r>
              <a:rPr lang="zh-CN" altLang="zh-CN" dirty="0">
                <a:solidFill>
                  <a:srgbClr val="133984"/>
                </a:solidFill>
              </a:rPr>
              <a:t>分为几个大类：</a:t>
            </a:r>
            <a:endParaRPr lang="en-US" altLang="zh-CN" dirty="0">
              <a:solidFill>
                <a:srgbClr val="133984"/>
              </a:solidFill>
            </a:endParaRPr>
          </a:p>
        </p:txBody>
      </p:sp>
      <p:sp>
        <p:nvSpPr>
          <p:cNvPr id="6" name="矩形 5"/>
          <p:cNvSpPr/>
          <p:nvPr/>
        </p:nvSpPr>
        <p:spPr>
          <a:xfrm>
            <a:off x="899592" y="2279177"/>
            <a:ext cx="6660130" cy="369332"/>
          </a:xfrm>
          <a:prstGeom prst="rect">
            <a:avLst/>
          </a:prstGeom>
        </p:spPr>
        <p:txBody>
          <a:bodyPr wrap="square">
            <a:spAutoFit/>
          </a:bodyPr>
          <a:lstStyle/>
          <a:p>
            <a:r>
              <a:rPr lang="en-US" altLang="zh-CN" b="1" dirty="0">
                <a:solidFill>
                  <a:srgbClr val="133984"/>
                </a:solidFill>
              </a:rPr>
              <a:t>1</a:t>
            </a:r>
            <a:r>
              <a:rPr lang="zh-CN" altLang="en-US" b="1" dirty="0">
                <a:solidFill>
                  <a:srgbClr val="133984"/>
                </a:solidFill>
              </a:rPr>
              <a:t>、</a:t>
            </a:r>
            <a:r>
              <a:rPr lang="zh-CN" altLang="zh-CN" b="1" dirty="0">
                <a:solidFill>
                  <a:srgbClr val="133984"/>
                </a:solidFill>
              </a:rPr>
              <a:t>命令式程序设计语言（</a:t>
            </a:r>
            <a:r>
              <a:rPr lang="en-US" altLang="zh-CN" b="1" dirty="0">
                <a:solidFill>
                  <a:srgbClr val="133984"/>
                </a:solidFill>
              </a:rPr>
              <a:t>Imperative Programming Language</a:t>
            </a:r>
            <a:r>
              <a:rPr lang="zh-CN" altLang="zh-CN" b="1" dirty="0">
                <a:solidFill>
                  <a:srgbClr val="133984"/>
                </a:solidFill>
              </a:rPr>
              <a:t>）</a:t>
            </a:r>
            <a:endParaRPr lang="zh-CN" altLang="en-US" dirty="0"/>
          </a:p>
        </p:txBody>
      </p:sp>
      <p:sp>
        <p:nvSpPr>
          <p:cNvPr id="7" name="矩形 6"/>
          <p:cNvSpPr/>
          <p:nvPr/>
        </p:nvSpPr>
        <p:spPr>
          <a:xfrm>
            <a:off x="899592" y="2801253"/>
            <a:ext cx="7200800" cy="369332"/>
          </a:xfrm>
          <a:prstGeom prst="rect">
            <a:avLst/>
          </a:prstGeom>
        </p:spPr>
        <p:txBody>
          <a:bodyPr wrap="square">
            <a:spAutoFit/>
          </a:bodyPr>
          <a:lstStyle/>
          <a:p>
            <a:r>
              <a:rPr lang="en-US" altLang="zh-CN" b="1" dirty="0">
                <a:solidFill>
                  <a:srgbClr val="133984"/>
                </a:solidFill>
              </a:rPr>
              <a:t>2</a:t>
            </a:r>
            <a:r>
              <a:rPr lang="zh-CN" altLang="en-US" b="1" dirty="0">
                <a:solidFill>
                  <a:srgbClr val="133984"/>
                </a:solidFill>
              </a:rPr>
              <a:t>、</a:t>
            </a:r>
            <a:r>
              <a:rPr lang="zh-CN" altLang="zh-CN" b="1" dirty="0">
                <a:solidFill>
                  <a:srgbClr val="133984"/>
                </a:solidFill>
              </a:rPr>
              <a:t>函数式程序设计语言（</a:t>
            </a:r>
            <a:r>
              <a:rPr lang="en-US" altLang="zh-CN" b="1" dirty="0">
                <a:solidFill>
                  <a:srgbClr val="133984"/>
                </a:solidFill>
              </a:rPr>
              <a:t>Functional Programming Language</a:t>
            </a:r>
            <a:r>
              <a:rPr lang="zh-CN" altLang="zh-CN" b="1" dirty="0">
                <a:solidFill>
                  <a:srgbClr val="133984"/>
                </a:solidFill>
              </a:rPr>
              <a:t>）</a:t>
            </a:r>
            <a:endParaRPr lang="zh-CN" altLang="en-US" dirty="0"/>
          </a:p>
        </p:txBody>
      </p:sp>
      <p:sp>
        <p:nvSpPr>
          <p:cNvPr id="8" name="矩形 7"/>
          <p:cNvSpPr/>
          <p:nvPr/>
        </p:nvSpPr>
        <p:spPr>
          <a:xfrm>
            <a:off x="899592" y="4538737"/>
            <a:ext cx="7704856" cy="923330"/>
          </a:xfrm>
          <a:prstGeom prst="rect">
            <a:avLst/>
          </a:prstGeom>
        </p:spPr>
        <p:txBody>
          <a:bodyPr wrap="square">
            <a:spAutoFit/>
          </a:bodyPr>
          <a:lstStyle/>
          <a:p>
            <a:pPr marL="285750" indent="-285750">
              <a:buFont typeface="Arial" pitchFamily="34" charset="0"/>
              <a:buChar char="•"/>
            </a:pPr>
            <a:r>
              <a:rPr lang="zh-CN" altLang="zh-CN" b="1" dirty="0">
                <a:solidFill>
                  <a:srgbClr val="133984"/>
                </a:solidFill>
              </a:rPr>
              <a:t>结构化程序设计语言（</a:t>
            </a:r>
            <a:r>
              <a:rPr lang="en-US" altLang="zh-CN" b="1" dirty="0">
                <a:solidFill>
                  <a:srgbClr val="133984"/>
                </a:solidFill>
              </a:rPr>
              <a:t>Structured Programming Language</a:t>
            </a:r>
            <a:r>
              <a:rPr lang="zh-CN" altLang="zh-CN" b="1" dirty="0">
                <a:solidFill>
                  <a:srgbClr val="133984"/>
                </a:solidFill>
              </a:rPr>
              <a:t>）</a:t>
            </a:r>
            <a:endParaRPr lang="en-US" altLang="zh-CN" b="1" dirty="0">
              <a:solidFill>
                <a:srgbClr val="133984"/>
              </a:solidFill>
            </a:endParaRPr>
          </a:p>
          <a:p>
            <a:pPr marL="285750" indent="-285750">
              <a:buFont typeface="Arial" pitchFamily="34" charset="0"/>
              <a:buChar char="•"/>
            </a:pPr>
            <a:r>
              <a:rPr lang="zh-CN" altLang="zh-CN" b="1" dirty="0">
                <a:solidFill>
                  <a:srgbClr val="133984"/>
                </a:solidFill>
              </a:rPr>
              <a:t>面向对象程序设计语言（</a:t>
            </a:r>
            <a:r>
              <a:rPr lang="en-US" altLang="zh-CN" b="1" dirty="0">
                <a:solidFill>
                  <a:srgbClr val="133984"/>
                </a:solidFill>
              </a:rPr>
              <a:t>Object-Oriented Programming Language</a:t>
            </a:r>
            <a:r>
              <a:rPr lang="zh-CN" altLang="zh-CN" b="1" dirty="0">
                <a:solidFill>
                  <a:srgbClr val="133984"/>
                </a:solidFill>
              </a:rPr>
              <a:t>）</a:t>
            </a:r>
            <a:endParaRPr lang="en-US" altLang="zh-CN" b="1" dirty="0">
              <a:solidFill>
                <a:srgbClr val="133984"/>
              </a:solidFill>
            </a:endParaRPr>
          </a:p>
          <a:p>
            <a:endParaRPr lang="zh-CN" altLang="en-US" dirty="0"/>
          </a:p>
        </p:txBody>
      </p:sp>
    </p:spTree>
    <p:extLst>
      <p:ext uri="{BB962C8B-B14F-4D97-AF65-F5344CB8AC3E}">
        <p14:creationId xmlns:p14="http://schemas.microsoft.com/office/powerpoint/2010/main" val="2364153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1000"/>
                                        <p:tgtEl>
                                          <p:spTgt spid="2"/>
                                        </p:tgtEl>
                                      </p:cBhvr>
                                    </p:animEffect>
                                    <p:anim calcmode="lin" valueType="num">
                                      <p:cBhvr>
                                        <p:cTn id="27" dur="1000" fill="hold"/>
                                        <p:tgtEl>
                                          <p:spTgt spid="2"/>
                                        </p:tgtEl>
                                        <p:attrNameLst>
                                          <p:attrName>ppt_x</p:attrName>
                                        </p:attrNameLst>
                                      </p:cBhvr>
                                      <p:tavLst>
                                        <p:tav tm="0">
                                          <p:val>
                                            <p:strVal val="#ppt_x"/>
                                          </p:val>
                                        </p:tav>
                                        <p:tav tm="100000">
                                          <p:val>
                                            <p:strVal val="#ppt_x"/>
                                          </p:val>
                                        </p:tav>
                                      </p:tavLst>
                                    </p:anim>
                                    <p:anim calcmode="lin" valueType="num">
                                      <p:cBhvr>
                                        <p:cTn id="28"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circle(in)">
                                      <p:cBhvr>
                                        <p:cTn id="33" dur="2000"/>
                                        <p:tgtEl>
                                          <p:spTgt spid="4"/>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8">
                                            <p:txEl>
                                              <p:pRg st="0" end="0"/>
                                            </p:txEl>
                                          </p:spTgt>
                                        </p:tgtEl>
                                        <p:attrNameLst>
                                          <p:attrName>style.visibility</p:attrName>
                                        </p:attrNameLst>
                                      </p:cBhvr>
                                      <p:to>
                                        <p:strVal val="visible"/>
                                      </p:to>
                                    </p:set>
                                    <p:animEffect transition="in" filter="fade">
                                      <p:cBhvr>
                                        <p:cTn id="38" dur="1000"/>
                                        <p:tgtEl>
                                          <p:spTgt spid="8">
                                            <p:txEl>
                                              <p:pRg st="0" end="0"/>
                                            </p:txEl>
                                          </p:spTgt>
                                        </p:tgtEl>
                                      </p:cBhvr>
                                    </p:animEffect>
                                    <p:anim calcmode="lin" valueType="num">
                                      <p:cBhvr>
                                        <p:cTn id="39"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40"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8">
                                            <p:txEl>
                                              <p:pRg st="1" end="1"/>
                                            </p:txEl>
                                          </p:spTgt>
                                        </p:tgtEl>
                                        <p:attrNameLst>
                                          <p:attrName>style.visibility</p:attrName>
                                        </p:attrNameLst>
                                      </p:cBhvr>
                                      <p:to>
                                        <p:strVal val="visible"/>
                                      </p:to>
                                    </p:set>
                                    <p:animEffect transition="in" filter="fade">
                                      <p:cBhvr>
                                        <p:cTn id="45" dur="1000"/>
                                        <p:tgtEl>
                                          <p:spTgt spid="8">
                                            <p:txEl>
                                              <p:pRg st="1" end="1"/>
                                            </p:txEl>
                                          </p:spTgt>
                                        </p:tgtEl>
                                      </p:cBhvr>
                                    </p:animEffect>
                                    <p:anim calcmode="lin" valueType="num">
                                      <p:cBhvr>
                                        <p:cTn id="46"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47"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6"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solidFill>
                  <a:srgbClr val="133984"/>
                </a:solidFill>
              </a:rPr>
              <a:t>命令式程序设计语言</a:t>
            </a:r>
            <a:endParaRPr lang="zh-CN" altLang="en-US" dirty="0">
              <a:solidFill>
                <a:srgbClr val="133984"/>
              </a:solidFill>
            </a:endParaRPr>
          </a:p>
        </p:txBody>
      </p:sp>
      <p:sp>
        <p:nvSpPr>
          <p:cNvPr id="3" name="内容占位符 2"/>
          <p:cNvSpPr>
            <a:spLocks noGrp="1"/>
          </p:cNvSpPr>
          <p:nvPr>
            <p:ph idx="1"/>
          </p:nvPr>
        </p:nvSpPr>
        <p:spPr/>
        <p:txBody>
          <a:bodyPr/>
          <a:lstStyle/>
          <a:p>
            <a:r>
              <a:rPr lang="zh-CN" altLang="en-US" dirty="0">
                <a:solidFill>
                  <a:srgbClr val="133984"/>
                </a:solidFill>
              </a:rPr>
              <a:t>结构化程序设计语言</a:t>
            </a:r>
            <a:endParaRPr lang="en-US" altLang="zh-CN" dirty="0">
              <a:solidFill>
                <a:srgbClr val="133984"/>
              </a:solidFill>
            </a:endParaRPr>
          </a:p>
          <a:p>
            <a:endParaRPr lang="en-US" altLang="zh-CN" dirty="0">
              <a:solidFill>
                <a:srgbClr val="133984"/>
              </a:solidFill>
            </a:endParaRPr>
          </a:p>
          <a:p>
            <a:pPr marL="0" indent="0">
              <a:buNone/>
            </a:pPr>
            <a:endParaRPr lang="en-US" altLang="zh-CN" dirty="0">
              <a:solidFill>
                <a:srgbClr val="133984"/>
              </a:solidFill>
            </a:endParaRPr>
          </a:p>
          <a:p>
            <a:pPr marL="0" indent="0">
              <a:buNone/>
            </a:pPr>
            <a:endParaRPr lang="en-US" altLang="zh-CN" dirty="0">
              <a:solidFill>
                <a:srgbClr val="133984"/>
              </a:solidFill>
            </a:endParaRPr>
          </a:p>
          <a:p>
            <a:r>
              <a:rPr lang="zh-CN" altLang="en-US" dirty="0">
                <a:solidFill>
                  <a:srgbClr val="133984"/>
                </a:solidFill>
              </a:rPr>
              <a:t>面向对象程序设计语言</a:t>
            </a:r>
          </a:p>
        </p:txBody>
      </p:sp>
      <p:sp>
        <p:nvSpPr>
          <p:cNvPr id="4" name="矩形 3"/>
          <p:cNvSpPr/>
          <p:nvPr/>
        </p:nvSpPr>
        <p:spPr>
          <a:xfrm>
            <a:off x="5148064" y="1700808"/>
            <a:ext cx="4572000" cy="1754326"/>
          </a:xfrm>
          <a:prstGeom prst="rect">
            <a:avLst/>
          </a:prstGeom>
        </p:spPr>
        <p:txBody>
          <a:bodyPr>
            <a:spAutoFit/>
          </a:bodyPr>
          <a:lstStyle/>
          <a:p>
            <a:r>
              <a:rPr lang="en-US" altLang="zh-CN" dirty="0">
                <a:solidFill>
                  <a:srgbClr val="133984"/>
                </a:solidFill>
              </a:rPr>
              <a:t>FORTRAN</a:t>
            </a:r>
          </a:p>
          <a:p>
            <a:r>
              <a:rPr lang="en-US" altLang="zh-CN" dirty="0">
                <a:solidFill>
                  <a:srgbClr val="133984"/>
                </a:solidFill>
              </a:rPr>
              <a:t>ALGOL</a:t>
            </a:r>
          </a:p>
          <a:p>
            <a:r>
              <a:rPr lang="en-US" altLang="zh-CN" dirty="0">
                <a:solidFill>
                  <a:srgbClr val="133984"/>
                </a:solidFill>
              </a:rPr>
              <a:t>COBOL</a:t>
            </a:r>
          </a:p>
          <a:p>
            <a:r>
              <a:rPr lang="en-US" altLang="zh-CN" dirty="0">
                <a:solidFill>
                  <a:srgbClr val="133984"/>
                </a:solidFill>
              </a:rPr>
              <a:t>PASCAL</a:t>
            </a:r>
          </a:p>
          <a:p>
            <a:r>
              <a:rPr lang="en-US" altLang="zh-CN" dirty="0">
                <a:solidFill>
                  <a:srgbClr val="133984"/>
                </a:solidFill>
              </a:rPr>
              <a:t>BASIC</a:t>
            </a:r>
          </a:p>
          <a:p>
            <a:r>
              <a:rPr lang="en-US" altLang="zh-CN" dirty="0">
                <a:solidFill>
                  <a:srgbClr val="133984"/>
                </a:solidFill>
              </a:rPr>
              <a:t>C</a:t>
            </a:r>
          </a:p>
        </p:txBody>
      </p:sp>
      <p:sp>
        <p:nvSpPr>
          <p:cNvPr id="5" name="矩形 4"/>
          <p:cNvSpPr/>
          <p:nvPr/>
        </p:nvSpPr>
        <p:spPr>
          <a:xfrm>
            <a:off x="5148064" y="3975157"/>
            <a:ext cx="4572000" cy="1754326"/>
          </a:xfrm>
          <a:prstGeom prst="rect">
            <a:avLst/>
          </a:prstGeom>
        </p:spPr>
        <p:txBody>
          <a:bodyPr>
            <a:spAutoFit/>
          </a:bodyPr>
          <a:lstStyle/>
          <a:p>
            <a:r>
              <a:rPr lang="en-US" altLang="zh-CN" dirty="0">
                <a:solidFill>
                  <a:srgbClr val="133984"/>
                </a:solidFill>
              </a:rPr>
              <a:t>Visual Basic</a:t>
            </a:r>
            <a:endParaRPr lang="zh-CN" altLang="zh-CN" dirty="0">
              <a:solidFill>
                <a:srgbClr val="133984"/>
              </a:solidFill>
            </a:endParaRPr>
          </a:p>
          <a:p>
            <a:r>
              <a:rPr lang="en-US" altLang="zh-CN" dirty="0">
                <a:solidFill>
                  <a:srgbClr val="133984"/>
                </a:solidFill>
              </a:rPr>
              <a:t>C++</a:t>
            </a:r>
            <a:endParaRPr lang="zh-CN" altLang="zh-CN" dirty="0">
              <a:solidFill>
                <a:srgbClr val="133984"/>
              </a:solidFill>
            </a:endParaRPr>
          </a:p>
          <a:p>
            <a:r>
              <a:rPr lang="en-US" altLang="zh-CN" dirty="0">
                <a:solidFill>
                  <a:srgbClr val="133984"/>
                </a:solidFill>
              </a:rPr>
              <a:t>Java</a:t>
            </a:r>
            <a:endParaRPr lang="zh-CN" altLang="zh-CN" dirty="0">
              <a:solidFill>
                <a:srgbClr val="133984"/>
              </a:solidFill>
            </a:endParaRPr>
          </a:p>
          <a:p>
            <a:r>
              <a:rPr lang="en-US" altLang="zh-CN" dirty="0">
                <a:solidFill>
                  <a:srgbClr val="133984"/>
                </a:solidFill>
              </a:rPr>
              <a:t>Delphi</a:t>
            </a:r>
            <a:endParaRPr lang="zh-CN" altLang="zh-CN" dirty="0">
              <a:solidFill>
                <a:srgbClr val="133984"/>
              </a:solidFill>
            </a:endParaRPr>
          </a:p>
          <a:p>
            <a:r>
              <a:rPr lang="en-US" altLang="zh-CN" dirty="0">
                <a:solidFill>
                  <a:srgbClr val="133984"/>
                </a:solidFill>
              </a:rPr>
              <a:t>C#</a:t>
            </a:r>
            <a:endParaRPr lang="zh-CN" altLang="zh-CN" dirty="0">
              <a:solidFill>
                <a:srgbClr val="133984"/>
              </a:solidFill>
            </a:endParaRPr>
          </a:p>
          <a:p>
            <a:r>
              <a:rPr lang="en-US" altLang="zh-CN" dirty="0">
                <a:solidFill>
                  <a:srgbClr val="133984"/>
                </a:solidFill>
              </a:rPr>
              <a:t>Python</a:t>
            </a:r>
            <a:endParaRPr lang="zh-CN" altLang="zh-CN" dirty="0">
              <a:solidFill>
                <a:srgbClr val="133984"/>
              </a:solidFill>
            </a:endParaRPr>
          </a:p>
        </p:txBody>
      </p:sp>
    </p:spTree>
    <p:extLst>
      <p:ext uri="{BB962C8B-B14F-4D97-AF65-F5344CB8AC3E}">
        <p14:creationId xmlns:p14="http://schemas.microsoft.com/office/powerpoint/2010/main" val="326812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468313" y="404813"/>
            <a:ext cx="8229600" cy="633412"/>
          </a:xfrm>
        </p:spPr>
        <p:txBody>
          <a:bodyPr/>
          <a:lstStyle/>
          <a:p>
            <a:r>
              <a:rPr lang="zh-CN" altLang="zh-CN" b="1" dirty="0">
                <a:solidFill>
                  <a:srgbClr val="133984"/>
                </a:solidFill>
              </a:rPr>
              <a:t>结构化程序设计</a:t>
            </a:r>
            <a:r>
              <a:rPr lang="zh-CN" altLang="en-US" b="1" dirty="0">
                <a:solidFill>
                  <a:srgbClr val="133984"/>
                </a:solidFill>
              </a:rPr>
              <a:t>语言</a:t>
            </a:r>
          </a:p>
        </p:txBody>
      </p:sp>
      <p:sp>
        <p:nvSpPr>
          <p:cNvPr id="6" name="矩形 5"/>
          <p:cNvSpPr/>
          <p:nvPr/>
        </p:nvSpPr>
        <p:spPr>
          <a:xfrm>
            <a:off x="720974" y="1916832"/>
            <a:ext cx="7286676" cy="1754326"/>
          </a:xfrm>
          <a:prstGeom prst="rect">
            <a:avLst/>
          </a:prstGeom>
        </p:spPr>
        <p:txBody>
          <a:bodyPr wrap="square">
            <a:spAutoFit/>
          </a:bodyPr>
          <a:lstStyle/>
          <a:p>
            <a:r>
              <a:rPr lang="en-US" altLang="zh-CN" dirty="0">
                <a:solidFill>
                  <a:srgbClr val="133984"/>
                </a:solidFill>
              </a:rPr>
              <a:t>Rome is not built in a day</a:t>
            </a:r>
            <a:r>
              <a:rPr lang="zh-CN" altLang="en-US" dirty="0">
                <a:solidFill>
                  <a:srgbClr val="133984"/>
                </a:solidFill>
              </a:rPr>
              <a:t>，结构化程序设计思想的确立先后有包括意大利计算机学家</a:t>
            </a:r>
            <a:r>
              <a:rPr lang="zh-CN" altLang="en-US" b="1" dirty="0">
                <a:solidFill>
                  <a:srgbClr val="133984"/>
                </a:solidFill>
              </a:rPr>
              <a:t>科拉多</a:t>
            </a:r>
            <a:r>
              <a:rPr lang="en-US" altLang="zh-CN" b="1" dirty="0">
                <a:solidFill>
                  <a:srgbClr val="133984"/>
                </a:solidFill>
              </a:rPr>
              <a:t>·</a:t>
            </a:r>
            <a:r>
              <a:rPr lang="zh-CN" altLang="en-US" b="1" dirty="0">
                <a:solidFill>
                  <a:srgbClr val="133984"/>
                </a:solidFill>
              </a:rPr>
              <a:t>鲍姆（</a:t>
            </a:r>
            <a:r>
              <a:rPr lang="en-US" altLang="en-US" b="1" dirty="0" err="1">
                <a:solidFill>
                  <a:srgbClr val="133984"/>
                </a:solidFill>
              </a:rPr>
              <a:t>Corrado</a:t>
            </a:r>
            <a:r>
              <a:rPr lang="en-US" altLang="en-US" b="1" dirty="0">
                <a:solidFill>
                  <a:srgbClr val="133984"/>
                </a:solidFill>
              </a:rPr>
              <a:t> </a:t>
            </a:r>
            <a:r>
              <a:rPr lang="en-US" altLang="en-US" b="1" dirty="0" err="1">
                <a:solidFill>
                  <a:srgbClr val="133984"/>
                </a:solidFill>
              </a:rPr>
              <a:t>Böhm</a:t>
            </a:r>
            <a:r>
              <a:rPr lang="zh-CN" altLang="en-US" b="1" dirty="0">
                <a:solidFill>
                  <a:srgbClr val="133984"/>
                </a:solidFill>
              </a:rPr>
              <a:t>）</a:t>
            </a:r>
            <a:r>
              <a:rPr lang="zh-CN" altLang="en-US" dirty="0">
                <a:solidFill>
                  <a:srgbClr val="133984"/>
                </a:solidFill>
              </a:rPr>
              <a:t>和</a:t>
            </a:r>
            <a:r>
              <a:rPr lang="zh-CN" altLang="en-US" b="1" dirty="0">
                <a:solidFill>
                  <a:srgbClr val="133984"/>
                </a:solidFill>
              </a:rPr>
              <a:t>朱塞佩</a:t>
            </a:r>
            <a:r>
              <a:rPr lang="en-US" altLang="zh-CN" b="1" dirty="0">
                <a:solidFill>
                  <a:srgbClr val="133984"/>
                </a:solidFill>
              </a:rPr>
              <a:t>·</a:t>
            </a:r>
            <a:r>
              <a:rPr lang="zh-CN" altLang="en-US" b="1" dirty="0">
                <a:solidFill>
                  <a:srgbClr val="133984"/>
                </a:solidFill>
              </a:rPr>
              <a:t>贾可皮尼（</a:t>
            </a:r>
            <a:r>
              <a:rPr lang="en-US" altLang="en-US" b="1" dirty="0">
                <a:solidFill>
                  <a:srgbClr val="133984"/>
                </a:solidFill>
              </a:rPr>
              <a:t>Giuseppe </a:t>
            </a:r>
            <a:r>
              <a:rPr lang="en-US" altLang="en-US" b="1" dirty="0" err="1">
                <a:solidFill>
                  <a:srgbClr val="133984"/>
                </a:solidFill>
              </a:rPr>
              <a:t>Jacopini</a:t>
            </a:r>
            <a:r>
              <a:rPr lang="zh-CN" altLang="en-US" b="1" dirty="0">
                <a:solidFill>
                  <a:srgbClr val="133984"/>
                </a:solidFill>
              </a:rPr>
              <a:t>）</a:t>
            </a:r>
            <a:r>
              <a:rPr lang="zh-CN" altLang="en-US" dirty="0">
                <a:solidFill>
                  <a:srgbClr val="133984"/>
                </a:solidFill>
              </a:rPr>
              <a:t>、荷兰计算机学家</a:t>
            </a:r>
            <a:r>
              <a:rPr lang="zh-CN" altLang="en-US" b="1" dirty="0">
                <a:solidFill>
                  <a:srgbClr val="133984"/>
                </a:solidFill>
              </a:rPr>
              <a:t>迪杰斯特拉（</a:t>
            </a:r>
            <a:r>
              <a:rPr lang="en-US" altLang="en-US" b="1" dirty="0" err="1">
                <a:solidFill>
                  <a:srgbClr val="133984"/>
                </a:solidFill>
              </a:rPr>
              <a:t>Edsger</a:t>
            </a:r>
            <a:r>
              <a:rPr lang="en-US" altLang="en-US" b="1" dirty="0">
                <a:solidFill>
                  <a:srgbClr val="133984"/>
                </a:solidFill>
              </a:rPr>
              <a:t> </a:t>
            </a:r>
            <a:r>
              <a:rPr lang="en-US" altLang="en-US" b="1" dirty="0" err="1">
                <a:solidFill>
                  <a:srgbClr val="133984"/>
                </a:solidFill>
              </a:rPr>
              <a:t>Wybe</a:t>
            </a:r>
            <a:r>
              <a:rPr lang="en-US" altLang="en-US" b="1" dirty="0">
                <a:solidFill>
                  <a:srgbClr val="133984"/>
                </a:solidFill>
              </a:rPr>
              <a:t> </a:t>
            </a:r>
            <a:r>
              <a:rPr lang="en-US" altLang="en-US" b="1" dirty="0" err="1">
                <a:solidFill>
                  <a:srgbClr val="133984"/>
                </a:solidFill>
              </a:rPr>
              <a:t>Dijkstra</a:t>
            </a:r>
            <a:r>
              <a:rPr lang="zh-CN" altLang="en-US" b="1" dirty="0">
                <a:solidFill>
                  <a:srgbClr val="133984"/>
                </a:solidFill>
              </a:rPr>
              <a:t>）</a:t>
            </a:r>
            <a:r>
              <a:rPr lang="zh-CN" altLang="en-US" dirty="0">
                <a:solidFill>
                  <a:srgbClr val="133984"/>
                </a:solidFill>
              </a:rPr>
              <a:t>、美国计算机学家</a:t>
            </a:r>
            <a:r>
              <a:rPr lang="zh-CN" altLang="en-US" b="1" dirty="0">
                <a:solidFill>
                  <a:srgbClr val="133984"/>
                </a:solidFill>
              </a:rPr>
              <a:t>罗伯特</a:t>
            </a:r>
            <a:r>
              <a:rPr lang="en-US" altLang="zh-CN" b="1" dirty="0">
                <a:solidFill>
                  <a:srgbClr val="133984"/>
                </a:solidFill>
              </a:rPr>
              <a:t>·</a:t>
            </a:r>
            <a:r>
              <a:rPr lang="zh-CN" altLang="en-US" b="1" dirty="0">
                <a:solidFill>
                  <a:srgbClr val="133984"/>
                </a:solidFill>
              </a:rPr>
              <a:t>弗洛伊德（</a:t>
            </a:r>
            <a:r>
              <a:rPr lang="en-US" altLang="zh-CN" b="1" dirty="0">
                <a:solidFill>
                  <a:srgbClr val="133984"/>
                </a:solidFill>
              </a:rPr>
              <a:t>Robert W Floyd</a:t>
            </a:r>
            <a:r>
              <a:rPr lang="zh-CN" altLang="en-US" b="1" dirty="0">
                <a:solidFill>
                  <a:srgbClr val="133984"/>
                </a:solidFill>
              </a:rPr>
              <a:t>）</a:t>
            </a:r>
            <a:r>
              <a:rPr lang="zh-CN" altLang="en-US" dirty="0">
                <a:solidFill>
                  <a:srgbClr val="133984"/>
                </a:solidFill>
              </a:rPr>
              <a:t>、英国计算机学家</a:t>
            </a:r>
            <a:r>
              <a:rPr lang="zh-CN" altLang="en-US" b="1" dirty="0">
                <a:solidFill>
                  <a:srgbClr val="133984"/>
                </a:solidFill>
              </a:rPr>
              <a:t>东尼</a:t>
            </a:r>
            <a:r>
              <a:rPr lang="en-US" altLang="zh-CN" b="1" dirty="0">
                <a:solidFill>
                  <a:srgbClr val="133984"/>
                </a:solidFill>
              </a:rPr>
              <a:t>·</a:t>
            </a:r>
            <a:r>
              <a:rPr lang="zh-CN" altLang="en-US" b="1" dirty="0">
                <a:solidFill>
                  <a:srgbClr val="133984"/>
                </a:solidFill>
              </a:rPr>
              <a:t>霍尔（</a:t>
            </a:r>
            <a:r>
              <a:rPr lang="en-US" altLang="zh-CN" b="1" dirty="0">
                <a:solidFill>
                  <a:srgbClr val="133984"/>
                </a:solidFill>
              </a:rPr>
              <a:t>Sir Charles Antony Richard Hoare</a:t>
            </a:r>
            <a:r>
              <a:rPr lang="zh-CN" altLang="en-US" b="1" dirty="0">
                <a:solidFill>
                  <a:srgbClr val="133984"/>
                </a:solidFill>
              </a:rPr>
              <a:t>）</a:t>
            </a:r>
            <a:r>
              <a:rPr lang="zh-CN" altLang="en-US" dirty="0">
                <a:solidFill>
                  <a:srgbClr val="133984"/>
                </a:solidFill>
              </a:rPr>
              <a:t>等诸多计算机科学家的贡献。</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solidFill>
                  <a:srgbClr val="133984"/>
                </a:solidFill>
              </a:rPr>
              <a:t>结构化程序设计</a:t>
            </a:r>
            <a:r>
              <a:rPr lang="zh-CN" altLang="en-US" b="1" dirty="0">
                <a:solidFill>
                  <a:srgbClr val="133984"/>
                </a:solidFill>
              </a:rPr>
              <a:t>语言</a:t>
            </a:r>
          </a:p>
        </p:txBody>
      </p:sp>
      <p:grpSp>
        <p:nvGrpSpPr>
          <p:cNvPr id="9" name="组合 8"/>
          <p:cNvGrpSpPr/>
          <p:nvPr/>
        </p:nvGrpSpPr>
        <p:grpSpPr>
          <a:xfrm>
            <a:off x="716540" y="1993850"/>
            <a:ext cx="2353699" cy="3069558"/>
            <a:chOff x="274085" y="1238250"/>
            <a:chExt cx="2353699" cy="3069558"/>
          </a:xfrm>
        </p:grpSpPr>
        <p:pic>
          <p:nvPicPr>
            <p:cNvPr id="4" name="图片 3" descr="Edsger_Wybe_Dijkstra.jpg"/>
            <p:cNvPicPr/>
            <p:nvPr/>
          </p:nvPicPr>
          <p:blipFill>
            <a:blip r:embed="rId2" cstate="print"/>
            <a:stretch>
              <a:fillRect/>
            </a:stretch>
          </p:blipFill>
          <p:spPr>
            <a:xfrm>
              <a:off x="539552" y="1238250"/>
              <a:ext cx="1642745" cy="2190750"/>
            </a:xfrm>
            <a:prstGeom prst="rect">
              <a:avLst/>
            </a:prstGeom>
          </p:spPr>
        </p:pic>
        <p:sp>
          <p:nvSpPr>
            <p:cNvPr id="5" name="矩形 4"/>
            <p:cNvSpPr/>
            <p:nvPr/>
          </p:nvSpPr>
          <p:spPr>
            <a:xfrm>
              <a:off x="274085" y="3661477"/>
              <a:ext cx="2353699" cy="646331"/>
            </a:xfrm>
            <a:prstGeom prst="rect">
              <a:avLst/>
            </a:prstGeom>
          </p:spPr>
          <p:txBody>
            <a:bodyPr wrap="square">
              <a:spAutoFit/>
            </a:bodyPr>
            <a:lstStyle/>
            <a:p>
              <a:pPr algn="ctr"/>
              <a:r>
                <a:rPr lang="zh-CN" altLang="zh-CN" dirty="0">
                  <a:solidFill>
                    <a:srgbClr val="133984"/>
                  </a:solidFill>
                </a:rPr>
                <a:t>艾兹格·迪杰斯特拉</a:t>
              </a:r>
              <a:endParaRPr lang="en-US" altLang="zh-CN" dirty="0">
                <a:solidFill>
                  <a:srgbClr val="133984"/>
                </a:solidFill>
              </a:endParaRPr>
            </a:p>
            <a:p>
              <a:pPr algn="ctr"/>
              <a:r>
                <a:rPr lang="en-US" altLang="zh-CN" dirty="0">
                  <a:solidFill>
                    <a:srgbClr val="133984"/>
                  </a:solidFill>
                </a:rPr>
                <a:t>(</a:t>
              </a:r>
              <a:r>
                <a:rPr lang="en-US" altLang="zh-CN" dirty="0" err="1">
                  <a:solidFill>
                    <a:srgbClr val="133984"/>
                  </a:solidFill>
                </a:rPr>
                <a:t>Edsger</a:t>
              </a:r>
              <a:r>
                <a:rPr lang="en-US" altLang="zh-CN" dirty="0">
                  <a:solidFill>
                    <a:srgbClr val="133984"/>
                  </a:solidFill>
                </a:rPr>
                <a:t> </a:t>
              </a:r>
              <a:r>
                <a:rPr lang="en-US" altLang="zh-CN" dirty="0" err="1">
                  <a:solidFill>
                    <a:srgbClr val="133984"/>
                  </a:solidFill>
                </a:rPr>
                <a:t>Wybe</a:t>
              </a:r>
              <a:r>
                <a:rPr lang="en-US" altLang="zh-CN" dirty="0">
                  <a:solidFill>
                    <a:srgbClr val="133984"/>
                  </a:solidFill>
                </a:rPr>
                <a:t> </a:t>
              </a:r>
              <a:r>
                <a:rPr lang="en-US" altLang="zh-CN" dirty="0" err="1">
                  <a:solidFill>
                    <a:srgbClr val="133984"/>
                  </a:solidFill>
                </a:rPr>
                <a:t>Dijkstra</a:t>
              </a:r>
              <a:r>
                <a:rPr lang="en-US" altLang="zh-CN" dirty="0">
                  <a:solidFill>
                    <a:srgbClr val="133984"/>
                  </a:solidFill>
                </a:rPr>
                <a:t>)</a:t>
              </a:r>
            </a:p>
          </p:txBody>
        </p:sp>
      </p:grpSp>
      <p:sp>
        <p:nvSpPr>
          <p:cNvPr id="7" name="矩形 6"/>
          <p:cNvSpPr/>
          <p:nvPr/>
        </p:nvSpPr>
        <p:spPr>
          <a:xfrm>
            <a:off x="3786182" y="1714488"/>
            <a:ext cx="4572000" cy="646331"/>
          </a:xfrm>
          <a:prstGeom prst="rect">
            <a:avLst/>
          </a:prstGeom>
        </p:spPr>
        <p:txBody>
          <a:bodyPr>
            <a:spAutoFit/>
          </a:bodyPr>
          <a:lstStyle/>
          <a:p>
            <a:r>
              <a:rPr lang="en-US" dirty="0">
                <a:solidFill>
                  <a:srgbClr val="133984"/>
                </a:solidFill>
              </a:rPr>
              <a:t>1968</a:t>
            </a:r>
            <a:r>
              <a:rPr lang="zh-CN" altLang="en-US" dirty="0">
                <a:solidFill>
                  <a:srgbClr val="133984"/>
                </a:solidFill>
              </a:rPr>
              <a:t>年</a:t>
            </a:r>
            <a:r>
              <a:rPr lang="en-US" dirty="0">
                <a:solidFill>
                  <a:srgbClr val="133984"/>
                </a:solidFill>
              </a:rPr>
              <a:t>3</a:t>
            </a:r>
            <a:r>
              <a:rPr lang="zh-CN" altLang="en-US" dirty="0">
                <a:solidFill>
                  <a:srgbClr val="133984"/>
                </a:solidFill>
              </a:rPr>
              <a:t>月在</a:t>
            </a:r>
            <a:r>
              <a:rPr lang="en-US" altLang="zh-CN" dirty="0">
                <a:solidFill>
                  <a:srgbClr val="133984"/>
                </a:solidFill>
              </a:rPr>
              <a:t>《</a:t>
            </a:r>
            <a:r>
              <a:rPr lang="en-US" dirty="0">
                <a:solidFill>
                  <a:srgbClr val="133984"/>
                </a:solidFill>
              </a:rPr>
              <a:t>ACM</a:t>
            </a:r>
            <a:r>
              <a:rPr lang="zh-CN" altLang="en-US" dirty="0">
                <a:solidFill>
                  <a:srgbClr val="133984"/>
                </a:solidFill>
              </a:rPr>
              <a:t>通讯</a:t>
            </a:r>
            <a:r>
              <a:rPr lang="en-US" altLang="zh-CN" dirty="0">
                <a:solidFill>
                  <a:srgbClr val="133984"/>
                </a:solidFill>
              </a:rPr>
              <a:t>》</a:t>
            </a:r>
            <a:r>
              <a:rPr lang="zh-CN" altLang="en-US" dirty="0">
                <a:solidFill>
                  <a:srgbClr val="133984"/>
                </a:solidFill>
              </a:rPr>
              <a:t>上发表了著名的论文“</a:t>
            </a:r>
            <a:r>
              <a:rPr lang="en-US" dirty="0">
                <a:solidFill>
                  <a:srgbClr val="133984"/>
                </a:solidFill>
              </a:rPr>
              <a:t>Go To Statement Considered Harmful</a:t>
            </a:r>
            <a:r>
              <a:rPr lang="zh-CN" altLang="en-US" dirty="0">
                <a:solidFill>
                  <a:srgbClr val="133984"/>
                </a:solidFill>
              </a:rPr>
              <a:t>”</a:t>
            </a:r>
          </a:p>
        </p:txBody>
      </p:sp>
      <p:sp>
        <p:nvSpPr>
          <p:cNvPr id="8" name="矩形 7"/>
          <p:cNvSpPr/>
          <p:nvPr/>
        </p:nvSpPr>
        <p:spPr>
          <a:xfrm>
            <a:off x="3786182" y="3999934"/>
            <a:ext cx="1576072" cy="369332"/>
          </a:xfrm>
          <a:prstGeom prst="rect">
            <a:avLst/>
          </a:prstGeom>
        </p:spPr>
        <p:txBody>
          <a:bodyPr wrap="none">
            <a:spAutoFit/>
          </a:bodyPr>
          <a:lstStyle/>
          <a:p>
            <a:r>
              <a:rPr lang="en-US" dirty="0">
                <a:solidFill>
                  <a:srgbClr val="133984"/>
                </a:solidFill>
              </a:rPr>
              <a:t>1972</a:t>
            </a:r>
            <a:r>
              <a:rPr lang="zh-CN" altLang="en-US" dirty="0">
                <a:solidFill>
                  <a:srgbClr val="133984"/>
                </a:solidFill>
              </a:rPr>
              <a:t>年图灵奖</a:t>
            </a:r>
          </a:p>
        </p:txBody>
      </p:sp>
      <p:sp>
        <p:nvSpPr>
          <p:cNvPr id="10" name="矩形 9"/>
          <p:cNvSpPr/>
          <p:nvPr/>
        </p:nvSpPr>
        <p:spPr>
          <a:xfrm>
            <a:off x="3786182" y="3000372"/>
            <a:ext cx="2954655" cy="369332"/>
          </a:xfrm>
          <a:prstGeom prst="rect">
            <a:avLst/>
          </a:prstGeom>
        </p:spPr>
        <p:txBody>
          <a:bodyPr wrap="none">
            <a:spAutoFit/>
          </a:bodyPr>
          <a:lstStyle/>
          <a:p>
            <a:r>
              <a:rPr lang="zh-CN" altLang="en-US" dirty="0">
                <a:solidFill>
                  <a:srgbClr val="133984"/>
                </a:solidFill>
              </a:rPr>
              <a:t>最短路径算法和银行家算法</a:t>
            </a:r>
          </a:p>
        </p:txBody>
      </p:sp>
    </p:spTree>
    <p:extLst>
      <p:ext uri="{BB962C8B-B14F-4D97-AF65-F5344CB8AC3E}">
        <p14:creationId xmlns:p14="http://schemas.microsoft.com/office/powerpoint/2010/main" val="2964359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p:txBody>
          <a:bodyPr/>
          <a:lstStyle/>
          <a:p>
            <a:r>
              <a:rPr lang="zh-CN" altLang="zh-CN" b="1" dirty="0">
                <a:solidFill>
                  <a:srgbClr val="133984"/>
                </a:solidFill>
              </a:rPr>
              <a:t>结构化程序设计</a:t>
            </a:r>
            <a:r>
              <a:rPr lang="zh-CN" altLang="en-US" b="1" dirty="0">
                <a:solidFill>
                  <a:srgbClr val="133984"/>
                </a:solidFill>
              </a:rPr>
              <a:t>语言</a:t>
            </a:r>
          </a:p>
        </p:txBody>
      </p:sp>
      <p:grpSp>
        <p:nvGrpSpPr>
          <p:cNvPr id="6" name="组合 5"/>
          <p:cNvGrpSpPr/>
          <p:nvPr/>
        </p:nvGrpSpPr>
        <p:grpSpPr>
          <a:xfrm>
            <a:off x="624816" y="2035448"/>
            <a:ext cx="2317750" cy="3069558"/>
            <a:chOff x="2915816" y="1238250"/>
            <a:chExt cx="2317750" cy="3069558"/>
          </a:xfrm>
        </p:grpSpPr>
        <p:pic>
          <p:nvPicPr>
            <p:cNvPr id="7" name="图片 6" descr="Robert Bob W Floyd.jpg"/>
            <p:cNvPicPr/>
            <p:nvPr/>
          </p:nvPicPr>
          <p:blipFill>
            <a:blip r:embed="rId2"/>
            <a:stretch>
              <a:fillRect/>
            </a:stretch>
          </p:blipFill>
          <p:spPr>
            <a:xfrm>
              <a:off x="2915816" y="1238250"/>
              <a:ext cx="2317750" cy="2190750"/>
            </a:xfrm>
            <a:prstGeom prst="rect">
              <a:avLst/>
            </a:prstGeom>
          </p:spPr>
        </p:pic>
        <p:sp>
          <p:nvSpPr>
            <p:cNvPr id="8" name="矩形 7"/>
            <p:cNvSpPr/>
            <p:nvPr/>
          </p:nvSpPr>
          <p:spPr>
            <a:xfrm>
              <a:off x="3091300" y="3661477"/>
              <a:ext cx="1966781" cy="646331"/>
            </a:xfrm>
            <a:prstGeom prst="rect">
              <a:avLst/>
            </a:prstGeom>
          </p:spPr>
          <p:txBody>
            <a:bodyPr wrap="square">
              <a:spAutoFit/>
            </a:bodyPr>
            <a:lstStyle/>
            <a:p>
              <a:pPr algn="ctr"/>
              <a:r>
                <a:rPr lang="zh-CN" altLang="zh-CN" dirty="0">
                  <a:solidFill>
                    <a:srgbClr val="133984"/>
                  </a:solidFill>
                </a:rPr>
                <a:t>罗伯特•弗洛伊德</a:t>
              </a:r>
              <a:endParaRPr lang="en-US" altLang="zh-CN" dirty="0">
                <a:solidFill>
                  <a:srgbClr val="133984"/>
                </a:solidFill>
              </a:endParaRPr>
            </a:p>
            <a:p>
              <a:pPr algn="ctr"/>
              <a:r>
                <a:rPr lang="en-US" altLang="zh-CN" dirty="0">
                  <a:solidFill>
                    <a:srgbClr val="133984"/>
                  </a:solidFill>
                </a:rPr>
                <a:t>(Robert W Floyd)</a:t>
              </a:r>
              <a:endParaRPr lang="zh-CN" altLang="zh-CN" dirty="0">
                <a:solidFill>
                  <a:srgbClr val="133984"/>
                </a:solidFill>
              </a:endParaRPr>
            </a:p>
          </p:txBody>
        </p:sp>
      </p:grpSp>
      <p:sp>
        <p:nvSpPr>
          <p:cNvPr id="9" name="矩形 8"/>
          <p:cNvSpPr/>
          <p:nvPr/>
        </p:nvSpPr>
        <p:spPr>
          <a:xfrm>
            <a:off x="4214810" y="2000240"/>
            <a:ext cx="1569660" cy="369332"/>
          </a:xfrm>
          <a:prstGeom prst="rect">
            <a:avLst/>
          </a:prstGeom>
        </p:spPr>
        <p:txBody>
          <a:bodyPr wrap="none">
            <a:spAutoFit/>
          </a:bodyPr>
          <a:lstStyle/>
          <a:p>
            <a:r>
              <a:rPr lang="zh-CN" altLang="en-US" dirty="0">
                <a:solidFill>
                  <a:srgbClr val="133984"/>
                </a:solidFill>
              </a:rPr>
              <a:t>弗洛伊德算法</a:t>
            </a:r>
          </a:p>
        </p:txBody>
      </p:sp>
      <p:sp>
        <p:nvSpPr>
          <p:cNvPr id="10" name="矩形 9"/>
          <p:cNvSpPr/>
          <p:nvPr/>
        </p:nvSpPr>
        <p:spPr>
          <a:xfrm>
            <a:off x="4214809" y="2504155"/>
            <a:ext cx="4108817" cy="369332"/>
          </a:xfrm>
          <a:prstGeom prst="rect">
            <a:avLst/>
          </a:prstGeom>
        </p:spPr>
        <p:txBody>
          <a:bodyPr wrap="none">
            <a:spAutoFit/>
          </a:bodyPr>
          <a:lstStyle/>
          <a:p>
            <a:r>
              <a:rPr lang="zh-CN" altLang="en-US" dirty="0">
                <a:solidFill>
                  <a:srgbClr val="133984"/>
                </a:solidFill>
              </a:rPr>
              <a:t>开创性地在程序验证中使用了逻辑断言</a:t>
            </a:r>
          </a:p>
        </p:txBody>
      </p:sp>
      <p:sp>
        <p:nvSpPr>
          <p:cNvPr id="11" name="矩形 10"/>
          <p:cNvSpPr/>
          <p:nvPr/>
        </p:nvSpPr>
        <p:spPr>
          <a:xfrm>
            <a:off x="4214810" y="3786190"/>
            <a:ext cx="1576072" cy="369332"/>
          </a:xfrm>
          <a:prstGeom prst="rect">
            <a:avLst/>
          </a:prstGeom>
        </p:spPr>
        <p:txBody>
          <a:bodyPr wrap="none">
            <a:spAutoFit/>
          </a:bodyPr>
          <a:lstStyle/>
          <a:p>
            <a:r>
              <a:rPr lang="en-US" dirty="0">
                <a:solidFill>
                  <a:srgbClr val="133984"/>
                </a:solidFill>
              </a:rPr>
              <a:t>1978</a:t>
            </a:r>
            <a:r>
              <a:rPr lang="zh-CN" altLang="en-US" dirty="0">
                <a:solidFill>
                  <a:srgbClr val="133984"/>
                </a:solidFill>
              </a:rPr>
              <a:t>年图灵奖</a:t>
            </a:r>
          </a:p>
        </p:txBody>
      </p:sp>
      <p:sp>
        <p:nvSpPr>
          <p:cNvPr id="12" name="矩形 11"/>
          <p:cNvSpPr/>
          <p:nvPr/>
        </p:nvSpPr>
        <p:spPr>
          <a:xfrm>
            <a:off x="4214809" y="3000372"/>
            <a:ext cx="4572000" cy="646331"/>
          </a:xfrm>
          <a:prstGeom prst="rect">
            <a:avLst/>
          </a:prstGeom>
        </p:spPr>
        <p:txBody>
          <a:bodyPr>
            <a:spAutoFit/>
          </a:bodyPr>
          <a:lstStyle/>
          <a:p>
            <a:r>
              <a:rPr lang="zh-CN" altLang="en-US" dirty="0">
                <a:solidFill>
                  <a:srgbClr val="133984"/>
                </a:solidFill>
              </a:rPr>
              <a:t>威廉姆斯</a:t>
            </a:r>
            <a:r>
              <a:rPr lang="en-US" altLang="zh-CN" dirty="0">
                <a:solidFill>
                  <a:srgbClr val="133984"/>
                </a:solidFill>
              </a:rPr>
              <a:t>(J</a:t>
            </a:r>
            <a:r>
              <a:rPr lang="zh-CN" altLang="en-US" dirty="0">
                <a:solidFill>
                  <a:srgbClr val="133984"/>
                </a:solidFill>
              </a:rPr>
              <a:t>．</a:t>
            </a:r>
            <a:r>
              <a:rPr lang="en-US" altLang="zh-CN" dirty="0">
                <a:solidFill>
                  <a:srgbClr val="133984"/>
                </a:solidFill>
              </a:rPr>
              <a:t>Williams</a:t>
            </a:r>
            <a:r>
              <a:rPr lang="zh-CN" altLang="en-US" dirty="0">
                <a:solidFill>
                  <a:srgbClr val="133984"/>
                </a:solidFill>
              </a:rPr>
              <a:t>）在</a:t>
            </a:r>
            <a:r>
              <a:rPr lang="en-US" altLang="zh-CN" dirty="0">
                <a:solidFill>
                  <a:srgbClr val="133984"/>
                </a:solidFill>
              </a:rPr>
              <a:t>1964</a:t>
            </a:r>
            <a:r>
              <a:rPr lang="zh-CN" altLang="en-US" dirty="0">
                <a:solidFill>
                  <a:srgbClr val="133984"/>
                </a:solidFill>
              </a:rPr>
              <a:t>年共同发明了著名的堆排序算法</a:t>
            </a:r>
          </a:p>
        </p:txBody>
      </p:sp>
    </p:spTree>
    <p:extLst>
      <p:ext uri="{BB962C8B-B14F-4D97-AF65-F5344CB8AC3E}">
        <p14:creationId xmlns:p14="http://schemas.microsoft.com/office/powerpoint/2010/main" val="3993166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p:txBody>
          <a:bodyPr/>
          <a:lstStyle/>
          <a:p>
            <a:r>
              <a:rPr lang="zh-CN" altLang="zh-CN" b="1" dirty="0">
                <a:solidFill>
                  <a:srgbClr val="133984"/>
                </a:solidFill>
              </a:rPr>
              <a:t>结构化程序设计</a:t>
            </a:r>
            <a:r>
              <a:rPr lang="zh-CN" altLang="en-US" b="1" dirty="0">
                <a:solidFill>
                  <a:srgbClr val="133984"/>
                </a:solidFill>
              </a:rPr>
              <a:t>语言</a:t>
            </a:r>
          </a:p>
        </p:txBody>
      </p:sp>
      <p:grpSp>
        <p:nvGrpSpPr>
          <p:cNvPr id="8" name="组合 7"/>
          <p:cNvGrpSpPr/>
          <p:nvPr/>
        </p:nvGrpSpPr>
        <p:grpSpPr>
          <a:xfrm>
            <a:off x="298015" y="2132856"/>
            <a:ext cx="3424634" cy="3069558"/>
            <a:chOff x="5323210" y="1238250"/>
            <a:chExt cx="3424634" cy="3069558"/>
          </a:xfrm>
        </p:grpSpPr>
        <p:pic>
          <p:nvPicPr>
            <p:cNvPr id="9" name="图片 8" descr="Sir_Tony_Hoare_IMG_5125.jpg"/>
            <p:cNvPicPr/>
            <p:nvPr/>
          </p:nvPicPr>
          <p:blipFill>
            <a:blip r:embed="rId2" cstate="print"/>
            <a:stretch>
              <a:fillRect/>
            </a:stretch>
          </p:blipFill>
          <p:spPr>
            <a:xfrm>
              <a:off x="5940152" y="1238250"/>
              <a:ext cx="2190750" cy="2190750"/>
            </a:xfrm>
            <a:prstGeom prst="rect">
              <a:avLst/>
            </a:prstGeom>
          </p:spPr>
        </p:pic>
        <p:sp>
          <p:nvSpPr>
            <p:cNvPr id="10" name="矩形 9"/>
            <p:cNvSpPr/>
            <p:nvPr/>
          </p:nvSpPr>
          <p:spPr>
            <a:xfrm>
              <a:off x="5323210" y="3661477"/>
              <a:ext cx="3424634" cy="646331"/>
            </a:xfrm>
            <a:prstGeom prst="rect">
              <a:avLst/>
            </a:prstGeom>
          </p:spPr>
          <p:txBody>
            <a:bodyPr wrap="square">
              <a:spAutoFit/>
            </a:bodyPr>
            <a:lstStyle/>
            <a:p>
              <a:pPr algn="ctr"/>
              <a:r>
                <a:rPr lang="zh-CN" altLang="zh-CN" dirty="0">
                  <a:solidFill>
                    <a:srgbClr val="133984"/>
                  </a:solidFill>
                </a:rPr>
                <a:t>东尼•霍尔</a:t>
              </a:r>
              <a:endParaRPr lang="en-US" altLang="zh-CN" dirty="0">
                <a:solidFill>
                  <a:srgbClr val="133984"/>
                </a:solidFill>
              </a:endParaRPr>
            </a:p>
            <a:p>
              <a:pPr algn="ctr"/>
              <a:r>
                <a:rPr lang="en-US" altLang="zh-CN" dirty="0">
                  <a:solidFill>
                    <a:srgbClr val="133984"/>
                  </a:solidFill>
                </a:rPr>
                <a:t>(Sir Charles Antony Richard Hoare)</a:t>
              </a:r>
              <a:endParaRPr lang="zh-CN" altLang="zh-CN" dirty="0">
                <a:solidFill>
                  <a:srgbClr val="133984"/>
                </a:solidFill>
              </a:endParaRPr>
            </a:p>
          </p:txBody>
        </p:sp>
      </p:grpSp>
      <p:sp>
        <p:nvSpPr>
          <p:cNvPr id="6" name="矩形 5"/>
          <p:cNvSpPr/>
          <p:nvPr/>
        </p:nvSpPr>
        <p:spPr>
          <a:xfrm>
            <a:off x="4211960" y="3071810"/>
            <a:ext cx="1576072" cy="369332"/>
          </a:xfrm>
          <a:prstGeom prst="rect">
            <a:avLst/>
          </a:prstGeom>
        </p:spPr>
        <p:txBody>
          <a:bodyPr wrap="none">
            <a:spAutoFit/>
          </a:bodyPr>
          <a:lstStyle/>
          <a:p>
            <a:r>
              <a:rPr lang="en-US" dirty="0">
                <a:solidFill>
                  <a:srgbClr val="133984"/>
                </a:solidFill>
              </a:rPr>
              <a:t>1980</a:t>
            </a:r>
            <a:r>
              <a:rPr lang="zh-CN" altLang="en-US" dirty="0">
                <a:solidFill>
                  <a:srgbClr val="133984"/>
                </a:solidFill>
              </a:rPr>
              <a:t>年图灵奖</a:t>
            </a:r>
          </a:p>
        </p:txBody>
      </p:sp>
      <p:sp>
        <p:nvSpPr>
          <p:cNvPr id="12" name="矩形 11"/>
          <p:cNvSpPr/>
          <p:nvPr/>
        </p:nvSpPr>
        <p:spPr>
          <a:xfrm>
            <a:off x="4211960" y="2489641"/>
            <a:ext cx="4339650" cy="369332"/>
          </a:xfrm>
          <a:prstGeom prst="rect">
            <a:avLst/>
          </a:prstGeom>
        </p:spPr>
        <p:txBody>
          <a:bodyPr wrap="none">
            <a:spAutoFit/>
          </a:bodyPr>
          <a:lstStyle/>
          <a:p>
            <a:r>
              <a:rPr lang="zh-CN" altLang="en-US" dirty="0">
                <a:solidFill>
                  <a:srgbClr val="133984"/>
                </a:solidFill>
              </a:rPr>
              <a:t>快速排序算法、霍尔逻辑、交谈循序程式</a:t>
            </a:r>
          </a:p>
        </p:txBody>
      </p:sp>
    </p:spTree>
    <p:extLst>
      <p:ext uri="{BB962C8B-B14F-4D97-AF65-F5344CB8AC3E}">
        <p14:creationId xmlns:p14="http://schemas.microsoft.com/office/powerpoint/2010/main" val="3875705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468313" y="404813"/>
            <a:ext cx="8229600" cy="633412"/>
          </a:xfrm>
        </p:spPr>
        <p:txBody>
          <a:bodyPr/>
          <a:lstStyle/>
          <a:p>
            <a:r>
              <a:rPr lang="zh-CN" altLang="zh-CN" b="1" dirty="0">
                <a:solidFill>
                  <a:srgbClr val="133984"/>
                </a:solidFill>
              </a:rPr>
              <a:t>结构化程序设计</a:t>
            </a:r>
            <a:r>
              <a:rPr lang="zh-CN" altLang="en-US" b="1" dirty="0">
                <a:solidFill>
                  <a:srgbClr val="133984"/>
                </a:solidFill>
              </a:rPr>
              <a:t>语言</a:t>
            </a:r>
          </a:p>
        </p:txBody>
      </p:sp>
      <p:sp>
        <p:nvSpPr>
          <p:cNvPr id="2" name="矩形 1"/>
          <p:cNvSpPr/>
          <p:nvPr/>
        </p:nvSpPr>
        <p:spPr>
          <a:xfrm>
            <a:off x="615256" y="1397070"/>
            <a:ext cx="6044976" cy="400110"/>
          </a:xfrm>
          <a:prstGeom prst="rect">
            <a:avLst/>
          </a:prstGeom>
        </p:spPr>
        <p:txBody>
          <a:bodyPr wrap="square">
            <a:spAutoFit/>
          </a:bodyPr>
          <a:lstStyle/>
          <a:p>
            <a:r>
              <a:rPr lang="en-US" altLang="zh-CN" sz="2000" dirty="0">
                <a:solidFill>
                  <a:srgbClr val="133984"/>
                </a:solidFill>
              </a:rPr>
              <a:t> </a:t>
            </a:r>
            <a:r>
              <a:rPr lang="zh-CN" altLang="zh-CN" sz="2000" b="1" dirty="0">
                <a:solidFill>
                  <a:srgbClr val="133984"/>
                </a:solidFill>
              </a:rPr>
              <a:t>结构化程序定理（</a:t>
            </a:r>
            <a:r>
              <a:rPr lang="en-US" altLang="zh-CN" sz="2000" b="1" dirty="0">
                <a:solidFill>
                  <a:srgbClr val="133984"/>
                </a:solidFill>
              </a:rPr>
              <a:t>Structured Program Theorem</a:t>
            </a:r>
            <a:r>
              <a:rPr lang="zh-CN" altLang="zh-CN" sz="2000" b="1" dirty="0">
                <a:solidFill>
                  <a:srgbClr val="133984"/>
                </a:solidFill>
              </a:rPr>
              <a:t>）</a:t>
            </a:r>
            <a:r>
              <a:rPr lang="zh-CN" altLang="en-US" sz="2000" b="1" dirty="0">
                <a:solidFill>
                  <a:srgbClr val="133984"/>
                </a:solidFill>
              </a:rPr>
              <a:t>：</a:t>
            </a:r>
            <a:endParaRPr lang="en-US" altLang="zh-CN" sz="2000" dirty="0">
              <a:solidFill>
                <a:srgbClr val="133984"/>
              </a:solidFill>
            </a:endParaRPr>
          </a:p>
        </p:txBody>
      </p:sp>
      <p:sp>
        <p:nvSpPr>
          <p:cNvPr id="5" name="矩形 4"/>
          <p:cNvSpPr/>
          <p:nvPr/>
        </p:nvSpPr>
        <p:spPr>
          <a:xfrm>
            <a:off x="1979712" y="2276872"/>
            <a:ext cx="4901232" cy="707886"/>
          </a:xfrm>
          <a:prstGeom prst="rect">
            <a:avLst/>
          </a:prstGeom>
        </p:spPr>
        <p:txBody>
          <a:bodyPr wrap="square">
            <a:spAutoFit/>
          </a:bodyPr>
          <a:lstStyle/>
          <a:p>
            <a:r>
              <a:rPr lang="zh-CN" altLang="zh-CN" sz="2000" dirty="0">
                <a:solidFill>
                  <a:srgbClr val="133984"/>
                </a:solidFill>
              </a:rPr>
              <a:t>任何一个可计算的算法都可以只用顺序、分支选择和循环这三种基本结构来表达。</a:t>
            </a:r>
            <a:endParaRPr lang="zh-CN" altLang="en-US" sz="2000" dirty="0">
              <a:solidFill>
                <a:srgbClr val="133984"/>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133984"/>
                </a:solidFill>
              </a:rPr>
              <a:t>富有争议的</a:t>
            </a:r>
            <a:r>
              <a:rPr lang="en-US" altLang="zh-CN" dirty="0" err="1">
                <a:solidFill>
                  <a:srgbClr val="133984"/>
                </a:solidFill>
              </a:rPr>
              <a:t>goto</a:t>
            </a:r>
            <a:endParaRPr lang="zh-CN" altLang="en-US" dirty="0">
              <a:solidFill>
                <a:srgbClr val="133984"/>
              </a:solidFill>
            </a:endParaRPr>
          </a:p>
        </p:txBody>
      </p:sp>
      <p:grpSp>
        <p:nvGrpSpPr>
          <p:cNvPr id="3" name="组合 2"/>
          <p:cNvGrpSpPr/>
          <p:nvPr/>
        </p:nvGrpSpPr>
        <p:grpSpPr>
          <a:xfrm>
            <a:off x="925661" y="2564904"/>
            <a:ext cx="2238375" cy="3526651"/>
            <a:chOff x="3293187" y="1772816"/>
            <a:chExt cx="2238375" cy="3526651"/>
          </a:xfrm>
        </p:grpSpPr>
        <p:pic>
          <p:nvPicPr>
            <p:cNvPr id="4" name="图片 3" descr="Donald Knuth.jpg"/>
            <p:cNvPicPr/>
            <p:nvPr/>
          </p:nvPicPr>
          <p:blipFill>
            <a:blip r:embed="rId2"/>
            <a:stretch>
              <a:fillRect/>
            </a:stretch>
          </p:blipFill>
          <p:spPr>
            <a:xfrm>
              <a:off x="3293187" y="1772816"/>
              <a:ext cx="2238375" cy="2646680"/>
            </a:xfrm>
            <a:prstGeom prst="rect">
              <a:avLst/>
            </a:prstGeom>
          </p:spPr>
        </p:pic>
        <p:sp>
          <p:nvSpPr>
            <p:cNvPr id="5" name="矩形 4"/>
            <p:cNvSpPr/>
            <p:nvPr/>
          </p:nvSpPr>
          <p:spPr>
            <a:xfrm>
              <a:off x="3345806" y="4653136"/>
              <a:ext cx="2126374" cy="646331"/>
            </a:xfrm>
            <a:prstGeom prst="rect">
              <a:avLst/>
            </a:prstGeom>
          </p:spPr>
          <p:txBody>
            <a:bodyPr wrap="square">
              <a:spAutoFit/>
            </a:bodyPr>
            <a:lstStyle/>
            <a:p>
              <a:pPr algn="ctr"/>
              <a:r>
                <a:rPr lang="en-US" altLang="zh-CN" dirty="0">
                  <a:solidFill>
                    <a:srgbClr val="133984"/>
                  </a:solidFill>
                </a:rPr>
                <a:t> </a:t>
              </a:r>
              <a:r>
                <a:rPr lang="zh-CN" altLang="zh-CN" dirty="0">
                  <a:solidFill>
                    <a:srgbClr val="133984"/>
                  </a:solidFill>
                </a:rPr>
                <a:t>唐纳德•克努斯</a:t>
              </a:r>
              <a:endParaRPr lang="en-US" altLang="zh-CN" dirty="0">
                <a:solidFill>
                  <a:srgbClr val="133984"/>
                </a:solidFill>
              </a:endParaRPr>
            </a:p>
            <a:p>
              <a:pPr algn="ctr"/>
              <a:r>
                <a:rPr lang="en-US" altLang="zh-CN" dirty="0">
                  <a:solidFill>
                    <a:srgbClr val="133984"/>
                  </a:solidFill>
                </a:rPr>
                <a:t>(Donald Ervin Knuth)</a:t>
              </a:r>
              <a:endParaRPr lang="zh-CN" altLang="zh-CN" dirty="0">
                <a:solidFill>
                  <a:srgbClr val="133984"/>
                </a:solidFill>
              </a:endParaRPr>
            </a:p>
          </p:txBody>
        </p:sp>
      </p:grpSp>
      <p:sp>
        <p:nvSpPr>
          <p:cNvPr id="6" name="矩形 5"/>
          <p:cNvSpPr/>
          <p:nvPr/>
        </p:nvSpPr>
        <p:spPr>
          <a:xfrm>
            <a:off x="3949576" y="2564904"/>
            <a:ext cx="4968552" cy="1200329"/>
          </a:xfrm>
          <a:prstGeom prst="rect">
            <a:avLst/>
          </a:prstGeom>
        </p:spPr>
        <p:txBody>
          <a:bodyPr wrap="square">
            <a:spAutoFit/>
          </a:bodyPr>
          <a:lstStyle/>
          <a:p>
            <a:r>
              <a:rPr lang="en-US" altLang="zh-CN" dirty="0">
                <a:solidFill>
                  <a:srgbClr val="133984"/>
                </a:solidFill>
              </a:rPr>
              <a:t> </a:t>
            </a:r>
            <a:r>
              <a:rPr lang="zh-CN" altLang="zh-CN" dirty="0">
                <a:solidFill>
                  <a:srgbClr val="133984"/>
                </a:solidFill>
              </a:rPr>
              <a:t>唐纳德•克努斯在</a:t>
            </a:r>
            <a:r>
              <a:rPr lang="en-US" altLang="zh-CN" dirty="0">
                <a:solidFill>
                  <a:srgbClr val="133984"/>
                </a:solidFill>
              </a:rPr>
              <a:t>1974</a:t>
            </a:r>
            <a:r>
              <a:rPr lang="zh-CN" altLang="zh-CN" dirty="0">
                <a:solidFill>
                  <a:srgbClr val="133984"/>
                </a:solidFill>
              </a:rPr>
              <a:t>年发表的论文“</a:t>
            </a:r>
            <a:r>
              <a:rPr lang="en-US" altLang="zh-CN" dirty="0">
                <a:solidFill>
                  <a:srgbClr val="133984"/>
                </a:solidFill>
              </a:rPr>
              <a:t>Structured Programming with </a:t>
            </a:r>
            <a:r>
              <a:rPr lang="en-US" altLang="zh-CN" dirty="0" err="1">
                <a:solidFill>
                  <a:srgbClr val="133984"/>
                </a:solidFill>
              </a:rPr>
              <a:t>Goto</a:t>
            </a:r>
            <a:r>
              <a:rPr lang="en-US" altLang="zh-CN" dirty="0">
                <a:solidFill>
                  <a:srgbClr val="133984"/>
                </a:solidFill>
              </a:rPr>
              <a:t> Statements</a:t>
            </a:r>
            <a:r>
              <a:rPr lang="zh-CN" altLang="zh-CN" dirty="0">
                <a:solidFill>
                  <a:srgbClr val="133984"/>
                </a:solidFill>
              </a:rPr>
              <a:t>”</a:t>
            </a:r>
            <a:r>
              <a:rPr lang="zh-CN" altLang="en-US" dirty="0">
                <a:solidFill>
                  <a:srgbClr val="133984"/>
                </a:solidFill>
              </a:rPr>
              <a:t>提出了一些使用</a:t>
            </a:r>
            <a:r>
              <a:rPr lang="en-US" altLang="zh-CN" dirty="0" err="1">
                <a:solidFill>
                  <a:srgbClr val="133984"/>
                </a:solidFill>
              </a:rPr>
              <a:t>goto</a:t>
            </a:r>
            <a:r>
              <a:rPr lang="zh-CN" altLang="en-US" dirty="0">
                <a:solidFill>
                  <a:srgbClr val="133984"/>
                </a:solidFill>
              </a:rPr>
              <a:t>语句可以使得程序更清楚有效的反例</a:t>
            </a:r>
          </a:p>
        </p:txBody>
      </p:sp>
      <p:sp>
        <p:nvSpPr>
          <p:cNvPr id="7" name="矩形 6"/>
          <p:cNvSpPr/>
          <p:nvPr/>
        </p:nvSpPr>
        <p:spPr>
          <a:xfrm>
            <a:off x="4021584" y="4666245"/>
            <a:ext cx="4824536" cy="646331"/>
          </a:xfrm>
          <a:prstGeom prst="rect">
            <a:avLst/>
          </a:prstGeom>
        </p:spPr>
        <p:txBody>
          <a:bodyPr wrap="square">
            <a:spAutoFit/>
          </a:bodyPr>
          <a:lstStyle/>
          <a:p>
            <a:r>
              <a:rPr lang="zh-CN" altLang="zh-CN" dirty="0">
                <a:solidFill>
                  <a:srgbClr val="133984"/>
                </a:solidFill>
              </a:rPr>
              <a:t>传世著作《计算机程序设计艺术》（</a:t>
            </a:r>
            <a:r>
              <a:rPr lang="en-US" altLang="zh-CN" dirty="0">
                <a:solidFill>
                  <a:srgbClr val="133984"/>
                </a:solidFill>
              </a:rPr>
              <a:t>The Art of Computer Programming</a:t>
            </a:r>
            <a:r>
              <a:rPr lang="zh-CN" altLang="zh-CN" dirty="0">
                <a:solidFill>
                  <a:srgbClr val="133984"/>
                </a:solidFill>
              </a:rPr>
              <a:t>）</a:t>
            </a:r>
            <a:endParaRPr lang="zh-CN" altLang="en-US" dirty="0">
              <a:solidFill>
                <a:srgbClr val="133984"/>
              </a:solidFill>
            </a:endParaRPr>
          </a:p>
        </p:txBody>
      </p:sp>
      <p:sp>
        <p:nvSpPr>
          <p:cNvPr id="8" name="矩形 7"/>
          <p:cNvSpPr/>
          <p:nvPr/>
        </p:nvSpPr>
        <p:spPr>
          <a:xfrm>
            <a:off x="3995936" y="5312577"/>
            <a:ext cx="1576072" cy="369332"/>
          </a:xfrm>
          <a:prstGeom prst="rect">
            <a:avLst/>
          </a:prstGeom>
        </p:spPr>
        <p:txBody>
          <a:bodyPr wrap="none">
            <a:spAutoFit/>
          </a:bodyPr>
          <a:lstStyle/>
          <a:p>
            <a:r>
              <a:rPr lang="en-US" altLang="zh-CN" dirty="0">
                <a:solidFill>
                  <a:srgbClr val="133984"/>
                </a:solidFill>
              </a:rPr>
              <a:t>1974</a:t>
            </a:r>
            <a:r>
              <a:rPr lang="zh-CN" altLang="zh-CN" dirty="0">
                <a:solidFill>
                  <a:srgbClr val="133984"/>
                </a:solidFill>
              </a:rPr>
              <a:t>年图灵奖</a:t>
            </a:r>
            <a:endParaRPr lang="zh-CN" altLang="en-US" dirty="0">
              <a:solidFill>
                <a:srgbClr val="133984"/>
              </a:solidFill>
            </a:endParaRPr>
          </a:p>
        </p:txBody>
      </p:sp>
      <p:sp>
        <p:nvSpPr>
          <p:cNvPr id="10" name="矩形 9"/>
          <p:cNvSpPr/>
          <p:nvPr/>
        </p:nvSpPr>
        <p:spPr>
          <a:xfrm>
            <a:off x="2497972" y="1124744"/>
            <a:ext cx="4572000" cy="923330"/>
          </a:xfrm>
          <a:prstGeom prst="rect">
            <a:avLst/>
          </a:prstGeom>
        </p:spPr>
        <p:txBody>
          <a:bodyPr>
            <a:spAutoFit/>
          </a:bodyPr>
          <a:lstStyle/>
          <a:p>
            <a:r>
              <a:rPr lang="zh-CN" altLang="zh-CN" dirty="0">
                <a:solidFill>
                  <a:srgbClr val="133984"/>
                </a:solidFill>
              </a:rPr>
              <a:t>结构化程序设计强调使用子程序、程序块和包括</a:t>
            </a:r>
            <a:r>
              <a:rPr lang="en-US" altLang="zh-CN" dirty="0">
                <a:solidFill>
                  <a:srgbClr val="133984"/>
                </a:solidFill>
              </a:rPr>
              <a:t>for</a:t>
            </a:r>
            <a:r>
              <a:rPr lang="zh-CN" altLang="zh-CN" dirty="0">
                <a:solidFill>
                  <a:srgbClr val="133984"/>
                </a:solidFill>
              </a:rPr>
              <a:t>循环等在内的控制语句来规划程序的结构，</a:t>
            </a:r>
            <a:r>
              <a:rPr lang="zh-CN" altLang="en-US" dirty="0">
                <a:solidFill>
                  <a:srgbClr val="133984"/>
                </a:solidFill>
              </a:rPr>
              <a:t>排斥</a:t>
            </a:r>
            <a:r>
              <a:rPr lang="en-US" altLang="zh-CN" dirty="0" err="1">
                <a:solidFill>
                  <a:srgbClr val="133984"/>
                </a:solidFill>
              </a:rPr>
              <a:t>goto</a:t>
            </a:r>
            <a:r>
              <a:rPr lang="zh-CN" altLang="zh-CN" dirty="0">
                <a:solidFill>
                  <a:srgbClr val="133984"/>
                </a:solidFill>
              </a:rPr>
              <a:t>语句。</a:t>
            </a:r>
            <a:endParaRPr lang="zh-CN" altLang="en-US" dirty="0">
              <a:solidFill>
                <a:srgbClr val="133984"/>
              </a:solidFill>
            </a:endParaRPr>
          </a:p>
        </p:txBody>
      </p:sp>
    </p:spTree>
    <p:extLst>
      <p:ext uri="{BB962C8B-B14F-4D97-AF65-F5344CB8AC3E}">
        <p14:creationId xmlns:p14="http://schemas.microsoft.com/office/powerpoint/2010/main" val="3999195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297588" y="620688"/>
            <a:ext cx="2652235" cy="584775"/>
          </a:xfrm>
          <a:prstGeom prst="rect">
            <a:avLst/>
          </a:prstGeom>
        </p:spPr>
        <p:txBody>
          <a:bodyPr wrap="square">
            <a:spAutoFit/>
          </a:bodyPr>
          <a:lstStyle/>
          <a:p>
            <a:r>
              <a:rPr lang="en-US" altLang="zh-CN" sz="3200" b="1" dirty="0">
                <a:solidFill>
                  <a:srgbClr val="133984"/>
                </a:solidFill>
              </a:rPr>
              <a:t>FORTRAN</a:t>
            </a:r>
            <a:endParaRPr lang="zh-CN" altLang="zh-CN" sz="3200" dirty="0">
              <a:solidFill>
                <a:srgbClr val="133984"/>
              </a:solidFill>
            </a:endParaRPr>
          </a:p>
        </p:txBody>
      </p:sp>
      <p:grpSp>
        <p:nvGrpSpPr>
          <p:cNvPr id="8" name="组合 7"/>
          <p:cNvGrpSpPr/>
          <p:nvPr/>
        </p:nvGrpSpPr>
        <p:grpSpPr>
          <a:xfrm>
            <a:off x="642910" y="1897698"/>
            <a:ext cx="2781300" cy="3620228"/>
            <a:chOff x="642910" y="1897698"/>
            <a:chExt cx="2781300" cy="3620228"/>
          </a:xfrm>
        </p:grpSpPr>
        <p:pic>
          <p:nvPicPr>
            <p:cNvPr id="5" name="图片 4" descr="john backus.jpg"/>
            <p:cNvPicPr/>
            <p:nvPr/>
          </p:nvPicPr>
          <p:blipFill>
            <a:blip r:embed="rId2"/>
            <a:stretch>
              <a:fillRect/>
            </a:stretch>
          </p:blipFill>
          <p:spPr>
            <a:xfrm>
              <a:off x="642910" y="1897698"/>
              <a:ext cx="2781300" cy="2628900"/>
            </a:xfrm>
            <a:prstGeom prst="rect">
              <a:avLst/>
            </a:prstGeom>
          </p:spPr>
        </p:pic>
        <p:sp>
          <p:nvSpPr>
            <p:cNvPr id="6" name="矩形 5"/>
            <p:cNvSpPr/>
            <p:nvPr/>
          </p:nvSpPr>
          <p:spPr>
            <a:xfrm>
              <a:off x="1277744" y="4871595"/>
              <a:ext cx="1511632" cy="646331"/>
            </a:xfrm>
            <a:prstGeom prst="rect">
              <a:avLst/>
            </a:prstGeom>
          </p:spPr>
          <p:txBody>
            <a:bodyPr wrap="square">
              <a:spAutoFit/>
            </a:bodyPr>
            <a:lstStyle/>
            <a:p>
              <a:pPr algn="ctr"/>
              <a:r>
                <a:rPr lang="zh-CN" altLang="zh-CN" dirty="0">
                  <a:solidFill>
                    <a:srgbClr val="133984"/>
                  </a:solidFill>
                </a:rPr>
                <a:t>约翰•巴克斯</a:t>
              </a:r>
              <a:endParaRPr lang="en-US" altLang="zh-CN" dirty="0">
                <a:solidFill>
                  <a:srgbClr val="133984"/>
                </a:solidFill>
              </a:endParaRPr>
            </a:p>
            <a:p>
              <a:pPr algn="ctr"/>
              <a:r>
                <a:rPr lang="en-US" altLang="zh-CN" dirty="0">
                  <a:solidFill>
                    <a:srgbClr val="133984"/>
                  </a:solidFill>
                </a:rPr>
                <a:t>(John Backus)</a:t>
              </a:r>
              <a:endParaRPr lang="zh-CN" altLang="zh-CN" dirty="0">
                <a:solidFill>
                  <a:srgbClr val="133984"/>
                </a:solidFill>
              </a:endParaRPr>
            </a:p>
          </p:txBody>
        </p:sp>
      </p:grpSp>
      <p:sp>
        <p:nvSpPr>
          <p:cNvPr id="2" name="矩形 1"/>
          <p:cNvSpPr/>
          <p:nvPr/>
        </p:nvSpPr>
        <p:spPr>
          <a:xfrm>
            <a:off x="3923928" y="1713032"/>
            <a:ext cx="3751348" cy="369332"/>
          </a:xfrm>
          <a:prstGeom prst="rect">
            <a:avLst/>
          </a:prstGeom>
        </p:spPr>
        <p:txBody>
          <a:bodyPr wrap="none">
            <a:spAutoFit/>
          </a:bodyPr>
          <a:lstStyle/>
          <a:p>
            <a:r>
              <a:rPr lang="en-US" altLang="zh-CN" dirty="0" err="1">
                <a:solidFill>
                  <a:srgbClr val="133984"/>
                </a:solidFill>
              </a:rPr>
              <a:t>FORmula</a:t>
            </a:r>
            <a:r>
              <a:rPr lang="en-US" altLang="zh-CN" dirty="0">
                <a:solidFill>
                  <a:srgbClr val="133984"/>
                </a:solidFill>
              </a:rPr>
              <a:t> </a:t>
            </a:r>
            <a:r>
              <a:rPr lang="en-US" altLang="zh-CN" dirty="0" err="1">
                <a:solidFill>
                  <a:srgbClr val="133984"/>
                </a:solidFill>
              </a:rPr>
              <a:t>TRANslator</a:t>
            </a:r>
            <a:r>
              <a:rPr lang="zh-CN" altLang="zh-CN" dirty="0">
                <a:solidFill>
                  <a:srgbClr val="133984"/>
                </a:solidFill>
              </a:rPr>
              <a:t>（公式翻译器）</a:t>
            </a:r>
            <a:endParaRPr lang="zh-CN" altLang="en-US" dirty="0">
              <a:solidFill>
                <a:srgbClr val="133984"/>
              </a:solidFill>
            </a:endParaRPr>
          </a:p>
        </p:txBody>
      </p:sp>
      <p:sp>
        <p:nvSpPr>
          <p:cNvPr id="3" name="矩形 2"/>
          <p:cNvSpPr/>
          <p:nvPr/>
        </p:nvSpPr>
        <p:spPr>
          <a:xfrm>
            <a:off x="3949823" y="2677562"/>
            <a:ext cx="3942105" cy="369332"/>
          </a:xfrm>
          <a:prstGeom prst="rect">
            <a:avLst/>
          </a:prstGeom>
        </p:spPr>
        <p:txBody>
          <a:bodyPr wrap="none">
            <a:spAutoFit/>
          </a:bodyPr>
          <a:lstStyle/>
          <a:p>
            <a:r>
              <a:rPr lang="zh-CN" altLang="zh-CN" dirty="0">
                <a:solidFill>
                  <a:srgbClr val="133984"/>
                </a:solidFill>
              </a:rPr>
              <a:t>约翰·巴克斯</a:t>
            </a:r>
            <a:r>
              <a:rPr lang="zh-CN" altLang="en-US" dirty="0">
                <a:solidFill>
                  <a:srgbClr val="133984"/>
                </a:solidFill>
              </a:rPr>
              <a:t>于</a:t>
            </a:r>
            <a:r>
              <a:rPr lang="en-US" altLang="zh-CN" dirty="0">
                <a:solidFill>
                  <a:srgbClr val="133984"/>
                </a:solidFill>
              </a:rPr>
              <a:t>20</a:t>
            </a:r>
            <a:r>
              <a:rPr lang="zh-CN" altLang="zh-CN" dirty="0">
                <a:solidFill>
                  <a:srgbClr val="133984"/>
                </a:solidFill>
              </a:rPr>
              <a:t>世纪</a:t>
            </a:r>
            <a:r>
              <a:rPr lang="en-US" altLang="zh-CN" dirty="0">
                <a:solidFill>
                  <a:srgbClr val="133984"/>
                </a:solidFill>
              </a:rPr>
              <a:t>50</a:t>
            </a:r>
            <a:r>
              <a:rPr lang="zh-CN" altLang="zh-CN" dirty="0">
                <a:solidFill>
                  <a:srgbClr val="133984"/>
                </a:solidFill>
              </a:rPr>
              <a:t>年代中期</a:t>
            </a:r>
            <a:r>
              <a:rPr lang="zh-CN" altLang="en-US" dirty="0">
                <a:solidFill>
                  <a:srgbClr val="133984"/>
                </a:solidFill>
              </a:rPr>
              <a:t>设计</a:t>
            </a:r>
          </a:p>
        </p:txBody>
      </p:sp>
      <p:sp>
        <p:nvSpPr>
          <p:cNvPr id="7" name="矩形 6"/>
          <p:cNvSpPr/>
          <p:nvPr/>
        </p:nvSpPr>
        <p:spPr>
          <a:xfrm>
            <a:off x="3889551" y="3415268"/>
            <a:ext cx="4801314" cy="646331"/>
          </a:xfrm>
          <a:prstGeom prst="rect">
            <a:avLst/>
          </a:prstGeom>
        </p:spPr>
        <p:txBody>
          <a:bodyPr wrap="none">
            <a:spAutoFit/>
          </a:bodyPr>
          <a:lstStyle/>
          <a:p>
            <a:r>
              <a:rPr lang="zh-CN" altLang="zh-CN" dirty="0">
                <a:solidFill>
                  <a:srgbClr val="133984"/>
                </a:solidFill>
              </a:rPr>
              <a:t>特点</a:t>
            </a:r>
            <a:r>
              <a:rPr lang="zh-CN" altLang="en-US" dirty="0">
                <a:solidFill>
                  <a:srgbClr val="133984"/>
                </a:solidFill>
              </a:rPr>
              <a:t>：</a:t>
            </a:r>
            <a:r>
              <a:rPr lang="zh-CN" altLang="zh-CN" dirty="0">
                <a:solidFill>
                  <a:srgbClr val="133984"/>
                </a:solidFill>
              </a:rPr>
              <a:t>接近数学公式，简单易用，易读性强。</a:t>
            </a:r>
            <a:endParaRPr lang="en-US" altLang="zh-CN" dirty="0">
              <a:solidFill>
                <a:srgbClr val="133984"/>
              </a:solidFill>
            </a:endParaRPr>
          </a:p>
          <a:p>
            <a:r>
              <a:rPr lang="en-US" altLang="zh-CN" dirty="0">
                <a:solidFill>
                  <a:srgbClr val="133984"/>
                </a:solidFill>
              </a:rPr>
              <a:t>            </a:t>
            </a:r>
            <a:r>
              <a:rPr lang="zh-CN" altLang="zh-CN" dirty="0">
                <a:solidFill>
                  <a:srgbClr val="133984"/>
                </a:solidFill>
              </a:rPr>
              <a:t>主要用于数值计算</a:t>
            </a:r>
            <a:r>
              <a:rPr lang="zh-CN" altLang="en-US" dirty="0">
                <a:solidFill>
                  <a:srgbClr val="133984"/>
                </a:solidFill>
              </a:rPr>
              <a:t>。</a:t>
            </a:r>
          </a:p>
        </p:txBody>
      </p:sp>
    </p:spTree>
    <p:extLst>
      <p:ext uri="{BB962C8B-B14F-4D97-AF65-F5344CB8AC3E}">
        <p14:creationId xmlns:p14="http://schemas.microsoft.com/office/powerpoint/2010/main" val="312169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360394" y="604332"/>
            <a:ext cx="2779558" cy="584775"/>
          </a:xfrm>
          <a:prstGeom prst="rect">
            <a:avLst/>
          </a:prstGeom>
        </p:spPr>
        <p:txBody>
          <a:bodyPr wrap="square">
            <a:spAutoFit/>
          </a:bodyPr>
          <a:lstStyle/>
          <a:p>
            <a:r>
              <a:rPr lang="en-US" altLang="zh-CN" sz="3200" b="1" dirty="0">
                <a:solidFill>
                  <a:srgbClr val="133984"/>
                </a:solidFill>
              </a:rPr>
              <a:t>BASIC</a:t>
            </a:r>
            <a:endParaRPr lang="zh-CN" altLang="zh-CN" sz="3200" dirty="0">
              <a:solidFill>
                <a:srgbClr val="133984"/>
              </a:solidFill>
            </a:endParaRPr>
          </a:p>
        </p:txBody>
      </p:sp>
      <p:grpSp>
        <p:nvGrpSpPr>
          <p:cNvPr id="3" name="组合 2"/>
          <p:cNvGrpSpPr/>
          <p:nvPr/>
        </p:nvGrpSpPr>
        <p:grpSpPr>
          <a:xfrm>
            <a:off x="785786" y="1997712"/>
            <a:ext cx="2324735" cy="3734528"/>
            <a:chOff x="785786" y="1997712"/>
            <a:chExt cx="2324735" cy="3734528"/>
          </a:xfrm>
        </p:grpSpPr>
        <p:pic>
          <p:nvPicPr>
            <p:cNvPr id="6" name="图片 5" descr="John_George_Kemeny.jpg"/>
            <p:cNvPicPr/>
            <p:nvPr/>
          </p:nvPicPr>
          <p:blipFill>
            <a:blip r:embed="rId2"/>
            <a:stretch>
              <a:fillRect/>
            </a:stretch>
          </p:blipFill>
          <p:spPr>
            <a:xfrm>
              <a:off x="785786" y="1997712"/>
              <a:ext cx="2324735" cy="2743200"/>
            </a:xfrm>
            <a:prstGeom prst="rect">
              <a:avLst/>
            </a:prstGeom>
          </p:spPr>
        </p:pic>
        <p:sp>
          <p:nvSpPr>
            <p:cNvPr id="7" name="矩形 6"/>
            <p:cNvSpPr/>
            <p:nvPr/>
          </p:nvSpPr>
          <p:spPr>
            <a:xfrm>
              <a:off x="805154" y="5085909"/>
              <a:ext cx="2286000" cy="646331"/>
            </a:xfrm>
            <a:prstGeom prst="rect">
              <a:avLst/>
            </a:prstGeom>
          </p:spPr>
          <p:txBody>
            <a:bodyPr wrap="square">
              <a:spAutoFit/>
            </a:bodyPr>
            <a:lstStyle/>
            <a:p>
              <a:pPr algn="ctr"/>
              <a:r>
                <a:rPr lang="zh-CN" altLang="zh-CN" dirty="0">
                  <a:solidFill>
                    <a:srgbClr val="133984"/>
                  </a:solidFill>
                </a:rPr>
                <a:t>约翰•基米尼</a:t>
              </a:r>
              <a:endParaRPr lang="en-US" altLang="zh-CN" dirty="0">
                <a:solidFill>
                  <a:srgbClr val="133984"/>
                </a:solidFill>
              </a:endParaRPr>
            </a:p>
            <a:p>
              <a:pPr algn="ctr"/>
              <a:r>
                <a:rPr lang="en-US" altLang="zh-CN" dirty="0">
                  <a:solidFill>
                    <a:srgbClr val="133984"/>
                  </a:solidFill>
                </a:rPr>
                <a:t>(John George </a:t>
              </a:r>
              <a:r>
                <a:rPr lang="en-US" altLang="zh-CN" dirty="0" err="1">
                  <a:solidFill>
                    <a:srgbClr val="133984"/>
                  </a:solidFill>
                </a:rPr>
                <a:t>Kemeny</a:t>
              </a:r>
              <a:r>
                <a:rPr lang="en-US" altLang="zh-CN" dirty="0">
                  <a:solidFill>
                    <a:srgbClr val="133984"/>
                  </a:solidFill>
                </a:rPr>
                <a:t>)</a:t>
              </a:r>
              <a:endParaRPr lang="zh-CN" altLang="zh-CN" dirty="0">
                <a:solidFill>
                  <a:srgbClr val="133984"/>
                </a:solidFill>
              </a:endParaRPr>
            </a:p>
          </p:txBody>
        </p:sp>
      </p:grpSp>
      <p:sp>
        <p:nvSpPr>
          <p:cNvPr id="2" name="矩形 1"/>
          <p:cNvSpPr/>
          <p:nvPr/>
        </p:nvSpPr>
        <p:spPr>
          <a:xfrm>
            <a:off x="4139952" y="1548999"/>
            <a:ext cx="4572000" cy="646331"/>
          </a:xfrm>
          <a:prstGeom prst="rect">
            <a:avLst/>
          </a:prstGeom>
        </p:spPr>
        <p:txBody>
          <a:bodyPr>
            <a:spAutoFit/>
          </a:bodyPr>
          <a:lstStyle/>
          <a:p>
            <a:r>
              <a:rPr lang="en-US" altLang="zh-CN" dirty="0">
                <a:solidFill>
                  <a:srgbClr val="133984"/>
                </a:solidFill>
              </a:rPr>
              <a:t>Beginner‘s All-purpose Symbolic Instruction Code</a:t>
            </a:r>
            <a:r>
              <a:rPr lang="zh-CN" altLang="en-US" dirty="0">
                <a:solidFill>
                  <a:srgbClr val="133984"/>
                </a:solidFill>
              </a:rPr>
              <a:t>（</a:t>
            </a:r>
            <a:r>
              <a:rPr lang="zh-CN" altLang="zh-CN" dirty="0">
                <a:solidFill>
                  <a:srgbClr val="133984"/>
                </a:solidFill>
              </a:rPr>
              <a:t>初学者多用符号式指令代码</a:t>
            </a:r>
            <a:r>
              <a:rPr lang="zh-CN" altLang="en-US" dirty="0">
                <a:solidFill>
                  <a:srgbClr val="133984"/>
                </a:solidFill>
              </a:rPr>
              <a:t>）</a:t>
            </a:r>
          </a:p>
        </p:txBody>
      </p:sp>
      <p:sp>
        <p:nvSpPr>
          <p:cNvPr id="8" name="Rectangle 2"/>
          <p:cNvSpPr>
            <a:spLocks noChangeArrowheads="1"/>
          </p:cNvSpPr>
          <p:nvPr/>
        </p:nvSpPr>
        <p:spPr bwMode="auto">
          <a:xfrm>
            <a:off x="3923928" y="2597448"/>
            <a:ext cx="44999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66700" algn="just" defTabSz="914400" rtl="0" eaLnBrk="1" fontAlgn="base" latinLnBrk="0" hangingPunct="1">
              <a:lnSpc>
                <a:spcPct val="100000"/>
              </a:lnSpc>
              <a:spcBef>
                <a:spcPct val="0"/>
              </a:spcBef>
              <a:spcAft>
                <a:spcPct val="0"/>
              </a:spcAft>
              <a:buClrTx/>
              <a:buSzTx/>
              <a:buFontTx/>
              <a:buNone/>
              <a:tabLst/>
            </a:pPr>
            <a:r>
              <a:rPr lang="zh-CN" dirty="0">
                <a:solidFill>
                  <a:srgbClr val="133984"/>
                </a:solidFill>
              </a:rPr>
              <a:t>约翰</a:t>
            </a:r>
            <a:r>
              <a:rPr lang="zh-CN" altLang="zh-CN" dirty="0">
                <a:solidFill>
                  <a:srgbClr val="133984"/>
                </a:solidFill>
              </a:rPr>
              <a:t>·</a:t>
            </a:r>
            <a:r>
              <a:rPr lang="zh-CN" dirty="0">
                <a:solidFill>
                  <a:srgbClr val="133984"/>
                </a:solidFill>
              </a:rPr>
              <a:t>基米尼</a:t>
            </a:r>
            <a:r>
              <a:rPr lang="zh-CN" altLang="en-US" dirty="0">
                <a:solidFill>
                  <a:srgbClr val="133984"/>
                </a:solidFill>
              </a:rPr>
              <a:t>和托马斯</a:t>
            </a:r>
            <a:r>
              <a:rPr lang="en-US" altLang="zh-CN" dirty="0">
                <a:solidFill>
                  <a:srgbClr val="133984"/>
                </a:solidFill>
              </a:rPr>
              <a:t>·</a:t>
            </a:r>
            <a:r>
              <a:rPr lang="zh-CN" altLang="en-US" dirty="0">
                <a:solidFill>
                  <a:srgbClr val="133984"/>
                </a:solidFill>
              </a:rPr>
              <a:t>科茨于</a:t>
            </a:r>
            <a:r>
              <a:rPr lang="en-US" altLang="zh-CN" dirty="0">
                <a:solidFill>
                  <a:srgbClr val="133984"/>
                </a:solidFill>
              </a:rPr>
              <a:t>1964</a:t>
            </a:r>
            <a:r>
              <a:rPr lang="zh-CN" altLang="en-US" dirty="0">
                <a:solidFill>
                  <a:srgbClr val="133984"/>
                </a:solidFill>
              </a:rPr>
              <a:t>年发明</a:t>
            </a:r>
          </a:p>
        </p:txBody>
      </p:sp>
      <p:sp>
        <p:nvSpPr>
          <p:cNvPr id="10" name="矩形 9"/>
          <p:cNvSpPr/>
          <p:nvPr/>
        </p:nvSpPr>
        <p:spPr>
          <a:xfrm>
            <a:off x="4139952" y="3436035"/>
            <a:ext cx="4572000" cy="646331"/>
          </a:xfrm>
          <a:prstGeom prst="rect">
            <a:avLst/>
          </a:prstGeom>
        </p:spPr>
        <p:txBody>
          <a:bodyPr>
            <a:spAutoFit/>
          </a:bodyPr>
          <a:lstStyle/>
          <a:p>
            <a:r>
              <a:rPr lang="zh-CN" altLang="en-US" dirty="0">
                <a:solidFill>
                  <a:srgbClr val="133984"/>
                </a:solidFill>
              </a:rPr>
              <a:t>特点：</a:t>
            </a:r>
            <a:r>
              <a:rPr lang="zh-CN" altLang="zh-CN" dirty="0">
                <a:solidFill>
                  <a:srgbClr val="133984"/>
                </a:solidFill>
              </a:rPr>
              <a:t>易学、易懂、易记、易用</a:t>
            </a:r>
            <a:r>
              <a:rPr lang="en-US" altLang="zh-CN" dirty="0">
                <a:solidFill>
                  <a:srgbClr val="133984"/>
                </a:solidFill>
              </a:rPr>
              <a:t>,</a:t>
            </a:r>
            <a:r>
              <a:rPr lang="zh-CN" altLang="zh-CN" dirty="0">
                <a:solidFill>
                  <a:srgbClr val="133984"/>
                </a:solidFill>
              </a:rPr>
              <a:t>是初学者的入门语言</a:t>
            </a:r>
            <a:endParaRPr lang="zh-CN" altLang="en-US" dirty="0">
              <a:solidFill>
                <a:srgbClr val="13398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673872" y="457200"/>
            <a:ext cx="2160240" cy="584775"/>
          </a:xfrm>
          <a:prstGeom prst="rect">
            <a:avLst/>
          </a:prstGeom>
        </p:spPr>
        <p:txBody>
          <a:bodyPr wrap="square">
            <a:spAutoFit/>
          </a:bodyPr>
          <a:lstStyle/>
          <a:p>
            <a:r>
              <a:rPr lang="en-US" altLang="zh-CN" b="1" dirty="0">
                <a:solidFill>
                  <a:srgbClr val="133984"/>
                </a:solidFill>
              </a:rPr>
              <a:t> </a:t>
            </a:r>
            <a:r>
              <a:rPr lang="en-US" altLang="zh-CN" sz="3200" b="1" dirty="0">
                <a:solidFill>
                  <a:srgbClr val="133984"/>
                </a:solidFill>
              </a:rPr>
              <a:t>PASCAL</a:t>
            </a:r>
            <a:endParaRPr lang="zh-CN" altLang="en-US" sz="3200" dirty="0">
              <a:solidFill>
                <a:srgbClr val="133984"/>
              </a:solidFill>
            </a:endParaRPr>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 name="组合 1"/>
          <p:cNvGrpSpPr/>
          <p:nvPr/>
        </p:nvGrpSpPr>
        <p:grpSpPr>
          <a:xfrm>
            <a:off x="971600" y="1340768"/>
            <a:ext cx="2305050" cy="3372583"/>
            <a:chOff x="971600" y="1340768"/>
            <a:chExt cx="2305050" cy="3372583"/>
          </a:xfrm>
        </p:grpSpPr>
        <p:pic>
          <p:nvPicPr>
            <p:cNvPr id="4098" name="图片 7" descr="说明: Blaise_pasca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340768"/>
              <a:ext cx="2305050" cy="24098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4"/>
            <p:cNvSpPr>
              <a:spLocks noChangeArrowheads="1"/>
            </p:cNvSpPr>
            <p:nvPr/>
          </p:nvSpPr>
          <p:spPr bwMode="auto">
            <a:xfrm>
              <a:off x="1151819" y="4067020"/>
              <a:ext cx="19446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269875" algn="ctr" defTabSz="914400" rtl="0" eaLnBrk="1" fontAlgn="base" latinLnBrk="0" hangingPunct="1">
                <a:lnSpc>
                  <a:spcPct val="100000"/>
                </a:lnSpc>
                <a:spcBef>
                  <a:spcPct val="0"/>
                </a:spcBef>
                <a:spcAft>
                  <a:spcPct val="0"/>
                </a:spcAft>
                <a:buClrTx/>
                <a:buSzTx/>
                <a:buFontTx/>
                <a:buNone/>
                <a:tabLst/>
              </a:pPr>
              <a:r>
                <a:rPr lang="zh-CN" altLang="en-US" dirty="0">
                  <a:solidFill>
                    <a:srgbClr val="133984"/>
                  </a:solidFill>
                </a:rPr>
                <a:t>布莱兹</a:t>
              </a:r>
              <a:r>
                <a:rPr lang="en-US" altLang="zh-CN" dirty="0">
                  <a:solidFill>
                    <a:srgbClr val="133984"/>
                  </a:solidFill>
                </a:rPr>
                <a:t>•</a:t>
              </a:r>
              <a:r>
                <a:rPr lang="zh-CN" altLang="en-US" dirty="0">
                  <a:solidFill>
                    <a:srgbClr val="133984"/>
                  </a:solidFill>
                </a:rPr>
                <a:t>帕斯卡</a:t>
              </a:r>
              <a:endParaRPr lang="en-US" altLang="zh-CN" dirty="0">
                <a:solidFill>
                  <a:srgbClr val="133984"/>
                </a:solidFill>
              </a:endParaRPr>
            </a:p>
            <a:p>
              <a:pPr marL="0" marR="0" lvl="0" indent="269875" algn="ctr" defTabSz="914400" rtl="0" eaLnBrk="1" fontAlgn="base" latinLnBrk="0" hangingPunct="1">
                <a:lnSpc>
                  <a:spcPct val="100000"/>
                </a:lnSpc>
                <a:spcBef>
                  <a:spcPct val="0"/>
                </a:spcBef>
                <a:spcAft>
                  <a:spcPct val="0"/>
                </a:spcAft>
                <a:buClrTx/>
                <a:buSzTx/>
                <a:buFontTx/>
                <a:buNone/>
                <a:tabLst/>
              </a:pPr>
              <a:r>
                <a:rPr lang="en-US" altLang="zh-CN" dirty="0">
                  <a:solidFill>
                    <a:srgbClr val="133984"/>
                  </a:solidFill>
                </a:rPr>
                <a:t>(</a:t>
              </a:r>
              <a:r>
                <a:rPr lang="en-US" altLang="zh-CN" dirty="0" err="1">
                  <a:solidFill>
                    <a:srgbClr val="133984"/>
                  </a:solidFill>
                </a:rPr>
                <a:t>Blaise</a:t>
              </a:r>
              <a:r>
                <a:rPr lang="en-US" altLang="zh-CN" dirty="0">
                  <a:solidFill>
                    <a:srgbClr val="133984"/>
                  </a:solidFill>
                </a:rPr>
                <a:t> Pascal)</a:t>
              </a:r>
              <a:endParaRPr lang="zh-CN" altLang="en-US" dirty="0">
                <a:solidFill>
                  <a:srgbClr val="133984"/>
                </a:solidFill>
              </a:endParaRPr>
            </a:p>
          </p:txBody>
        </p:sp>
      </p:grpSp>
      <p:grpSp>
        <p:nvGrpSpPr>
          <p:cNvPr id="3" name="组合 2"/>
          <p:cNvGrpSpPr/>
          <p:nvPr/>
        </p:nvGrpSpPr>
        <p:grpSpPr>
          <a:xfrm>
            <a:off x="5463717" y="1340768"/>
            <a:ext cx="2592288" cy="3344932"/>
            <a:chOff x="5463717" y="1340768"/>
            <a:chExt cx="2592288" cy="3344932"/>
          </a:xfrm>
        </p:grpSpPr>
        <p:pic>
          <p:nvPicPr>
            <p:cNvPr id="4097" name="图片 6" descr="说明: Niklaus_Wirth,_UrGU.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16849" y="1340768"/>
              <a:ext cx="2486025" cy="1905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5"/>
            <p:cNvSpPr>
              <a:spLocks noChangeArrowheads="1"/>
            </p:cNvSpPr>
            <p:nvPr/>
          </p:nvSpPr>
          <p:spPr bwMode="auto">
            <a:xfrm>
              <a:off x="5463717" y="4039369"/>
              <a:ext cx="259228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CN" altLang="en-US" dirty="0">
                  <a:solidFill>
                    <a:srgbClr val="133984"/>
                  </a:solidFill>
                </a:rPr>
                <a:t>尼克劳斯</a:t>
              </a:r>
              <a:r>
                <a:rPr lang="en-US" altLang="zh-CN" dirty="0">
                  <a:solidFill>
                    <a:srgbClr val="133984"/>
                  </a:solidFill>
                </a:rPr>
                <a:t>•</a:t>
              </a:r>
              <a:r>
                <a:rPr lang="zh-CN" altLang="en-US" dirty="0">
                  <a:solidFill>
                    <a:srgbClr val="133984"/>
                  </a:solidFill>
                </a:rPr>
                <a:t>维尔特</a:t>
              </a:r>
              <a:endParaRPr lang="en-US" altLang="zh-CN" dirty="0">
                <a:solidFill>
                  <a:srgbClr val="133984"/>
                </a:solidFill>
              </a:endParaRPr>
            </a:p>
            <a:p>
              <a:pPr marL="0" marR="0" lvl="0" indent="0" algn="ctr" defTabSz="914400" rtl="0" eaLnBrk="1" fontAlgn="base" latinLnBrk="0" hangingPunct="1">
                <a:lnSpc>
                  <a:spcPct val="100000"/>
                </a:lnSpc>
                <a:spcBef>
                  <a:spcPct val="0"/>
                </a:spcBef>
                <a:spcAft>
                  <a:spcPct val="0"/>
                </a:spcAft>
                <a:buClrTx/>
                <a:buSzTx/>
                <a:buFontTx/>
                <a:buNone/>
                <a:tabLst/>
              </a:pPr>
              <a:r>
                <a:rPr lang="en-US" altLang="zh-CN" dirty="0">
                  <a:solidFill>
                    <a:srgbClr val="133984"/>
                  </a:solidFill>
                </a:rPr>
                <a:t>(</a:t>
              </a:r>
              <a:r>
                <a:rPr lang="en-US" altLang="zh-CN" dirty="0" err="1">
                  <a:solidFill>
                    <a:srgbClr val="133984"/>
                  </a:solidFill>
                </a:rPr>
                <a:t>Niklaus</a:t>
              </a:r>
              <a:r>
                <a:rPr lang="en-US" altLang="zh-CN" dirty="0">
                  <a:solidFill>
                    <a:srgbClr val="133984"/>
                  </a:solidFill>
                </a:rPr>
                <a:t> Wirth)</a:t>
              </a:r>
              <a:endParaRPr lang="zh-CN" altLang="en-US" dirty="0">
                <a:solidFill>
                  <a:srgbClr val="133984"/>
                </a:solidFill>
              </a:endParaRPr>
            </a:p>
          </p:txBody>
        </p:sp>
      </p:grpSp>
      <p:sp>
        <p:nvSpPr>
          <p:cNvPr id="8" name="矩形 7"/>
          <p:cNvSpPr/>
          <p:nvPr/>
        </p:nvSpPr>
        <p:spPr>
          <a:xfrm>
            <a:off x="1137259" y="5166484"/>
            <a:ext cx="3711272" cy="369332"/>
          </a:xfrm>
          <a:prstGeom prst="rect">
            <a:avLst/>
          </a:prstGeom>
        </p:spPr>
        <p:txBody>
          <a:bodyPr wrap="none">
            <a:spAutoFit/>
          </a:bodyPr>
          <a:lstStyle/>
          <a:p>
            <a:r>
              <a:rPr lang="zh-CN" altLang="zh-CN" dirty="0">
                <a:solidFill>
                  <a:srgbClr val="133984"/>
                </a:solidFill>
              </a:rPr>
              <a:t>尼克劳斯·维尔特于</a:t>
            </a:r>
            <a:r>
              <a:rPr lang="en-US" altLang="zh-CN" dirty="0">
                <a:solidFill>
                  <a:srgbClr val="133984"/>
                </a:solidFill>
              </a:rPr>
              <a:t>1971</a:t>
            </a:r>
            <a:r>
              <a:rPr lang="zh-CN" altLang="zh-CN" dirty="0">
                <a:solidFill>
                  <a:srgbClr val="133984"/>
                </a:solidFill>
              </a:rPr>
              <a:t>年正式发表</a:t>
            </a:r>
            <a:endParaRPr lang="zh-CN" altLang="en-US" dirty="0">
              <a:solidFill>
                <a:srgbClr val="133984"/>
              </a:solidFill>
            </a:endParaRPr>
          </a:p>
        </p:txBody>
      </p:sp>
      <p:sp>
        <p:nvSpPr>
          <p:cNvPr id="9" name="矩形 8"/>
          <p:cNvSpPr/>
          <p:nvPr/>
        </p:nvSpPr>
        <p:spPr>
          <a:xfrm>
            <a:off x="1160947" y="4797152"/>
            <a:ext cx="5309542" cy="369332"/>
          </a:xfrm>
          <a:prstGeom prst="rect">
            <a:avLst/>
          </a:prstGeom>
        </p:spPr>
        <p:txBody>
          <a:bodyPr wrap="square">
            <a:spAutoFit/>
          </a:bodyPr>
          <a:lstStyle/>
          <a:p>
            <a:r>
              <a:rPr lang="zh-CN" altLang="zh-CN" dirty="0">
                <a:solidFill>
                  <a:srgbClr val="133984"/>
                </a:solidFill>
              </a:rPr>
              <a:t>为纪念</a:t>
            </a:r>
            <a:r>
              <a:rPr lang="en-US" altLang="zh-CN" dirty="0">
                <a:solidFill>
                  <a:srgbClr val="133984"/>
                </a:solidFill>
              </a:rPr>
              <a:t>17</a:t>
            </a:r>
            <a:r>
              <a:rPr lang="zh-CN" altLang="zh-CN" dirty="0">
                <a:solidFill>
                  <a:srgbClr val="133984"/>
                </a:solidFill>
              </a:rPr>
              <a:t>世纪法国数学家和哲学家布莱兹·帕斯卡</a:t>
            </a:r>
            <a:endParaRPr lang="zh-CN" altLang="en-US" dirty="0">
              <a:solidFill>
                <a:srgbClr val="133984"/>
              </a:solidFill>
            </a:endParaRPr>
          </a:p>
        </p:txBody>
      </p:sp>
      <p:sp>
        <p:nvSpPr>
          <p:cNvPr id="10" name="矩形 9"/>
          <p:cNvSpPr/>
          <p:nvPr/>
        </p:nvSpPr>
        <p:spPr>
          <a:xfrm>
            <a:off x="1137258" y="5535816"/>
            <a:ext cx="7827230" cy="923330"/>
          </a:xfrm>
          <a:prstGeom prst="rect">
            <a:avLst/>
          </a:prstGeom>
        </p:spPr>
        <p:txBody>
          <a:bodyPr wrap="square">
            <a:spAutoFit/>
          </a:bodyPr>
          <a:lstStyle/>
          <a:p>
            <a:r>
              <a:rPr lang="zh-CN" altLang="en-US" dirty="0">
                <a:solidFill>
                  <a:srgbClr val="133984"/>
                </a:solidFill>
              </a:rPr>
              <a:t>特点：</a:t>
            </a:r>
            <a:r>
              <a:rPr lang="zh-CN" altLang="zh-CN" dirty="0">
                <a:solidFill>
                  <a:srgbClr val="133984"/>
                </a:solidFill>
              </a:rPr>
              <a:t>严格的结构化形式；丰富完备的数据类型；运行效率高；查错能力强。</a:t>
            </a:r>
            <a:endParaRPr lang="en-US" altLang="zh-CN" dirty="0">
              <a:solidFill>
                <a:srgbClr val="133984"/>
              </a:solidFill>
            </a:endParaRPr>
          </a:p>
          <a:p>
            <a:r>
              <a:rPr lang="en-US" altLang="zh-CN" dirty="0">
                <a:solidFill>
                  <a:srgbClr val="133984"/>
                </a:solidFill>
              </a:rPr>
              <a:t>Pascal</a:t>
            </a:r>
            <a:r>
              <a:rPr lang="zh-CN" altLang="zh-CN" dirty="0">
                <a:solidFill>
                  <a:srgbClr val="133984"/>
                </a:solidFill>
              </a:rPr>
              <a:t>语言可以被方便地用于描述各种算法与数据结构。</a:t>
            </a:r>
            <a:r>
              <a:rPr lang="zh-CN" altLang="en-US" dirty="0">
                <a:solidFill>
                  <a:srgbClr val="133984"/>
                </a:solidFill>
              </a:rPr>
              <a:t>故而一直被广泛地用于教学当中。</a:t>
            </a:r>
          </a:p>
        </p:txBody>
      </p:sp>
    </p:spTree>
    <p:extLst>
      <p:ext uri="{BB962C8B-B14F-4D97-AF65-F5344CB8AC3E}">
        <p14:creationId xmlns:p14="http://schemas.microsoft.com/office/powerpoint/2010/main" val="458689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403648" y="538502"/>
            <a:ext cx="1944216" cy="584775"/>
          </a:xfrm>
          <a:prstGeom prst="rect">
            <a:avLst/>
          </a:prstGeom>
        </p:spPr>
        <p:txBody>
          <a:bodyPr wrap="square">
            <a:spAutoFit/>
          </a:bodyPr>
          <a:lstStyle/>
          <a:p>
            <a:r>
              <a:rPr lang="en-US" altLang="zh-CN" sz="3200" b="1" dirty="0">
                <a:solidFill>
                  <a:srgbClr val="133984"/>
                </a:solidFill>
              </a:rPr>
              <a:t>C</a:t>
            </a:r>
            <a:r>
              <a:rPr lang="zh-CN" altLang="zh-CN" sz="3200" b="1" dirty="0">
                <a:solidFill>
                  <a:srgbClr val="133984"/>
                </a:solidFill>
              </a:rPr>
              <a:t>语言</a:t>
            </a:r>
            <a:endParaRPr lang="zh-CN" altLang="zh-CN" sz="3200" dirty="0">
              <a:solidFill>
                <a:srgbClr val="133984"/>
              </a:solidFill>
            </a:endParaRPr>
          </a:p>
        </p:txBody>
      </p:sp>
      <p:grpSp>
        <p:nvGrpSpPr>
          <p:cNvPr id="9" name="组合 8"/>
          <p:cNvGrpSpPr/>
          <p:nvPr/>
        </p:nvGrpSpPr>
        <p:grpSpPr>
          <a:xfrm>
            <a:off x="527370" y="1630651"/>
            <a:ext cx="3779520" cy="4246730"/>
            <a:chOff x="527370" y="1630651"/>
            <a:chExt cx="3779520" cy="4246730"/>
          </a:xfrm>
        </p:grpSpPr>
        <p:pic>
          <p:nvPicPr>
            <p:cNvPr id="5" name="图片 4" descr="Ken_n_dennis.jpg"/>
            <p:cNvPicPr/>
            <p:nvPr/>
          </p:nvPicPr>
          <p:blipFill>
            <a:blip r:embed="rId2"/>
            <a:stretch>
              <a:fillRect/>
            </a:stretch>
          </p:blipFill>
          <p:spPr>
            <a:xfrm>
              <a:off x="527370" y="1630651"/>
              <a:ext cx="3779520" cy="2450465"/>
            </a:xfrm>
            <a:prstGeom prst="rect">
              <a:avLst/>
            </a:prstGeom>
          </p:spPr>
        </p:pic>
        <p:sp>
          <p:nvSpPr>
            <p:cNvPr id="6" name="矩形 5"/>
            <p:cNvSpPr/>
            <p:nvPr/>
          </p:nvSpPr>
          <p:spPr>
            <a:xfrm>
              <a:off x="707194" y="5231050"/>
              <a:ext cx="3419872" cy="646331"/>
            </a:xfrm>
            <a:prstGeom prst="rect">
              <a:avLst/>
            </a:prstGeom>
          </p:spPr>
          <p:txBody>
            <a:bodyPr wrap="square">
              <a:spAutoFit/>
            </a:bodyPr>
            <a:lstStyle/>
            <a:p>
              <a:pPr algn="ctr"/>
              <a:r>
                <a:rPr lang="zh-CN" altLang="zh-CN" dirty="0">
                  <a:solidFill>
                    <a:srgbClr val="133984"/>
                  </a:solidFill>
                </a:rPr>
                <a:t>丹尼斯•里奇</a:t>
              </a:r>
              <a:r>
                <a:rPr lang="en-US" altLang="zh-CN" dirty="0">
                  <a:solidFill>
                    <a:srgbClr val="133984"/>
                  </a:solidFill>
                </a:rPr>
                <a:t>(Dennis Ritchie)(</a:t>
              </a:r>
              <a:r>
                <a:rPr lang="zh-CN" altLang="zh-CN" dirty="0">
                  <a:solidFill>
                    <a:srgbClr val="133984"/>
                  </a:solidFill>
                </a:rPr>
                <a:t>右</a:t>
              </a:r>
              <a:r>
                <a:rPr lang="en-US" altLang="zh-CN" dirty="0">
                  <a:solidFill>
                    <a:srgbClr val="133984"/>
                  </a:solidFill>
                </a:rPr>
                <a:t>)</a:t>
              </a:r>
            </a:p>
            <a:p>
              <a:pPr algn="ctr"/>
              <a:r>
                <a:rPr lang="zh-CN" altLang="zh-CN" dirty="0">
                  <a:solidFill>
                    <a:srgbClr val="133984"/>
                  </a:solidFill>
                </a:rPr>
                <a:t> 肯•汤普逊</a:t>
              </a:r>
              <a:r>
                <a:rPr lang="en-US" altLang="zh-CN" dirty="0">
                  <a:solidFill>
                    <a:srgbClr val="133984"/>
                  </a:solidFill>
                </a:rPr>
                <a:t>(Ken Thompson)</a:t>
              </a:r>
              <a:endParaRPr lang="zh-CN" altLang="en-US" dirty="0">
                <a:solidFill>
                  <a:srgbClr val="133984"/>
                </a:solidFill>
              </a:endParaRPr>
            </a:p>
          </p:txBody>
        </p:sp>
      </p:grpSp>
      <p:sp>
        <p:nvSpPr>
          <p:cNvPr id="2" name="矩形 1"/>
          <p:cNvSpPr/>
          <p:nvPr/>
        </p:nvSpPr>
        <p:spPr>
          <a:xfrm>
            <a:off x="4572000" y="1255119"/>
            <a:ext cx="4572000" cy="646331"/>
          </a:xfrm>
          <a:prstGeom prst="rect">
            <a:avLst/>
          </a:prstGeom>
        </p:spPr>
        <p:txBody>
          <a:bodyPr>
            <a:spAutoFit/>
          </a:bodyPr>
          <a:lstStyle/>
          <a:p>
            <a:r>
              <a:rPr lang="zh-CN" altLang="zh-CN" dirty="0">
                <a:solidFill>
                  <a:srgbClr val="133984"/>
                </a:solidFill>
              </a:rPr>
              <a:t>最初的</a:t>
            </a:r>
            <a:r>
              <a:rPr lang="en-US" altLang="zh-CN" dirty="0">
                <a:solidFill>
                  <a:srgbClr val="133984"/>
                </a:solidFill>
              </a:rPr>
              <a:t>C</a:t>
            </a:r>
            <a:r>
              <a:rPr lang="zh-CN" altLang="zh-CN" dirty="0">
                <a:solidFill>
                  <a:srgbClr val="133984"/>
                </a:solidFill>
              </a:rPr>
              <a:t>语言是为描述和实现</a:t>
            </a:r>
            <a:r>
              <a:rPr lang="en-US" altLang="zh-CN" dirty="0">
                <a:solidFill>
                  <a:srgbClr val="133984"/>
                </a:solidFill>
              </a:rPr>
              <a:t>Unix</a:t>
            </a:r>
            <a:r>
              <a:rPr lang="zh-CN" altLang="zh-CN" dirty="0">
                <a:solidFill>
                  <a:srgbClr val="133984"/>
                </a:solidFill>
              </a:rPr>
              <a:t>操作系统而设计的，随着</a:t>
            </a:r>
            <a:r>
              <a:rPr lang="en-US" altLang="zh-CN" dirty="0">
                <a:solidFill>
                  <a:srgbClr val="133984"/>
                </a:solidFill>
              </a:rPr>
              <a:t>Unix</a:t>
            </a:r>
            <a:r>
              <a:rPr lang="zh-CN" altLang="zh-CN" dirty="0">
                <a:solidFill>
                  <a:srgbClr val="133984"/>
                </a:solidFill>
              </a:rPr>
              <a:t>的出名而闻名。</a:t>
            </a:r>
            <a:endParaRPr lang="zh-CN" altLang="en-US" dirty="0">
              <a:solidFill>
                <a:srgbClr val="133984"/>
              </a:solidFill>
            </a:endParaRPr>
          </a:p>
        </p:txBody>
      </p:sp>
      <p:sp>
        <p:nvSpPr>
          <p:cNvPr id="7" name="Rectangle 1"/>
          <p:cNvSpPr>
            <a:spLocks noChangeArrowheads="1"/>
          </p:cNvSpPr>
          <p:nvPr/>
        </p:nvSpPr>
        <p:spPr bwMode="auto">
          <a:xfrm>
            <a:off x="4572992" y="2184609"/>
            <a:ext cx="45710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dirty="0">
                <a:solidFill>
                  <a:srgbClr val="133984"/>
                </a:solidFill>
              </a:rPr>
              <a:t>20</a:t>
            </a:r>
            <a:r>
              <a:rPr lang="zh-CN" altLang="en-US" dirty="0">
                <a:solidFill>
                  <a:srgbClr val="133984"/>
                </a:solidFill>
              </a:rPr>
              <a:t>世纪</a:t>
            </a:r>
            <a:r>
              <a:rPr lang="en-US" altLang="zh-CN" dirty="0">
                <a:solidFill>
                  <a:srgbClr val="133984"/>
                </a:solidFill>
              </a:rPr>
              <a:t>70</a:t>
            </a:r>
            <a:r>
              <a:rPr lang="zh-CN" altLang="en-US" dirty="0">
                <a:solidFill>
                  <a:srgbClr val="133984"/>
                </a:solidFill>
              </a:rPr>
              <a:t>年代初，丹尼斯</a:t>
            </a:r>
            <a:r>
              <a:rPr lang="en-US" altLang="zh-CN" dirty="0">
                <a:solidFill>
                  <a:srgbClr val="133984"/>
                </a:solidFill>
              </a:rPr>
              <a:t>·</a:t>
            </a:r>
            <a:r>
              <a:rPr lang="zh-CN" altLang="en-US" dirty="0">
                <a:solidFill>
                  <a:srgbClr val="133984"/>
                </a:solidFill>
              </a:rPr>
              <a:t>里奇在肯</a:t>
            </a:r>
            <a:r>
              <a:rPr lang="en-US" altLang="zh-CN" dirty="0">
                <a:solidFill>
                  <a:srgbClr val="133984"/>
                </a:solidFill>
              </a:rPr>
              <a:t>·</a:t>
            </a:r>
            <a:r>
              <a:rPr lang="zh-CN" altLang="en-US" dirty="0">
                <a:solidFill>
                  <a:srgbClr val="133984"/>
                </a:solidFill>
              </a:rPr>
              <a:t>汤普逊研制的</a:t>
            </a:r>
            <a:r>
              <a:rPr lang="en-US" altLang="zh-CN" dirty="0">
                <a:solidFill>
                  <a:srgbClr val="133984"/>
                </a:solidFill>
              </a:rPr>
              <a:t>B</a:t>
            </a:r>
            <a:r>
              <a:rPr lang="zh-CN" altLang="en-US" dirty="0">
                <a:solidFill>
                  <a:srgbClr val="133984"/>
                </a:solidFill>
              </a:rPr>
              <a:t>语言的基础上推出了</a:t>
            </a:r>
            <a:r>
              <a:rPr lang="en-US" altLang="zh-CN" dirty="0">
                <a:solidFill>
                  <a:srgbClr val="133984"/>
                </a:solidFill>
              </a:rPr>
              <a:t>C</a:t>
            </a:r>
            <a:r>
              <a:rPr lang="zh-CN" altLang="en-US" dirty="0">
                <a:solidFill>
                  <a:srgbClr val="133984"/>
                </a:solidFill>
              </a:rPr>
              <a:t>语言</a:t>
            </a:r>
            <a:r>
              <a:rPr lang="en-US" altLang="zh-CN" dirty="0">
                <a:solidFill>
                  <a:srgbClr val="133984"/>
                </a:solidFill>
              </a:rPr>
              <a:t> </a:t>
            </a:r>
          </a:p>
        </p:txBody>
      </p:sp>
      <p:sp>
        <p:nvSpPr>
          <p:cNvPr id="8" name="矩形 7"/>
          <p:cNvSpPr/>
          <p:nvPr/>
        </p:nvSpPr>
        <p:spPr>
          <a:xfrm>
            <a:off x="4572000" y="3356991"/>
            <a:ext cx="4572000" cy="1200329"/>
          </a:xfrm>
          <a:prstGeom prst="rect">
            <a:avLst/>
          </a:prstGeom>
        </p:spPr>
        <p:txBody>
          <a:bodyPr>
            <a:spAutoFit/>
          </a:bodyPr>
          <a:lstStyle/>
          <a:p>
            <a:r>
              <a:rPr lang="zh-CN" altLang="en-US" dirty="0">
                <a:solidFill>
                  <a:srgbClr val="133984"/>
                </a:solidFill>
              </a:rPr>
              <a:t>特点：</a:t>
            </a:r>
            <a:r>
              <a:rPr lang="zh-CN" altLang="zh-CN" dirty="0">
                <a:solidFill>
                  <a:srgbClr val="133984"/>
                </a:solidFill>
              </a:rPr>
              <a:t>兼顾了高级语言和汇编语言的特点</a:t>
            </a:r>
            <a:r>
              <a:rPr lang="en-US" altLang="zh-CN" dirty="0">
                <a:solidFill>
                  <a:srgbClr val="133984"/>
                </a:solidFill>
              </a:rPr>
              <a:t>,</a:t>
            </a:r>
            <a:r>
              <a:rPr lang="zh-CN" altLang="zh-CN" dirty="0">
                <a:solidFill>
                  <a:srgbClr val="133984"/>
                </a:solidFill>
              </a:rPr>
              <a:t>简洁、丰富、可移植。</a:t>
            </a:r>
            <a:r>
              <a:rPr lang="zh-CN" altLang="en-US" dirty="0">
                <a:solidFill>
                  <a:srgbClr val="133984"/>
                </a:solidFill>
              </a:rPr>
              <a:t>既有</a:t>
            </a:r>
            <a:r>
              <a:rPr lang="zh-CN" altLang="zh-CN" dirty="0">
                <a:solidFill>
                  <a:srgbClr val="133984"/>
                </a:solidFill>
              </a:rPr>
              <a:t>高级语言的自然</a:t>
            </a:r>
            <a:r>
              <a:rPr lang="en-US" altLang="zh-CN" dirty="0">
                <a:solidFill>
                  <a:srgbClr val="133984"/>
                </a:solidFill>
              </a:rPr>
              <a:t>,</a:t>
            </a:r>
            <a:r>
              <a:rPr lang="zh-CN" altLang="en-US" dirty="0">
                <a:solidFill>
                  <a:srgbClr val="133984"/>
                </a:solidFill>
              </a:rPr>
              <a:t>又有</a:t>
            </a:r>
            <a:r>
              <a:rPr lang="zh-CN" altLang="zh-CN" dirty="0">
                <a:solidFill>
                  <a:srgbClr val="133984"/>
                </a:solidFill>
              </a:rPr>
              <a:t>利用计算机硬件指令的直接</a:t>
            </a:r>
            <a:r>
              <a:rPr lang="zh-CN" altLang="en-US" dirty="0">
                <a:solidFill>
                  <a:srgbClr val="133984"/>
                </a:solidFill>
              </a:rPr>
              <a:t>。成为</a:t>
            </a:r>
            <a:r>
              <a:rPr lang="zh-CN" altLang="zh-CN" dirty="0">
                <a:solidFill>
                  <a:srgbClr val="133984"/>
                </a:solidFill>
              </a:rPr>
              <a:t>世界上应用最广泛的程序设计语言</a:t>
            </a:r>
            <a:r>
              <a:rPr lang="zh-CN" altLang="en-US" dirty="0">
                <a:solidFill>
                  <a:srgbClr val="133984"/>
                </a:solidFill>
              </a:rPr>
              <a:t>。</a:t>
            </a:r>
          </a:p>
        </p:txBody>
      </p:sp>
    </p:spTree>
    <p:extLst>
      <p:ext uri="{BB962C8B-B14F-4D97-AF65-F5344CB8AC3E}">
        <p14:creationId xmlns:p14="http://schemas.microsoft.com/office/powerpoint/2010/main" val="726353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403648" y="476672"/>
            <a:ext cx="2592288" cy="584775"/>
          </a:xfrm>
          <a:prstGeom prst="rect">
            <a:avLst/>
          </a:prstGeom>
        </p:spPr>
        <p:txBody>
          <a:bodyPr wrap="square">
            <a:spAutoFit/>
          </a:bodyPr>
          <a:lstStyle/>
          <a:p>
            <a:r>
              <a:rPr lang="en-US" altLang="zh-CN" sz="3200" b="1" dirty="0">
                <a:solidFill>
                  <a:srgbClr val="133984"/>
                </a:solidFill>
              </a:rPr>
              <a:t>COBOL</a:t>
            </a:r>
          </a:p>
        </p:txBody>
      </p:sp>
      <p:grpSp>
        <p:nvGrpSpPr>
          <p:cNvPr id="10" name="组合 9"/>
          <p:cNvGrpSpPr/>
          <p:nvPr/>
        </p:nvGrpSpPr>
        <p:grpSpPr>
          <a:xfrm>
            <a:off x="515615" y="1775977"/>
            <a:ext cx="2997121" cy="4246730"/>
            <a:chOff x="515615" y="1775977"/>
            <a:chExt cx="2997121" cy="4246730"/>
          </a:xfrm>
        </p:grpSpPr>
        <p:pic>
          <p:nvPicPr>
            <p:cNvPr id="6" name="图片 5" descr="Grace_Hopper.jpg"/>
            <p:cNvPicPr/>
            <p:nvPr/>
          </p:nvPicPr>
          <p:blipFill>
            <a:blip r:embed="rId2"/>
            <a:stretch>
              <a:fillRect/>
            </a:stretch>
          </p:blipFill>
          <p:spPr>
            <a:xfrm>
              <a:off x="870922" y="1775977"/>
              <a:ext cx="2526665" cy="2962275"/>
            </a:xfrm>
            <a:prstGeom prst="rect">
              <a:avLst/>
            </a:prstGeom>
          </p:spPr>
        </p:pic>
        <p:sp>
          <p:nvSpPr>
            <p:cNvPr id="7" name="矩形 6"/>
            <p:cNvSpPr/>
            <p:nvPr/>
          </p:nvSpPr>
          <p:spPr>
            <a:xfrm>
              <a:off x="515615" y="5376376"/>
              <a:ext cx="2997121" cy="646331"/>
            </a:xfrm>
            <a:prstGeom prst="rect">
              <a:avLst/>
            </a:prstGeom>
          </p:spPr>
          <p:txBody>
            <a:bodyPr wrap="square">
              <a:spAutoFit/>
            </a:bodyPr>
            <a:lstStyle/>
            <a:p>
              <a:pPr algn="ctr"/>
              <a:r>
                <a:rPr lang="zh-CN" altLang="zh-CN" dirty="0">
                  <a:solidFill>
                    <a:srgbClr val="133984"/>
                  </a:solidFill>
                </a:rPr>
                <a:t>格蕾丝•穆雷•霍普</a:t>
              </a:r>
              <a:endParaRPr lang="en-US" altLang="zh-CN" dirty="0">
                <a:solidFill>
                  <a:srgbClr val="133984"/>
                </a:solidFill>
              </a:endParaRPr>
            </a:p>
            <a:p>
              <a:pPr algn="ctr"/>
              <a:r>
                <a:rPr lang="en-US" altLang="zh-CN" dirty="0">
                  <a:solidFill>
                    <a:srgbClr val="133984"/>
                  </a:solidFill>
                </a:rPr>
                <a:t>(Grace Murray Hopper)</a:t>
              </a:r>
              <a:endParaRPr lang="zh-CN" altLang="zh-CN" dirty="0">
                <a:solidFill>
                  <a:srgbClr val="133984"/>
                </a:solidFill>
              </a:endParaRPr>
            </a:p>
          </p:txBody>
        </p:sp>
      </p:grpSp>
      <p:sp>
        <p:nvSpPr>
          <p:cNvPr id="2" name="矩形 1"/>
          <p:cNvSpPr/>
          <p:nvPr/>
        </p:nvSpPr>
        <p:spPr>
          <a:xfrm>
            <a:off x="3995936" y="1406725"/>
            <a:ext cx="4572000" cy="646331"/>
          </a:xfrm>
          <a:prstGeom prst="rect">
            <a:avLst/>
          </a:prstGeom>
        </p:spPr>
        <p:txBody>
          <a:bodyPr>
            <a:spAutoFit/>
          </a:bodyPr>
          <a:lstStyle/>
          <a:p>
            <a:r>
              <a:rPr lang="en-US" altLang="zh-CN" b="1" dirty="0" err="1">
                <a:solidFill>
                  <a:srgbClr val="133984"/>
                </a:solidFill>
              </a:rPr>
              <a:t>CO</a:t>
            </a:r>
            <a:r>
              <a:rPr lang="en-US" altLang="zh-CN" dirty="0" err="1">
                <a:solidFill>
                  <a:srgbClr val="133984"/>
                </a:solidFill>
              </a:rPr>
              <a:t>mmon</a:t>
            </a:r>
            <a:r>
              <a:rPr lang="en-US" altLang="zh-CN" dirty="0">
                <a:solidFill>
                  <a:srgbClr val="133984"/>
                </a:solidFill>
              </a:rPr>
              <a:t> </a:t>
            </a:r>
            <a:r>
              <a:rPr lang="en-US" altLang="zh-CN" b="1" dirty="0">
                <a:solidFill>
                  <a:srgbClr val="133984"/>
                </a:solidFill>
              </a:rPr>
              <a:t>B</a:t>
            </a:r>
            <a:r>
              <a:rPr lang="en-US" altLang="zh-CN" dirty="0">
                <a:solidFill>
                  <a:srgbClr val="133984"/>
                </a:solidFill>
              </a:rPr>
              <a:t>usiness </a:t>
            </a:r>
            <a:r>
              <a:rPr lang="en-US" altLang="zh-CN" b="1" dirty="0">
                <a:solidFill>
                  <a:srgbClr val="133984"/>
                </a:solidFill>
              </a:rPr>
              <a:t>O</a:t>
            </a:r>
            <a:r>
              <a:rPr lang="en-US" altLang="zh-CN" dirty="0">
                <a:solidFill>
                  <a:srgbClr val="133984"/>
                </a:solidFill>
              </a:rPr>
              <a:t>riented </a:t>
            </a:r>
            <a:r>
              <a:rPr lang="en-US" altLang="zh-CN" b="1" dirty="0">
                <a:solidFill>
                  <a:srgbClr val="133984"/>
                </a:solidFill>
              </a:rPr>
              <a:t>L</a:t>
            </a:r>
            <a:r>
              <a:rPr lang="en-US" altLang="zh-CN" dirty="0">
                <a:solidFill>
                  <a:srgbClr val="133984"/>
                </a:solidFill>
              </a:rPr>
              <a:t>anguage</a:t>
            </a:r>
            <a:r>
              <a:rPr lang="zh-CN" altLang="en-US" dirty="0">
                <a:solidFill>
                  <a:srgbClr val="133984"/>
                </a:solidFill>
              </a:rPr>
              <a:t>（</a:t>
            </a:r>
            <a:r>
              <a:rPr lang="zh-CN" altLang="zh-CN" dirty="0">
                <a:solidFill>
                  <a:srgbClr val="133984"/>
                </a:solidFill>
              </a:rPr>
              <a:t>通用商业语言</a:t>
            </a:r>
            <a:r>
              <a:rPr lang="zh-CN" altLang="en-US" dirty="0">
                <a:solidFill>
                  <a:srgbClr val="133984"/>
                </a:solidFill>
              </a:rPr>
              <a:t>）</a:t>
            </a:r>
          </a:p>
        </p:txBody>
      </p:sp>
      <p:sp>
        <p:nvSpPr>
          <p:cNvPr id="3" name="矩形 2"/>
          <p:cNvSpPr/>
          <p:nvPr/>
        </p:nvSpPr>
        <p:spPr>
          <a:xfrm>
            <a:off x="3995936" y="2053056"/>
            <a:ext cx="4572000" cy="923330"/>
          </a:xfrm>
          <a:prstGeom prst="rect">
            <a:avLst/>
          </a:prstGeom>
        </p:spPr>
        <p:txBody>
          <a:bodyPr>
            <a:spAutoFit/>
          </a:bodyPr>
          <a:lstStyle/>
          <a:p>
            <a:r>
              <a:rPr lang="zh-CN" altLang="zh-CN" dirty="0">
                <a:solidFill>
                  <a:srgbClr val="133984"/>
                </a:solidFill>
              </a:rPr>
              <a:t>是最早的高级编程语言之一，是世界上第一个商用语言。其设计思想在很大程度上来自于美国女计算机科学家格蕾丝·穆雷·霍普</a:t>
            </a:r>
            <a:r>
              <a:rPr lang="zh-CN" altLang="en-US" dirty="0">
                <a:solidFill>
                  <a:srgbClr val="133984"/>
                </a:solidFill>
              </a:rPr>
              <a:t>。</a:t>
            </a:r>
          </a:p>
        </p:txBody>
      </p:sp>
      <p:sp>
        <p:nvSpPr>
          <p:cNvPr id="8" name="矩形 7"/>
          <p:cNvSpPr/>
          <p:nvPr/>
        </p:nvSpPr>
        <p:spPr>
          <a:xfrm>
            <a:off x="3995936" y="2976386"/>
            <a:ext cx="4572000" cy="1200329"/>
          </a:xfrm>
          <a:prstGeom prst="rect">
            <a:avLst/>
          </a:prstGeom>
        </p:spPr>
        <p:txBody>
          <a:bodyPr>
            <a:spAutoFit/>
          </a:bodyPr>
          <a:lstStyle/>
          <a:p>
            <a:r>
              <a:rPr lang="en-US" altLang="zh-CN" dirty="0">
                <a:solidFill>
                  <a:srgbClr val="133984"/>
                </a:solidFill>
              </a:rPr>
              <a:t>1959</a:t>
            </a:r>
            <a:r>
              <a:rPr lang="zh-CN" altLang="zh-CN" dirty="0">
                <a:solidFill>
                  <a:srgbClr val="133984"/>
                </a:solidFill>
              </a:rPr>
              <a:t>年</a:t>
            </a:r>
            <a:r>
              <a:rPr lang="en-US" altLang="zh-CN" dirty="0">
                <a:solidFill>
                  <a:srgbClr val="133984"/>
                </a:solidFill>
              </a:rPr>
              <a:t>,</a:t>
            </a:r>
            <a:r>
              <a:rPr lang="zh-CN" altLang="zh-CN" dirty="0">
                <a:solidFill>
                  <a:srgbClr val="133984"/>
                </a:solidFill>
              </a:rPr>
              <a:t>由美国的一些计算机用户组织和政府部门为专门解决经企管理问题共同设计了专用于商务处理的计算机语言</a:t>
            </a:r>
            <a:r>
              <a:rPr lang="en-US" altLang="zh-CN" dirty="0">
                <a:solidFill>
                  <a:srgbClr val="133984"/>
                </a:solidFill>
              </a:rPr>
              <a:t>COBOL,</a:t>
            </a:r>
            <a:r>
              <a:rPr lang="zh-CN" altLang="zh-CN" dirty="0">
                <a:solidFill>
                  <a:srgbClr val="133984"/>
                </a:solidFill>
              </a:rPr>
              <a:t>并于</a:t>
            </a:r>
            <a:r>
              <a:rPr lang="en-US" altLang="zh-CN" dirty="0">
                <a:solidFill>
                  <a:srgbClr val="133984"/>
                </a:solidFill>
              </a:rPr>
              <a:t>1961</a:t>
            </a:r>
            <a:r>
              <a:rPr lang="zh-CN" altLang="zh-CN" dirty="0">
                <a:solidFill>
                  <a:srgbClr val="133984"/>
                </a:solidFill>
              </a:rPr>
              <a:t>年由美国数据系统语言协会公布</a:t>
            </a:r>
            <a:endParaRPr lang="zh-CN" altLang="en-US" dirty="0">
              <a:solidFill>
                <a:srgbClr val="133984"/>
              </a:solidFill>
            </a:endParaRPr>
          </a:p>
        </p:txBody>
      </p:sp>
      <p:sp>
        <p:nvSpPr>
          <p:cNvPr id="9" name="矩形 8"/>
          <p:cNvSpPr/>
          <p:nvPr/>
        </p:nvSpPr>
        <p:spPr>
          <a:xfrm>
            <a:off x="3995936" y="4360713"/>
            <a:ext cx="4572000" cy="2031325"/>
          </a:xfrm>
          <a:prstGeom prst="rect">
            <a:avLst/>
          </a:prstGeom>
        </p:spPr>
        <p:txBody>
          <a:bodyPr>
            <a:spAutoFit/>
          </a:bodyPr>
          <a:lstStyle/>
          <a:p>
            <a:r>
              <a:rPr lang="zh-CN" altLang="en-US" dirty="0">
                <a:solidFill>
                  <a:srgbClr val="133984"/>
                </a:solidFill>
              </a:rPr>
              <a:t>特点：</a:t>
            </a:r>
            <a:r>
              <a:rPr lang="zh-CN" altLang="zh-CN" dirty="0">
                <a:solidFill>
                  <a:srgbClr val="133984"/>
                </a:solidFill>
              </a:rPr>
              <a:t>使用了</a:t>
            </a:r>
            <a:r>
              <a:rPr lang="en-US" altLang="zh-CN" dirty="0">
                <a:solidFill>
                  <a:srgbClr val="133984"/>
                </a:solidFill>
              </a:rPr>
              <a:t>300</a:t>
            </a:r>
            <a:r>
              <a:rPr lang="zh-CN" altLang="zh-CN" dirty="0">
                <a:solidFill>
                  <a:srgbClr val="133984"/>
                </a:solidFill>
              </a:rPr>
              <a:t>多个英语保留字</a:t>
            </a:r>
            <a:r>
              <a:rPr lang="en-US" altLang="zh-CN" dirty="0">
                <a:solidFill>
                  <a:srgbClr val="133984"/>
                </a:solidFill>
              </a:rPr>
              <a:t>,</a:t>
            </a:r>
            <a:r>
              <a:rPr lang="zh-CN" altLang="zh-CN" dirty="0">
                <a:solidFill>
                  <a:srgbClr val="133984"/>
                </a:solidFill>
              </a:rPr>
              <a:t>大量采用普通英语词汇和句型，程序通俗易懂</a:t>
            </a:r>
            <a:r>
              <a:rPr lang="zh-CN" altLang="en-US" dirty="0">
                <a:solidFill>
                  <a:srgbClr val="133984"/>
                </a:solidFill>
              </a:rPr>
              <a:t>。</a:t>
            </a:r>
            <a:r>
              <a:rPr lang="zh-CN" altLang="zh-CN" dirty="0">
                <a:solidFill>
                  <a:srgbClr val="133984"/>
                </a:solidFill>
              </a:rPr>
              <a:t>语法规则严格</a:t>
            </a:r>
            <a:r>
              <a:rPr lang="zh-CN" altLang="en-US" dirty="0">
                <a:solidFill>
                  <a:srgbClr val="133984"/>
                </a:solidFill>
              </a:rPr>
              <a:t>，</a:t>
            </a:r>
            <a:r>
              <a:rPr lang="zh-CN" altLang="zh-CN" dirty="0">
                <a:solidFill>
                  <a:srgbClr val="133984"/>
                </a:solidFill>
              </a:rPr>
              <a:t>编写的任一源程序</a:t>
            </a:r>
            <a:r>
              <a:rPr lang="en-US" altLang="zh-CN" dirty="0">
                <a:solidFill>
                  <a:srgbClr val="133984"/>
                </a:solidFill>
              </a:rPr>
              <a:t>,</a:t>
            </a:r>
            <a:r>
              <a:rPr lang="zh-CN" altLang="zh-CN" dirty="0">
                <a:solidFill>
                  <a:srgbClr val="133984"/>
                </a:solidFill>
              </a:rPr>
              <a:t>都要依次按标识部、环境部、数据部和过程部四部分书写</a:t>
            </a:r>
            <a:r>
              <a:rPr lang="zh-CN" altLang="en-US" dirty="0">
                <a:solidFill>
                  <a:srgbClr val="133984"/>
                </a:solidFill>
              </a:rPr>
              <a:t>。</a:t>
            </a:r>
            <a:r>
              <a:rPr lang="zh-CN" altLang="zh-CN" dirty="0">
                <a:solidFill>
                  <a:srgbClr val="133984"/>
                </a:solidFill>
              </a:rPr>
              <a:t>主要应用于情报检索、商业数据处理等管理领域。</a:t>
            </a:r>
          </a:p>
          <a:p>
            <a:endParaRPr lang="zh-CN" altLang="en-US" dirty="0">
              <a:solidFill>
                <a:srgbClr val="133984"/>
              </a:solidFill>
            </a:endParaRPr>
          </a:p>
        </p:txBody>
      </p:sp>
    </p:spTree>
    <p:extLst>
      <p:ext uri="{BB962C8B-B14F-4D97-AF65-F5344CB8AC3E}">
        <p14:creationId xmlns:p14="http://schemas.microsoft.com/office/powerpoint/2010/main" val="2885602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687206" y="271113"/>
            <a:ext cx="2133918" cy="584775"/>
          </a:xfrm>
          <a:prstGeom prst="rect">
            <a:avLst/>
          </a:prstGeom>
        </p:spPr>
        <p:txBody>
          <a:bodyPr wrap="none">
            <a:spAutoFit/>
          </a:bodyPr>
          <a:lstStyle/>
          <a:p>
            <a:r>
              <a:rPr lang="en-US" altLang="zh-CN" sz="3200" b="1" dirty="0">
                <a:solidFill>
                  <a:srgbClr val="133984"/>
                </a:solidFill>
              </a:rPr>
              <a:t>ALGOL</a:t>
            </a:r>
            <a:r>
              <a:rPr lang="zh-CN" altLang="zh-CN" sz="3200" b="1" dirty="0">
                <a:solidFill>
                  <a:srgbClr val="133984"/>
                </a:solidFill>
              </a:rPr>
              <a:t>语言</a:t>
            </a:r>
            <a:endParaRPr lang="zh-CN" altLang="zh-CN" sz="3200" dirty="0">
              <a:solidFill>
                <a:srgbClr val="133984"/>
              </a:solidFill>
            </a:endParaRPr>
          </a:p>
        </p:txBody>
      </p:sp>
      <p:grpSp>
        <p:nvGrpSpPr>
          <p:cNvPr id="2" name="组合 1"/>
          <p:cNvGrpSpPr/>
          <p:nvPr/>
        </p:nvGrpSpPr>
        <p:grpSpPr>
          <a:xfrm>
            <a:off x="339056" y="855888"/>
            <a:ext cx="2781300" cy="3598659"/>
            <a:chOff x="323528" y="1340768"/>
            <a:chExt cx="2781300" cy="3598659"/>
          </a:xfrm>
        </p:grpSpPr>
        <p:pic>
          <p:nvPicPr>
            <p:cNvPr id="5" name="图片 4" descr="alan perlis.jpg"/>
            <p:cNvPicPr/>
            <p:nvPr/>
          </p:nvPicPr>
          <p:blipFill>
            <a:blip r:embed="rId2"/>
            <a:stretch>
              <a:fillRect/>
            </a:stretch>
          </p:blipFill>
          <p:spPr>
            <a:xfrm>
              <a:off x="323528" y="1340768"/>
              <a:ext cx="2781300" cy="2628900"/>
            </a:xfrm>
            <a:prstGeom prst="rect">
              <a:avLst/>
            </a:prstGeom>
          </p:spPr>
        </p:pic>
        <p:sp>
          <p:nvSpPr>
            <p:cNvPr id="6" name="矩形 5"/>
            <p:cNvSpPr/>
            <p:nvPr/>
          </p:nvSpPr>
          <p:spPr>
            <a:xfrm>
              <a:off x="857089" y="4293096"/>
              <a:ext cx="1714178" cy="646331"/>
            </a:xfrm>
            <a:prstGeom prst="rect">
              <a:avLst/>
            </a:prstGeom>
          </p:spPr>
          <p:txBody>
            <a:bodyPr wrap="square">
              <a:spAutoFit/>
            </a:bodyPr>
            <a:lstStyle/>
            <a:p>
              <a:pPr algn="ctr"/>
              <a:r>
                <a:rPr lang="zh-CN" altLang="zh-CN" dirty="0">
                  <a:solidFill>
                    <a:srgbClr val="133984"/>
                  </a:solidFill>
                </a:rPr>
                <a:t>艾伦•佩利</a:t>
              </a:r>
              <a:endParaRPr lang="en-US" altLang="zh-CN" dirty="0">
                <a:solidFill>
                  <a:srgbClr val="133984"/>
                </a:solidFill>
              </a:endParaRPr>
            </a:p>
            <a:p>
              <a:pPr algn="ctr"/>
              <a:r>
                <a:rPr lang="en-US" altLang="zh-CN" dirty="0">
                  <a:solidFill>
                    <a:srgbClr val="133984"/>
                  </a:solidFill>
                </a:rPr>
                <a:t>(Alan Jay Perlis)</a:t>
              </a:r>
              <a:endParaRPr lang="zh-CN" altLang="zh-CN" dirty="0">
                <a:solidFill>
                  <a:srgbClr val="133984"/>
                </a:solidFill>
              </a:endParaRPr>
            </a:p>
          </p:txBody>
        </p:sp>
      </p:grpSp>
      <p:grpSp>
        <p:nvGrpSpPr>
          <p:cNvPr id="3" name="组合 2"/>
          <p:cNvGrpSpPr/>
          <p:nvPr/>
        </p:nvGrpSpPr>
        <p:grpSpPr>
          <a:xfrm>
            <a:off x="3507408" y="889109"/>
            <a:ext cx="2425700" cy="3565438"/>
            <a:chOff x="3491880" y="1373989"/>
            <a:chExt cx="2425700" cy="3565438"/>
          </a:xfrm>
        </p:grpSpPr>
        <p:pic>
          <p:nvPicPr>
            <p:cNvPr id="7" name="图片 6" descr="John_McCarthy_Stanford.jpg"/>
            <p:cNvPicPr/>
            <p:nvPr/>
          </p:nvPicPr>
          <p:blipFill>
            <a:blip r:embed="rId3" cstate="print"/>
            <a:stretch>
              <a:fillRect/>
            </a:stretch>
          </p:blipFill>
          <p:spPr>
            <a:xfrm>
              <a:off x="3491880" y="1373989"/>
              <a:ext cx="2425700" cy="1614805"/>
            </a:xfrm>
            <a:prstGeom prst="rect">
              <a:avLst/>
            </a:prstGeom>
          </p:spPr>
        </p:pic>
        <p:sp>
          <p:nvSpPr>
            <p:cNvPr id="9" name="矩形 8"/>
            <p:cNvSpPr/>
            <p:nvPr/>
          </p:nvSpPr>
          <p:spPr>
            <a:xfrm>
              <a:off x="3868160" y="4293096"/>
              <a:ext cx="1740955" cy="646331"/>
            </a:xfrm>
            <a:prstGeom prst="rect">
              <a:avLst/>
            </a:prstGeom>
          </p:spPr>
          <p:txBody>
            <a:bodyPr wrap="square">
              <a:spAutoFit/>
            </a:bodyPr>
            <a:lstStyle/>
            <a:p>
              <a:pPr algn="ctr"/>
              <a:r>
                <a:rPr lang="zh-CN" altLang="zh-CN" dirty="0">
                  <a:solidFill>
                    <a:srgbClr val="133984"/>
                  </a:solidFill>
                </a:rPr>
                <a:t>约翰•麦卡锡</a:t>
              </a:r>
              <a:endParaRPr lang="en-US" altLang="zh-CN" dirty="0">
                <a:solidFill>
                  <a:srgbClr val="133984"/>
                </a:solidFill>
              </a:endParaRPr>
            </a:p>
            <a:p>
              <a:pPr algn="ctr"/>
              <a:r>
                <a:rPr lang="en-US" altLang="zh-CN" dirty="0">
                  <a:solidFill>
                    <a:srgbClr val="133984"/>
                  </a:solidFill>
                </a:rPr>
                <a:t>(John McCarthy)</a:t>
              </a:r>
              <a:endParaRPr lang="zh-CN" altLang="zh-CN" dirty="0">
                <a:solidFill>
                  <a:srgbClr val="133984"/>
                </a:solidFill>
              </a:endParaRPr>
            </a:p>
          </p:txBody>
        </p:sp>
      </p:grpSp>
      <p:grpSp>
        <p:nvGrpSpPr>
          <p:cNvPr id="11" name="组合 10"/>
          <p:cNvGrpSpPr/>
          <p:nvPr/>
        </p:nvGrpSpPr>
        <p:grpSpPr>
          <a:xfrm>
            <a:off x="6675760" y="918949"/>
            <a:ext cx="1950085" cy="3535598"/>
            <a:chOff x="6660232" y="1403829"/>
            <a:chExt cx="1950085" cy="3535598"/>
          </a:xfrm>
        </p:grpSpPr>
        <p:pic>
          <p:nvPicPr>
            <p:cNvPr id="8" name="图片 7" descr="Peter naur.jpg"/>
            <p:cNvPicPr/>
            <p:nvPr/>
          </p:nvPicPr>
          <p:blipFill>
            <a:blip r:embed="rId4" cstate="print"/>
            <a:stretch>
              <a:fillRect/>
            </a:stretch>
          </p:blipFill>
          <p:spPr>
            <a:xfrm>
              <a:off x="6660232" y="1403829"/>
              <a:ext cx="1950085" cy="2599055"/>
            </a:xfrm>
            <a:prstGeom prst="rect">
              <a:avLst/>
            </a:prstGeom>
          </p:spPr>
        </p:pic>
        <p:sp>
          <p:nvSpPr>
            <p:cNvPr id="10" name="矩形 9"/>
            <p:cNvSpPr/>
            <p:nvPr/>
          </p:nvSpPr>
          <p:spPr>
            <a:xfrm>
              <a:off x="7008206" y="4293096"/>
              <a:ext cx="1309244" cy="646331"/>
            </a:xfrm>
            <a:prstGeom prst="rect">
              <a:avLst/>
            </a:prstGeom>
          </p:spPr>
          <p:txBody>
            <a:bodyPr wrap="square">
              <a:spAutoFit/>
            </a:bodyPr>
            <a:lstStyle/>
            <a:p>
              <a:pPr algn="ctr"/>
              <a:r>
                <a:rPr lang="zh-CN" altLang="zh-CN" dirty="0">
                  <a:solidFill>
                    <a:srgbClr val="133984"/>
                  </a:solidFill>
                </a:rPr>
                <a:t>彼得•诺尔</a:t>
              </a:r>
              <a:endParaRPr lang="en-US" altLang="zh-CN" dirty="0">
                <a:solidFill>
                  <a:srgbClr val="133984"/>
                </a:solidFill>
              </a:endParaRPr>
            </a:p>
            <a:p>
              <a:pPr algn="ctr"/>
              <a:r>
                <a:rPr lang="en-US" altLang="zh-CN" dirty="0">
                  <a:solidFill>
                    <a:srgbClr val="133984"/>
                  </a:solidFill>
                </a:rPr>
                <a:t>(Peter </a:t>
              </a:r>
              <a:r>
                <a:rPr lang="en-US" altLang="zh-CN" dirty="0" err="1">
                  <a:solidFill>
                    <a:srgbClr val="133984"/>
                  </a:solidFill>
                </a:rPr>
                <a:t>Naur</a:t>
              </a:r>
              <a:r>
                <a:rPr lang="en-US" altLang="zh-CN" dirty="0">
                  <a:solidFill>
                    <a:srgbClr val="133984"/>
                  </a:solidFill>
                </a:rPr>
                <a:t>)</a:t>
              </a:r>
              <a:endParaRPr lang="zh-CN" altLang="zh-CN" dirty="0">
                <a:solidFill>
                  <a:srgbClr val="133984"/>
                </a:solidFill>
              </a:endParaRPr>
            </a:p>
          </p:txBody>
        </p:sp>
      </p:grpSp>
      <p:sp>
        <p:nvSpPr>
          <p:cNvPr id="12" name="矩形 11"/>
          <p:cNvSpPr/>
          <p:nvPr/>
        </p:nvSpPr>
        <p:spPr>
          <a:xfrm>
            <a:off x="1316050" y="4549476"/>
            <a:ext cx="3707233" cy="369332"/>
          </a:xfrm>
          <a:prstGeom prst="rect">
            <a:avLst/>
          </a:prstGeom>
        </p:spPr>
        <p:txBody>
          <a:bodyPr wrap="none">
            <a:spAutoFit/>
          </a:bodyPr>
          <a:lstStyle/>
          <a:p>
            <a:r>
              <a:rPr lang="en-US" altLang="zh-CN" dirty="0" err="1">
                <a:solidFill>
                  <a:srgbClr val="133984"/>
                </a:solidFill>
              </a:rPr>
              <a:t>ALGOrithmic</a:t>
            </a:r>
            <a:r>
              <a:rPr lang="en-US" altLang="zh-CN" dirty="0">
                <a:solidFill>
                  <a:srgbClr val="133984"/>
                </a:solidFill>
              </a:rPr>
              <a:t> Language</a:t>
            </a:r>
            <a:r>
              <a:rPr lang="zh-CN" altLang="zh-CN" dirty="0">
                <a:solidFill>
                  <a:srgbClr val="133984"/>
                </a:solidFill>
              </a:rPr>
              <a:t>（算法语言）</a:t>
            </a:r>
            <a:endParaRPr lang="zh-CN" altLang="en-US" dirty="0">
              <a:solidFill>
                <a:srgbClr val="133984"/>
              </a:solidFill>
            </a:endParaRPr>
          </a:p>
        </p:txBody>
      </p:sp>
      <p:sp>
        <p:nvSpPr>
          <p:cNvPr id="13" name="矩形 12"/>
          <p:cNvSpPr/>
          <p:nvPr/>
        </p:nvSpPr>
        <p:spPr>
          <a:xfrm>
            <a:off x="1295338" y="5077668"/>
            <a:ext cx="5148869" cy="923330"/>
          </a:xfrm>
          <a:prstGeom prst="rect">
            <a:avLst/>
          </a:prstGeom>
        </p:spPr>
        <p:txBody>
          <a:bodyPr wrap="square">
            <a:spAutoFit/>
          </a:bodyPr>
          <a:lstStyle/>
          <a:p>
            <a:r>
              <a:rPr lang="zh-CN" altLang="en-US" dirty="0">
                <a:solidFill>
                  <a:srgbClr val="133984"/>
                </a:solidFill>
              </a:rPr>
              <a:t>特点：</a:t>
            </a:r>
            <a:r>
              <a:rPr lang="zh-CN" altLang="zh-CN" dirty="0">
                <a:solidFill>
                  <a:srgbClr val="133984"/>
                </a:solidFill>
              </a:rPr>
              <a:t>算法描述作为主要目的，其语法设计清晰严格，虽然语言本身没有被广泛的使用，但它是许多现代程序语言的概念基础。</a:t>
            </a:r>
            <a:endParaRPr lang="zh-CN" altLang="en-US" dirty="0">
              <a:solidFill>
                <a:srgbClr val="133984"/>
              </a:solidFill>
            </a:endParaRPr>
          </a:p>
        </p:txBody>
      </p:sp>
    </p:spTree>
    <p:extLst>
      <p:ext uri="{BB962C8B-B14F-4D97-AF65-F5344CB8AC3E}">
        <p14:creationId xmlns:p14="http://schemas.microsoft.com/office/powerpoint/2010/main" val="3044898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b="1" dirty="0">
                <a:solidFill>
                  <a:srgbClr val="133984"/>
                </a:solidFill>
              </a:rPr>
              <a:t>面向对象程序设计语言</a:t>
            </a:r>
          </a:p>
        </p:txBody>
      </p:sp>
      <p:sp>
        <p:nvSpPr>
          <p:cNvPr id="12" name="矩形 11"/>
          <p:cNvSpPr/>
          <p:nvPr/>
        </p:nvSpPr>
        <p:spPr>
          <a:xfrm>
            <a:off x="971600" y="1267520"/>
            <a:ext cx="3691780" cy="369332"/>
          </a:xfrm>
          <a:prstGeom prst="rect">
            <a:avLst/>
          </a:prstGeom>
        </p:spPr>
        <p:txBody>
          <a:bodyPr wrap="none">
            <a:spAutoFit/>
          </a:bodyPr>
          <a:lstStyle/>
          <a:p>
            <a:r>
              <a:rPr lang="zh-CN" altLang="en-US" b="1" dirty="0">
                <a:solidFill>
                  <a:srgbClr val="133984"/>
                </a:solidFill>
              </a:rPr>
              <a:t>原因：</a:t>
            </a:r>
            <a:r>
              <a:rPr lang="zh-CN" altLang="zh-CN" b="1" dirty="0">
                <a:solidFill>
                  <a:srgbClr val="133984"/>
                </a:solidFill>
              </a:rPr>
              <a:t>软件危机（</a:t>
            </a:r>
            <a:r>
              <a:rPr lang="en-US" altLang="zh-CN" b="1" dirty="0">
                <a:solidFill>
                  <a:srgbClr val="133984"/>
                </a:solidFill>
              </a:rPr>
              <a:t>Software Crisis</a:t>
            </a:r>
            <a:r>
              <a:rPr lang="zh-CN" altLang="zh-CN" b="1" dirty="0">
                <a:solidFill>
                  <a:srgbClr val="133984"/>
                </a:solidFill>
              </a:rPr>
              <a:t>）</a:t>
            </a:r>
            <a:endParaRPr lang="zh-CN" altLang="en-US" dirty="0">
              <a:solidFill>
                <a:srgbClr val="133984"/>
              </a:solidFill>
            </a:endParaRPr>
          </a:p>
        </p:txBody>
      </p:sp>
      <p:sp>
        <p:nvSpPr>
          <p:cNvPr id="13" name="矩形 12"/>
          <p:cNvSpPr/>
          <p:nvPr/>
        </p:nvSpPr>
        <p:spPr>
          <a:xfrm>
            <a:off x="1662990" y="4680089"/>
            <a:ext cx="1479838" cy="369332"/>
          </a:xfrm>
          <a:prstGeom prst="rect">
            <a:avLst/>
          </a:prstGeom>
        </p:spPr>
        <p:txBody>
          <a:bodyPr wrap="square">
            <a:spAutoFit/>
          </a:bodyPr>
          <a:lstStyle/>
          <a:p>
            <a:r>
              <a:rPr lang="zh-CN" altLang="zh-CN" dirty="0">
                <a:solidFill>
                  <a:srgbClr val="133984"/>
                </a:solidFill>
              </a:rPr>
              <a:t>④多态性。</a:t>
            </a:r>
          </a:p>
        </p:txBody>
      </p:sp>
      <p:sp>
        <p:nvSpPr>
          <p:cNvPr id="14" name="矩形 13"/>
          <p:cNvSpPr/>
          <p:nvPr/>
        </p:nvSpPr>
        <p:spPr>
          <a:xfrm>
            <a:off x="1054596" y="3172896"/>
            <a:ext cx="1338828" cy="369332"/>
          </a:xfrm>
          <a:prstGeom prst="rect">
            <a:avLst/>
          </a:prstGeom>
        </p:spPr>
        <p:txBody>
          <a:bodyPr wrap="none">
            <a:spAutoFit/>
          </a:bodyPr>
          <a:lstStyle/>
          <a:p>
            <a:r>
              <a:rPr lang="zh-CN" altLang="zh-CN" b="1" dirty="0">
                <a:solidFill>
                  <a:srgbClr val="133984"/>
                </a:solidFill>
              </a:rPr>
              <a:t>基本概念</a:t>
            </a:r>
            <a:r>
              <a:rPr lang="zh-CN" altLang="en-US" b="1" dirty="0">
                <a:solidFill>
                  <a:srgbClr val="133984"/>
                </a:solidFill>
              </a:rPr>
              <a:t>：</a:t>
            </a:r>
          </a:p>
        </p:txBody>
      </p:sp>
      <p:sp>
        <p:nvSpPr>
          <p:cNvPr id="15" name="矩形 14"/>
          <p:cNvSpPr/>
          <p:nvPr/>
        </p:nvSpPr>
        <p:spPr>
          <a:xfrm>
            <a:off x="1662990" y="3572093"/>
            <a:ext cx="1479838" cy="369332"/>
          </a:xfrm>
          <a:prstGeom prst="rect">
            <a:avLst/>
          </a:prstGeom>
        </p:spPr>
        <p:txBody>
          <a:bodyPr wrap="square">
            <a:spAutoFit/>
          </a:bodyPr>
          <a:lstStyle/>
          <a:p>
            <a:r>
              <a:rPr lang="zh-CN" altLang="zh-CN" dirty="0">
                <a:solidFill>
                  <a:srgbClr val="133984"/>
                </a:solidFill>
              </a:rPr>
              <a:t>①对象。</a:t>
            </a:r>
          </a:p>
        </p:txBody>
      </p:sp>
      <p:sp>
        <p:nvSpPr>
          <p:cNvPr id="16" name="矩形 15"/>
          <p:cNvSpPr/>
          <p:nvPr/>
        </p:nvSpPr>
        <p:spPr>
          <a:xfrm>
            <a:off x="1662990" y="3941425"/>
            <a:ext cx="1479838" cy="369332"/>
          </a:xfrm>
          <a:prstGeom prst="rect">
            <a:avLst/>
          </a:prstGeom>
        </p:spPr>
        <p:txBody>
          <a:bodyPr wrap="square">
            <a:spAutoFit/>
          </a:bodyPr>
          <a:lstStyle/>
          <a:p>
            <a:r>
              <a:rPr lang="zh-CN" altLang="zh-CN" dirty="0">
                <a:solidFill>
                  <a:srgbClr val="133984"/>
                </a:solidFill>
              </a:rPr>
              <a:t>②类。</a:t>
            </a:r>
          </a:p>
        </p:txBody>
      </p:sp>
      <p:sp>
        <p:nvSpPr>
          <p:cNvPr id="17" name="矩形 16"/>
          <p:cNvSpPr/>
          <p:nvPr/>
        </p:nvSpPr>
        <p:spPr>
          <a:xfrm>
            <a:off x="1662990" y="4310757"/>
            <a:ext cx="1479838" cy="369332"/>
          </a:xfrm>
          <a:prstGeom prst="rect">
            <a:avLst/>
          </a:prstGeom>
        </p:spPr>
        <p:txBody>
          <a:bodyPr wrap="square">
            <a:spAutoFit/>
          </a:bodyPr>
          <a:lstStyle/>
          <a:p>
            <a:r>
              <a:rPr lang="zh-CN" altLang="zh-CN" dirty="0">
                <a:solidFill>
                  <a:srgbClr val="133984"/>
                </a:solidFill>
              </a:rPr>
              <a:t>③继承。</a:t>
            </a:r>
          </a:p>
        </p:txBody>
      </p:sp>
      <p:sp>
        <p:nvSpPr>
          <p:cNvPr id="18" name="矩形 17"/>
          <p:cNvSpPr/>
          <p:nvPr/>
        </p:nvSpPr>
        <p:spPr>
          <a:xfrm>
            <a:off x="2826246" y="1719164"/>
            <a:ext cx="4572000" cy="923330"/>
          </a:xfrm>
          <a:prstGeom prst="rect">
            <a:avLst/>
          </a:prstGeom>
        </p:spPr>
        <p:txBody>
          <a:bodyPr>
            <a:spAutoFit/>
          </a:bodyPr>
          <a:lstStyle/>
          <a:p>
            <a:r>
              <a:rPr lang="zh-CN" altLang="en-US" dirty="0">
                <a:solidFill>
                  <a:srgbClr val="133984"/>
                </a:solidFill>
              </a:rPr>
              <a:t>落后的软件生产方式无法满足迅速增长的计算机软件需求，从而导致软件开发与维护过程中出现一系列严重问题的现象。</a:t>
            </a:r>
          </a:p>
        </p:txBody>
      </p:sp>
    </p:spTree>
    <p:extLst>
      <p:ext uri="{BB962C8B-B14F-4D97-AF65-F5344CB8AC3E}">
        <p14:creationId xmlns:p14="http://schemas.microsoft.com/office/powerpoint/2010/main" val="1057971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P spid="1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406012" y="683985"/>
            <a:ext cx="2175596" cy="584775"/>
          </a:xfrm>
          <a:prstGeom prst="rect">
            <a:avLst/>
          </a:prstGeom>
        </p:spPr>
        <p:txBody>
          <a:bodyPr wrap="none">
            <a:spAutoFit/>
          </a:bodyPr>
          <a:lstStyle/>
          <a:p>
            <a:r>
              <a:rPr lang="en-US" altLang="zh-CN" sz="3200" b="1" dirty="0">
                <a:solidFill>
                  <a:srgbClr val="133984"/>
                </a:solidFill>
              </a:rPr>
              <a:t>Visual Basic</a:t>
            </a:r>
            <a:endParaRPr lang="zh-CN" altLang="zh-CN" sz="3200" dirty="0">
              <a:solidFill>
                <a:srgbClr val="133984"/>
              </a:solidFill>
            </a:endParaRPr>
          </a:p>
        </p:txBody>
      </p:sp>
      <p:grpSp>
        <p:nvGrpSpPr>
          <p:cNvPr id="5" name="组合 4"/>
          <p:cNvGrpSpPr/>
          <p:nvPr/>
        </p:nvGrpSpPr>
        <p:grpSpPr>
          <a:xfrm>
            <a:off x="932368" y="1844824"/>
            <a:ext cx="2227469" cy="3147616"/>
            <a:chOff x="992622" y="2378908"/>
            <a:chExt cx="2227469" cy="3147616"/>
          </a:xfrm>
        </p:grpSpPr>
        <p:pic>
          <p:nvPicPr>
            <p:cNvPr id="6" name="图片 5" descr="AlanCooper.jpg"/>
            <p:cNvPicPr/>
            <p:nvPr/>
          </p:nvPicPr>
          <p:blipFill>
            <a:blip r:embed="rId2" cstate="print"/>
            <a:stretch>
              <a:fillRect/>
            </a:stretch>
          </p:blipFill>
          <p:spPr>
            <a:xfrm>
              <a:off x="1124329" y="2378908"/>
              <a:ext cx="1964055" cy="2469515"/>
            </a:xfrm>
            <a:prstGeom prst="rect">
              <a:avLst/>
            </a:prstGeom>
          </p:spPr>
        </p:pic>
        <p:sp>
          <p:nvSpPr>
            <p:cNvPr id="7" name="矩形 6"/>
            <p:cNvSpPr/>
            <p:nvPr/>
          </p:nvSpPr>
          <p:spPr>
            <a:xfrm>
              <a:off x="992622" y="5157192"/>
              <a:ext cx="2227469" cy="369332"/>
            </a:xfrm>
            <a:prstGeom prst="rect">
              <a:avLst/>
            </a:prstGeom>
          </p:spPr>
          <p:txBody>
            <a:bodyPr wrap="none">
              <a:spAutoFit/>
            </a:bodyPr>
            <a:lstStyle/>
            <a:p>
              <a:pPr algn="ctr"/>
              <a:r>
                <a:rPr lang="en-US" altLang="zh-CN" dirty="0">
                  <a:solidFill>
                    <a:srgbClr val="133984"/>
                  </a:solidFill>
                </a:rPr>
                <a:t>“VB</a:t>
              </a:r>
              <a:r>
                <a:rPr lang="zh-CN" altLang="en-US" dirty="0">
                  <a:solidFill>
                    <a:srgbClr val="133984"/>
                  </a:solidFill>
                </a:rPr>
                <a:t>之父</a:t>
              </a:r>
              <a:r>
                <a:rPr lang="en-US" altLang="zh-CN" dirty="0">
                  <a:solidFill>
                    <a:srgbClr val="133984"/>
                  </a:solidFill>
                </a:rPr>
                <a:t>”Alan Cooper</a:t>
              </a:r>
              <a:endParaRPr lang="zh-CN" altLang="zh-CN" dirty="0">
                <a:solidFill>
                  <a:srgbClr val="133984"/>
                </a:solidFill>
              </a:endParaRPr>
            </a:p>
          </p:txBody>
        </p:sp>
      </p:grpSp>
      <p:sp>
        <p:nvSpPr>
          <p:cNvPr id="8" name="矩形 7"/>
          <p:cNvSpPr/>
          <p:nvPr/>
        </p:nvSpPr>
        <p:spPr>
          <a:xfrm>
            <a:off x="3707904" y="1660158"/>
            <a:ext cx="4427174" cy="369332"/>
          </a:xfrm>
          <a:prstGeom prst="rect">
            <a:avLst/>
          </a:prstGeom>
        </p:spPr>
        <p:txBody>
          <a:bodyPr wrap="none">
            <a:spAutoFit/>
          </a:bodyPr>
          <a:lstStyle/>
          <a:p>
            <a:r>
              <a:rPr lang="zh-CN" altLang="zh-CN" dirty="0">
                <a:solidFill>
                  <a:srgbClr val="133984"/>
                </a:solidFill>
              </a:rPr>
              <a:t>微软公司于</a:t>
            </a:r>
            <a:r>
              <a:rPr lang="en-US" altLang="zh-CN" dirty="0">
                <a:solidFill>
                  <a:srgbClr val="133984"/>
                </a:solidFill>
              </a:rPr>
              <a:t>1991</a:t>
            </a:r>
            <a:r>
              <a:rPr lang="zh-CN" altLang="zh-CN" dirty="0">
                <a:solidFill>
                  <a:srgbClr val="133984"/>
                </a:solidFill>
              </a:rPr>
              <a:t>年在</a:t>
            </a:r>
            <a:r>
              <a:rPr lang="en-US" altLang="zh-CN" dirty="0">
                <a:solidFill>
                  <a:srgbClr val="133984"/>
                </a:solidFill>
              </a:rPr>
              <a:t>BASIC</a:t>
            </a:r>
            <a:r>
              <a:rPr lang="zh-CN" altLang="zh-CN" dirty="0">
                <a:solidFill>
                  <a:srgbClr val="133984"/>
                </a:solidFill>
              </a:rPr>
              <a:t>语言基础上发布</a:t>
            </a:r>
            <a:endParaRPr lang="zh-CN" altLang="en-US" dirty="0">
              <a:solidFill>
                <a:srgbClr val="133984"/>
              </a:solidFill>
            </a:endParaRPr>
          </a:p>
        </p:txBody>
      </p:sp>
      <p:sp>
        <p:nvSpPr>
          <p:cNvPr id="9" name="矩形 8"/>
          <p:cNvSpPr/>
          <p:nvPr/>
        </p:nvSpPr>
        <p:spPr>
          <a:xfrm>
            <a:off x="3691136" y="2348880"/>
            <a:ext cx="877163" cy="369332"/>
          </a:xfrm>
          <a:prstGeom prst="rect">
            <a:avLst/>
          </a:prstGeom>
        </p:spPr>
        <p:txBody>
          <a:bodyPr wrap="none">
            <a:spAutoFit/>
          </a:bodyPr>
          <a:lstStyle/>
          <a:p>
            <a:r>
              <a:rPr lang="zh-CN" altLang="en-US" dirty="0">
                <a:solidFill>
                  <a:srgbClr val="133984"/>
                </a:solidFill>
              </a:rPr>
              <a:t>特点：</a:t>
            </a:r>
            <a:endParaRPr lang="en-US" altLang="zh-CN" dirty="0">
              <a:solidFill>
                <a:srgbClr val="133984"/>
              </a:solidFill>
            </a:endParaRPr>
          </a:p>
        </p:txBody>
      </p:sp>
      <p:sp>
        <p:nvSpPr>
          <p:cNvPr id="10" name="矩形 9"/>
          <p:cNvSpPr/>
          <p:nvPr/>
        </p:nvSpPr>
        <p:spPr>
          <a:xfrm>
            <a:off x="4034532" y="2841779"/>
            <a:ext cx="3123804" cy="369332"/>
          </a:xfrm>
          <a:prstGeom prst="rect">
            <a:avLst/>
          </a:prstGeom>
        </p:spPr>
        <p:txBody>
          <a:bodyPr wrap="none">
            <a:spAutoFit/>
          </a:bodyPr>
          <a:lstStyle/>
          <a:p>
            <a:r>
              <a:rPr lang="en-US" altLang="zh-CN" dirty="0">
                <a:solidFill>
                  <a:srgbClr val="133984"/>
                </a:solidFill>
              </a:rPr>
              <a:t>1</a:t>
            </a:r>
            <a:r>
              <a:rPr lang="zh-CN" altLang="en-US" dirty="0">
                <a:solidFill>
                  <a:srgbClr val="133984"/>
                </a:solidFill>
              </a:rPr>
              <a:t>、</a:t>
            </a:r>
            <a:r>
              <a:rPr lang="zh-CN" altLang="zh-CN" dirty="0">
                <a:solidFill>
                  <a:srgbClr val="133984"/>
                </a:solidFill>
              </a:rPr>
              <a:t>事件驱动</a:t>
            </a:r>
            <a:r>
              <a:rPr lang="zh-CN" altLang="en-US" dirty="0">
                <a:solidFill>
                  <a:srgbClr val="133984"/>
                </a:solidFill>
              </a:rPr>
              <a:t>（</a:t>
            </a:r>
            <a:r>
              <a:rPr lang="en-US" altLang="zh-CN" dirty="0">
                <a:solidFill>
                  <a:srgbClr val="133984"/>
                </a:solidFill>
              </a:rPr>
              <a:t>Event-Driven</a:t>
            </a:r>
            <a:r>
              <a:rPr lang="zh-CN" altLang="en-US" dirty="0">
                <a:solidFill>
                  <a:srgbClr val="133984"/>
                </a:solidFill>
              </a:rPr>
              <a:t>）</a:t>
            </a:r>
            <a:endParaRPr lang="en-US" altLang="zh-CN" dirty="0">
              <a:solidFill>
                <a:srgbClr val="133984"/>
              </a:solidFill>
            </a:endParaRPr>
          </a:p>
        </p:txBody>
      </p:sp>
      <p:sp>
        <p:nvSpPr>
          <p:cNvPr id="11" name="矩形 10"/>
          <p:cNvSpPr/>
          <p:nvPr/>
        </p:nvSpPr>
        <p:spPr>
          <a:xfrm>
            <a:off x="4054504" y="3267745"/>
            <a:ext cx="1686680" cy="369332"/>
          </a:xfrm>
          <a:prstGeom prst="rect">
            <a:avLst/>
          </a:prstGeom>
        </p:spPr>
        <p:txBody>
          <a:bodyPr wrap="none">
            <a:spAutoFit/>
          </a:bodyPr>
          <a:lstStyle/>
          <a:p>
            <a:r>
              <a:rPr lang="en-US" altLang="zh-CN" dirty="0">
                <a:solidFill>
                  <a:srgbClr val="133984"/>
                </a:solidFill>
              </a:rPr>
              <a:t>2</a:t>
            </a:r>
            <a:r>
              <a:rPr lang="zh-CN" altLang="en-US" dirty="0">
                <a:solidFill>
                  <a:srgbClr val="133984"/>
                </a:solidFill>
              </a:rPr>
              <a:t>、</a:t>
            </a:r>
            <a:r>
              <a:rPr lang="zh-CN" altLang="zh-CN" dirty="0">
                <a:solidFill>
                  <a:srgbClr val="133984"/>
                </a:solidFill>
              </a:rPr>
              <a:t>可视化编程</a:t>
            </a:r>
            <a:endParaRPr lang="zh-CN" altLang="en-US" dirty="0">
              <a:solidFill>
                <a:srgbClr val="133984"/>
              </a:solidFill>
            </a:endParaRPr>
          </a:p>
        </p:txBody>
      </p:sp>
    </p:spTree>
    <p:extLst>
      <p:ext uri="{BB962C8B-B14F-4D97-AF65-F5344CB8AC3E}">
        <p14:creationId xmlns:p14="http://schemas.microsoft.com/office/powerpoint/2010/main" val="4085033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25170" y="1998479"/>
            <a:ext cx="3292115" cy="3147616"/>
            <a:chOff x="4477016" y="2378908"/>
            <a:chExt cx="3292115" cy="3147616"/>
          </a:xfrm>
        </p:grpSpPr>
        <p:pic>
          <p:nvPicPr>
            <p:cNvPr id="5" name="图片 4" descr="Bjarne Stroustrup.jpg"/>
            <p:cNvPicPr/>
            <p:nvPr/>
          </p:nvPicPr>
          <p:blipFill>
            <a:blip r:embed="rId2"/>
            <a:stretch>
              <a:fillRect/>
            </a:stretch>
          </p:blipFill>
          <p:spPr>
            <a:xfrm>
              <a:off x="4477016" y="2378908"/>
              <a:ext cx="3292115" cy="2469515"/>
            </a:xfrm>
            <a:prstGeom prst="rect">
              <a:avLst/>
            </a:prstGeom>
          </p:spPr>
        </p:pic>
        <p:sp>
          <p:nvSpPr>
            <p:cNvPr id="6" name="矩形 5"/>
            <p:cNvSpPr/>
            <p:nvPr/>
          </p:nvSpPr>
          <p:spPr>
            <a:xfrm>
              <a:off x="5133053" y="5157192"/>
              <a:ext cx="1835887" cy="369332"/>
            </a:xfrm>
            <a:prstGeom prst="rect">
              <a:avLst/>
            </a:prstGeom>
          </p:spPr>
          <p:txBody>
            <a:bodyPr wrap="none">
              <a:spAutoFit/>
            </a:bodyPr>
            <a:lstStyle/>
            <a:p>
              <a:r>
                <a:rPr lang="en-US" altLang="zh-CN" dirty="0" err="1">
                  <a:solidFill>
                    <a:srgbClr val="133984"/>
                  </a:solidFill>
                </a:rPr>
                <a:t>Bjarne</a:t>
              </a:r>
              <a:r>
                <a:rPr lang="en-US" altLang="zh-CN" dirty="0">
                  <a:solidFill>
                    <a:srgbClr val="133984"/>
                  </a:solidFill>
                </a:rPr>
                <a:t> </a:t>
              </a:r>
              <a:r>
                <a:rPr lang="en-US" altLang="zh-CN" dirty="0" err="1">
                  <a:solidFill>
                    <a:srgbClr val="133984"/>
                  </a:solidFill>
                </a:rPr>
                <a:t>Stroustrup</a:t>
              </a:r>
              <a:endParaRPr lang="zh-CN" altLang="zh-CN" dirty="0">
                <a:solidFill>
                  <a:srgbClr val="133984"/>
                </a:solidFill>
              </a:endParaRPr>
            </a:p>
          </p:txBody>
        </p:sp>
      </p:grpSp>
      <p:sp>
        <p:nvSpPr>
          <p:cNvPr id="7" name="矩形 6"/>
          <p:cNvSpPr/>
          <p:nvPr/>
        </p:nvSpPr>
        <p:spPr>
          <a:xfrm>
            <a:off x="1353184" y="620688"/>
            <a:ext cx="818044" cy="584775"/>
          </a:xfrm>
          <a:prstGeom prst="rect">
            <a:avLst/>
          </a:prstGeom>
        </p:spPr>
        <p:txBody>
          <a:bodyPr wrap="none">
            <a:spAutoFit/>
          </a:bodyPr>
          <a:lstStyle/>
          <a:p>
            <a:r>
              <a:rPr lang="en-US" altLang="zh-CN" sz="3200" b="1" dirty="0">
                <a:solidFill>
                  <a:srgbClr val="133984"/>
                </a:solidFill>
              </a:rPr>
              <a:t>C++</a:t>
            </a:r>
            <a:endParaRPr lang="zh-CN" altLang="zh-CN" sz="3200" dirty="0">
              <a:solidFill>
                <a:srgbClr val="133984"/>
              </a:solidFill>
            </a:endParaRPr>
          </a:p>
        </p:txBody>
      </p:sp>
      <p:sp>
        <p:nvSpPr>
          <p:cNvPr id="8" name="Rectangle 1"/>
          <p:cNvSpPr>
            <a:spLocks noChangeArrowheads="1"/>
          </p:cNvSpPr>
          <p:nvPr/>
        </p:nvSpPr>
        <p:spPr bwMode="auto">
          <a:xfrm>
            <a:off x="3822964" y="1075149"/>
            <a:ext cx="53210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zh-CN" b="1" dirty="0">
                <a:solidFill>
                  <a:srgbClr val="133984"/>
                </a:solidFill>
              </a:rPr>
              <a:t>1979</a:t>
            </a:r>
            <a:r>
              <a:rPr lang="zh-CN" altLang="en-US" b="1" dirty="0">
                <a:solidFill>
                  <a:srgbClr val="133984"/>
                </a:solidFill>
              </a:rPr>
              <a:t>年，</a:t>
            </a:r>
            <a:r>
              <a:rPr lang="en-US" altLang="zh-CN" b="1" dirty="0" err="1">
                <a:solidFill>
                  <a:srgbClr val="133984"/>
                </a:solidFill>
              </a:rPr>
              <a:t>Bjarne</a:t>
            </a:r>
            <a:r>
              <a:rPr lang="en-US" altLang="zh-CN" b="1" dirty="0">
                <a:solidFill>
                  <a:srgbClr val="133984"/>
                </a:solidFill>
              </a:rPr>
              <a:t> </a:t>
            </a:r>
            <a:r>
              <a:rPr lang="en-US" altLang="zh-CN" b="1" dirty="0" err="1">
                <a:solidFill>
                  <a:srgbClr val="133984"/>
                </a:solidFill>
              </a:rPr>
              <a:t>Stroustrup</a:t>
            </a:r>
            <a:r>
              <a:rPr lang="zh-CN" altLang="en-US" b="1" dirty="0">
                <a:solidFill>
                  <a:srgbClr val="133984"/>
                </a:solidFill>
              </a:rPr>
              <a:t>开始对</a:t>
            </a:r>
            <a:r>
              <a:rPr lang="en-US" altLang="zh-CN" b="1" dirty="0">
                <a:solidFill>
                  <a:srgbClr val="133984"/>
                </a:solidFill>
              </a:rPr>
              <a:t>C</a:t>
            </a:r>
            <a:r>
              <a:rPr lang="zh-CN" altLang="en-US" b="1" dirty="0">
                <a:solidFill>
                  <a:srgbClr val="133984"/>
                </a:solidFill>
              </a:rPr>
              <a:t>进行改进和扩充，最初的成果称为“带类的</a:t>
            </a:r>
            <a:r>
              <a:rPr lang="en-US" altLang="zh-CN" b="1" dirty="0">
                <a:solidFill>
                  <a:srgbClr val="133984"/>
                </a:solidFill>
              </a:rPr>
              <a:t>C”</a:t>
            </a:r>
            <a:r>
              <a:rPr lang="zh-CN" altLang="en-US" b="1" dirty="0">
                <a:solidFill>
                  <a:srgbClr val="133984"/>
                </a:solidFill>
              </a:rPr>
              <a:t>，</a:t>
            </a:r>
            <a:r>
              <a:rPr lang="en-US" altLang="zh-CN" b="1" dirty="0">
                <a:solidFill>
                  <a:srgbClr val="133984"/>
                </a:solidFill>
              </a:rPr>
              <a:t>1983</a:t>
            </a:r>
            <a:r>
              <a:rPr lang="zh-CN" altLang="en-US" b="1" dirty="0">
                <a:solidFill>
                  <a:srgbClr val="133984"/>
                </a:solidFill>
              </a:rPr>
              <a:t>年正式命名为</a:t>
            </a:r>
            <a:r>
              <a:rPr lang="en-US" altLang="zh-CN" b="1" dirty="0">
                <a:solidFill>
                  <a:srgbClr val="133984"/>
                </a:solidFill>
              </a:rPr>
              <a:t>C++ </a:t>
            </a:r>
          </a:p>
        </p:txBody>
      </p:sp>
      <p:sp>
        <p:nvSpPr>
          <p:cNvPr id="9" name="矩形 8"/>
          <p:cNvSpPr/>
          <p:nvPr/>
        </p:nvSpPr>
        <p:spPr>
          <a:xfrm>
            <a:off x="4644008" y="3048570"/>
            <a:ext cx="4499991" cy="646331"/>
          </a:xfrm>
          <a:prstGeom prst="rect">
            <a:avLst/>
          </a:prstGeom>
        </p:spPr>
        <p:txBody>
          <a:bodyPr wrap="square">
            <a:spAutoFit/>
          </a:bodyPr>
          <a:lstStyle/>
          <a:p>
            <a:r>
              <a:rPr lang="zh-CN" altLang="zh-CN" dirty="0">
                <a:solidFill>
                  <a:srgbClr val="133984"/>
                </a:solidFill>
              </a:rPr>
              <a:t>全面兼容</a:t>
            </a:r>
            <a:r>
              <a:rPr lang="en-US" altLang="zh-CN" dirty="0">
                <a:solidFill>
                  <a:srgbClr val="133984"/>
                </a:solidFill>
              </a:rPr>
              <a:t>C</a:t>
            </a:r>
            <a:r>
              <a:rPr lang="zh-CN" altLang="zh-CN" dirty="0">
                <a:solidFill>
                  <a:srgbClr val="133984"/>
                </a:solidFill>
              </a:rPr>
              <a:t>语言</a:t>
            </a:r>
            <a:r>
              <a:rPr lang="zh-CN" altLang="en-US" dirty="0">
                <a:solidFill>
                  <a:srgbClr val="133984"/>
                </a:solidFill>
              </a:rPr>
              <a:t>，</a:t>
            </a:r>
            <a:r>
              <a:rPr lang="zh-CN" altLang="zh-CN" dirty="0">
                <a:solidFill>
                  <a:srgbClr val="133984"/>
                </a:solidFill>
              </a:rPr>
              <a:t>保持了</a:t>
            </a:r>
            <a:r>
              <a:rPr lang="en-US" altLang="zh-CN" dirty="0">
                <a:solidFill>
                  <a:srgbClr val="133984"/>
                </a:solidFill>
              </a:rPr>
              <a:t>C</a:t>
            </a:r>
            <a:r>
              <a:rPr lang="zh-CN" altLang="zh-CN" dirty="0">
                <a:solidFill>
                  <a:srgbClr val="133984"/>
                </a:solidFill>
              </a:rPr>
              <a:t>的紧凑、灵活、高效和易移植性强的优点</a:t>
            </a:r>
            <a:endParaRPr lang="zh-CN" altLang="en-US" dirty="0">
              <a:solidFill>
                <a:srgbClr val="133984"/>
              </a:solidFill>
            </a:endParaRPr>
          </a:p>
        </p:txBody>
      </p:sp>
      <p:sp>
        <p:nvSpPr>
          <p:cNvPr id="10" name="TextBox 9"/>
          <p:cNvSpPr txBox="1"/>
          <p:nvPr/>
        </p:nvSpPr>
        <p:spPr>
          <a:xfrm>
            <a:off x="3904842" y="2583190"/>
            <a:ext cx="877163" cy="369332"/>
          </a:xfrm>
          <a:prstGeom prst="rect">
            <a:avLst/>
          </a:prstGeom>
          <a:noFill/>
        </p:spPr>
        <p:txBody>
          <a:bodyPr wrap="none" rtlCol="0">
            <a:spAutoFit/>
          </a:bodyPr>
          <a:lstStyle/>
          <a:p>
            <a:r>
              <a:rPr lang="zh-CN" altLang="en-US" dirty="0">
                <a:solidFill>
                  <a:srgbClr val="133984"/>
                </a:solidFill>
              </a:rPr>
              <a:t>特点：</a:t>
            </a:r>
          </a:p>
        </p:txBody>
      </p:sp>
      <p:sp>
        <p:nvSpPr>
          <p:cNvPr id="11" name="矩形 10"/>
          <p:cNvSpPr/>
          <p:nvPr/>
        </p:nvSpPr>
        <p:spPr>
          <a:xfrm>
            <a:off x="4644008" y="3930124"/>
            <a:ext cx="1338828" cy="369332"/>
          </a:xfrm>
          <a:prstGeom prst="rect">
            <a:avLst/>
          </a:prstGeom>
        </p:spPr>
        <p:txBody>
          <a:bodyPr wrap="none">
            <a:spAutoFit/>
          </a:bodyPr>
          <a:lstStyle/>
          <a:p>
            <a:r>
              <a:rPr lang="zh-CN" altLang="zh-CN" dirty="0">
                <a:solidFill>
                  <a:srgbClr val="133984"/>
                </a:solidFill>
              </a:rPr>
              <a:t>运行性能高</a:t>
            </a:r>
            <a:endParaRPr lang="zh-CN" altLang="en-US" dirty="0">
              <a:solidFill>
                <a:srgbClr val="133984"/>
              </a:solidFill>
            </a:endParaRPr>
          </a:p>
        </p:txBody>
      </p:sp>
      <p:sp>
        <p:nvSpPr>
          <p:cNvPr id="12" name="矩形 11"/>
          <p:cNvSpPr/>
          <p:nvPr/>
        </p:nvSpPr>
        <p:spPr>
          <a:xfrm>
            <a:off x="4644008" y="4592097"/>
            <a:ext cx="3877985" cy="369332"/>
          </a:xfrm>
          <a:prstGeom prst="rect">
            <a:avLst/>
          </a:prstGeom>
        </p:spPr>
        <p:txBody>
          <a:bodyPr wrap="none">
            <a:spAutoFit/>
          </a:bodyPr>
          <a:lstStyle/>
          <a:p>
            <a:r>
              <a:rPr lang="zh-CN" altLang="en-US" dirty="0">
                <a:solidFill>
                  <a:srgbClr val="133984"/>
                </a:solidFill>
              </a:rPr>
              <a:t>是</a:t>
            </a:r>
            <a:r>
              <a:rPr lang="zh-CN" altLang="zh-CN" dirty="0">
                <a:solidFill>
                  <a:srgbClr val="133984"/>
                </a:solidFill>
              </a:rPr>
              <a:t>当前面向对象程序设计的主流语言</a:t>
            </a:r>
          </a:p>
        </p:txBody>
      </p:sp>
    </p:spTree>
    <p:extLst>
      <p:ext uri="{BB962C8B-B14F-4D97-AF65-F5344CB8AC3E}">
        <p14:creationId xmlns:p14="http://schemas.microsoft.com/office/powerpoint/2010/main" val="1068100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475656" y="620688"/>
            <a:ext cx="906980" cy="584775"/>
          </a:xfrm>
          <a:prstGeom prst="rect">
            <a:avLst/>
          </a:prstGeom>
        </p:spPr>
        <p:txBody>
          <a:bodyPr wrap="none">
            <a:spAutoFit/>
          </a:bodyPr>
          <a:lstStyle/>
          <a:p>
            <a:r>
              <a:rPr lang="en-US" altLang="zh-CN" sz="3200" b="1" dirty="0">
                <a:solidFill>
                  <a:srgbClr val="133984"/>
                </a:solidFill>
              </a:rPr>
              <a:t>Java</a:t>
            </a:r>
            <a:endParaRPr lang="zh-CN" altLang="zh-CN" sz="3200" dirty="0">
              <a:solidFill>
                <a:srgbClr val="133984"/>
              </a:solidFill>
            </a:endParaRPr>
          </a:p>
        </p:txBody>
      </p:sp>
      <p:grpSp>
        <p:nvGrpSpPr>
          <p:cNvPr id="2" name="组合 1"/>
          <p:cNvGrpSpPr/>
          <p:nvPr/>
        </p:nvGrpSpPr>
        <p:grpSpPr>
          <a:xfrm>
            <a:off x="755576" y="1867087"/>
            <a:ext cx="2105025" cy="3559629"/>
            <a:chOff x="1043608" y="1697447"/>
            <a:chExt cx="2105025" cy="3559629"/>
          </a:xfrm>
        </p:grpSpPr>
        <p:pic>
          <p:nvPicPr>
            <p:cNvPr id="5" name="图片 4" descr="James_Gosling_2008.jpg"/>
            <p:cNvPicPr/>
            <p:nvPr/>
          </p:nvPicPr>
          <p:blipFill>
            <a:blip r:embed="rId2" cstate="print"/>
            <a:stretch>
              <a:fillRect/>
            </a:stretch>
          </p:blipFill>
          <p:spPr>
            <a:xfrm>
              <a:off x="1043608" y="1697447"/>
              <a:ext cx="2105025" cy="2117725"/>
            </a:xfrm>
            <a:prstGeom prst="rect">
              <a:avLst/>
            </a:prstGeom>
          </p:spPr>
        </p:pic>
        <p:sp>
          <p:nvSpPr>
            <p:cNvPr id="6" name="矩形 5"/>
            <p:cNvSpPr/>
            <p:nvPr/>
          </p:nvSpPr>
          <p:spPr>
            <a:xfrm>
              <a:off x="1196021" y="4333746"/>
              <a:ext cx="1800200" cy="923330"/>
            </a:xfrm>
            <a:prstGeom prst="rect">
              <a:avLst/>
            </a:prstGeom>
          </p:spPr>
          <p:txBody>
            <a:bodyPr wrap="square">
              <a:spAutoFit/>
            </a:bodyPr>
            <a:lstStyle/>
            <a:p>
              <a:pPr algn="ctr"/>
              <a:r>
                <a:rPr lang="zh-CN" altLang="en-US" dirty="0">
                  <a:solidFill>
                    <a:srgbClr val="133984"/>
                  </a:solidFill>
                </a:rPr>
                <a:t>“</a:t>
              </a:r>
              <a:r>
                <a:rPr lang="en-US" altLang="zh-CN" dirty="0">
                  <a:solidFill>
                    <a:srgbClr val="133984"/>
                  </a:solidFill>
                </a:rPr>
                <a:t>Java</a:t>
              </a:r>
              <a:r>
                <a:rPr lang="zh-CN" altLang="en-US" dirty="0">
                  <a:solidFill>
                    <a:srgbClr val="133984"/>
                  </a:solidFill>
                </a:rPr>
                <a:t>之父”</a:t>
              </a:r>
              <a:r>
                <a:rPr lang="zh-CN" altLang="zh-CN" dirty="0">
                  <a:solidFill>
                    <a:srgbClr val="133984"/>
                  </a:solidFill>
                </a:rPr>
                <a:t>詹姆斯•高斯林</a:t>
              </a:r>
              <a:endParaRPr lang="en-US" altLang="zh-CN" dirty="0">
                <a:solidFill>
                  <a:srgbClr val="133984"/>
                </a:solidFill>
              </a:endParaRPr>
            </a:p>
            <a:p>
              <a:pPr algn="ctr"/>
              <a:r>
                <a:rPr lang="en-US" altLang="zh-CN" dirty="0">
                  <a:solidFill>
                    <a:srgbClr val="133984"/>
                  </a:solidFill>
                </a:rPr>
                <a:t>(James Gosling)</a:t>
              </a:r>
              <a:endParaRPr lang="zh-CN" altLang="zh-CN" dirty="0">
                <a:solidFill>
                  <a:srgbClr val="133984"/>
                </a:solidFill>
              </a:endParaRPr>
            </a:p>
          </p:txBody>
        </p:sp>
      </p:grpSp>
      <p:sp>
        <p:nvSpPr>
          <p:cNvPr id="3" name="矩形 2"/>
          <p:cNvSpPr/>
          <p:nvPr/>
        </p:nvSpPr>
        <p:spPr>
          <a:xfrm>
            <a:off x="3858134" y="1020797"/>
            <a:ext cx="2787943" cy="369332"/>
          </a:xfrm>
          <a:prstGeom prst="rect">
            <a:avLst/>
          </a:prstGeom>
        </p:spPr>
        <p:txBody>
          <a:bodyPr wrap="none">
            <a:spAutoFit/>
          </a:bodyPr>
          <a:lstStyle/>
          <a:p>
            <a:r>
              <a:rPr lang="zh-CN" altLang="en-US" dirty="0">
                <a:solidFill>
                  <a:srgbClr val="133984"/>
                </a:solidFill>
              </a:rPr>
              <a:t>由</a:t>
            </a:r>
            <a:r>
              <a:rPr lang="en-US" altLang="zh-CN" dirty="0">
                <a:solidFill>
                  <a:srgbClr val="133984"/>
                </a:solidFill>
              </a:rPr>
              <a:t>SUN</a:t>
            </a:r>
            <a:r>
              <a:rPr lang="zh-CN" altLang="en-US" dirty="0">
                <a:solidFill>
                  <a:srgbClr val="133984"/>
                </a:solidFill>
              </a:rPr>
              <a:t>公司</a:t>
            </a:r>
            <a:r>
              <a:rPr lang="en-US" altLang="zh-CN" dirty="0">
                <a:solidFill>
                  <a:srgbClr val="133984"/>
                </a:solidFill>
              </a:rPr>
              <a:t>1995</a:t>
            </a:r>
            <a:r>
              <a:rPr lang="zh-CN" altLang="zh-CN" dirty="0">
                <a:solidFill>
                  <a:srgbClr val="133984"/>
                </a:solidFill>
              </a:rPr>
              <a:t>年</a:t>
            </a:r>
            <a:r>
              <a:rPr lang="en-US" altLang="zh-CN" dirty="0">
                <a:solidFill>
                  <a:srgbClr val="133984"/>
                </a:solidFill>
              </a:rPr>
              <a:t>5</a:t>
            </a:r>
            <a:r>
              <a:rPr lang="zh-CN" altLang="zh-CN" dirty="0">
                <a:solidFill>
                  <a:srgbClr val="133984"/>
                </a:solidFill>
              </a:rPr>
              <a:t>月推</a:t>
            </a:r>
            <a:r>
              <a:rPr lang="zh-CN" altLang="en-US" dirty="0">
                <a:solidFill>
                  <a:srgbClr val="133984"/>
                </a:solidFill>
              </a:rPr>
              <a:t>出</a:t>
            </a:r>
          </a:p>
        </p:txBody>
      </p:sp>
      <p:sp>
        <p:nvSpPr>
          <p:cNvPr id="12" name="矩形 11"/>
          <p:cNvSpPr/>
          <p:nvPr/>
        </p:nvSpPr>
        <p:spPr>
          <a:xfrm>
            <a:off x="3814339" y="1865023"/>
            <a:ext cx="4572000" cy="369332"/>
          </a:xfrm>
          <a:prstGeom prst="rect">
            <a:avLst/>
          </a:prstGeom>
        </p:spPr>
        <p:txBody>
          <a:bodyPr>
            <a:spAutoFit/>
          </a:bodyPr>
          <a:lstStyle/>
          <a:p>
            <a:r>
              <a:rPr lang="zh-CN" altLang="zh-CN" dirty="0">
                <a:solidFill>
                  <a:srgbClr val="133984"/>
                </a:solidFill>
              </a:rPr>
              <a:t>分为三个体系</a:t>
            </a:r>
            <a:r>
              <a:rPr lang="zh-CN" altLang="en-US" dirty="0">
                <a:solidFill>
                  <a:srgbClr val="133984"/>
                </a:solidFill>
              </a:rPr>
              <a:t>：</a:t>
            </a:r>
            <a:endParaRPr lang="en-US" altLang="zh-CN" dirty="0">
              <a:solidFill>
                <a:srgbClr val="133984"/>
              </a:solidFill>
            </a:endParaRPr>
          </a:p>
        </p:txBody>
      </p:sp>
      <p:sp>
        <p:nvSpPr>
          <p:cNvPr id="13" name="矩形 12"/>
          <p:cNvSpPr/>
          <p:nvPr/>
        </p:nvSpPr>
        <p:spPr>
          <a:xfrm>
            <a:off x="3991504" y="2321413"/>
            <a:ext cx="4572000" cy="646331"/>
          </a:xfrm>
          <a:prstGeom prst="rect">
            <a:avLst/>
          </a:prstGeom>
        </p:spPr>
        <p:txBody>
          <a:bodyPr>
            <a:spAutoFit/>
          </a:bodyPr>
          <a:lstStyle/>
          <a:p>
            <a:r>
              <a:rPr lang="en-US" altLang="zh-CN" dirty="0" err="1">
                <a:solidFill>
                  <a:srgbClr val="133984"/>
                </a:solidFill>
              </a:rPr>
              <a:t>JavaSE</a:t>
            </a:r>
            <a:r>
              <a:rPr lang="en-US" altLang="zh-CN" dirty="0">
                <a:solidFill>
                  <a:srgbClr val="133984"/>
                </a:solidFill>
              </a:rPr>
              <a:t>(Java2 Platform Standard Edition</a:t>
            </a:r>
            <a:r>
              <a:rPr lang="zh-CN" altLang="zh-CN" dirty="0">
                <a:solidFill>
                  <a:srgbClr val="133984"/>
                </a:solidFill>
              </a:rPr>
              <a:t>，</a:t>
            </a:r>
            <a:r>
              <a:rPr lang="en-US" altLang="zh-CN" dirty="0">
                <a:solidFill>
                  <a:srgbClr val="133984"/>
                </a:solidFill>
              </a:rPr>
              <a:t>java</a:t>
            </a:r>
            <a:r>
              <a:rPr lang="zh-CN" altLang="zh-CN" dirty="0">
                <a:solidFill>
                  <a:srgbClr val="133984"/>
                </a:solidFill>
              </a:rPr>
              <a:t>标准版</a:t>
            </a:r>
            <a:r>
              <a:rPr lang="en-US" altLang="zh-CN" dirty="0">
                <a:solidFill>
                  <a:srgbClr val="133984"/>
                </a:solidFill>
              </a:rPr>
              <a:t>)</a:t>
            </a:r>
            <a:endParaRPr lang="zh-CN" altLang="en-US" dirty="0">
              <a:solidFill>
                <a:srgbClr val="133984"/>
              </a:solidFill>
            </a:endParaRPr>
          </a:p>
        </p:txBody>
      </p:sp>
      <p:sp>
        <p:nvSpPr>
          <p:cNvPr id="14" name="矩形 13"/>
          <p:cNvSpPr/>
          <p:nvPr/>
        </p:nvSpPr>
        <p:spPr>
          <a:xfrm>
            <a:off x="3970544" y="2967744"/>
            <a:ext cx="4572000" cy="646331"/>
          </a:xfrm>
          <a:prstGeom prst="rect">
            <a:avLst/>
          </a:prstGeom>
        </p:spPr>
        <p:txBody>
          <a:bodyPr>
            <a:spAutoFit/>
          </a:bodyPr>
          <a:lstStyle/>
          <a:p>
            <a:r>
              <a:rPr lang="en-US" altLang="zh-CN" dirty="0" err="1">
                <a:solidFill>
                  <a:srgbClr val="133984"/>
                </a:solidFill>
              </a:rPr>
              <a:t>JavaEE</a:t>
            </a:r>
            <a:r>
              <a:rPr lang="en-US" altLang="zh-CN" dirty="0">
                <a:solidFill>
                  <a:srgbClr val="133984"/>
                </a:solidFill>
              </a:rPr>
              <a:t>(Java2 </a:t>
            </a:r>
            <a:r>
              <a:rPr lang="en-US" altLang="zh-CN" dirty="0" err="1">
                <a:solidFill>
                  <a:srgbClr val="133984"/>
                </a:solidFill>
              </a:rPr>
              <a:t>Platform,Enterprise</a:t>
            </a:r>
            <a:r>
              <a:rPr lang="en-US" altLang="zh-CN" dirty="0">
                <a:solidFill>
                  <a:srgbClr val="133984"/>
                </a:solidFill>
              </a:rPr>
              <a:t> Edition</a:t>
            </a:r>
            <a:r>
              <a:rPr lang="zh-CN" altLang="zh-CN" dirty="0">
                <a:solidFill>
                  <a:srgbClr val="133984"/>
                </a:solidFill>
              </a:rPr>
              <a:t>，</a:t>
            </a:r>
            <a:r>
              <a:rPr lang="en-US" altLang="zh-CN" dirty="0">
                <a:solidFill>
                  <a:srgbClr val="133984"/>
                </a:solidFill>
              </a:rPr>
              <a:t>java</a:t>
            </a:r>
            <a:r>
              <a:rPr lang="zh-CN" altLang="zh-CN" dirty="0">
                <a:solidFill>
                  <a:srgbClr val="133984"/>
                </a:solidFill>
              </a:rPr>
              <a:t>企业版</a:t>
            </a:r>
            <a:r>
              <a:rPr lang="en-US" altLang="zh-CN" dirty="0">
                <a:solidFill>
                  <a:srgbClr val="133984"/>
                </a:solidFill>
              </a:rPr>
              <a:t>)</a:t>
            </a:r>
            <a:endParaRPr lang="zh-CN" altLang="en-US" dirty="0">
              <a:solidFill>
                <a:srgbClr val="133984"/>
              </a:solidFill>
            </a:endParaRPr>
          </a:p>
        </p:txBody>
      </p:sp>
      <p:sp>
        <p:nvSpPr>
          <p:cNvPr id="15" name="矩形 14"/>
          <p:cNvSpPr/>
          <p:nvPr/>
        </p:nvSpPr>
        <p:spPr>
          <a:xfrm>
            <a:off x="3991504" y="3614075"/>
            <a:ext cx="4572000" cy="646331"/>
          </a:xfrm>
          <a:prstGeom prst="rect">
            <a:avLst/>
          </a:prstGeom>
        </p:spPr>
        <p:txBody>
          <a:bodyPr>
            <a:spAutoFit/>
          </a:bodyPr>
          <a:lstStyle/>
          <a:p>
            <a:r>
              <a:rPr lang="en-US" altLang="zh-CN" dirty="0" err="1">
                <a:solidFill>
                  <a:srgbClr val="133984"/>
                </a:solidFill>
              </a:rPr>
              <a:t>JavaME</a:t>
            </a:r>
            <a:r>
              <a:rPr lang="en-US" altLang="zh-CN" dirty="0">
                <a:solidFill>
                  <a:srgbClr val="133984"/>
                </a:solidFill>
              </a:rPr>
              <a:t>(Java 2 Platform Micro Edition</a:t>
            </a:r>
            <a:r>
              <a:rPr lang="zh-CN" altLang="zh-CN" dirty="0">
                <a:solidFill>
                  <a:srgbClr val="133984"/>
                </a:solidFill>
              </a:rPr>
              <a:t>，</a:t>
            </a:r>
            <a:r>
              <a:rPr lang="en-US" altLang="zh-CN" dirty="0">
                <a:solidFill>
                  <a:srgbClr val="133984"/>
                </a:solidFill>
              </a:rPr>
              <a:t>java</a:t>
            </a:r>
            <a:r>
              <a:rPr lang="zh-CN" altLang="zh-CN" dirty="0">
                <a:solidFill>
                  <a:srgbClr val="133984"/>
                </a:solidFill>
              </a:rPr>
              <a:t>微型版</a:t>
            </a:r>
            <a:r>
              <a:rPr lang="en-US" altLang="zh-CN" dirty="0">
                <a:solidFill>
                  <a:srgbClr val="133984"/>
                </a:solidFill>
              </a:rPr>
              <a:t>)</a:t>
            </a:r>
            <a:endParaRPr lang="zh-CN" altLang="en-US" dirty="0">
              <a:solidFill>
                <a:srgbClr val="133984"/>
              </a:solidFill>
            </a:endParaRPr>
          </a:p>
        </p:txBody>
      </p:sp>
      <p:sp>
        <p:nvSpPr>
          <p:cNvPr id="16" name="TextBox 15"/>
          <p:cNvSpPr txBox="1"/>
          <p:nvPr/>
        </p:nvSpPr>
        <p:spPr>
          <a:xfrm>
            <a:off x="3814339" y="4318720"/>
            <a:ext cx="4593565" cy="923330"/>
          </a:xfrm>
          <a:prstGeom prst="rect">
            <a:avLst/>
          </a:prstGeom>
          <a:noFill/>
        </p:spPr>
        <p:txBody>
          <a:bodyPr wrap="square" rtlCol="0">
            <a:spAutoFit/>
          </a:bodyPr>
          <a:lstStyle/>
          <a:p>
            <a:r>
              <a:rPr lang="zh-CN" altLang="en-US" dirty="0">
                <a:solidFill>
                  <a:srgbClr val="133984"/>
                </a:solidFill>
              </a:rPr>
              <a:t>特点：</a:t>
            </a:r>
            <a:endParaRPr lang="en-US" altLang="zh-CN" dirty="0">
              <a:solidFill>
                <a:srgbClr val="133984"/>
              </a:solidFill>
            </a:endParaRPr>
          </a:p>
          <a:p>
            <a:r>
              <a:rPr lang="zh-CN" altLang="zh-CN" dirty="0">
                <a:solidFill>
                  <a:srgbClr val="133984"/>
                </a:solidFill>
              </a:rPr>
              <a:t>简捷易学、面向对象、适用于网络分布环境、解释执行和多线程、具有一定的安全健壮性</a:t>
            </a:r>
            <a:endParaRPr lang="en-US" altLang="zh-CN" dirty="0">
              <a:solidFill>
                <a:srgbClr val="133984"/>
              </a:solidFill>
            </a:endParaRPr>
          </a:p>
        </p:txBody>
      </p:sp>
    </p:spTree>
    <p:extLst>
      <p:ext uri="{BB962C8B-B14F-4D97-AF65-F5344CB8AC3E}">
        <p14:creationId xmlns:p14="http://schemas.microsoft.com/office/powerpoint/2010/main" val="3457052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229896" y="620688"/>
            <a:ext cx="2746265" cy="584775"/>
          </a:xfrm>
          <a:prstGeom prst="rect">
            <a:avLst/>
          </a:prstGeom>
        </p:spPr>
        <p:txBody>
          <a:bodyPr wrap="none">
            <a:spAutoFit/>
          </a:bodyPr>
          <a:lstStyle/>
          <a:p>
            <a:r>
              <a:rPr lang="en-US" altLang="zh-CN" sz="3200" b="1" dirty="0">
                <a:solidFill>
                  <a:srgbClr val="133984"/>
                </a:solidFill>
              </a:rPr>
              <a:t>Delphi    &amp;    C#</a:t>
            </a:r>
            <a:endParaRPr lang="zh-CN" altLang="zh-CN" sz="3200" dirty="0">
              <a:solidFill>
                <a:srgbClr val="133984"/>
              </a:solidFill>
            </a:endParaRPr>
          </a:p>
        </p:txBody>
      </p:sp>
      <p:grpSp>
        <p:nvGrpSpPr>
          <p:cNvPr id="8" name="组合 7"/>
          <p:cNvGrpSpPr/>
          <p:nvPr/>
        </p:nvGrpSpPr>
        <p:grpSpPr>
          <a:xfrm>
            <a:off x="539552" y="2063981"/>
            <a:ext cx="2286000" cy="3282629"/>
            <a:chOff x="683568" y="2098137"/>
            <a:chExt cx="2286000" cy="3282629"/>
          </a:xfrm>
        </p:grpSpPr>
        <p:pic>
          <p:nvPicPr>
            <p:cNvPr id="6" name="图片 5" descr="Anders_Hejlsberg.jpg"/>
            <p:cNvPicPr/>
            <p:nvPr/>
          </p:nvPicPr>
          <p:blipFill>
            <a:blip r:embed="rId2" cstate="print"/>
            <a:stretch>
              <a:fillRect/>
            </a:stretch>
          </p:blipFill>
          <p:spPr>
            <a:xfrm>
              <a:off x="1050107" y="2098137"/>
              <a:ext cx="1552922" cy="2117725"/>
            </a:xfrm>
            <a:prstGeom prst="rect">
              <a:avLst/>
            </a:prstGeom>
          </p:spPr>
        </p:pic>
        <p:sp>
          <p:nvSpPr>
            <p:cNvPr id="7" name="矩形 6"/>
            <p:cNvSpPr/>
            <p:nvPr/>
          </p:nvSpPr>
          <p:spPr>
            <a:xfrm>
              <a:off x="683568" y="4734435"/>
              <a:ext cx="2286000" cy="646331"/>
            </a:xfrm>
            <a:prstGeom prst="rect">
              <a:avLst/>
            </a:prstGeom>
          </p:spPr>
          <p:txBody>
            <a:bodyPr wrap="square">
              <a:spAutoFit/>
            </a:bodyPr>
            <a:lstStyle/>
            <a:p>
              <a:pPr algn="ctr"/>
              <a:r>
                <a:rPr lang="zh-CN" altLang="zh-CN" dirty="0">
                  <a:solidFill>
                    <a:srgbClr val="133984"/>
                  </a:solidFill>
                </a:rPr>
                <a:t>安德斯•海尔斯伯格</a:t>
              </a:r>
              <a:endParaRPr lang="en-US" altLang="zh-CN" dirty="0">
                <a:solidFill>
                  <a:srgbClr val="133984"/>
                </a:solidFill>
              </a:endParaRPr>
            </a:p>
            <a:p>
              <a:pPr algn="ctr"/>
              <a:r>
                <a:rPr lang="en-US" altLang="zh-CN" dirty="0">
                  <a:solidFill>
                    <a:srgbClr val="133984"/>
                  </a:solidFill>
                </a:rPr>
                <a:t>(Anders Hejlsberg)</a:t>
              </a:r>
              <a:endParaRPr lang="zh-CN" altLang="zh-CN" dirty="0">
                <a:solidFill>
                  <a:srgbClr val="133984"/>
                </a:solidFill>
              </a:endParaRPr>
            </a:p>
          </p:txBody>
        </p:sp>
      </p:grpSp>
      <p:sp>
        <p:nvSpPr>
          <p:cNvPr id="9" name="矩形 8"/>
          <p:cNvSpPr/>
          <p:nvPr/>
        </p:nvSpPr>
        <p:spPr>
          <a:xfrm>
            <a:off x="3552314" y="1509983"/>
            <a:ext cx="1037463" cy="369332"/>
          </a:xfrm>
          <a:prstGeom prst="rect">
            <a:avLst/>
          </a:prstGeom>
        </p:spPr>
        <p:txBody>
          <a:bodyPr wrap="none">
            <a:spAutoFit/>
          </a:bodyPr>
          <a:lstStyle/>
          <a:p>
            <a:r>
              <a:rPr lang="en-US" altLang="zh-CN" b="1" dirty="0">
                <a:solidFill>
                  <a:srgbClr val="133984"/>
                </a:solidFill>
              </a:rPr>
              <a:t>Delphi</a:t>
            </a:r>
            <a:r>
              <a:rPr lang="zh-CN" altLang="en-US" b="1" dirty="0">
                <a:solidFill>
                  <a:srgbClr val="133984"/>
                </a:solidFill>
              </a:rPr>
              <a:t>：</a:t>
            </a:r>
            <a:endParaRPr lang="zh-CN" altLang="zh-CN" dirty="0">
              <a:solidFill>
                <a:srgbClr val="133984"/>
              </a:solidFill>
            </a:endParaRPr>
          </a:p>
        </p:txBody>
      </p:sp>
      <p:sp>
        <p:nvSpPr>
          <p:cNvPr id="10" name="矩形 9"/>
          <p:cNvSpPr/>
          <p:nvPr/>
        </p:nvSpPr>
        <p:spPr>
          <a:xfrm>
            <a:off x="3552810" y="2057115"/>
            <a:ext cx="4763606" cy="646331"/>
          </a:xfrm>
          <a:prstGeom prst="rect">
            <a:avLst/>
          </a:prstGeom>
        </p:spPr>
        <p:txBody>
          <a:bodyPr wrap="square">
            <a:spAutoFit/>
          </a:bodyPr>
          <a:lstStyle/>
          <a:p>
            <a:r>
              <a:rPr lang="en-US" altLang="zh-CN" dirty="0">
                <a:solidFill>
                  <a:srgbClr val="133984"/>
                </a:solidFill>
              </a:rPr>
              <a:t>Borland</a:t>
            </a:r>
            <a:r>
              <a:rPr lang="zh-CN" altLang="zh-CN" dirty="0">
                <a:solidFill>
                  <a:srgbClr val="133984"/>
                </a:solidFill>
              </a:rPr>
              <a:t>（宝兰）公司于</a:t>
            </a:r>
            <a:r>
              <a:rPr lang="en-US" altLang="zh-CN" dirty="0">
                <a:solidFill>
                  <a:srgbClr val="133984"/>
                </a:solidFill>
              </a:rPr>
              <a:t>1995</a:t>
            </a:r>
            <a:r>
              <a:rPr lang="zh-CN" altLang="zh-CN" dirty="0">
                <a:solidFill>
                  <a:srgbClr val="133984"/>
                </a:solidFill>
              </a:rPr>
              <a:t>年开发</a:t>
            </a:r>
            <a:r>
              <a:rPr lang="zh-CN" altLang="en-US" dirty="0">
                <a:solidFill>
                  <a:srgbClr val="133984"/>
                </a:solidFill>
              </a:rPr>
              <a:t>，</a:t>
            </a:r>
            <a:r>
              <a:rPr lang="zh-CN" altLang="zh-CN" dirty="0">
                <a:solidFill>
                  <a:srgbClr val="133984"/>
                </a:solidFill>
              </a:rPr>
              <a:t>主创者为安德斯·海尔斯伯格</a:t>
            </a:r>
            <a:endParaRPr lang="en-US" altLang="zh-CN" dirty="0">
              <a:solidFill>
                <a:srgbClr val="133984"/>
              </a:solidFill>
            </a:endParaRPr>
          </a:p>
        </p:txBody>
      </p:sp>
      <p:sp>
        <p:nvSpPr>
          <p:cNvPr id="11" name="矩形 10"/>
          <p:cNvSpPr/>
          <p:nvPr/>
        </p:nvSpPr>
        <p:spPr>
          <a:xfrm>
            <a:off x="3552314" y="2875002"/>
            <a:ext cx="4773166" cy="369332"/>
          </a:xfrm>
          <a:prstGeom prst="rect">
            <a:avLst/>
          </a:prstGeom>
        </p:spPr>
        <p:txBody>
          <a:bodyPr wrap="none">
            <a:spAutoFit/>
          </a:bodyPr>
          <a:lstStyle/>
          <a:p>
            <a:r>
              <a:rPr lang="zh-CN" altLang="en-US" dirty="0">
                <a:solidFill>
                  <a:srgbClr val="133984"/>
                </a:solidFill>
              </a:rPr>
              <a:t>由</a:t>
            </a:r>
            <a:r>
              <a:rPr lang="en-US" altLang="zh-CN" dirty="0">
                <a:solidFill>
                  <a:srgbClr val="133984"/>
                </a:solidFill>
              </a:rPr>
              <a:t>Pascal</a:t>
            </a:r>
            <a:r>
              <a:rPr lang="zh-CN" altLang="en-US" dirty="0">
                <a:solidFill>
                  <a:srgbClr val="133984"/>
                </a:solidFill>
              </a:rPr>
              <a:t>发展而来，使用</a:t>
            </a:r>
            <a:r>
              <a:rPr lang="en-US" altLang="zh-CN" dirty="0">
                <a:solidFill>
                  <a:srgbClr val="133984"/>
                </a:solidFill>
              </a:rPr>
              <a:t>Object Pascal</a:t>
            </a:r>
            <a:r>
              <a:rPr lang="zh-CN" altLang="en-US" dirty="0">
                <a:solidFill>
                  <a:srgbClr val="133984"/>
                </a:solidFill>
              </a:rPr>
              <a:t>作为核心</a:t>
            </a:r>
          </a:p>
        </p:txBody>
      </p:sp>
      <p:sp>
        <p:nvSpPr>
          <p:cNvPr id="12" name="矩形 11"/>
          <p:cNvSpPr/>
          <p:nvPr/>
        </p:nvSpPr>
        <p:spPr>
          <a:xfrm>
            <a:off x="3586098" y="3642782"/>
            <a:ext cx="1119217" cy="369332"/>
          </a:xfrm>
          <a:prstGeom prst="rect">
            <a:avLst/>
          </a:prstGeom>
        </p:spPr>
        <p:txBody>
          <a:bodyPr wrap="none">
            <a:spAutoFit/>
          </a:bodyPr>
          <a:lstStyle/>
          <a:p>
            <a:r>
              <a:rPr lang="en-US" altLang="zh-CN" b="1" dirty="0">
                <a:solidFill>
                  <a:srgbClr val="133984"/>
                </a:solidFill>
              </a:rPr>
              <a:t>C#</a:t>
            </a:r>
            <a:r>
              <a:rPr lang="zh-CN" altLang="zh-CN" b="1" dirty="0">
                <a:solidFill>
                  <a:srgbClr val="133984"/>
                </a:solidFill>
              </a:rPr>
              <a:t>语言</a:t>
            </a:r>
            <a:r>
              <a:rPr lang="zh-CN" altLang="en-US" b="1" dirty="0">
                <a:solidFill>
                  <a:srgbClr val="133984"/>
                </a:solidFill>
              </a:rPr>
              <a:t>：</a:t>
            </a:r>
            <a:endParaRPr lang="zh-CN" altLang="en-US" dirty="0">
              <a:solidFill>
                <a:srgbClr val="133984"/>
              </a:solidFill>
            </a:endParaRPr>
          </a:p>
        </p:txBody>
      </p:sp>
      <p:sp>
        <p:nvSpPr>
          <p:cNvPr id="13" name="矩形 12"/>
          <p:cNvSpPr/>
          <p:nvPr/>
        </p:nvSpPr>
        <p:spPr>
          <a:xfrm>
            <a:off x="3787512" y="4838778"/>
            <a:ext cx="4888944" cy="646331"/>
          </a:xfrm>
          <a:prstGeom prst="rect">
            <a:avLst/>
          </a:prstGeom>
        </p:spPr>
        <p:txBody>
          <a:bodyPr wrap="square">
            <a:spAutoFit/>
          </a:bodyPr>
          <a:lstStyle/>
          <a:p>
            <a:r>
              <a:rPr lang="zh-CN" altLang="zh-CN" dirty="0">
                <a:solidFill>
                  <a:srgbClr val="133984"/>
                </a:solidFill>
              </a:rPr>
              <a:t>安德斯·海尔斯伯格</a:t>
            </a:r>
            <a:r>
              <a:rPr lang="en-US" altLang="zh-CN" dirty="0">
                <a:solidFill>
                  <a:srgbClr val="133984"/>
                </a:solidFill>
              </a:rPr>
              <a:t>1996</a:t>
            </a:r>
            <a:r>
              <a:rPr lang="zh-CN" altLang="en-US" dirty="0">
                <a:solidFill>
                  <a:srgbClr val="133984"/>
                </a:solidFill>
              </a:rPr>
              <a:t>年跳槽去了微软，开发了</a:t>
            </a:r>
            <a:r>
              <a:rPr lang="en-US" altLang="zh-CN" dirty="0">
                <a:solidFill>
                  <a:srgbClr val="133984"/>
                </a:solidFill>
              </a:rPr>
              <a:t>Visual</a:t>
            </a:r>
            <a:r>
              <a:rPr lang="en-US" altLang="zh-CN" dirty="0"/>
              <a:t> </a:t>
            </a:r>
            <a:r>
              <a:rPr lang="en-US" altLang="zh-CN" dirty="0">
                <a:solidFill>
                  <a:srgbClr val="133984"/>
                </a:solidFill>
              </a:rPr>
              <a:t>J++</a:t>
            </a:r>
          </a:p>
        </p:txBody>
      </p:sp>
      <p:sp>
        <p:nvSpPr>
          <p:cNvPr id="14" name="矩形 13"/>
          <p:cNvSpPr/>
          <p:nvPr/>
        </p:nvSpPr>
        <p:spPr>
          <a:xfrm>
            <a:off x="3787512" y="4168088"/>
            <a:ext cx="5356488" cy="646331"/>
          </a:xfrm>
          <a:prstGeom prst="rect">
            <a:avLst/>
          </a:prstGeom>
        </p:spPr>
        <p:txBody>
          <a:bodyPr wrap="square">
            <a:spAutoFit/>
          </a:bodyPr>
          <a:lstStyle/>
          <a:p>
            <a:r>
              <a:rPr lang="zh-CN" altLang="zh-CN" dirty="0">
                <a:solidFill>
                  <a:srgbClr val="133984"/>
                </a:solidFill>
              </a:rPr>
              <a:t>微软公司发布的一种面向对象的、运行于</a:t>
            </a:r>
            <a:r>
              <a:rPr lang="en-US" altLang="zh-CN" dirty="0">
                <a:solidFill>
                  <a:srgbClr val="133984"/>
                </a:solidFill>
              </a:rPr>
              <a:t>.NET Framework</a:t>
            </a:r>
            <a:r>
              <a:rPr lang="zh-CN" altLang="zh-CN" dirty="0">
                <a:solidFill>
                  <a:srgbClr val="133984"/>
                </a:solidFill>
              </a:rPr>
              <a:t>上的高级程序设计语言</a:t>
            </a:r>
            <a:endParaRPr lang="zh-CN" altLang="en-US" dirty="0">
              <a:solidFill>
                <a:srgbClr val="133984"/>
              </a:solidFill>
            </a:endParaRPr>
          </a:p>
        </p:txBody>
      </p:sp>
      <p:sp>
        <p:nvSpPr>
          <p:cNvPr id="15" name="矩形 14"/>
          <p:cNvSpPr/>
          <p:nvPr/>
        </p:nvSpPr>
        <p:spPr>
          <a:xfrm>
            <a:off x="3791704" y="5471118"/>
            <a:ext cx="5272662" cy="369332"/>
          </a:xfrm>
          <a:prstGeom prst="rect">
            <a:avLst/>
          </a:prstGeom>
        </p:spPr>
        <p:txBody>
          <a:bodyPr wrap="none">
            <a:spAutoFit/>
          </a:bodyPr>
          <a:lstStyle/>
          <a:p>
            <a:r>
              <a:rPr lang="en-US" altLang="zh-CN" dirty="0">
                <a:solidFill>
                  <a:srgbClr val="133984"/>
                </a:solidFill>
              </a:rPr>
              <a:t>2000</a:t>
            </a:r>
            <a:r>
              <a:rPr lang="zh-CN" altLang="en-US" dirty="0">
                <a:solidFill>
                  <a:srgbClr val="133984"/>
                </a:solidFill>
              </a:rPr>
              <a:t>年，由于侵权诉讼，微软用</a:t>
            </a:r>
            <a:r>
              <a:rPr lang="en-US" altLang="zh-CN" dirty="0">
                <a:solidFill>
                  <a:srgbClr val="133984"/>
                </a:solidFill>
              </a:rPr>
              <a:t>C#</a:t>
            </a:r>
            <a:r>
              <a:rPr lang="zh-CN" altLang="en-US" dirty="0">
                <a:solidFill>
                  <a:srgbClr val="133984"/>
                </a:solidFill>
              </a:rPr>
              <a:t>取代了</a:t>
            </a:r>
            <a:r>
              <a:rPr lang="en-US" altLang="zh-CN" dirty="0">
                <a:solidFill>
                  <a:srgbClr val="133984"/>
                </a:solidFill>
              </a:rPr>
              <a:t>Visual</a:t>
            </a:r>
            <a:r>
              <a:rPr lang="en-US" altLang="zh-CN" dirty="0"/>
              <a:t> </a:t>
            </a:r>
            <a:r>
              <a:rPr lang="en-US" altLang="zh-CN" dirty="0">
                <a:solidFill>
                  <a:srgbClr val="133984"/>
                </a:solidFill>
              </a:rPr>
              <a:t>J++</a:t>
            </a:r>
          </a:p>
        </p:txBody>
      </p:sp>
      <p:sp>
        <p:nvSpPr>
          <p:cNvPr id="16" name="矩形 15"/>
          <p:cNvSpPr/>
          <p:nvPr/>
        </p:nvSpPr>
        <p:spPr>
          <a:xfrm>
            <a:off x="3834502" y="5908630"/>
            <a:ext cx="2723823" cy="369332"/>
          </a:xfrm>
          <a:prstGeom prst="rect">
            <a:avLst/>
          </a:prstGeom>
        </p:spPr>
        <p:txBody>
          <a:bodyPr wrap="none">
            <a:spAutoFit/>
          </a:bodyPr>
          <a:lstStyle/>
          <a:p>
            <a:r>
              <a:rPr lang="zh-CN" altLang="en-US" dirty="0">
                <a:solidFill>
                  <a:srgbClr val="133984"/>
                </a:solidFill>
              </a:rPr>
              <a:t>特点：</a:t>
            </a:r>
            <a:r>
              <a:rPr lang="zh-CN" altLang="zh-CN" dirty="0">
                <a:solidFill>
                  <a:srgbClr val="133984"/>
                </a:solidFill>
              </a:rPr>
              <a:t>安全、稳定、简单</a:t>
            </a:r>
            <a:endParaRPr lang="zh-CN" altLang="en-US" dirty="0">
              <a:solidFill>
                <a:srgbClr val="133984"/>
              </a:solidFill>
            </a:endParaRPr>
          </a:p>
        </p:txBody>
      </p:sp>
    </p:spTree>
    <p:extLst>
      <p:ext uri="{BB962C8B-B14F-4D97-AF65-F5344CB8AC3E}">
        <p14:creationId xmlns:p14="http://schemas.microsoft.com/office/powerpoint/2010/main" val="1131938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P spid="14" grpId="0"/>
      <p:bldP spid="15" grpId="0"/>
      <p:bldP spid="1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88576" y="747936"/>
            <a:ext cx="1404744" cy="584775"/>
          </a:xfrm>
          <a:prstGeom prst="rect">
            <a:avLst/>
          </a:prstGeom>
        </p:spPr>
        <p:txBody>
          <a:bodyPr wrap="none">
            <a:spAutoFit/>
          </a:bodyPr>
          <a:lstStyle/>
          <a:p>
            <a:r>
              <a:rPr lang="en-US" altLang="zh-CN" sz="3200" b="1" dirty="0">
                <a:solidFill>
                  <a:srgbClr val="133984"/>
                </a:solidFill>
              </a:rPr>
              <a:t>Python</a:t>
            </a:r>
            <a:endParaRPr lang="zh-CN" altLang="zh-CN" sz="3200" dirty="0">
              <a:solidFill>
                <a:srgbClr val="133984"/>
              </a:solidFill>
            </a:endParaRPr>
          </a:p>
        </p:txBody>
      </p:sp>
      <p:grpSp>
        <p:nvGrpSpPr>
          <p:cNvPr id="2" name="组合 1"/>
          <p:cNvGrpSpPr/>
          <p:nvPr/>
        </p:nvGrpSpPr>
        <p:grpSpPr>
          <a:xfrm>
            <a:off x="526677" y="1756420"/>
            <a:ext cx="2010894" cy="3537684"/>
            <a:chOff x="3510555" y="1700808"/>
            <a:chExt cx="2010894" cy="3537684"/>
          </a:xfrm>
        </p:grpSpPr>
        <p:pic>
          <p:nvPicPr>
            <p:cNvPr id="5" name="图片 4" descr="Guido_van_Rossum_OSCON_2006.jpg"/>
            <p:cNvPicPr/>
            <p:nvPr/>
          </p:nvPicPr>
          <p:blipFill>
            <a:blip r:embed="rId2" cstate="print"/>
            <a:stretch>
              <a:fillRect/>
            </a:stretch>
          </p:blipFill>
          <p:spPr>
            <a:xfrm>
              <a:off x="3648199" y="1700808"/>
              <a:ext cx="1873250" cy="2809875"/>
            </a:xfrm>
            <a:prstGeom prst="rect">
              <a:avLst/>
            </a:prstGeom>
          </p:spPr>
        </p:pic>
        <p:sp>
          <p:nvSpPr>
            <p:cNvPr id="6" name="矩形 5"/>
            <p:cNvSpPr/>
            <p:nvPr/>
          </p:nvSpPr>
          <p:spPr>
            <a:xfrm>
              <a:off x="3510555" y="4869160"/>
              <a:ext cx="1985144" cy="369332"/>
            </a:xfrm>
            <a:prstGeom prst="rect">
              <a:avLst/>
            </a:prstGeom>
          </p:spPr>
          <p:txBody>
            <a:bodyPr wrap="square">
              <a:spAutoFit/>
            </a:bodyPr>
            <a:lstStyle/>
            <a:p>
              <a:pPr algn="ctr"/>
              <a:r>
                <a:rPr lang="en-US" altLang="zh-CN" dirty="0">
                  <a:solidFill>
                    <a:srgbClr val="133984"/>
                  </a:solidFill>
                </a:rPr>
                <a:t>Guido van </a:t>
              </a:r>
              <a:r>
                <a:rPr lang="en-US" altLang="zh-CN" dirty="0" err="1">
                  <a:solidFill>
                    <a:srgbClr val="133984"/>
                  </a:solidFill>
                </a:rPr>
                <a:t>Rossum</a:t>
              </a:r>
              <a:endParaRPr lang="zh-CN" altLang="zh-CN" dirty="0">
                <a:solidFill>
                  <a:srgbClr val="133984"/>
                </a:solidFill>
              </a:endParaRPr>
            </a:p>
          </p:txBody>
        </p:sp>
      </p:grpSp>
      <p:sp>
        <p:nvSpPr>
          <p:cNvPr id="3" name="矩形 2"/>
          <p:cNvSpPr/>
          <p:nvPr/>
        </p:nvSpPr>
        <p:spPr>
          <a:xfrm>
            <a:off x="3720728" y="2708920"/>
            <a:ext cx="4572000" cy="1754326"/>
          </a:xfrm>
          <a:prstGeom prst="rect">
            <a:avLst/>
          </a:prstGeom>
        </p:spPr>
        <p:txBody>
          <a:bodyPr>
            <a:spAutoFit/>
          </a:bodyPr>
          <a:lstStyle/>
          <a:p>
            <a:r>
              <a:rPr lang="zh-CN" altLang="en-US" dirty="0">
                <a:solidFill>
                  <a:srgbClr val="133984"/>
                </a:solidFill>
              </a:rPr>
              <a:t>特点：</a:t>
            </a:r>
            <a:endParaRPr lang="en-US" altLang="zh-CN" dirty="0">
              <a:solidFill>
                <a:srgbClr val="133984"/>
              </a:solidFill>
            </a:endParaRPr>
          </a:p>
          <a:p>
            <a:r>
              <a:rPr lang="zh-CN" altLang="zh-CN" dirty="0">
                <a:solidFill>
                  <a:srgbClr val="133984"/>
                </a:solidFill>
              </a:rPr>
              <a:t>能够很轻松的把用其他语言制作的各种模块（尤其是</a:t>
            </a:r>
            <a:r>
              <a:rPr lang="en-US" altLang="zh-CN" dirty="0">
                <a:solidFill>
                  <a:srgbClr val="133984"/>
                </a:solidFill>
              </a:rPr>
              <a:t>C/C++</a:t>
            </a:r>
            <a:r>
              <a:rPr lang="zh-CN" altLang="zh-CN" dirty="0">
                <a:solidFill>
                  <a:srgbClr val="133984"/>
                </a:solidFill>
              </a:rPr>
              <a:t>）轻松地联结在一起</a:t>
            </a:r>
            <a:endParaRPr lang="en-US" altLang="zh-CN" dirty="0">
              <a:solidFill>
                <a:srgbClr val="133984"/>
              </a:solidFill>
            </a:endParaRPr>
          </a:p>
          <a:p>
            <a:r>
              <a:rPr lang="zh-CN" altLang="zh-CN" dirty="0">
                <a:solidFill>
                  <a:srgbClr val="133984"/>
                </a:solidFill>
              </a:rPr>
              <a:t>可读性、性能、源代码重用度、扩展性几方面都优于普通的</a:t>
            </a:r>
            <a:r>
              <a:rPr lang="en-US" altLang="zh-CN" dirty="0">
                <a:solidFill>
                  <a:srgbClr val="133984"/>
                </a:solidFill>
              </a:rPr>
              <a:t>shell</a:t>
            </a:r>
            <a:r>
              <a:rPr lang="zh-CN" altLang="zh-CN" dirty="0">
                <a:solidFill>
                  <a:srgbClr val="133984"/>
                </a:solidFill>
              </a:rPr>
              <a:t>脚本</a:t>
            </a:r>
            <a:endParaRPr lang="en-US" altLang="zh-CN" dirty="0">
              <a:solidFill>
                <a:srgbClr val="133984"/>
              </a:solidFill>
            </a:endParaRPr>
          </a:p>
          <a:p>
            <a:r>
              <a:rPr lang="zh-CN" altLang="zh-CN" dirty="0">
                <a:solidFill>
                  <a:srgbClr val="133984"/>
                </a:solidFill>
              </a:rPr>
              <a:t>经常被用于编写服务器软件</a:t>
            </a:r>
            <a:endParaRPr lang="zh-CN" altLang="en-US" dirty="0">
              <a:solidFill>
                <a:srgbClr val="133984"/>
              </a:solidFill>
            </a:endParaRPr>
          </a:p>
        </p:txBody>
      </p:sp>
      <p:sp>
        <p:nvSpPr>
          <p:cNvPr id="7" name="矩形 6"/>
          <p:cNvSpPr/>
          <p:nvPr/>
        </p:nvSpPr>
        <p:spPr>
          <a:xfrm>
            <a:off x="3758828" y="1756420"/>
            <a:ext cx="1800493" cy="369332"/>
          </a:xfrm>
          <a:prstGeom prst="rect">
            <a:avLst/>
          </a:prstGeom>
        </p:spPr>
        <p:txBody>
          <a:bodyPr wrap="none">
            <a:spAutoFit/>
          </a:bodyPr>
          <a:lstStyle/>
          <a:p>
            <a:r>
              <a:rPr lang="zh-CN" altLang="en-US" dirty="0">
                <a:solidFill>
                  <a:srgbClr val="133984"/>
                </a:solidFill>
              </a:rPr>
              <a:t>近</a:t>
            </a:r>
            <a:r>
              <a:rPr lang="zh-CN" altLang="zh-CN" dirty="0">
                <a:solidFill>
                  <a:srgbClr val="133984"/>
                </a:solidFill>
              </a:rPr>
              <a:t>年来日渐流行</a:t>
            </a:r>
            <a:endParaRPr lang="zh-CN" altLang="en-US" dirty="0">
              <a:solidFill>
                <a:srgbClr val="133984"/>
              </a:solidFill>
            </a:endParaRPr>
          </a:p>
        </p:txBody>
      </p:sp>
    </p:spTree>
    <p:extLst>
      <p:ext uri="{BB962C8B-B14F-4D97-AF65-F5344CB8AC3E}">
        <p14:creationId xmlns:p14="http://schemas.microsoft.com/office/powerpoint/2010/main" val="1920446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133984"/>
                </a:solidFill>
              </a:rPr>
              <a:t>函数式程序设计语言</a:t>
            </a:r>
          </a:p>
        </p:txBody>
      </p:sp>
      <p:sp>
        <p:nvSpPr>
          <p:cNvPr id="4"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3"/>
          <p:cNvSpPr>
            <a:spLocks noChangeArrowheads="1"/>
          </p:cNvSpPr>
          <p:nvPr/>
        </p:nvSpPr>
        <p:spPr bwMode="auto">
          <a:xfrm>
            <a:off x="0" y="2705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grpSp>
        <p:nvGrpSpPr>
          <p:cNvPr id="3" name="组合 2"/>
          <p:cNvGrpSpPr/>
          <p:nvPr/>
        </p:nvGrpSpPr>
        <p:grpSpPr>
          <a:xfrm>
            <a:off x="683568" y="1532692"/>
            <a:ext cx="1685925" cy="3517358"/>
            <a:chOff x="1691680" y="1916832"/>
            <a:chExt cx="1685925" cy="3517358"/>
          </a:xfrm>
        </p:grpSpPr>
        <p:pic>
          <p:nvPicPr>
            <p:cNvPr id="4097" name="图片 22" descr="说明: Alonzo_Churc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1916832"/>
              <a:ext cx="1685925" cy="224790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1700287" y="4787859"/>
              <a:ext cx="1677318" cy="646331"/>
            </a:xfrm>
            <a:prstGeom prst="rect">
              <a:avLst/>
            </a:prstGeom>
          </p:spPr>
          <p:txBody>
            <a:bodyPr wrap="square">
              <a:spAutoFit/>
            </a:bodyPr>
            <a:lstStyle/>
            <a:p>
              <a:pPr algn="ctr"/>
              <a:r>
                <a:rPr lang="zh-CN" altLang="zh-CN" dirty="0">
                  <a:solidFill>
                    <a:srgbClr val="133984"/>
                  </a:solidFill>
                </a:rPr>
                <a:t>阿隆佐•邱奇</a:t>
              </a:r>
              <a:endParaRPr lang="en-US" altLang="zh-CN" dirty="0">
                <a:solidFill>
                  <a:srgbClr val="133984"/>
                </a:solidFill>
              </a:endParaRPr>
            </a:p>
            <a:p>
              <a:pPr algn="ctr"/>
              <a:r>
                <a:rPr lang="en-US" altLang="zh-CN" dirty="0">
                  <a:solidFill>
                    <a:srgbClr val="133984"/>
                  </a:solidFill>
                </a:rPr>
                <a:t>(Alonzo Church)</a:t>
              </a:r>
              <a:endParaRPr lang="zh-CN" altLang="zh-CN" dirty="0">
                <a:solidFill>
                  <a:srgbClr val="133984"/>
                </a:solidFill>
              </a:endParaRPr>
            </a:p>
          </p:txBody>
        </p:sp>
      </p:grpSp>
      <p:grpSp>
        <p:nvGrpSpPr>
          <p:cNvPr id="10" name="组合 9"/>
          <p:cNvGrpSpPr/>
          <p:nvPr/>
        </p:nvGrpSpPr>
        <p:grpSpPr>
          <a:xfrm>
            <a:off x="6372200" y="1532692"/>
            <a:ext cx="2286000" cy="3456384"/>
            <a:chOff x="5442608" y="1916832"/>
            <a:chExt cx="2286000" cy="3456384"/>
          </a:xfrm>
        </p:grpSpPr>
        <p:pic>
          <p:nvPicPr>
            <p:cNvPr id="7" name="图片 6" descr="Kleene.jpg"/>
            <p:cNvPicPr/>
            <p:nvPr/>
          </p:nvPicPr>
          <p:blipFill>
            <a:blip r:embed="rId3"/>
            <a:stretch>
              <a:fillRect/>
            </a:stretch>
          </p:blipFill>
          <p:spPr>
            <a:xfrm>
              <a:off x="5796136" y="1916832"/>
              <a:ext cx="1578944" cy="2247900"/>
            </a:xfrm>
            <a:prstGeom prst="rect">
              <a:avLst/>
            </a:prstGeom>
          </p:spPr>
        </p:pic>
        <p:sp>
          <p:nvSpPr>
            <p:cNvPr id="8" name="矩形 7"/>
            <p:cNvSpPr/>
            <p:nvPr/>
          </p:nvSpPr>
          <p:spPr>
            <a:xfrm>
              <a:off x="5442608" y="4726885"/>
              <a:ext cx="2286000" cy="646331"/>
            </a:xfrm>
            <a:prstGeom prst="rect">
              <a:avLst/>
            </a:prstGeom>
          </p:spPr>
          <p:txBody>
            <a:bodyPr wrap="square">
              <a:spAutoFit/>
            </a:bodyPr>
            <a:lstStyle/>
            <a:p>
              <a:pPr algn="ctr"/>
              <a:r>
                <a:rPr lang="zh-CN" altLang="zh-CN" dirty="0">
                  <a:solidFill>
                    <a:srgbClr val="133984"/>
                  </a:solidFill>
                </a:rPr>
                <a:t>斯蒂芬•科尔•克莱尼</a:t>
              </a:r>
              <a:endParaRPr lang="en-US" altLang="zh-CN" dirty="0">
                <a:solidFill>
                  <a:srgbClr val="133984"/>
                </a:solidFill>
              </a:endParaRPr>
            </a:p>
            <a:p>
              <a:pPr algn="ctr"/>
              <a:r>
                <a:rPr lang="en-US" altLang="zh-CN" dirty="0">
                  <a:solidFill>
                    <a:srgbClr val="133984"/>
                  </a:solidFill>
                </a:rPr>
                <a:t>(Stephen Cole </a:t>
              </a:r>
              <a:r>
                <a:rPr lang="en-US" altLang="zh-CN" dirty="0" err="1">
                  <a:solidFill>
                    <a:srgbClr val="133984"/>
                  </a:solidFill>
                </a:rPr>
                <a:t>Kleene</a:t>
              </a:r>
              <a:r>
                <a:rPr lang="en-US" altLang="zh-CN" dirty="0">
                  <a:solidFill>
                    <a:srgbClr val="133984"/>
                  </a:solidFill>
                </a:rPr>
                <a:t>)</a:t>
              </a:r>
              <a:endParaRPr lang="zh-CN" altLang="zh-CN" dirty="0">
                <a:solidFill>
                  <a:srgbClr val="133984"/>
                </a:solidFill>
              </a:endParaRPr>
            </a:p>
          </p:txBody>
        </p:sp>
      </p:grpSp>
      <p:sp>
        <p:nvSpPr>
          <p:cNvPr id="11" name="矩形 10"/>
          <p:cNvSpPr/>
          <p:nvPr/>
        </p:nvSpPr>
        <p:spPr>
          <a:xfrm>
            <a:off x="3014359" y="2475190"/>
            <a:ext cx="708848" cy="369332"/>
          </a:xfrm>
          <a:prstGeom prst="rect">
            <a:avLst/>
          </a:prstGeom>
        </p:spPr>
        <p:txBody>
          <a:bodyPr wrap="none">
            <a:spAutoFit/>
          </a:bodyPr>
          <a:lstStyle/>
          <a:p>
            <a:r>
              <a:rPr lang="zh-CN" altLang="zh-CN" dirty="0">
                <a:solidFill>
                  <a:srgbClr val="133984"/>
                </a:solidFill>
              </a:rPr>
              <a:t>特点</a:t>
            </a:r>
            <a:r>
              <a:rPr lang="en-US" altLang="zh-CN" dirty="0">
                <a:solidFill>
                  <a:srgbClr val="133984"/>
                </a:solidFill>
              </a:rPr>
              <a:t>:</a:t>
            </a:r>
            <a:endParaRPr lang="zh-CN" altLang="en-US" dirty="0">
              <a:solidFill>
                <a:srgbClr val="133984"/>
              </a:solidFill>
            </a:endParaRPr>
          </a:p>
        </p:txBody>
      </p:sp>
      <p:sp>
        <p:nvSpPr>
          <p:cNvPr id="12" name="矩形 11"/>
          <p:cNvSpPr/>
          <p:nvPr/>
        </p:nvSpPr>
        <p:spPr>
          <a:xfrm>
            <a:off x="2992903" y="2895600"/>
            <a:ext cx="2448106" cy="369332"/>
          </a:xfrm>
          <a:prstGeom prst="rect">
            <a:avLst/>
          </a:prstGeom>
        </p:spPr>
        <p:txBody>
          <a:bodyPr wrap="none">
            <a:spAutoFit/>
          </a:bodyPr>
          <a:lstStyle/>
          <a:p>
            <a:r>
              <a:rPr lang="zh-CN" altLang="zh-CN" dirty="0">
                <a:solidFill>
                  <a:srgbClr val="133984"/>
                </a:solidFill>
              </a:rPr>
              <a:t>①函数是</a:t>
            </a:r>
            <a:r>
              <a:rPr lang="en-US" altLang="zh-CN" dirty="0">
                <a:solidFill>
                  <a:srgbClr val="133984"/>
                </a:solidFill>
              </a:rPr>
              <a:t>"</a:t>
            </a:r>
            <a:r>
              <a:rPr lang="zh-CN" altLang="zh-CN" dirty="0">
                <a:solidFill>
                  <a:srgbClr val="133984"/>
                </a:solidFill>
              </a:rPr>
              <a:t>第一等公民</a:t>
            </a:r>
            <a:r>
              <a:rPr lang="en-US" altLang="zh-CN" dirty="0">
                <a:solidFill>
                  <a:srgbClr val="133984"/>
                </a:solidFill>
              </a:rPr>
              <a:t>"</a:t>
            </a:r>
            <a:endParaRPr lang="zh-CN" altLang="en-US" dirty="0">
              <a:solidFill>
                <a:srgbClr val="133984"/>
              </a:solidFill>
            </a:endParaRPr>
          </a:p>
        </p:txBody>
      </p:sp>
      <p:sp>
        <p:nvSpPr>
          <p:cNvPr id="14" name="矩形 13"/>
          <p:cNvSpPr/>
          <p:nvPr/>
        </p:nvSpPr>
        <p:spPr>
          <a:xfrm>
            <a:off x="3014359" y="3418492"/>
            <a:ext cx="3647152" cy="369332"/>
          </a:xfrm>
          <a:prstGeom prst="rect">
            <a:avLst/>
          </a:prstGeom>
        </p:spPr>
        <p:txBody>
          <a:bodyPr wrap="none">
            <a:spAutoFit/>
          </a:bodyPr>
          <a:lstStyle/>
          <a:p>
            <a:r>
              <a:rPr lang="zh-CN" altLang="zh-CN" dirty="0">
                <a:solidFill>
                  <a:srgbClr val="133984"/>
                </a:solidFill>
              </a:rPr>
              <a:t>②只用“表达式”，不用“语句”</a:t>
            </a:r>
            <a:endParaRPr lang="zh-CN" altLang="en-US" dirty="0">
              <a:solidFill>
                <a:srgbClr val="133984"/>
              </a:solidFill>
            </a:endParaRPr>
          </a:p>
        </p:txBody>
      </p:sp>
      <p:sp>
        <p:nvSpPr>
          <p:cNvPr id="15" name="矩形 14"/>
          <p:cNvSpPr/>
          <p:nvPr/>
        </p:nvSpPr>
        <p:spPr>
          <a:xfrm>
            <a:off x="3013739" y="3951892"/>
            <a:ext cx="1755609" cy="369332"/>
          </a:xfrm>
          <a:prstGeom prst="rect">
            <a:avLst/>
          </a:prstGeom>
        </p:spPr>
        <p:txBody>
          <a:bodyPr wrap="none">
            <a:spAutoFit/>
          </a:bodyPr>
          <a:lstStyle/>
          <a:p>
            <a:r>
              <a:rPr lang="zh-CN" altLang="zh-CN" dirty="0">
                <a:solidFill>
                  <a:srgbClr val="133984"/>
                </a:solidFill>
              </a:rPr>
              <a:t>③没有</a:t>
            </a:r>
            <a:r>
              <a:rPr lang="en-US" altLang="zh-CN" dirty="0">
                <a:solidFill>
                  <a:srgbClr val="133984"/>
                </a:solidFill>
              </a:rPr>
              <a:t>"</a:t>
            </a:r>
            <a:r>
              <a:rPr lang="zh-CN" altLang="zh-CN" dirty="0">
                <a:solidFill>
                  <a:srgbClr val="133984"/>
                </a:solidFill>
              </a:rPr>
              <a:t>副作用</a:t>
            </a:r>
            <a:r>
              <a:rPr lang="en-US" altLang="zh-CN" dirty="0">
                <a:solidFill>
                  <a:srgbClr val="133984"/>
                </a:solidFill>
              </a:rPr>
              <a:t>"</a:t>
            </a:r>
            <a:endParaRPr lang="zh-CN" altLang="en-US" dirty="0">
              <a:solidFill>
                <a:srgbClr val="133984"/>
              </a:solidFill>
            </a:endParaRPr>
          </a:p>
        </p:txBody>
      </p:sp>
      <p:sp>
        <p:nvSpPr>
          <p:cNvPr id="16" name="矩形 15"/>
          <p:cNvSpPr/>
          <p:nvPr/>
        </p:nvSpPr>
        <p:spPr>
          <a:xfrm>
            <a:off x="3013739" y="4506684"/>
            <a:ext cx="1569660" cy="369332"/>
          </a:xfrm>
          <a:prstGeom prst="rect">
            <a:avLst/>
          </a:prstGeom>
        </p:spPr>
        <p:txBody>
          <a:bodyPr wrap="none">
            <a:spAutoFit/>
          </a:bodyPr>
          <a:lstStyle/>
          <a:p>
            <a:r>
              <a:rPr lang="zh-CN" altLang="zh-CN" dirty="0">
                <a:solidFill>
                  <a:srgbClr val="133984"/>
                </a:solidFill>
              </a:rPr>
              <a:t>④不修改状态</a:t>
            </a:r>
            <a:endParaRPr lang="zh-CN" altLang="en-US" dirty="0">
              <a:solidFill>
                <a:srgbClr val="133984"/>
              </a:solidFill>
            </a:endParaRPr>
          </a:p>
        </p:txBody>
      </p:sp>
      <p:sp>
        <p:nvSpPr>
          <p:cNvPr id="17" name="矩形 16"/>
          <p:cNvSpPr/>
          <p:nvPr/>
        </p:nvSpPr>
        <p:spPr>
          <a:xfrm>
            <a:off x="2992903" y="5083644"/>
            <a:ext cx="1338828" cy="369332"/>
          </a:xfrm>
          <a:prstGeom prst="rect">
            <a:avLst/>
          </a:prstGeom>
        </p:spPr>
        <p:txBody>
          <a:bodyPr wrap="none">
            <a:spAutoFit/>
          </a:bodyPr>
          <a:lstStyle/>
          <a:p>
            <a:r>
              <a:rPr lang="zh-CN" altLang="zh-CN" dirty="0">
                <a:solidFill>
                  <a:srgbClr val="133984"/>
                </a:solidFill>
              </a:rPr>
              <a:t>⑤引用透明</a:t>
            </a:r>
            <a:endParaRPr lang="zh-CN" altLang="en-US" dirty="0">
              <a:solidFill>
                <a:srgbClr val="133984"/>
              </a:solidFill>
            </a:endParaRPr>
          </a:p>
        </p:txBody>
      </p:sp>
      <p:sp>
        <p:nvSpPr>
          <p:cNvPr id="18" name="矩形 17"/>
          <p:cNvSpPr/>
          <p:nvPr/>
        </p:nvSpPr>
        <p:spPr>
          <a:xfrm>
            <a:off x="3390239" y="1324452"/>
            <a:ext cx="2723823" cy="369332"/>
          </a:xfrm>
          <a:prstGeom prst="rect">
            <a:avLst/>
          </a:prstGeom>
        </p:spPr>
        <p:txBody>
          <a:bodyPr wrap="none">
            <a:spAutoFit/>
          </a:bodyPr>
          <a:lstStyle/>
          <a:p>
            <a:r>
              <a:rPr lang="zh-CN" altLang="zh-CN" dirty="0">
                <a:solidFill>
                  <a:srgbClr val="133984"/>
                </a:solidFill>
              </a:rPr>
              <a:t>又称为非冯诺伊曼式语言</a:t>
            </a:r>
            <a:endParaRPr lang="zh-CN" altLang="en-US" dirty="0">
              <a:solidFill>
                <a:srgbClr val="133984"/>
              </a:solidFill>
            </a:endParaRPr>
          </a:p>
        </p:txBody>
      </p:sp>
    </p:spTree>
    <p:extLst>
      <p:ext uri="{BB962C8B-B14F-4D97-AF65-F5344CB8AC3E}">
        <p14:creationId xmlns:p14="http://schemas.microsoft.com/office/powerpoint/2010/main" val="3063081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arn(inVertic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arn(inVertic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arn(inVertical)">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barn(inVertical)">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P spid="16" grpId="0"/>
      <p:bldP spid="1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115616" y="716502"/>
            <a:ext cx="7128792" cy="923330"/>
          </a:xfrm>
          <a:prstGeom prst="rect">
            <a:avLst/>
          </a:prstGeom>
        </p:spPr>
        <p:txBody>
          <a:bodyPr wrap="square">
            <a:spAutoFit/>
          </a:bodyPr>
          <a:lstStyle/>
          <a:p>
            <a:r>
              <a:rPr lang="en-US" altLang="zh-CN" dirty="0">
                <a:solidFill>
                  <a:srgbClr val="133984"/>
                </a:solidFill>
              </a:rPr>
              <a:t>LISP:</a:t>
            </a:r>
            <a:r>
              <a:rPr lang="zh-CN" altLang="zh-CN" dirty="0">
                <a:solidFill>
                  <a:srgbClr val="133984"/>
                </a:solidFill>
              </a:rPr>
              <a:t>约翰·麦卡锡（</a:t>
            </a:r>
            <a:r>
              <a:rPr lang="en-US" altLang="zh-CN" dirty="0">
                <a:solidFill>
                  <a:srgbClr val="133984"/>
                </a:solidFill>
              </a:rPr>
              <a:t>John McCarthy</a:t>
            </a:r>
            <a:r>
              <a:rPr lang="zh-CN" altLang="zh-CN" dirty="0">
                <a:solidFill>
                  <a:srgbClr val="133984"/>
                </a:solidFill>
              </a:rPr>
              <a:t>）等在</a:t>
            </a:r>
            <a:r>
              <a:rPr lang="en-US" altLang="zh-CN" dirty="0">
                <a:solidFill>
                  <a:srgbClr val="133984"/>
                </a:solidFill>
              </a:rPr>
              <a:t>1960</a:t>
            </a:r>
            <a:r>
              <a:rPr lang="zh-CN" altLang="zh-CN" dirty="0">
                <a:solidFill>
                  <a:srgbClr val="133984"/>
                </a:solidFill>
              </a:rPr>
              <a:t>年左右发明了</a:t>
            </a:r>
            <a:r>
              <a:rPr lang="en-US" altLang="zh-CN" dirty="0">
                <a:solidFill>
                  <a:srgbClr val="133984"/>
                </a:solidFill>
              </a:rPr>
              <a:t>LISP</a:t>
            </a:r>
            <a:r>
              <a:rPr lang="zh-CN" altLang="zh-CN" dirty="0">
                <a:solidFill>
                  <a:srgbClr val="133984"/>
                </a:solidFill>
              </a:rPr>
              <a:t> ，是一种基于λ演算的函数式编程语言，其特长在于操作符号性的数据和复杂的数据结构。</a:t>
            </a:r>
            <a:endParaRPr lang="en-US" altLang="zh-CN" dirty="0">
              <a:solidFill>
                <a:srgbClr val="133984"/>
              </a:solidFill>
            </a:endParaRPr>
          </a:p>
        </p:txBody>
      </p:sp>
      <p:sp>
        <p:nvSpPr>
          <p:cNvPr id="6" name="矩形 5"/>
          <p:cNvSpPr/>
          <p:nvPr/>
        </p:nvSpPr>
        <p:spPr>
          <a:xfrm>
            <a:off x="1072084" y="1988840"/>
            <a:ext cx="7128792" cy="1200329"/>
          </a:xfrm>
          <a:prstGeom prst="rect">
            <a:avLst/>
          </a:prstGeom>
        </p:spPr>
        <p:txBody>
          <a:bodyPr wrap="square">
            <a:spAutoFit/>
          </a:bodyPr>
          <a:lstStyle/>
          <a:p>
            <a:r>
              <a:rPr lang="en-US" altLang="zh-CN" dirty="0">
                <a:solidFill>
                  <a:srgbClr val="133984"/>
                </a:solidFill>
              </a:rPr>
              <a:t>Haskell:1980 </a:t>
            </a:r>
            <a:r>
              <a:rPr lang="zh-CN" altLang="zh-CN" dirty="0">
                <a:solidFill>
                  <a:srgbClr val="133984"/>
                </a:solidFill>
              </a:rPr>
              <a:t>年代末期发布的</a:t>
            </a:r>
            <a:r>
              <a:rPr lang="en-US" altLang="zh-CN" dirty="0">
                <a:solidFill>
                  <a:srgbClr val="133984"/>
                </a:solidFill>
              </a:rPr>
              <a:t>Haskell</a:t>
            </a:r>
            <a:r>
              <a:rPr lang="zh-CN" altLang="zh-CN" dirty="0">
                <a:solidFill>
                  <a:srgbClr val="133984"/>
                </a:solidFill>
              </a:rPr>
              <a:t>，是在编程语言</a:t>
            </a:r>
            <a:r>
              <a:rPr lang="en-US" altLang="zh-CN" dirty="0">
                <a:solidFill>
                  <a:srgbClr val="133984"/>
                </a:solidFill>
              </a:rPr>
              <a:t>Miranda </a:t>
            </a:r>
            <a:r>
              <a:rPr lang="zh-CN" altLang="zh-CN" dirty="0">
                <a:solidFill>
                  <a:srgbClr val="133984"/>
                </a:solidFill>
              </a:rPr>
              <a:t>的基础上进行了标准化的纯函数式编程语言，集合了很多函数式编程研究的思想，利用很简单的叙述就可以完成链表、矩阵等数据结构，现如今非常广泛地被用于研究的一种函数语言。</a:t>
            </a:r>
            <a:endParaRPr lang="en-US" altLang="zh-CN" dirty="0">
              <a:solidFill>
                <a:srgbClr val="133984"/>
              </a:solidFill>
            </a:endParaRPr>
          </a:p>
        </p:txBody>
      </p:sp>
      <p:sp>
        <p:nvSpPr>
          <p:cNvPr id="7" name="矩形 6"/>
          <p:cNvSpPr/>
          <p:nvPr/>
        </p:nvSpPr>
        <p:spPr>
          <a:xfrm>
            <a:off x="1115616" y="3486492"/>
            <a:ext cx="7128792" cy="646331"/>
          </a:xfrm>
          <a:prstGeom prst="rect">
            <a:avLst/>
          </a:prstGeom>
        </p:spPr>
        <p:txBody>
          <a:bodyPr wrap="square">
            <a:spAutoFit/>
          </a:bodyPr>
          <a:lstStyle/>
          <a:p>
            <a:r>
              <a:rPr lang="en-US" altLang="zh-CN" dirty="0" err="1">
                <a:solidFill>
                  <a:srgbClr val="133984"/>
                </a:solidFill>
              </a:rPr>
              <a:t>Erlang</a:t>
            </a:r>
            <a:r>
              <a:rPr lang="zh-CN" altLang="en-US" dirty="0">
                <a:solidFill>
                  <a:srgbClr val="133984"/>
                </a:solidFill>
              </a:rPr>
              <a:t>：</a:t>
            </a:r>
            <a:r>
              <a:rPr lang="zh-CN" altLang="zh-CN" dirty="0">
                <a:solidFill>
                  <a:srgbClr val="133984"/>
                </a:solidFill>
              </a:rPr>
              <a:t>由瑞典电信设备制造商爱立信所辖的</a:t>
            </a:r>
            <a:r>
              <a:rPr lang="en-US" altLang="zh-CN" dirty="0">
                <a:solidFill>
                  <a:srgbClr val="133984"/>
                </a:solidFill>
              </a:rPr>
              <a:t>CS-Lab</a:t>
            </a:r>
            <a:r>
              <a:rPr lang="zh-CN" altLang="zh-CN" dirty="0">
                <a:solidFill>
                  <a:srgbClr val="133984"/>
                </a:solidFill>
              </a:rPr>
              <a:t>开发，是一种通用的面向并发的编程语言。</a:t>
            </a:r>
            <a:endParaRPr lang="en-US" altLang="zh-CN" dirty="0">
              <a:solidFill>
                <a:srgbClr val="133984"/>
              </a:solidFill>
            </a:endParaRPr>
          </a:p>
        </p:txBody>
      </p:sp>
      <p:sp>
        <p:nvSpPr>
          <p:cNvPr id="8" name="矩形 7"/>
          <p:cNvSpPr/>
          <p:nvPr/>
        </p:nvSpPr>
        <p:spPr>
          <a:xfrm>
            <a:off x="1187624" y="4653136"/>
            <a:ext cx="7056784" cy="646331"/>
          </a:xfrm>
          <a:prstGeom prst="rect">
            <a:avLst/>
          </a:prstGeom>
        </p:spPr>
        <p:txBody>
          <a:bodyPr wrap="square">
            <a:spAutoFit/>
          </a:bodyPr>
          <a:lstStyle/>
          <a:p>
            <a:r>
              <a:rPr lang="en-US" altLang="zh-CN" dirty="0">
                <a:solidFill>
                  <a:srgbClr val="133984"/>
                </a:solidFill>
              </a:rPr>
              <a:t>Ruby</a:t>
            </a:r>
            <a:r>
              <a:rPr lang="zh-CN" altLang="en-US" dirty="0">
                <a:solidFill>
                  <a:srgbClr val="133984"/>
                </a:solidFill>
              </a:rPr>
              <a:t>：</a:t>
            </a:r>
            <a:r>
              <a:rPr lang="zh-CN" altLang="zh-CN" dirty="0">
                <a:solidFill>
                  <a:srgbClr val="133984"/>
                </a:solidFill>
              </a:rPr>
              <a:t>在</a:t>
            </a:r>
            <a:r>
              <a:rPr lang="en-US" altLang="zh-CN" dirty="0">
                <a:solidFill>
                  <a:srgbClr val="133984"/>
                </a:solidFill>
              </a:rPr>
              <a:t>20</a:t>
            </a:r>
            <a:r>
              <a:rPr lang="zh-CN" altLang="zh-CN" dirty="0">
                <a:solidFill>
                  <a:srgbClr val="133984"/>
                </a:solidFill>
              </a:rPr>
              <a:t>世纪</a:t>
            </a:r>
            <a:r>
              <a:rPr lang="en-US" altLang="zh-CN" dirty="0">
                <a:solidFill>
                  <a:srgbClr val="133984"/>
                </a:solidFill>
              </a:rPr>
              <a:t>90</a:t>
            </a:r>
            <a:r>
              <a:rPr lang="zh-CN" altLang="zh-CN" dirty="0">
                <a:solidFill>
                  <a:srgbClr val="133984"/>
                </a:solidFill>
              </a:rPr>
              <a:t>年代由日本人松本行弘开发</a:t>
            </a:r>
            <a:r>
              <a:rPr lang="zh-CN" altLang="en-US" dirty="0">
                <a:solidFill>
                  <a:srgbClr val="133984"/>
                </a:solidFill>
              </a:rPr>
              <a:t>。程序</a:t>
            </a:r>
            <a:r>
              <a:rPr lang="zh-CN" altLang="zh-CN" dirty="0">
                <a:solidFill>
                  <a:srgbClr val="133984"/>
                </a:solidFill>
              </a:rPr>
              <a:t>通常非常直观，按照编程人认为它应该的方式运行。</a:t>
            </a:r>
          </a:p>
        </p:txBody>
      </p:sp>
    </p:spTree>
    <p:extLst>
      <p:ext uri="{BB962C8B-B14F-4D97-AF65-F5344CB8AC3E}">
        <p14:creationId xmlns:p14="http://schemas.microsoft.com/office/powerpoint/2010/main" val="2194847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solidFill>
                  <a:srgbClr val="133984"/>
                </a:solidFill>
              </a:rPr>
              <a:t>逻辑式程序设计语言</a:t>
            </a:r>
            <a:endParaRPr lang="zh-CN" altLang="en-US" dirty="0">
              <a:solidFill>
                <a:srgbClr val="133984"/>
              </a:solidFill>
            </a:endParaRPr>
          </a:p>
        </p:txBody>
      </p:sp>
      <p:sp>
        <p:nvSpPr>
          <p:cNvPr id="3" name="内容占位符 2"/>
          <p:cNvSpPr>
            <a:spLocks noGrp="1"/>
          </p:cNvSpPr>
          <p:nvPr>
            <p:ph idx="1"/>
          </p:nvPr>
        </p:nvSpPr>
        <p:spPr>
          <a:xfrm>
            <a:off x="468313" y="1268413"/>
            <a:ext cx="2375495" cy="720427"/>
          </a:xfrm>
        </p:spPr>
        <p:txBody>
          <a:bodyPr/>
          <a:lstStyle/>
          <a:p>
            <a:pPr marL="0" indent="0">
              <a:buNone/>
            </a:pPr>
            <a:r>
              <a:rPr lang="en-US" altLang="zh-CN" dirty="0">
                <a:solidFill>
                  <a:srgbClr val="133984"/>
                </a:solidFill>
              </a:rPr>
              <a:t>Prolog</a:t>
            </a:r>
          </a:p>
          <a:p>
            <a:pPr marL="0" indent="0">
              <a:buNone/>
            </a:pPr>
            <a:endParaRPr lang="en-US" altLang="zh-CN" dirty="0">
              <a:solidFill>
                <a:srgbClr val="133984"/>
              </a:solidFill>
            </a:endParaRPr>
          </a:p>
        </p:txBody>
      </p:sp>
      <p:sp>
        <p:nvSpPr>
          <p:cNvPr id="4" name="矩形 3"/>
          <p:cNvSpPr/>
          <p:nvPr/>
        </p:nvSpPr>
        <p:spPr>
          <a:xfrm>
            <a:off x="2267744" y="2428776"/>
            <a:ext cx="3417923" cy="1569660"/>
          </a:xfrm>
          <a:prstGeom prst="rect">
            <a:avLst/>
          </a:prstGeom>
        </p:spPr>
        <p:txBody>
          <a:bodyPr wrap="none">
            <a:spAutoFit/>
          </a:bodyPr>
          <a:lstStyle/>
          <a:p>
            <a:r>
              <a:rPr lang="zh-CN" altLang="en-US" sz="2400" dirty="0">
                <a:solidFill>
                  <a:srgbClr val="133984"/>
                </a:solidFill>
              </a:rPr>
              <a:t>特点：</a:t>
            </a:r>
            <a:endParaRPr lang="en-US" altLang="zh-CN" sz="2400" dirty="0">
              <a:solidFill>
                <a:srgbClr val="133984"/>
              </a:solidFill>
            </a:endParaRPr>
          </a:p>
          <a:p>
            <a:r>
              <a:rPr lang="en-US" altLang="zh-CN" sz="2400" dirty="0">
                <a:solidFill>
                  <a:srgbClr val="133984"/>
                </a:solidFill>
              </a:rPr>
              <a:t>1</a:t>
            </a:r>
            <a:r>
              <a:rPr lang="zh-CN" altLang="en-US" sz="2400" dirty="0">
                <a:solidFill>
                  <a:srgbClr val="133984"/>
                </a:solidFill>
              </a:rPr>
              <a:t>、</a:t>
            </a:r>
            <a:r>
              <a:rPr lang="zh-CN" altLang="zh-CN" sz="2400" dirty="0">
                <a:solidFill>
                  <a:srgbClr val="133984"/>
                </a:solidFill>
              </a:rPr>
              <a:t>是一种描述语言</a:t>
            </a:r>
            <a:endParaRPr lang="en-US" altLang="zh-CN" sz="2400" dirty="0">
              <a:solidFill>
                <a:srgbClr val="133984"/>
              </a:solidFill>
            </a:endParaRPr>
          </a:p>
          <a:p>
            <a:r>
              <a:rPr lang="en-US" altLang="zh-CN" sz="2400" dirty="0">
                <a:solidFill>
                  <a:srgbClr val="133984"/>
                </a:solidFill>
              </a:rPr>
              <a:t>2</a:t>
            </a:r>
            <a:r>
              <a:rPr lang="zh-CN" altLang="en-US" sz="2400" dirty="0">
                <a:solidFill>
                  <a:srgbClr val="133984"/>
                </a:solidFill>
              </a:rPr>
              <a:t>、</a:t>
            </a:r>
            <a:r>
              <a:rPr lang="zh-CN" altLang="zh-CN" sz="2400" dirty="0">
                <a:solidFill>
                  <a:srgbClr val="133984"/>
                </a:solidFill>
              </a:rPr>
              <a:t>数据和程序结构统一</a:t>
            </a:r>
            <a:endParaRPr lang="en-US" altLang="zh-CN" sz="2400" dirty="0">
              <a:solidFill>
                <a:srgbClr val="133984"/>
              </a:solidFill>
            </a:endParaRPr>
          </a:p>
          <a:p>
            <a:r>
              <a:rPr lang="en-US" altLang="zh-CN" sz="2400" dirty="0">
                <a:solidFill>
                  <a:srgbClr val="133984"/>
                </a:solidFill>
              </a:rPr>
              <a:t>3</a:t>
            </a:r>
            <a:r>
              <a:rPr lang="zh-CN" altLang="en-US" sz="2400" dirty="0">
                <a:solidFill>
                  <a:srgbClr val="133984"/>
                </a:solidFill>
              </a:rPr>
              <a:t>、</a:t>
            </a:r>
            <a:r>
              <a:rPr lang="zh-CN" altLang="zh-CN" sz="2400" dirty="0">
                <a:solidFill>
                  <a:srgbClr val="133984"/>
                </a:solidFill>
              </a:rPr>
              <a:t>递归</a:t>
            </a:r>
            <a:endParaRPr lang="zh-CN" altLang="en-US" sz="2400" dirty="0">
              <a:solidFill>
                <a:srgbClr val="133984"/>
              </a:solidFill>
            </a:endParaRPr>
          </a:p>
        </p:txBody>
      </p:sp>
    </p:spTree>
    <p:extLst>
      <p:ext uri="{BB962C8B-B14F-4D97-AF65-F5344CB8AC3E}">
        <p14:creationId xmlns:p14="http://schemas.microsoft.com/office/powerpoint/2010/main" val="521234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fade">
                                      <p:cBhvr>
                                        <p:cTn id="21" dur="1000"/>
                                        <p:tgtEl>
                                          <p:spTgt spid="4">
                                            <p:txEl>
                                              <p:pRg st="3" end="3"/>
                                            </p:txEl>
                                          </p:spTgt>
                                        </p:tgtEl>
                                      </p:cBhvr>
                                    </p:animEffect>
                                    <p:anim calcmode="lin" valueType="num">
                                      <p:cBhvr>
                                        <p:cTn id="22"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solidFill>
                  <a:srgbClr val="133984"/>
                </a:solidFill>
              </a:rPr>
              <a:t>标记语言和</a:t>
            </a:r>
            <a:r>
              <a:rPr lang="en-US" altLang="zh-CN" dirty="0">
                <a:solidFill>
                  <a:srgbClr val="133984"/>
                </a:solidFill>
              </a:rPr>
              <a:t>web</a:t>
            </a:r>
            <a:r>
              <a:rPr lang="zh-CN" altLang="zh-CN" dirty="0">
                <a:solidFill>
                  <a:srgbClr val="133984"/>
                </a:solidFill>
              </a:rPr>
              <a:t>开发语言</a:t>
            </a:r>
            <a:endParaRPr lang="zh-CN" altLang="en-US" dirty="0">
              <a:solidFill>
                <a:srgbClr val="133984"/>
              </a:solidFill>
            </a:endParaRPr>
          </a:p>
        </p:txBody>
      </p:sp>
      <p:sp>
        <p:nvSpPr>
          <p:cNvPr id="3" name="内容占位符 2"/>
          <p:cNvSpPr>
            <a:spLocks noGrp="1"/>
          </p:cNvSpPr>
          <p:nvPr>
            <p:ph idx="1"/>
          </p:nvPr>
        </p:nvSpPr>
        <p:spPr/>
        <p:txBody>
          <a:bodyPr/>
          <a:lstStyle/>
          <a:p>
            <a:pPr marL="0" indent="0">
              <a:buNone/>
            </a:pPr>
            <a:r>
              <a:rPr lang="zh-CN" altLang="zh-CN" b="1" dirty="0"/>
              <a:t>标记语言</a:t>
            </a:r>
            <a:endParaRPr lang="en-US" altLang="zh-CN" b="1" dirty="0"/>
          </a:p>
          <a:p>
            <a:r>
              <a:rPr lang="en-US" altLang="zh-CN" b="1" dirty="0">
                <a:solidFill>
                  <a:srgbClr val="133984"/>
                </a:solidFill>
              </a:rPr>
              <a:t>HTML (</a:t>
            </a:r>
            <a:r>
              <a:rPr lang="en-US" altLang="zh-CN" b="1" dirty="0" err="1">
                <a:solidFill>
                  <a:srgbClr val="133984"/>
                </a:solidFill>
              </a:rPr>
              <a:t>HyperText</a:t>
            </a:r>
            <a:r>
              <a:rPr lang="en-US" altLang="zh-CN" b="1" dirty="0">
                <a:solidFill>
                  <a:srgbClr val="133984"/>
                </a:solidFill>
              </a:rPr>
              <a:t> Markup Language)</a:t>
            </a:r>
          </a:p>
          <a:p>
            <a:r>
              <a:rPr lang="en-US" altLang="zh-CN" b="1" dirty="0">
                <a:solidFill>
                  <a:srgbClr val="133984"/>
                </a:solidFill>
              </a:rPr>
              <a:t>CSS</a:t>
            </a:r>
            <a:r>
              <a:rPr lang="zh-CN" altLang="zh-CN" b="1" dirty="0">
                <a:solidFill>
                  <a:srgbClr val="133984"/>
                </a:solidFill>
              </a:rPr>
              <a:t>（</a:t>
            </a:r>
            <a:r>
              <a:rPr lang="en-US" altLang="zh-CN" b="1" dirty="0">
                <a:solidFill>
                  <a:srgbClr val="133984"/>
                </a:solidFill>
              </a:rPr>
              <a:t>Cascading Style Sheets</a:t>
            </a:r>
            <a:r>
              <a:rPr lang="zh-CN" altLang="zh-CN" b="1" dirty="0">
                <a:solidFill>
                  <a:srgbClr val="133984"/>
                </a:solidFill>
              </a:rPr>
              <a:t>）</a:t>
            </a:r>
            <a:endParaRPr lang="en-US" altLang="zh-CN" b="1" dirty="0">
              <a:solidFill>
                <a:srgbClr val="133984"/>
              </a:solidFill>
            </a:endParaRPr>
          </a:p>
          <a:p>
            <a:r>
              <a:rPr lang="en-US" altLang="zh-CN" b="1" dirty="0">
                <a:solidFill>
                  <a:srgbClr val="133984"/>
                </a:solidFill>
              </a:rPr>
              <a:t>XML</a:t>
            </a:r>
            <a:r>
              <a:rPr lang="zh-CN" altLang="zh-CN" b="1" dirty="0">
                <a:solidFill>
                  <a:srgbClr val="133984"/>
                </a:solidFill>
              </a:rPr>
              <a:t>（</a:t>
            </a:r>
            <a:r>
              <a:rPr lang="en-US" altLang="zh-CN" b="1" dirty="0">
                <a:solidFill>
                  <a:srgbClr val="133984"/>
                </a:solidFill>
              </a:rPr>
              <a:t>Extensible Markup Language</a:t>
            </a:r>
            <a:r>
              <a:rPr lang="zh-CN" altLang="zh-CN" b="1" dirty="0">
                <a:solidFill>
                  <a:srgbClr val="133984"/>
                </a:solidFill>
              </a:rPr>
              <a:t>）</a:t>
            </a:r>
            <a:endParaRPr lang="en-US" altLang="zh-CN" b="1" dirty="0">
              <a:solidFill>
                <a:srgbClr val="133984"/>
              </a:solidFill>
            </a:endParaRPr>
          </a:p>
          <a:p>
            <a:r>
              <a:rPr lang="en-US" altLang="zh-CN" b="1" dirty="0">
                <a:solidFill>
                  <a:srgbClr val="133984"/>
                </a:solidFill>
              </a:rPr>
              <a:t>XHTML</a:t>
            </a:r>
            <a:r>
              <a:rPr lang="zh-CN" altLang="zh-CN" b="1" dirty="0">
                <a:solidFill>
                  <a:srgbClr val="133984"/>
                </a:solidFill>
              </a:rPr>
              <a:t>（ </a:t>
            </a:r>
            <a:r>
              <a:rPr lang="en-US" altLang="zh-CN" b="1" dirty="0">
                <a:solidFill>
                  <a:srgbClr val="133984"/>
                </a:solidFill>
              </a:rPr>
              <a:t>The Extensible </a:t>
            </a:r>
            <a:r>
              <a:rPr lang="en-US" altLang="zh-CN" b="1" dirty="0" err="1">
                <a:solidFill>
                  <a:srgbClr val="133984"/>
                </a:solidFill>
              </a:rPr>
              <a:t>HyperText</a:t>
            </a:r>
            <a:r>
              <a:rPr lang="en-US" altLang="zh-CN" b="1" dirty="0">
                <a:solidFill>
                  <a:srgbClr val="133984"/>
                </a:solidFill>
              </a:rPr>
              <a:t> Markup Language</a:t>
            </a:r>
            <a:r>
              <a:rPr lang="zh-CN" altLang="zh-CN" b="1" dirty="0">
                <a:solidFill>
                  <a:srgbClr val="133984"/>
                </a:solidFill>
              </a:rPr>
              <a:t>）</a:t>
            </a:r>
            <a:endParaRPr lang="en-US" altLang="zh-CN" b="1" dirty="0">
              <a:solidFill>
                <a:srgbClr val="133984"/>
              </a:solidFill>
            </a:endParaRPr>
          </a:p>
          <a:p>
            <a:endParaRPr lang="zh-CN" altLang="en-US" dirty="0"/>
          </a:p>
        </p:txBody>
      </p:sp>
    </p:spTree>
    <p:extLst>
      <p:ext uri="{BB962C8B-B14F-4D97-AF65-F5344CB8AC3E}">
        <p14:creationId xmlns:p14="http://schemas.microsoft.com/office/powerpoint/2010/main" val="1332081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solidFill>
                  <a:srgbClr val="133984"/>
                </a:solidFill>
              </a:rPr>
              <a:t>标记语言和</a:t>
            </a:r>
            <a:r>
              <a:rPr lang="en-US" altLang="zh-CN" dirty="0">
                <a:solidFill>
                  <a:srgbClr val="133984"/>
                </a:solidFill>
              </a:rPr>
              <a:t>web</a:t>
            </a:r>
            <a:r>
              <a:rPr lang="zh-CN" altLang="zh-CN" dirty="0">
                <a:solidFill>
                  <a:srgbClr val="133984"/>
                </a:solidFill>
              </a:rPr>
              <a:t>开发语言</a:t>
            </a:r>
            <a:endParaRPr lang="zh-CN" altLang="en-US" dirty="0">
              <a:solidFill>
                <a:srgbClr val="133984"/>
              </a:solidFill>
            </a:endParaRPr>
          </a:p>
        </p:txBody>
      </p:sp>
      <p:sp>
        <p:nvSpPr>
          <p:cNvPr id="3" name="内容占位符 2"/>
          <p:cNvSpPr>
            <a:spLocks noGrp="1"/>
          </p:cNvSpPr>
          <p:nvPr>
            <p:ph idx="1"/>
          </p:nvPr>
        </p:nvSpPr>
        <p:spPr>
          <a:xfrm>
            <a:off x="395536" y="1268760"/>
            <a:ext cx="8229600" cy="4857750"/>
          </a:xfrm>
        </p:spPr>
        <p:txBody>
          <a:bodyPr>
            <a:normAutofit/>
          </a:bodyPr>
          <a:lstStyle/>
          <a:p>
            <a:pPr marL="0" indent="0">
              <a:buNone/>
            </a:pPr>
            <a:r>
              <a:rPr lang="en-US" altLang="zh-CN" b="1" dirty="0">
                <a:solidFill>
                  <a:srgbClr val="133984"/>
                </a:solidFill>
              </a:rPr>
              <a:t>web</a:t>
            </a:r>
            <a:r>
              <a:rPr lang="zh-CN" altLang="zh-CN" b="1" dirty="0">
                <a:solidFill>
                  <a:srgbClr val="133984"/>
                </a:solidFill>
              </a:rPr>
              <a:t>开发语言</a:t>
            </a:r>
            <a:endParaRPr lang="en-US" altLang="zh-CN" b="1" dirty="0">
              <a:solidFill>
                <a:srgbClr val="133984"/>
              </a:solidFill>
            </a:endParaRPr>
          </a:p>
          <a:p>
            <a:r>
              <a:rPr lang="en-US" altLang="zh-CN" b="1" dirty="0">
                <a:solidFill>
                  <a:srgbClr val="133984"/>
                </a:solidFill>
              </a:rPr>
              <a:t>CGI</a:t>
            </a:r>
            <a:r>
              <a:rPr lang="zh-CN" altLang="zh-CN" dirty="0">
                <a:solidFill>
                  <a:srgbClr val="133984"/>
                </a:solidFill>
              </a:rPr>
              <a:t>（</a:t>
            </a:r>
            <a:r>
              <a:rPr lang="en-US" altLang="zh-CN" b="1" dirty="0">
                <a:solidFill>
                  <a:srgbClr val="133984"/>
                </a:solidFill>
              </a:rPr>
              <a:t>Common Gateway Interface</a:t>
            </a:r>
            <a:r>
              <a:rPr lang="zh-CN" altLang="zh-CN" dirty="0">
                <a:solidFill>
                  <a:srgbClr val="133984"/>
                </a:solidFill>
              </a:rPr>
              <a:t>）</a:t>
            </a:r>
            <a:endParaRPr lang="en-US" altLang="zh-CN" dirty="0">
              <a:solidFill>
                <a:srgbClr val="133984"/>
              </a:solidFill>
            </a:endParaRPr>
          </a:p>
          <a:p>
            <a:r>
              <a:rPr lang="en-US" altLang="zh-CN" b="1" dirty="0">
                <a:solidFill>
                  <a:srgbClr val="133984"/>
                </a:solidFill>
              </a:rPr>
              <a:t>ASP</a:t>
            </a:r>
            <a:r>
              <a:rPr lang="zh-CN" altLang="zh-CN" dirty="0">
                <a:solidFill>
                  <a:srgbClr val="133984"/>
                </a:solidFill>
              </a:rPr>
              <a:t>（</a:t>
            </a:r>
            <a:r>
              <a:rPr lang="en-US" altLang="zh-CN" b="1" dirty="0">
                <a:solidFill>
                  <a:srgbClr val="133984"/>
                </a:solidFill>
              </a:rPr>
              <a:t> Active Server Page</a:t>
            </a:r>
            <a:r>
              <a:rPr lang="zh-CN" altLang="zh-CN" dirty="0">
                <a:solidFill>
                  <a:srgbClr val="133984"/>
                </a:solidFill>
              </a:rPr>
              <a:t> ）</a:t>
            </a:r>
            <a:endParaRPr lang="en-US" altLang="zh-CN" b="1" dirty="0">
              <a:solidFill>
                <a:srgbClr val="133984"/>
              </a:solidFill>
            </a:endParaRPr>
          </a:p>
          <a:p>
            <a:r>
              <a:rPr lang="en-US" altLang="zh-CN" b="1" dirty="0">
                <a:solidFill>
                  <a:srgbClr val="133984"/>
                </a:solidFill>
              </a:rPr>
              <a:t>VBScript</a:t>
            </a:r>
            <a:r>
              <a:rPr lang="zh-CN" altLang="zh-CN" dirty="0">
                <a:solidFill>
                  <a:srgbClr val="133984"/>
                </a:solidFill>
              </a:rPr>
              <a:t>（</a:t>
            </a:r>
            <a:r>
              <a:rPr lang="en-US" altLang="zh-CN" b="1" dirty="0">
                <a:solidFill>
                  <a:srgbClr val="133984"/>
                </a:solidFill>
              </a:rPr>
              <a:t>Visual Basic Script</a:t>
            </a:r>
            <a:r>
              <a:rPr lang="zh-CN" altLang="zh-CN" dirty="0">
                <a:solidFill>
                  <a:srgbClr val="133984"/>
                </a:solidFill>
              </a:rPr>
              <a:t>）</a:t>
            </a:r>
            <a:endParaRPr lang="en-US" altLang="zh-CN" dirty="0">
              <a:solidFill>
                <a:srgbClr val="133984"/>
              </a:solidFill>
            </a:endParaRPr>
          </a:p>
          <a:p>
            <a:r>
              <a:rPr lang="en-US" altLang="zh-CN" b="1" dirty="0">
                <a:solidFill>
                  <a:srgbClr val="133984"/>
                </a:solidFill>
              </a:rPr>
              <a:t>PHP</a:t>
            </a:r>
            <a:r>
              <a:rPr lang="zh-CN" altLang="zh-CN" dirty="0">
                <a:solidFill>
                  <a:srgbClr val="133984"/>
                </a:solidFill>
              </a:rPr>
              <a:t>（</a:t>
            </a:r>
            <a:r>
              <a:rPr lang="en-US" altLang="zh-CN" b="1" dirty="0">
                <a:solidFill>
                  <a:srgbClr val="133984"/>
                </a:solidFill>
              </a:rPr>
              <a:t>Hypertext Preprocessor</a:t>
            </a:r>
            <a:r>
              <a:rPr lang="zh-CN" altLang="zh-CN" dirty="0">
                <a:solidFill>
                  <a:srgbClr val="133984"/>
                </a:solidFill>
              </a:rPr>
              <a:t>）</a:t>
            </a:r>
            <a:endParaRPr lang="en-US" altLang="zh-CN" dirty="0">
              <a:solidFill>
                <a:srgbClr val="133984"/>
              </a:solidFill>
            </a:endParaRPr>
          </a:p>
          <a:p>
            <a:r>
              <a:rPr lang="en-US" altLang="zh-CN" b="1" dirty="0">
                <a:solidFill>
                  <a:srgbClr val="133984"/>
                </a:solidFill>
              </a:rPr>
              <a:t>JSP</a:t>
            </a:r>
            <a:r>
              <a:rPr lang="zh-CN" altLang="zh-CN" b="1" dirty="0">
                <a:solidFill>
                  <a:srgbClr val="133984"/>
                </a:solidFill>
              </a:rPr>
              <a:t>（</a:t>
            </a:r>
            <a:r>
              <a:rPr lang="en-US" altLang="zh-CN" b="1" dirty="0">
                <a:solidFill>
                  <a:srgbClr val="133984"/>
                </a:solidFill>
              </a:rPr>
              <a:t>Java Server Pages</a:t>
            </a:r>
            <a:r>
              <a:rPr lang="zh-CN" altLang="zh-CN" b="1" dirty="0">
                <a:solidFill>
                  <a:srgbClr val="133984"/>
                </a:solidFill>
              </a:rPr>
              <a:t>）</a:t>
            </a:r>
            <a:endParaRPr lang="en-US" altLang="zh-CN" b="1" dirty="0">
              <a:solidFill>
                <a:srgbClr val="133984"/>
              </a:solidFill>
            </a:endParaRPr>
          </a:p>
          <a:p>
            <a:r>
              <a:rPr lang="en-US" altLang="zh-CN" b="1" dirty="0">
                <a:solidFill>
                  <a:srgbClr val="133984"/>
                </a:solidFill>
              </a:rPr>
              <a:t>JavaScript</a:t>
            </a:r>
          </a:p>
          <a:p>
            <a:r>
              <a:rPr lang="en-US" altLang="zh-CN" b="1" dirty="0">
                <a:solidFill>
                  <a:srgbClr val="133984"/>
                </a:solidFill>
              </a:rPr>
              <a:t>AJAX</a:t>
            </a:r>
            <a:r>
              <a:rPr lang="zh-CN" altLang="zh-CN" b="1" dirty="0">
                <a:solidFill>
                  <a:srgbClr val="133984"/>
                </a:solidFill>
              </a:rPr>
              <a:t> （ </a:t>
            </a:r>
            <a:r>
              <a:rPr lang="en-US" altLang="zh-CN" b="1" dirty="0">
                <a:solidFill>
                  <a:srgbClr val="133984"/>
                </a:solidFill>
              </a:rPr>
              <a:t>Asynchronous JavaScript and XML</a:t>
            </a:r>
            <a:r>
              <a:rPr lang="zh-CN" altLang="zh-CN" b="1" dirty="0">
                <a:solidFill>
                  <a:srgbClr val="133984"/>
                </a:solidFill>
              </a:rPr>
              <a:t>）</a:t>
            </a:r>
            <a:endParaRPr lang="zh-CN" altLang="en-US" b="1" dirty="0">
              <a:solidFill>
                <a:srgbClr val="133984"/>
              </a:solidFill>
            </a:endParaRPr>
          </a:p>
        </p:txBody>
      </p:sp>
    </p:spTree>
    <p:extLst>
      <p:ext uri="{BB962C8B-B14F-4D97-AF65-F5344CB8AC3E}">
        <p14:creationId xmlns:p14="http://schemas.microsoft.com/office/powerpoint/2010/main" val="1880950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133984"/>
                </a:solidFill>
              </a:rPr>
              <a:t>SQL</a:t>
            </a:r>
            <a:r>
              <a:rPr lang="zh-CN" altLang="zh-CN" dirty="0">
                <a:solidFill>
                  <a:srgbClr val="133984"/>
                </a:solidFill>
              </a:rPr>
              <a:t>语言</a:t>
            </a:r>
            <a:endParaRPr lang="zh-CN" altLang="en-US" dirty="0">
              <a:solidFill>
                <a:srgbClr val="133984"/>
              </a:solidFill>
            </a:endParaRPr>
          </a:p>
        </p:txBody>
      </p:sp>
      <p:sp>
        <p:nvSpPr>
          <p:cNvPr id="4" name="矩形 3"/>
          <p:cNvSpPr/>
          <p:nvPr/>
        </p:nvSpPr>
        <p:spPr>
          <a:xfrm>
            <a:off x="867318" y="1588187"/>
            <a:ext cx="3150096" cy="646331"/>
          </a:xfrm>
          <a:prstGeom prst="rect">
            <a:avLst/>
          </a:prstGeom>
        </p:spPr>
        <p:txBody>
          <a:bodyPr wrap="square">
            <a:spAutoFit/>
          </a:bodyPr>
          <a:lstStyle/>
          <a:p>
            <a:pPr algn="ctr"/>
            <a:r>
              <a:rPr lang="zh-CN" altLang="zh-CN" b="1" dirty="0">
                <a:solidFill>
                  <a:srgbClr val="133984"/>
                </a:solidFill>
              </a:rPr>
              <a:t>结构化查询语言</a:t>
            </a:r>
            <a:endParaRPr lang="en-US" altLang="zh-CN" b="1" dirty="0">
              <a:solidFill>
                <a:srgbClr val="133984"/>
              </a:solidFill>
            </a:endParaRPr>
          </a:p>
          <a:p>
            <a:pPr algn="ctr"/>
            <a:r>
              <a:rPr lang="zh-CN" altLang="zh-CN" b="1" dirty="0">
                <a:solidFill>
                  <a:srgbClr val="133984"/>
                </a:solidFill>
              </a:rPr>
              <a:t>（</a:t>
            </a:r>
            <a:r>
              <a:rPr lang="en-US" altLang="zh-CN" b="1" dirty="0">
                <a:solidFill>
                  <a:srgbClr val="133984"/>
                </a:solidFill>
              </a:rPr>
              <a:t>Structured Query Language</a:t>
            </a:r>
            <a:r>
              <a:rPr lang="zh-CN" altLang="zh-CN" b="1" dirty="0">
                <a:solidFill>
                  <a:srgbClr val="133984"/>
                </a:solidFill>
              </a:rPr>
              <a:t>）</a:t>
            </a:r>
            <a:endParaRPr lang="zh-CN" altLang="en-US" dirty="0">
              <a:solidFill>
                <a:srgbClr val="133984"/>
              </a:solidFill>
            </a:endParaRPr>
          </a:p>
        </p:txBody>
      </p:sp>
      <p:grpSp>
        <p:nvGrpSpPr>
          <p:cNvPr id="3" name="组合 2"/>
          <p:cNvGrpSpPr/>
          <p:nvPr/>
        </p:nvGrpSpPr>
        <p:grpSpPr>
          <a:xfrm>
            <a:off x="5796136" y="1588187"/>
            <a:ext cx="1551203" cy="2774348"/>
            <a:chOff x="5375439" y="1588187"/>
            <a:chExt cx="1551203" cy="2774348"/>
          </a:xfrm>
        </p:grpSpPr>
        <p:pic>
          <p:nvPicPr>
            <p:cNvPr id="5" name="图片 4" descr="Edgar_F_Codd.jpg"/>
            <p:cNvPicPr/>
            <p:nvPr/>
          </p:nvPicPr>
          <p:blipFill>
            <a:blip r:embed="rId2"/>
            <a:stretch>
              <a:fillRect/>
            </a:stretch>
          </p:blipFill>
          <p:spPr>
            <a:xfrm>
              <a:off x="5508104" y="1588187"/>
              <a:ext cx="1285875" cy="1828800"/>
            </a:xfrm>
            <a:prstGeom prst="rect">
              <a:avLst/>
            </a:prstGeom>
          </p:spPr>
        </p:pic>
        <p:sp>
          <p:nvSpPr>
            <p:cNvPr id="6" name="矩形 5"/>
            <p:cNvSpPr/>
            <p:nvPr/>
          </p:nvSpPr>
          <p:spPr>
            <a:xfrm>
              <a:off x="5375439" y="3716204"/>
              <a:ext cx="1551203" cy="646331"/>
            </a:xfrm>
            <a:prstGeom prst="rect">
              <a:avLst/>
            </a:prstGeom>
          </p:spPr>
          <p:txBody>
            <a:bodyPr wrap="square">
              <a:spAutoFit/>
            </a:bodyPr>
            <a:lstStyle/>
            <a:p>
              <a:pPr algn="ctr"/>
              <a:r>
                <a:rPr lang="zh-CN" altLang="zh-CN" dirty="0">
                  <a:solidFill>
                    <a:srgbClr val="133984"/>
                  </a:solidFill>
                </a:rPr>
                <a:t>埃德加•科德</a:t>
              </a:r>
              <a:endParaRPr lang="en-US" altLang="zh-CN" dirty="0">
                <a:solidFill>
                  <a:srgbClr val="133984"/>
                </a:solidFill>
              </a:endParaRPr>
            </a:p>
            <a:p>
              <a:pPr algn="ctr"/>
              <a:r>
                <a:rPr lang="en-US" altLang="zh-CN" dirty="0">
                  <a:solidFill>
                    <a:srgbClr val="133984"/>
                  </a:solidFill>
                </a:rPr>
                <a:t>(Edgar F. </a:t>
              </a:r>
              <a:r>
                <a:rPr lang="en-US" altLang="zh-CN" dirty="0" err="1">
                  <a:solidFill>
                    <a:srgbClr val="133984"/>
                  </a:solidFill>
                </a:rPr>
                <a:t>Codd</a:t>
              </a:r>
              <a:r>
                <a:rPr lang="en-US" altLang="zh-CN" dirty="0">
                  <a:solidFill>
                    <a:srgbClr val="133984"/>
                  </a:solidFill>
                </a:rPr>
                <a:t>)</a:t>
              </a:r>
              <a:endParaRPr lang="zh-CN" altLang="zh-CN" dirty="0">
                <a:solidFill>
                  <a:srgbClr val="133984"/>
                </a:solidFill>
              </a:endParaRPr>
            </a:p>
          </p:txBody>
        </p:sp>
      </p:grpSp>
      <p:sp>
        <p:nvSpPr>
          <p:cNvPr id="7" name="矩形 6"/>
          <p:cNvSpPr/>
          <p:nvPr/>
        </p:nvSpPr>
        <p:spPr>
          <a:xfrm>
            <a:off x="395536" y="2708920"/>
            <a:ext cx="4572000" cy="2585323"/>
          </a:xfrm>
          <a:prstGeom prst="rect">
            <a:avLst/>
          </a:prstGeom>
        </p:spPr>
        <p:txBody>
          <a:bodyPr>
            <a:spAutoFit/>
          </a:bodyPr>
          <a:lstStyle/>
          <a:p>
            <a:r>
              <a:rPr lang="zh-CN" altLang="zh-CN" dirty="0">
                <a:solidFill>
                  <a:srgbClr val="133984"/>
                </a:solidFill>
              </a:rPr>
              <a:t>①数据查询语言（</a:t>
            </a:r>
            <a:r>
              <a:rPr lang="en-US" altLang="zh-CN" dirty="0">
                <a:solidFill>
                  <a:srgbClr val="133984"/>
                </a:solidFill>
              </a:rPr>
              <a:t>DQL-Data Query Language</a:t>
            </a:r>
            <a:r>
              <a:rPr lang="zh-CN" altLang="zh-CN" dirty="0">
                <a:solidFill>
                  <a:srgbClr val="133984"/>
                </a:solidFill>
              </a:rPr>
              <a:t>）：</a:t>
            </a:r>
            <a:r>
              <a:rPr lang="en-US" altLang="zh-CN" dirty="0">
                <a:solidFill>
                  <a:srgbClr val="133984"/>
                </a:solidFill>
              </a:rPr>
              <a:t>SELECT</a:t>
            </a:r>
            <a:r>
              <a:rPr lang="zh-CN" altLang="zh-CN" dirty="0">
                <a:solidFill>
                  <a:srgbClr val="133984"/>
                </a:solidFill>
              </a:rPr>
              <a:t>语句；</a:t>
            </a:r>
            <a:endParaRPr lang="en-US" altLang="zh-CN" dirty="0">
              <a:solidFill>
                <a:srgbClr val="133984"/>
              </a:solidFill>
            </a:endParaRPr>
          </a:p>
          <a:p>
            <a:r>
              <a:rPr lang="zh-CN" altLang="zh-CN" dirty="0">
                <a:solidFill>
                  <a:srgbClr val="133984"/>
                </a:solidFill>
              </a:rPr>
              <a:t>②数据操纵语言（</a:t>
            </a:r>
            <a:r>
              <a:rPr lang="en-US" altLang="zh-CN" dirty="0">
                <a:solidFill>
                  <a:srgbClr val="133984"/>
                </a:solidFill>
              </a:rPr>
              <a:t>DML-Data Manipulation Language</a:t>
            </a:r>
            <a:r>
              <a:rPr lang="zh-CN" altLang="zh-CN" dirty="0">
                <a:solidFill>
                  <a:srgbClr val="133984"/>
                </a:solidFill>
              </a:rPr>
              <a:t>）：</a:t>
            </a:r>
            <a:r>
              <a:rPr lang="en-US" altLang="zh-CN" dirty="0">
                <a:solidFill>
                  <a:srgbClr val="133984"/>
                </a:solidFill>
              </a:rPr>
              <a:t>INSERT</a:t>
            </a:r>
            <a:r>
              <a:rPr lang="zh-CN" altLang="zh-CN" dirty="0">
                <a:solidFill>
                  <a:srgbClr val="133984"/>
                </a:solidFill>
              </a:rPr>
              <a:t>、</a:t>
            </a:r>
            <a:r>
              <a:rPr lang="en-US" altLang="zh-CN" dirty="0">
                <a:solidFill>
                  <a:srgbClr val="133984"/>
                </a:solidFill>
              </a:rPr>
              <a:t>UPDATE</a:t>
            </a:r>
            <a:r>
              <a:rPr lang="zh-CN" altLang="zh-CN" dirty="0">
                <a:solidFill>
                  <a:srgbClr val="133984"/>
                </a:solidFill>
              </a:rPr>
              <a:t>和</a:t>
            </a:r>
            <a:r>
              <a:rPr lang="en-US" altLang="zh-CN" dirty="0">
                <a:solidFill>
                  <a:srgbClr val="133984"/>
                </a:solidFill>
              </a:rPr>
              <a:t>DELETE</a:t>
            </a:r>
            <a:r>
              <a:rPr lang="zh-CN" altLang="zh-CN" dirty="0">
                <a:solidFill>
                  <a:srgbClr val="133984"/>
                </a:solidFill>
              </a:rPr>
              <a:t>语句；③数据定义语言（</a:t>
            </a:r>
            <a:r>
              <a:rPr lang="en-US" altLang="zh-CN" dirty="0">
                <a:solidFill>
                  <a:srgbClr val="133984"/>
                </a:solidFill>
              </a:rPr>
              <a:t>DDL-Data Definition Language</a:t>
            </a:r>
            <a:r>
              <a:rPr lang="zh-CN" altLang="zh-CN" dirty="0">
                <a:solidFill>
                  <a:srgbClr val="133984"/>
                </a:solidFill>
              </a:rPr>
              <a:t>）：</a:t>
            </a:r>
            <a:r>
              <a:rPr lang="en-US" altLang="zh-CN" dirty="0">
                <a:solidFill>
                  <a:srgbClr val="133984"/>
                </a:solidFill>
              </a:rPr>
              <a:t>CREATE</a:t>
            </a:r>
            <a:r>
              <a:rPr lang="zh-CN" altLang="zh-CN" dirty="0">
                <a:solidFill>
                  <a:srgbClr val="133984"/>
                </a:solidFill>
              </a:rPr>
              <a:t>、</a:t>
            </a:r>
            <a:r>
              <a:rPr lang="en-US" altLang="zh-CN" dirty="0">
                <a:solidFill>
                  <a:srgbClr val="133984"/>
                </a:solidFill>
              </a:rPr>
              <a:t> ALTER</a:t>
            </a:r>
            <a:r>
              <a:rPr lang="zh-CN" altLang="zh-CN" dirty="0">
                <a:solidFill>
                  <a:srgbClr val="133984"/>
                </a:solidFill>
              </a:rPr>
              <a:t>和</a:t>
            </a:r>
            <a:r>
              <a:rPr lang="en-US" altLang="zh-CN" dirty="0">
                <a:solidFill>
                  <a:srgbClr val="133984"/>
                </a:solidFill>
              </a:rPr>
              <a:t>DROP</a:t>
            </a:r>
            <a:r>
              <a:rPr lang="zh-CN" altLang="zh-CN" dirty="0">
                <a:solidFill>
                  <a:srgbClr val="133984"/>
                </a:solidFill>
              </a:rPr>
              <a:t>语句；④数据控制语言（</a:t>
            </a:r>
            <a:r>
              <a:rPr lang="en-US" altLang="zh-CN" dirty="0">
                <a:solidFill>
                  <a:srgbClr val="133984"/>
                </a:solidFill>
              </a:rPr>
              <a:t>DCL-Data Control Language</a:t>
            </a:r>
            <a:r>
              <a:rPr lang="zh-CN" altLang="zh-CN" dirty="0">
                <a:solidFill>
                  <a:srgbClr val="133984"/>
                </a:solidFill>
              </a:rPr>
              <a:t>）</a:t>
            </a:r>
            <a:r>
              <a:rPr lang="en-US" altLang="zh-CN" dirty="0">
                <a:solidFill>
                  <a:srgbClr val="133984"/>
                </a:solidFill>
              </a:rPr>
              <a:t>:COMMIT WORK</a:t>
            </a:r>
            <a:r>
              <a:rPr lang="zh-CN" altLang="zh-CN" dirty="0">
                <a:solidFill>
                  <a:srgbClr val="133984"/>
                </a:solidFill>
              </a:rPr>
              <a:t>和</a:t>
            </a:r>
            <a:r>
              <a:rPr lang="en-US" altLang="zh-CN" dirty="0">
                <a:solidFill>
                  <a:srgbClr val="133984"/>
                </a:solidFill>
              </a:rPr>
              <a:t>ROLLBACK WORK</a:t>
            </a:r>
            <a:r>
              <a:rPr lang="zh-CN" altLang="zh-CN" dirty="0">
                <a:solidFill>
                  <a:srgbClr val="133984"/>
                </a:solidFill>
              </a:rPr>
              <a:t>语句。</a:t>
            </a:r>
            <a:endParaRPr lang="zh-CN" altLang="en-US" dirty="0">
              <a:solidFill>
                <a:srgbClr val="133984"/>
              </a:solidFill>
            </a:endParaRPr>
          </a:p>
        </p:txBody>
      </p:sp>
    </p:spTree>
    <p:extLst>
      <p:ext uri="{BB962C8B-B14F-4D97-AF65-F5344CB8AC3E}">
        <p14:creationId xmlns:p14="http://schemas.microsoft.com/office/powerpoint/2010/main" val="3369913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692696"/>
            <a:ext cx="8229600" cy="633412"/>
          </a:xfrm>
        </p:spPr>
        <p:txBody>
          <a:bodyPr>
            <a:normAutofit fontScale="90000"/>
          </a:bodyPr>
          <a:lstStyle/>
          <a:p>
            <a:r>
              <a:rPr lang="zh-CN" altLang="zh-CN" b="1" dirty="0">
                <a:solidFill>
                  <a:srgbClr val="133984"/>
                </a:solidFill>
              </a:rPr>
              <a:t>本章小结</a:t>
            </a:r>
            <a:endParaRPr lang="zh-CN" altLang="en-US" dirty="0">
              <a:solidFill>
                <a:srgbClr val="133984"/>
              </a:solidFill>
            </a:endParaRPr>
          </a:p>
        </p:txBody>
      </p:sp>
      <p:graphicFrame>
        <p:nvGraphicFramePr>
          <p:cNvPr id="5" name="图示 4"/>
          <p:cNvGraphicFramePr/>
          <p:nvPr>
            <p:extLst>
              <p:ext uri="{D42A27DB-BD31-4B8C-83A1-F6EECF244321}">
                <p14:modId xmlns:p14="http://schemas.microsoft.com/office/powerpoint/2010/main" val="2585002308"/>
              </p:ext>
            </p:extLst>
          </p:nvPr>
        </p:nvGraphicFramePr>
        <p:xfrm>
          <a:off x="1547664" y="126876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90599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theme/theme1.xml><?xml version="1.0" encoding="utf-8"?>
<a:theme xmlns:a="http://schemas.openxmlformats.org/drawingml/2006/main" name="主题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主题1</Template>
  <TotalTime>10353</TotalTime>
  <Words>2232</Words>
  <Application>Microsoft Office PowerPoint</Application>
  <PresentationFormat>全屏显示(4:3)</PresentationFormat>
  <Paragraphs>274</Paragraphs>
  <Slides>38</Slides>
  <Notes>1</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38</vt:i4>
      </vt:variant>
    </vt:vector>
  </HeadingPairs>
  <TitlesOfParts>
    <vt:vector size="47" baseType="lpstr">
      <vt:lpstr>黑体</vt:lpstr>
      <vt:lpstr>宋体</vt:lpstr>
      <vt:lpstr>Arial</vt:lpstr>
      <vt:lpstr>Calibri</vt:lpstr>
      <vt:lpstr>Cambria</vt:lpstr>
      <vt:lpstr>Courier New</vt:lpstr>
      <vt:lpstr>Times New Roman</vt:lpstr>
      <vt:lpstr>主题1</vt:lpstr>
      <vt:lpstr>Visio</vt:lpstr>
      <vt:lpstr>Introduction to Computational Thinking Chapter 7: Programming Languages</vt:lpstr>
      <vt:lpstr>程序设计语言(课本第四章) </vt:lpstr>
      <vt:lpstr>4.1 程序设计语言简介</vt:lpstr>
      <vt:lpstr>机器语言</vt:lpstr>
      <vt:lpstr>PowerPoint 演示文稿</vt:lpstr>
      <vt:lpstr>汇编语言</vt:lpstr>
      <vt:lpstr>PowerPoint 演示文稿</vt:lpstr>
      <vt:lpstr>高级语言</vt:lpstr>
      <vt:lpstr>PowerPoint 演示文稿</vt:lpstr>
      <vt:lpstr>PowerPoint 演示文稿</vt:lpstr>
      <vt:lpstr>发展历史</vt:lpstr>
      <vt:lpstr>PowerPoint 演示文稿</vt:lpstr>
      <vt:lpstr>命令式程序设计语言</vt:lpstr>
      <vt:lpstr>结构化程序设计语言</vt:lpstr>
      <vt:lpstr>结构化程序设计语言</vt:lpstr>
      <vt:lpstr>结构化程序设计语言</vt:lpstr>
      <vt:lpstr>结构化程序设计语言</vt:lpstr>
      <vt:lpstr>结构化程序设计语言</vt:lpstr>
      <vt:lpstr>富有争议的goto</vt:lpstr>
      <vt:lpstr>PowerPoint 演示文稿</vt:lpstr>
      <vt:lpstr>PowerPoint 演示文稿</vt:lpstr>
      <vt:lpstr>PowerPoint 演示文稿</vt:lpstr>
      <vt:lpstr>PowerPoint 演示文稿</vt:lpstr>
      <vt:lpstr>PowerPoint 演示文稿</vt:lpstr>
      <vt:lpstr>PowerPoint 演示文稿</vt:lpstr>
      <vt:lpstr>面向对象程序设计语言</vt:lpstr>
      <vt:lpstr>PowerPoint 演示文稿</vt:lpstr>
      <vt:lpstr>PowerPoint 演示文稿</vt:lpstr>
      <vt:lpstr>PowerPoint 演示文稿</vt:lpstr>
      <vt:lpstr>PowerPoint 演示文稿</vt:lpstr>
      <vt:lpstr>PowerPoint 演示文稿</vt:lpstr>
      <vt:lpstr>函数式程序设计语言</vt:lpstr>
      <vt:lpstr>PowerPoint 演示文稿</vt:lpstr>
      <vt:lpstr>逻辑式程序设计语言</vt:lpstr>
      <vt:lpstr>标记语言和web开发语言</vt:lpstr>
      <vt:lpstr>标记语言和web开发语言</vt:lpstr>
      <vt:lpstr>SQL语言</vt:lpstr>
      <vt:lpstr>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程序设计语言 </dc:title>
  <dc:creator>unio</dc:creator>
  <cp:lastModifiedBy>Rui Mao</cp:lastModifiedBy>
  <cp:revision>748</cp:revision>
  <dcterms:created xsi:type="dcterms:W3CDTF">2012-10-26T12:18:38Z</dcterms:created>
  <dcterms:modified xsi:type="dcterms:W3CDTF">2023-10-18T04:34:49Z</dcterms:modified>
</cp:coreProperties>
</file>