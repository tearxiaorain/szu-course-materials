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60" r:id="rId1"/>
  </p:sldMasterIdLst>
  <p:notesMasterIdLst>
    <p:notesMasterId r:id="rId33"/>
  </p:notes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0" r:id="rId18"/>
    <p:sldId id="311" r:id="rId19"/>
    <p:sldId id="312" r:id="rId20"/>
    <p:sldId id="313" r:id="rId21"/>
    <p:sldId id="309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65" d="100"/>
          <a:sy n="165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3AD1C-05B3-438F-8E20-E3E058812D96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CF53C7-AE8B-426E-BBB5-57A4986D06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595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7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8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33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65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6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52" y="11565"/>
            <a:ext cx="1302676" cy="2124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9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83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91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2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9523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3"/>
            <a:ext cx="8229600" cy="6334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68313" y="1268413"/>
            <a:ext cx="8229600" cy="485775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5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68313" y="404813"/>
            <a:ext cx="8229600" cy="63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268413"/>
            <a:ext cx="82296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2023/10/18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t="36550" r="6350" b="38215"/>
          <a:stretch/>
        </p:blipFill>
        <p:spPr>
          <a:xfrm>
            <a:off x="34961" y="11565"/>
            <a:ext cx="720615" cy="2081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ata-compression.com/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0" y="1752600"/>
            <a:ext cx="9144000" cy="1470025"/>
          </a:xfrm>
        </p:spPr>
        <p:txBody>
          <a:bodyPr/>
          <a:lstStyle/>
          <a:p>
            <a:pPr algn="ctr"/>
            <a:r>
              <a:rPr lang="en-US" altLang="zh-CN" sz="4000" dirty="0">
                <a:latin typeface="Times New Roman" pitchFamily="18" charset="0"/>
                <a:ea typeface="黑体" pitchFamily="49" charset="-122"/>
              </a:rPr>
              <a:t>Introduction to Computational Thinking</a:t>
            </a:r>
            <a:br>
              <a:rPr lang="en-US" altLang="zh-CN" sz="3200" dirty="0">
                <a:latin typeface="Times New Roman" pitchFamily="18" charset="0"/>
                <a:ea typeface="黑体" pitchFamily="49" charset="-122"/>
              </a:rPr>
            </a:br>
            <a:r>
              <a:rPr lang="en-US" altLang="zh-CN" sz="3200" dirty="0">
                <a:latin typeface="Times New Roman" pitchFamily="18" charset="0"/>
                <a:ea typeface="黑体" pitchFamily="49" charset="-122"/>
              </a:rPr>
              <a:t>Chapter 9: Computer Science Unplugged</a:t>
            </a:r>
            <a:endParaRPr lang="zh-CN" altLang="en-US" sz="3200" dirty="0">
              <a:ea typeface="宋体" pitchFamily="2" charset="-122"/>
            </a:endParaRPr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919572" y="4005064"/>
            <a:ext cx="7304856" cy="1752600"/>
          </a:xfrm>
        </p:spPr>
        <p:txBody>
          <a:bodyPr/>
          <a:lstStyle/>
          <a:p>
            <a:pPr>
              <a:defRPr/>
            </a:pPr>
            <a:r>
              <a:rPr lang="en-US" altLang="zh-CN" dirty="0" err="1"/>
              <a:t>Rui</a:t>
            </a:r>
            <a:r>
              <a:rPr lang="en-US" altLang="zh-CN" dirty="0"/>
              <a:t> Mao</a:t>
            </a:r>
          </a:p>
          <a:p>
            <a:pPr>
              <a:defRPr/>
            </a:pPr>
            <a:r>
              <a:rPr lang="en-US" altLang="zh-CN" dirty="0"/>
              <a:t>Shenzhen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313" y="404812"/>
            <a:ext cx="8229600" cy="1079971"/>
          </a:xfrm>
        </p:spPr>
        <p:txBody>
          <a:bodyPr/>
          <a:lstStyle/>
          <a:p>
            <a:r>
              <a:rPr lang="en-US" altLang="zh-CN" dirty="0">
                <a:latin typeface="Times New Roman" pitchFamily="18" charset="0"/>
                <a:ea typeface="黑体" pitchFamily="49" charset="-122"/>
              </a:rPr>
              <a:t>Chapter 9: Computer Science Unplugged</a:t>
            </a:r>
            <a:br>
              <a:rPr lang="en-US" altLang="zh-CN" dirty="0">
                <a:latin typeface="Times New Roman" pitchFamily="18" charset="0"/>
                <a:ea typeface="黑体" pitchFamily="49" charset="-122"/>
              </a:rPr>
            </a:br>
            <a:r>
              <a:rPr lang="zh-CN" altLang="en-US" dirty="0">
                <a:latin typeface="Times New Roman" pitchFamily="18" charset="0"/>
                <a:ea typeface="黑体" pitchFamily="49" charset="-122"/>
              </a:rPr>
              <a:t>不插电的计算机科学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628799"/>
            <a:ext cx="8229600" cy="4497363"/>
          </a:xfrm>
        </p:spPr>
        <p:txBody>
          <a:bodyPr/>
          <a:lstStyle/>
          <a:p>
            <a:r>
              <a:rPr lang="zh-CN" altLang="en-US" dirty="0"/>
              <a:t>压缩算法</a:t>
            </a:r>
            <a:endParaRPr lang="en-US" altLang="zh-CN" dirty="0"/>
          </a:p>
          <a:p>
            <a:pPr lvl="1"/>
            <a:r>
              <a:rPr lang="en-US" altLang="zh-CN" dirty="0"/>
              <a:t>Huffman</a:t>
            </a:r>
          </a:p>
          <a:p>
            <a:pPr lvl="1"/>
            <a:r>
              <a:rPr lang="en-US" altLang="zh-CN" dirty="0"/>
              <a:t>LZ</a:t>
            </a:r>
          </a:p>
          <a:p>
            <a:r>
              <a:rPr lang="zh-CN" altLang="en-US" dirty="0"/>
              <a:t>排序算法</a:t>
            </a:r>
            <a:endParaRPr lang="en-US" altLang="zh-CN" dirty="0"/>
          </a:p>
          <a:p>
            <a:pPr lvl="1"/>
            <a:r>
              <a:rPr lang="zh-CN" altLang="en-US" dirty="0"/>
              <a:t>快速排序</a:t>
            </a:r>
            <a:endParaRPr lang="en-US" altLang="zh-CN" dirty="0"/>
          </a:p>
          <a:p>
            <a:pPr lvl="1"/>
            <a:r>
              <a:rPr lang="zh-CN" altLang="en-US" dirty="0"/>
              <a:t>基数排序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 txBox="1">
            <a:spLocks noChangeArrowheads="1"/>
          </p:cNvSpPr>
          <p:nvPr/>
        </p:nvSpPr>
        <p:spPr>
          <a:xfrm>
            <a:off x="522288" y="1989138"/>
            <a:ext cx="8158162" cy="3606800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首先我们看一下“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go </a:t>
            </a:r>
            <a:r>
              <a:rPr kumimoji="1" lang="en-US" altLang="zh-CN" sz="2600" kern="0" dirty="0" err="1">
                <a:solidFill>
                  <a:schemeClr val="tx1"/>
                </a:solidFill>
                <a:latin typeface="+mn-lt"/>
                <a:ea typeface="+mn-ea"/>
              </a:rPr>
              <a:t>go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gophers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”是如何用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编码表示的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ASCII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码用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位来表示一个字符，上面的字符串共有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13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个字符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含空格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，所以需要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104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而通过分析可知，该字符串中只有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种字符，我们只需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3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个二进制位就可以表示一个字符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采用新的编码，只需要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39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个二进制位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endParaRPr kumimoji="1" lang="en-US" altLang="zh-CN" sz="26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" name="Rectangle 9"/>
          <p:cNvSpPr txBox="1">
            <a:spLocks noChangeArrowheads="1"/>
          </p:cNvSpPr>
          <p:nvPr/>
        </p:nvSpPr>
        <p:spPr>
          <a:xfrm>
            <a:off x="1262063" y="823913"/>
            <a:ext cx="4183062" cy="541337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一个简单的编码例子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57313" y="809625"/>
            <a:ext cx="3228975" cy="51435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两种编码的比较</a:t>
            </a:r>
          </a:p>
        </p:txBody>
      </p:sp>
      <p:pic>
        <p:nvPicPr>
          <p:cNvPr id="614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8675" y="1922463"/>
            <a:ext cx="6624638" cy="356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655638" y="1898650"/>
            <a:ext cx="7900987" cy="3493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使用</a:t>
            </a:r>
            <a:r>
              <a:rPr lang="en-US" altLang="zh-CN" sz="2600" dirty="0">
                <a:solidFill>
                  <a:schemeClr val="tx1"/>
                </a:solidFill>
                <a:latin typeface="+mn-ea"/>
                <a:ea typeface="+mn-ea"/>
              </a:rPr>
              <a:t>ASCII</a:t>
            </a: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码表示：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600" dirty="0">
                <a:solidFill>
                  <a:schemeClr val="tx1"/>
                </a:solidFill>
                <a:latin typeface="Arial" charset="0"/>
              </a:rPr>
              <a:t>1100111 1101111 1000000 1100111 1101111 1000000 1100111 1101111 1110000 1101000 1100101 1110010 1110011</a:t>
            </a:r>
          </a:p>
          <a:p>
            <a:pPr>
              <a:spcBef>
                <a:spcPct val="50000"/>
              </a:spcBef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ea"/>
                <a:ea typeface="+mn-ea"/>
              </a:rPr>
              <a:t>使用新的编码方式表示：</a:t>
            </a:r>
          </a:p>
          <a:p>
            <a:pPr>
              <a:spcBef>
                <a:spcPct val="50000"/>
              </a:spcBef>
              <a:defRPr/>
            </a:pPr>
            <a:r>
              <a:rPr lang="en-US" altLang="zh-CN" sz="2600" dirty="0">
                <a:latin typeface="Arial" charset="0"/>
              </a:rPr>
              <a:t>000 001 111 00</a:t>
            </a:r>
            <a:r>
              <a:rPr lang="en-US" altLang="zh-CN" sz="2600" dirty="0">
                <a:solidFill>
                  <a:schemeClr val="tx1"/>
                </a:solidFill>
                <a:latin typeface="Arial" charset="0"/>
              </a:rPr>
              <a:t>0 001 111 000 001 010 011 100 101 110 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1357313" y="741363"/>
            <a:ext cx="3336925" cy="60960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两种编码的比较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17625" y="755650"/>
            <a:ext cx="1138238" cy="568325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结论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58800" y="2006600"/>
            <a:ext cx="8128000" cy="3698875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通过比较可以看出，通过引入新的编码方式，表示同样的字符串所需的二进制位数得到明显的减少。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进一步而言，我们可否用其他的编码方式，使得表示“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go </a:t>
            </a:r>
            <a:r>
              <a:rPr kumimoji="1" lang="en-US" altLang="zh-CN" sz="2600" kern="0" dirty="0" err="1">
                <a:solidFill>
                  <a:schemeClr val="tx1"/>
                </a:solidFill>
                <a:latin typeface="+mn-lt"/>
                <a:ea typeface="+mn-ea"/>
              </a:rPr>
              <a:t>go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gophers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”所需的二进制位数更少呢？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答案是可以的。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03338" y="728663"/>
            <a:ext cx="5397500" cy="59531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用二叉树来表示的编码方案</a:t>
            </a:r>
          </a:p>
        </p:txBody>
      </p:sp>
      <p:pic>
        <p:nvPicPr>
          <p:cNvPr id="9219" name="Picture 11" descr="图片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9638" y="1852613"/>
            <a:ext cx="4392612" cy="310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12" descr="图片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1813" y="1639888"/>
            <a:ext cx="27051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1" name="Text Box 13"/>
          <p:cNvSpPr txBox="1">
            <a:spLocks noChangeArrowheads="1"/>
          </p:cNvSpPr>
          <p:nvPr/>
        </p:nvSpPr>
        <p:spPr bwMode="auto">
          <a:xfrm>
            <a:off x="835025" y="5270500"/>
            <a:ext cx="7408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自顶向下，从根节点到叶节点，所有左侧的边标记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，右侧标记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17625" y="741363"/>
            <a:ext cx="1069975" cy="60960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结论</a:t>
            </a: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511175" y="1831975"/>
            <a:ext cx="8101013" cy="3832225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如果使用这种新的编码方法，“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go </a:t>
            </a:r>
            <a:r>
              <a:rPr kumimoji="1" lang="en-US" altLang="zh-CN" sz="2600" kern="0" dirty="0" err="1">
                <a:solidFill>
                  <a:schemeClr val="tx1"/>
                </a:solidFill>
                <a:latin typeface="+mn-lt"/>
                <a:ea typeface="+mn-ea"/>
              </a:rPr>
              <a:t>go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gophers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”表示如下：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0001100000110000011110110110111111100 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使用这种新的编码方法，我们只需要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37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原方法需要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39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位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就可以表示原字符串。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由此可见，所需的二进制位数得到进一步的减少。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那么请问这种新的编码方法又是如何实现的呢？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20788" y="768350"/>
            <a:ext cx="3036887" cy="582613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87375" y="1819275"/>
            <a:ext cx="7983538" cy="4376738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首先给每种字符附上一个权值，该字符的权值等于该字符在字符串中出现的次数，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 例如，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g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的权值为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3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，而空格’ ‘的权值是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2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我们把每种字符看成是一棵只有根节点的数，节点值为该字符对应的权值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71650" y="4386263"/>
            <a:ext cx="5616575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30325" y="714375"/>
            <a:ext cx="3105150" cy="595313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04825" y="1955800"/>
            <a:ext cx="8039100" cy="3925888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重复以下步骤，直到只剩下一颗树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选择两颗权重最小的树，记作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T1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T2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，创建一个新的节点，该结点值为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T1+T2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，该节点的左子树为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T1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，右子树为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T2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0" y="4168775"/>
            <a:ext cx="5616575" cy="140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35075" y="728663"/>
            <a:ext cx="3186113" cy="581025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pic>
        <p:nvPicPr>
          <p:cNvPr id="1331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9838" y="1841500"/>
            <a:ext cx="5905500" cy="151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9213" y="4030663"/>
            <a:ext cx="5976937" cy="170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30325" y="782638"/>
            <a:ext cx="3036888" cy="58261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1425" y="1495425"/>
            <a:ext cx="54737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0463" y="3817938"/>
            <a:ext cx="5759450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247775" y="823913"/>
            <a:ext cx="3132138" cy="58261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1950" y="1489075"/>
            <a:ext cx="4751388" cy="261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9075" y="2959100"/>
            <a:ext cx="5100638" cy="337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62063" y="782638"/>
            <a:ext cx="2995612" cy="58261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编码树的构建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6</a:t>
            </a:r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200" y="1844824"/>
            <a:ext cx="5113338" cy="337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1428750" y="2060724"/>
            <a:ext cx="287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492125" y="2708424"/>
            <a:ext cx="3603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1571625" y="2708424"/>
            <a:ext cx="43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2868613" y="1916261"/>
            <a:ext cx="360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392" name="Text Box 9"/>
          <p:cNvSpPr txBox="1">
            <a:spLocks noChangeArrowheads="1"/>
          </p:cNvSpPr>
          <p:nvPr/>
        </p:nvSpPr>
        <p:spPr bwMode="auto">
          <a:xfrm>
            <a:off x="2436813" y="2636986"/>
            <a:ext cx="35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93" name="Text Box 10"/>
          <p:cNvSpPr txBox="1">
            <a:spLocks noChangeArrowheads="1"/>
          </p:cNvSpPr>
          <p:nvPr/>
        </p:nvSpPr>
        <p:spPr bwMode="auto">
          <a:xfrm>
            <a:off x="3803650" y="2565549"/>
            <a:ext cx="4333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394" name="Text Box 11"/>
          <p:cNvSpPr txBox="1">
            <a:spLocks noChangeArrowheads="1"/>
          </p:cNvSpPr>
          <p:nvPr/>
        </p:nvSpPr>
        <p:spPr bwMode="auto">
          <a:xfrm>
            <a:off x="1860550" y="3357711"/>
            <a:ext cx="2873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2652713" y="3429149"/>
            <a:ext cx="2873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396" name="Text Box 13"/>
          <p:cNvSpPr txBox="1">
            <a:spLocks noChangeArrowheads="1"/>
          </p:cNvSpPr>
          <p:nvPr/>
        </p:nvSpPr>
        <p:spPr bwMode="auto">
          <a:xfrm>
            <a:off x="3371850" y="3429149"/>
            <a:ext cx="36036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97" name="Text Box 14"/>
          <p:cNvSpPr txBox="1">
            <a:spLocks noChangeArrowheads="1"/>
          </p:cNvSpPr>
          <p:nvPr/>
        </p:nvSpPr>
        <p:spPr bwMode="auto">
          <a:xfrm>
            <a:off x="4452938" y="3429149"/>
            <a:ext cx="358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2868613" y="4076849"/>
            <a:ext cx="288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399" name="Text Box 16"/>
          <p:cNvSpPr txBox="1">
            <a:spLocks noChangeArrowheads="1"/>
          </p:cNvSpPr>
          <p:nvPr/>
        </p:nvSpPr>
        <p:spPr bwMode="auto">
          <a:xfrm>
            <a:off x="3660775" y="4149874"/>
            <a:ext cx="3587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400" name="Text Box 17"/>
          <p:cNvSpPr txBox="1">
            <a:spLocks noChangeArrowheads="1"/>
          </p:cNvSpPr>
          <p:nvPr/>
        </p:nvSpPr>
        <p:spPr bwMode="auto">
          <a:xfrm>
            <a:off x="4095750" y="4137174"/>
            <a:ext cx="2889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401" name="Text Box 18"/>
          <p:cNvSpPr txBox="1">
            <a:spLocks noChangeArrowheads="1"/>
          </p:cNvSpPr>
          <p:nvPr/>
        </p:nvSpPr>
        <p:spPr bwMode="auto">
          <a:xfrm>
            <a:off x="4884738" y="4076849"/>
            <a:ext cx="43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</a:rPr>
              <a:t>1</a:t>
            </a:r>
          </a:p>
        </p:txBody>
      </p:sp>
      <p:pic>
        <p:nvPicPr>
          <p:cNvPr id="19" name="Picture 12" descr="图片2">
            <a:extLst>
              <a:ext uri="{FF2B5EF4-FFF2-40B4-BE49-F238E27FC236}">
                <a16:creationId xmlns:a16="http://schemas.microsoft.com/office/drawing/2014/main" id="{2DEEE952-9C1E-4DDF-8E62-BF31DE662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11813" y="1639888"/>
            <a:ext cx="2705100" cy="338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 Box 13">
            <a:extLst>
              <a:ext uri="{FF2B5EF4-FFF2-40B4-BE49-F238E27FC236}">
                <a16:creationId xmlns:a16="http://schemas.microsoft.com/office/drawing/2014/main" id="{45E42096-4BB2-4CF5-9F2A-0F4FDB17C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5270500"/>
            <a:ext cx="74088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</a:rPr>
              <a:t>自顶向下，左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zh-CN" altLang="en-US" sz="2000" dirty="0">
                <a:solidFill>
                  <a:schemeClr val="tx1"/>
                </a:solidFill>
              </a:rPr>
              <a:t>右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6257" y="573205"/>
            <a:ext cx="8229600" cy="680659"/>
          </a:xfrm>
        </p:spPr>
        <p:txBody>
          <a:bodyPr/>
          <a:lstStyle/>
          <a:p>
            <a:r>
              <a:rPr lang="en-US" altLang="zh-CN" dirty="0"/>
              <a:t>Huffman</a:t>
            </a:r>
            <a:r>
              <a:rPr lang="zh-CN" altLang="en-US" dirty="0"/>
              <a:t>压缩的伪代码描述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Input: the original string</a:t>
            </a:r>
          </a:p>
          <a:p>
            <a:pPr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Output: compressed string</a:t>
            </a:r>
          </a:p>
          <a:p>
            <a:pPr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HUFFMAN(s)</a:t>
            </a:r>
          </a:p>
          <a:p>
            <a:pPr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1 count the frequencies of each char in s</a:t>
            </a:r>
          </a:p>
          <a:p>
            <a:pPr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2 REPEAT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3 		Find the two chars with the min count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4  	Combine the two </a:t>
            </a:r>
            <a:r>
              <a:rPr lang="en-US" altLang="zh-CN" sz="2000" dirty="0" err="1">
                <a:latin typeface="Courier New" pitchFamily="49" charset="0"/>
                <a:cs typeface="Courier New" pitchFamily="49" charset="0"/>
              </a:rPr>
              <a:t>mins</a:t>
            </a: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 into a new char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5 UNTIL only one char left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6 For every char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7 		Descending from the root, determine its code</a:t>
            </a:r>
          </a:p>
          <a:p>
            <a:pPr marL="457200" indent="-457200">
              <a:buNone/>
            </a:pPr>
            <a:r>
              <a:rPr lang="en-US" altLang="zh-CN" sz="2000" dirty="0">
                <a:latin typeface="Courier New" pitchFamily="49" charset="0"/>
                <a:cs typeface="Courier New" pitchFamily="49" charset="0"/>
              </a:rPr>
              <a:t>8 RETURN the compressed string</a:t>
            </a:r>
            <a:endParaRPr lang="zh-CN" alt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57313" y="741363"/>
            <a:ext cx="2054225" cy="59690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承前启后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71488" y="1804988"/>
            <a:ext cx="8194675" cy="4337050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上面的树形编码方法实际上就是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Huffman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编码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直到上世纪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70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年代中后期，基本上，所有的数据压缩算法都是围绕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Huffman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编码的一些改进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1977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年，以色列两位数学家提出了一种完全不同的压缩编码方法，这种方法时至今日应用非常广泛。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这种方法被称作 </a:t>
            </a:r>
            <a:r>
              <a:rPr kumimoji="1" 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Lempel-Ziv</a:t>
            </a:r>
            <a:r>
              <a:rPr kumimoji="1" lang="en-US" altLang="zh-CN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kumimoji="1" lang="zh-CN" alt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用两位数学家的名字命名，简称</a:t>
            </a:r>
            <a:r>
              <a:rPr kumimoji="1" lang="en-US" altLang="zh-CN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LZ</a:t>
            </a:r>
            <a:r>
              <a:rPr kumimoji="1" lang="zh-CN" alt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算法</a:t>
            </a:r>
            <a:r>
              <a:rPr kumimoji="1" lang="en-US" altLang="zh-CN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endParaRPr kumimoji="1" lang="en-US" altLang="zh-CN" sz="2600" kern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这种算法在进行压缩的过程中，创建字典，利用字典所对应的索引替换原单词。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17625" y="741363"/>
            <a:ext cx="3349625" cy="630237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defRPr/>
            </a:pP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LZ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算法文字表述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27063" y="1828800"/>
            <a:ext cx="7889875" cy="4302125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  while(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原文指针没有指向文字末尾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 { 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用字典里尽可能长的项目匹配从当前指针开始的</a:t>
            </a:r>
            <a:endParaRPr kumimoji="1" lang="en-US" altLang="zh-CN" sz="2600" kern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字符串；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  输出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最长匹配项</a:t>
            </a:r>
            <a:r>
              <a:rPr kumimoji="1" lang="en-US" altLang="zh-CN" sz="2600" kern="0" dirty="0">
                <a:solidFill>
                  <a:srgbClr val="9900FF"/>
                </a:solidFill>
                <a:latin typeface="+mn-lt"/>
                <a:ea typeface="+mn-ea"/>
              </a:rPr>
              <a:t>+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后一个字符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最长匹配项</a:t>
            </a:r>
            <a:r>
              <a:rPr kumimoji="1" lang="en-US" altLang="zh-CN" sz="2600" kern="0" dirty="0">
                <a:solidFill>
                  <a:srgbClr val="9900FF"/>
                </a:solidFill>
                <a:latin typeface="+mn-lt"/>
                <a:ea typeface="+mn-ea"/>
              </a:rPr>
              <a:t>+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后一个字符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进出字典；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   原文指针移到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最长匹配项</a:t>
            </a:r>
            <a:r>
              <a:rPr kumimoji="1" lang="en-US" altLang="zh-CN" sz="2600" kern="0" dirty="0">
                <a:solidFill>
                  <a:srgbClr val="9900FF"/>
                </a:solidFill>
                <a:latin typeface="+mn-lt"/>
                <a:ea typeface="+mn-ea"/>
              </a:rPr>
              <a:t>+</a:t>
            </a:r>
            <a:r>
              <a:rPr kumimoji="1" lang="zh-CN" altLang="en-US" sz="2600" kern="0" dirty="0">
                <a:solidFill>
                  <a:srgbClr val="9900FF"/>
                </a:solidFill>
                <a:latin typeface="+mn-lt"/>
                <a:ea typeface="+mn-ea"/>
              </a:rPr>
              <a:t>后一个字符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之后的第一</a:t>
            </a:r>
            <a:endParaRPr kumimoji="1" lang="en-US" altLang="zh-CN" sz="2600" kern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  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 个字符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;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  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03338" y="755650"/>
            <a:ext cx="5861050" cy="52705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一个使用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LZ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压缩算法的例子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55725" y="1470025"/>
            <a:ext cx="5618163" cy="468313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100" kern="0" dirty="0">
                <a:solidFill>
                  <a:schemeClr val="tx1"/>
                </a:solidFill>
                <a:latin typeface="+mn-lt"/>
                <a:ea typeface="+mn-ea"/>
              </a:rPr>
              <a:t>待压缩的字符串</a:t>
            </a:r>
            <a:r>
              <a:rPr kumimoji="1" lang="en-US" sz="21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ABBCBCABABCAABCAAB</a:t>
            </a:r>
            <a:endParaRPr kumimoji="1" lang="en-US" altLang="zh-CN" sz="21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21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0484" name="Picture 4" descr="LZ78compression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584" y="1772816"/>
            <a:ext cx="7921625" cy="429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611188" y="5918200"/>
            <a:ext cx="44513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最后的输出</a:t>
            </a:r>
            <a:r>
              <a:rPr lang="en-US" altLang="zh-CN">
                <a:solidFill>
                  <a:schemeClr val="tx1"/>
                </a:solidFill>
              </a:rPr>
              <a:t>0A0B2C3A2A4A6B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28738" y="695325"/>
            <a:ext cx="5876925" cy="601663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一个使用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LZ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压缩算法的例子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192213" y="1584325"/>
            <a:ext cx="7310437" cy="4733925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1. 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output0A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insert it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</a:t>
            </a:r>
            <a:r>
              <a:rPr kumimoji="1" lang="en-US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output0B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insert it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 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output2C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insert it.  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4.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output3A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insert it.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 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output2A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insert it.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6.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 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output4A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insert it.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7. 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BCAA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in the Dictionary.</a:t>
            </a:r>
            <a:endParaRPr kumimoji="1" lang="en-US" sz="1700" b="1" kern="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700" b="1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   BCAAB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is not in the Dictionary; </a:t>
            </a:r>
            <a:r>
              <a:rPr kumimoji="1" lang="en-US" altLang="zh-CN" sz="1700" kern="0" dirty="0">
                <a:solidFill>
                  <a:srgbClr val="99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output6B</a:t>
            </a:r>
            <a:r>
              <a:rPr kumimoji="1" lang="en-US" altLang="zh-CN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kumimoji="1" lang="en-US" sz="17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insert it.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17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6883400" y="2543175"/>
            <a:ext cx="554038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建立字典的过程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03338" y="755650"/>
            <a:ext cx="5792787" cy="582613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一个使用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LZ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压缩算法的例子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11175" y="1819275"/>
            <a:ext cx="8074025" cy="3981450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原字符串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ABBCBCABABCAABCAA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共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18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个字符，需要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144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位二进制位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而压缩后的字符串</a:t>
            </a:r>
            <a:r>
              <a:rPr kumimoji="1" lang="en-US" altLang="zh-CN" sz="2000" kern="0">
                <a:solidFill>
                  <a:schemeClr val="tx1"/>
                </a:solidFill>
                <a:latin typeface="+mn-lt"/>
                <a:ea typeface="+mn-ea"/>
              </a:rPr>
              <a:t>0A0B2C3A2A4A6B</a:t>
            </a: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41425" y="709613"/>
            <a:ext cx="4708525" cy="61436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kumimoji="1" lang="en-US" sz="32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LZ78 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压缩算法的伪代码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268413" y="1493838"/>
            <a:ext cx="7451725" cy="5084762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Dictionary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empty ; Prefix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empty ;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DictionaryIndex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1;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while(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characterStream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is not empty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)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未达到被压缩字符串的末尾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{</a:t>
            </a:r>
            <a:r>
              <a:rPr kumimoji="1" lang="en-US" altLang="zh-CN" sz="1400" b="1" kern="0" dirty="0">
                <a:solidFill>
                  <a:schemeClr val="accent2"/>
                </a:solidFill>
                <a:latin typeface="+mn-lt"/>
                <a:ea typeface="+mn-ea"/>
              </a:rPr>
              <a:t>    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用字典里尽可能长的项去匹配当前的字符串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Char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next character in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characterStream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;</a:t>
            </a:r>
            <a:endParaRPr kumimoji="1" lang="en-US" altLang="zh-CN" sz="1400" b="1" kern="0" dirty="0">
              <a:solidFill>
                <a:srgbClr val="9900FF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if(Prefix + Char exists in the Dictionary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)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如果前缀在字典中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Prefix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Prefix + Char 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;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继续从前缀中取一个字符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else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//prefix(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字典里尽可能长的项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) + char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在字典中不存在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{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  if(Prefix is empty)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       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CodeWordForPrefix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0 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 else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输出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prefix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的</a:t>
            </a:r>
            <a:r>
              <a:rPr kumimoji="1" lang="en-US" altLang="zh-CN" sz="1400" b="1" kern="0" dirty="0" err="1">
                <a:solidFill>
                  <a:srgbClr val="FF0000"/>
                </a:solidFill>
                <a:latin typeface="+mn-lt"/>
                <a:ea typeface="+mn-ea"/>
              </a:rPr>
              <a:t>index+char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，另外</a:t>
            </a:r>
            <a:r>
              <a:rPr kumimoji="1" lang="en-US" altLang="zh-CN" sz="1400" b="1" kern="0" dirty="0" err="1">
                <a:solidFill>
                  <a:srgbClr val="FF0000"/>
                </a:solidFill>
                <a:latin typeface="+mn-lt"/>
                <a:ea typeface="+mn-ea"/>
              </a:rPr>
              <a:t>prefix+char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进入字典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       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CodeWordForPrefix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DictionaryIndex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for Prefix 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          Output: (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CodeWordForPrefix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, Char) 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;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输出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(prefix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对应的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index, char)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        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insertInDictionary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( (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DictionaryIndex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, Prefix + Char) 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);</a:t>
            </a:r>
            <a:endParaRPr kumimoji="1" lang="en-US" altLang="zh-CN" sz="1400" b="1" kern="0" dirty="0">
              <a:solidFill>
                <a:srgbClr val="9900FF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        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DictionaryIndex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++ 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         Prefix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empty 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  }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}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if(Prefix is not empty</a:t>
            </a:r>
            <a:r>
              <a:rPr kumimoji="1" lang="en-US" sz="1400" b="1" kern="0" dirty="0">
                <a:solidFill>
                  <a:srgbClr val="9900FF"/>
                </a:solidFill>
                <a:latin typeface="+mn-lt"/>
                <a:ea typeface="+mn-ea"/>
              </a:rPr>
              <a:t>)</a:t>
            </a:r>
            <a:r>
              <a:rPr kumimoji="1" lang="en-US" altLang="zh-CN" sz="1400" b="1" kern="0" dirty="0">
                <a:solidFill>
                  <a:srgbClr val="FF0000"/>
                </a:solidFill>
                <a:latin typeface="+mn-lt"/>
                <a:ea typeface="+mn-ea"/>
              </a:rPr>
              <a:t>//</a:t>
            </a:r>
            <a:r>
              <a:rPr kumimoji="1" lang="zh-CN" altLang="en-US" sz="1400" b="1" kern="0" dirty="0">
                <a:solidFill>
                  <a:srgbClr val="FF0000"/>
                </a:solidFill>
                <a:latin typeface="+mn-lt"/>
                <a:ea typeface="+mn-ea"/>
              </a:rPr>
              <a:t>当前字符串包含了被压缩字符串的最后一个字符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{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	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CodeWordForPrefix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  <a:sym typeface="Symbol" pitchFamily="18" charset="2"/>
              </a:rPr>
              <a:t>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DictionaryIndex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for Prefix;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    Output: (</a:t>
            </a:r>
            <a:r>
              <a:rPr kumimoji="1" lang="en-US" sz="1400" b="1" kern="0" dirty="0" err="1">
                <a:solidFill>
                  <a:schemeClr val="accent2"/>
                </a:solidFill>
                <a:latin typeface="+mn-lt"/>
                <a:ea typeface="+mn-ea"/>
              </a:rPr>
              <a:t>CodeWordForPrefix</a:t>
            </a: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 ,   ) ;</a:t>
            </a:r>
          </a:p>
          <a:p>
            <a:pPr marL="188913" indent="-188913" algn="just" eaLnBrk="0" hangingPunct="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sz="1400" b="1" kern="0" dirty="0">
                <a:solidFill>
                  <a:schemeClr val="accent2"/>
                </a:solidFill>
                <a:latin typeface="+mn-lt"/>
                <a:ea typeface="+mn-ea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276350" y="714375"/>
            <a:ext cx="5097463" cy="60960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解压</a:t>
            </a:r>
            <a:r>
              <a:rPr kumimoji="1" lang="en-US" altLang="zh-CN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LZ</a:t>
            </a: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算法压缩后的文本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9750" y="1858963"/>
            <a:ext cx="8167688" cy="3586162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解压缩的算法比</a:t>
            </a:r>
            <a:r>
              <a:rPr kumimoji="1" lang="en-US" altLang="zh-CN" sz="2600" kern="0" dirty="0">
                <a:solidFill>
                  <a:schemeClr val="tx1"/>
                </a:solidFill>
                <a:latin typeface="+mn-lt"/>
                <a:ea typeface="+mn-ea"/>
              </a:rPr>
              <a:t>LZ</a:t>
            </a: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压缩算法简单了很多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+mn-lt"/>
                <a:ea typeface="+mn-ea"/>
              </a:rPr>
              <a:t>利用被压缩字符串中的数字找到字典上对应项，将其替换成对应项即可，知道文件末尾，完成解压缩。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71600" y="509588"/>
            <a:ext cx="3282950" cy="51435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en-US" sz="2600" b="1" kern="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LZ78 Decompression</a:t>
            </a:r>
            <a:endParaRPr kumimoji="1" lang="en-US" altLang="zh-CN" sz="2600" b="1" kern="0" dirty="0">
              <a:solidFill>
                <a:schemeClr val="tx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336675" y="901700"/>
            <a:ext cx="7575550" cy="503238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将</a:t>
            </a:r>
            <a:r>
              <a:rPr kumimoji="1" 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(0, A) (0, B) (2, C) (3, A) (2, A) (4, A) (6, B)</a:t>
            </a:r>
            <a:r>
              <a:rPr kumimoji="1" lang="zh-CN" altLang="en-US" sz="26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解压缩</a:t>
            </a:r>
            <a:r>
              <a:rPr kumimoji="1" lang="zh-CN" altLang="en-US" sz="2000" kern="0" dirty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24580" name="Picture 4" descr="LZ78decompression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44688" y="1462088"/>
            <a:ext cx="691197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50825" y="5513388"/>
            <a:ext cx="42116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tx1"/>
                </a:solidFill>
              </a:rPr>
              <a:t>结果如下：</a:t>
            </a:r>
            <a:r>
              <a:rPr lang="en-US" altLang="zh-CN">
                <a:solidFill>
                  <a:schemeClr val="tx1"/>
                </a:solidFill>
              </a:rPr>
              <a:t>ABBCBCABABCAABCAAA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44613" y="782638"/>
            <a:ext cx="1971675" cy="582612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课后练习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14363" y="1927225"/>
            <a:ext cx="7805737" cy="4037013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1. 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使用</a:t>
            </a: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LZ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算法来压缩字符串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    SATATASACITASA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endParaRPr kumimoji="1" lang="zh-CN" altLang="en-US" kern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2.  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写一个程序使用</a:t>
            </a: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LZ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算法来压缩给定的字符串 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endParaRPr kumimoji="1" lang="zh-CN" altLang="en-US" kern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3. 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写一个程序来解码使用</a:t>
            </a:r>
            <a:r>
              <a:rPr kumimoji="1" lang="en-US" altLang="zh-CN" kern="0" dirty="0">
                <a:solidFill>
                  <a:schemeClr val="tx1"/>
                </a:solidFill>
                <a:latin typeface="+mn-lt"/>
                <a:ea typeface="+mn-ea"/>
              </a:rPr>
              <a:t>LZ</a:t>
            </a:r>
            <a:r>
              <a:rPr kumimoji="1" lang="zh-CN" altLang="en-US" kern="0" dirty="0">
                <a:solidFill>
                  <a:schemeClr val="tx1"/>
                </a:solidFill>
                <a:latin typeface="+mn-lt"/>
                <a:ea typeface="+mn-ea"/>
              </a:rPr>
              <a:t>算法压缩后的字符串。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None/>
              <a:defRPr/>
            </a:pPr>
            <a:endParaRPr kumimoji="1" lang="en-US" altLang="zh-CN" sz="20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303338" y="823913"/>
            <a:ext cx="1917700" cy="527050"/>
          </a:xfrm>
          <a:prstGeom prst="rect">
            <a:avLst/>
          </a:prstGeom>
        </p:spPr>
        <p:txBody>
          <a:bodyPr/>
          <a:lstStyle/>
          <a:p>
            <a:pPr algn="just" eaLnBrk="0" hangingPunct="0">
              <a:defRPr/>
            </a:pPr>
            <a:r>
              <a:rPr kumimoji="1" lang="zh-CN" altLang="en-US" sz="3200" b="1" kern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参考材料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11175" y="1873250"/>
            <a:ext cx="8128000" cy="3708400"/>
          </a:xfrm>
          <a:prstGeom prst="rect">
            <a:avLst/>
          </a:prstGeom>
        </p:spPr>
        <p:txBody>
          <a:bodyPr/>
          <a:lstStyle/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[1] J. </a:t>
            </a:r>
            <a:r>
              <a:rPr kumimoji="1" lang="en-US" altLang="zh-CN" sz="2100" kern="0" dirty="0" err="1">
                <a:solidFill>
                  <a:schemeClr val="tx1"/>
                </a:solidFill>
                <a:latin typeface="+mn-lt"/>
                <a:ea typeface="+mn-ea"/>
              </a:rPr>
              <a:t>Ziv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 and A. Lempel, “A Universal Algorithm for Sequential Data Compression,” </a:t>
            </a:r>
            <a:r>
              <a:rPr kumimoji="1" lang="en-US" altLang="zh-CN" sz="2100" i="1" kern="0" dirty="0">
                <a:solidFill>
                  <a:schemeClr val="tx1"/>
                </a:solidFill>
                <a:latin typeface="+mn-lt"/>
                <a:ea typeface="+mn-ea"/>
              </a:rPr>
              <a:t>IEEE Trans. on Information Theory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, pp. 337-343, May 1977.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[2] 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  <a:hlinkClick r:id="rId2"/>
              </a:rPr>
              <a:t>http://www.data-compression.com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.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[3] Mark Nelson and Jean-</a:t>
            </a:r>
            <a:r>
              <a:rPr kumimoji="1" lang="en-US" altLang="zh-CN" sz="2100" kern="0" dirty="0" err="1">
                <a:solidFill>
                  <a:schemeClr val="tx1"/>
                </a:solidFill>
                <a:latin typeface="+mn-lt"/>
                <a:ea typeface="+mn-ea"/>
              </a:rPr>
              <a:t>loup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en-US" altLang="zh-CN" sz="2100" kern="0" dirty="0" err="1">
                <a:solidFill>
                  <a:schemeClr val="tx1"/>
                </a:solidFill>
                <a:latin typeface="+mn-lt"/>
                <a:ea typeface="+mn-ea"/>
              </a:rPr>
              <a:t>Gailly</a:t>
            </a:r>
            <a:r>
              <a:rPr kumimoji="1" lang="en-US" altLang="zh-CN" sz="2100" kern="0" dirty="0">
                <a:solidFill>
                  <a:schemeClr val="tx1"/>
                </a:solidFill>
                <a:latin typeface="+mn-lt"/>
                <a:ea typeface="+mn-ea"/>
              </a:rPr>
              <a:t>,” The Data Compression Book 2nd edition”, pp. 18-30, 1995.</a:t>
            </a:r>
          </a:p>
          <a:p>
            <a:pPr marL="188913" indent="-188913" algn="just" eaLnBrk="0" hangingPunct="0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sz="2100" kern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gray">
          <a:xfrm>
            <a:off x="755650" y="765175"/>
            <a:ext cx="6769100" cy="7016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4000" b="1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游戏内容</a:t>
            </a:r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gray">
          <a:xfrm>
            <a:off x="1042988" y="2205038"/>
            <a:ext cx="7058025" cy="83026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br>
              <a:rPr kumimoji="1" lang="en-US" altLang="zh-CN">
                <a:solidFill>
                  <a:schemeClr val="tx1"/>
                </a:solidFill>
              </a:rPr>
            </a:br>
            <a:r>
              <a:rPr kumimoji="1" lang="en-US" altLang="zh-CN">
                <a:solidFill>
                  <a:schemeClr val="tx1"/>
                </a:solidFill>
              </a:rPr>
              <a:t>      </a:t>
            </a:r>
            <a:r>
              <a:rPr kumimoji="1" lang="zh-CN" altLang="en-US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将所有容器从轻到重排序，并记录比较次数。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5"/>
          <p:cNvSpPr>
            <a:spLocks noChangeArrowheads="1"/>
          </p:cNvSpPr>
          <p:nvPr/>
        </p:nvSpPr>
        <p:spPr bwMode="gray">
          <a:xfrm>
            <a:off x="827088" y="782638"/>
            <a:ext cx="6769100" cy="7016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4000" b="1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解决方案</a:t>
            </a:r>
          </a:p>
        </p:txBody>
      </p:sp>
      <p:sp>
        <p:nvSpPr>
          <p:cNvPr id="13316" name="Rectangle 7"/>
          <p:cNvSpPr>
            <a:spLocks noChangeArrowheads="1"/>
          </p:cNvSpPr>
          <p:nvPr/>
        </p:nvSpPr>
        <p:spPr bwMode="gray">
          <a:xfrm>
            <a:off x="107504" y="2133600"/>
            <a:ext cx="4535488" cy="34782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l"/>
            </a:pPr>
            <a:r>
              <a:rPr kumimoji="1" lang="en-US" altLang="zh-CN" sz="2000" dirty="0">
                <a:solidFill>
                  <a:schemeClr val="tx1"/>
                </a:solidFill>
              </a:rPr>
              <a:t>   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随机选择一个容器，将其放在天平一端，然后与其他容器进行比较，并将它们分为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2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组，一组是比选定容器轻的，一组是比选定的重的。将选定容器放在中间，轻的一组放在左边，重的一组放在右边（不可能出现其它情况）。在每一组中重复这个过程</a:t>
            </a:r>
            <a:r>
              <a:rPr kumimoji="1" lang="en-US" altLang="zh-CN" sz="2000" dirty="0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—</a:t>
            </a:r>
            <a:r>
              <a:rPr kumimoji="1" lang="zh-CN" altLang="en-US" sz="2000" dirty="0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也就是说，将这些组再进行划分，在所有的分组中重复该过程进行划分，直到每组仅含一个容器。</a:t>
            </a:r>
          </a:p>
        </p:txBody>
      </p:sp>
      <p:sp>
        <p:nvSpPr>
          <p:cNvPr id="1150984" name="Rectangle 8"/>
          <p:cNvSpPr>
            <a:spLocks noChangeArrowheads="1"/>
          </p:cNvSpPr>
          <p:nvPr/>
        </p:nvSpPr>
        <p:spPr bwMode="gray">
          <a:xfrm>
            <a:off x="971550" y="1557338"/>
            <a:ext cx="1944688" cy="523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快速排序</a:t>
            </a:r>
          </a:p>
        </p:txBody>
      </p:sp>
      <p:sp>
        <p:nvSpPr>
          <p:cNvPr id="13318" name="Rectangle 10"/>
          <p:cNvSpPr>
            <a:spLocks noChangeArrowheads="1"/>
          </p:cNvSpPr>
          <p:nvPr/>
        </p:nvSpPr>
        <p:spPr bwMode="gray">
          <a:xfrm>
            <a:off x="35496" y="5805488"/>
            <a:ext cx="4433193" cy="71985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CC00CC"/>
                </a:solidFill>
                <a:latin typeface="楷体_GB2312" pitchFamily="49" charset="-122"/>
                <a:ea typeface="楷体" pitchFamily="49" charset="-122"/>
              </a:rPr>
              <a:t>“</a:t>
            </a:r>
            <a:r>
              <a:rPr kumimoji="1" lang="zh-CN" altLang="en-US" sz="2000" dirty="0">
                <a:solidFill>
                  <a:srgbClr val="CC00CC"/>
                </a:solidFill>
                <a:latin typeface="楷体_GB2312" pitchFamily="49" charset="-122"/>
                <a:ea typeface="楷体" pitchFamily="49" charset="-122"/>
              </a:rPr>
              <a:t>基准”容器的选取对比较次数有无影响？</a:t>
            </a:r>
          </a:p>
        </p:txBody>
      </p:sp>
      <p:pic>
        <p:nvPicPr>
          <p:cNvPr id="7" name="Picture 4" descr="V{N$8BO{(4D0K)OOC43RDMV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33244" y="1628775"/>
            <a:ext cx="4595813" cy="475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0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0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1150984" grpId="0"/>
      <p:bldP spid="133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ChangeArrowheads="1"/>
          </p:cNvSpPr>
          <p:nvPr/>
        </p:nvSpPr>
        <p:spPr bwMode="gray">
          <a:xfrm>
            <a:off x="755650" y="771525"/>
            <a:ext cx="6553200" cy="7016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zh-CN" altLang="en-US" sz="4000" b="1">
                <a:solidFill>
                  <a:schemeClr val="tx1"/>
                </a:solidFill>
                <a:latin typeface="楷体_GB2312" pitchFamily="49" charset="-122"/>
                <a:ea typeface="楷体" pitchFamily="49" charset="-122"/>
              </a:rPr>
              <a:t>算法拓展</a:t>
            </a:r>
          </a:p>
        </p:txBody>
      </p:sp>
      <p:sp>
        <p:nvSpPr>
          <p:cNvPr id="1172484" name="Rectangle 4"/>
          <p:cNvSpPr>
            <a:spLocks noChangeArrowheads="1"/>
          </p:cNvSpPr>
          <p:nvPr/>
        </p:nvSpPr>
        <p:spPr bwMode="gray">
          <a:xfrm>
            <a:off x="827088" y="2276475"/>
            <a:ext cx="7993062" cy="904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algn="l" eaLnBrk="1" hangingPunct="1">
              <a:lnSpc>
                <a:spcPct val="110000"/>
              </a:lnSpc>
              <a:spcBef>
                <a:spcPct val="20000"/>
              </a:spcBef>
              <a:buClr>
                <a:srgbClr val="CC3300"/>
              </a:buClr>
              <a:buSzPct val="60000"/>
              <a:buFont typeface="Wingdings" pitchFamily="2" charset="2"/>
              <a:buNone/>
              <a:defRPr/>
            </a:pP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     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基数排序是采用“</a:t>
            </a:r>
            <a:r>
              <a:rPr kumimoji="1"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分配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”与“</a:t>
            </a:r>
            <a:r>
              <a:rPr kumimoji="1" lang="zh-CN" altLang="en-US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收集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”的办法，用对多关键码进行排序的思想实现对单关键码进行排序的方法。</a:t>
            </a:r>
          </a:p>
        </p:txBody>
      </p:sp>
      <p:sp>
        <p:nvSpPr>
          <p:cNvPr id="1172485" name="Rectangle 5"/>
          <p:cNvSpPr>
            <a:spLocks noChangeArrowheads="1"/>
          </p:cNvSpPr>
          <p:nvPr/>
        </p:nvSpPr>
        <p:spPr bwMode="gray">
          <a:xfrm>
            <a:off x="989013" y="1576388"/>
            <a:ext cx="1801812" cy="523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基数排序</a:t>
            </a:r>
            <a:r>
              <a:rPr kumimoji="1" lang="zh-CN" altLang="en-US" sz="2800" dirty="0">
                <a:latin typeface="楷体_GB2312"/>
                <a:ea typeface="楷体" pitchFamily="49" charset="-122"/>
              </a:rPr>
              <a:t> </a:t>
            </a:r>
          </a:p>
        </p:txBody>
      </p:sp>
      <p:sp>
        <p:nvSpPr>
          <p:cNvPr id="1172487" name="Rectangle 7"/>
          <p:cNvSpPr>
            <a:spLocks noChangeArrowheads="1"/>
          </p:cNvSpPr>
          <p:nvPr/>
        </p:nvSpPr>
        <p:spPr bwMode="gray">
          <a:xfrm>
            <a:off x="1154113" y="3716338"/>
            <a:ext cx="6977062" cy="8302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buClr>
                <a:srgbClr val="CC00CC"/>
              </a:buClr>
              <a:buFont typeface="Wingdings" pitchFamily="2" charset="2"/>
              <a:buChar char="p"/>
              <a:defRPr/>
            </a:pP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最高位优先</a:t>
            </a:r>
            <a:r>
              <a:rPr kumimoji="1"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MSD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(</a:t>
            </a:r>
            <a:r>
              <a:rPr kumimoji="1"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Most Significant Digit first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</a:p>
          <a:p>
            <a:pPr>
              <a:buClr>
                <a:srgbClr val="CC00CC"/>
              </a:buClr>
              <a:buFont typeface="Wingdings" pitchFamily="2" charset="2"/>
              <a:buChar char="p"/>
              <a:defRPr/>
            </a:pP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 </a:t>
            </a:r>
            <a:r>
              <a:rPr kumimoji="1"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最低位优先</a:t>
            </a:r>
            <a:r>
              <a:rPr kumimoji="1"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LSD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 (</a:t>
            </a:r>
            <a:r>
              <a:rPr kumimoji="1" lang="en-US" altLang="zh-CN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Least Significant Digit first</a:t>
            </a:r>
            <a:r>
              <a:rPr kumimoji="1" lang="en-US" altLang="zh-CN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2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2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2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2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2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2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1172484" grpId="0"/>
      <p:bldP spid="1172485" grpId="0"/>
      <p:bldP spid="117248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506" name="Text Box 2"/>
          <p:cNvSpPr txBox="1">
            <a:spLocks noChangeArrowheads="1"/>
          </p:cNvSpPr>
          <p:nvPr/>
        </p:nvSpPr>
        <p:spPr bwMode="auto">
          <a:xfrm>
            <a:off x="251520" y="620713"/>
            <a:ext cx="8497193" cy="57943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32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基数排序的“分配”与“收集”过程   第一趟</a:t>
            </a:r>
            <a:endParaRPr kumimoji="1" lang="zh-CN" altLang="en-US" sz="2800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73507" name="Rectangle 3" descr="白色大理石"/>
          <p:cNvSpPr>
            <a:spLocks noChangeArrowheads="1"/>
          </p:cNvSpPr>
          <p:nvPr/>
        </p:nvSpPr>
        <p:spPr bwMode="auto">
          <a:xfrm>
            <a:off x="1524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7620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16764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10" name="Rectangle 6" descr="白色大理石"/>
          <p:cNvSpPr>
            <a:spLocks noChangeArrowheads="1"/>
          </p:cNvSpPr>
          <p:nvPr/>
        </p:nvSpPr>
        <p:spPr bwMode="auto">
          <a:xfrm>
            <a:off x="19812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35" name="Line 7"/>
          <p:cNvSpPr>
            <a:spLocks noChangeShapeType="1"/>
          </p:cNvSpPr>
          <p:nvPr/>
        </p:nvSpPr>
        <p:spPr bwMode="auto">
          <a:xfrm>
            <a:off x="25908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12" name="Rectangle 8" descr="白色大理石"/>
          <p:cNvSpPr>
            <a:spLocks noChangeArrowheads="1"/>
          </p:cNvSpPr>
          <p:nvPr/>
        </p:nvSpPr>
        <p:spPr bwMode="auto">
          <a:xfrm>
            <a:off x="28956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35052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14" name="Rectangle 10" descr="白色大理石"/>
          <p:cNvSpPr>
            <a:spLocks noChangeArrowheads="1"/>
          </p:cNvSpPr>
          <p:nvPr/>
        </p:nvSpPr>
        <p:spPr bwMode="auto">
          <a:xfrm>
            <a:off x="38100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15" name="Rectangle 11" descr="白色大理石"/>
          <p:cNvSpPr>
            <a:spLocks noChangeArrowheads="1"/>
          </p:cNvSpPr>
          <p:nvPr/>
        </p:nvSpPr>
        <p:spPr bwMode="auto">
          <a:xfrm>
            <a:off x="10668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>
            <a:off x="44196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17" name="Rectangle 13" descr="白色大理石"/>
          <p:cNvSpPr>
            <a:spLocks noChangeArrowheads="1"/>
          </p:cNvSpPr>
          <p:nvPr/>
        </p:nvSpPr>
        <p:spPr bwMode="auto">
          <a:xfrm>
            <a:off x="47244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42" name="Line 14"/>
          <p:cNvSpPr>
            <a:spLocks noChangeShapeType="1"/>
          </p:cNvSpPr>
          <p:nvPr/>
        </p:nvSpPr>
        <p:spPr bwMode="auto">
          <a:xfrm>
            <a:off x="53340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19" name="Rectangle 15" descr="白色大理石"/>
          <p:cNvSpPr>
            <a:spLocks noChangeArrowheads="1"/>
          </p:cNvSpPr>
          <p:nvPr/>
        </p:nvSpPr>
        <p:spPr bwMode="auto">
          <a:xfrm>
            <a:off x="56388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44" name="Line 16"/>
          <p:cNvSpPr>
            <a:spLocks noChangeShapeType="1"/>
          </p:cNvSpPr>
          <p:nvPr/>
        </p:nvSpPr>
        <p:spPr bwMode="auto">
          <a:xfrm>
            <a:off x="62484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21" name="Rectangle 17" descr="白色大理石"/>
          <p:cNvSpPr>
            <a:spLocks noChangeArrowheads="1"/>
          </p:cNvSpPr>
          <p:nvPr/>
        </p:nvSpPr>
        <p:spPr bwMode="auto">
          <a:xfrm>
            <a:off x="65532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46" name="Line 18"/>
          <p:cNvSpPr>
            <a:spLocks noChangeShapeType="1"/>
          </p:cNvSpPr>
          <p:nvPr/>
        </p:nvSpPr>
        <p:spPr bwMode="auto">
          <a:xfrm>
            <a:off x="71628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23" name="Rectangle 19" descr="白色大理石"/>
          <p:cNvSpPr>
            <a:spLocks noChangeArrowheads="1"/>
          </p:cNvSpPr>
          <p:nvPr/>
        </p:nvSpPr>
        <p:spPr bwMode="auto">
          <a:xfrm>
            <a:off x="74676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2548" name="Line 20"/>
          <p:cNvSpPr>
            <a:spLocks noChangeShapeType="1"/>
          </p:cNvSpPr>
          <p:nvPr/>
        </p:nvSpPr>
        <p:spPr bwMode="auto">
          <a:xfrm>
            <a:off x="8077200" y="14970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25" name="Rectangle 21" descr="白色大理石"/>
          <p:cNvSpPr>
            <a:spLocks noChangeArrowheads="1"/>
          </p:cNvSpPr>
          <p:nvPr/>
        </p:nvSpPr>
        <p:spPr bwMode="auto">
          <a:xfrm>
            <a:off x="8382000" y="12684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26" name="Text Box 22"/>
          <p:cNvSpPr txBox="1">
            <a:spLocks noChangeArrowheads="1"/>
          </p:cNvSpPr>
          <p:nvPr/>
        </p:nvSpPr>
        <p:spPr bwMode="auto">
          <a:xfrm>
            <a:off x="0" y="1916113"/>
            <a:ext cx="4948238" cy="51911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第一趟分配（按最低位 </a:t>
            </a:r>
            <a:r>
              <a:rPr kumimoji="1" lang="en-US" altLang="zh-CN" sz="2800" b="1" i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i</a:t>
            </a:r>
            <a:r>
              <a:rPr kumimoji="1" lang="en-US" altLang="zh-CN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 = 3 </a:t>
            </a: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）</a:t>
            </a:r>
          </a:p>
        </p:txBody>
      </p:sp>
      <p:sp>
        <p:nvSpPr>
          <p:cNvPr id="1173527" name="Text Box 23"/>
          <p:cNvSpPr txBox="1">
            <a:spLocks noChangeArrowheads="1"/>
          </p:cNvSpPr>
          <p:nvPr/>
        </p:nvSpPr>
        <p:spPr bwMode="auto">
          <a:xfrm>
            <a:off x="171450" y="2495550"/>
            <a:ext cx="889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[0]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[3]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[4]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[6]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[8]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[9]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1173528" name="Line 24"/>
          <p:cNvSpPr>
            <a:spLocks noChangeShapeType="1"/>
          </p:cNvSpPr>
          <p:nvPr/>
        </p:nvSpPr>
        <p:spPr bwMode="auto">
          <a:xfrm>
            <a:off x="533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29" name="Line 25"/>
          <p:cNvSpPr>
            <a:spLocks noChangeShapeType="1"/>
          </p:cNvSpPr>
          <p:nvPr/>
        </p:nvSpPr>
        <p:spPr bwMode="auto">
          <a:xfrm>
            <a:off x="1447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0" name="Line 26"/>
          <p:cNvSpPr>
            <a:spLocks noChangeShapeType="1"/>
          </p:cNvSpPr>
          <p:nvPr/>
        </p:nvSpPr>
        <p:spPr bwMode="auto">
          <a:xfrm>
            <a:off x="2362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1" name="Line 27"/>
          <p:cNvSpPr>
            <a:spLocks noChangeShapeType="1"/>
          </p:cNvSpPr>
          <p:nvPr/>
        </p:nvSpPr>
        <p:spPr bwMode="auto">
          <a:xfrm>
            <a:off x="3200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2" name="Line 28"/>
          <p:cNvSpPr>
            <a:spLocks noChangeShapeType="1"/>
          </p:cNvSpPr>
          <p:nvPr/>
        </p:nvSpPr>
        <p:spPr bwMode="auto">
          <a:xfrm>
            <a:off x="4114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3" name="Line 29"/>
          <p:cNvSpPr>
            <a:spLocks noChangeShapeType="1"/>
          </p:cNvSpPr>
          <p:nvPr/>
        </p:nvSpPr>
        <p:spPr bwMode="auto">
          <a:xfrm>
            <a:off x="5029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4" name="Line 30"/>
          <p:cNvSpPr>
            <a:spLocks noChangeShapeType="1"/>
          </p:cNvSpPr>
          <p:nvPr/>
        </p:nvSpPr>
        <p:spPr bwMode="auto">
          <a:xfrm>
            <a:off x="5867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5" name="Line 31"/>
          <p:cNvSpPr>
            <a:spLocks noChangeShapeType="1"/>
          </p:cNvSpPr>
          <p:nvPr/>
        </p:nvSpPr>
        <p:spPr bwMode="auto">
          <a:xfrm>
            <a:off x="6781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6" name="Line 32"/>
          <p:cNvSpPr>
            <a:spLocks noChangeShapeType="1"/>
          </p:cNvSpPr>
          <p:nvPr/>
        </p:nvSpPr>
        <p:spPr bwMode="auto">
          <a:xfrm>
            <a:off x="7696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7" name="Line 33"/>
          <p:cNvSpPr>
            <a:spLocks noChangeShapeType="1"/>
          </p:cNvSpPr>
          <p:nvPr/>
        </p:nvSpPr>
        <p:spPr bwMode="auto">
          <a:xfrm flipH="1">
            <a:off x="86106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38" name="Rectangle 34" descr="白色大理石"/>
          <p:cNvSpPr>
            <a:spLocks noChangeArrowheads="1"/>
          </p:cNvSpPr>
          <p:nvPr/>
        </p:nvSpPr>
        <p:spPr bwMode="auto">
          <a:xfrm>
            <a:off x="38100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39" name="Rectangle 35" descr="白色大理石"/>
          <p:cNvSpPr>
            <a:spLocks noChangeArrowheads="1"/>
          </p:cNvSpPr>
          <p:nvPr/>
        </p:nvSpPr>
        <p:spPr bwMode="auto">
          <a:xfrm>
            <a:off x="73914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0" name="Rectangle 36" descr="白色大理石"/>
          <p:cNvSpPr>
            <a:spLocks noChangeArrowheads="1"/>
          </p:cNvSpPr>
          <p:nvPr/>
        </p:nvSpPr>
        <p:spPr bwMode="auto">
          <a:xfrm>
            <a:off x="11430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1" name="Rectangle 37" descr="白色大理石"/>
          <p:cNvSpPr>
            <a:spLocks noChangeArrowheads="1"/>
          </p:cNvSpPr>
          <p:nvPr/>
        </p:nvSpPr>
        <p:spPr bwMode="auto">
          <a:xfrm>
            <a:off x="47244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2" name="Rectangle 38" descr="白色大理石"/>
          <p:cNvSpPr>
            <a:spLocks noChangeArrowheads="1"/>
          </p:cNvSpPr>
          <p:nvPr/>
        </p:nvSpPr>
        <p:spPr bwMode="auto">
          <a:xfrm>
            <a:off x="64770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3" name="Rectangle 39" descr="白色大理石"/>
          <p:cNvSpPr>
            <a:spLocks noChangeArrowheads="1"/>
          </p:cNvSpPr>
          <p:nvPr/>
        </p:nvSpPr>
        <p:spPr bwMode="auto">
          <a:xfrm>
            <a:off x="1143000" y="32670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4" name="Rectangle 40" descr="白色大理石"/>
          <p:cNvSpPr>
            <a:spLocks noChangeArrowheads="1"/>
          </p:cNvSpPr>
          <p:nvPr/>
        </p:nvSpPr>
        <p:spPr bwMode="auto">
          <a:xfrm>
            <a:off x="4724400" y="32670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5" name="Rectangle 41" descr="白色大理石"/>
          <p:cNvSpPr>
            <a:spLocks noChangeArrowheads="1"/>
          </p:cNvSpPr>
          <p:nvPr/>
        </p:nvSpPr>
        <p:spPr bwMode="auto">
          <a:xfrm>
            <a:off x="2286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6" name="Rectangle 42" descr="白色大理石"/>
          <p:cNvSpPr>
            <a:spLocks noChangeArrowheads="1"/>
          </p:cNvSpPr>
          <p:nvPr/>
        </p:nvSpPr>
        <p:spPr bwMode="auto">
          <a:xfrm>
            <a:off x="228600" y="32670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7" name="Rectangle 43" descr="白色大理石"/>
          <p:cNvSpPr>
            <a:spLocks noChangeArrowheads="1"/>
          </p:cNvSpPr>
          <p:nvPr/>
        </p:nvSpPr>
        <p:spPr bwMode="auto">
          <a:xfrm>
            <a:off x="55626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8" name="Text Box 44"/>
          <p:cNvSpPr txBox="1">
            <a:spLocks noChangeArrowheads="1"/>
          </p:cNvSpPr>
          <p:nvPr/>
        </p:nvSpPr>
        <p:spPr bwMode="auto">
          <a:xfrm>
            <a:off x="136525" y="4781550"/>
            <a:ext cx="8959850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[0]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[3]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[4]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[6]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[8]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[9]</a:t>
            </a:r>
            <a:endParaRPr kumimoji="1" lang="en-US" altLang="zh-CN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49" name="Text Box 45"/>
          <p:cNvSpPr txBox="1">
            <a:spLocks noChangeArrowheads="1"/>
          </p:cNvSpPr>
          <p:nvPr/>
        </p:nvSpPr>
        <p:spPr bwMode="auto">
          <a:xfrm>
            <a:off x="76200" y="5430838"/>
            <a:ext cx="1970088" cy="51911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仿宋_GB2312" pitchFamily="49" charset="-122"/>
              </a:rPr>
              <a:t>第一趟收集</a:t>
            </a:r>
          </a:p>
        </p:txBody>
      </p:sp>
      <p:sp>
        <p:nvSpPr>
          <p:cNvPr id="1173550" name="Rectangle 46" descr="白色大理石"/>
          <p:cNvSpPr>
            <a:spLocks noChangeArrowheads="1"/>
          </p:cNvSpPr>
          <p:nvPr/>
        </p:nvSpPr>
        <p:spPr bwMode="auto">
          <a:xfrm>
            <a:off x="1524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51" name="Line 47"/>
          <p:cNvSpPr>
            <a:spLocks noChangeShapeType="1"/>
          </p:cNvSpPr>
          <p:nvPr/>
        </p:nvSpPr>
        <p:spPr bwMode="auto">
          <a:xfrm>
            <a:off x="7620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52" name="Rectangle 48" descr="白色大理石"/>
          <p:cNvSpPr>
            <a:spLocks noChangeArrowheads="1"/>
          </p:cNvSpPr>
          <p:nvPr/>
        </p:nvSpPr>
        <p:spPr bwMode="auto">
          <a:xfrm>
            <a:off x="10668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53" name="Line 49"/>
          <p:cNvSpPr>
            <a:spLocks noChangeShapeType="1"/>
          </p:cNvSpPr>
          <p:nvPr/>
        </p:nvSpPr>
        <p:spPr bwMode="auto">
          <a:xfrm>
            <a:off x="16764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54" name="Rectangle 50" descr="白色大理石"/>
          <p:cNvSpPr>
            <a:spLocks noChangeArrowheads="1"/>
          </p:cNvSpPr>
          <p:nvPr/>
        </p:nvSpPr>
        <p:spPr bwMode="auto">
          <a:xfrm>
            <a:off x="19812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55" name="Line 51"/>
          <p:cNvSpPr>
            <a:spLocks noChangeShapeType="1"/>
          </p:cNvSpPr>
          <p:nvPr/>
        </p:nvSpPr>
        <p:spPr bwMode="auto">
          <a:xfrm>
            <a:off x="25908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56" name="Rectangle 52" descr="白色大理石"/>
          <p:cNvSpPr>
            <a:spLocks noChangeArrowheads="1"/>
          </p:cNvSpPr>
          <p:nvPr/>
        </p:nvSpPr>
        <p:spPr bwMode="auto">
          <a:xfrm>
            <a:off x="28956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57" name="Line 53"/>
          <p:cNvSpPr>
            <a:spLocks noChangeShapeType="1"/>
          </p:cNvSpPr>
          <p:nvPr/>
        </p:nvSpPr>
        <p:spPr bwMode="auto">
          <a:xfrm>
            <a:off x="35052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58" name="Rectangle 54" descr="白色大理石"/>
          <p:cNvSpPr>
            <a:spLocks noChangeArrowheads="1"/>
          </p:cNvSpPr>
          <p:nvPr/>
        </p:nvSpPr>
        <p:spPr bwMode="auto">
          <a:xfrm>
            <a:off x="38100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59" name="Line 55"/>
          <p:cNvSpPr>
            <a:spLocks noChangeShapeType="1"/>
          </p:cNvSpPr>
          <p:nvPr/>
        </p:nvSpPr>
        <p:spPr bwMode="auto">
          <a:xfrm>
            <a:off x="44196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60" name="Rectangle 56" descr="白色大理石"/>
          <p:cNvSpPr>
            <a:spLocks noChangeArrowheads="1"/>
          </p:cNvSpPr>
          <p:nvPr/>
        </p:nvSpPr>
        <p:spPr bwMode="auto">
          <a:xfrm>
            <a:off x="47244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61" name="Line 57"/>
          <p:cNvSpPr>
            <a:spLocks noChangeShapeType="1"/>
          </p:cNvSpPr>
          <p:nvPr/>
        </p:nvSpPr>
        <p:spPr bwMode="auto">
          <a:xfrm>
            <a:off x="53340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62" name="Rectangle 58" descr="白色大理石"/>
          <p:cNvSpPr>
            <a:spLocks noChangeArrowheads="1"/>
          </p:cNvSpPr>
          <p:nvPr/>
        </p:nvSpPr>
        <p:spPr bwMode="auto">
          <a:xfrm>
            <a:off x="56388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63" name="Line 59"/>
          <p:cNvSpPr>
            <a:spLocks noChangeShapeType="1"/>
          </p:cNvSpPr>
          <p:nvPr/>
        </p:nvSpPr>
        <p:spPr bwMode="auto">
          <a:xfrm>
            <a:off x="62484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64" name="Rectangle 60" descr="白色大理石"/>
          <p:cNvSpPr>
            <a:spLocks noChangeArrowheads="1"/>
          </p:cNvSpPr>
          <p:nvPr/>
        </p:nvSpPr>
        <p:spPr bwMode="auto">
          <a:xfrm>
            <a:off x="65532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65" name="Line 61"/>
          <p:cNvSpPr>
            <a:spLocks noChangeShapeType="1"/>
          </p:cNvSpPr>
          <p:nvPr/>
        </p:nvSpPr>
        <p:spPr bwMode="auto">
          <a:xfrm>
            <a:off x="71628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66" name="Rectangle 62" descr="白色大理石"/>
          <p:cNvSpPr>
            <a:spLocks noChangeArrowheads="1"/>
          </p:cNvSpPr>
          <p:nvPr/>
        </p:nvSpPr>
        <p:spPr bwMode="auto">
          <a:xfrm>
            <a:off x="74676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3567" name="Line 63"/>
          <p:cNvSpPr>
            <a:spLocks noChangeShapeType="1"/>
          </p:cNvSpPr>
          <p:nvPr/>
        </p:nvSpPr>
        <p:spPr bwMode="auto">
          <a:xfrm>
            <a:off x="80772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3568" name="Rectangle 64" descr="白色大理石"/>
          <p:cNvSpPr>
            <a:spLocks noChangeArrowheads="1"/>
          </p:cNvSpPr>
          <p:nvPr/>
        </p:nvSpPr>
        <p:spPr bwMode="auto">
          <a:xfrm>
            <a:off x="83820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</p:spTree>
  </p:cSld>
  <p:clrMapOvr>
    <a:masterClrMapping/>
  </p:clrMapOvr>
  <p:transition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3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3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3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73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73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3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3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73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3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73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7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73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73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73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73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3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73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73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73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3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3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73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73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73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73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7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7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73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73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73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73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73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73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73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73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73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73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73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73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173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73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73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173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73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73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73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73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73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17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17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17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17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7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7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17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17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17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17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7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7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7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7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17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17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7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7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73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173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173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17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73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73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173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173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173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1173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1173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1173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173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1173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3526" grpId="0"/>
      <p:bldP spid="1173527" grpId="0"/>
      <p:bldP spid="1173528" grpId="0" animBg="1"/>
      <p:bldP spid="1173529" grpId="0" animBg="1"/>
      <p:bldP spid="1173530" grpId="0" animBg="1"/>
      <p:bldP spid="1173531" grpId="0" animBg="1"/>
      <p:bldP spid="1173532" grpId="0" animBg="1"/>
      <p:bldP spid="1173533" grpId="0" animBg="1"/>
      <p:bldP spid="1173534" grpId="0" animBg="1"/>
      <p:bldP spid="1173535" grpId="0" animBg="1"/>
      <p:bldP spid="1173536" grpId="0" animBg="1"/>
      <p:bldP spid="1173537" grpId="0" animBg="1"/>
      <p:bldP spid="1173538" grpId="0" animBg="1"/>
      <p:bldP spid="1173539" grpId="0" animBg="1"/>
      <p:bldP spid="1173540" grpId="0" animBg="1"/>
      <p:bldP spid="1173541" grpId="0" animBg="1"/>
      <p:bldP spid="1173542" grpId="0" animBg="1"/>
      <p:bldP spid="1173543" grpId="0" animBg="1"/>
      <p:bldP spid="1173544" grpId="0" animBg="1"/>
      <p:bldP spid="1173545" grpId="0" animBg="1"/>
      <p:bldP spid="1173546" grpId="0" animBg="1"/>
      <p:bldP spid="1173547" grpId="0" animBg="1"/>
      <p:bldP spid="1173548" grpId="0"/>
      <p:bldP spid="1173549" grpId="0"/>
      <p:bldP spid="1173550" grpId="0" animBg="1"/>
      <p:bldP spid="1173551" grpId="0" animBg="1"/>
      <p:bldP spid="1173552" grpId="0" animBg="1"/>
      <p:bldP spid="1173553" grpId="0" animBg="1"/>
      <p:bldP spid="1173554" grpId="0" animBg="1"/>
      <p:bldP spid="1173555" grpId="0" animBg="1"/>
      <p:bldP spid="1173556" grpId="0" animBg="1"/>
      <p:bldP spid="1173557" grpId="0" animBg="1"/>
      <p:bldP spid="1173558" grpId="0" animBg="1"/>
      <p:bldP spid="1173559" grpId="0" animBg="1"/>
      <p:bldP spid="1173560" grpId="0" animBg="1"/>
      <p:bldP spid="1173561" grpId="0" animBg="1"/>
      <p:bldP spid="1173562" grpId="0" animBg="1"/>
      <p:bldP spid="1173563" grpId="0" animBg="1"/>
      <p:bldP spid="1173564" grpId="0" animBg="1"/>
      <p:bldP spid="1173565" grpId="0" animBg="1"/>
      <p:bldP spid="1173566" grpId="0" animBg="1"/>
      <p:bldP spid="1173567" grpId="0" animBg="1"/>
      <p:bldP spid="117356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530" name="Text Box 2"/>
          <p:cNvSpPr txBox="1">
            <a:spLocks noChangeArrowheads="1"/>
          </p:cNvSpPr>
          <p:nvPr/>
        </p:nvSpPr>
        <p:spPr bwMode="auto">
          <a:xfrm>
            <a:off x="0" y="473075"/>
            <a:ext cx="9144000" cy="5847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32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基数排序的“分配”与“收集”过程   第二趟</a:t>
            </a:r>
            <a:endParaRPr kumimoji="1" lang="zh-CN" altLang="en-US" sz="3200" dirty="0">
              <a:solidFill>
                <a:schemeClr val="tx1"/>
              </a:solidFill>
              <a:latin typeface="楷体_GB2312"/>
              <a:ea typeface="楷体" pitchFamily="49" charset="-122"/>
            </a:endParaRPr>
          </a:p>
        </p:txBody>
      </p:sp>
      <p:sp>
        <p:nvSpPr>
          <p:cNvPr id="1174531" name="Rectangle 3" descr="白色大理石"/>
          <p:cNvSpPr>
            <a:spLocks noChangeArrowheads="1"/>
          </p:cNvSpPr>
          <p:nvPr/>
        </p:nvSpPr>
        <p:spPr bwMode="auto">
          <a:xfrm>
            <a:off x="38100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7620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16764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34" name="Rectangle 6" descr="白色大理石"/>
          <p:cNvSpPr>
            <a:spLocks noChangeArrowheads="1"/>
          </p:cNvSpPr>
          <p:nvPr/>
        </p:nvSpPr>
        <p:spPr bwMode="auto">
          <a:xfrm>
            <a:off x="19812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25908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36" name="Rectangle 8" descr="白色大理石"/>
          <p:cNvSpPr>
            <a:spLocks noChangeArrowheads="1"/>
          </p:cNvSpPr>
          <p:nvPr/>
        </p:nvSpPr>
        <p:spPr bwMode="auto">
          <a:xfrm>
            <a:off x="47244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>
            <a:off x="35052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38" name="Rectangle 10" descr="白色大理石"/>
          <p:cNvSpPr>
            <a:spLocks noChangeArrowheads="1"/>
          </p:cNvSpPr>
          <p:nvPr/>
        </p:nvSpPr>
        <p:spPr bwMode="auto">
          <a:xfrm>
            <a:off x="74676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39" name="Rectangle 11" descr="白色大理石"/>
          <p:cNvSpPr>
            <a:spLocks noChangeArrowheads="1"/>
          </p:cNvSpPr>
          <p:nvPr/>
        </p:nvSpPr>
        <p:spPr bwMode="auto">
          <a:xfrm>
            <a:off x="83820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64" name="Line 12"/>
          <p:cNvSpPr>
            <a:spLocks noChangeShapeType="1"/>
          </p:cNvSpPr>
          <p:nvPr/>
        </p:nvSpPr>
        <p:spPr bwMode="auto">
          <a:xfrm>
            <a:off x="44196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41" name="Rectangle 13" descr="白色大理石"/>
          <p:cNvSpPr>
            <a:spLocks noChangeArrowheads="1"/>
          </p:cNvSpPr>
          <p:nvPr/>
        </p:nvSpPr>
        <p:spPr bwMode="auto">
          <a:xfrm>
            <a:off x="28956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66" name="Line 14"/>
          <p:cNvSpPr>
            <a:spLocks noChangeShapeType="1"/>
          </p:cNvSpPr>
          <p:nvPr/>
        </p:nvSpPr>
        <p:spPr bwMode="auto">
          <a:xfrm>
            <a:off x="53340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43" name="Rectangle 15" descr="白色大理石"/>
          <p:cNvSpPr>
            <a:spLocks noChangeArrowheads="1"/>
          </p:cNvSpPr>
          <p:nvPr/>
        </p:nvSpPr>
        <p:spPr bwMode="auto">
          <a:xfrm>
            <a:off x="56388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68" name="Line 16"/>
          <p:cNvSpPr>
            <a:spLocks noChangeShapeType="1"/>
          </p:cNvSpPr>
          <p:nvPr/>
        </p:nvSpPr>
        <p:spPr bwMode="auto">
          <a:xfrm>
            <a:off x="62484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45" name="Rectangle 17" descr="白色大理石"/>
          <p:cNvSpPr>
            <a:spLocks noChangeArrowheads="1"/>
          </p:cNvSpPr>
          <p:nvPr/>
        </p:nvSpPr>
        <p:spPr bwMode="auto">
          <a:xfrm>
            <a:off x="1524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>
            <a:off x="71628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47" name="Rectangle 19" descr="白色大理石"/>
          <p:cNvSpPr>
            <a:spLocks noChangeArrowheads="1"/>
          </p:cNvSpPr>
          <p:nvPr/>
        </p:nvSpPr>
        <p:spPr bwMode="auto">
          <a:xfrm>
            <a:off x="10668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3572" name="Line 20"/>
          <p:cNvSpPr>
            <a:spLocks noChangeShapeType="1"/>
          </p:cNvSpPr>
          <p:nvPr/>
        </p:nvSpPr>
        <p:spPr bwMode="auto">
          <a:xfrm>
            <a:off x="8077200" y="1471613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49" name="Rectangle 21" descr="白色大理石"/>
          <p:cNvSpPr>
            <a:spLocks noChangeArrowheads="1"/>
          </p:cNvSpPr>
          <p:nvPr/>
        </p:nvSpPr>
        <p:spPr bwMode="auto">
          <a:xfrm>
            <a:off x="6553200" y="1243013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50" name="Text Box 22"/>
          <p:cNvSpPr txBox="1">
            <a:spLocks noChangeArrowheads="1"/>
          </p:cNvSpPr>
          <p:nvPr/>
        </p:nvSpPr>
        <p:spPr bwMode="auto">
          <a:xfrm>
            <a:off x="0" y="1916113"/>
            <a:ext cx="5419725" cy="5238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第二趟分配（按次低位 </a:t>
            </a:r>
            <a:r>
              <a:rPr kumimoji="1" lang="en-US" altLang="zh-CN" sz="2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i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 = 2 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）</a:t>
            </a:r>
          </a:p>
        </p:txBody>
      </p:sp>
      <p:sp>
        <p:nvSpPr>
          <p:cNvPr id="1174551" name="Text Box 23"/>
          <p:cNvSpPr txBox="1">
            <a:spLocks noChangeArrowheads="1"/>
          </p:cNvSpPr>
          <p:nvPr/>
        </p:nvSpPr>
        <p:spPr bwMode="auto">
          <a:xfrm>
            <a:off x="171450" y="2495550"/>
            <a:ext cx="889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[0]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[3]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[4]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[6]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[8]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[9]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1174552" name="Line 24"/>
          <p:cNvSpPr>
            <a:spLocks noChangeShapeType="1"/>
          </p:cNvSpPr>
          <p:nvPr/>
        </p:nvSpPr>
        <p:spPr bwMode="auto">
          <a:xfrm>
            <a:off x="533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3" name="Line 25"/>
          <p:cNvSpPr>
            <a:spLocks noChangeShapeType="1"/>
          </p:cNvSpPr>
          <p:nvPr/>
        </p:nvSpPr>
        <p:spPr bwMode="auto">
          <a:xfrm>
            <a:off x="1447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4" name="Line 26"/>
          <p:cNvSpPr>
            <a:spLocks noChangeShapeType="1"/>
          </p:cNvSpPr>
          <p:nvPr/>
        </p:nvSpPr>
        <p:spPr bwMode="auto">
          <a:xfrm>
            <a:off x="2362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5" name="Line 27"/>
          <p:cNvSpPr>
            <a:spLocks noChangeShapeType="1"/>
          </p:cNvSpPr>
          <p:nvPr/>
        </p:nvSpPr>
        <p:spPr bwMode="auto">
          <a:xfrm>
            <a:off x="3200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6" name="Line 28"/>
          <p:cNvSpPr>
            <a:spLocks noChangeShapeType="1"/>
          </p:cNvSpPr>
          <p:nvPr/>
        </p:nvSpPr>
        <p:spPr bwMode="auto">
          <a:xfrm>
            <a:off x="4114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7" name="Line 29"/>
          <p:cNvSpPr>
            <a:spLocks noChangeShapeType="1"/>
          </p:cNvSpPr>
          <p:nvPr/>
        </p:nvSpPr>
        <p:spPr bwMode="auto">
          <a:xfrm>
            <a:off x="5029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8" name="Line 30"/>
          <p:cNvSpPr>
            <a:spLocks noChangeShapeType="1"/>
          </p:cNvSpPr>
          <p:nvPr/>
        </p:nvSpPr>
        <p:spPr bwMode="auto">
          <a:xfrm>
            <a:off x="58674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59" name="Line 31"/>
          <p:cNvSpPr>
            <a:spLocks noChangeShapeType="1"/>
          </p:cNvSpPr>
          <p:nvPr/>
        </p:nvSpPr>
        <p:spPr bwMode="auto">
          <a:xfrm>
            <a:off x="67818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60" name="Line 32"/>
          <p:cNvSpPr>
            <a:spLocks noChangeShapeType="1"/>
          </p:cNvSpPr>
          <p:nvPr/>
        </p:nvSpPr>
        <p:spPr bwMode="auto">
          <a:xfrm>
            <a:off x="76962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61" name="Line 33"/>
          <p:cNvSpPr>
            <a:spLocks noChangeShapeType="1"/>
          </p:cNvSpPr>
          <p:nvPr/>
        </p:nvSpPr>
        <p:spPr bwMode="auto">
          <a:xfrm flipH="1">
            <a:off x="8610600" y="3038475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62" name="Rectangle 34" descr="白色大理石"/>
          <p:cNvSpPr>
            <a:spLocks noChangeArrowheads="1"/>
          </p:cNvSpPr>
          <p:nvPr/>
        </p:nvSpPr>
        <p:spPr bwMode="auto">
          <a:xfrm>
            <a:off x="11430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3" name="Rectangle 35" descr="白色大理石"/>
          <p:cNvSpPr>
            <a:spLocks noChangeArrowheads="1"/>
          </p:cNvSpPr>
          <p:nvPr/>
        </p:nvSpPr>
        <p:spPr bwMode="auto">
          <a:xfrm>
            <a:off x="2895600" y="30384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 dirty="0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4" name="Rectangle 36" descr="白色大理石"/>
          <p:cNvSpPr>
            <a:spLocks noChangeArrowheads="1"/>
          </p:cNvSpPr>
          <p:nvPr/>
        </p:nvSpPr>
        <p:spPr bwMode="auto">
          <a:xfrm>
            <a:off x="20574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5" name="Rectangle 37" descr="白色大理石"/>
          <p:cNvSpPr>
            <a:spLocks noChangeArrowheads="1"/>
          </p:cNvSpPr>
          <p:nvPr/>
        </p:nvSpPr>
        <p:spPr bwMode="auto">
          <a:xfrm>
            <a:off x="73914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6" name="Rectangle 38" descr="白色大理石"/>
          <p:cNvSpPr>
            <a:spLocks noChangeArrowheads="1"/>
          </p:cNvSpPr>
          <p:nvPr/>
        </p:nvSpPr>
        <p:spPr bwMode="auto">
          <a:xfrm>
            <a:off x="2895600" y="3571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7" name="Rectangle 39" descr="白色大理石"/>
          <p:cNvSpPr>
            <a:spLocks noChangeArrowheads="1"/>
          </p:cNvSpPr>
          <p:nvPr/>
        </p:nvSpPr>
        <p:spPr bwMode="auto">
          <a:xfrm>
            <a:off x="2286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8" name="Rectangle 40" descr="白色大理石"/>
          <p:cNvSpPr>
            <a:spLocks noChangeArrowheads="1"/>
          </p:cNvSpPr>
          <p:nvPr/>
        </p:nvSpPr>
        <p:spPr bwMode="auto">
          <a:xfrm>
            <a:off x="1143000" y="32670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 dirty="0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69" name="Rectangle 41" descr="白色大理石"/>
          <p:cNvSpPr>
            <a:spLocks noChangeArrowheads="1"/>
          </p:cNvSpPr>
          <p:nvPr/>
        </p:nvSpPr>
        <p:spPr bwMode="auto">
          <a:xfrm>
            <a:off x="2895600" y="41052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0" name="Rectangle 42" descr="白色大理石"/>
          <p:cNvSpPr>
            <a:spLocks noChangeArrowheads="1"/>
          </p:cNvSpPr>
          <p:nvPr/>
        </p:nvSpPr>
        <p:spPr bwMode="auto">
          <a:xfrm>
            <a:off x="8305800" y="39528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1" name="Rectangle 43" descr="白色大理石"/>
          <p:cNvSpPr>
            <a:spLocks noChangeArrowheads="1"/>
          </p:cNvSpPr>
          <p:nvPr/>
        </p:nvSpPr>
        <p:spPr bwMode="auto">
          <a:xfrm>
            <a:off x="228600" y="3267075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2" name="Text Box 44"/>
          <p:cNvSpPr txBox="1">
            <a:spLocks noChangeArrowheads="1"/>
          </p:cNvSpPr>
          <p:nvPr/>
        </p:nvSpPr>
        <p:spPr bwMode="auto">
          <a:xfrm>
            <a:off x="136525" y="4781550"/>
            <a:ext cx="8959850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[0]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[3]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[4]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[6]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[8]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[9]</a:t>
            </a:r>
            <a:endParaRPr kumimoji="1" lang="en-US" altLang="zh-CN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3" name="Text Box 45"/>
          <p:cNvSpPr txBox="1">
            <a:spLocks noChangeArrowheads="1"/>
          </p:cNvSpPr>
          <p:nvPr/>
        </p:nvSpPr>
        <p:spPr bwMode="auto">
          <a:xfrm>
            <a:off x="76200" y="5445125"/>
            <a:ext cx="1970088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第二趟收集</a:t>
            </a:r>
          </a:p>
        </p:txBody>
      </p:sp>
      <p:sp>
        <p:nvSpPr>
          <p:cNvPr id="1174574" name="Rectangle 46" descr="白色大理石"/>
          <p:cNvSpPr>
            <a:spLocks noChangeArrowheads="1"/>
          </p:cNvSpPr>
          <p:nvPr/>
        </p:nvSpPr>
        <p:spPr bwMode="auto">
          <a:xfrm>
            <a:off x="47244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5" name="Line 47"/>
          <p:cNvSpPr>
            <a:spLocks noChangeShapeType="1"/>
          </p:cNvSpPr>
          <p:nvPr/>
        </p:nvSpPr>
        <p:spPr bwMode="auto">
          <a:xfrm>
            <a:off x="7620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76" name="Rectangle 48" descr="白色大理石"/>
          <p:cNvSpPr>
            <a:spLocks noChangeArrowheads="1"/>
          </p:cNvSpPr>
          <p:nvPr/>
        </p:nvSpPr>
        <p:spPr bwMode="auto">
          <a:xfrm>
            <a:off x="83820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7" name="Line 49"/>
          <p:cNvSpPr>
            <a:spLocks noChangeShapeType="1"/>
          </p:cNvSpPr>
          <p:nvPr/>
        </p:nvSpPr>
        <p:spPr bwMode="auto">
          <a:xfrm>
            <a:off x="16764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78" name="Rectangle 50" descr="白色大理石"/>
          <p:cNvSpPr>
            <a:spLocks noChangeArrowheads="1"/>
          </p:cNvSpPr>
          <p:nvPr/>
        </p:nvSpPr>
        <p:spPr bwMode="auto">
          <a:xfrm>
            <a:off x="38100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79" name="Line 51"/>
          <p:cNvSpPr>
            <a:spLocks noChangeShapeType="1"/>
          </p:cNvSpPr>
          <p:nvPr/>
        </p:nvSpPr>
        <p:spPr bwMode="auto">
          <a:xfrm>
            <a:off x="25908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80" name="Rectangle 52" descr="白色大理石"/>
          <p:cNvSpPr>
            <a:spLocks noChangeArrowheads="1"/>
          </p:cNvSpPr>
          <p:nvPr/>
        </p:nvSpPr>
        <p:spPr bwMode="auto">
          <a:xfrm>
            <a:off x="1524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81" name="Line 53"/>
          <p:cNvSpPr>
            <a:spLocks noChangeShapeType="1"/>
          </p:cNvSpPr>
          <p:nvPr/>
        </p:nvSpPr>
        <p:spPr bwMode="auto">
          <a:xfrm>
            <a:off x="35052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82" name="Rectangle 54" descr="白色大理石"/>
          <p:cNvSpPr>
            <a:spLocks noChangeArrowheads="1"/>
          </p:cNvSpPr>
          <p:nvPr/>
        </p:nvSpPr>
        <p:spPr bwMode="auto">
          <a:xfrm>
            <a:off x="19812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83" name="Line 55"/>
          <p:cNvSpPr>
            <a:spLocks noChangeShapeType="1"/>
          </p:cNvSpPr>
          <p:nvPr/>
        </p:nvSpPr>
        <p:spPr bwMode="auto">
          <a:xfrm>
            <a:off x="44196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84" name="Rectangle 56" descr="白色大理石"/>
          <p:cNvSpPr>
            <a:spLocks noChangeArrowheads="1"/>
          </p:cNvSpPr>
          <p:nvPr/>
        </p:nvSpPr>
        <p:spPr bwMode="auto">
          <a:xfrm>
            <a:off x="74676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85" name="Line 57"/>
          <p:cNvSpPr>
            <a:spLocks noChangeShapeType="1"/>
          </p:cNvSpPr>
          <p:nvPr/>
        </p:nvSpPr>
        <p:spPr bwMode="auto">
          <a:xfrm>
            <a:off x="53340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86" name="Rectangle 58" descr="白色大理石"/>
          <p:cNvSpPr>
            <a:spLocks noChangeArrowheads="1"/>
          </p:cNvSpPr>
          <p:nvPr/>
        </p:nvSpPr>
        <p:spPr bwMode="auto">
          <a:xfrm>
            <a:off x="28956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87" name="Line 59"/>
          <p:cNvSpPr>
            <a:spLocks noChangeShapeType="1"/>
          </p:cNvSpPr>
          <p:nvPr/>
        </p:nvSpPr>
        <p:spPr bwMode="auto">
          <a:xfrm>
            <a:off x="62484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88" name="Rectangle 60" descr="白色大理石"/>
          <p:cNvSpPr>
            <a:spLocks noChangeArrowheads="1"/>
          </p:cNvSpPr>
          <p:nvPr/>
        </p:nvSpPr>
        <p:spPr bwMode="auto">
          <a:xfrm>
            <a:off x="10668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89" name="Line 61"/>
          <p:cNvSpPr>
            <a:spLocks noChangeShapeType="1"/>
          </p:cNvSpPr>
          <p:nvPr/>
        </p:nvSpPr>
        <p:spPr bwMode="auto">
          <a:xfrm>
            <a:off x="71628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90" name="Rectangle 62" descr="白色大理石"/>
          <p:cNvSpPr>
            <a:spLocks noChangeArrowheads="1"/>
          </p:cNvSpPr>
          <p:nvPr/>
        </p:nvSpPr>
        <p:spPr bwMode="auto">
          <a:xfrm>
            <a:off x="56388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4591" name="Line 63"/>
          <p:cNvSpPr>
            <a:spLocks noChangeShapeType="1"/>
          </p:cNvSpPr>
          <p:nvPr/>
        </p:nvSpPr>
        <p:spPr bwMode="auto">
          <a:xfrm>
            <a:off x="8077200" y="6177880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4592" name="Rectangle 64" descr="白色大理石"/>
          <p:cNvSpPr>
            <a:spLocks noChangeArrowheads="1"/>
          </p:cNvSpPr>
          <p:nvPr/>
        </p:nvSpPr>
        <p:spPr bwMode="auto">
          <a:xfrm>
            <a:off x="6553200" y="594928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4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4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4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4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4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4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4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4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74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4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4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4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4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4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74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4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7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74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74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74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4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7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7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7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74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74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7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7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74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74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74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74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74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74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74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74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74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74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74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74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74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74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74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74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74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74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174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74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174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74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17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7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7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7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17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17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17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17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17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7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17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17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117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17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17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17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17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7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17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17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117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17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117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17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117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17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117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17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117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117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4551" grpId="0"/>
      <p:bldP spid="1174552" grpId="0" animBg="1"/>
      <p:bldP spid="1174553" grpId="0" animBg="1"/>
      <p:bldP spid="1174554" grpId="0" animBg="1"/>
      <p:bldP spid="1174555" grpId="0" animBg="1"/>
      <p:bldP spid="1174556" grpId="0" animBg="1"/>
      <p:bldP spid="1174557" grpId="0" animBg="1"/>
      <p:bldP spid="1174558" grpId="0" animBg="1"/>
      <p:bldP spid="1174559" grpId="0" animBg="1"/>
      <p:bldP spid="1174560" grpId="0" animBg="1"/>
      <p:bldP spid="1174561" grpId="0" animBg="1"/>
      <p:bldP spid="1174562" grpId="0" animBg="1"/>
      <p:bldP spid="1174563" grpId="0" animBg="1"/>
      <p:bldP spid="1174564" grpId="0" animBg="1"/>
      <p:bldP spid="1174565" grpId="0" animBg="1"/>
      <p:bldP spid="1174566" grpId="0" animBg="1"/>
      <p:bldP spid="1174567" grpId="0" animBg="1"/>
      <p:bldP spid="1174568" grpId="0" animBg="1"/>
      <p:bldP spid="1174569" grpId="0" animBg="1"/>
      <p:bldP spid="1174570" grpId="0" animBg="1"/>
      <p:bldP spid="1174571" grpId="0" animBg="1"/>
      <p:bldP spid="1174572" grpId="0"/>
      <p:bldP spid="1174573" grpId="0"/>
      <p:bldP spid="1174574" grpId="0" animBg="1"/>
      <p:bldP spid="1174575" grpId="0" animBg="1"/>
      <p:bldP spid="1174576" grpId="0" animBg="1"/>
      <p:bldP spid="1174577" grpId="0" animBg="1"/>
      <p:bldP spid="1174578" grpId="0" animBg="1"/>
      <p:bldP spid="1174579" grpId="0" animBg="1"/>
      <p:bldP spid="1174580" grpId="0" animBg="1"/>
      <p:bldP spid="1174581" grpId="0" animBg="1"/>
      <p:bldP spid="1174582" grpId="0" animBg="1"/>
      <p:bldP spid="1174583" grpId="0" animBg="1"/>
      <p:bldP spid="1174584" grpId="0" animBg="1"/>
      <p:bldP spid="1174585" grpId="0" animBg="1"/>
      <p:bldP spid="1174586" grpId="0" animBg="1"/>
      <p:bldP spid="1174587" grpId="0" animBg="1"/>
      <p:bldP spid="1174588" grpId="0" animBg="1"/>
      <p:bldP spid="1174589" grpId="0" animBg="1"/>
      <p:bldP spid="1174590" grpId="0" animBg="1"/>
      <p:bldP spid="1174591" grpId="0" animBg="1"/>
      <p:bldP spid="117459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54" name="Text Box 2"/>
          <p:cNvSpPr txBox="1">
            <a:spLocks noChangeArrowheads="1"/>
          </p:cNvSpPr>
          <p:nvPr/>
        </p:nvSpPr>
        <p:spPr bwMode="auto">
          <a:xfrm>
            <a:off x="107504" y="476250"/>
            <a:ext cx="8928992" cy="58477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3200" b="1" dirty="0">
                <a:solidFill>
                  <a:srgbClr val="008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基数排序的“分配”与“收集”过程   第三趟</a:t>
            </a:r>
            <a:endParaRPr kumimoji="1" lang="zh-CN" altLang="en-US" sz="3200" dirty="0">
              <a:solidFill>
                <a:schemeClr val="tx1"/>
              </a:solidFill>
              <a:latin typeface="楷体_GB2312"/>
              <a:ea typeface="楷体" pitchFamily="49" charset="-122"/>
            </a:endParaRPr>
          </a:p>
        </p:txBody>
      </p:sp>
      <p:sp>
        <p:nvSpPr>
          <p:cNvPr id="1175555" name="Rectangle 3" descr="白色大理石"/>
          <p:cNvSpPr>
            <a:spLocks noChangeArrowheads="1"/>
          </p:cNvSpPr>
          <p:nvPr/>
        </p:nvSpPr>
        <p:spPr bwMode="auto">
          <a:xfrm>
            <a:off x="19812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7620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Line 5"/>
          <p:cNvSpPr>
            <a:spLocks noChangeShapeType="1"/>
          </p:cNvSpPr>
          <p:nvPr/>
        </p:nvSpPr>
        <p:spPr bwMode="auto">
          <a:xfrm>
            <a:off x="16764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58" name="Rectangle 6" descr="白色大理石"/>
          <p:cNvSpPr>
            <a:spLocks noChangeArrowheads="1"/>
          </p:cNvSpPr>
          <p:nvPr/>
        </p:nvSpPr>
        <p:spPr bwMode="auto">
          <a:xfrm>
            <a:off x="38100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83" name="Line 7"/>
          <p:cNvSpPr>
            <a:spLocks noChangeShapeType="1"/>
          </p:cNvSpPr>
          <p:nvPr/>
        </p:nvSpPr>
        <p:spPr bwMode="auto">
          <a:xfrm>
            <a:off x="25908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60" name="Rectangle 8" descr="白色大理石"/>
          <p:cNvSpPr>
            <a:spLocks noChangeArrowheads="1"/>
          </p:cNvSpPr>
          <p:nvPr/>
        </p:nvSpPr>
        <p:spPr bwMode="auto">
          <a:xfrm>
            <a:off x="74676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>
            <a:off x="35052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62" name="Rectangle 10" descr="白色大理石"/>
          <p:cNvSpPr>
            <a:spLocks noChangeArrowheads="1"/>
          </p:cNvSpPr>
          <p:nvPr/>
        </p:nvSpPr>
        <p:spPr bwMode="auto">
          <a:xfrm>
            <a:off x="56388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63" name="Rectangle 11" descr="白色大理石"/>
          <p:cNvSpPr>
            <a:spLocks noChangeArrowheads="1"/>
          </p:cNvSpPr>
          <p:nvPr/>
        </p:nvSpPr>
        <p:spPr bwMode="auto">
          <a:xfrm>
            <a:off x="65532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88" name="Line 12"/>
          <p:cNvSpPr>
            <a:spLocks noChangeShapeType="1"/>
          </p:cNvSpPr>
          <p:nvPr/>
        </p:nvSpPr>
        <p:spPr bwMode="auto">
          <a:xfrm>
            <a:off x="44196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65" name="Rectangle 13" descr="白色大理石"/>
          <p:cNvSpPr>
            <a:spLocks noChangeArrowheads="1"/>
          </p:cNvSpPr>
          <p:nvPr/>
        </p:nvSpPr>
        <p:spPr bwMode="auto">
          <a:xfrm>
            <a:off x="1524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>
            <a:off x="53340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67" name="Rectangle 15" descr="白色大理石"/>
          <p:cNvSpPr>
            <a:spLocks noChangeArrowheads="1"/>
          </p:cNvSpPr>
          <p:nvPr/>
        </p:nvSpPr>
        <p:spPr bwMode="auto">
          <a:xfrm>
            <a:off x="28956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92" name="Line 16"/>
          <p:cNvSpPr>
            <a:spLocks noChangeShapeType="1"/>
          </p:cNvSpPr>
          <p:nvPr/>
        </p:nvSpPr>
        <p:spPr bwMode="auto">
          <a:xfrm>
            <a:off x="62484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69" name="Rectangle 17" descr="白色大理石"/>
          <p:cNvSpPr>
            <a:spLocks noChangeArrowheads="1"/>
          </p:cNvSpPr>
          <p:nvPr/>
        </p:nvSpPr>
        <p:spPr bwMode="auto">
          <a:xfrm>
            <a:off x="47244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94" name="Line 18"/>
          <p:cNvSpPr>
            <a:spLocks noChangeShapeType="1"/>
          </p:cNvSpPr>
          <p:nvPr/>
        </p:nvSpPr>
        <p:spPr bwMode="auto">
          <a:xfrm>
            <a:off x="71628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71" name="Rectangle 19" descr="白色大理石"/>
          <p:cNvSpPr>
            <a:spLocks noChangeArrowheads="1"/>
          </p:cNvSpPr>
          <p:nvPr/>
        </p:nvSpPr>
        <p:spPr bwMode="auto">
          <a:xfrm>
            <a:off x="83820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>
            <a:off x="8077200" y="1512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73" name="Rectangle 21" descr="白色大理石"/>
          <p:cNvSpPr>
            <a:spLocks noChangeArrowheads="1"/>
          </p:cNvSpPr>
          <p:nvPr/>
        </p:nvSpPr>
        <p:spPr bwMode="auto">
          <a:xfrm>
            <a:off x="1066800" y="1284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74" name="Text Box 22"/>
          <p:cNvSpPr txBox="1">
            <a:spLocks noChangeArrowheads="1"/>
          </p:cNvSpPr>
          <p:nvPr/>
        </p:nvSpPr>
        <p:spPr bwMode="auto">
          <a:xfrm>
            <a:off x="76200" y="2117725"/>
            <a:ext cx="5419725" cy="523875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第三趟分配（按最高位 </a:t>
            </a:r>
            <a:r>
              <a:rPr kumimoji="1" lang="en-US" altLang="zh-CN" sz="28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i</a:t>
            </a:r>
            <a:r>
              <a:rPr kumimoji="1" lang="en-US" altLang="zh-CN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 = 1 </a:t>
            </a: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）</a:t>
            </a:r>
          </a:p>
        </p:txBody>
      </p:sp>
      <p:sp>
        <p:nvSpPr>
          <p:cNvPr id="1175575" name="Text Box 23"/>
          <p:cNvSpPr txBox="1">
            <a:spLocks noChangeArrowheads="1"/>
          </p:cNvSpPr>
          <p:nvPr/>
        </p:nvSpPr>
        <p:spPr bwMode="auto">
          <a:xfrm>
            <a:off x="171450" y="2568575"/>
            <a:ext cx="8896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[0]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[3]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[4]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[6]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[8]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re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  <a:ea typeface="仿宋_GB2312" pitchFamily="49" charset="-122"/>
              </a:rPr>
              <a:t>[9]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仿宋_GB2312" pitchFamily="49" charset="-122"/>
            </a:endParaRPr>
          </a:p>
        </p:txBody>
      </p:sp>
      <p:sp>
        <p:nvSpPr>
          <p:cNvPr id="1175576" name="Line 24"/>
          <p:cNvSpPr>
            <a:spLocks noChangeShapeType="1"/>
          </p:cNvSpPr>
          <p:nvPr/>
        </p:nvSpPr>
        <p:spPr bwMode="auto">
          <a:xfrm>
            <a:off x="5334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77" name="Line 25"/>
          <p:cNvSpPr>
            <a:spLocks noChangeShapeType="1"/>
          </p:cNvSpPr>
          <p:nvPr/>
        </p:nvSpPr>
        <p:spPr bwMode="auto">
          <a:xfrm>
            <a:off x="14478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78" name="Line 26"/>
          <p:cNvSpPr>
            <a:spLocks noChangeShapeType="1"/>
          </p:cNvSpPr>
          <p:nvPr/>
        </p:nvSpPr>
        <p:spPr bwMode="auto">
          <a:xfrm>
            <a:off x="23622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79" name="Line 27"/>
          <p:cNvSpPr>
            <a:spLocks noChangeShapeType="1"/>
          </p:cNvSpPr>
          <p:nvPr/>
        </p:nvSpPr>
        <p:spPr bwMode="auto">
          <a:xfrm>
            <a:off x="32004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0" name="Line 28"/>
          <p:cNvSpPr>
            <a:spLocks noChangeShapeType="1"/>
          </p:cNvSpPr>
          <p:nvPr/>
        </p:nvSpPr>
        <p:spPr bwMode="auto">
          <a:xfrm>
            <a:off x="41148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1" name="Line 29"/>
          <p:cNvSpPr>
            <a:spLocks noChangeShapeType="1"/>
          </p:cNvSpPr>
          <p:nvPr/>
        </p:nvSpPr>
        <p:spPr bwMode="auto">
          <a:xfrm>
            <a:off x="50292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2" name="Line 30"/>
          <p:cNvSpPr>
            <a:spLocks noChangeShapeType="1"/>
          </p:cNvSpPr>
          <p:nvPr/>
        </p:nvSpPr>
        <p:spPr bwMode="auto">
          <a:xfrm>
            <a:off x="58674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3" name="Line 31"/>
          <p:cNvSpPr>
            <a:spLocks noChangeShapeType="1"/>
          </p:cNvSpPr>
          <p:nvPr/>
        </p:nvSpPr>
        <p:spPr bwMode="auto">
          <a:xfrm>
            <a:off x="67818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4" name="Line 32"/>
          <p:cNvSpPr>
            <a:spLocks noChangeShapeType="1"/>
          </p:cNvSpPr>
          <p:nvPr/>
        </p:nvSpPr>
        <p:spPr bwMode="auto">
          <a:xfrm>
            <a:off x="76962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5" name="Line 33"/>
          <p:cNvSpPr>
            <a:spLocks noChangeShapeType="1"/>
          </p:cNvSpPr>
          <p:nvPr/>
        </p:nvSpPr>
        <p:spPr bwMode="auto">
          <a:xfrm flipH="1">
            <a:off x="8610600" y="3111500"/>
            <a:ext cx="0" cy="175260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586" name="Rectangle 34" descr="白色大理石"/>
          <p:cNvSpPr>
            <a:spLocks noChangeArrowheads="1"/>
          </p:cNvSpPr>
          <p:nvPr/>
        </p:nvSpPr>
        <p:spPr bwMode="auto">
          <a:xfrm>
            <a:off x="55626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87" name="Rectangle 35" descr="白色大理石"/>
          <p:cNvSpPr>
            <a:spLocks noChangeArrowheads="1"/>
          </p:cNvSpPr>
          <p:nvPr/>
        </p:nvSpPr>
        <p:spPr bwMode="auto">
          <a:xfrm>
            <a:off x="64770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88" name="Rectangle 36" descr="白色大理石"/>
          <p:cNvSpPr>
            <a:spLocks noChangeArrowheads="1"/>
          </p:cNvSpPr>
          <p:nvPr/>
        </p:nvSpPr>
        <p:spPr bwMode="auto">
          <a:xfrm>
            <a:off x="83058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89" name="Rectangle 37" descr="白色大理石"/>
          <p:cNvSpPr>
            <a:spLocks noChangeArrowheads="1"/>
          </p:cNvSpPr>
          <p:nvPr/>
        </p:nvSpPr>
        <p:spPr bwMode="auto">
          <a:xfrm>
            <a:off x="38100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0" name="Rectangle 38" descr="白色大理石"/>
          <p:cNvSpPr>
            <a:spLocks noChangeArrowheads="1"/>
          </p:cNvSpPr>
          <p:nvPr/>
        </p:nvSpPr>
        <p:spPr bwMode="auto">
          <a:xfrm>
            <a:off x="5562600" y="33401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1" name="Rectangle 39" descr="白色大理石"/>
          <p:cNvSpPr>
            <a:spLocks noChangeArrowheads="1"/>
          </p:cNvSpPr>
          <p:nvPr/>
        </p:nvSpPr>
        <p:spPr bwMode="auto">
          <a:xfrm>
            <a:off x="11430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2" name="Rectangle 40" descr="白色大理石"/>
          <p:cNvSpPr>
            <a:spLocks noChangeArrowheads="1"/>
          </p:cNvSpPr>
          <p:nvPr/>
        </p:nvSpPr>
        <p:spPr bwMode="auto">
          <a:xfrm>
            <a:off x="20574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3" name="Rectangle 41" descr="白色大理石"/>
          <p:cNvSpPr>
            <a:spLocks noChangeArrowheads="1"/>
          </p:cNvSpPr>
          <p:nvPr/>
        </p:nvSpPr>
        <p:spPr bwMode="auto">
          <a:xfrm>
            <a:off x="47244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4" name="Rectangle 42" descr="白色大理石"/>
          <p:cNvSpPr>
            <a:spLocks noChangeArrowheads="1"/>
          </p:cNvSpPr>
          <p:nvPr/>
        </p:nvSpPr>
        <p:spPr bwMode="auto">
          <a:xfrm>
            <a:off x="6477000" y="33401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5" name="Rectangle 43" descr="白色大理石"/>
          <p:cNvSpPr>
            <a:spLocks noChangeArrowheads="1"/>
          </p:cNvSpPr>
          <p:nvPr/>
        </p:nvSpPr>
        <p:spPr bwMode="auto">
          <a:xfrm>
            <a:off x="2895600" y="4025900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6" name="Text Box 44"/>
          <p:cNvSpPr txBox="1">
            <a:spLocks noChangeArrowheads="1"/>
          </p:cNvSpPr>
          <p:nvPr/>
        </p:nvSpPr>
        <p:spPr bwMode="auto">
          <a:xfrm>
            <a:off x="136525" y="4854575"/>
            <a:ext cx="8959850" cy="519113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[0]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[1]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[2]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[3]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[4]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[5]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[6]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[7]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[8]   </a:t>
            </a:r>
            <a:r>
              <a:rPr kumimoji="1" lang="en-US" altLang="zh-CN" sz="2800" b="1" i="1">
                <a:solidFill>
                  <a:srgbClr val="FF3300"/>
                </a:solidFill>
                <a:latin typeface="Times New Roman" pitchFamily="18" charset="0"/>
              </a:rPr>
              <a:t>fr</a:t>
            </a:r>
            <a:r>
              <a:rPr kumimoji="1" lang="en-US" altLang="zh-CN" sz="2800" b="1">
                <a:solidFill>
                  <a:srgbClr val="FF3300"/>
                </a:solidFill>
                <a:latin typeface="Times New Roman" pitchFamily="18" charset="0"/>
              </a:rPr>
              <a:t>[9]</a:t>
            </a:r>
            <a:endParaRPr kumimoji="1" lang="en-US" altLang="zh-CN"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7" name="Text Box 45"/>
          <p:cNvSpPr txBox="1">
            <a:spLocks noChangeArrowheads="1"/>
          </p:cNvSpPr>
          <p:nvPr/>
        </p:nvSpPr>
        <p:spPr bwMode="auto">
          <a:xfrm>
            <a:off x="76200" y="5516563"/>
            <a:ext cx="1970088" cy="519112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kumimoji="1"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/>
                <a:ea typeface="楷体" pitchFamily="49" charset="-122"/>
              </a:rPr>
              <a:t>第三趟收集</a:t>
            </a:r>
          </a:p>
        </p:txBody>
      </p:sp>
      <p:sp>
        <p:nvSpPr>
          <p:cNvPr id="1175598" name="Rectangle 46" descr="白色大理石"/>
          <p:cNvSpPr>
            <a:spLocks noChangeArrowheads="1"/>
          </p:cNvSpPr>
          <p:nvPr/>
        </p:nvSpPr>
        <p:spPr bwMode="auto">
          <a:xfrm>
            <a:off x="38100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530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599" name="Line 47"/>
          <p:cNvSpPr>
            <a:spLocks noChangeShapeType="1"/>
          </p:cNvSpPr>
          <p:nvPr/>
        </p:nvSpPr>
        <p:spPr bwMode="auto">
          <a:xfrm>
            <a:off x="7620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00" name="Rectangle 48" descr="白色大理石"/>
          <p:cNvSpPr>
            <a:spLocks noChangeArrowheads="1"/>
          </p:cNvSpPr>
          <p:nvPr/>
        </p:nvSpPr>
        <p:spPr bwMode="auto">
          <a:xfrm>
            <a:off x="74676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790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01" name="Line 49"/>
          <p:cNvSpPr>
            <a:spLocks noChangeShapeType="1"/>
          </p:cNvSpPr>
          <p:nvPr/>
        </p:nvSpPr>
        <p:spPr bwMode="auto">
          <a:xfrm>
            <a:off x="16764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02" name="Rectangle 50" descr="白色大理石"/>
          <p:cNvSpPr>
            <a:spLocks noChangeArrowheads="1"/>
          </p:cNvSpPr>
          <p:nvPr/>
        </p:nvSpPr>
        <p:spPr bwMode="auto">
          <a:xfrm>
            <a:off x="83820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921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03" name="Line 51"/>
          <p:cNvSpPr>
            <a:spLocks noChangeShapeType="1"/>
          </p:cNvSpPr>
          <p:nvPr/>
        </p:nvSpPr>
        <p:spPr bwMode="auto">
          <a:xfrm>
            <a:off x="25908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04" name="Rectangle 52" descr="白色大理石"/>
          <p:cNvSpPr>
            <a:spLocks noChangeArrowheads="1"/>
          </p:cNvSpPr>
          <p:nvPr/>
        </p:nvSpPr>
        <p:spPr bwMode="auto">
          <a:xfrm>
            <a:off x="1524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101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05" name="Line 53"/>
          <p:cNvSpPr>
            <a:spLocks noChangeShapeType="1"/>
          </p:cNvSpPr>
          <p:nvPr/>
        </p:nvSpPr>
        <p:spPr bwMode="auto">
          <a:xfrm>
            <a:off x="35052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06" name="Rectangle 54" descr="白色大理石"/>
          <p:cNvSpPr>
            <a:spLocks noChangeArrowheads="1"/>
          </p:cNvSpPr>
          <p:nvPr/>
        </p:nvSpPr>
        <p:spPr bwMode="auto">
          <a:xfrm>
            <a:off x="47244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614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07" name="Line 55"/>
          <p:cNvSpPr>
            <a:spLocks noChangeShapeType="1"/>
          </p:cNvSpPr>
          <p:nvPr/>
        </p:nvSpPr>
        <p:spPr bwMode="auto">
          <a:xfrm>
            <a:off x="44196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08" name="Rectangle 56" descr="白色大理石"/>
          <p:cNvSpPr>
            <a:spLocks noChangeArrowheads="1"/>
          </p:cNvSpPr>
          <p:nvPr/>
        </p:nvSpPr>
        <p:spPr bwMode="auto">
          <a:xfrm>
            <a:off x="28956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485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09" name="Line 57"/>
          <p:cNvSpPr>
            <a:spLocks noChangeShapeType="1"/>
          </p:cNvSpPr>
          <p:nvPr/>
        </p:nvSpPr>
        <p:spPr bwMode="auto">
          <a:xfrm>
            <a:off x="53340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10" name="Rectangle 58" descr="白色大理石"/>
          <p:cNvSpPr>
            <a:spLocks noChangeArrowheads="1"/>
          </p:cNvSpPr>
          <p:nvPr/>
        </p:nvSpPr>
        <p:spPr bwMode="auto">
          <a:xfrm>
            <a:off x="10668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215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11" name="Line 59"/>
          <p:cNvSpPr>
            <a:spLocks noChangeShapeType="1"/>
          </p:cNvSpPr>
          <p:nvPr/>
        </p:nvSpPr>
        <p:spPr bwMode="auto">
          <a:xfrm>
            <a:off x="62484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12" name="Rectangle 60" descr="白色大理石"/>
          <p:cNvSpPr>
            <a:spLocks noChangeArrowheads="1"/>
          </p:cNvSpPr>
          <p:nvPr/>
        </p:nvSpPr>
        <p:spPr bwMode="auto">
          <a:xfrm>
            <a:off x="19812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306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13" name="Line 61"/>
          <p:cNvSpPr>
            <a:spLocks noChangeShapeType="1"/>
          </p:cNvSpPr>
          <p:nvPr/>
        </p:nvSpPr>
        <p:spPr bwMode="auto">
          <a:xfrm>
            <a:off x="71628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14" name="Rectangle 62" descr="白色大理石"/>
          <p:cNvSpPr>
            <a:spLocks noChangeArrowheads="1"/>
          </p:cNvSpPr>
          <p:nvPr/>
        </p:nvSpPr>
        <p:spPr bwMode="auto">
          <a:xfrm>
            <a:off x="56388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</a:rPr>
              <a:t>637</a:t>
            </a:r>
            <a:endParaRPr kumimoji="1" lang="en-US" altLang="zh-CN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  <p:sp>
        <p:nvSpPr>
          <p:cNvPr id="1175615" name="Line 63"/>
          <p:cNvSpPr>
            <a:spLocks noChangeShapeType="1"/>
          </p:cNvSpPr>
          <p:nvPr/>
        </p:nvSpPr>
        <p:spPr bwMode="auto">
          <a:xfrm>
            <a:off x="8077200" y="6249888"/>
            <a:ext cx="304800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75616" name="Rectangle 64" descr="白色大理石"/>
          <p:cNvSpPr>
            <a:spLocks noChangeArrowheads="1"/>
          </p:cNvSpPr>
          <p:nvPr/>
        </p:nvSpPr>
        <p:spPr bwMode="auto">
          <a:xfrm>
            <a:off x="6553200" y="6021288"/>
            <a:ext cx="609600" cy="45720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0">
            <a:solidFill>
              <a:srgbClr val="80808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kumimoji="1" lang="en-US" altLang="zh-CN" sz="2800" b="1" dirty="0">
                <a:solidFill>
                  <a:schemeClr val="tx1"/>
                </a:solidFill>
                <a:latin typeface="Times New Roman" pitchFamily="18" charset="0"/>
              </a:rPr>
              <a:t>738</a:t>
            </a:r>
            <a:endParaRPr kumimoji="1" lang="en-US" altLang="zh-CN" dirty="0">
              <a:solidFill>
                <a:srgbClr val="FFFFFF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999999"/>
                  </a:outerShdw>
                </a:cont>
                <a:effect ref="fillLine"/>
              </a:effectDag>
              <a:latin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5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5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75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75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7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75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5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5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5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5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75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7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7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5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75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75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75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75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5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75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75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7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75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75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75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75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75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75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75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75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75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75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175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175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175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175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75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75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175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175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175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175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175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175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1175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175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175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175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7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7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17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7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17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17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17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17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117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117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17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17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117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117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117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17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17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17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75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1175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117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117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175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1175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17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117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1175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1175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175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1175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5575" grpId="0"/>
      <p:bldP spid="1175576" grpId="0" animBg="1"/>
      <p:bldP spid="1175577" grpId="0" animBg="1"/>
      <p:bldP spid="1175578" grpId="0" animBg="1"/>
      <p:bldP spid="1175579" grpId="0" animBg="1"/>
      <p:bldP spid="1175580" grpId="0" animBg="1"/>
      <p:bldP spid="1175581" grpId="0" animBg="1"/>
      <p:bldP spid="1175582" grpId="0" animBg="1"/>
      <p:bldP spid="1175583" grpId="0" animBg="1"/>
      <p:bldP spid="1175584" grpId="0" animBg="1"/>
      <p:bldP spid="1175585" grpId="0" animBg="1"/>
      <p:bldP spid="1175586" grpId="0" animBg="1"/>
      <p:bldP spid="1175587" grpId="0" animBg="1"/>
      <p:bldP spid="1175588" grpId="0" animBg="1"/>
      <p:bldP spid="1175589" grpId="0" animBg="1"/>
      <p:bldP spid="1175590" grpId="0" animBg="1"/>
      <p:bldP spid="1175591" grpId="0" animBg="1"/>
      <p:bldP spid="1175592" grpId="0" animBg="1"/>
      <p:bldP spid="1175593" grpId="0" animBg="1"/>
      <p:bldP spid="1175594" grpId="0" animBg="1"/>
      <p:bldP spid="1175595" grpId="0" animBg="1"/>
      <p:bldP spid="1175596" grpId="0"/>
      <p:bldP spid="1175597" grpId="0"/>
      <p:bldP spid="1175598" grpId="0" animBg="1"/>
      <p:bldP spid="1175599" grpId="0" animBg="1"/>
      <p:bldP spid="1175600" grpId="0" animBg="1"/>
      <p:bldP spid="1175601" grpId="0" animBg="1"/>
      <p:bldP spid="1175602" grpId="0" animBg="1"/>
      <p:bldP spid="1175603" grpId="0" animBg="1"/>
      <p:bldP spid="1175604" grpId="0" animBg="1"/>
      <p:bldP spid="1175605" grpId="0" animBg="1"/>
      <p:bldP spid="1175606" grpId="0" animBg="1"/>
      <p:bldP spid="1175607" grpId="0" animBg="1"/>
      <p:bldP spid="1175608" grpId="0" animBg="1"/>
      <p:bldP spid="1175609" grpId="0" animBg="1"/>
      <p:bldP spid="1175610" grpId="0" animBg="1"/>
      <p:bldP spid="1175611" grpId="0" animBg="1"/>
      <p:bldP spid="1175612" grpId="0" animBg="1"/>
      <p:bldP spid="1175613" grpId="0" animBg="1"/>
      <p:bldP spid="1175614" grpId="0" animBg="1"/>
      <p:bldP spid="1175615" grpId="0" animBg="1"/>
      <p:bldP spid="1175616" grpId="0" animBg="1"/>
    </p:bldLst>
  </p:timing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13717</TotalTime>
  <Words>1989</Words>
  <Application>Microsoft Office PowerPoint</Application>
  <PresentationFormat>全屏显示(4:3)</PresentationFormat>
  <Paragraphs>269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仿宋_GB2312</vt:lpstr>
      <vt:lpstr>黑体</vt:lpstr>
      <vt:lpstr>楷体</vt:lpstr>
      <vt:lpstr>楷体_GB2312</vt:lpstr>
      <vt:lpstr>宋体</vt:lpstr>
      <vt:lpstr>Arial</vt:lpstr>
      <vt:lpstr>Calibri</vt:lpstr>
      <vt:lpstr>Courier New</vt:lpstr>
      <vt:lpstr>Symbol</vt:lpstr>
      <vt:lpstr>Times New Roman</vt:lpstr>
      <vt:lpstr>Wingdings</vt:lpstr>
      <vt:lpstr>主题1</vt:lpstr>
      <vt:lpstr>Introduction to Computational Thinking Chapter 9: Computer Science Unplugged</vt:lpstr>
      <vt:lpstr>Chapter 9: Computer Science Unplugged 不插电的计算机科学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Huffman压缩的伪代码描述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程序设计语言</dc:title>
  <dc:creator>unio</dc:creator>
  <cp:lastModifiedBy>Rui Mao</cp:lastModifiedBy>
  <cp:revision>764</cp:revision>
  <dcterms:created xsi:type="dcterms:W3CDTF">2012-10-26T12:18:38Z</dcterms:created>
  <dcterms:modified xsi:type="dcterms:W3CDTF">2023-10-18T04:36:46Z</dcterms:modified>
</cp:coreProperties>
</file>