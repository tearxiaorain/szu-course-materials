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1588" r:id="rId3"/>
    <p:sldId id="1580" r:id="rId4"/>
    <p:sldId id="1272" r:id="rId5"/>
    <p:sldId id="1581" r:id="rId6"/>
    <p:sldId id="1541" r:id="rId7"/>
    <p:sldId id="1559" r:id="rId8"/>
    <p:sldId id="1583" r:id="rId9"/>
    <p:sldId id="1585" r:id="rId10"/>
    <p:sldId id="1560" r:id="rId11"/>
    <p:sldId id="1586" r:id="rId12"/>
    <p:sldId id="158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A9D6"/>
    <a:srgbClr val="E7429D"/>
    <a:srgbClr val="898C8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howGuides="1">
      <p:cViewPr>
        <p:scale>
          <a:sx n="75" d="100"/>
          <a:sy n="75" d="100"/>
        </p:scale>
        <p:origin x="642" y="162"/>
      </p:cViewPr>
      <p:guideLst>
        <p:guide orient="horz" pos="2024"/>
        <p:guide pos="387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Tahoma" panose="020B0604030504040204" pitchFamily="34" charset="0"/>
                <a:ea typeface="宋体" panose="02010600030101010101" pitchFamily="2" charset="-122"/>
                <a:cs typeface="+mn-cs"/>
              </a:rPr>
            </a:fld>
            <a:endParaRPr lang="zh-CN" altLang="en-US" strike="noStrike" noProof="1"/>
          </a:p>
        </p:txBody>
      </p:sp>
      <p:sp>
        <p:nvSpPr>
          <p:cNvPr id="4100"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4101"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Tahoma" panose="020B060403050404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x】空白模板">
    <p:spTree>
      <p:nvGrpSpPr>
        <p:cNvPr id="1" name=""/>
        <p:cNvGrpSpPr/>
        <p:nvPr/>
      </p:nvGrpSpPr>
      <p:grpSpPr>
        <a:xfrm>
          <a:off x="0" y="0"/>
          <a:ext cx="0" cy="0"/>
          <a:chOff x="0" y="0"/>
          <a:chExt cx="0" cy="0"/>
        </a:xfrm>
      </p:grpSpPr>
      <p:sp>
        <p:nvSpPr>
          <p:cNvPr id="4" name="日期占位符 3" hidden="1"/>
          <p:cNvSpPr>
            <a:spLocks noGrp="1"/>
          </p:cNvSpPr>
          <p:nvPr>
            <p:ph type="dt" sz="half" idx="10"/>
          </p:nvPr>
        </p:nvSpPr>
        <p:spPr>
          <a:xfrm>
            <a:off x="609600" y="6356351"/>
            <a:ext cx="2844800" cy="365125"/>
          </a:xfrm>
          <a:prstGeom prst="rect">
            <a:avLst/>
          </a:prstGeom>
        </p:spPr>
        <p:txBody>
          <a:bodyPr vert="horz" lIns="91440" tIns="45720" rIns="91440" bIns="45720" rtlCol="0" anchor="ctr"/>
          <a:lstStyle/>
          <a:p>
            <a:pPr>
              <a:defRPr/>
            </a:pPr>
            <a:endParaRPr lang="en-US" altLang="zh-CN" sz="1200">
              <a:solidFill>
                <a:schemeClr val="tx1">
                  <a:tint val="75000"/>
                </a:schemeClr>
              </a:solidFill>
            </a:endParaRPr>
          </a:p>
        </p:txBody>
      </p:sp>
      <p:sp>
        <p:nvSpPr>
          <p:cNvPr id="6" name="Slide Number Placeholder 5"/>
          <p:cNvSpPr>
            <a:spLocks noGrp="1"/>
          </p:cNvSpPr>
          <p:nvPr>
            <p:ph type="sldNum" sz="quarter" idx="4"/>
          </p:nvPr>
        </p:nvSpPr>
        <p:spPr>
          <a:xfrm>
            <a:off x="8969424" y="6575583"/>
            <a:ext cx="2743200" cy="282417"/>
          </a:xfrm>
          <a:prstGeom prst="rect">
            <a:avLst/>
          </a:prstGeom>
        </p:spPr>
        <p:txBody>
          <a:bodyPr vert="horz" lIns="91440" tIns="45720" rIns="91440" bIns="45720" rtlCol="0" anchor="ctr"/>
          <a:lstStyle>
            <a:lvl1pPr algn="r">
              <a:defRPr sz="1200" b="1">
                <a:solidFill>
                  <a:schemeClr val="tx1">
                    <a:tint val="75000"/>
                  </a:schemeClr>
                </a:solidFill>
                <a:latin typeface="Tahoma" panose="020B0604030504040204" pitchFamily="34" charset="0"/>
                <a:cs typeface="Tahoma" panose="020B0604030504040204" pitchFamily="34" charset="0"/>
              </a:defRPr>
            </a:lvl1pPr>
          </a:lstStyle>
          <a:p>
            <a:fld id="{9A0DB2DC-4C9A-4742-B13C-FB6460FD3503}" type="slidenum">
              <a:rPr lang="en-US" altLang="zh-CN" noProof="1" smtClean="0">
                <a:ea typeface="Tahoma" panose="020B0604030504040204" pitchFamily="34" charset="0"/>
              </a:rPr>
            </a:fld>
            <a:endParaRPr lang="en-US" altLang="zh-CN" noProof="1">
              <a:ea typeface="Tahoma"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870450"/>
          </a:xfrm>
          <a:prstGeom prst="rect">
            <a:avLst/>
          </a:prstGeom>
        </p:spPr>
      </p:pic>
      <p:sp>
        <p:nvSpPr>
          <p:cNvPr id="3075" name="矩形 1"/>
          <p:cNvSpPr>
            <a:spLocks noChangeArrowheads="1"/>
          </p:cNvSpPr>
          <p:nvPr userDrawn="1"/>
        </p:nvSpPr>
        <p:spPr bwMode="auto">
          <a:xfrm>
            <a:off x="0" y="4871720"/>
            <a:ext cx="12192000" cy="824865"/>
          </a:xfrm>
          <a:prstGeom prst="rect">
            <a:avLst/>
          </a:prstGeom>
          <a:solidFill>
            <a:schemeClr val="tx2">
              <a:lumMod val="75000"/>
            </a:schemeClr>
          </a:solidFill>
          <a:ln w="9525" cmpd="sng">
            <a:noFill/>
            <a:bevel/>
          </a:ln>
        </p:spPr>
        <p:txBody>
          <a:bodyPr lIns="121920" tIns="60960" rIns="121920" bIns="60960" anchor="ctr" anchorCtr="0"/>
          <a:lstStyle/>
          <a:p>
            <a:pPr algn="ctr"/>
            <a:endParaRPr lang="en-US" altLang="zh-CN" sz="3600">
              <a:solidFill>
                <a:srgbClr val="FFFF00"/>
              </a:solidFill>
              <a:latin typeface="Copperplate Gothic Bold" panose="020E0705020206020404" charset="0"/>
              <a:ea typeface="微软雅黑" panose="020B0503020204020204" pitchFamily="34" charset="-122"/>
              <a:sym typeface="Copperplate Gothic Bold" panose="020E0705020206020404" charset="0"/>
            </a:endParaRPr>
          </a:p>
        </p:txBody>
      </p:sp>
      <p:grpSp>
        <p:nvGrpSpPr>
          <p:cNvPr id="4" name="组合 3"/>
          <p:cNvGrpSpPr/>
          <p:nvPr userDrawn="1"/>
        </p:nvGrpSpPr>
        <p:grpSpPr>
          <a:xfrm>
            <a:off x="875030" y="5822315"/>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pitchFamily="34" charset="0"/>
                  <a:ea typeface="宋体" panose="02010600030101010101" pitchFamily="2" charset="-122"/>
                </a:rPr>
                <a:t>主讲白鉴聪</a:t>
              </a:r>
              <a:endParaRPr lang="zh-CN" altLang="en-US" sz="2000" dirty="0">
                <a:latin typeface="Tahoma" panose="020B0604030504040204" pitchFamily="34" charset="0"/>
                <a:ea typeface="宋体" panose="02010600030101010101" pitchFamily="2" charset="-122"/>
              </a:endParaRPr>
            </a:p>
          </p:txBody>
        </p:sp>
      </p:grpSp>
    </p:spTree>
  </p:cSld>
  <p:clrMapOvr>
    <a:masterClrMapping/>
  </p:clrMapOvr>
  <p:hf hdr="0" ftr="0" dt="0"/>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计软logo透明"/>
          <p:cNvPicPr>
            <a:picLocks noChangeAspect="1"/>
          </p:cNvPicPr>
          <p:nvPr userDrawn="1"/>
        </p:nvPicPr>
        <p:blipFill rotWithShape="1">
          <a:blip r:embed="rId3"/>
          <a:srcRect r="42196" b="44470"/>
          <a:stretch>
            <a:fillRect/>
          </a:stretch>
        </p:blipFill>
        <p:spPr>
          <a:xfrm>
            <a:off x="9336360" y="4164966"/>
            <a:ext cx="2904324" cy="2720419"/>
          </a:xfrm>
          <a:prstGeom prst="rect">
            <a:avLst/>
          </a:prstGeom>
        </p:spPr>
      </p:pic>
      <p:sp>
        <p:nvSpPr>
          <p:cNvPr id="2" name="Title Placeholder 1"/>
          <p:cNvSpPr>
            <a:spLocks noGrp="1"/>
          </p:cNvSpPr>
          <p:nvPr>
            <p:ph type="title"/>
          </p:nvPr>
        </p:nvSpPr>
        <p:spPr>
          <a:xfrm>
            <a:off x="570230" y="565150"/>
            <a:ext cx="10515600" cy="96075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46405" y="152590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6" name="Slide Number Placeholder 5"/>
          <p:cNvSpPr>
            <a:spLocks noGrp="1"/>
          </p:cNvSpPr>
          <p:nvPr>
            <p:ph type="sldNum" sz="quarter" idx="4"/>
          </p:nvPr>
        </p:nvSpPr>
        <p:spPr>
          <a:xfrm>
            <a:off x="8969424" y="6575583"/>
            <a:ext cx="2743200" cy="282417"/>
          </a:xfrm>
          <a:prstGeom prst="rect">
            <a:avLst/>
          </a:prstGeom>
        </p:spPr>
        <p:txBody>
          <a:bodyPr vert="horz" lIns="91440" tIns="45720" rIns="91440" bIns="45720" rtlCol="0" anchor="ctr"/>
          <a:lstStyle>
            <a:lvl1pPr algn="r">
              <a:defRPr sz="1200" b="1">
                <a:solidFill>
                  <a:schemeClr val="tx1">
                    <a:tint val="75000"/>
                  </a:schemeClr>
                </a:solidFill>
                <a:latin typeface="Tahoma" panose="020B0604030504040204" pitchFamily="34" charset="0"/>
                <a:cs typeface="Tahoma" panose="020B0604030504040204" pitchFamily="34" charset="0"/>
              </a:defRPr>
            </a:lvl1pPr>
          </a:lstStyle>
          <a:p>
            <a:fld id="{9A0DB2DC-4C9A-4742-B13C-FB6460FD3503}" type="slidenum">
              <a:rPr lang="en-US" altLang="zh-CN" noProof="1" smtClean="0">
                <a:ea typeface="Tahoma" panose="020B0604030504040204" pitchFamily="34" charset="0"/>
              </a:rPr>
            </a:fld>
            <a:endParaRPr lang="en-US" altLang="zh-CN" noProof="1">
              <a:ea typeface="Tahoma" panose="020B0604030504040204" pitchFamily="34" charset="0"/>
            </a:endParaRPr>
          </a:p>
        </p:txBody>
      </p:sp>
      <p:sp>
        <p:nvSpPr>
          <p:cNvPr id="8" name="直接连接符 40"/>
          <p:cNvSpPr/>
          <p:nvPr userDrawn="1"/>
        </p:nvSpPr>
        <p:spPr>
          <a:xfrm>
            <a:off x="8033967" y="6539338"/>
            <a:ext cx="4173644" cy="24674"/>
          </a:xfrm>
          <a:prstGeom prst="line">
            <a:avLst/>
          </a:prstGeom>
          <a:ln w="19050" cap="flat" cmpd="sng">
            <a:solidFill>
              <a:srgbClr val="28A9D6"/>
            </a:solidFill>
            <a:prstDash val="solid"/>
            <a:bevel/>
            <a:headEnd type="none" w="med" len="med"/>
            <a:tailEnd type="none" w="med" len="med"/>
          </a:ln>
        </p:spPr>
      </p:sp>
      <p:sp>
        <p:nvSpPr>
          <p:cNvPr id="9" name="文本框 42"/>
          <p:cNvSpPr/>
          <p:nvPr userDrawn="1"/>
        </p:nvSpPr>
        <p:spPr>
          <a:xfrm>
            <a:off x="5087888" y="6395622"/>
            <a:ext cx="2819295" cy="261610"/>
          </a:xfrm>
          <a:prstGeom prst="rect">
            <a:avLst/>
          </a:prstGeom>
          <a:noFill/>
          <a:ln w="9525">
            <a:noFill/>
          </a:ln>
        </p:spPr>
        <p:txBody>
          <a:bodyPr wrap="square" anchor="t">
            <a:spAutoFit/>
          </a:bodyPr>
          <a:lstStyle/>
          <a:p>
            <a:pPr lvl="0" algn="dist"/>
            <a:r>
              <a:rPr lang="zh-CN" altLang="en-US" sz="1100" dirty="0">
                <a:solidFill>
                  <a:srgbClr val="3F3F3F"/>
                </a:solidFill>
                <a:latin typeface="Times New Roman" panose="02020603050405020304" charset="0"/>
                <a:ea typeface="微软雅黑" panose="020B0503020204020204" pitchFamily="34" charset="-122"/>
                <a:sym typeface="Times New Roman" panose="02020603050405020304" charset="0"/>
              </a:rPr>
              <a:t>深圳大学计算机与软件学院</a:t>
            </a:r>
            <a:endParaRPr lang="zh-CN" altLang="en-US" sz="1100" dirty="0">
              <a:solidFill>
                <a:srgbClr val="3F3F3F"/>
              </a:solidFill>
              <a:latin typeface="Times New Roman" panose="02020603050405020304" charset="0"/>
              <a:ea typeface="微软雅黑" panose="020B0503020204020204" pitchFamily="34" charset="-122"/>
              <a:sym typeface="Times New Roman" panose="02020603050405020304" charset="0"/>
            </a:endParaRPr>
          </a:p>
        </p:txBody>
      </p:sp>
      <p:sp>
        <p:nvSpPr>
          <p:cNvPr id="10" name="直接连接符 40"/>
          <p:cNvSpPr/>
          <p:nvPr userDrawn="1"/>
        </p:nvSpPr>
        <p:spPr>
          <a:xfrm>
            <a:off x="-48684" y="6526427"/>
            <a:ext cx="4222751" cy="9311"/>
          </a:xfrm>
          <a:prstGeom prst="line">
            <a:avLst/>
          </a:prstGeom>
          <a:ln w="19050" cap="flat" cmpd="sng">
            <a:solidFill>
              <a:srgbClr val="28A9D6"/>
            </a:solidFill>
            <a:prstDash val="solid"/>
            <a:bevel/>
            <a:headEnd type="none" w="med" len="med"/>
            <a:tailEnd type="none" w="med" len="med"/>
          </a:ln>
        </p:spPr>
      </p:sp>
      <p:pic>
        <p:nvPicPr>
          <p:cNvPr id="11" name="图片 10" descr="图片1"/>
          <p:cNvPicPr>
            <a:picLocks noChangeAspect="1"/>
          </p:cNvPicPr>
          <p:nvPr userDrawn="1"/>
        </p:nvPicPr>
        <p:blipFill>
          <a:blip r:embed="rId4"/>
          <a:stretch>
            <a:fillRect/>
          </a:stretch>
        </p:blipFill>
        <p:spPr>
          <a:xfrm>
            <a:off x="4265702" y="6237312"/>
            <a:ext cx="894194" cy="582612"/>
          </a:xfrm>
          <a:prstGeom prst="rect">
            <a:avLst/>
          </a:prstGeom>
          <a:noFill/>
          <a:ln w="9525">
            <a:noFill/>
          </a:ln>
        </p:spPr>
      </p:pic>
      <p:pic>
        <p:nvPicPr>
          <p:cNvPr id="12" name="图片 11" descr="计软logo透明"/>
          <p:cNvPicPr>
            <a:picLocks noChangeAspect="1"/>
          </p:cNvPicPr>
          <p:nvPr userDrawn="1"/>
        </p:nvPicPr>
        <p:blipFill rotWithShape="1">
          <a:blip r:embed="rId3"/>
          <a:srcRect l="42705" t="43446"/>
          <a:stretch>
            <a:fillRect/>
          </a:stretch>
        </p:blipFill>
        <p:spPr>
          <a:xfrm>
            <a:off x="-48682" y="-27384"/>
            <a:ext cx="2842684" cy="2770584"/>
          </a:xfrm>
          <a:prstGeom prst="rect">
            <a:avLst/>
          </a:prstGeom>
        </p:spPr>
      </p:pic>
      <p:sp>
        <p:nvSpPr>
          <p:cNvPr id="13" name="任意多边形 28"/>
          <p:cNvSpPr/>
          <p:nvPr userDrawn="1"/>
        </p:nvSpPr>
        <p:spPr>
          <a:xfrm flipV="1">
            <a:off x="232834" y="979489"/>
            <a:ext cx="2561167" cy="433387"/>
          </a:xfrm>
          <a:custGeom>
            <a:avLst/>
            <a:gdLst/>
            <a:ahLst/>
            <a:cxnLst>
              <a:cxn ang="0">
                <a:pos x="232454" y="433387"/>
              </a:cxn>
              <a:cxn ang="0">
                <a:pos x="233873" y="433387"/>
              </a:cxn>
              <a:cxn ang="0">
                <a:pos x="233873" y="12052"/>
              </a:cxn>
              <a:cxn ang="0">
                <a:pos x="1920875" y="12052"/>
              </a:cxn>
              <a:cxn ang="0">
                <a:pos x="1920875" y="0"/>
              </a:cxn>
              <a:cxn ang="0">
                <a:pos x="232454" y="0"/>
              </a:cxn>
              <a:cxn ang="0">
                <a:pos x="211922" y="0"/>
              </a:cxn>
              <a:cxn ang="0">
                <a:pos x="211922" y="418796"/>
              </a:cxn>
              <a:cxn ang="0">
                <a:pos x="148596" y="418796"/>
              </a:cxn>
              <a:cxn ang="0">
                <a:pos x="148596" y="0"/>
              </a:cxn>
              <a:cxn ang="0">
                <a:pos x="0" y="0"/>
              </a:cxn>
              <a:cxn ang="0">
                <a:pos x="0" y="433386"/>
              </a:cxn>
              <a:cxn ang="0">
                <a:pos x="46864" y="433386"/>
              </a:cxn>
              <a:cxn ang="0">
                <a:pos x="46864" y="19658"/>
              </a:cxn>
              <a:cxn ang="0">
                <a:pos x="110191" y="19658"/>
              </a:cxn>
              <a:cxn ang="0">
                <a:pos x="110191" y="433386"/>
              </a:cxn>
              <a:cxn ang="0">
                <a:pos x="232454" y="433386"/>
              </a:cxn>
              <a:cxn ang="0">
                <a:pos x="232454" y="433387"/>
              </a:cxn>
            </a:cxnLst>
            <a:rect l="0" t="0" r="0" b="0"/>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lnTo>
                  <a:pt x="167822" y="524933"/>
                </a:lnTo>
                <a:close/>
              </a:path>
            </a:pathLst>
          </a:custGeom>
          <a:solidFill>
            <a:srgbClr val="28A9D6"/>
          </a:solidFill>
          <a:ln w="25400">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000" kern="1200">
          <a:solidFill>
            <a:schemeClr val="tx1"/>
          </a:solidFill>
          <a:latin typeface="黑体" panose="02010609060101010101" charset="-122"/>
          <a:ea typeface="黑体" panose="0201060906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900045" y="4912360"/>
            <a:ext cx="7026275" cy="815340"/>
          </a:xfrm>
          <a:prstGeom prst="rect">
            <a:avLst/>
          </a:prstGeom>
        </p:spPr>
        <p:txBody>
          <a:bodyPr vert="horz" lIns="91440" tIns="45720" rIns="91440" bIns="45720" rtlCol="0" anchor="ctr" anchorCtr="0">
            <a:noAutofit/>
          </a:bodyPr>
          <a:p>
            <a:pPr marL="0" lvl="0" indent="0" algn="ctr">
              <a:lnSpc>
                <a:spcPct val="90000"/>
              </a:lnSpc>
              <a:spcBef>
                <a:spcPts val="1000"/>
              </a:spcBef>
              <a:buClr>
                <a:schemeClr val="accent2"/>
              </a:buClr>
              <a:buFont typeface="Wingdings" panose="05000000000000000000" pitchFamily="2" charset="2"/>
              <a:buNone/>
            </a:pPr>
            <a:r>
              <a:rPr lang="zh-CN" altLang="en-US" sz="4000" b="1">
                <a:solidFill>
                  <a:srgbClr val="FFFF00"/>
                </a:solidFill>
                <a:sym typeface="+mn-ea"/>
              </a:rPr>
              <a:t>在线判题系统操作说明</a:t>
            </a:r>
            <a:r>
              <a:rPr lang="en-US" altLang="zh-CN" sz="4000" b="1">
                <a:solidFill>
                  <a:srgbClr val="FFFF00"/>
                </a:solidFill>
                <a:sym typeface="+mn-ea"/>
              </a:rPr>
              <a:t>--</a:t>
            </a:r>
            <a:r>
              <a:rPr lang="zh-CN" altLang="en-US" sz="4000" b="1">
                <a:solidFill>
                  <a:srgbClr val="FFFF00"/>
                </a:solidFill>
                <a:sym typeface="+mn-ea"/>
              </a:rPr>
              <a:t>学生</a:t>
            </a:r>
            <a:endParaRPr lang="zh-CN" altLang="en-US" sz="4000" b="1">
              <a:solidFill>
                <a:srgbClr val="FFFF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zh-CN" altLang="en-US" noProof="0" dirty="0" smtClean="0">
                <a:ln>
                  <a:noFill/>
                </a:ln>
                <a:effectLst/>
                <a:uLnTx/>
                <a:uFillTx/>
                <a:sym typeface="+mn-ea"/>
              </a:rPr>
              <a:t>在线判题系统概述</a:t>
            </a:r>
            <a:endParaRPr lang="zh-CN" altLang="en-US" noProof="0" dirty="0" smtClean="0">
              <a:ln>
                <a:noFill/>
              </a:ln>
              <a:effectLst/>
              <a:uLnTx/>
              <a:uFillTx/>
              <a:sym typeface="+mn-ea"/>
            </a:endParaRPr>
          </a:p>
        </p:txBody>
      </p:sp>
      <p:sp>
        <p:nvSpPr>
          <p:cNvPr id="9218" name="内容占位符 2"/>
          <p:cNvSpPr>
            <a:spLocks noGrp="1"/>
          </p:cNvSpPr>
          <p:nvPr>
            <p:ph idx="1"/>
          </p:nvPr>
        </p:nvSpPr>
        <p:spPr>
          <a:xfrm>
            <a:off x="396240" y="1515110"/>
            <a:ext cx="11418570" cy="4960620"/>
          </a:xfrm>
        </p:spPr>
        <p:txBody>
          <a:bodyPr anchor="t">
            <a:noAutofit/>
          </a:bodyPr>
          <a:p>
            <a:pPr marL="0" lvl="1" algn="l" fontAlgn="auto">
              <a:lnSpc>
                <a:spcPct val="100000"/>
              </a:lnSpc>
              <a:spcBef>
                <a:spcPts val="0"/>
              </a:spcBef>
              <a:buClrTx/>
              <a:buSzTx/>
              <a:buChar char="•"/>
            </a:pPr>
            <a:r>
              <a:rPr lang="zh-CN" altLang="en-US" dirty="0">
                <a:latin typeface="黑体" panose="02010609060101010101" charset="-122"/>
                <a:ea typeface="黑体" panose="02010609060101010101" charset="-122"/>
                <a:cs typeface="黑体" panose="02010609060101010101" charset="-122"/>
                <a:sym typeface="宋体" panose="02010600030101010101" pitchFamily="2" charset="-122"/>
              </a:rPr>
              <a:t>在线判题系统（Online-Judge System，简称OJ系统）是一种自动判断计算机程序执行结果正确性的网上系统，往往用于计算机实践教学。</a:t>
            </a:r>
            <a:endParaRPr lang="zh-CN" altLang="en-US" sz="2400" kern="1200" dirty="0">
              <a:latin typeface="黑体" panose="02010609060101010101" charset="-122"/>
              <a:ea typeface="黑体" panose="02010609060101010101" charset="-122"/>
              <a:cs typeface="黑体" panose="02010609060101010101" charset="-122"/>
            </a:endParaRPr>
          </a:p>
          <a:p>
            <a:pPr lvl="1" algn="l" fontAlgn="auto">
              <a:lnSpc>
                <a:spcPct val="100000"/>
              </a:lnSpc>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黑体" panose="02010609060101010101" charset="-122"/>
                <a:sym typeface="宋体" panose="02010600030101010101" pitchFamily="2" charset="-122"/>
              </a:rPr>
              <a:t>统一组织的在线编程，所有考生使用标准化编程界面和考试界面</a:t>
            </a:r>
            <a:endParaRPr lang="zh-CN" altLang="en-US" dirty="0">
              <a:latin typeface="宋体" panose="02010600030101010101" pitchFamily="2" charset="-122"/>
              <a:ea typeface="宋体" panose="02010600030101010101" pitchFamily="2" charset="-122"/>
              <a:cs typeface="黑体" panose="02010609060101010101" charset="-122"/>
              <a:sym typeface="宋体" panose="02010600030101010101" pitchFamily="2" charset="-122"/>
            </a:endParaRPr>
          </a:p>
          <a:p>
            <a:pPr lvl="1" algn="l" fontAlgn="auto">
              <a:lnSpc>
                <a:spcPct val="100000"/>
              </a:lnSpc>
              <a:spcBef>
                <a:spcPts val="600"/>
              </a:spcBef>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黑体" panose="02010609060101010101" charset="-122"/>
                <a:sym typeface="宋体" panose="02010600030101010101" pitchFamily="2" charset="-122"/>
              </a:rPr>
              <a:t>系统自动评测，客观地评判考生的算法设计与程序设计实现能力</a:t>
            </a:r>
            <a:endParaRPr lang="zh-CN" altLang="en-US" kern="1200" dirty="0">
              <a:latin typeface="宋体" panose="02010600030101010101" pitchFamily="2" charset="-122"/>
              <a:ea typeface="宋体" panose="02010600030101010101" pitchFamily="2" charset="-122"/>
              <a:cs typeface="+mn-cs"/>
              <a:sym typeface="宋体" panose="02010600030101010101" pitchFamily="2" charset="-122"/>
            </a:endParaRPr>
          </a:p>
          <a:p>
            <a:pPr lvl="1" algn="l" fontAlgn="auto">
              <a:lnSpc>
                <a:spcPct val="100000"/>
              </a:lnSpc>
              <a:spcBef>
                <a:spcPts val="600"/>
              </a:spcBef>
              <a:buClrTx/>
              <a:buSzTx/>
            </a:pPr>
            <a:r>
              <a:rPr lang="zh-CN" altLang="en-US" dirty="0">
                <a:latin typeface="宋体" panose="02010600030101010101" pitchFamily="2" charset="-122"/>
                <a:ea typeface="宋体" panose="02010600030101010101" pitchFamily="2" charset="-122"/>
                <a:sym typeface="宋体" panose="02010600030101010101" pitchFamily="2" charset="-122"/>
              </a:rPr>
              <a:t>重复提交，每道题学生可以重复提交多次</a:t>
            </a:r>
            <a:endParaRPr lang="zh-CN" altLang="en-US" dirty="0">
              <a:latin typeface="宋体" panose="02010600030101010101" pitchFamily="2" charset="-122"/>
              <a:ea typeface="宋体" panose="02010600030101010101" pitchFamily="2" charset="-122"/>
              <a:sym typeface="宋体" panose="02010600030101010101" pitchFamily="2" charset="-122"/>
            </a:endParaRPr>
          </a:p>
          <a:p>
            <a:pPr lvl="1" algn="l" fontAlgn="auto">
              <a:lnSpc>
                <a:spcPct val="100000"/>
              </a:lnSpc>
              <a:spcBef>
                <a:spcPts val="600"/>
              </a:spcBef>
              <a:buClrTx/>
              <a:buSzTx/>
            </a:pPr>
            <a:r>
              <a:rPr lang="zh-CN" altLang="en-US" dirty="0">
                <a:latin typeface="宋体" panose="02010600030101010101" pitchFamily="2" charset="-122"/>
                <a:ea typeface="宋体" panose="02010600030101010101" pitchFamily="2" charset="-122"/>
                <a:sym typeface="宋体" panose="02010600030101010101" pitchFamily="2" charset="-122"/>
              </a:rPr>
              <a:t>实时评测，每次提交结果由系统自动评测，实时反馈判断结果</a:t>
            </a:r>
            <a:endParaRPr lang="zh-CN" altLang="en-US" dirty="0">
              <a:latin typeface="宋体" panose="02010600030101010101" pitchFamily="2" charset="-122"/>
              <a:ea typeface="宋体" panose="02010600030101010101" pitchFamily="2" charset="-122"/>
              <a:sym typeface="宋体" panose="02010600030101010101" pitchFamily="2" charset="-122"/>
            </a:endParaRPr>
          </a:p>
          <a:p>
            <a:pPr lvl="1" algn="l" fontAlgn="auto">
              <a:lnSpc>
                <a:spcPct val="100000"/>
              </a:lnSpc>
              <a:spcBef>
                <a:spcPts val="600"/>
              </a:spcBef>
              <a:buClrTx/>
              <a:buSzTx/>
            </a:pPr>
            <a:endParaRPr lang="zh-CN" altLang="en-US" kern="1200" dirty="0">
              <a:latin typeface="宋体" panose="02010600030101010101" pitchFamily="2" charset="-122"/>
              <a:ea typeface="宋体" panose="02010600030101010101" pitchFamily="2" charset="-122"/>
              <a:cs typeface="+mn-cs"/>
            </a:endParaRPr>
          </a:p>
          <a:p>
            <a:pPr marL="0" lvl="1" algn="l" fontAlgn="auto">
              <a:lnSpc>
                <a:spcPct val="100000"/>
              </a:lnSpc>
              <a:spcBef>
                <a:spcPts val="600"/>
              </a:spcBef>
              <a:buClrTx/>
              <a:buSzTx/>
              <a:buChar char="•"/>
            </a:pPr>
            <a:r>
              <a:rPr lang="zh-CN" altLang="en-US" dirty="0">
                <a:latin typeface="黑体" panose="02010609060101010101" charset="-122"/>
                <a:ea typeface="黑体" panose="02010609060101010101" charset="-122"/>
                <a:cs typeface="黑体" panose="02010609060101010101" charset="-122"/>
                <a:sym typeface="宋体" panose="02010600030101010101" pitchFamily="2" charset="-122"/>
              </a:rPr>
              <a:t>建议在谷歌浏览器上访问本系统</a:t>
            </a:r>
            <a:endParaRPr lang="zh-CN" altLang="en-US" sz="2400" u="sng" dirty="0">
              <a:solidFill>
                <a:srgbClr val="FF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1.</a:t>
            </a:r>
            <a:r>
              <a:rPr lang="zh-CN" altLang="en-US" noProof="0" dirty="0" smtClean="0">
                <a:ln>
                  <a:noFill/>
                </a:ln>
                <a:effectLst/>
                <a:uLnTx/>
                <a:uFillTx/>
                <a:sym typeface="+mn-ea"/>
              </a:rPr>
              <a:t>系统登录与资料修改</a:t>
            </a:r>
            <a:endParaRPr lang="zh-CN" altLang="en-US" noProof="0" dirty="0" smtClean="0">
              <a:ln>
                <a:noFill/>
              </a:ln>
              <a:effectLst/>
              <a:uLnTx/>
              <a:uFillTx/>
              <a:sym typeface="+mn-ea"/>
            </a:endParaRPr>
          </a:p>
        </p:txBody>
      </p:sp>
      <p:sp>
        <p:nvSpPr>
          <p:cNvPr id="9218" name="内容占位符 2"/>
          <p:cNvSpPr>
            <a:spLocks noGrp="1"/>
          </p:cNvSpPr>
          <p:nvPr>
            <p:ph idx="1"/>
          </p:nvPr>
        </p:nvSpPr>
        <p:spPr>
          <a:xfrm>
            <a:off x="396240" y="1515110"/>
            <a:ext cx="8498205" cy="4267200"/>
          </a:xfrm>
        </p:spPr>
        <p:txBody>
          <a:bodyPr anchor="t">
            <a:noAutofit/>
          </a:bodyPr>
          <a:p>
            <a:pPr marL="0" lvl="1" algn="l" fontAlgn="auto">
              <a:lnSpc>
                <a:spcPct val="100000"/>
              </a:lnSpc>
              <a:spcBef>
                <a:spcPts val="0"/>
              </a:spcBef>
              <a:buClrTx/>
              <a:buSzTx/>
              <a:buChar char="•"/>
            </a:pPr>
            <a:r>
              <a:rPr lang="zh-CN" altLang="en-US" kern="1200" dirty="0">
                <a:latin typeface="宋体" panose="02010600030101010101" pitchFamily="2" charset="-122"/>
                <a:ea typeface="宋体" panose="02010600030101010101" pitchFamily="2" charset="-122"/>
                <a:cs typeface="宋体" panose="02010600030101010101" pitchFamily="2" charset="-122"/>
              </a:rPr>
              <a:t>所有学生账号都不能自己注册，只能找对应课程的老师帮你创建。</a:t>
            </a:r>
            <a:endParaRPr lang="zh-CN" altLang="en-US"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务必用学号创建账号，如果创建失败，检查学号是否已经存在</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如果学号已经存在，请求老师重置密码</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r>
              <a:rPr lang="zh-CN" altLang="en-US" kern="1200" dirty="0">
                <a:latin typeface="宋体" panose="02010600030101010101" pitchFamily="2" charset="-122"/>
                <a:ea typeface="宋体" panose="02010600030101010101" pitchFamily="2" charset="-122"/>
                <a:cs typeface="宋体" panose="02010600030101010101" pitchFamily="2" charset="-122"/>
              </a:rPr>
              <a:t>学生首次登录，用户名是学号，密码与用户名相同</a:t>
            </a:r>
            <a:endParaRPr lang="zh-CN" altLang="en-US"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如果登录不成功，请联系老师重置密码</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457200" lvl="2" algn="l" fontAlgn="auto">
              <a:lnSpc>
                <a:spcPct val="100000"/>
              </a:lnSpc>
              <a:spcBef>
                <a:spcPts val="0"/>
              </a:spcBef>
              <a:buClrTx/>
              <a:buSzTx/>
              <a:buChar char="•"/>
            </a:pPr>
            <a:r>
              <a:rPr lang="zh-CN" altLang="en-US" sz="1800" kern="1200" dirty="0">
                <a:latin typeface="宋体" panose="02010600030101010101" pitchFamily="2" charset="-122"/>
                <a:ea typeface="宋体" panose="02010600030101010101" pitchFamily="2" charset="-122"/>
                <a:cs typeface="宋体" panose="02010600030101010101" pitchFamily="2" charset="-122"/>
              </a:rPr>
              <a:t>首次登陆后记得修改密码，在网页右上角的下拉菜单，点击【系统设置】就可以修改密码</a:t>
            </a:r>
            <a:endParaRPr lang="zh-CN" altLang="en-US" sz="18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如果要修改自己的姓名和昵称，也在上面【系统设置】修改。</a:t>
            </a:r>
            <a:endParaRPr lang="zh-CN" altLang="en-US" dirty="0">
              <a:latin typeface="宋体" panose="02010600030101010101" pitchFamily="2" charset="-122"/>
              <a:ea typeface="宋体" panose="02010600030101010101" pitchFamily="2" charset="-122"/>
              <a:cs typeface="宋体" panose="02010600030101010101" pitchFamily="2" charset="-122"/>
              <a:sym typeface="+mn-ea"/>
            </a:endParaRPr>
          </a:p>
          <a:p>
            <a:pPr marL="457200" lvl="2" algn="l" fontAlgn="auto">
              <a:lnSpc>
                <a:spcPct val="100000"/>
              </a:lnSpc>
              <a:spcBef>
                <a:spcPts val="0"/>
              </a:spcBef>
              <a:buClrTx/>
              <a:buSzTx/>
              <a:buChar char="•"/>
            </a:pPr>
            <a:r>
              <a:rPr lang="zh-CN" altLang="en-US" sz="1800" dirty="0">
                <a:latin typeface="宋体" panose="02010600030101010101" pitchFamily="2" charset="-122"/>
                <a:ea typeface="宋体" panose="02010600030101010101" pitchFamily="2" charset="-122"/>
                <a:cs typeface="宋体" panose="02010600030101010101" pitchFamily="2" charset="-122"/>
                <a:sym typeface="+mn-ea"/>
              </a:rPr>
              <a:t>姓名用于成绩批改时的展示</a:t>
            </a:r>
            <a:endParaRPr lang="zh-CN" altLang="en-US" sz="1800" dirty="0">
              <a:latin typeface="宋体" panose="02010600030101010101" pitchFamily="2" charset="-122"/>
              <a:ea typeface="宋体" panose="02010600030101010101" pitchFamily="2" charset="-122"/>
              <a:cs typeface="宋体" panose="02010600030101010101" pitchFamily="2" charset="-122"/>
              <a:sym typeface="+mn-ea"/>
            </a:endParaRPr>
          </a:p>
          <a:p>
            <a:pPr marL="457200" lvl="2" algn="l" fontAlgn="auto">
              <a:lnSpc>
                <a:spcPct val="100000"/>
              </a:lnSpc>
              <a:spcBef>
                <a:spcPts val="0"/>
              </a:spcBef>
              <a:buClrTx/>
              <a:buSzTx/>
              <a:buChar char="•"/>
            </a:pPr>
            <a:r>
              <a:rPr lang="zh-CN" altLang="en-US" sz="1800" dirty="0">
                <a:latin typeface="宋体" panose="02010600030101010101" pitchFamily="2" charset="-122"/>
                <a:ea typeface="宋体" panose="02010600030101010101" pitchFamily="2" charset="-122"/>
                <a:cs typeface="宋体" panose="02010600030101010101" pitchFamily="2" charset="-122"/>
                <a:sym typeface="+mn-ea"/>
              </a:rPr>
              <a:t>昵称用于实验【排行榜】的显示。</a:t>
            </a:r>
            <a:endParaRPr lang="zh-CN" altLang="en-US" sz="2400" dirty="0">
              <a:latin typeface="宋体" panose="02010600030101010101" pitchFamily="2" charset="-122"/>
              <a:ea typeface="宋体" panose="02010600030101010101" pitchFamily="2" charset="-122"/>
              <a:cs typeface="宋体" panose="02010600030101010101" pitchFamily="2" charset="-122"/>
              <a:sym typeface="+mn-ea"/>
            </a:endParaRPr>
          </a:p>
          <a:p>
            <a:pPr marL="228600" lvl="1" algn="l" fontAlgn="auto">
              <a:lnSpc>
                <a:spcPct val="100000"/>
              </a:lnSpc>
              <a:spcBef>
                <a:spcPts val="0"/>
              </a:spcBef>
              <a:buClrTx/>
              <a:buSzTx/>
            </a:pPr>
            <a:endParaRPr lang="zh-CN" altLang="en-US" sz="2400" u="sng"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5" name="图片 3"/>
          <p:cNvPicPr>
            <a:picLocks noChangeAspect="1"/>
          </p:cNvPicPr>
          <p:nvPr/>
        </p:nvPicPr>
        <p:blipFill>
          <a:blip r:embed="rId1"/>
          <a:stretch>
            <a:fillRect/>
          </a:stretch>
        </p:blipFill>
        <p:spPr>
          <a:xfrm>
            <a:off x="9291320" y="2265680"/>
            <a:ext cx="2116455" cy="23266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2.</a:t>
            </a:r>
            <a:r>
              <a:rPr lang="zh-CN" altLang="en-US" noProof="0" dirty="0" smtClean="0">
                <a:ln>
                  <a:noFill/>
                </a:ln>
                <a:effectLst/>
                <a:uLnTx/>
                <a:uFillTx/>
                <a:sym typeface="+mn-ea"/>
              </a:rPr>
              <a:t>实验操作</a:t>
            </a:r>
            <a:endParaRPr lang="zh-CN" altLang="en-US" noProof="0" dirty="0" smtClean="0">
              <a:ln>
                <a:noFill/>
              </a:ln>
              <a:effectLst/>
              <a:uLnTx/>
              <a:uFillTx/>
              <a:sym typeface="+mn-ea"/>
            </a:endParaRPr>
          </a:p>
        </p:txBody>
      </p:sp>
      <p:sp>
        <p:nvSpPr>
          <p:cNvPr id="9218" name="内容占位符 2"/>
          <p:cNvSpPr>
            <a:spLocks noGrp="1"/>
          </p:cNvSpPr>
          <p:nvPr>
            <p:ph idx="1"/>
          </p:nvPr>
        </p:nvSpPr>
        <p:spPr>
          <a:xfrm>
            <a:off x="396240" y="1515110"/>
            <a:ext cx="5803900" cy="4147820"/>
          </a:xfrm>
        </p:spPr>
        <p:txBody>
          <a:bodyPr anchor="t">
            <a:noAutofit/>
          </a:bodyPr>
          <a:p>
            <a:pPr marL="0" lvl="1" algn="l" fontAlgn="auto">
              <a:lnSpc>
                <a:spcPct val="100000"/>
              </a:lnSpc>
              <a:spcBef>
                <a:spcPts val="0"/>
              </a:spcBef>
              <a:buClrTx/>
              <a:buSzTx/>
              <a:buChar char="•"/>
            </a:pPr>
            <a:r>
              <a:rPr lang="zh-CN" altLang="en-US" sz="2000" kern="1200" dirty="0">
                <a:latin typeface="宋体" panose="02010600030101010101" pitchFamily="2" charset="-122"/>
                <a:ea typeface="宋体" panose="02010600030101010101" pitchFamily="2" charset="-122"/>
                <a:cs typeface="宋体" panose="02010600030101010101" pitchFamily="2" charset="-122"/>
              </a:rPr>
              <a:t>成功登陆就会看到【我的班级】，进入对应的班级后，在测验列表选择相应的实验，点击右边【进行】</a:t>
            </a:r>
            <a:endParaRPr lang="zh-CN" altLang="en-US" sz="20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r>
              <a:rPr lang="zh-CN" altLang="en-US" sz="2000" kern="1200" dirty="0">
                <a:latin typeface="宋体" panose="02010600030101010101" pitchFamily="2" charset="-122"/>
                <a:ea typeface="宋体" panose="02010600030101010101" pitchFamily="2" charset="-122"/>
                <a:cs typeface="宋体" panose="02010600030101010101" pitchFamily="2" charset="-122"/>
              </a:rPr>
              <a:t>进入实验后，可以看到所有题目，点击任意题目，可以查看题目内容</a:t>
            </a:r>
            <a:endParaRPr lang="zh-CN" altLang="en-US" sz="2000" kern="1200"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0"/>
              </a:spcBef>
              <a:buClrTx/>
              <a:buSzTx/>
              <a:buChar char="•"/>
            </a:pPr>
            <a:endParaRPr lang="zh-CN" altLang="en-US" sz="2400" u="sng" dirty="0">
              <a:solidFill>
                <a:srgbClr val="FF0000"/>
              </a:solidFill>
              <a:latin typeface="宋体" panose="02010600030101010101" pitchFamily="2" charset="-122"/>
              <a:ea typeface="宋体" panose="02010600030101010101" pitchFamily="2" charset="-122"/>
              <a:sym typeface="+mn-ea"/>
            </a:endParaRPr>
          </a:p>
          <a:p>
            <a:pPr marL="0" lvl="1" indent="0" algn="l" fontAlgn="auto">
              <a:lnSpc>
                <a:spcPct val="100000"/>
              </a:lnSpc>
              <a:spcBef>
                <a:spcPts val="0"/>
              </a:spcBef>
              <a:buClrTx/>
              <a:buSzTx/>
              <a:buNone/>
            </a:pPr>
            <a:r>
              <a:rPr lang="zh-CN" altLang="en-US" sz="2400" b="1" dirty="0">
                <a:solidFill>
                  <a:srgbClr val="FF0000"/>
                </a:solidFill>
                <a:latin typeface="宋体" panose="02010600030101010101" pitchFamily="2" charset="-122"/>
                <a:ea typeface="宋体" panose="02010600030101010101" pitchFamily="2" charset="-122"/>
                <a:sym typeface="+mn-ea"/>
              </a:rPr>
              <a:t>注意：在实验剩余时间内，可以任意进入或退出实验。在实验结束后，只能查看无法再提交代码。</a:t>
            </a:r>
            <a:endParaRPr lang="zh-CN" altLang="en-US" sz="2400" b="1" dirty="0">
              <a:solidFill>
                <a:srgbClr val="FF0000"/>
              </a:solidFill>
              <a:latin typeface="宋体" panose="02010600030101010101" pitchFamily="2" charset="-122"/>
              <a:ea typeface="宋体" panose="02010600030101010101" pitchFamily="2" charset="-122"/>
              <a:sym typeface="+mn-ea"/>
            </a:endParaRPr>
          </a:p>
        </p:txBody>
      </p:sp>
      <p:pic>
        <p:nvPicPr>
          <p:cNvPr id="7" name="图片 5"/>
          <p:cNvPicPr>
            <a:picLocks noChangeAspect="1"/>
          </p:cNvPicPr>
          <p:nvPr/>
        </p:nvPicPr>
        <p:blipFill>
          <a:blip r:embed="rId1"/>
          <a:stretch>
            <a:fillRect/>
          </a:stretch>
        </p:blipFill>
        <p:spPr>
          <a:xfrm>
            <a:off x="7078028" y="1831023"/>
            <a:ext cx="4749165" cy="36683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922895" y="234950"/>
            <a:ext cx="4241165" cy="6388100"/>
          </a:xfrm>
          <a:prstGeom prst="rect">
            <a:avLst/>
          </a:prstGeom>
        </p:spPr>
      </p:pic>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2.</a:t>
            </a:r>
            <a:r>
              <a:rPr lang="zh-CN" altLang="en-US" noProof="0" dirty="0" smtClean="0">
                <a:ln>
                  <a:noFill/>
                </a:ln>
                <a:effectLst/>
                <a:uLnTx/>
                <a:uFillTx/>
                <a:sym typeface="+mn-ea"/>
              </a:rPr>
              <a:t>实验操作</a:t>
            </a:r>
            <a:endParaRPr lang="zh-CN" altLang="en-US" noProof="0" dirty="0" smtClean="0">
              <a:ln>
                <a:noFill/>
              </a:ln>
              <a:effectLst/>
              <a:uLnTx/>
              <a:uFillTx/>
              <a:sym typeface="+mn-ea"/>
            </a:endParaRPr>
          </a:p>
        </p:txBody>
      </p:sp>
      <p:sp>
        <p:nvSpPr>
          <p:cNvPr id="9218" name="内容占位符 2"/>
          <p:cNvSpPr>
            <a:spLocks noGrp="1"/>
          </p:cNvSpPr>
          <p:nvPr>
            <p:ph idx="1"/>
          </p:nvPr>
        </p:nvSpPr>
        <p:spPr>
          <a:xfrm>
            <a:off x="226695" y="1408430"/>
            <a:ext cx="7165340" cy="4444365"/>
          </a:xfrm>
        </p:spPr>
        <p:txBody>
          <a:bodyPr anchor="t">
            <a:noAutofit/>
          </a:bodyPr>
          <a:p>
            <a:pPr marL="0" lvl="1" algn="l" fontAlgn="auto">
              <a:lnSpc>
                <a:spcPct val="100000"/>
              </a:lnSpc>
              <a:spcBef>
                <a:spcPts val="0"/>
              </a:spcBef>
              <a:buClrTx/>
              <a:buSzTx/>
              <a:buChar char="•"/>
            </a:pPr>
            <a:r>
              <a:rPr lang="en-US" altLang="zh-CN" sz="2000" noProof="0" dirty="0" smtClean="0">
                <a:ln>
                  <a:noFill/>
                </a:ln>
                <a:effectLst/>
                <a:uLnTx/>
                <a:uFillTx/>
                <a:sym typeface="+mn-ea"/>
              </a:rPr>
              <a:t>OJ</a:t>
            </a:r>
            <a:r>
              <a:rPr lang="zh-CN" altLang="en-US" sz="2000" noProof="0" dirty="0" smtClean="0">
                <a:ln>
                  <a:noFill/>
                </a:ln>
                <a:effectLst/>
                <a:uLnTx/>
                <a:uFillTx/>
                <a:sym typeface="+mn-ea"/>
              </a:rPr>
              <a:t>题目格式说明</a:t>
            </a:r>
            <a:endParaRPr lang="zh-CN" altLang="en-US" sz="2000" noProof="0" dirty="0" smtClean="0">
              <a:ln>
                <a:noFill/>
              </a:ln>
              <a:effectLst/>
              <a:uLnTx/>
              <a:uFillTx/>
              <a:sym typeface="+mn-ea"/>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题目描述，题目内容说明</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输入：输入的数据格式说明</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输出：输出的数据格式说明</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输入样例：样本数据的输入示范</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输出样例：样本数据的输出示范</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【查看格式】：使得输入样例和输出样例显示空格和回车</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【复制】：减少手动输入，点击【复制】会把输入数据复制到剪贴板中，在运行程序时用</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Ctrl+V</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或粘贴操作把数据输入到程序中</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1800" noProof="0" dirty="0" smtClean="0">
                <a:ln>
                  <a:noFill/>
                </a:ln>
                <a:effectLst/>
                <a:uLnTx/>
                <a:uFillTx/>
                <a:sym typeface="+mn-ea"/>
              </a:rPr>
              <a:t>例题说明</a:t>
            </a:r>
            <a:endParaRPr lang="zh-CN" altLang="en-US" sz="1800" noProof="0" dirty="0" smtClean="0">
              <a:ln>
                <a:noFill/>
              </a:ln>
              <a:effectLst/>
              <a:uLnTx/>
              <a:uFillTx/>
              <a:sym typeface="+mn-ea"/>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题目描述：求一个立方体的表面积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输入样例包含三行</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第一行的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2</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表示有两个测试样例，即有两个立方体求表面积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第二行的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1 2 3</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表示第一个立方体的长宽高</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第三行的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4 5 6</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表示第二个立方体的长宽高</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表示在运行程序时，你要手动在程序中输入上述三行数据</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输出样例包含两行</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第一行的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22</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1</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个立方体求表面积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第二行的</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148</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表示第</a:t>
            </a:r>
            <a:r>
              <a:rPr lang="en-US" altLang="zh-CN" sz="1600" dirty="0">
                <a:latin typeface="黑体" panose="02010609060101010101" charset="-122"/>
                <a:ea typeface="黑体" panose="02010609060101010101" charset="-122"/>
                <a:cs typeface="黑体" panose="02010609060101010101" charset="-122"/>
                <a:sym typeface="宋体" panose="02010600030101010101" pitchFamily="2" charset="-122"/>
              </a:rPr>
              <a:t>2</a:t>
            </a: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个立方体的表面积</a:t>
            </a:r>
            <a:endPar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914400" lvl="3" algn="l" fontAlgn="auto">
              <a:lnSpc>
                <a:spcPct val="100000"/>
              </a:lnSpc>
              <a:spcBef>
                <a:spcPts val="0"/>
              </a:spcBef>
              <a:buClrTx/>
              <a:buSzTx/>
              <a:buChar char="•"/>
            </a:pPr>
            <a:r>
              <a:rPr lang="zh-CN" altLang="en-US" sz="1600" dirty="0">
                <a:latin typeface="黑体" panose="02010609060101010101" charset="-122"/>
                <a:ea typeface="黑体" panose="02010609060101010101" charset="-122"/>
                <a:cs typeface="黑体" panose="02010609060101010101" charset="-122"/>
                <a:sym typeface="宋体" panose="02010600030101010101" pitchFamily="2" charset="-122"/>
              </a:rPr>
              <a:t>输入数据后，程序自动计算表面积，并输出上述两行数据</a:t>
            </a:r>
            <a:endParaRPr lang="zh-CN" altLang="en-US" sz="1600" u="sng"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endParaRPr>
          </a:p>
        </p:txBody>
      </p:sp>
      <p:sp>
        <p:nvSpPr>
          <p:cNvPr id="3" name="椭圆 2"/>
          <p:cNvSpPr/>
          <p:nvPr/>
        </p:nvSpPr>
        <p:spPr>
          <a:xfrm>
            <a:off x="9052560" y="5579110"/>
            <a:ext cx="625475" cy="2876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9745980" y="5181600"/>
            <a:ext cx="854075" cy="2876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2.</a:t>
            </a:r>
            <a:r>
              <a:rPr lang="zh-CN" altLang="en-US" noProof="0" dirty="0" smtClean="0">
                <a:ln>
                  <a:noFill/>
                </a:ln>
                <a:effectLst/>
                <a:uLnTx/>
                <a:uFillTx/>
                <a:sym typeface="+mn-ea"/>
              </a:rPr>
              <a:t>实验操作</a:t>
            </a:r>
            <a:endParaRPr lang="zh-CN" altLang="en-US" noProof="0" dirty="0" smtClean="0">
              <a:ln>
                <a:noFill/>
              </a:ln>
              <a:effectLst/>
              <a:uLnTx/>
              <a:uFillTx/>
              <a:sym typeface="+mn-ea"/>
            </a:endParaRPr>
          </a:p>
        </p:txBody>
      </p:sp>
      <p:sp>
        <p:nvSpPr>
          <p:cNvPr id="9218" name="内容占位符 2"/>
          <p:cNvSpPr>
            <a:spLocks noGrp="1"/>
          </p:cNvSpPr>
          <p:nvPr>
            <p:ph idx="1"/>
          </p:nvPr>
        </p:nvSpPr>
        <p:spPr>
          <a:xfrm>
            <a:off x="396240" y="1515110"/>
            <a:ext cx="7254875" cy="4703445"/>
          </a:xfrm>
        </p:spPr>
        <p:txBody>
          <a:bodyPr anchor="t">
            <a:noAutofit/>
          </a:bodyPr>
          <a:p>
            <a:pPr marL="0" lvl="1" indent="0" algn="l" eaLnBrk="1" hangingPunct="1">
              <a:lnSpc>
                <a:spcPct val="100000"/>
              </a:lnSpc>
              <a:spcBef>
                <a:spcPts val="0"/>
              </a:spcBef>
              <a:buClrTx/>
              <a:buSzTx/>
              <a:buFont typeface="+mj-lt"/>
              <a:buNone/>
            </a:pPr>
            <a:r>
              <a:rPr lang="zh-CN" altLang="en-US" noProof="0" dirty="0" smtClean="0">
                <a:ln>
                  <a:noFill/>
                </a:ln>
                <a:effectLst/>
                <a:uLnTx/>
                <a:uFillTx/>
                <a:latin typeface="黑体" panose="02010609060101010101" charset="-122"/>
                <a:ea typeface="黑体" panose="02010609060101010101" charset="-122"/>
                <a:sym typeface="+mn-ea"/>
              </a:rPr>
              <a:t>解题步骤</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系统中，阅读【题目描述】</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系统外启动一个编程工具（例如</a:t>
            </a:r>
            <a:r>
              <a:rPr lang="en-US" altLang="zh-CN" sz="2000" dirty="0">
                <a:latin typeface="黑体" panose="02010609060101010101" charset="-122"/>
                <a:ea typeface="黑体" panose="02010609060101010101" charset="-122"/>
                <a:cs typeface="黑体" panose="02010609060101010101" charset="-122"/>
                <a:sym typeface="+mn-ea"/>
              </a:rPr>
              <a:t>VC6</a:t>
            </a:r>
            <a:r>
              <a:rPr lang="zh-CN" altLang="en-US" sz="2000" dirty="0">
                <a:latin typeface="黑体" panose="02010609060101010101" charset="-122"/>
                <a:ea typeface="黑体" panose="02010609060101010101" charset="-122"/>
                <a:cs typeface="黑体" panose="02010609060101010101" charset="-122"/>
                <a:sym typeface="+mn-ea"/>
              </a:rPr>
              <a:t>、</a:t>
            </a:r>
            <a:r>
              <a:rPr lang="en-US" altLang="zh-CN" sz="2000" dirty="0">
                <a:latin typeface="黑体" panose="02010609060101010101" charset="-122"/>
                <a:ea typeface="黑体" panose="02010609060101010101" charset="-122"/>
                <a:cs typeface="黑体" panose="02010609060101010101" charset="-122"/>
                <a:sym typeface="+mn-ea"/>
              </a:rPr>
              <a:t>DEVC++</a:t>
            </a:r>
            <a:r>
              <a:rPr lang="zh-CN" altLang="en-US" sz="2000" dirty="0">
                <a:latin typeface="黑体" panose="02010609060101010101" charset="-122"/>
                <a:ea typeface="黑体" panose="02010609060101010101" charset="-122"/>
                <a:cs typeface="黑体" panose="02010609060101010101" charset="-122"/>
                <a:sym typeface="+mn-ea"/>
              </a:rPr>
              <a:t>）</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在编程工具中，编写程序，其中要严格</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按照【输入】和【输出】的说明，编写数据输入输出</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在编程工具中，运行程序，并输入</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【输入样例】，查看输出结果是否和【输出样例】相同。如果不同则修改程序</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indent="0" algn="l" eaLnBrk="1" hangingPunct="1">
              <a:lnSpc>
                <a:spcPct val="100000"/>
              </a:lnSpc>
              <a:spcBef>
                <a:spcPts val="0"/>
              </a:spcBef>
              <a:buClrTx/>
              <a:buSzTx/>
              <a:buFont typeface="+mj-lt"/>
              <a:buNone/>
            </a:pPr>
            <a:r>
              <a:rPr lang="en-US" altLang="zh-CN"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a</a:t>
            </a:r>
            <a:r>
              <a:rPr lang="zh-CN" altLang="en-US"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）可以在</a:t>
            </a:r>
            <a:r>
              <a:rPr lang="en-US" altLang="zh-CN"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1800"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系统中使用【复制】功能把数据粘贴到程序中</a:t>
            </a: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系统中，把刚才编写的程序复制到页面下方的代码框中，并点击【提交代码】按钮</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r>
              <a:rPr lang="zh-CN" altLang="en-US" sz="2000" dirty="0">
                <a:latin typeface="黑体" panose="02010609060101010101" charset="-122"/>
                <a:ea typeface="黑体" panose="02010609060101010101" charset="-122"/>
                <a:cs typeface="黑体" panose="02010609060101010101" charset="-122"/>
                <a:sym typeface="+mn-ea"/>
              </a:rPr>
              <a:t>在</a:t>
            </a:r>
            <a:r>
              <a:rPr lang="en-US" altLang="zh-CN" sz="2000" dirty="0">
                <a:latin typeface="黑体" panose="02010609060101010101" charset="-122"/>
                <a:ea typeface="黑体" panose="02010609060101010101" charset="-122"/>
                <a:cs typeface="黑体" panose="02010609060101010101" charset="-122"/>
                <a:sym typeface="+mn-ea"/>
              </a:rPr>
              <a:t>OJ</a:t>
            </a:r>
            <a:r>
              <a:rPr lang="zh-CN" altLang="en-US" sz="2000" dirty="0">
                <a:latin typeface="黑体" panose="02010609060101010101" charset="-122"/>
                <a:ea typeface="黑体" panose="02010609060101010101" charset="-122"/>
                <a:cs typeface="黑体" panose="02010609060101010101" charset="-122"/>
                <a:sym typeface="+mn-ea"/>
              </a:rPr>
              <a:t>系统中，在【提交代码】按钮旁边会出现一个新按钮，显示判题结果。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457200" lvl="2" algn="l" eaLnBrk="1" hangingPunct="1">
              <a:lnSpc>
                <a:spcPct val="100000"/>
              </a:lnSpc>
              <a:spcBef>
                <a:spcPts val="0"/>
              </a:spcBef>
              <a:buClrTx/>
              <a:buSzTx/>
              <a:buFont typeface="+mj-lt"/>
              <a:buNone/>
            </a:pPr>
            <a:r>
              <a:rPr lang="en-US" altLang="zh-CN" sz="1800" dirty="0">
                <a:solidFill>
                  <a:srgbClr val="FF0000"/>
                </a:solidFill>
                <a:latin typeface="黑体" panose="02010609060101010101" charset="-122"/>
                <a:ea typeface="黑体" panose="02010609060101010101" charset="-122"/>
                <a:cs typeface="黑体" panose="02010609060101010101" charset="-122"/>
                <a:sym typeface="+mn-ea"/>
              </a:rPr>
              <a:t>a）注意在【语言】框中选择合适的语言</a:t>
            </a:r>
            <a:endParaRPr lang="en-US" altLang="zh-CN" sz="1800" dirty="0">
              <a:solidFill>
                <a:srgbClr val="FF0000"/>
              </a:solidFill>
              <a:latin typeface="黑体" panose="02010609060101010101" charset="-122"/>
              <a:ea typeface="黑体" panose="02010609060101010101" charset="-122"/>
              <a:cs typeface="黑体" panose="02010609060101010101" charset="-122"/>
              <a:sym typeface="+mn-ea"/>
            </a:endParaRPr>
          </a:p>
          <a:p>
            <a:pPr marL="457200" lvl="2" algn="l" eaLnBrk="1" hangingPunct="1">
              <a:lnSpc>
                <a:spcPct val="100000"/>
              </a:lnSpc>
              <a:spcBef>
                <a:spcPts val="0"/>
              </a:spcBef>
              <a:buClrTx/>
              <a:buSzTx/>
              <a:buFont typeface="+mj-lt"/>
              <a:buNone/>
            </a:pPr>
            <a:endParaRPr lang="en-US" altLang="zh-CN" sz="1800" dirty="0">
              <a:solidFill>
                <a:srgbClr val="FF0000"/>
              </a:solidFill>
              <a:latin typeface="黑体" panose="02010609060101010101" charset="-122"/>
              <a:ea typeface="黑体" panose="02010609060101010101" charset="-122"/>
              <a:cs typeface="黑体" panose="02010609060101010101" charset="-122"/>
              <a:sym typeface="+mn-ea"/>
            </a:endParaRPr>
          </a:p>
          <a:p>
            <a:pPr marL="457200" lvl="2"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mn-ea"/>
            </a:endParaRPr>
          </a:p>
          <a:p>
            <a:pPr marL="457200" lvl="2"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mn-ea"/>
            </a:endParaRPr>
          </a:p>
          <a:p>
            <a:pPr marL="914400" lvl="2" indent="-457200" algn="l" eaLnBrk="1" hangingPunct="1">
              <a:lnSpc>
                <a:spcPct val="100000"/>
              </a:lnSpc>
              <a:spcBef>
                <a:spcPts val="0"/>
              </a:spcBef>
              <a:buClrTx/>
              <a:buSzTx/>
              <a:buFont typeface="+mj-lt"/>
              <a:buAutoNum type="arabicPeriod"/>
            </a:pPr>
            <a:endParaRPr lang="zh-CN" altLang="en-US" dirty="0">
              <a:latin typeface="黑体" panose="02010609060101010101" charset="-122"/>
              <a:ea typeface="黑体" panose="02010609060101010101" charset="-122"/>
              <a:cs typeface="黑体" panose="02010609060101010101" charset="-122"/>
              <a:sym typeface="+mn-ea"/>
            </a:endParaRPr>
          </a:p>
          <a:p>
            <a:pPr marL="457200" lvl="1" indent="-457200" algn="l" eaLnBrk="1" hangingPunct="1">
              <a:lnSpc>
                <a:spcPct val="100000"/>
              </a:lnSpc>
              <a:spcBef>
                <a:spcPts val="0"/>
              </a:spcBef>
              <a:buClrTx/>
              <a:buSzTx/>
              <a:buFont typeface="+mj-lt"/>
              <a:buAutoNum type="arabicPeriod"/>
            </a:pPr>
            <a:endParaRPr lang="zh-CN" altLang="en-US"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indent="0" algn="l" eaLnBrk="1" hangingPunct="1">
              <a:lnSpc>
                <a:spcPct val="100000"/>
              </a:lnSpc>
              <a:spcBef>
                <a:spcPts val="0"/>
              </a:spcBef>
              <a:buClrTx/>
              <a:buSzTx/>
              <a:buFont typeface="+mj-lt"/>
              <a:buNone/>
            </a:pPr>
            <a:endParaRPr lang="zh-CN" altLang="en-US"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1" indent="-457200" algn="l" eaLnBrk="1" hangingPunct="1">
              <a:lnSpc>
                <a:spcPct val="100000"/>
              </a:lnSpc>
              <a:spcBef>
                <a:spcPts val="0"/>
              </a:spcBef>
              <a:buClrTx/>
              <a:buSzTx/>
              <a:buFont typeface="+mj-lt"/>
              <a:buAutoNum type="arabicPeriod"/>
            </a:pPr>
            <a:endParaRPr lang="zh-CN" altLang="en-US" sz="2400" kern="1200" dirty="0">
              <a:latin typeface="宋体" panose="02010600030101010101" pitchFamily="2" charset="-122"/>
              <a:ea typeface="宋体" panose="02010600030101010101" pitchFamily="2" charset="-122"/>
            </a:endParaRPr>
          </a:p>
          <a:p>
            <a:pPr lvl="1" eaLnBrk="1" hangingPunct="1">
              <a:buFont typeface="Wingdings" panose="05000000000000000000" charset="0"/>
            </a:pPr>
            <a:endParaRPr lang="zh-CN" altLang="en-US" sz="2800" kern="1200" dirty="0">
              <a:solidFill>
                <a:srgbClr val="FF0000"/>
              </a:solidFill>
              <a:latin typeface="+mn-lt"/>
              <a:ea typeface="+mn-ea"/>
              <a:cs typeface="+mn-cs"/>
            </a:endParaRPr>
          </a:p>
          <a:p>
            <a:pPr marL="228600" lvl="1" algn="l" eaLnBrk="1" hangingPunct="1">
              <a:spcBef>
                <a:spcPts val="1000"/>
              </a:spcBef>
            </a:pPr>
            <a:endParaRPr lang="en-US" altLang="zh-CN" sz="2800" noProof="0" dirty="0" smtClean="0">
              <a:ln>
                <a:noFill/>
              </a:ln>
              <a:effectLst/>
              <a:uLnTx/>
              <a:uFillTx/>
              <a:sym typeface="+mn-ea"/>
            </a:endParaRPr>
          </a:p>
        </p:txBody>
      </p:sp>
      <p:pic>
        <p:nvPicPr>
          <p:cNvPr id="3" name="图片 2"/>
          <p:cNvPicPr>
            <a:picLocks noChangeAspect="1"/>
          </p:cNvPicPr>
          <p:nvPr/>
        </p:nvPicPr>
        <p:blipFill>
          <a:blip r:embed="rId1"/>
          <a:stretch>
            <a:fillRect/>
          </a:stretch>
        </p:blipFill>
        <p:spPr>
          <a:xfrm>
            <a:off x="8112125" y="143510"/>
            <a:ext cx="4036695" cy="6570980"/>
          </a:xfrm>
          <a:prstGeom prst="rect">
            <a:avLst/>
          </a:prstGeom>
        </p:spPr>
      </p:pic>
      <p:sp>
        <p:nvSpPr>
          <p:cNvPr id="5" name="椭圆 4"/>
          <p:cNvSpPr/>
          <p:nvPr/>
        </p:nvSpPr>
        <p:spPr>
          <a:xfrm>
            <a:off x="8112125" y="4149090"/>
            <a:ext cx="1728470" cy="28829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8879840" y="2221230"/>
            <a:ext cx="1096645" cy="22098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椭圆 6"/>
          <p:cNvSpPr/>
          <p:nvPr/>
        </p:nvSpPr>
        <p:spPr>
          <a:xfrm>
            <a:off x="8007985" y="6376035"/>
            <a:ext cx="1968500" cy="314325"/>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2.</a:t>
            </a:r>
            <a:r>
              <a:rPr lang="zh-CN" altLang="en-US" noProof="0" dirty="0" smtClean="0">
                <a:ln>
                  <a:noFill/>
                </a:ln>
                <a:effectLst/>
                <a:uLnTx/>
                <a:uFillTx/>
                <a:sym typeface="+mn-ea"/>
              </a:rPr>
              <a:t>实验操作</a:t>
            </a:r>
            <a:endParaRPr lang="zh-CN" altLang="en-US" noProof="0" dirty="0" smtClean="0">
              <a:ln>
                <a:noFill/>
              </a:ln>
              <a:effectLst/>
              <a:uLnTx/>
              <a:uFillTx/>
              <a:sym typeface="+mn-ea"/>
            </a:endParaRPr>
          </a:p>
        </p:txBody>
      </p:sp>
      <p:sp>
        <p:nvSpPr>
          <p:cNvPr id="2" name="内容占位符 2"/>
          <p:cNvSpPr>
            <a:spLocks noGrp="1"/>
          </p:cNvSpPr>
          <p:nvPr>
            <p:ph idx="1"/>
          </p:nvPr>
        </p:nvSpPr>
        <p:spPr>
          <a:xfrm>
            <a:off x="235585" y="1567815"/>
            <a:ext cx="5583555" cy="3679825"/>
          </a:xfrm>
        </p:spPr>
        <p:txBody>
          <a:bodyPr anchor="t">
            <a:noAutofit/>
          </a:bodyPr>
          <a:p>
            <a:pPr marL="0" lvl="1" indent="0" algn="l" fontAlgn="auto">
              <a:lnSpc>
                <a:spcPct val="100000"/>
              </a:lnSpc>
              <a:spcBef>
                <a:spcPts val="0"/>
              </a:spcBef>
              <a:buClrTx/>
              <a:buSzTx/>
              <a:buNone/>
            </a:pPr>
            <a:r>
              <a:rPr lang="zh-CN" altLang="en-US" noProof="0" dirty="0" smtClean="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查看判题结果</a:t>
            </a:r>
            <a:endPar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点击</a:t>
            </a:r>
            <a:r>
              <a:rPr lang="zh-CN" altLang="en-US" sz="2000" dirty="0">
                <a:latin typeface="黑体" panose="02010609060101010101" charset="-122"/>
                <a:ea typeface="黑体" panose="02010609060101010101" charset="-122"/>
                <a:cs typeface="黑体" panose="02010609060101010101" charset="-122"/>
                <a:sym typeface="+mn-ea"/>
              </a:rPr>
              <a:t>【提交代码】按钮旁边的按钮，会弹出新页面，显示判题结果具体信息</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例如显示两个【答案正确</a:t>
            </a:r>
            <a:r>
              <a:rPr lang="en-US" altLang="zh-CN" sz="2000" dirty="0">
                <a:latin typeface="黑体" panose="02010609060101010101" charset="-122"/>
                <a:ea typeface="黑体" panose="02010609060101010101" charset="-122"/>
                <a:cs typeface="黑体" panose="02010609060101010101" charset="-122"/>
                <a:sym typeface="+mn-ea"/>
              </a:rPr>
              <a:t>/AC</a:t>
            </a:r>
            <a:r>
              <a:rPr lang="zh-CN" altLang="en-US" sz="2000" dirty="0">
                <a:latin typeface="黑体" panose="02010609060101010101" charset="-122"/>
                <a:ea typeface="黑体" panose="02010609060101010101" charset="-122"/>
                <a:cs typeface="黑体" panose="02010609060101010101" charset="-122"/>
                <a:sym typeface="+mn-ea"/>
              </a:rPr>
              <a:t>】，表示你的程序通过了两组测试数据，一组测试数据是页面显示的样例数据，一组测试数据是在后台的，是学生看不到的</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如果只通过一组数据，另一组或者多组数据不通过，会显示其他判题结果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如果判题结果是</a:t>
            </a:r>
            <a:r>
              <a:rPr lang="en-US" altLang="zh-CN" sz="2000" dirty="0">
                <a:latin typeface="黑体" panose="02010609060101010101" charset="-122"/>
                <a:ea typeface="黑体" panose="02010609060101010101" charset="-122"/>
                <a:cs typeface="黑体" panose="02010609060101010101" charset="-122"/>
                <a:sym typeface="+mn-ea"/>
              </a:rPr>
              <a:t>AC</a:t>
            </a:r>
            <a:r>
              <a:rPr lang="zh-CN" altLang="en-US" sz="2000" dirty="0">
                <a:latin typeface="黑体" panose="02010609060101010101" charset="-122"/>
                <a:ea typeface="黑体" panose="02010609060101010101" charset="-122"/>
                <a:cs typeface="黑体" panose="02010609060101010101" charset="-122"/>
                <a:sym typeface="+mn-ea"/>
              </a:rPr>
              <a:t>，那么列表的对应题目会出现一个小绿勾</a:t>
            </a:r>
            <a:endParaRPr lang="zh-CN" altLang="en-US" sz="2000" dirty="0">
              <a:latin typeface="黑体" panose="02010609060101010101" charset="-122"/>
              <a:ea typeface="黑体" panose="02010609060101010101" charset="-122"/>
              <a:cs typeface="黑体" panose="02010609060101010101" charset="-122"/>
              <a:sym typeface="+mn-ea"/>
            </a:endParaRPr>
          </a:p>
        </p:txBody>
      </p:sp>
      <p:pic>
        <p:nvPicPr>
          <p:cNvPr id="4" name="图片 3"/>
          <p:cNvPicPr>
            <a:picLocks noChangeAspect="1"/>
          </p:cNvPicPr>
          <p:nvPr/>
        </p:nvPicPr>
        <p:blipFill>
          <a:blip r:embed="rId1"/>
          <a:stretch>
            <a:fillRect/>
          </a:stretch>
        </p:blipFill>
        <p:spPr>
          <a:xfrm>
            <a:off x="8596630" y="178435"/>
            <a:ext cx="2571750" cy="2720975"/>
          </a:xfrm>
          <a:prstGeom prst="rect">
            <a:avLst/>
          </a:prstGeom>
        </p:spPr>
      </p:pic>
      <p:pic>
        <p:nvPicPr>
          <p:cNvPr id="8" name="图片 7"/>
          <p:cNvPicPr>
            <a:picLocks noChangeAspect="1"/>
          </p:cNvPicPr>
          <p:nvPr/>
        </p:nvPicPr>
        <p:blipFill>
          <a:blip r:embed="rId2"/>
          <a:stretch>
            <a:fillRect/>
          </a:stretch>
        </p:blipFill>
        <p:spPr>
          <a:xfrm>
            <a:off x="6986270" y="3051810"/>
            <a:ext cx="5011420" cy="3220085"/>
          </a:xfrm>
          <a:prstGeom prst="rect">
            <a:avLst/>
          </a:prstGeom>
        </p:spPr>
      </p:pic>
      <p:pic>
        <p:nvPicPr>
          <p:cNvPr id="10" name="图片 9"/>
          <p:cNvPicPr>
            <a:picLocks noChangeAspect="1"/>
          </p:cNvPicPr>
          <p:nvPr/>
        </p:nvPicPr>
        <p:blipFill>
          <a:blip r:embed="rId3"/>
          <a:stretch>
            <a:fillRect/>
          </a:stretch>
        </p:blipFill>
        <p:spPr>
          <a:xfrm>
            <a:off x="6213475" y="325120"/>
            <a:ext cx="2142490" cy="22167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8067040" y="68580"/>
            <a:ext cx="3035935" cy="3237230"/>
          </a:xfrm>
          <a:prstGeom prst="rect">
            <a:avLst/>
          </a:prstGeom>
        </p:spPr>
      </p:pic>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2.</a:t>
            </a:r>
            <a:r>
              <a:rPr lang="zh-CN" altLang="en-US" noProof="0" dirty="0" smtClean="0">
                <a:ln>
                  <a:noFill/>
                </a:ln>
                <a:effectLst/>
                <a:uLnTx/>
                <a:uFillTx/>
                <a:sym typeface="+mn-ea"/>
              </a:rPr>
              <a:t>实验操作</a:t>
            </a:r>
            <a:endParaRPr lang="zh-CN" altLang="en-US" noProof="0" dirty="0" smtClean="0">
              <a:ln>
                <a:noFill/>
              </a:ln>
              <a:effectLst/>
              <a:uLnTx/>
              <a:uFillTx/>
              <a:sym typeface="+mn-ea"/>
            </a:endParaRPr>
          </a:p>
        </p:txBody>
      </p:sp>
      <p:sp>
        <p:nvSpPr>
          <p:cNvPr id="7" name="椭圆 6"/>
          <p:cNvSpPr/>
          <p:nvPr/>
        </p:nvSpPr>
        <p:spPr>
          <a:xfrm>
            <a:off x="9175115" y="2858135"/>
            <a:ext cx="1148715" cy="314325"/>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内容占位符 2"/>
          <p:cNvSpPr>
            <a:spLocks noGrp="1"/>
          </p:cNvSpPr>
          <p:nvPr>
            <p:ph idx="1"/>
          </p:nvPr>
        </p:nvSpPr>
        <p:spPr>
          <a:xfrm>
            <a:off x="235585" y="1567815"/>
            <a:ext cx="7831455" cy="3156585"/>
          </a:xfrm>
        </p:spPr>
        <p:txBody>
          <a:bodyPr anchor="t">
            <a:noAutofit/>
          </a:bodyPr>
          <a:p>
            <a:pPr marL="0" lvl="1" indent="0" algn="l" fontAlgn="auto">
              <a:lnSpc>
                <a:spcPct val="100000"/>
              </a:lnSpc>
              <a:spcBef>
                <a:spcPts val="0"/>
              </a:spcBef>
              <a:buClrTx/>
              <a:buSzTx/>
              <a:buNone/>
            </a:pPr>
            <a:r>
              <a:rPr lang="zh-CN" altLang="en-US" noProof="0" dirty="0" smtClean="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查看判题结果</a:t>
            </a:r>
            <a:endPar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点击</a:t>
            </a:r>
            <a:r>
              <a:rPr lang="zh-CN" altLang="en-US" sz="2000" dirty="0">
                <a:latin typeface="黑体" panose="02010609060101010101" charset="-122"/>
                <a:ea typeface="黑体" panose="02010609060101010101" charset="-122"/>
                <a:cs typeface="黑体" panose="02010609060101010101" charset="-122"/>
                <a:sym typeface="+mn-ea"/>
              </a:rPr>
              <a:t>【提交代码】按钮旁边的按钮，会弹出新页面，显示判题结果具体信息</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例如按钮显示【编译错误】，点击该按钮就会弹出新页面提示你错误的位置</a:t>
            </a:r>
            <a:endParaRPr lang="zh-CN" altLang="en-US" sz="2000" dirty="0">
              <a:latin typeface="黑体" panose="02010609060101010101" charset="-122"/>
              <a:ea typeface="黑体" panose="02010609060101010101" charset="-122"/>
              <a:cs typeface="黑体" panose="02010609060101010101" charset="-122"/>
              <a:sym typeface="+mn-ea"/>
            </a:endParaRPr>
          </a:p>
          <a:p>
            <a:pPr marL="0" lvl="1" indent="0" algn="l" fontAlgn="auto">
              <a:lnSpc>
                <a:spcPct val="100000"/>
              </a:lnSpc>
              <a:spcBef>
                <a:spcPts val="0"/>
              </a:spcBef>
              <a:buClrTx/>
              <a:buSzTx/>
              <a:buNone/>
            </a:pPr>
            <a:r>
              <a:rPr lang="zh-CN" altLang="en-US" sz="2000" dirty="0">
                <a:solidFill>
                  <a:srgbClr val="FF0000"/>
                </a:solidFill>
                <a:latin typeface="黑体" panose="02010609060101010101" charset="-122"/>
                <a:ea typeface="黑体" panose="02010609060101010101" charset="-122"/>
                <a:cs typeface="黑体" panose="02010609060101010101" charset="-122"/>
                <a:sym typeface="+mn-ea"/>
              </a:rPr>
              <a:t>注意：检查程序错误是一个考验学生编程能力和提升学生编程基本功的关键因素。总想着一波流的编程是不可能的。</a:t>
            </a:r>
            <a:endParaRPr lang="zh-CN" altLang="en-US" sz="2000" dirty="0">
              <a:solidFill>
                <a:srgbClr val="FF0000"/>
              </a:solidFill>
              <a:latin typeface="黑体" panose="02010609060101010101" charset="-122"/>
              <a:ea typeface="黑体" panose="02010609060101010101" charset="-122"/>
              <a:cs typeface="黑体" panose="02010609060101010101" charset="-122"/>
              <a:sym typeface="+mn-ea"/>
            </a:endParaRPr>
          </a:p>
        </p:txBody>
      </p:sp>
      <p:pic>
        <p:nvPicPr>
          <p:cNvPr id="5" name="图片 4"/>
          <p:cNvPicPr>
            <a:picLocks noChangeAspect="1"/>
          </p:cNvPicPr>
          <p:nvPr/>
        </p:nvPicPr>
        <p:blipFill>
          <a:blip r:embed="rId2"/>
          <a:stretch>
            <a:fillRect/>
          </a:stretch>
        </p:blipFill>
        <p:spPr>
          <a:xfrm>
            <a:off x="5347970" y="3863975"/>
            <a:ext cx="6744335" cy="21736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2.</a:t>
            </a:r>
            <a:r>
              <a:rPr lang="zh-CN" altLang="en-US" noProof="0" dirty="0" smtClean="0">
                <a:ln>
                  <a:noFill/>
                </a:ln>
                <a:effectLst/>
                <a:uLnTx/>
                <a:uFillTx/>
                <a:sym typeface="+mn-ea"/>
              </a:rPr>
              <a:t>实验操作</a:t>
            </a:r>
            <a:endParaRPr lang="zh-CN" altLang="en-US" noProof="0" dirty="0" smtClean="0">
              <a:ln>
                <a:noFill/>
              </a:ln>
              <a:effectLst/>
              <a:uLnTx/>
              <a:uFillTx/>
              <a:sym typeface="+mn-ea"/>
            </a:endParaRPr>
          </a:p>
        </p:txBody>
      </p:sp>
      <p:pic>
        <p:nvPicPr>
          <p:cNvPr id="3" name="图片 2"/>
          <p:cNvPicPr>
            <a:picLocks noChangeAspect="1"/>
          </p:cNvPicPr>
          <p:nvPr/>
        </p:nvPicPr>
        <p:blipFill>
          <a:blip r:embed="rId1"/>
          <a:stretch>
            <a:fillRect/>
          </a:stretch>
        </p:blipFill>
        <p:spPr>
          <a:xfrm>
            <a:off x="8112125" y="143510"/>
            <a:ext cx="4036695" cy="6570980"/>
          </a:xfrm>
          <a:prstGeom prst="rect">
            <a:avLst/>
          </a:prstGeom>
        </p:spPr>
      </p:pic>
      <p:sp>
        <p:nvSpPr>
          <p:cNvPr id="5" name="椭圆 4"/>
          <p:cNvSpPr/>
          <p:nvPr/>
        </p:nvSpPr>
        <p:spPr>
          <a:xfrm>
            <a:off x="8112125" y="4149090"/>
            <a:ext cx="1728470" cy="28829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8879840" y="2221230"/>
            <a:ext cx="1096645" cy="220980"/>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椭圆 6"/>
          <p:cNvSpPr/>
          <p:nvPr/>
        </p:nvSpPr>
        <p:spPr>
          <a:xfrm>
            <a:off x="8007985" y="6376035"/>
            <a:ext cx="1968500" cy="314325"/>
          </a:xfrm>
          <a:prstGeom prst="ellipse">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内容占位符 2"/>
          <p:cNvSpPr>
            <a:spLocks noGrp="1"/>
          </p:cNvSpPr>
          <p:nvPr>
            <p:ph idx="1"/>
          </p:nvPr>
        </p:nvSpPr>
        <p:spPr>
          <a:xfrm>
            <a:off x="235585" y="1567815"/>
            <a:ext cx="7611745" cy="3722370"/>
          </a:xfrm>
        </p:spPr>
        <p:txBody>
          <a:bodyPr anchor="t">
            <a:noAutofit/>
          </a:bodyPr>
          <a:p>
            <a:pPr marL="0" lvl="1" indent="0" algn="l" fontAlgn="auto">
              <a:lnSpc>
                <a:spcPct val="100000"/>
              </a:lnSpc>
              <a:spcBef>
                <a:spcPts val="0"/>
              </a:spcBef>
              <a:buClrTx/>
              <a:buSzTx/>
              <a:buNone/>
            </a:pPr>
            <a:r>
              <a:rPr lang="en-US" altLang="zh-CN" noProof="0" dirty="0" smtClean="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OJ</a:t>
            </a:r>
            <a:r>
              <a:rPr lang="zh-CN" altLang="en-US" noProof="0" dirty="0" smtClean="0">
                <a:ln>
                  <a:noFill/>
                </a:ln>
                <a:solidFill>
                  <a:srgbClr val="FF0000"/>
                </a:solidFill>
                <a:effectLst/>
                <a:uLnTx/>
                <a:uFillTx/>
                <a:latin typeface="黑体" panose="02010609060101010101" charset="-122"/>
                <a:ea typeface="黑体" panose="02010609060101010101" charset="-122"/>
                <a:cs typeface="黑体" panose="02010609060101010101" charset="-122"/>
                <a:sym typeface="+mn-ea"/>
              </a:rPr>
              <a:t>解题要注意的地方</a:t>
            </a:r>
            <a:endPar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判题实质是输入数据的处理和输出结果的比对，所以输入和输出的代码一定要严格按照题目要求，不能出丝毫错误！！</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一旦输出有错，就算程序逻辑正确，</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系统也会判定【答案错误】，只能依靠老师查看学生代码来评分</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如果是</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C</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语言或</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C++</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的编程，</a:t>
            </a:r>
            <a:r>
              <a:rPr lang="en-US" altLang="zh-CN" sz="2000" dirty="0">
                <a:latin typeface="黑体" panose="02010609060101010101" charset="-122"/>
                <a:ea typeface="黑体" panose="02010609060101010101" charset="-122"/>
                <a:cs typeface="黑体" panose="02010609060101010101" charset="-122"/>
                <a:sym typeface="宋体" panose="02010600030101010101" pitchFamily="2" charset="-122"/>
              </a:rPr>
              <a:t>main</a:t>
            </a: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函数有特定格式要求</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main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函数一定是</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int main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，不能</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void main</a:t>
            </a:r>
            <a:endPar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main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函数最后一定是</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return 0</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；不能是</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return 1</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或其他</a:t>
            </a: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程序一开始要包含输入输出的头文件</a:t>
            </a: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有些同学的外部开发工具可能自动内置了输入输出头文件，不用自己手写，但代码提交到</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OJ</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就报编译错误，这种情况多出现在</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Phython</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a:t>
            </a:r>
            <a:r>
              <a:rPr lang="en-US" altLang="zh-CN" sz="1665" dirty="0">
                <a:latin typeface="黑体" panose="02010609060101010101" charset="-122"/>
                <a:ea typeface="黑体" panose="02010609060101010101" charset="-122"/>
                <a:cs typeface="黑体" panose="02010609060101010101" charset="-122"/>
                <a:sym typeface="宋体" panose="02010600030101010101" pitchFamily="2" charset="-122"/>
              </a:rPr>
              <a:t>JAVA</a:t>
            </a:r>
            <a:r>
              <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rPr>
              <a:t>编程中</a:t>
            </a: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457200" lvl="2" algn="l" fontAlgn="auto">
              <a:lnSpc>
                <a:spcPct val="100000"/>
              </a:lnSpc>
              <a:spcBef>
                <a:spcPts val="0"/>
              </a:spcBef>
              <a:buClrTx/>
              <a:buSzTx/>
              <a:buChar char="•"/>
            </a:pPr>
            <a:endParaRPr lang="zh-CN" altLang="en-US" sz="1665"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endParaRPr>
          </a:p>
          <a:p>
            <a:pPr marL="228600" lvl="1" algn="l" fontAlgn="auto">
              <a:lnSpc>
                <a:spcPct val="100000"/>
              </a:lnSpc>
              <a:spcBef>
                <a:spcPts val="0"/>
              </a:spcBef>
              <a:buClrTx/>
              <a:buSzTx/>
            </a:pPr>
            <a:endParaRPr lang="zh-CN" altLang="en-US" sz="2400" u="sng" dirty="0">
              <a:solidFill>
                <a:srgbClr val="FF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3.</a:t>
            </a:r>
            <a:r>
              <a:rPr lang="zh-CN" altLang="en-US" noProof="0" dirty="0" smtClean="0">
                <a:ln>
                  <a:noFill/>
                </a:ln>
                <a:effectLst/>
                <a:uLnTx/>
                <a:uFillTx/>
                <a:sym typeface="+mn-ea"/>
              </a:rPr>
              <a:t>查看本次实验所有结果</a:t>
            </a:r>
            <a:endParaRPr lang="zh-CN" altLang="en-US" noProof="0" dirty="0" smtClean="0">
              <a:ln>
                <a:noFill/>
              </a:ln>
              <a:effectLst/>
              <a:uLnTx/>
              <a:uFillTx/>
              <a:sym typeface="+mn-ea"/>
            </a:endParaRPr>
          </a:p>
        </p:txBody>
      </p:sp>
      <p:sp>
        <p:nvSpPr>
          <p:cNvPr id="2" name="内容占位符 2"/>
          <p:cNvSpPr>
            <a:spLocks noGrp="1"/>
          </p:cNvSpPr>
          <p:nvPr>
            <p:ph idx="1"/>
          </p:nvPr>
        </p:nvSpPr>
        <p:spPr>
          <a:xfrm>
            <a:off x="235585" y="1567815"/>
            <a:ext cx="9227185" cy="2580640"/>
          </a:xfrm>
        </p:spPr>
        <p:txBody>
          <a:bodyPr anchor="t">
            <a:noAutofit/>
          </a:bodyPr>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宋体" panose="02010600030101010101" pitchFamily="2" charset="-122"/>
              </a:rPr>
              <a:t>点击列表上方的</a:t>
            </a:r>
            <a:r>
              <a:rPr lang="zh-CN" altLang="en-US" sz="2000" dirty="0">
                <a:latin typeface="黑体" panose="02010609060101010101" charset="-122"/>
                <a:ea typeface="黑体" panose="02010609060101010101" charset="-122"/>
                <a:cs typeface="黑体" panose="02010609060101010101" charset="-122"/>
                <a:sym typeface="+mn-ea"/>
              </a:rPr>
              <a:t>【比赛详情】，就会弹出新页面，显示学生在本次实验的所有提交和所有判题结果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点击【提交记录】可以看到每一次提交和每一次的判题结果</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r>
              <a:rPr lang="zh-CN" altLang="en-US" sz="2000" dirty="0">
                <a:latin typeface="黑体" panose="02010609060101010101" charset="-122"/>
                <a:ea typeface="黑体" panose="02010609060101010101" charset="-122"/>
                <a:cs typeface="黑体" panose="02010609060101010101" charset="-122"/>
                <a:sym typeface="+mn-ea"/>
              </a:rPr>
              <a:t>点击【排行榜】可以看到参加本次实验的整个班级的情况</a:t>
            </a: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mn-ea"/>
            </a:endParaRPr>
          </a:p>
          <a:p>
            <a:pPr marL="0" lvl="1" algn="l" fontAlgn="auto">
              <a:lnSpc>
                <a:spcPct val="100000"/>
              </a:lnSpc>
              <a:spcBef>
                <a:spcPts val="0"/>
              </a:spcBef>
              <a:buClrTx/>
              <a:buSzTx/>
              <a:buChar char="•"/>
            </a:pPr>
            <a:endParaRPr lang="zh-CN" altLang="en-US" sz="2000" dirty="0">
              <a:latin typeface="黑体" panose="02010609060101010101" charset="-122"/>
              <a:ea typeface="黑体" panose="02010609060101010101" charset="-122"/>
              <a:cs typeface="黑体" panose="02010609060101010101" charset="-122"/>
              <a:sym typeface="+mn-ea"/>
            </a:endParaRPr>
          </a:p>
        </p:txBody>
      </p:sp>
      <p:pic>
        <p:nvPicPr>
          <p:cNvPr id="3" name="图片 2"/>
          <p:cNvPicPr>
            <a:picLocks noChangeAspect="1"/>
          </p:cNvPicPr>
          <p:nvPr/>
        </p:nvPicPr>
        <p:blipFill>
          <a:blip r:embed="rId1"/>
          <a:stretch>
            <a:fillRect/>
          </a:stretch>
        </p:blipFill>
        <p:spPr>
          <a:xfrm>
            <a:off x="9969500" y="6985"/>
            <a:ext cx="1884680" cy="2966085"/>
          </a:xfrm>
          <a:prstGeom prst="rect">
            <a:avLst/>
          </a:prstGeom>
        </p:spPr>
      </p:pic>
      <p:pic>
        <p:nvPicPr>
          <p:cNvPr id="5" name="图片 4"/>
          <p:cNvPicPr>
            <a:picLocks noChangeAspect="1"/>
          </p:cNvPicPr>
          <p:nvPr/>
        </p:nvPicPr>
        <p:blipFill>
          <a:blip r:embed="rId2"/>
          <a:stretch>
            <a:fillRect/>
          </a:stretch>
        </p:blipFill>
        <p:spPr>
          <a:xfrm>
            <a:off x="345440" y="3103880"/>
            <a:ext cx="11508740" cy="25038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513487" y="765182"/>
            <a:ext cx="8230024" cy="642971"/>
          </a:xfrm>
        </p:spPr>
        <p:txBody>
          <a:bodyPr anchor="t">
            <a:normAutofit fontScale="90000"/>
          </a:bodyPr>
          <a:p>
            <a:r>
              <a:rPr lang="en-US" altLang="zh-CN" noProof="0" dirty="0" smtClean="0">
                <a:ln>
                  <a:noFill/>
                </a:ln>
                <a:effectLst/>
                <a:uLnTx/>
                <a:uFillTx/>
                <a:sym typeface="+mn-ea"/>
              </a:rPr>
              <a:t>OJ</a:t>
            </a:r>
            <a:r>
              <a:rPr lang="zh-CN" altLang="en-US" noProof="0" dirty="0" smtClean="0">
                <a:ln>
                  <a:noFill/>
                </a:ln>
                <a:effectLst/>
                <a:uLnTx/>
                <a:uFillTx/>
                <a:sym typeface="+mn-ea"/>
              </a:rPr>
              <a:t>系统判题结果</a:t>
            </a:r>
            <a:endParaRPr lang="zh-CN" altLang="en-US" noProof="0" dirty="0" smtClean="0">
              <a:ln>
                <a:noFill/>
              </a:ln>
              <a:effectLst/>
              <a:uLnTx/>
              <a:uFillTx/>
              <a:sym typeface="+mn-ea"/>
            </a:endParaRPr>
          </a:p>
        </p:txBody>
      </p:sp>
      <p:sp>
        <p:nvSpPr>
          <p:cNvPr id="9218" name="内容占位符 2"/>
          <p:cNvSpPr>
            <a:spLocks noGrp="1"/>
          </p:cNvSpPr>
          <p:nvPr>
            <p:ph idx="1"/>
          </p:nvPr>
        </p:nvSpPr>
        <p:spPr>
          <a:xfrm>
            <a:off x="396240" y="1515110"/>
            <a:ext cx="11513185" cy="4703445"/>
          </a:xfrm>
        </p:spPr>
        <p:txBody>
          <a:bodyPr anchor="t">
            <a:noAutofit/>
          </a:bodyPr>
          <a:p>
            <a:pPr marL="228600" lvl="1" algn="l" eaLnBrk="1" hangingPunct="1">
              <a:lnSpc>
                <a:spcPct val="100000"/>
              </a:lnSpc>
              <a:spcBef>
                <a:spcPts val="0"/>
              </a:spcBef>
              <a:buClrTx/>
              <a:buSzTx/>
              <a:buChar char="•"/>
            </a:pPr>
            <a:r>
              <a:rPr lang="en-US" altLang="zh-CN" sz="2400" dirty="0">
                <a:latin typeface="黑体" panose="02010609060101010101" charset="-122"/>
                <a:ea typeface="黑体" panose="02010609060101010101" charset="-122"/>
                <a:cs typeface="黑体" panose="02010609060101010101" charset="-122"/>
                <a:sym typeface="+mn-ea"/>
              </a:rPr>
              <a:t>OJ</a:t>
            </a:r>
            <a:r>
              <a:rPr lang="zh-CN" altLang="en-US" sz="2400" dirty="0">
                <a:latin typeface="黑体" panose="02010609060101010101" charset="-122"/>
                <a:ea typeface="黑体" panose="02010609060101010101" charset="-122"/>
                <a:cs typeface="黑体" panose="02010609060101010101" charset="-122"/>
                <a:sym typeface="+mn-ea"/>
              </a:rPr>
              <a:t>系统的自动判题如下</a:t>
            </a:r>
            <a:endParaRPr lang="zh-CN" altLang="en-US" sz="2400" kern="1200" dirty="0">
              <a:solidFill>
                <a:srgbClr val="FF0000"/>
              </a:solidFill>
              <a:latin typeface="黑体" panose="02010609060101010101" charset="-122"/>
              <a:ea typeface="黑体" panose="02010609060101010101" charset="-122"/>
              <a:cs typeface="黑体" panose="02010609060101010101" charset="-122"/>
            </a:endParaRPr>
          </a:p>
          <a:p>
            <a:pPr lvl="1" algn="l" eaLnBrk="1" hangingPunct="1">
              <a:lnSpc>
                <a:spcPct val="100000"/>
              </a:lnSpc>
              <a:spcBef>
                <a:spcPts val="0"/>
              </a:spcBef>
              <a:buClrTx/>
              <a:buSzTx/>
            </a:pPr>
            <a:r>
              <a:rPr lang="zh-CN" altLang="en-US" dirty="0">
                <a:latin typeface="宋体" panose="02010600030101010101" pitchFamily="2" charset="-122"/>
                <a:ea typeface="宋体" panose="02010600030101010101" pitchFamily="2" charset="-122"/>
                <a:sym typeface="宋体" panose="02010600030101010101" pitchFamily="2" charset="-122"/>
              </a:rPr>
              <a:t>答案正确</a:t>
            </a:r>
            <a:r>
              <a:rPr lang="en-US" altLang="zh-CN" dirty="0">
                <a:latin typeface="宋体" panose="02010600030101010101" pitchFamily="2" charset="-122"/>
                <a:ea typeface="宋体" panose="02010600030101010101" pitchFamily="2" charset="-122"/>
                <a:sym typeface="宋体" panose="02010600030101010101" pitchFamily="2" charset="-122"/>
              </a:rPr>
              <a:t>/AC</a:t>
            </a:r>
            <a:r>
              <a:rPr lang="zh-CN" altLang="en-US" dirty="0">
                <a:latin typeface="宋体" panose="02010600030101010101" pitchFamily="2" charset="-122"/>
                <a:ea typeface="宋体" panose="02010600030101010101" pitchFamily="2" charset="-122"/>
                <a:sym typeface="宋体" panose="02010600030101010101" pitchFamily="2" charset="-122"/>
              </a:rPr>
              <a:t>，程序通过所有预先设置的测试数据，最高得分比例</a:t>
            </a:r>
            <a:r>
              <a:rPr lang="en-US" altLang="zh-CN" dirty="0">
                <a:latin typeface="宋体" panose="02010600030101010101" pitchFamily="2" charset="-122"/>
                <a:ea typeface="宋体" panose="02010600030101010101" pitchFamily="2" charset="-122"/>
                <a:sym typeface="宋体" panose="02010600030101010101" pitchFamily="2" charset="-122"/>
              </a:rPr>
              <a:t>100%</a:t>
            </a:r>
            <a:endParaRPr lang="en-US" altLang="zh-CN"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dirty="0">
                <a:latin typeface="宋体" panose="02010600030101010101" pitchFamily="2" charset="-122"/>
                <a:ea typeface="宋体" panose="02010600030101010101" pitchFamily="2" charset="-122"/>
                <a:sym typeface="宋体" panose="02010600030101010101" pitchFamily="2" charset="-122"/>
              </a:rPr>
              <a:t>格式错误</a:t>
            </a:r>
            <a:r>
              <a:rPr lang="en-US" altLang="zh-CN" dirty="0">
                <a:latin typeface="宋体" panose="02010600030101010101" pitchFamily="2" charset="-122"/>
                <a:ea typeface="宋体" panose="02010600030101010101" pitchFamily="2" charset="-122"/>
                <a:sym typeface="宋体" panose="02010600030101010101" pitchFamily="2" charset="-122"/>
              </a:rPr>
              <a:t>/PE</a:t>
            </a:r>
            <a:r>
              <a:rPr lang="zh-CN" altLang="en-US" dirty="0">
                <a:latin typeface="宋体" panose="02010600030101010101" pitchFamily="2" charset="-122"/>
                <a:ea typeface="宋体" panose="02010600030101010101" pitchFamily="2" charset="-122"/>
                <a:sym typeface="宋体" panose="02010600030101010101" pitchFamily="2" charset="-122"/>
              </a:rPr>
              <a:t>，程序输出有小错误，最高得分比例</a:t>
            </a:r>
            <a:r>
              <a:rPr lang="en-US" altLang="zh-CN" dirty="0">
                <a:latin typeface="宋体" panose="02010600030101010101" pitchFamily="2" charset="-122"/>
                <a:ea typeface="宋体" panose="02010600030101010101" pitchFamily="2" charset="-122"/>
                <a:sym typeface="宋体" panose="02010600030101010101" pitchFamily="2" charset="-122"/>
              </a:rPr>
              <a:t>90%</a:t>
            </a:r>
            <a:endParaRPr lang="zh-CN" altLang="en-US"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sz="2400" dirty="0">
                <a:latin typeface="宋体" panose="02010600030101010101" pitchFamily="2" charset="-122"/>
                <a:ea typeface="宋体" panose="02010600030101010101" pitchFamily="2" charset="-122"/>
                <a:sym typeface="宋体" panose="02010600030101010101" pitchFamily="2" charset="-122"/>
              </a:rPr>
              <a:t>部分正确，程序通过部分测试数据，部分未通过，最高得分比例</a:t>
            </a:r>
            <a:r>
              <a:rPr lang="en-US" altLang="zh-CN" sz="2400" dirty="0">
                <a:latin typeface="宋体" panose="02010600030101010101" pitchFamily="2" charset="-122"/>
                <a:ea typeface="宋体" panose="02010600030101010101" pitchFamily="2" charset="-122"/>
                <a:sym typeface="宋体" panose="02010600030101010101" pitchFamily="2" charset="-122"/>
              </a:rPr>
              <a:t>85%</a:t>
            </a:r>
            <a:endParaRPr lang="en-US" altLang="zh-CN" sz="2400"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sz="2400" dirty="0">
                <a:latin typeface="宋体" panose="02010600030101010101" pitchFamily="2" charset="-122"/>
                <a:ea typeface="宋体" panose="02010600030101010101" pitchFamily="2" charset="-122"/>
                <a:sym typeface="宋体" panose="02010600030101010101" pitchFamily="2" charset="-122"/>
              </a:rPr>
              <a:t>答案错误，程序所有测试数据均未通过，但符合语法标准</a:t>
            </a:r>
            <a:endParaRPr lang="en-US" altLang="zh-CN"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r>
              <a:rPr lang="zh-CN" altLang="en-US" sz="2400" dirty="0">
                <a:latin typeface="宋体" panose="02010600030101010101" pitchFamily="2" charset="-122"/>
                <a:ea typeface="宋体" panose="02010600030101010101" pitchFamily="2" charset="-122"/>
                <a:sym typeface="宋体" panose="02010600030101010101" pitchFamily="2" charset="-122"/>
              </a:rPr>
              <a:t>其他错误，程序存在某种逻辑错误，例如死循环、数组越界等，导致程序没有执行完成，无法获得输出结果</a:t>
            </a:r>
            <a:endParaRPr lang="zh-CN" altLang="en-US" sz="2400" dirty="0">
              <a:latin typeface="宋体" panose="02010600030101010101" pitchFamily="2" charset="-122"/>
              <a:ea typeface="宋体" panose="02010600030101010101" pitchFamily="2" charset="-122"/>
              <a:sym typeface="宋体" panose="02010600030101010101" pitchFamily="2" charset="-122"/>
            </a:endParaRPr>
          </a:p>
          <a:p>
            <a:pPr lvl="1" algn="l" eaLnBrk="1" hangingPunct="1">
              <a:lnSpc>
                <a:spcPct val="100000"/>
              </a:lnSpc>
              <a:spcBef>
                <a:spcPts val="0"/>
              </a:spcBef>
              <a:buClrTx/>
              <a:buSzTx/>
            </a:pPr>
            <a:endParaRPr lang="zh-CN" altLang="en-US" sz="2400" dirty="0">
              <a:latin typeface="宋体" panose="02010600030101010101" pitchFamily="2" charset="-122"/>
              <a:ea typeface="宋体" panose="02010600030101010101" pitchFamily="2" charset="-122"/>
              <a:sym typeface="宋体" panose="02010600030101010101" pitchFamily="2" charset="-122"/>
            </a:endParaRPr>
          </a:p>
          <a:p>
            <a:pPr marL="228600" lvl="1" algn="l" eaLnBrk="1" hangingPunct="1">
              <a:lnSpc>
                <a:spcPct val="100000"/>
              </a:lnSpc>
              <a:spcBef>
                <a:spcPts val="0"/>
              </a:spcBef>
              <a:buClrTx/>
              <a:buSzTx/>
              <a:buChar char="•"/>
            </a:pPr>
            <a:endParaRPr lang="zh-CN" altLang="en-US" dirty="0">
              <a:latin typeface="黑体" panose="02010609060101010101" charset="-122"/>
              <a:ea typeface="黑体" panose="02010609060101010101" charset="-122"/>
              <a:cs typeface="黑体" panose="02010609060101010101" charset="-122"/>
              <a:sym typeface="+mn-ea"/>
            </a:endParaRPr>
          </a:p>
          <a:p>
            <a:pPr marL="228600" lvl="1" algn="l" eaLnBrk="1" hangingPunct="1">
              <a:lnSpc>
                <a:spcPct val="100000"/>
              </a:lnSpc>
              <a:spcBef>
                <a:spcPts val="0"/>
              </a:spcBef>
              <a:buClrTx/>
              <a:buSzTx/>
              <a:buChar char="•"/>
            </a:pPr>
            <a:r>
              <a:rPr lang="zh-CN" altLang="en-US" dirty="0">
                <a:latin typeface="黑体" panose="02010609060101010101" charset="-122"/>
                <a:ea typeface="黑体" panose="02010609060101010101" charset="-122"/>
                <a:cs typeface="黑体" panose="02010609060101010101" charset="-122"/>
                <a:sym typeface="+mn-ea"/>
              </a:rPr>
              <a:t>提示：老师会查看学生代码，</a:t>
            </a:r>
            <a:r>
              <a:rPr lang="en-US" altLang="zh-CN" dirty="0">
                <a:latin typeface="黑体" panose="02010609060101010101" charset="-122"/>
                <a:ea typeface="黑体" panose="02010609060101010101" charset="-122"/>
                <a:cs typeface="黑体" panose="02010609060101010101" charset="-122"/>
                <a:sym typeface="+mn-ea"/>
              </a:rPr>
              <a:t>OJ</a:t>
            </a:r>
            <a:r>
              <a:rPr lang="zh-CN" altLang="en-US" dirty="0">
                <a:latin typeface="黑体" panose="02010609060101010101" charset="-122"/>
                <a:ea typeface="黑体" panose="02010609060101010101" charset="-122"/>
                <a:cs typeface="黑体" panose="02010609060101010101" charset="-122"/>
                <a:sym typeface="+mn-ea"/>
              </a:rPr>
              <a:t>系统的自动判题结果仅是辅助</a:t>
            </a:r>
            <a:endParaRPr lang="zh-CN" altLang="en-US" dirty="0">
              <a:latin typeface="黑体" panose="02010609060101010101" charset="-122"/>
              <a:ea typeface="黑体" panose="02010609060101010101" charset="-122"/>
              <a:cs typeface="黑体" panose="02010609060101010101" charset="-122"/>
              <a:sym typeface="+mn-ea"/>
            </a:endParaRPr>
          </a:p>
          <a:p>
            <a:pPr marL="228600" lvl="1" algn="l" eaLnBrk="1" hangingPunct="1">
              <a:lnSpc>
                <a:spcPct val="100000"/>
              </a:lnSpc>
              <a:spcBef>
                <a:spcPts val="0"/>
              </a:spcBef>
              <a:buClrTx/>
              <a:buSzTx/>
              <a:buChar char="•"/>
            </a:pPr>
            <a:r>
              <a:rPr lang="zh-CN" altLang="en-US" dirty="0">
                <a:solidFill>
                  <a:srgbClr val="FF0000"/>
                </a:solidFill>
                <a:latin typeface="黑体" panose="02010609060101010101" charset="-122"/>
                <a:ea typeface="黑体" panose="02010609060101010101" charset="-122"/>
                <a:cs typeface="黑体" panose="02010609060101010101" charset="-122"/>
                <a:sym typeface="+mn-ea"/>
              </a:rPr>
              <a:t>注意：即使</a:t>
            </a:r>
            <a:r>
              <a:rPr lang="en-US" altLang="zh-CN" dirty="0">
                <a:solidFill>
                  <a:srgbClr val="FF0000"/>
                </a:solidFill>
                <a:latin typeface="黑体" panose="02010609060101010101" charset="-122"/>
                <a:ea typeface="黑体" panose="02010609060101010101" charset="-122"/>
                <a:cs typeface="黑体" panose="02010609060101010101" charset="-122"/>
                <a:sym typeface="+mn-ea"/>
              </a:rPr>
              <a:t>OJ</a:t>
            </a:r>
            <a:r>
              <a:rPr lang="zh-CN" altLang="en-US" dirty="0">
                <a:solidFill>
                  <a:srgbClr val="FF0000"/>
                </a:solidFill>
                <a:latin typeface="黑体" panose="02010609060101010101" charset="-122"/>
                <a:ea typeface="黑体" panose="02010609060101010101" charset="-122"/>
                <a:cs typeface="黑体" panose="02010609060101010101" charset="-122"/>
                <a:sym typeface="+mn-ea"/>
              </a:rPr>
              <a:t>判题结果是</a:t>
            </a:r>
            <a:r>
              <a:rPr lang="en-US" altLang="zh-CN" dirty="0">
                <a:solidFill>
                  <a:srgbClr val="FF0000"/>
                </a:solidFill>
                <a:latin typeface="黑体" panose="02010609060101010101" charset="-122"/>
                <a:ea typeface="黑体" panose="02010609060101010101" charset="-122"/>
                <a:cs typeface="黑体" panose="02010609060101010101" charset="-122"/>
                <a:sym typeface="+mn-ea"/>
              </a:rPr>
              <a:t>AC</a:t>
            </a:r>
            <a:r>
              <a:rPr lang="zh-CN" altLang="en-US" dirty="0">
                <a:solidFill>
                  <a:srgbClr val="FF0000"/>
                </a:solidFill>
                <a:latin typeface="黑体" panose="02010609060101010101" charset="-122"/>
                <a:ea typeface="黑体" panose="02010609060101010101" charset="-122"/>
                <a:cs typeface="黑体" panose="02010609060101010101" charset="-122"/>
                <a:sym typeface="+mn-ea"/>
              </a:rPr>
              <a:t>，如果没有按照题目要求完成，也不能得满分</a:t>
            </a:r>
            <a:endParaRPr lang="zh-CN" altLang="en-US" dirty="0">
              <a:solidFill>
                <a:srgbClr val="FF0000"/>
              </a:solidFill>
              <a:latin typeface="黑体" panose="02010609060101010101" charset="-122"/>
              <a:ea typeface="黑体" panose="02010609060101010101" charset="-122"/>
              <a:cs typeface="黑体" panose="02010609060101010101" charset="-122"/>
              <a:sym typeface="+mn-ea"/>
            </a:endParaRPr>
          </a:p>
          <a:p>
            <a:pPr marL="0" lvl="1" algn="l" eaLnBrk="1" hangingPunct="1">
              <a:lnSpc>
                <a:spcPct val="100000"/>
              </a:lnSpc>
              <a:spcBef>
                <a:spcPts val="0"/>
              </a:spcBef>
              <a:buClrTx/>
              <a:buSzTx/>
              <a:buChar char="•"/>
            </a:pPr>
            <a:r>
              <a:rPr lang="zh-CN" altLang="en-US" dirty="0">
                <a:solidFill>
                  <a:srgbClr val="FF0000"/>
                </a:solidFill>
                <a:latin typeface="黑体" panose="02010609060101010101" charset="-122"/>
                <a:ea typeface="黑体" panose="02010609060101010101" charset="-122"/>
                <a:cs typeface="黑体" panose="02010609060101010101" charset="-122"/>
                <a:sym typeface="+mn-ea"/>
              </a:rPr>
              <a:t>注意：</a:t>
            </a:r>
            <a:r>
              <a:rPr lang="zh-CN" altLang="en-US"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rPr>
              <a:t>以上评分比例仅供参考，实际得分比例由各个课程老师确定</a:t>
            </a:r>
            <a:endParaRPr lang="zh-CN" altLang="en-US" dirty="0">
              <a:solidFill>
                <a:srgbClr val="FF0000"/>
              </a:solidFill>
              <a:latin typeface="黑体" panose="02010609060101010101" charset="-122"/>
              <a:ea typeface="黑体" panose="02010609060101010101" charset="-122"/>
              <a:cs typeface="黑体" panose="02010609060101010101" charset="-122"/>
              <a:sym typeface="宋体" panose="02010600030101010101" pitchFamily="2" charset="-122"/>
            </a:endParaRPr>
          </a:p>
          <a:p>
            <a:pPr marL="228600" lvl="1" algn="l" eaLnBrk="1" hangingPunct="1">
              <a:lnSpc>
                <a:spcPct val="100000"/>
              </a:lnSpc>
              <a:spcBef>
                <a:spcPts val="0"/>
              </a:spcBef>
              <a:buClrTx/>
              <a:buSzTx/>
              <a:buChar char="•"/>
            </a:pPr>
            <a:endParaRPr lang="zh-CN" altLang="en-US" kern="1200" dirty="0">
              <a:solidFill>
                <a:srgbClr val="FF0000"/>
              </a:solidFill>
              <a:latin typeface="黑体" panose="02010609060101010101" charset="-122"/>
              <a:ea typeface="黑体" panose="02010609060101010101" charset="-122"/>
              <a:cs typeface="黑体" panose="02010609060101010101" charset="-122"/>
            </a:endParaRPr>
          </a:p>
          <a:p>
            <a:pPr lvl="1" algn="l" eaLnBrk="1" hangingPunct="1">
              <a:lnSpc>
                <a:spcPct val="100000"/>
              </a:lnSpc>
              <a:spcBef>
                <a:spcPts val="0"/>
              </a:spcBef>
              <a:buClrTx/>
              <a:buSzTx/>
            </a:pPr>
            <a:endParaRPr lang="zh-CN" altLang="en-US" sz="2400" dirty="0">
              <a:latin typeface="宋体" panose="02010600030101010101" pitchFamily="2" charset="-122"/>
              <a:ea typeface="宋体" panose="02010600030101010101" pitchFamily="2" charset="-122"/>
              <a:sym typeface="宋体" panose="02010600030101010101" pitchFamily="2" charset="-122"/>
            </a:endParaRPr>
          </a:p>
          <a:p>
            <a:pPr marR="0" lvl="1" algn="l" defTabSz="914400" rtl="0" eaLnBrk="1" latinLnBrk="0" hangingPunct="1">
              <a:lnSpc>
                <a:spcPct val="100000"/>
              </a:lnSpc>
              <a:spcBef>
                <a:spcPts val="0"/>
              </a:spcBef>
              <a:buClrTx/>
              <a:buSzTx/>
            </a:pPr>
            <a:endParaRPr kumimoji="0" lang="zh-CN" altLang="en-US" sz="2400" i="0" u="none" strike="noStrike" kern="1200" cap="none" spc="0" normalizeH="0" baseline="0" noProof="1" dirty="0">
              <a:solidFill>
                <a:schemeClr val="tx1"/>
              </a:solidFill>
              <a:latin typeface="宋体" panose="02010600030101010101" pitchFamily="2" charset="-122"/>
              <a:ea typeface="宋体" panose="02010600030101010101" pitchFamily="2" charset="-122"/>
            </a:endParaRPr>
          </a:p>
          <a:p>
            <a:pPr marL="228600" lvl="1" algn="l" eaLnBrk="1" hangingPunct="1">
              <a:spcBef>
                <a:spcPts val="1000"/>
              </a:spcBef>
              <a:buFont typeface="Wingdings" panose="05000000000000000000" charset="0"/>
            </a:pPr>
            <a:endParaRPr lang="zh-CN" altLang="en-US" sz="2400" dirty="0">
              <a:latin typeface="黑体" panose="02010609060101010101" charset="-122"/>
              <a:ea typeface="黑体" panose="02010609060101010101" charset="-122"/>
              <a:sym typeface="+mn-ea"/>
            </a:endParaRPr>
          </a:p>
          <a:p>
            <a:pPr lvl="1" algn="l" eaLnBrk="1" hangingPunct="1">
              <a:lnSpc>
                <a:spcPct val="100000"/>
              </a:lnSpc>
              <a:spcBef>
                <a:spcPts val="0"/>
              </a:spcBef>
              <a:buClrTx/>
              <a:buSzTx/>
            </a:pPr>
            <a:endParaRPr lang="zh-CN" altLang="en-US" sz="2400" kern="1200" dirty="0">
              <a:latin typeface="宋体" panose="02010600030101010101" pitchFamily="2" charset="-122"/>
              <a:ea typeface="宋体" panose="02010600030101010101" pitchFamily="2" charset="-122"/>
            </a:endParaRPr>
          </a:p>
          <a:p>
            <a:pPr lvl="1" eaLnBrk="1" hangingPunct="1">
              <a:buFont typeface="Wingdings" panose="05000000000000000000" charset="0"/>
            </a:pPr>
            <a:endParaRPr lang="zh-CN" altLang="en-US" sz="2800" kern="1200" dirty="0">
              <a:solidFill>
                <a:srgbClr val="FF0000"/>
              </a:solidFill>
              <a:latin typeface="+mn-lt"/>
              <a:ea typeface="+mn-ea"/>
              <a:cs typeface="+mn-cs"/>
            </a:endParaRPr>
          </a:p>
          <a:p>
            <a:pPr marL="228600" lvl="1" algn="l" eaLnBrk="1" hangingPunct="1">
              <a:spcBef>
                <a:spcPts val="1000"/>
              </a:spcBef>
            </a:pPr>
            <a:endParaRPr lang="en-US" altLang="zh-CN" sz="2800" noProof="0" dirty="0" smtClean="0">
              <a:ln>
                <a:noFill/>
              </a:ln>
              <a:effectLst/>
              <a:uLnTx/>
              <a:uFillTx/>
              <a:sym typeface="+mn-ea"/>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Segoe Print"/>
        <a:cs typeface="Segoe Print"/>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Segoe Print"/>
        <a:cs typeface="Segoe Print"/>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2132</Words>
  <Application>WPS 演示</Application>
  <PresentationFormat>宽屏</PresentationFormat>
  <Paragraphs>137</Paragraphs>
  <Slides>11</Slides>
  <Notes>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宋体</vt:lpstr>
      <vt:lpstr>Wingdings</vt:lpstr>
      <vt:lpstr>Tahoma</vt:lpstr>
      <vt:lpstr>Times New Roman</vt:lpstr>
      <vt:lpstr>微软雅黑</vt:lpstr>
      <vt:lpstr>黑体</vt:lpstr>
      <vt:lpstr>Copperplate Gothic Bold</vt:lpstr>
      <vt:lpstr>Wingdings</vt:lpstr>
      <vt:lpstr>Calibri</vt:lpstr>
      <vt:lpstr>等线</vt:lpstr>
      <vt:lpstr>Arial Unicode MS</vt:lpstr>
      <vt:lpstr>Office 主题</vt:lpstr>
      <vt:lpstr>PowerPoint 演示文稿</vt:lpstr>
      <vt:lpstr>在线判题系统概述</vt:lpstr>
      <vt:lpstr>1.系统登录与资料修改</vt:lpstr>
      <vt:lpstr>2.实验操作</vt:lpstr>
      <vt:lpstr>2.实验操作</vt:lpstr>
      <vt:lpstr>2.实验操作</vt:lpstr>
      <vt:lpstr>2.实验操作</vt:lpstr>
      <vt:lpstr>2.实验操作</vt:lpstr>
      <vt:lpstr>2.实验操作</vt:lpstr>
      <vt:lpstr>3.查看本次实验所有结果</vt:lpstr>
      <vt:lpstr>OJ系统判题结果</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信息资源管理</dc:title>
  <dc:creator>AndrewandPipi</dc:creator>
  <cp:lastModifiedBy>bai</cp:lastModifiedBy>
  <cp:revision>275</cp:revision>
  <dcterms:created xsi:type="dcterms:W3CDTF">2011-02-28T11:45:00Z</dcterms:created>
  <dcterms:modified xsi:type="dcterms:W3CDTF">2021-09-03T05:50:11Z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2052-11.8.2.8361</vt:lpwstr>
  </property>
  <property fmtid="{D5CDD505-2E9C-101B-9397-08002B2CF9AE}" pid="3" name="ICV">
    <vt:lpwstr>370A10B3C91942D197BA07BD6D552731</vt:lpwstr>
  </property>
</Properties>
</file>