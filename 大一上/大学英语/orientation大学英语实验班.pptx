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8" r:id="rId3"/>
    <p:sldId id="259" r:id="rId4"/>
    <p:sldId id="277" r:id="rId5"/>
    <p:sldId id="260" r:id="rId6"/>
    <p:sldId id="265" r:id="rId7"/>
    <p:sldId id="264" r:id="rId8"/>
    <p:sldId id="267" r:id="rId9"/>
    <p:sldId id="268" r:id="rId10"/>
    <p:sldId id="270" r:id="rId11"/>
    <p:sldId id="271" r:id="rId12"/>
    <p:sldId id="272" r:id="rId13"/>
    <p:sldId id="266" r:id="rId14"/>
    <p:sldId id="261" r:id="rId15"/>
    <p:sldId id="262" r:id="rId16"/>
    <p:sldId id="263" r:id="rId17"/>
    <p:sldId id="273" r:id="rId18"/>
    <p:sldId id="278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5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2151670"/>
          </a:xfrm>
        </p:spPr>
        <p:txBody>
          <a:bodyPr>
            <a:normAutofit/>
          </a:bodyPr>
          <a:lstStyle/>
          <a:p>
            <a:r>
              <a:rPr lang="en-US" altLang="zh-CN" dirty="0"/>
              <a:t>Li </a:t>
            </a:r>
            <a:r>
              <a:rPr lang="en-US" altLang="zh-CN" dirty="0" err="1"/>
              <a:t>Li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School of International Studies</a:t>
            </a:r>
          </a:p>
          <a:p>
            <a:r>
              <a:rPr lang="en-US" altLang="zh-CN" dirty="0"/>
              <a:t>Shenzhen University</a:t>
            </a:r>
          </a:p>
          <a:p>
            <a:r>
              <a:rPr lang="en-US" altLang="zh-CN" dirty="0"/>
              <a:t>Oct. 9 2023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6000" dirty="0"/>
              <a:t>College English</a:t>
            </a:r>
            <a:r>
              <a:rPr lang="en-US" altLang="zh-CN" dirty="0"/>
              <a:t> 1</a:t>
            </a:r>
            <a:br>
              <a:rPr lang="en-US" altLang="zh-CN" dirty="0"/>
            </a:br>
            <a:r>
              <a:rPr lang="en-US" altLang="zh-CN" dirty="0"/>
              <a:t>(Experimental Class)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Class Orientation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0" y="1500174"/>
            <a:ext cx="8929718" cy="5357826"/>
          </a:xfrm>
        </p:spPr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zh-CN" altLang="en-US" sz="5200" dirty="0"/>
              <a:t>College English</a:t>
            </a:r>
            <a:r>
              <a:rPr lang="en-US" altLang="zh-CN" sz="5200" dirty="0"/>
              <a:t>—Experimental Class  (IELTS oriented) </a:t>
            </a:r>
          </a:p>
          <a:p>
            <a:pPr lvl="1">
              <a:defRPr/>
            </a:pPr>
            <a:r>
              <a:rPr lang="zh-CN" altLang="en-US" sz="5200" dirty="0"/>
              <a:t> a </a:t>
            </a:r>
            <a:r>
              <a:rPr lang="en-US" altLang="zh-CN" sz="5200" b="1" i="1" dirty="0"/>
              <a:t>basic general </a:t>
            </a:r>
            <a:r>
              <a:rPr lang="zh-CN" altLang="en-US" sz="5200" dirty="0"/>
              <a:t>course</a:t>
            </a:r>
            <a:r>
              <a:rPr lang="en-US" altLang="zh-CN" sz="5200" dirty="0"/>
              <a:t>:</a:t>
            </a:r>
          </a:p>
          <a:p>
            <a:pPr lvl="1">
              <a:defRPr/>
            </a:pPr>
            <a:r>
              <a:rPr lang="en-US" altLang="zh-CN" sz="5200" dirty="0"/>
              <a:t> o</a:t>
            </a:r>
            <a:r>
              <a:rPr lang="zh-CN" altLang="en-US" sz="5200" dirty="0"/>
              <a:t>ne academic year</a:t>
            </a:r>
            <a:r>
              <a:rPr lang="en-US" altLang="zh-CN" sz="5200" dirty="0"/>
              <a:t>: </a:t>
            </a:r>
          </a:p>
          <a:p>
            <a:pPr lvl="1">
              <a:buNone/>
              <a:defRPr/>
            </a:pPr>
            <a:r>
              <a:rPr lang="en-US" altLang="zh-CN" sz="5200" dirty="0"/>
              <a:t>    reading &amp; listening(4 credits)</a:t>
            </a:r>
          </a:p>
          <a:p>
            <a:pPr lvl="1">
              <a:buNone/>
              <a:defRPr/>
            </a:pPr>
            <a:r>
              <a:rPr lang="en-US" altLang="zh-CN" sz="5200" dirty="0"/>
              <a:t>    writing(2 credits)</a:t>
            </a:r>
            <a:endParaRPr lang="en-US" altLang="zh-CN" sz="3200" dirty="0"/>
          </a:p>
          <a:p>
            <a:pPr lvl="1">
              <a:defRPr/>
            </a:pPr>
            <a:endParaRPr lang="en-US" altLang="zh-CN" sz="3200" dirty="0"/>
          </a:p>
          <a:p>
            <a:pPr lvl="1">
              <a:defRPr/>
            </a:pPr>
            <a:endParaRPr lang="en-US" altLang="zh-CN" sz="3200" dirty="0"/>
          </a:p>
          <a:p>
            <a:pPr lvl="1">
              <a:defRPr/>
            </a:pPr>
            <a:endParaRPr lang="en-US" altLang="zh-CN" dirty="0"/>
          </a:p>
          <a:p>
            <a:pPr>
              <a:buNone/>
              <a:defRPr/>
            </a:pPr>
            <a:r>
              <a:rPr lang="en-US" altLang="zh-CN" dirty="0"/>
              <a:t>  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57224" y="1857364"/>
            <a:ext cx="7772400" cy="4572000"/>
          </a:xfrm>
        </p:spPr>
        <p:txBody>
          <a:bodyPr>
            <a:normAutofit/>
          </a:bodyPr>
          <a:lstStyle/>
          <a:p>
            <a:r>
              <a:rPr lang="en-US" sz="3600" b="1" dirty="0"/>
              <a:t>Final grade= ongoing assessment (60%)+ final exam (40%)</a:t>
            </a:r>
            <a:endParaRPr lang="zh-CN" altLang="en-US" sz="36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10139-FF41-4892-B5D1-D09CAF99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193BC-4B68-49F8-B286-56A92B759E0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Final exam: two hours</a:t>
            </a:r>
          </a:p>
          <a:p>
            <a:r>
              <a:rPr lang="en-US" altLang="zh-CN" sz="3600" dirty="0"/>
              <a:t>Listening: 45%  IELTS listening, Section1,2,3 (twice)</a:t>
            </a:r>
          </a:p>
          <a:p>
            <a:r>
              <a:rPr lang="en-US" altLang="zh-CN" sz="3600" dirty="0"/>
              <a:t>Reading:   55%  IELTS reading, 2 passages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67936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33528"/>
          </a:xfrm>
        </p:spPr>
        <p:txBody>
          <a:bodyPr>
            <a:normAutofit/>
          </a:bodyPr>
          <a:lstStyle/>
          <a:p>
            <a:r>
              <a:rPr lang="en-US" sz="3600" b="1" dirty="0"/>
              <a:t>Ongoing assessment (100%)</a:t>
            </a:r>
            <a:endParaRPr lang="zh-CN" altLang="en-US" sz="3600" dirty="0"/>
          </a:p>
          <a:p>
            <a:pPr marL="514350" indent="-514350">
              <a:buFont typeface="Wingdings 2"/>
              <a:buAutoNum type="arabicPeriod"/>
            </a:pPr>
            <a:r>
              <a:rPr lang="en-US" altLang="zh-CN" sz="3600" dirty="0"/>
              <a:t>Presentation 30% (individual)</a:t>
            </a:r>
          </a:p>
          <a:p>
            <a:pPr marL="514350" indent="-514350">
              <a:buAutoNum type="arabicPeriod"/>
            </a:pPr>
            <a:r>
              <a:rPr lang="en-US" sz="3600" dirty="0"/>
              <a:t>Quiz 20% (listening)</a:t>
            </a:r>
          </a:p>
          <a:p>
            <a:pPr marL="514350" indent="-514350">
              <a:buAutoNum type="arabicPeriod"/>
            </a:pPr>
            <a:r>
              <a:rPr lang="en-US" altLang="zh-CN" sz="3600" dirty="0"/>
              <a:t>Class participation 30% (group)</a:t>
            </a:r>
          </a:p>
          <a:p>
            <a:pPr marL="514350" indent="-514350">
              <a:buAutoNum type="arabicPeriod"/>
            </a:pPr>
            <a:r>
              <a:rPr lang="en-US" sz="3600" dirty="0"/>
              <a:t>Homework 10% (reading/vocabulary)</a:t>
            </a:r>
          </a:p>
          <a:p>
            <a:pPr marL="514350" indent="-514350">
              <a:buAutoNum type="arabicPeriod"/>
            </a:pPr>
            <a:r>
              <a:rPr lang="en-US" sz="3600" dirty="0"/>
              <a:t>Writing task 1</a:t>
            </a:r>
            <a:r>
              <a:rPr lang="en-US" altLang="zh-CN" sz="3600" dirty="0"/>
              <a:t>0% (www.pigai.org)</a:t>
            </a:r>
            <a:endParaRPr lang="zh-CN" altLang="en-US" sz="3600" dirty="0"/>
          </a:p>
          <a:p>
            <a:pPr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000108"/>
            <a:ext cx="7772400" cy="928694"/>
          </a:xfrm>
        </p:spPr>
        <p:txBody>
          <a:bodyPr>
            <a:normAutofit fontScale="90000"/>
          </a:bodyPr>
          <a:lstStyle/>
          <a:p>
            <a:pPr algn="ctr"/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About our books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Reading:</a:t>
            </a:r>
          </a:p>
          <a:p>
            <a:r>
              <a:rPr lang="en-US" altLang="zh-CN" sz="4800" dirty="0"/>
              <a:t>Listening:</a:t>
            </a:r>
            <a:endParaRPr lang="zh-CN" alt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143372" y="3286124"/>
            <a:ext cx="15716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3600" dirty="0"/>
              <a:t>Knowing about each other.</a:t>
            </a:r>
          </a:p>
          <a:p>
            <a:pPr eaLnBrk="1" hangingPunct="1"/>
            <a:r>
              <a:rPr lang="zh-CN" altLang="en-US" sz="3600" dirty="0"/>
              <a:t>your name: special meanings and origin of your name</a:t>
            </a:r>
          </a:p>
          <a:p>
            <a:pPr eaLnBrk="1" hangingPunct="1"/>
            <a:r>
              <a:rPr lang="zh-CN" altLang="en-US" sz="3600" dirty="0"/>
              <a:t>hometown: famous for ...</a:t>
            </a:r>
          </a:p>
          <a:p>
            <a:pPr eaLnBrk="1" hangingPunct="1"/>
            <a:r>
              <a:rPr lang="zh-CN" altLang="en-US" sz="3600" dirty="0"/>
              <a:t>hobby: how do you become interested in that?</a:t>
            </a:r>
          </a:p>
          <a:p>
            <a:pPr eaLnBrk="1" hangingPunct="1"/>
            <a:r>
              <a:rPr lang="zh-CN" altLang="en-US" sz="3600" dirty="0"/>
              <a:t>major: why do you choose this major?</a:t>
            </a:r>
          </a:p>
          <a:p>
            <a:pPr eaLnBrk="1" hangingPunct="1"/>
            <a:r>
              <a:rPr lang="zh-CN" altLang="en-US" sz="3600" dirty="0"/>
              <a:t>......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dirty="0"/>
              <a:t>Talk with your partner about your impression of Shenzhen University.</a:t>
            </a:r>
          </a:p>
          <a:p>
            <a:pPr eaLnBrk="1" hangingPunct="1">
              <a:buFontTx/>
              <a:buNone/>
            </a:pPr>
            <a:r>
              <a:rPr lang="en-US" altLang="zh-CN" sz="3600" dirty="0"/>
              <a:t>    --the campus (surroundings and facilities)</a:t>
            </a:r>
          </a:p>
          <a:p>
            <a:pPr eaLnBrk="1" hangingPunct="1">
              <a:buFontTx/>
              <a:buNone/>
            </a:pPr>
            <a:r>
              <a:rPr lang="en-US" altLang="zh-CN" sz="3600" dirty="0"/>
              <a:t>    --the teachers</a:t>
            </a:r>
          </a:p>
          <a:p>
            <a:pPr eaLnBrk="1" hangingPunct="1">
              <a:buFontTx/>
              <a:buNone/>
            </a:pPr>
            <a:r>
              <a:rPr lang="en-US" altLang="zh-CN" sz="3600" dirty="0"/>
              <a:t>    --the fellow students</a:t>
            </a:r>
          </a:p>
          <a:p>
            <a:pPr eaLnBrk="1" hangingPunct="1">
              <a:buFontTx/>
              <a:buNone/>
            </a:pPr>
            <a:r>
              <a:rPr lang="en-US" altLang="zh-CN" sz="3600" dirty="0"/>
              <a:t>    --your senior students</a:t>
            </a:r>
          </a:p>
          <a:p>
            <a:pPr eaLnBrk="1" hangingPunct="1">
              <a:buFontTx/>
              <a:buNone/>
            </a:pPr>
            <a:r>
              <a:rPr lang="en-US" altLang="zh-CN" sz="3600" dirty="0"/>
              <a:t>    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How to be an effective learner?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/>
              <a:t>college English vs. school English</a:t>
            </a:r>
          </a:p>
          <a:p>
            <a:pPr eaLnBrk="1" hangingPunct="1">
              <a:buFontTx/>
              <a:buNone/>
            </a:pPr>
            <a:r>
              <a:rPr lang="zh-CN" altLang="en-US" sz="3600" dirty="0"/>
              <a:t>   How did you study English in high school?</a:t>
            </a:r>
          </a:p>
          <a:p>
            <a:pPr eaLnBrk="1" hangingPunct="1"/>
            <a:r>
              <a:rPr lang="zh-CN" altLang="en-US" sz="3600" b="1" i="1" dirty="0"/>
              <a:t>autonomous</a:t>
            </a:r>
            <a:r>
              <a:rPr lang="zh-CN" altLang="en-US" sz="3600" dirty="0"/>
              <a:t> learning</a:t>
            </a:r>
            <a:r>
              <a:rPr lang="en-US" altLang="zh-CN" sz="3600" dirty="0"/>
              <a:t>, </a:t>
            </a:r>
            <a:r>
              <a:rPr lang="zh-CN" altLang="en-US" sz="3600" dirty="0"/>
              <a:t>active learning</a:t>
            </a:r>
            <a:endParaRPr lang="en-US" altLang="zh-CN" sz="3600" dirty="0"/>
          </a:p>
          <a:p>
            <a:pPr eaLnBrk="1" hangingPunct="1"/>
            <a:r>
              <a:rPr lang="zh-CN" altLang="en-US" sz="3600" dirty="0"/>
              <a:t>language skills and beyond</a:t>
            </a:r>
          </a:p>
          <a:p>
            <a:pPr eaLnBrk="1" hangingPunct="1"/>
            <a:r>
              <a:rPr lang="en-US" altLang="zh-CN" sz="3600" dirty="0"/>
              <a:t>T</a:t>
            </a:r>
            <a:r>
              <a:rPr lang="zh-CN" altLang="en-US" sz="3600" dirty="0"/>
              <a:t>eacher</a:t>
            </a:r>
            <a:r>
              <a:rPr lang="en-US" altLang="zh-CN" sz="3600" dirty="0"/>
              <a:t>’</a:t>
            </a:r>
            <a:r>
              <a:rPr lang="zh-CN" altLang="en-US" sz="3600" dirty="0"/>
              <a:t>s role has changed</a:t>
            </a:r>
          </a:p>
          <a:p>
            <a:pPr eaLnBrk="1" hangingPunct="1"/>
            <a:endParaRPr lang="en-US" altLang="zh-CN" sz="3600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My advice</a:t>
            </a:r>
          </a:p>
          <a:p>
            <a:pPr eaLnBrk="1" hangingPunct="1"/>
            <a:r>
              <a:rPr lang="zh-CN" altLang="en-US" sz="4000" dirty="0"/>
              <a:t>Interest is the best teacher. (no interest in English?)</a:t>
            </a:r>
          </a:p>
          <a:p>
            <a:pPr eaLnBrk="1" hangingPunct="1"/>
            <a:r>
              <a:rPr lang="zh-CN" altLang="en-US" sz="4000" b="1" dirty="0"/>
              <a:t>listening</a:t>
            </a:r>
            <a:r>
              <a:rPr lang="zh-CN" altLang="en-US" sz="4000" dirty="0"/>
              <a:t> and </a:t>
            </a:r>
            <a:r>
              <a:rPr lang="zh-CN" altLang="en-US" sz="4000" b="1" dirty="0"/>
              <a:t>reading</a:t>
            </a:r>
            <a:r>
              <a:rPr lang="zh-CN" altLang="en-US" sz="4000" dirty="0"/>
              <a:t>--input </a:t>
            </a:r>
          </a:p>
          <a:p>
            <a:pPr eaLnBrk="1" hangingPunct="1"/>
            <a:r>
              <a:rPr lang="zh-CN" altLang="en-US" sz="4000" dirty="0"/>
              <a:t>intensive and extensive</a:t>
            </a:r>
          </a:p>
          <a:p>
            <a:pPr eaLnBrk="1" hangingPunct="1"/>
            <a:r>
              <a:rPr lang="zh-CN" altLang="en-US" sz="4000" dirty="0"/>
              <a:t>speaking and writing</a:t>
            </a:r>
            <a:r>
              <a:rPr lang="en-US" altLang="zh-CN" sz="4000" dirty="0"/>
              <a:t>—</a:t>
            </a:r>
            <a:r>
              <a:rPr lang="zh-CN" altLang="en-US" sz="4000" dirty="0"/>
              <a:t>output</a:t>
            </a:r>
          </a:p>
          <a:p>
            <a:pPr eaLnBrk="1" hangingPunct="1">
              <a:buFontTx/>
              <a:buNone/>
            </a:pPr>
            <a:endParaRPr lang="zh-CN" alt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Advice from </a:t>
            </a:r>
            <a:r>
              <a:rPr lang="en-US" altLang="zh-CN" sz="4000" dirty="0"/>
              <a:t>sophomore</a:t>
            </a:r>
            <a:r>
              <a:rPr lang="zh-CN" altLang="en-US" sz="4000" dirty="0"/>
              <a:t> students</a:t>
            </a:r>
          </a:p>
          <a:p>
            <a:pPr eaLnBrk="1" hangingPunct="1"/>
            <a:r>
              <a:rPr lang="zh-CN" altLang="en-US" sz="4000" dirty="0"/>
              <a:t>背单词</a:t>
            </a:r>
          </a:p>
          <a:p>
            <a:pPr eaLnBrk="1" hangingPunct="1"/>
            <a:r>
              <a:rPr lang="zh-CN" altLang="en-US" sz="4000" dirty="0"/>
              <a:t>看美剧、英剧</a:t>
            </a:r>
          </a:p>
          <a:p>
            <a:pPr eaLnBrk="1" hangingPunct="1"/>
            <a:r>
              <a:rPr lang="zh-CN" altLang="en-US" sz="4000" dirty="0"/>
              <a:t>坚持每天学一点 fight against laziness</a:t>
            </a:r>
          </a:p>
          <a:p>
            <a:pPr eaLnBrk="1" hangingPunct="1"/>
            <a:r>
              <a:rPr lang="zh-CN" altLang="en-US" sz="4000" dirty="0"/>
              <a:t>看课外读物</a:t>
            </a:r>
          </a:p>
          <a:p>
            <a:pPr eaLnBrk="1" hangingPunct="1"/>
            <a:endParaRPr lang="zh-CN" alt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28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  <a:p>
            <a:pPr marL="0" indent="0">
              <a:buNone/>
            </a:pPr>
            <a:endParaRPr lang="en-US" altLang="zh-CN" sz="2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 marL="0" indent="0">
              <a:buNone/>
            </a:pPr>
            <a:endParaRPr lang="en-US" altLang="zh-CN" sz="28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  <a:p>
            <a:pPr marL="0" indent="0">
              <a:buNone/>
            </a:pPr>
            <a:endParaRPr lang="en-US" altLang="zh-CN" sz="2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 marL="0" indent="0">
              <a:buNone/>
            </a:pPr>
            <a:r>
              <a:rPr lang="en-US" altLang="zh-CN" sz="28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                                            </a:t>
            </a:r>
            <a:r>
              <a:rPr lang="zh-CN" altLang="en-US" sz="28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？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dirty="0"/>
              <a:t>A General Introduction to IELTS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zh-CN" altLang="zh-CN" dirty="0"/>
              <a:t>1. </a:t>
            </a:r>
            <a:r>
              <a:rPr lang="zh-CN" altLang="zh-CN" sz="3600" dirty="0"/>
              <a:t>What is IELTS? </a:t>
            </a:r>
          </a:p>
          <a:p>
            <a:pPr>
              <a:buNone/>
            </a:pPr>
            <a:r>
              <a:rPr lang="zh-CN" altLang="zh-CN" sz="3600" dirty="0"/>
              <a:t>   International English Language Testing System </a:t>
            </a:r>
          </a:p>
          <a:p>
            <a:pPr>
              <a:buNone/>
            </a:pPr>
            <a:r>
              <a:rPr lang="zh-CN" altLang="zh-CN" sz="3600" dirty="0"/>
              <a:t>2. </a:t>
            </a:r>
            <a:r>
              <a:rPr lang="en-US" altLang="zh-CN" sz="3600" dirty="0"/>
              <a:t>Who</a:t>
            </a:r>
            <a:r>
              <a:rPr lang="zh-CN" altLang="zh-CN" sz="3600" dirty="0"/>
              <a:t> are organizers for the test? </a:t>
            </a:r>
          </a:p>
          <a:p>
            <a:r>
              <a:rPr lang="zh-CN" altLang="zh-CN" sz="3600" dirty="0"/>
              <a:t>British Council </a:t>
            </a:r>
          </a:p>
          <a:p>
            <a:r>
              <a:rPr lang="zh-CN" altLang="zh-CN" sz="3600" dirty="0"/>
              <a:t>Cambridge University and </a:t>
            </a:r>
          </a:p>
          <a:p>
            <a:r>
              <a:rPr lang="zh-CN" altLang="zh-CN" sz="3600" dirty="0"/>
              <a:t>Australia Development Board 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None/>
            </a:pPr>
            <a:r>
              <a:rPr lang="zh-CN" altLang="zh-CN" dirty="0">
                <a:solidFill>
                  <a:schemeClr val="tx2"/>
                </a:solidFill>
                <a:latin typeface="Times New Roman" pitchFamily="18" charset="0"/>
              </a:rPr>
              <a:t>3</a:t>
            </a:r>
            <a:r>
              <a:rPr lang="zh-CN" altLang="zh-CN" sz="3600" dirty="0">
                <a:solidFill>
                  <a:schemeClr val="tx2"/>
                </a:solidFill>
                <a:latin typeface="Times New Roman" pitchFamily="18" charset="0"/>
              </a:rPr>
              <a:t>. What is IELTS for:</a:t>
            </a:r>
          </a:p>
          <a:p>
            <a:pPr>
              <a:lnSpc>
                <a:spcPct val="90000"/>
              </a:lnSpc>
            </a:pPr>
            <a:r>
              <a:rPr lang="zh-CN" altLang="zh-CN" sz="3600" dirty="0">
                <a:solidFill>
                  <a:schemeClr val="tx2"/>
                </a:solidFill>
                <a:latin typeface="Times New Roman" pitchFamily="18" charset="0"/>
              </a:rPr>
              <a:t>To measure international students</a:t>
            </a:r>
            <a:r>
              <a:rPr lang="zh-CN" altLang="zh-CN" sz="3600" dirty="0">
                <a:solidFill>
                  <a:schemeClr val="tx2"/>
                </a:solidFill>
              </a:rPr>
              <a:t>’</a:t>
            </a:r>
            <a:r>
              <a:rPr lang="zh-CN" altLang="zh-CN" sz="3600" dirty="0">
                <a:solidFill>
                  <a:schemeClr val="tx2"/>
                </a:solidFill>
                <a:latin typeface="Times New Roman" pitchFamily="18" charset="0"/>
              </a:rPr>
              <a:t> English language proficiency; </a:t>
            </a:r>
          </a:p>
          <a:p>
            <a:pPr>
              <a:lnSpc>
                <a:spcPct val="90000"/>
              </a:lnSpc>
            </a:pPr>
            <a:r>
              <a:rPr lang="zh-CN" altLang="zh-CN" sz="3600" dirty="0">
                <a:solidFill>
                  <a:schemeClr val="tx2"/>
                </a:solidFill>
                <a:latin typeface="Times New Roman" pitchFamily="18" charset="0"/>
              </a:rPr>
              <a:t>To test international students</a:t>
            </a:r>
            <a:r>
              <a:rPr lang="zh-CN" altLang="zh-CN" sz="3600" dirty="0">
                <a:solidFill>
                  <a:schemeClr val="tx2"/>
                </a:solidFill>
              </a:rPr>
              <a:t>’</a:t>
            </a:r>
            <a:r>
              <a:rPr lang="zh-CN" altLang="zh-CN" sz="3600" dirty="0">
                <a:solidFill>
                  <a:schemeClr val="tx2"/>
                </a:solidFill>
                <a:latin typeface="Times New Roman" pitchFamily="18" charset="0"/>
              </a:rPr>
              <a:t> knowledge about English language; </a:t>
            </a:r>
          </a:p>
          <a:p>
            <a:pPr>
              <a:lnSpc>
                <a:spcPct val="90000"/>
              </a:lnSpc>
            </a:pPr>
            <a:r>
              <a:rPr lang="zh-CN" altLang="zh-CN" sz="3600" dirty="0">
                <a:solidFill>
                  <a:schemeClr val="tx2"/>
                </a:solidFill>
                <a:latin typeface="Times New Roman" pitchFamily="18" charset="0"/>
              </a:rPr>
              <a:t>To measure international students</a:t>
            </a:r>
            <a:r>
              <a:rPr lang="zh-CN" altLang="zh-CN" sz="3600" dirty="0">
                <a:solidFill>
                  <a:schemeClr val="tx2"/>
                </a:solidFill>
              </a:rPr>
              <a:t>’</a:t>
            </a:r>
            <a:r>
              <a:rPr lang="zh-CN" altLang="zh-CN" sz="3600" dirty="0">
                <a:solidFill>
                  <a:schemeClr val="tx2"/>
                </a:solidFill>
                <a:latin typeface="Times New Roman" pitchFamily="18" charset="0"/>
              </a:rPr>
              <a:t> skills in using English language for communication, and for academic purposes. 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dirty="0"/>
              <a:t>4. </a:t>
            </a:r>
            <a:r>
              <a:rPr lang="en-US" altLang="zh-CN" sz="3600" dirty="0"/>
              <a:t>How many parts do IELTS have?</a:t>
            </a:r>
          </a:p>
          <a:p>
            <a:r>
              <a:rPr lang="en-US" altLang="zh-CN" sz="3600" dirty="0"/>
              <a:t>Listening,  reading, writing and speaking</a:t>
            </a:r>
          </a:p>
          <a:p>
            <a:r>
              <a:rPr lang="zh-CN" altLang="en-US" sz="3600" b="1" dirty="0"/>
              <a:t>听力：</a:t>
            </a:r>
            <a:r>
              <a:rPr lang="en-US" altLang="zh-CN" sz="3600" b="1" dirty="0"/>
              <a:t>40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minutes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(4 sections)</a:t>
            </a:r>
            <a:r>
              <a:rPr lang="zh-CN" altLang="en-US" sz="3600" dirty="0"/>
              <a:t>，</a:t>
            </a:r>
            <a:r>
              <a:rPr lang="en-US" altLang="zh-CN" sz="3600" dirty="0"/>
              <a:t>30</a:t>
            </a:r>
            <a:r>
              <a:rPr lang="zh-CN" altLang="en-US" sz="3600" dirty="0"/>
              <a:t>分钟为录音播放，剩下的</a:t>
            </a:r>
            <a:r>
              <a:rPr lang="en-US" altLang="zh-CN" sz="3600" dirty="0"/>
              <a:t>10</a:t>
            </a:r>
            <a:r>
              <a:rPr lang="zh-CN" altLang="en-US" sz="3600" dirty="0"/>
              <a:t>分钟填写答题卡。</a:t>
            </a:r>
          </a:p>
          <a:p>
            <a:r>
              <a:rPr lang="zh-CN" altLang="en-US" sz="3600" b="1" dirty="0"/>
              <a:t>阅读：</a:t>
            </a:r>
            <a:r>
              <a:rPr lang="en-US" altLang="zh-CN" sz="3600" b="1" dirty="0"/>
              <a:t>60 minutes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(3 passages)</a:t>
            </a:r>
            <a:endParaRPr lang="zh-CN" altLang="en-US" sz="3600" dirty="0"/>
          </a:p>
          <a:p>
            <a:r>
              <a:rPr lang="zh-CN" altLang="en-US" sz="3600" b="1" dirty="0"/>
              <a:t>写作：</a:t>
            </a:r>
            <a:r>
              <a:rPr lang="en-US" altLang="zh-CN" sz="3600" b="1" dirty="0"/>
              <a:t>60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minutes(2 essays)</a:t>
            </a:r>
            <a:endParaRPr lang="zh-CN" altLang="en-US" sz="3600" dirty="0"/>
          </a:p>
          <a:p>
            <a:r>
              <a:rPr lang="zh-CN" altLang="en-US" sz="3600" b="1" dirty="0"/>
              <a:t>口语：</a:t>
            </a:r>
            <a:r>
              <a:rPr lang="en-US" altLang="zh-CN" sz="3600" b="1" dirty="0"/>
              <a:t>11–14minutes (3 parts)</a:t>
            </a:r>
            <a:endParaRPr lang="zh-CN" altLang="en-US" sz="3600" dirty="0"/>
          </a:p>
          <a:p>
            <a:endParaRPr lang="zh-CN" alt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00" y="0"/>
            <a:ext cx="7772400" cy="1143000"/>
          </a:xfrm>
        </p:spPr>
        <p:txBody>
          <a:bodyPr/>
          <a:lstStyle/>
          <a:p>
            <a:r>
              <a:rPr lang="en-US" altLang="zh-CN" dirty="0"/>
              <a:t>Class Procedures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1071546"/>
            <a:ext cx="7772400" cy="5572164"/>
          </a:xfrm>
        </p:spPr>
        <p:txBody>
          <a:bodyPr>
            <a:noAutofit/>
          </a:bodyPr>
          <a:lstStyle/>
          <a:p>
            <a:r>
              <a:rPr lang="en-US" altLang="zh-CN" sz="4000" dirty="0"/>
              <a:t>Monday: Reading Course</a:t>
            </a:r>
          </a:p>
          <a:p>
            <a:pPr>
              <a:buNone/>
            </a:pPr>
            <a:r>
              <a:rPr lang="en-US" altLang="zh-CN" sz="4000" dirty="0"/>
              <a:t>Presentations (2 students)</a:t>
            </a:r>
          </a:p>
          <a:p>
            <a:pPr>
              <a:buNone/>
            </a:pPr>
            <a:r>
              <a:rPr lang="en-US" altLang="zh-CN" sz="4000" dirty="0"/>
              <a:t>Passage reading and skills training</a:t>
            </a:r>
          </a:p>
          <a:p>
            <a:r>
              <a:rPr lang="en-US" altLang="zh-CN" sz="4000" dirty="0"/>
              <a:t>Wednesday: Listening Course</a:t>
            </a:r>
          </a:p>
          <a:p>
            <a:pPr marL="0" indent="0">
              <a:buNone/>
            </a:pPr>
            <a:r>
              <a:rPr lang="en-US" altLang="zh-CN" sz="4000" dirty="0"/>
              <a:t>Presentations (2 students)</a:t>
            </a:r>
          </a:p>
          <a:p>
            <a:pPr marL="0" indent="0">
              <a:buNone/>
            </a:pPr>
            <a:r>
              <a:rPr lang="en-US" altLang="zh-CN" sz="4000" dirty="0"/>
              <a:t>Listening practices and speaking activities</a:t>
            </a:r>
          </a:p>
          <a:p>
            <a:pPr marL="0" indent="0"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A62BE-A959-C796-F582-FB608AAB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ADF0158-3DE8-A1FF-E52F-4BEA155B466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640360" y="-747464"/>
            <a:ext cx="4667944" cy="7704856"/>
          </a:xfrm>
        </p:spPr>
      </p:pic>
    </p:spTree>
    <p:extLst>
      <p:ext uri="{BB962C8B-B14F-4D97-AF65-F5344CB8AC3E}">
        <p14:creationId xmlns:p14="http://schemas.microsoft.com/office/powerpoint/2010/main" val="18712211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330</TotalTime>
  <Words>495</Words>
  <Application>Microsoft Office PowerPoint</Application>
  <PresentationFormat>全屏显示(4:3)</PresentationFormat>
  <Paragraphs>87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Franklin Gothic Book</vt:lpstr>
      <vt:lpstr>Perpetua</vt:lpstr>
      <vt:lpstr>Times New Roman</vt:lpstr>
      <vt:lpstr>Wingdings 2</vt:lpstr>
      <vt:lpstr>平衡</vt:lpstr>
      <vt:lpstr>College English 1 (Experimental Class)</vt:lpstr>
      <vt:lpstr>Class Orientation</vt:lpstr>
      <vt:lpstr>PowerPoint 演示文稿</vt:lpstr>
      <vt:lpstr>PowerPoint 演示文稿</vt:lpstr>
      <vt:lpstr>PowerPoint 演示文稿</vt:lpstr>
      <vt:lpstr>  About our books </vt:lpstr>
      <vt:lpstr>PowerPoint 演示文稿</vt:lpstr>
      <vt:lpstr>PowerPoint 演示文稿</vt:lpstr>
      <vt:lpstr>PowerPoint 演示文稿</vt:lpstr>
      <vt:lpstr>How to be an effective learner?</vt:lpstr>
      <vt:lpstr>PowerPoint 演示文稿</vt:lpstr>
      <vt:lpstr>PowerPoint 演示文稿</vt:lpstr>
      <vt:lpstr>PowerPoint 演示文稿</vt:lpstr>
      <vt:lpstr> A General Introduction to IELTS</vt:lpstr>
      <vt:lpstr>PowerPoint 演示文稿</vt:lpstr>
      <vt:lpstr>PowerPoint 演示文稿</vt:lpstr>
      <vt:lpstr>Class Procedures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IELTS  -- Reading &amp; Listening</dc:title>
  <dc:creator>lenovo</dc:creator>
  <cp:lastModifiedBy>lily li</cp:lastModifiedBy>
  <cp:revision>28</cp:revision>
  <dcterms:created xsi:type="dcterms:W3CDTF">2016-07-07T07:11:17Z</dcterms:created>
  <dcterms:modified xsi:type="dcterms:W3CDTF">2023-10-08T08:12:04Z</dcterms:modified>
</cp:coreProperties>
</file>