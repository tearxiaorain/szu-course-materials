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51"/>
  </p:notesMasterIdLst>
  <p:handoutMasterIdLst>
    <p:handoutMasterId r:id="rId52"/>
  </p:handoutMasterIdLst>
  <p:sldIdLst>
    <p:sldId id="256" r:id="rId2"/>
    <p:sldId id="789" r:id="rId3"/>
    <p:sldId id="795" r:id="rId4"/>
    <p:sldId id="698" r:id="rId5"/>
    <p:sldId id="745" r:id="rId6"/>
    <p:sldId id="746" r:id="rId7"/>
    <p:sldId id="700" r:id="rId8"/>
    <p:sldId id="747" r:id="rId9"/>
    <p:sldId id="748" r:id="rId10"/>
    <p:sldId id="750" r:id="rId11"/>
    <p:sldId id="751" r:id="rId12"/>
    <p:sldId id="752" r:id="rId13"/>
    <p:sldId id="710" r:id="rId14"/>
    <p:sldId id="702" r:id="rId15"/>
    <p:sldId id="707" r:id="rId16"/>
    <p:sldId id="709" r:id="rId17"/>
    <p:sldId id="753" r:id="rId18"/>
    <p:sldId id="754" r:id="rId19"/>
    <p:sldId id="755" r:id="rId20"/>
    <p:sldId id="758" r:id="rId21"/>
    <p:sldId id="759" r:id="rId22"/>
    <p:sldId id="760" r:id="rId23"/>
    <p:sldId id="763" r:id="rId24"/>
    <p:sldId id="764" r:id="rId25"/>
    <p:sldId id="765" r:id="rId26"/>
    <p:sldId id="766" r:id="rId27"/>
    <p:sldId id="790" r:id="rId28"/>
    <p:sldId id="791" r:id="rId29"/>
    <p:sldId id="792" r:id="rId30"/>
    <p:sldId id="793" r:id="rId31"/>
    <p:sldId id="794" r:id="rId32"/>
    <p:sldId id="767" r:id="rId33"/>
    <p:sldId id="785" r:id="rId34"/>
    <p:sldId id="770" r:id="rId35"/>
    <p:sldId id="772" r:id="rId36"/>
    <p:sldId id="773" r:id="rId37"/>
    <p:sldId id="774" r:id="rId38"/>
    <p:sldId id="776" r:id="rId39"/>
    <p:sldId id="777" r:id="rId40"/>
    <p:sldId id="779" r:id="rId41"/>
    <p:sldId id="780" r:id="rId42"/>
    <p:sldId id="781" r:id="rId43"/>
    <p:sldId id="782" r:id="rId44"/>
    <p:sldId id="783" r:id="rId45"/>
    <p:sldId id="784" r:id="rId46"/>
    <p:sldId id="796" r:id="rId47"/>
    <p:sldId id="787" r:id="rId48"/>
    <p:sldId id="788" r:id="rId49"/>
    <p:sldId id="786" r:id="rId50"/>
  </p:sldIdLst>
  <p:sldSz cx="9144000" cy="6858000" type="screen4x3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1514" autoAdjust="0"/>
  </p:normalViewPr>
  <p:slideViewPr>
    <p:cSldViewPr snapToGrid="0">
      <p:cViewPr varScale="1">
        <p:scale>
          <a:sx n="110" d="100"/>
          <a:sy n="110" d="100"/>
        </p:scale>
        <p:origin x="9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1A9A8-C18D-484C-B828-6040E470E756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CBC43F-A4E1-4EA4-B1DA-8AFDE111FF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0712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014743-55CB-4535-BFA3-9EBD9B1C88C9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358177-CB7F-483B-8710-93D2E5EA71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539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759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7531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7567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由</a:t>
            </a:r>
            <a:r>
              <a:rPr lang="en-US" altLang="zh-CN" dirty="0" err="1" smtClean="0"/>
              <a:t>peterchen</a:t>
            </a:r>
            <a:r>
              <a:rPr lang="zh-CN" altLang="en-US" dirty="0" smtClean="0"/>
              <a:t>于</a:t>
            </a:r>
            <a:r>
              <a:rPr lang="en-US" altLang="zh-CN" dirty="0" smtClean="0"/>
              <a:t>1976</a:t>
            </a:r>
            <a:r>
              <a:rPr lang="zh-CN" altLang="en-US" dirty="0" smtClean="0"/>
              <a:t>年提出的。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84253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35432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3769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4991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727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0181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18603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8770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1891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4430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6119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81919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570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1629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376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19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835908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0437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358177-CB7F-483B-8710-93D2E5EA7162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839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08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1728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823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612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78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20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3788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4247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3342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2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43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3900" y="0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3900" y="166370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2023/11/29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zh-CN" dirty="0" smtClean="0"/>
              <a:t>数据库系统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9821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163777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数据库设计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en-US" altLang="zh-CN" dirty="0" smtClean="0"/>
              <a:t>E-R</a:t>
            </a:r>
            <a:r>
              <a:rPr lang="zh-CN" altLang="en-US" dirty="0" smtClean="0"/>
              <a:t>模型图</a:t>
            </a:r>
            <a:endParaRPr lang="zh-CN" altLang="en-US" sz="4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dirty="0"/>
              <a:t>授课教师：张小燕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 smtClean="0"/>
              <a:t>邮箱：</a:t>
            </a:r>
            <a:r>
              <a:rPr lang="en-US" altLang="zh-CN" dirty="0" smtClean="0"/>
              <a:t>xyzhang15@szu.edu.cn</a:t>
            </a:r>
          </a:p>
          <a:p>
            <a:pPr>
              <a:lnSpc>
                <a:spcPct val="110000"/>
              </a:lnSpc>
            </a:pPr>
            <a:r>
              <a:rPr lang="zh-CN" altLang="en-US" dirty="0" smtClean="0"/>
              <a:t>深圳大学 计算机与软件学院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2242791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 smtClean="0"/>
              <a:t>回顾</a:t>
            </a:r>
          </a:p>
        </p:txBody>
      </p:sp>
      <p:sp>
        <p:nvSpPr>
          <p:cNvPr id="4" name="MH_Text_1"/>
          <p:cNvSpPr>
            <a:spLocks/>
          </p:cNvSpPr>
          <p:nvPr>
            <p:custDataLst>
              <p:tags r:id="rId1"/>
            </p:custDataLst>
          </p:nvPr>
        </p:nvSpPr>
        <p:spPr bwMode="auto">
          <a:xfrm>
            <a:off x="1098959" y="2813050"/>
            <a:ext cx="1963329" cy="2649538"/>
          </a:xfrm>
          <a:custGeom>
            <a:avLst/>
            <a:gdLst>
              <a:gd name="T0" fmla="*/ 0 w 1295400"/>
              <a:gd name="T1" fmla="*/ 0 h 2074333"/>
              <a:gd name="T2" fmla="*/ 2112895 w 1295400"/>
              <a:gd name="T3" fmla="*/ 0 h 2074333"/>
              <a:gd name="T4" fmla="*/ 2112895 w 1295400"/>
              <a:gd name="T5" fmla="*/ 3225415 h 2074333"/>
              <a:gd name="T6" fmla="*/ 1954069 w 1295400"/>
              <a:gd name="T7" fmla="*/ 3384282 h 2074333"/>
              <a:gd name="T8" fmla="*/ 158826 w 1295400"/>
              <a:gd name="T9" fmla="*/ 3384282 h 2074333"/>
              <a:gd name="T10" fmla="*/ 0 w 1295400"/>
              <a:gd name="T11" fmla="*/ 3225415 h 207433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95400"/>
              <a:gd name="T19" fmla="*/ 0 h 2074333"/>
              <a:gd name="T20" fmla="*/ 1295400 w 1295400"/>
              <a:gd name="T21" fmla="*/ 2074333 h 207433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95400" h="2074333">
                <a:moveTo>
                  <a:pt x="0" y="0"/>
                </a:moveTo>
                <a:lnTo>
                  <a:pt x="1295400" y="0"/>
                </a:lnTo>
                <a:lnTo>
                  <a:pt x="1295400" y="1976958"/>
                </a:lnTo>
                <a:cubicBezTo>
                  <a:pt x="1295400" y="2030737"/>
                  <a:pt x="1251804" y="2074333"/>
                  <a:pt x="1198025" y="2074333"/>
                </a:cubicBezTo>
                <a:lnTo>
                  <a:pt x="97375" y="2074333"/>
                </a:lnTo>
                <a:cubicBezTo>
                  <a:pt x="43596" y="2074333"/>
                  <a:pt x="0" y="2030737"/>
                  <a:pt x="0" y="197695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dirty="0" smtClean="0">
                <a:solidFill>
                  <a:srgbClr val="FFFFFF"/>
                </a:solidFill>
              </a:rPr>
              <a:t>关系规范化理论；</a:t>
            </a:r>
            <a:endParaRPr lang="en-US" altLang="zh-CN" dirty="0" smtClean="0">
              <a:solidFill>
                <a:srgbClr val="FFFFFF"/>
              </a:solidFill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dirty="0" smtClean="0">
                <a:solidFill>
                  <a:srgbClr val="FFFFFF"/>
                </a:solidFill>
              </a:rPr>
              <a:t>范式；</a:t>
            </a:r>
            <a:endParaRPr lang="en-US" altLang="zh-CN" dirty="0" smtClean="0">
              <a:solidFill>
                <a:srgbClr val="FFFFFF"/>
              </a:solidFill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dirty="0" smtClean="0">
                <a:solidFill>
                  <a:srgbClr val="FFFFFF"/>
                </a:solidFill>
              </a:rPr>
              <a:t>范式分解。</a:t>
            </a:r>
            <a:endParaRPr lang="en-US" altLang="zh-CN" dirty="0" smtClean="0">
              <a:solidFill>
                <a:srgbClr val="FFFFFF"/>
              </a:solidFill>
            </a:endParaRPr>
          </a:p>
          <a:p>
            <a:pPr algn="ctr" eaLnBrk="1" hangingPunct="1">
              <a:lnSpc>
                <a:spcPct val="13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为数据库设计提供理论指南</a:t>
            </a:r>
            <a:endParaRPr lang="da-DK" altLang="zh-CN" dirty="0">
              <a:solidFill>
                <a:srgbClr val="FF0000"/>
              </a:solidFill>
            </a:endParaRPr>
          </a:p>
        </p:txBody>
      </p:sp>
      <p:sp>
        <p:nvSpPr>
          <p:cNvPr id="5" name="MH_SubTitle_1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98959" y="1958975"/>
            <a:ext cx="1963330" cy="854075"/>
          </a:xfrm>
          <a:prstGeom prst="rect">
            <a:avLst/>
          </a:prstGeom>
          <a:solidFill>
            <a:srgbClr val="BDAFA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 smtClean="0">
                <a:solidFill>
                  <a:schemeClr val="accent1"/>
                </a:solidFill>
              </a:rPr>
              <a:t>关系数据理论</a:t>
            </a:r>
            <a:endParaRPr lang="zh-CN" altLang="en-US" sz="2400" b="1" dirty="0">
              <a:solidFill>
                <a:schemeClr val="accent1"/>
              </a:solidFill>
            </a:endParaRPr>
          </a:p>
        </p:txBody>
      </p:sp>
      <p:sp>
        <p:nvSpPr>
          <p:cNvPr id="6" name="MH_Other_1"/>
          <p:cNvSpPr>
            <a:spLocks/>
          </p:cNvSpPr>
          <p:nvPr>
            <p:custDataLst>
              <p:tags r:id="rId3"/>
            </p:custDataLst>
          </p:nvPr>
        </p:nvSpPr>
        <p:spPr bwMode="auto">
          <a:xfrm flipV="1">
            <a:off x="1157681" y="2813050"/>
            <a:ext cx="1858569" cy="2597150"/>
          </a:xfrm>
          <a:custGeom>
            <a:avLst/>
            <a:gdLst>
              <a:gd name="T0" fmla="*/ 0 w 1224000"/>
              <a:gd name="T1" fmla="*/ 3346986 h 2016000"/>
              <a:gd name="T2" fmla="*/ 0 w 1224000"/>
              <a:gd name="T3" fmla="*/ 152753 h 2016000"/>
              <a:gd name="T4" fmla="*/ 149986 w 1224000"/>
              <a:gd name="T5" fmla="*/ 0 h 2016000"/>
              <a:gd name="T6" fmla="*/ 1845301 w 1224000"/>
              <a:gd name="T7" fmla="*/ 0 h 2016000"/>
              <a:gd name="T8" fmla="*/ 1995287 w 1224000"/>
              <a:gd name="T9" fmla="*/ 152753 h 2016000"/>
              <a:gd name="T10" fmla="*/ 1995287 w 1224000"/>
              <a:gd name="T11" fmla="*/ 3346986 h 2016000"/>
              <a:gd name="T12" fmla="*/ 1995287 w 1224000"/>
              <a:gd name="T13" fmla="*/ 3346986 h 2016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24000" h="2016000">
                <a:moveTo>
                  <a:pt x="0" y="2016000"/>
                </a:moveTo>
                <a:lnTo>
                  <a:pt x="0" y="92008"/>
                </a:lnTo>
                <a:cubicBezTo>
                  <a:pt x="0" y="41193"/>
                  <a:pt x="41193" y="0"/>
                  <a:pt x="92008" y="0"/>
                </a:cubicBezTo>
                <a:lnTo>
                  <a:pt x="1131992" y="0"/>
                </a:lnTo>
                <a:cubicBezTo>
                  <a:pt x="1182807" y="0"/>
                  <a:pt x="1224000" y="41193"/>
                  <a:pt x="1224000" y="92008"/>
                </a:cubicBezTo>
                <a:lnTo>
                  <a:pt x="1224000" y="2016000"/>
                </a:lnTo>
              </a:path>
            </a:pathLst>
          </a:custGeom>
          <a:noFill/>
          <a:ln w="9525">
            <a:solidFill>
              <a:srgbClr val="F3EFE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7" name="MH_Text_2"/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3744913" y="2813050"/>
            <a:ext cx="1654175" cy="2649538"/>
          </a:xfrm>
          <a:custGeom>
            <a:avLst/>
            <a:gdLst>
              <a:gd name="T0" fmla="*/ 0 w 1295400"/>
              <a:gd name="T1" fmla="*/ 0 h 2074333"/>
              <a:gd name="T2" fmla="*/ 2112895 w 1295400"/>
              <a:gd name="T3" fmla="*/ 0 h 2074333"/>
              <a:gd name="T4" fmla="*/ 2112895 w 1295400"/>
              <a:gd name="T5" fmla="*/ 3225415 h 2074333"/>
              <a:gd name="T6" fmla="*/ 1954069 w 1295400"/>
              <a:gd name="T7" fmla="*/ 3384282 h 2074333"/>
              <a:gd name="T8" fmla="*/ 158826 w 1295400"/>
              <a:gd name="T9" fmla="*/ 3384282 h 2074333"/>
              <a:gd name="T10" fmla="*/ 0 w 1295400"/>
              <a:gd name="T11" fmla="*/ 3225415 h 207433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95400"/>
              <a:gd name="T19" fmla="*/ 0 h 2074333"/>
              <a:gd name="T20" fmla="*/ 1295400 w 1295400"/>
              <a:gd name="T21" fmla="*/ 2074333 h 207433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95400" h="2074333">
                <a:moveTo>
                  <a:pt x="0" y="0"/>
                </a:moveTo>
                <a:lnTo>
                  <a:pt x="1295400" y="0"/>
                </a:lnTo>
                <a:lnTo>
                  <a:pt x="1295400" y="1976958"/>
                </a:lnTo>
                <a:cubicBezTo>
                  <a:pt x="1295400" y="2030737"/>
                  <a:pt x="1251804" y="2074333"/>
                  <a:pt x="1198025" y="2074333"/>
                </a:cubicBezTo>
                <a:lnTo>
                  <a:pt x="97375" y="2074333"/>
                </a:lnTo>
                <a:cubicBezTo>
                  <a:pt x="43596" y="2074333"/>
                  <a:pt x="0" y="2030737"/>
                  <a:pt x="0" y="1976958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0000"/>
              </a:lnSpc>
            </a:pPr>
            <a:r>
              <a:rPr lang="zh-CN" altLang="en-US" dirty="0" smtClean="0">
                <a:solidFill>
                  <a:srgbClr val="FFFFFF"/>
                </a:solidFill>
              </a:rPr>
              <a:t>概念结构：</a:t>
            </a:r>
            <a:r>
              <a:rPr lang="en-US" altLang="zh-CN" dirty="0" smtClean="0">
                <a:solidFill>
                  <a:srgbClr val="FFFFFF"/>
                </a:solidFill>
              </a:rPr>
              <a:t>E-R</a:t>
            </a:r>
            <a:r>
              <a:rPr lang="zh-CN" altLang="en-US" dirty="0" smtClean="0">
                <a:solidFill>
                  <a:srgbClr val="FFFFFF"/>
                </a:solidFill>
              </a:rPr>
              <a:t>模型的设计；</a:t>
            </a:r>
            <a:endParaRPr lang="en-US" altLang="zh-CN" dirty="0" smtClean="0">
              <a:solidFill>
                <a:srgbClr val="FFFFFF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dirty="0" smtClean="0">
                <a:solidFill>
                  <a:srgbClr val="FFFFFF"/>
                </a:solidFill>
              </a:rPr>
              <a:t>逻辑结构：</a:t>
            </a:r>
            <a:r>
              <a:rPr lang="en-US" altLang="zh-CN" dirty="0" smtClean="0">
                <a:solidFill>
                  <a:srgbClr val="FFFFFF"/>
                </a:solidFill>
              </a:rPr>
              <a:t>E-R</a:t>
            </a:r>
            <a:r>
              <a:rPr lang="zh-CN" altLang="en-US" dirty="0" smtClean="0">
                <a:solidFill>
                  <a:srgbClr val="FFFFFF"/>
                </a:solidFill>
              </a:rPr>
              <a:t>模型转换为关系模型。</a:t>
            </a:r>
            <a:endParaRPr lang="en-US" altLang="zh-CN" dirty="0" smtClean="0">
              <a:solidFill>
                <a:srgbClr val="FFFFFF"/>
              </a:solidFill>
            </a:endParaRPr>
          </a:p>
          <a:p>
            <a:pPr algn="ctr">
              <a:lnSpc>
                <a:spcPct val="13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数据库设计的方法</a:t>
            </a:r>
            <a:endParaRPr lang="en-US" altLang="zh-CN" dirty="0" smtClean="0">
              <a:solidFill>
                <a:srgbClr val="FF0000"/>
              </a:solidFill>
            </a:endParaRPr>
          </a:p>
        </p:txBody>
      </p:sp>
      <p:sp>
        <p:nvSpPr>
          <p:cNvPr id="8" name="MH_SubTitle_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744913" y="1958975"/>
            <a:ext cx="1654175" cy="854075"/>
          </a:xfrm>
          <a:prstGeom prst="rect">
            <a:avLst/>
          </a:prstGeom>
          <a:solidFill>
            <a:srgbClr val="BDAFAF">
              <a:alpha val="3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36000" tIns="36000" rIns="36000" bIns="36000"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 dirty="0" smtClean="0">
                <a:solidFill>
                  <a:schemeClr val="accent2"/>
                </a:solidFill>
              </a:rPr>
              <a:t>数据库设计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9" name="MH_Other_2"/>
          <p:cNvSpPr>
            <a:spLocks/>
          </p:cNvSpPr>
          <p:nvPr>
            <p:custDataLst>
              <p:tags r:id="rId6"/>
            </p:custDataLst>
          </p:nvPr>
        </p:nvSpPr>
        <p:spPr bwMode="auto">
          <a:xfrm flipV="1">
            <a:off x="3790950" y="2813050"/>
            <a:ext cx="1562100" cy="2597150"/>
          </a:xfrm>
          <a:custGeom>
            <a:avLst/>
            <a:gdLst>
              <a:gd name="T0" fmla="*/ 0 w 1224000"/>
              <a:gd name="T1" fmla="*/ 3346986 h 2016000"/>
              <a:gd name="T2" fmla="*/ 0 w 1224000"/>
              <a:gd name="T3" fmla="*/ 152753 h 2016000"/>
              <a:gd name="T4" fmla="*/ 149986 w 1224000"/>
              <a:gd name="T5" fmla="*/ 0 h 2016000"/>
              <a:gd name="T6" fmla="*/ 1845301 w 1224000"/>
              <a:gd name="T7" fmla="*/ 0 h 2016000"/>
              <a:gd name="T8" fmla="*/ 1995287 w 1224000"/>
              <a:gd name="T9" fmla="*/ 152753 h 2016000"/>
              <a:gd name="T10" fmla="*/ 1995287 w 1224000"/>
              <a:gd name="T11" fmla="*/ 3346986 h 2016000"/>
              <a:gd name="T12" fmla="*/ 1995287 w 1224000"/>
              <a:gd name="T13" fmla="*/ 3346986 h 2016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24000" h="2016000">
                <a:moveTo>
                  <a:pt x="0" y="2016000"/>
                </a:moveTo>
                <a:lnTo>
                  <a:pt x="0" y="92008"/>
                </a:lnTo>
                <a:cubicBezTo>
                  <a:pt x="0" y="41193"/>
                  <a:pt x="41193" y="0"/>
                  <a:pt x="92008" y="0"/>
                </a:cubicBezTo>
                <a:lnTo>
                  <a:pt x="1131992" y="0"/>
                </a:lnTo>
                <a:cubicBezTo>
                  <a:pt x="1182807" y="0"/>
                  <a:pt x="1224000" y="41193"/>
                  <a:pt x="1224000" y="92008"/>
                </a:cubicBezTo>
                <a:lnTo>
                  <a:pt x="1224000" y="2016000"/>
                </a:lnTo>
              </a:path>
            </a:pathLst>
          </a:custGeom>
          <a:noFill/>
          <a:ln w="9525">
            <a:solidFill>
              <a:srgbClr val="F3EFE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10" name="MH_Text_3"/>
          <p:cNvSpPr/>
          <p:nvPr>
            <p:custDataLst>
              <p:tags r:id="rId7"/>
            </p:custDataLst>
          </p:nvPr>
        </p:nvSpPr>
        <p:spPr>
          <a:xfrm>
            <a:off x="6081713" y="2813050"/>
            <a:ext cx="1654175" cy="2649538"/>
          </a:xfrm>
          <a:custGeom>
            <a:avLst/>
            <a:gdLst>
              <a:gd name="connsiteX0" fmla="*/ 0 w 1295400"/>
              <a:gd name="connsiteY0" fmla="*/ 0 h 2074333"/>
              <a:gd name="connsiteX1" fmla="*/ 1295400 w 1295400"/>
              <a:gd name="connsiteY1" fmla="*/ 0 h 2074333"/>
              <a:gd name="connsiteX2" fmla="*/ 1295400 w 1295400"/>
              <a:gd name="connsiteY2" fmla="*/ 1976958 h 2074333"/>
              <a:gd name="connsiteX3" fmla="*/ 1198025 w 1295400"/>
              <a:gd name="connsiteY3" fmla="*/ 2074333 h 2074333"/>
              <a:gd name="connsiteX4" fmla="*/ 97375 w 1295400"/>
              <a:gd name="connsiteY4" fmla="*/ 2074333 h 2074333"/>
              <a:gd name="connsiteX5" fmla="*/ 0 w 1295400"/>
              <a:gd name="connsiteY5" fmla="*/ 1976958 h 207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5400" h="2074333">
                <a:moveTo>
                  <a:pt x="0" y="0"/>
                </a:moveTo>
                <a:lnTo>
                  <a:pt x="1295400" y="0"/>
                </a:lnTo>
                <a:lnTo>
                  <a:pt x="1295400" y="1976958"/>
                </a:lnTo>
                <a:cubicBezTo>
                  <a:pt x="1295400" y="2030737"/>
                  <a:pt x="1251804" y="2074333"/>
                  <a:pt x="1198025" y="2074333"/>
                </a:cubicBezTo>
                <a:lnTo>
                  <a:pt x="97375" y="2074333"/>
                </a:lnTo>
                <a:cubicBezTo>
                  <a:pt x="43596" y="2074333"/>
                  <a:pt x="0" y="2030737"/>
                  <a:pt x="0" y="1976958"/>
                </a:cubicBezTo>
                <a:close/>
              </a:path>
            </a:pathLst>
          </a:custGeom>
          <a:solidFill>
            <a:schemeClr val="accent3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+mn-lt"/>
                <a:ea typeface="+mn-ea"/>
              </a:rPr>
              <a:t>嵌入</a:t>
            </a:r>
            <a:r>
              <a:rPr lang="en-US" altLang="zh-CN" dirty="0" smtClean="0">
                <a:solidFill>
                  <a:srgbClr val="FFFFFF"/>
                </a:solidFill>
                <a:latin typeface="+mn-lt"/>
                <a:ea typeface="+mn-ea"/>
              </a:rPr>
              <a:t>SQL</a:t>
            </a:r>
            <a:r>
              <a:rPr lang="zh-CN" altLang="en-US" dirty="0" smtClean="0">
                <a:solidFill>
                  <a:srgbClr val="FFFFFF"/>
                </a:solidFill>
                <a:latin typeface="+mn-lt"/>
                <a:ea typeface="+mn-ea"/>
              </a:rPr>
              <a:t>；</a:t>
            </a:r>
            <a:endParaRPr lang="en-US" altLang="zh-CN" dirty="0" smtClean="0">
              <a:solidFill>
                <a:srgbClr val="FFFFFF"/>
              </a:solidFill>
              <a:latin typeface="+mn-lt"/>
              <a:ea typeface="+mn-ea"/>
            </a:endParaRPr>
          </a:p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+mn-lt"/>
                <a:ea typeface="+mn-ea"/>
              </a:rPr>
              <a:t>过程化</a:t>
            </a:r>
            <a:r>
              <a:rPr lang="en-US" altLang="zh-CN" dirty="0" smtClean="0">
                <a:solidFill>
                  <a:srgbClr val="FFFFFF"/>
                </a:solidFill>
                <a:latin typeface="+mn-lt"/>
                <a:ea typeface="+mn-ea"/>
              </a:rPr>
              <a:t>SQL</a:t>
            </a:r>
            <a:r>
              <a:rPr lang="zh-CN" altLang="en-US" dirty="0" smtClean="0">
                <a:solidFill>
                  <a:srgbClr val="FFFFFF"/>
                </a:solidFill>
                <a:latin typeface="+mn-lt"/>
                <a:ea typeface="+mn-ea"/>
              </a:rPr>
              <a:t>；</a:t>
            </a:r>
            <a:endParaRPr lang="en-US" altLang="zh-CN" dirty="0" smtClean="0">
              <a:solidFill>
                <a:srgbClr val="FFFFFF"/>
              </a:solidFill>
              <a:latin typeface="+mn-lt"/>
              <a:ea typeface="+mn-ea"/>
            </a:endParaRPr>
          </a:p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rgbClr val="FFFFFF"/>
                </a:solidFill>
              </a:rPr>
              <a:t>存储过程；</a:t>
            </a:r>
            <a:endParaRPr lang="en-US" altLang="zh-CN" dirty="0" smtClean="0">
              <a:solidFill>
                <a:srgbClr val="FFFFFF"/>
              </a:solidFill>
            </a:endParaRPr>
          </a:p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rgbClr val="FFFFFF"/>
                </a:solidFill>
                <a:latin typeface="+mn-lt"/>
                <a:ea typeface="+mn-ea"/>
              </a:rPr>
              <a:t>自定义函数；</a:t>
            </a:r>
            <a:endParaRPr lang="en-US" altLang="zh-CN" dirty="0" smtClean="0">
              <a:solidFill>
                <a:srgbClr val="FFFFFF"/>
              </a:solidFill>
              <a:latin typeface="+mn-lt"/>
              <a:ea typeface="+mn-ea"/>
            </a:endParaRPr>
          </a:p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rgbClr val="FFFFFF"/>
                </a:solidFill>
              </a:rPr>
              <a:t>触发器等。</a:t>
            </a:r>
            <a:endParaRPr lang="en-US" altLang="zh-CN" dirty="0" smtClean="0">
              <a:solidFill>
                <a:srgbClr val="FFFFFF"/>
              </a:solidFill>
            </a:endParaRPr>
          </a:p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+mn-lt"/>
                <a:ea typeface="+mn-ea"/>
              </a:rPr>
              <a:t>数据库设计实践</a:t>
            </a:r>
            <a:endParaRPr lang="en-US" altLang="zh-CN" dirty="0" smtClean="0">
              <a:solidFill>
                <a:srgbClr val="FF0000"/>
              </a:solidFill>
              <a:latin typeface="+mn-lt"/>
              <a:ea typeface="+mn-ea"/>
            </a:endParaRPr>
          </a:p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da-DK" altLang="zh-CN" dirty="0">
              <a:solidFill>
                <a:srgbClr val="FFFFFF"/>
              </a:solidFill>
              <a:latin typeface="+mn-lt"/>
              <a:ea typeface="+mn-ea"/>
            </a:endParaRPr>
          </a:p>
        </p:txBody>
      </p:sp>
      <p:sp>
        <p:nvSpPr>
          <p:cNvPr id="11" name="MH_SubTitle_3"/>
          <p:cNvSpPr/>
          <p:nvPr>
            <p:custDataLst>
              <p:tags r:id="rId8"/>
            </p:custDataLst>
          </p:nvPr>
        </p:nvSpPr>
        <p:spPr>
          <a:xfrm>
            <a:off x="6081713" y="1958975"/>
            <a:ext cx="1654175" cy="854075"/>
          </a:xfrm>
          <a:prstGeom prst="rect">
            <a:avLst/>
          </a:prstGeom>
          <a:solidFill>
            <a:schemeClr val="accent3">
              <a:alpha val="32000"/>
            </a:schemeClr>
          </a:solidFill>
        </p:spPr>
        <p:txBody>
          <a:bodyPr lIns="36000" tIns="36000" rIns="36000" bIns="36000" anchor="ctr">
            <a:norm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b="1" dirty="0" smtClean="0">
                <a:solidFill>
                  <a:schemeClr val="accent3"/>
                </a:solidFill>
                <a:latin typeface="+mn-lt"/>
                <a:ea typeface="+mn-ea"/>
              </a:rPr>
              <a:t>数据库编程</a:t>
            </a:r>
            <a:endParaRPr lang="zh-CN" altLang="en-US" sz="2400" b="1" dirty="0">
              <a:solidFill>
                <a:schemeClr val="accent3"/>
              </a:solidFill>
              <a:latin typeface="+mn-lt"/>
              <a:ea typeface="+mn-ea"/>
            </a:endParaRPr>
          </a:p>
        </p:txBody>
      </p:sp>
      <p:sp>
        <p:nvSpPr>
          <p:cNvPr id="12" name="MH_Other_3"/>
          <p:cNvSpPr>
            <a:spLocks/>
          </p:cNvSpPr>
          <p:nvPr>
            <p:custDataLst>
              <p:tags r:id="rId9"/>
            </p:custDataLst>
          </p:nvPr>
        </p:nvSpPr>
        <p:spPr bwMode="auto">
          <a:xfrm flipV="1">
            <a:off x="6127750" y="2813050"/>
            <a:ext cx="1562100" cy="2597150"/>
          </a:xfrm>
          <a:custGeom>
            <a:avLst/>
            <a:gdLst>
              <a:gd name="T0" fmla="*/ 0 w 1224000"/>
              <a:gd name="T1" fmla="*/ 3346986 h 2016000"/>
              <a:gd name="T2" fmla="*/ 0 w 1224000"/>
              <a:gd name="T3" fmla="*/ 152753 h 2016000"/>
              <a:gd name="T4" fmla="*/ 149986 w 1224000"/>
              <a:gd name="T5" fmla="*/ 0 h 2016000"/>
              <a:gd name="T6" fmla="*/ 1845301 w 1224000"/>
              <a:gd name="T7" fmla="*/ 0 h 2016000"/>
              <a:gd name="T8" fmla="*/ 1995287 w 1224000"/>
              <a:gd name="T9" fmla="*/ 152753 h 2016000"/>
              <a:gd name="T10" fmla="*/ 1995287 w 1224000"/>
              <a:gd name="T11" fmla="*/ 3346986 h 2016000"/>
              <a:gd name="T12" fmla="*/ 1995287 w 1224000"/>
              <a:gd name="T13" fmla="*/ 3346986 h 201600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224000" h="2016000">
                <a:moveTo>
                  <a:pt x="0" y="2016000"/>
                </a:moveTo>
                <a:lnTo>
                  <a:pt x="0" y="92008"/>
                </a:lnTo>
                <a:cubicBezTo>
                  <a:pt x="0" y="41193"/>
                  <a:pt x="41193" y="0"/>
                  <a:pt x="92008" y="0"/>
                </a:cubicBezTo>
                <a:lnTo>
                  <a:pt x="1131992" y="0"/>
                </a:lnTo>
                <a:cubicBezTo>
                  <a:pt x="1182807" y="0"/>
                  <a:pt x="1224000" y="41193"/>
                  <a:pt x="1224000" y="92008"/>
                </a:cubicBezTo>
                <a:lnTo>
                  <a:pt x="1224000" y="2016000"/>
                </a:lnTo>
              </a:path>
            </a:pathLst>
          </a:custGeom>
          <a:noFill/>
          <a:ln w="9525">
            <a:solidFill>
              <a:srgbClr val="F3EFE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61779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838200"/>
          </a:xfrm>
        </p:spPr>
        <p:txBody>
          <a:bodyPr/>
          <a:lstStyle/>
          <a:p>
            <a:r>
              <a:rPr lang="en-US" altLang="zh-CN" sz="3400" smtClean="0">
                <a:ea typeface="宋体" panose="02010600030101010101" pitchFamily="2" charset="-122"/>
              </a:rPr>
              <a:t>An Example EER Diagram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1981200" y="1447800"/>
            <a:ext cx="1371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Cities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1905000" y="1447800"/>
            <a:ext cx="1447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3810000" y="1219200"/>
            <a:ext cx="1628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C_name</a:t>
            </a:r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3352800" y="1524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228600" y="3048000"/>
            <a:ext cx="1222375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Emp#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>
            <a:off x="4038600" y="1828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3810000" y="1905000"/>
            <a:ext cx="2078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Population</a:t>
            </a:r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 flipH="1" flipV="1">
            <a:off x="3352800" y="1973263"/>
            <a:ext cx="457200" cy="160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1600200" y="38100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1524000" y="3810000"/>
            <a:ext cx="23622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3810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Managers</a:t>
            </a:r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304800" y="5105400"/>
            <a:ext cx="2209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2971800" y="5105400"/>
            <a:ext cx="297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Programmers</a:t>
            </a:r>
          </a:p>
        </p:txBody>
      </p: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2895600" y="5105400"/>
            <a:ext cx="3048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8" name="AutoShape 20"/>
          <p:cNvSpPr>
            <a:spLocks noChangeArrowheads="1"/>
          </p:cNvSpPr>
          <p:nvPr/>
        </p:nvSpPr>
        <p:spPr bwMode="auto">
          <a:xfrm>
            <a:off x="1600200" y="2514600"/>
            <a:ext cx="2209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9" name="Text Box 21"/>
          <p:cNvSpPr txBox="1">
            <a:spLocks noChangeArrowheads="1"/>
          </p:cNvSpPr>
          <p:nvPr/>
        </p:nvSpPr>
        <p:spPr bwMode="auto">
          <a:xfrm>
            <a:off x="1981200" y="2590800"/>
            <a:ext cx="1335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live_in</a:t>
            </a:r>
          </a:p>
        </p:txBody>
      </p:sp>
      <p:sp>
        <p:nvSpPr>
          <p:cNvPr id="61460" name="Line 22"/>
          <p:cNvSpPr>
            <a:spLocks noChangeShapeType="1"/>
          </p:cNvSpPr>
          <p:nvPr/>
        </p:nvSpPr>
        <p:spPr bwMode="auto">
          <a:xfrm>
            <a:off x="304800" y="3657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61" name="Rectangle 23"/>
          <p:cNvSpPr>
            <a:spLocks noChangeArrowheads="1"/>
          </p:cNvSpPr>
          <p:nvPr/>
        </p:nvSpPr>
        <p:spPr bwMode="auto">
          <a:xfrm>
            <a:off x="4191000" y="41910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Hobbies</a:t>
            </a:r>
          </a:p>
        </p:txBody>
      </p:sp>
      <p:sp>
        <p:nvSpPr>
          <p:cNvPr id="61462" name="Rectangle 24"/>
          <p:cNvSpPr>
            <a:spLocks noChangeArrowheads="1"/>
          </p:cNvSpPr>
          <p:nvPr/>
        </p:nvSpPr>
        <p:spPr bwMode="auto">
          <a:xfrm>
            <a:off x="685800" y="6096000"/>
            <a:ext cx="1425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Budget</a:t>
            </a:r>
          </a:p>
        </p:txBody>
      </p:sp>
      <p:sp>
        <p:nvSpPr>
          <p:cNvPr id="61463" name="Rectangle 25"/>
          <p:cNvSpPr>
            <a:spLocks noChangeArrowheads="1"/>
          </p:cNvSpPr>
          <p:nvPr/>
        </p:nvSpPr>
        <p:spPr bwMode="auto">
          <a:xfrm>
            <a:off x="2514600" y="6096000"/>
            <a:ext cx="370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years_of_experience</a:t>
            </a:r>
          </a:p>
        </p:txBody>
      </p:sp>
      <p:sp>
        <p:nvSpPr>
          <p:cNvPr id="61464" name="Rectangle 26"/>
          <p:cNvSpPr>
            <a:spLocks noChangeArrowheads="1"/>
          </p:cNvSpPr>
          <p:nvPr/>
        </p:nvSpPr>
        <p:spPr bwMode="auto">
          <a:xfrm>
            <a:off x="6858000" y="2286000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61465" name="Rectangle 27"/>
          <p:cNvSpPr>
            <a:spLocks noChangeArrowheads="1"/>
          </p:cNvSpPr>
          <p:nvPr/>
        </p:nvSpPr>
        <p:spPr bwMode="auto">
          <a:xfrm>
            <a:off x="6781800" y="2286000"/>
            <a:ext cx="1905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6" name="AutoShape 28"/>
          <p:cNvSpPr>
            <a:spLocks noChangeArrowheads="1"/>
          </p:cNvSpPr>
          <p:nvPr/>
        </p:nvSpPr>
        <p:spPr bwMode="auto">
          <a:xfrm>
            <a:off x="3962400" y="2895600"/>
            <a:ext cx="2590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7" name="Text Box 29"/>
          <p:cNvSpPr txBox="1">
            <a:spLocks noChangeArrowheads="1"/>
          </p:cNvSpPr>
          <p:nvPr/>
        </p:nvSpPr>
        <p:spPr bwMode="auto">
          <a:xfrm>
            <a:off x="4343400" y="2971800"/>
            <a:ext cx="1719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work_on</a:t>
            </a:r>
          </a:p>
        </p:txBody>
      </p:sp>
      <p:sp>
        <p:nvSpPr>
          <p:cNvPr id="61468" name="AutoShape 30"/>
          <p:cNvSpPr>
            <a:spLocks noChangeArrowheads="1"/>
          </p:cNvSpPr>
          <p:nvPr/>
        </p:nvSpPr>
        <p:spPr bwMode="auto">
          <a:xfrm>
            <a:off x="7086600" y="3733800"/>
            <a:ext cx="15240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9" name="Text Box 31"/>
          <p:cNvSpPr txBox="1">
            <a:spLocks noChangeArrowheads="1"/>
          </p:cNvSpPr>
          <p:nvPr/>
        </p:nvSpPr>
        <p:spPr bwMode="auto">
          <a:xfrm>
            <a:off x="7467600" y="3810000"/>
            <a:ext cx="749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use</a:t>
            </a:r>
          </a:p>
        </p:txBody>
      </p:sp>
      <p:sp>
        <p:nvSpPr>
          <p:cNvPr id="61470" name="Rectangle 32"/>
          <p:cNvSpPr>
            <a:spLocks noChangeArrowheads="1"/>
          </p:cNvSpPr>
          <p:nvPr/>
        </p:nvSpPr>
        <p:spPr bwMode="auto">
          <a:xfrm>
            <a:off x="65532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Languages</a:t>
            </a:r>
          </a:p>
        </p:txBody>
      </p:sp>
      <p:sp>
        <p:nvSpPr>
          <p:cNvPr id="61471" name="Rectangle 33"/>
          <p:cNvSpPr>
            <a:spLocks noChangeArrowheads="1"/>
          </p:cNvSpPr>
          <p:nvPr/>
        </p:nvSpPr>
        <p:spPr bwMode="auto">
          <a:xfrm>
            <a:off x="6553200" y="5105400"/>
            <a:ext cx="2286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72" name="Rectangle 34"/>
          <p:cNvSpPr>
            <a:spLocks noChangeArrowheads="1"/>
          </p:cNvSpPr>
          <p:nvPr/>
        </p:nvSpPr>
        <p:spPr bwMode="auto">
          <a:xfrm>
            <a:off x="6096000" y="1295400"/>
            <a:ext cx="11541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Proj#</a:t>
            </a:r>
          </a:p>
        </p:txBody>
      </p:sp>
      <p:sp>
        <p:nvSpPr>
          <p:cNvPr id="61473" name="Rectangle 35"/>
          <p:cNvSpPr>
            <a:spLocks noChangeArrowheads="1"/>
          </p:cNvSpPr>
          <p:nvPr/>
        </p:nvSpPr>
        <p:spPr bwMode="auto">
          <a:xfrm>
            <a:off x="7620000" y="12954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61474" name="Line 36"/>
          <p:cNvSpPr>
            <a:spLocks noChangeShapeType="1"/>
          </p:cNvSpPr>
          <p:nvPr/>
        </p:nvSpPr>
        <p:spPr bwMode="auto">
          <a:xfrm>
            <a:off x="7848600" y="449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5" name="Line 37"/>
          <p:cNvSpPr>
            <a:spLocks noChangeShapeType="1"/>
          </p:cNvSpPr>
          <p:nvPr/>
        </p:nvSpPr>
        <p:spPr bwMode="auto">
          <a:xfrm flipV="1">
            <a:off x="7848600" y="2971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6" name="Line 38"/>
          <p:cNvSpPr>
            <a:spLocks noChangeShapeType="1"/>
          </p:cNvSpPr>
          <p:nvPr/>
        </p:nvSpPr>
        <p:spPr bwMode="auto">
          <a:xfrm flipV="1">
            <a:off x="5715000" y="4114800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7" name="Line 39"/>
          <p:cNvSpPr>
            <a:spLocks noChangeShapeType="1"/>
          </p:cNvSpPr>
          <p:nvPr/>
        </p:nvSpPr>
        <p:spPr bwMode="auto">
          <a:xfrm>
            <a:off x="26670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8" name="Line 40"/>
          <p:cNvSpPr>
            <a:spLocks noChangeShapeType="1"/>
          </p:cNvSpPr>
          <p:nvPr/>
        </p:nvSpPr>
        <p:spPr bwMode="auto">
          <a:xfrm flipH="1" flipV="1">
            <a:off x="2667000" y="2133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9" name="Line 41"/>
          <p:cNvSpPr>
            <a:spLocks noChangeShapeType="1"/>
          </p:cNvSpPr>
          <p:nvPr/>
        </p:nvSpPr>
        <p:spPr bwMode="auto">
          <a:xfrm flipV="1">
            <a:off x="5791200" y="26670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0" name="Line 42"/>
          <p:cNvSpPr>
            <a:spLocks noChangeShapeType="1"/>
          </p:cNvSpPr>
          <p:nvPr/>
        </p:nvSpPr>
        <p:spPr bwMode="auto">
          <a:xfrm flipV="1">
            <a:off x="3810000" y="35052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1" name="Line 43"/>
          <p:cNvSpPr>
            <a:spLocks noChangeShapeType="1"/>
          </p:cNvSpPr>
          <p:nvPr/>
        </p:nvSpPr>
        <p:spPr bwMode="auto">
          <a:xfrm>
            <a:off x="6248400" y="190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2" name="Line 44"/>
          <p:cNvSpPr>
            <a:spLocks noChangeShapeType="1"/>
          </p:cNvSpPr>
          <p:nvPr/>
        </p:nvSpPr>
        <p:spPr bwMode="auto">
          <a:xfrm flipV="1">
            <a:off x="4343400" y="57912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3" name="Line 45"/>
          <p:cNvSpPr>
            <a:spLocks noChangeShapeType="1"/>
          </p:cNvSpPr>
          <p:nvPr/>
        </p:nvSpPr>
        <p:spPr bwMode="auto">
          <a:xfrm flipV="1">
            <a:off x="1371600" y="57912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4" name="Line 46"/>
          <p:cNvSpPr>
            <a:spLocks noChangeShapeType="1"/>
          </p:cNvSpPr>
          <p:nvPr/>
        </p:nvSpPr>
        <p:spPr bwMode="auto">
          <a:xfrm>
            <a:off x="74676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5" name="Line 47"/>
          <p:cNvSpPr>
            <a:spLocks noChangeShapeType="1"/>
          </p:cNvSpPr>
          <p:nvPr/>
        </p:nvSpPr>
        <p:spPr bwMode="auto">
          <a:xfrm>
            <a:off x="8153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6" name="Line 48"/>
          <p:cNvSpPr>
            <a:spLocks noChangeShapeType="1"/>
          </p:cNvSpPr>
          <p:nvPr/>
        </p:nvSpPr>
        <p:spPr bwMode="auto">
          <a:xfrm flipH="1" flipV="1">
            <a:off x="6629400" y="1905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7" name="Rectangle 49"/>
          <p:cNvSpPr>
            <a:spLocks noChangeArrowheads="1"/>
          </p:cNvSpPr>
          <p:nvPr/>
        </p:nvSpPr>
        <p:spPr bwMode="auto">
          <a:xfrm>
            <a:off x="6934200" y="60960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L_name</a:t>
            </a:r>
          </a:p>
        </p:txBody>
      </p:sp>
      <p:sp>
        <p:nvSpPr>
          <p:cNvPr id="61488" name="Rectangle 50"/>
          <p:cNvSpPr>
            <a:spLocks noChangeArrowheads="1"/>
          </p:cNvSpPr>
          <p:nvPr/>
        </p:nvSpPr>
        <p:spPr bwMode="auto">
          <a:xfrm>
            <a:off x="5943600" y="3581400"/>
            <a:ext cx="1268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Hours</a:t>
            </a:r>
          </a:p>
        </p:txBody>
      </p:sp>
      <p:sp>
        <p:nvSpPr>
          <p:cNvPr id="61489" name="Line 51"/>
          <p:cNvSpPr>
            <a:spLocks noChangeShapeType="1"/>
          </p:cNvSpPr>
          <p:nvPr/>
        </p:nvSpPr>
        <p:spPr bwMode="auto">
          <a:xfrm>
            <a:off x="5562600" y="35814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0" name="Oval 52"/>
          <p:cNvSpPr>
            <a:spLocks noChangeArrowheads="1"/>
          </p:cNvSpPr>
          <p:nvPr/>
        </p:nvSpPr>
        <p:spPr bwMode="auto">
          <a:xfrm>
            <a:off x="4114800" y="4267200"/>
            <a:ext cx="17526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91" name="Oval 53"/>
          <p:cNvSpPr>
            <a:spLocks noChangeArrowheads="1"/>
          </p:cNvSpPr>
          <p:nvPr/>
        </p:nvSpPr>
        <p:spPr bwMode="auto">
          <a:xfrm>
            <a:off x="4038600" y="4191000"/>
            <a:ext cx="19050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92" name="Line 54"/>
          <p:cNvSpPr>
            <a:spLocks noChangeShapeType="1"/>
          </p:cNvSpPr>
          <p:nvPr/>
        </p:nvSpPr>
        <p:spPr bwMode="auto">
          <a:xfrm>
            <a:off x="3886200" y="41148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3" name="Line 55"/>
          <p:cNvSpPr>
            <a:spLocks noChangeShapeType="1"/>
          </p:cNvSpPr>
          <p:nvPr/>
        </p:nvSpPr>
        <p:spPr bwMode="auto">
          <a:xfrm>
            <a:off x="1295400" y="41148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4" name="Line 56"/>
          <p:cNvSpPr>
            <a:spLocks noChangeShapeType="1"/>
          </p:cNvSpPr>
          <p:nvPr/>
        </p:nvSpPr>
        <p:spPr bwMode="auto">
          <a:xfrm flipV="1">
            <a:off x="1143000" y="4495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5" name="Line 57"/>
          <p:cNvSpPr>
            <a:spLocks noChangeShapeType="1"/>
          </p:cNvSpPr>
          <p:nvPr/>
        </p:nvSpPr>
        <p:spPr bwMode="auto">
          <a:xfrm>
            <a:off x="1447800" y="3429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6" name="Text Box 58"/>
          <p:cNvSpPr txBox="1">
            <a:spLocks noChangeArrowheads="1"/>
          </p:cNvSpPr>
          <p:nvPr/>
        </p:nvSpPr>
        <p:spPr bwMode="auto">
          <a:xfrm>
            <a:off x="2651125" y="2022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97" name="Text Box 59"/>
          <p:cNvSpPr txBox="1">
            <a:spLocks noChangeArrowheads="1"/>
          </p:cNvSpPr>
          <p:nvPr/>
        </p:nvSpPr>
        <p:spPr bwMode="auto">
          <a:xfrm>
            <a:off x="2651125" y="3267075"/>
            <a:ext cx="481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61498" name="Text Box 60"/>
          <p:cNvSpPr txBox="1">
            <a:spLocks noChangeArrowheads="1"/>
          </p:cNvSpPr>
          <p:nvPr/>
        </p:nvSpPr>
        <p:spPr bwMode="auto">
          <a:xfrm>
            <a:off x="3733800" y="32766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61499" name="Text Box 61"/>
          <p:cNvSpPr txBox="1">
            <a:spLocks noChangeArrowheads="1"/>
          </p:cNvSpPr>
          <p:nvPr/>
        </p:nvSpPr>
        <p:spPr bwMode="auto">
          <a:xfrm>
            <a:off x="6096000" y="2438400"/>
            <a:ext cx="34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61500" name="AutoShape 62"/>
          <p:cNvSpPr>
            <a:spLocks noChangeArrowheads="1"/>
          </p:cNvSpPr>
          <p:nvPr/>
        </p:nvSpPr>
        <p:spPr bwMode="auto">
          <a:xfrm rot="-4582092">
            <a:off x="1710531" y="4690269"/>
            <a:ext cx="612775" cy="223838"/>
          </a:xfrm>
          <a:prstGeom prst="rightArrow">
            <a:avLst>
              <a:gd name="adj1" fmla="val 50000"/>
              <a:gd name="adj2" fmla="val 684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501" name="AutoShape 63"/>
          <p:cNvSpPr>
            <a:spLocks noChangeArrowheads="1"/>
          </p:cNvSpPr>
          <p:nvPr/>
        </p:nvSpPr>
        <p:spPr bwMode="auto">
          <a:xfrm rot="-6187411">
            <a:off x="3082131" y="4690269"/>
            <a:ext cx="612775" cy="223838"/>
          </a:xfrm>
          <a:prstGeom prst="rightArrow">
            <a:avLst>
              <a:gd name="adj1" fmla="val 50000"/>
              <a:gd name="adj2" fmla="val 684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21395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5219700" y="6381750"/>
            <a:ext cx="3600450" cy="320675"/>
          </a:xfrm>
          <a:prstGeom prst="rect">
            <a:avLst/>
          </a:prstGeom>
        </p:spPr>
        <p:txBody>
          <a:bodyPr/>
          <a:lstStyle/>
          <a:p>
            <a:r>
              <a:rPr lang="en-US" altLang="zh-CN"/>
              <a:t>An Introduction to Database System</a:t>
            </a:r>
          </a:p>
        </p:txBody>
      </p:sp>
      <p:sp>
        <p:nvSpPr>
          <p:cNvPr id="395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charset="-122"/>
              </a:rPr>
              <a:t>目录</a:t>
            </a:r>
            <a:endParaRPr lang="zh-CN" altLang="en-US" dirty="0">
              <a:ea typeface="宋体" charset="-122"/>
            </a:endParaRPr>
          </a:p>
        </p:txBody>
      </p:sp>
      <p:sp>
        <p:nvSpPr>
          <p:cNvPr id="395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1677987"/>
            <a:ext cx="7886700" cy="435133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zh-CN" altLang="en-US" sz="2400" dirty="0"/>
              <a:t>数据库设计的基本</a:t>
            </a:r>
            <a:r>
              <a:rPr lang="zh-CN" altLang="en-US" sz="2400" dirty="0" smtClean="0"/>
              <a:t>步骤</a:t>
            </a:r>
            <a:endParaRPr lang="en-US" altLang="zh-CN" sz="2400" dirty="0" smtClean="0"/>
          </a:p>
          <a:p>
            <a:pPr algn="just">
              <a:lnSpc>
                <a:spcPct val="100000"/>
              </a:lnSpc>
            </a:pPr>
            <a:r>
              <a:rPr lang="en-US" altLang="zh-CN" sz="2400" dirty="0"/>
              <a:t>E-R</a:t>
            </a:r>
            <a:r>
              <a:rPr lang="zh-CN" altLang="en-US" sz="2400" dirty="0"/>
              <a:t>模型</a:t>
            </a:r>
            <a:r>
              <a:rPr lang="zh-CN" altLang="en-US" sz="2400" dirty="0" smtClean="0"/>
              <a:t>介绍</a:t>
            </a:r>
            <a:endParaRPr lang="en-US" altLang="zh-CN" sz="2400" dirty="0" smtClean="0"/>
          </a:p>
          <a:p>
            <a:pPr>
              <a:lnSpc>
                <a:spcPct val="100000"/>
              </a:lnSpc>
            </a:pPr>
            <a:r>
              <a:rPr lang="en-US" altLang="zh-CN" sz="2400" dirty="0"/>
              <a:t>E-R</a:t>
            </a:r>
            <a:r>
              <a:rPr lang="zh-CN" altLang="en-US" sz="2400" dirty="0" smtClean="0"/>
              <a:t>模型的符号</a:t>
            </a:r>
            <a:endParaRPr lang="zh-CN" altLang="en-US" sz="2400" dirty="0"/>
          </a:p>
          <a:p>
            <a:pPr algn="just">
              <a:lnSpc>
                <a:spcPct val="100000"/>
              </a:lnSpc>
            </a:pPr>
            <a:r>
              <a:rPr lang="en-US" altLang="zh-CN" sz="2200" dirty="0" smtClean="0"/>
              <a:t>ER</a:t>
            </a:r>
            <a:r>
              <a:rPr lang="zh-CN" altLang="en-US" sz="2200" dirty="0" smtClean="0"/>
              <a:t>图</a:t>
            </a:r>
            <a:endParaRPr lang="en-US" altLang="zh-CN" sz="2200" dirty="0" smtClean="0"/>
          </a:p>
          <a:p>
            <a:pPr algn="just">
              <a:lnSpc>
                <a:spcPct val="100000"/>
              </a:lnSpc>
            </a:pPr>
            <a:r>
              <a:rPr lang="zh-CN" altLang="en-US" sz="2200" dirty="0" smtClean="0">
                <a:ea typeface="宋体" charset="-122"/>
              </a:rPr>
              <a:t>扩展的</a:t>
            </a:r>
            <a:r>
              <a:rPr lang="en-US" altLang="zh-CN" sz="2200" dirty="0" smtClean="0">
                <a:ea typeface="宋体" charset="-122"/>
              </a:rPr>
              <a:t>ER</a:t>
            </a:r>
            <a:r>
              <a:rPr lang="zh-CN" altLang="en-US" sz="2200" dirty="0" smtClean="0">
                <a:ea typeface="宋体" charset="-122"/>
              </a:rPr>
              <a:t>模型（</a:t>
            </a:r>
            <a:r>
              <a:rPr lang="en-US" altLang="zh-CN" sz="2200" dirty="0" smtClean="0">
                <a:ea typeface="宋体" charset="-122"/>
              </a:rPr>
              <a:t>EER</a:t>
            </a:r>
            <a:r>
              <a:rPr lang="zh-CN" altLang="en-US" sz="2200" dirty="0" smtClean="0">
                <a:ea typeface="宋体" charset="-122"/>
              </a:rPr>
              <a:t>）</a:t>
            </a:r>
            <a:endParaRPr lang="en-US" altLang="zh-CN" sz="2200" dirty="0" smtClean="0">
              <a:ea typeface="宋体" charset="-122"/>
            </a:endParaRPr>
          </a:p>
          <a:p>
            <a:pPr algn="just">
              <a:lnSpc>
                <a:spcPct val="100000"/>
              </a:lnSpc>
            </a:pPr>
            <a:r>
              <a:rPr lang="en-US" altLang="zh-CN" sz="2200" dirty="0" smtClean="0">
                <a:ea typeface="宋体" charset="-122"/>
              </a:rPr>
              <a:t>ER</a:t>
            </a:r>
            <a:r>
              <a:rPr lang="zh-CN" altLang="en-US" sz="2200" dirty="0" smtClean="0">
                <a:ea typeface="宋体" charset="-122"/>
              </a:rPr>
              <a:t>模型示例</a:t>
            </a:r>
            <a:endParaRPr lang="en-US" altLang="zh-CN" sz="2200" dirty="0" smtClean="0">
              <a:ea typeface="宋体" charset="-122"/>
            </a:endParaRPr>
          </a:p>
          <a:p>
            <a:pPr algn="just">
              <a:lnSpc>
                <a:spcPct val="170000"/>
              </a:lnSpc>
            </a:pPr>
            <a:endParaRPr lang="zh-CN" altLang="en-US" sz="2800" dirty="0">
              <a:ea typeface="宋体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23900" y="5105621"/>
            <a:ext cx="3493264" cy="4385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要求：根据数据描述，画出</a:t>
            </a:r>
            <a:r>
              <a:rPr lang="en-US" altLang="zh-CN" dirty="0" smtClean="0">
                <a:solidFill>
                  <a:srgbClr val="FF0000"/>
                </a:solidFill>
              </a:rPr>
              <a:t>E-R</a:t>
            </a:r>
            <a:r>
              <a:rPr lang="zh-CN" altLang="en-US" dirty="0" smtClean="0">
                <a:solidFill>
                  <a:srgbClr val="FF0000"/>
                </a:solidFill>
              </a:rPr>
              <a:t>图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99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 smtClean="0"/>
              <a:t>数据库设计的基本步骤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2450" y="1325563"/>
            <a:ext cx="8229600" cy="5095875"/>
          </a:xfrm>
        </p:spPr>
        <p:txBody>
          <a:bodyPr/>
          <a:lstStyle/>
          <a:p>
            <a:r>
              <a:rPr lang="zh-CN" altLang="en-US" dirty="0" smtClean="0"/>
              <a:t>数据库设计分</a:t>
            </a:r>
            <a:r>
              <a:rPr lang="en-US" altLang="zh-CN" dirty="0" smtClean="0"/>
              <a:t>6</a:t>
            </a:r>
            <a:r>
              <a:rPr lang="zh-CN" altLang="en-US" dirty="0" smtClean="0"/>
              <a:t>个阶段</a:t>
            </a:r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需求分析</a:t>
            </a:r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概念结构设计</a:t>
            </a:r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逻辑结构设计</a:t>
            </a:r>
          </a:p>
          <a:p>
            <a:pPr lvl="1"/>
            <a:r>
              <a:rPr lang="zh-CN" altLang="en-US" dirty="0" smtClean="0"/>
              <a:t>物理结构设计</a:t>
            </a:r>
          </a:p>
          <a:p>
            <a:pPr lvl="1"/>
            <a:r>
              <a:rPr lang="zh-CN" altLang="en-US" dirty="0" smtClean="0"/>
              <a:t>数据库实施</a:t>
            </a:r>
          </a:p>
          <a:p>
            <a:pPr lvl="1"/>
            <a:r>
              <a:rPr lang="zh-CN" altLang="en-US" dirty="0" smtClean="0"/>
              <a:t>数据库运行和维护 </a:t>
            </a:r>
          </a:p>
        </p:txBody>
      </p:sp>
      <p:pic>
        <p:nvPicPr>
          <p:cNvPr id="4" name="Picture 4" descr="C:\Users\wamdm\Desktop\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0414" y="1325563"/>
            <a:ext cx="4633586" cy="51881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6549249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数据库设计的基本步骤（续）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098550"/>
            <a:ext cx="8550998" cy="509587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1. </a:t>
            </a:r>
            <a:r>
              <a:rPr lang="zh-CN" altLang="en-US" dirty="0" smtClean="0"/>
              <a:t>需求分析阶段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重点调查“数据”</a:t>
            </a:r>
            <a:r>
              <a:rPr lang="zh-CN" altLang="en-US" dirty="0"/>
              <a:t>和“处理”，获得用户对数据库的要求</a:t>
            </a:r>
            <a:endParaRPr lang="en-US" altLang="zh-CN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2. </a:t>
            </a:r>
            <a:r>
              <a:rPr lang="zh-CN" altLang="en-US" dirty="0" smtClean="0"/>
              <a:t>概念结构设计阶段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通过对用户需求进行综合、归纳与抽象，形成一个</a:t>
            </a:r>
            <a:r>
              <a:rPr lang="zh-CN" altLang="en-US" dirty="0" smtClean="0">
                <a:solidFill>
                  <a:srgbClr val="FF0000"/>
                </a:solidFill>
              </a:rPr>
              <a:t>独立于</a:t>
            </a:r>
            <a:r>
              <a:rPr lang="zh-CN" altLang="en-US" dirty="0" smtClean="0"/>
              <a:t>具体数据库管理系统的概念模型</a:t>
            </a:r>
            <a:endParaRPr lang="en-US" altLang="zh-CN" dirty="0" smtClean="0"/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dirty="0" smtClean="0"/>
              <a:t>3. </a:t>
            </a:r>
            <a:r>
              <a:rPr lang="zh-CN" altLang="en-US" dirty="0" smtClean="0"/>
              <a:t>逻辑结构设计阶段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将概念结构转换为</a:t>
            </a:r>
            <a:r>
              <a:rPr lang="zh-CN" altLang="en-US" dirty="0" smtClean="0">
                <a:solidFill>
                  <a:srgbClr val="FF0000"/>
                </a:solidFill>
              </a:rPr>
              <a:t>某个数据库管理系统所支持的</a:t>
            </a:r>
            <a:r>
              <a:rPr lang="zh-CN" altLang="en-US" dirty="0" smtClean="0"/>
              <a:t>数据模型，并对其进行优化</a:t>
            </a:r>
          </a:p>
        </p:txBody>
      </p:sp>
      <p:sp>
        <p:nvSpPr>
          <p:cNvPr id="4" name="矩形 3"/>
          <p:cNvSpPr/>
          <p:nvPr/>
        </p:nvSpPr>
        <p:spPr>
          <a:xfrm>
            <a:off x="586006" y="5173321"/>
            <a:ext cx="7031198" cy="11726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endParaRPr lang="en-US" altLang="zh-CN" dirty="0" smtClean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zh-CN" altLang="en-US" dirty="0" smtClean="0">
                <a:solidFill>
                  <a:srgbClr val="FF0000"/>
                </a:solidFill>
              </a:rPr>
              <a:t>重点：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概念结构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E-R</a:t>
            </a:r>
            <a:r>
              <a:rPr lang="zh-CN" altLang="en-US" dirty="0">
                <a:solidFill>
                  <a:srgbClr val="FF0000"/>
                </a:solidFill>
              </a:rPr>
              <a:t>模型的设计</a:t>
            </a:r>
            <a:r>
              <a:rPr lang="zh-CN" altLang="en-US" dirty="0" smtClean="0">
                <a:solidFill>
                  <a:srgbClr val="FF0000"/>
                </a:solidFill>
              </a:rPr>
              <a:t>；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             </a:t>
            </a:r>
            <a:r>
              <a:rPr lang="zh-CN" altLang="en-US" dirty="0" smtClean="0">
                <a:solidFill>
                  <a:srgbClr val="FF0000"/>
                </a:solidFill>
              </a:rPr>
              <a:t>逻辑结构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E-R</a:t>
            </a:r>
            <a:r>
              <a:rPr lang="zh-CN" altLang="en-US" dirty="0">
                <a:solidFill>
                  <a:srgbClr val="FF0000"/>
                </a:solidFill>
              </a:rPr>
              <a:t>模型转换为关系模型。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7707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dirty="0" smtClean="0"/>
              <a:t>数据库设计的基本步骤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52450" y="1325563"/>
            <a:ext cx="8229600" cy="5095875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逻辑数据库设计</a:t>
            </a:r>
          </a:p>
          <a:p>
            <a:pPr lvl="1"/>
            <a:r>
              <a:rPr lang="zh-CN" altLang="en-US" dirty="0" smtClean="0"/>
              <a:t>研究</a:t>
            </a:r>
            <a:r>
              <a:rPr lang="zh-CN" altLang="en-US" dirty="0"/>
              <a:t>数据项之间的基本属性和相互关系，目的是在数据库的基本数据结构中提供这些项的可靠表示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/>
              <a:t>Relational table</a:t>
            </a:r>
            <a:r>
              <a:rPr lang="zh-CN" altLang="en-US" dirty="0"/>
              <a:t>（关系表）</a:t>
            </a:r>
          </a:p>
          <a:p>
            <a:pPr lvl="1"/>
            <a:r>
              <a:rPr lang="en-US" altLang="zh-CN" dirty="0"/>
              <a:t>Constraint (</a:t>
            </a:r>
            <a:r>
              <a:rPr lang="zh-CN" altLang="en-US" dirty="0"/>
              <a:t>约束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r>
              <a:rPr lang="zh-CN" altLang="en-US" dirty="0" smtClean="0"/>
              <a:t>逻辑设计的两个常用方法</a:t>
            </a:r>
            <a:endParaRPr lang="en-US" altLang="zh-CN" dirty="0" smtClean="0"/>
          </a:p>
          <a:p>
            <a:pPr lvl="1"/>
            <a:r>
              <a:rPr lang="en-US" altLang="zh-CN" sz="3200" dirty="0" smtClean="0"/>
              <a:t>The </a:t>
            </a:r>
            <a:r>
              <a:rPr lang="en-US" altLang="zh-CN" sz="3200" dirty="0"/>
              <a:t>Entity-Relationship approach </a:t>
            </a:r>
          </a:p>
          <a:p>
            <a:pPr lvl="1">
              <a:buNone/>
            </a:pPr>
            <a:r>
              <a:rPr lang="en-US" altLang="zh-CN" sz="3200" dirty="0"/>
              <a:t>(or E-R approach)</a:t>
            </a:r>
            <a:r>
              <a:rPr lang="zh-CN" altLang="en-US" sz="3200" dirty="0"/>
              <a:t>实体</a:t>
            </a:r>
            <a:r>
              <a:rPr lang="en-US" altLang="zh-CN" sz="3200" dirty="0"/>
              <a:t>-</a:t>
            </a:r>
            <a:r>
              <a:rPr lang="zh-CN" altLang="en-US" sz="3200" dirty="0"/>
              <a:t>联系方法</a:t>
            </a:r>
          </a:p>
          <a:p>
            <a:pPr lvl="1"/>
            <a:r>
              <a:rPr lang="en-US" altLang="zh-CN" sz="3200" dirty="0"/>
              <a:t>The Normalization approach</a:t>
            </a:r>
            <a:r>
              <a:rPr lang="zh-CN" altLang="en-US" sz="3200" dirty="0"/>
              <a:t>规范化方法</a:t>
            </a:r>
          </a:p>
          <a:p>
            <a:pPr lvl="1"/>
            <a:endParaRPr lang="en-US" altLang="zh-CN" dirty="0"/>
          </a:p>
          <a:p>
            <a:pPr lvl="1"/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2256357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zh-CN" altLang="en-US" sz="3600" smtClean="0"/>
              <a:t>数据库设计的基本步骤（续）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57200" y="1098550"/>
            <a:ext cx="8550998" cy="5095875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需求分析阶段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重点调查“数据”</a:t>
            </a:r>
            <a:r>
              <a:rPr lang="zh-CN" altLang="en-US" dirty="0"/>
              <a:t>和“处理”，获得用户对数据库的要求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/>
              <a:t>静态结构需求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需要提供哪些信息？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应该用什么名字来指代它？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不同数据之间存在什么关系？</a:t>
            </a:r>
            <a:endParaRPr lang="en-US" altLang="zh-CN" dirty="0"/>
          </a:p>
          <a:p>
            <a:pPr lvl="2">
              <a:lnSpc>
                <a:spcPct val="120000"/>
              </a:lnSpc>
            </a:pPr>
            <a:r>
              <a:rPr lang="zh-CN" altLang="en-US" dirty="0"/>
              <a:t>需要施加哪些约束？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动态处理</a:t>
            </a:r>
            <a:r>
              <a:rPr lang="zh-CN" altLang="en-US" dirty="0" smtClean="0"/>
              <a:t>需求</a:t>
            </a:r>
            <a:endParaRPr lang="en-US" altLang="zh-CN" dirty="0" smtClean="0"/>
          </a:p>
          <a:p>
            <a:pPr lvl="2">
              <a:lnSpc>
                <a:spcPct val="120000"/>
              </a:lnSpc>
            </a:pPr>
            <a:r>
              <a:rPr lang="zh-CN" altLang="en-US" dirty="0"/>
              <a:t>对数据库预期</a:t>
            </a:r>
            <a:r>
              <a:rPr lang="zh-CN" altLang="en-US" dirty="0" smtClean="0"/>
              <a:t>的操作是</a:t>
            </a:r>
            <a:r>
              <a:rPr lang="zh-CN" altLang="en-US" dirty="0"/>
              <a:t>什么</a:t>
            </a:r>
            <a:r>
              <a:rPr lang="zh-CN" altLang="en-US" dirty="0" smtClean="0"/>
              <a:t>？</a:t>
            </a:r>
            <a:endParaRPr lang="en-US" altLang="zh-CN" dirty="0" smtClean="0"/>
          </a:p>
          <a:p>
            <a:pPr lvl="2">
              <a:lnSpc>
                <a:spcPct val="120000"/>
              </a:lnSpc>
            </a:pPr>
            <a:r>
              <a:rPr lang="zh-CN" altLang="en-US" dirty="0" smtClean="0"/>
              <a:t>每个操作的</a:t>
            </a:r>
            <a:r>
              <a:rPr lang="zh-CN" altLang="en-US" dirty="0"/>
              <a:t>运行频率是多少</a:t>
            </a:r>
            <a:r>
              <a:rPr lang="zh-CN" altLang="en-US" dirty="0" smtClean="0"/>
              <a:t>？</a:t>
            </a:r>
            <a:endParaRPr lang="en-US" altLang="zh-CN" dirty="0"/>
          </a:p>
          <a:p>
            <a:pPr marL="457200" lvl="1" indent="0">
              <a:lnSpc>
                <a:spcPct val="120000"/>
              </a:lnSpc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基于需求进行概念设计和逻辑设计 （</a:t>
            </a:r>
            <a:r>
              <a:rPr lang="en-US" altLang="zh-CN" dirty="0" smtClean="0">
                <a:solidFill>
                  <a:srgbClr val="FF0000"/>
                </a:solidFill>
              </a:rPr>
              <a:t>E-R</a:t>
            </a:r>
            <a:r>
              <a:rPr lang="zh-CN" altLang="en-US" dirty="0" smtClean="0">
                <a:solidFill>
                  <a:srgbClr val="FF0000"/>
                </a:solidFill>
              </a:rPr>
              <a:t>图方法）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9442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模型介绍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4294967295"/>
          </p:nvPr>
        </p:nvSpPr>
        <p:spPr>
          <a:xfrm>
            <a:off x="449262" y="1325562"/>
            <a:ext cx="8435975" cy="5532437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dirty="0" smtClean="0"/>
              <a:t>E-R 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Entity-Relationship</a:t>
            </a:r>
            <a:r>
              <a:rPr lang="zh-CN" altLang="en-US" sz="2000" dirty="0" smtClean="0"/>
              <a:t>）实体</a:t>
            </a:r>
            <a:r>
              <a:rPr lang="en-US" altLang="zh-CN" sz="2000" dirty="0" smtClean="0"/>
              <a:t>-</a:t>
            </a:r>
            <a:r>
              <a:rPr lang="zh-CN" altLang="en-US" sz="2000" dirty="0" smtClean="0"/>
              <a:t>关系模型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ER</a:t>
            </a:r>
            <a:r>
              <a:rPr lang="zh-CN" altLang="en-US" sz="2000" dirty="0"/>
              <a:t>模型已经成为概念模式设计的标准工具</a:t>
            </a:r>
            <a:r>
              <a:rPr lang="zh-CN" altLang="en-US" sz="2000" dirty="0" smtClean="0"/>
              <a:t>。</a:t>
            </a:r>
            <a:endParaRPr lang="en-US" altLang="zh-CN" sz="2000" dirty="0" smtClean="0"/>
          </a:p>
          <a:p>
            <a:pPr>
              <a:lnSpc>
                <a:spcPct val="125000"/>
              </a:lnSpc>
            </a:pPr>
            <a:endParaRPr lang="en-US" altLang="zh-CN" sz="2400" dirty="0" smtClean="0"/>
          </a:p>
          <a:p>
            <a:pPr>
              <a:lnSpc>
                <a:spcPct val="125000"/>
              </a:lnSpc>
            </a:pPr>
            <a:endParaRPr lang="en-US" altLang="zh-CN" sz="2400" dirty="0"/>
          </a:p>
          <a:p>
            <a:pPr>
              <a:lnSpc>
                <a:spcPct val="125000"/>
              </a:lnSpc>
            </a:pPr>
            <a:endParaRPr lang="en-US" altLang="zh-CN" sz="2400" dirty="0" smtClean="0"/>
          </a:p>
          <a:p>
            <a:pPr>
              <a:lnSpc>
                <a:spcPct val="125000"/>
              </a:lnSpc>
            </a:pPr>
            <a:endParaRPr lang="en-US" altLang="zh-CN" sz="2400" dirty="0" smtClean="0"/>
          </a:p>
          <a:p>
            <a:pPr>
              <a:lnSpc>
                <a:spcPct val="125000"/>
              </a:lnSpc>
            </a:pPr>
            <a:endParaRPr lang="en-US" altLang="zh-CN" sz="2400" dirty="0" smtClean="0"/>
          </a:p>
          <a:p>
            <a:pPr>
              <a:lnSpc>
                <a:spcPct val="125000"/>
              </a:lnSpc>
            </a:pPr>
            <a:endParaRPr lang="en-US" altLang="zh-CN" sz="2400" dirty="0"/>
          </a:p>
          <a:p>
            <a:pPr>
              <a:lnSpc>
                <a:spcPct val="125000"/>
              </a:lnSpc>
            </a:pPr>
            <a:r>
              <a:rPr lang="en-US" altLang="zh-CN" sz="2000" dirty="0" smtClean="0"/>
              <a:t>E-R</a:t>
            </a:r>
            <a:r>
              <a:rPr lang="zh-CN" altLang="en-US" sz="2000" dirty="0"/>
              <a:t>图提供了表示实体型、属性和联系的</a:t>
            </a:r>
            <a:r>
              <a:rPr lang="zh-CN" altLang="en-US" sz="2000" dirty="0" smtClean="0"/>
              <a:t>方法</a:t>
            </a:r>
            <a:endParaRPr lang="en-US" altLang="zh-CN" sz="2000" dirty="0" smtClean="0"/>
          </a:p>
          <a:p>
            <a:pPr marL="0" indent="0">
              <a:lnSpc>
                <a:spcPct val="125000"/>
              </a:lnSpc>
              <a:buNone/>
            </a:pPr>
            <a:r>
              <a:rPr lang="zh-CN" altLang="en-US" sz="2000" dirty="0" smtClean="0">
                <a:solidFill>
                  <a:srgbClr val="FF0000"/>
                </a:solidFill>
              </a:rPr>
              <a:t>下面介绍实体、属性和联系</a:t>
            </a:r>
            <a:endParaRPr lang="en-US" altLang="zh-CN" dirty="0" smtClean="0"/>
          </a:p>
          <a:p>
            <a:endParaRPr lang="zh-CN" altLang="en-US" dirty="0" smtClean="0"/>
          </a:p>
        </p:txBody>
      </p:sp>
      <p:pic>
        <p:nvPicPr>
          <p:cNvPr id="4" name="图片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4"/>
          <a:stretch/>
        </p:blipFill>
        <p:spPr bwMode="auto">
          <a:xfrm>
            <a:off x="1400961" y="2242845"/>
            <a:ext cx="5721291" cy="369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253306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模型（实体型）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4294967295"/>
          </p:nvPr>
        </p:nvSpPr>
        <p:spPr>
          <a:xfrm>
            <a:off x="449262" y="1325563"/>
            <a:ext cx="8435975" cy="5095875"/>
          </a:xfrm>
        </p:spPr>
        <p:txBody>
          <a:bodyPr>
            <a:normAutofit/>
          </a:bodyPr>
          <a:lstStyle/>
          <a:p>
            <a:r>
              <a:rPr lang="zh-CN" altLang="en-US" b="1" u="sng" dirty="0" smtClean="0"/>
              <a:t>实体型</a:t>
            </a:r>
            <a:r>
              <a:rPr lang="en-US" altLang="zh-CN" b="1" u="sng" dirty="0" smtClean="0"/>
              <a:t>:</a:t>
            </a:r>
            <a:r>
              <a:rPr lang="en-US" altLang="zh-CN" dirty="0" smtClean="0"/>
              <a:t> </a:t>
            </a:r>
            <a:r>
              <a:rPr lang="zh-CN" altLang="en-US" dirty="0" smtClean="0">
                <a:solidFill>
                  <a:srgbClr val="FF0000"/>
                </a:solidFill>
              </a:rPr>
              <a:t>一个</a:t>
            </a:r>
            <a:r>
              <a:rPr lang="zh-CN" altLang="en-US" dirty="0" smtClean="0"/>
              <a:t>物体或概念（存在的、可区分的）</a:t>
            </a:r>
            <a:endParaRPr lang="en-US" altLang="zh-CN" dirty="0"/>
          </a:p>
          <a:p>
            <a:pPr>
              <a:lnSpc>
                <a:spcPct val="110000"/>
              </a:lnSpc>
              <a:buNone/>
            </a:pPr>
            <a:r>
              <a:rPr lang="zh-CN" altLang="en-US" dirty="0" smtClean="0"/>
              <a:t>  例子</a:t>
            </a:r>
            <a:r>
              <a:rPr lang="en-US" altLang="zh-CN" dirty="0" smtClean="0"/>
              <a:t>: </a:t>
            </a:r>
            <a:r>
              <a:rPr lang="en-US" altLang="zh-CN" dirty="0"/>
              <a:t>a person, </a:t>
            </a:r>
            <a:r>
              <a:rPr lang="en-US" altLang="zh-CN" dirty="0" smtClean="0"/>
              <a:t>a school, </a:t>
            </a:r>
            <a:r>
              <a:rPr lang="en-US" altLang="zh-CN" dirty="0"/>
              <a:t>an </a:t>
            </a:r>
            <a:r>
              <a:rPr lang="en-US" altLang="zh-CN" dirty="0" smtClean="0"/>
              <a:t>airplane.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en-US" altLang="zh-CN" dirty="0" smtClean="0"/>
              <a:t>   </a:t>
            </a:r>
            <a:r>
              <a:rPr lang="zh-CN" altLang="en-US" dirty="0" smtClean="0"/>
              <a:t>强实体型（</a:t>
            </a:r>
            <a:r>
              <a:rPr lang="en-US" altLang="zh-CN" b="1" u="sng" dirty="0"/>
              <a:t> Strong </a:t>
            </a:r>
            <a:r>
              <a:rPr lang="en-US" altLang="zh-CN" b="1" u="sng" dirty="0" smtClean="0"/>
              <a:t>Entity</a:t>
            </a:r>
            <a:r>
              <a:rPr lang="zh-CN" altLang="en-US" dirty="0" smtClean="0"/>
              <a:t>）：可以独立存在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zh-CN" altLang="en-US" dirty="0" smtClean="0"/>
              <a:t>   弱</a:t>
            </a:r>
            <a:r>
              <a:rPr lang="zh-CN" altLang="en-US" dirty="0"/>
              <a:t>实体</a:t>
            </a:r>
            <a:r>
              <a:rPr lang="zh-CN" altLang="en-US" dirty="0" smtClean="0"/>
              <a:t>型（</a:t>
            </a:r>
            <a:r>
              <a:rPr lang="en-US" altLang="zh-CN" b="1" u="sng" dirty="0"/>
              <a:t> Weak entity </a:t>
            </a:r>
            <a:r>
              <a:rPr lang="zh-CN" altLang="en-US" dirty="0" smtClean="0"/>
              <a:t>）：依赖于其他实体型存在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r>
              <a:rPr lang="en-US" altLang="zh-CN" dirty="0" smtClean="0"/>
              <a:t>    </a:t>
            </a:r>
            <a:r>
              <a:rPr lang="zh-CN" altLang="en-US" dirty="0" smtClean="0"/>
              <a:t>例子：</a:t>
            </a:r>
            <a:r>
              <a:rPr lang="en-US" altLang="zh-CN" dirty="0" smtClean="0"/>
              <a:t>An </a:t>
            </a:r>
            <a:r>
              <a:rPr lang="en-US" altLang="zh-CN" dirty="0"/>
              <a:t>account in a bank is a strong entity but a transaction could be a weak entity. </a:t>
            </a:r>
            <a:endParaRPr lang="en-US" altLang="zh-CN" dirty="0" smtClean="0"/>
          </a:p>
          <a:p>
            <a:pPr lvl="1">
              <a:lnSpc>
                <a:spcPct val="110000"/>
              </a:lnSpc>
            </a:pPr>
            <a:endParaRPr lang="en-US" altLang="zh-CN" dirty="0"/>
          </a:p>
          <a:p>
            <a:r>
              <a:rPr lang="zh-CN" altLang="en-US" b="1" u="sng" dirty="0" smtClean="0"/>
              <a:t>实体集</a:t>
            </a:r>
            <a:r>
              <a:rPr lang="en-US" altLang="zh-CN" b="1" u="sng" dirty="0" smtClean="0"/>
              <a:t>:</a:t>
            </a:r>
            <a:r>
              <a:rPr lang="zh-CN" altLang="en-US" b="1" u="sng" dirty="0"/>
              <a:t>是一组相同类型的</a:t>
            </a:r>
            <a:r>
              <a:rPr lang="zh-CN" altLang="en-US" b="1" u="sng" dirty="0" smtClean="0"/>
              <a:t>实体</a:t>
            </a:r>
            <a:r>
              <a:rPr lang="zh-CN" altLang="en-US" b="1" u="sng" dirty="0" smtClean="0">
                <a:solidFill>
                  <a:srgbClr val="FF0000"/>
                </a:solidFill>
              </a:rPr>
              <a:t>集合</a:t>
            </a:r>
            <a:endParaRPr lang="en-US" altLang="zh-CN" b="1" u="sng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zh-CN" altLang="en-US" dirty="0" smtClean="0"/>
              <a:t>  例子：</a:t>
            </a:r>
            <a:r>
              <a:rPr lang="en-US" altLang="zh-CN" dirty="0" smtClean="0"/>
              <a:t>all </a:t>
            </a:r>
            <a:r>
              <a:rPr lang="en-US" altLang="zh-CN" dirty="0"/>
              <a:t>persons having an account at a bank, all students at SZU, all cities in </a:t>
            </a:r>
            <a:r>
              <a:rPr lang="en-US" altLang="zh-CN" dirty="0" smtClean="0"/>
              <a:t>a country.</a:t>
            </a:r>
            <a:endParaRPr lang="en-US" altLang="zh-CN" dirty="0"/>
          </a:p>
          <a:p>
            <a:pPr>
              <a:lnSpc>
                <a:spcPct val="125000"/>
              </a:lnSpc>
            </a:pPr>
            <a:endParaRPr lang="en-US" altLang="zh-CN" dirty="0"/>
          </a:p>
          <a:p>
            <a:pPr>
              <a:lnSpc>
                <a:spcPct val="125000"/>
              </a:lnSpc>
            </a:pPr>
            <a:endParaRPr lang="zh-CN" altLang="en-US" dirty="0" smtClean="0"/>
          </a:p>
          <a:p>
            <a:pPr lvl="2">
              <a:lnSpc>
                <a:spcPct val="125000"/>
              </a:lnSpc>
              <a:buSzPct val="87000"/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217417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模型（属性）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4294967295"/>
          </p:nvPr>
        </p:nvSpPr>
        <p:spPr>
          <a:xfrm>
            <a:off x="449262" y="1325563"/>
            <a:ext cx="8963679" cy="5095875"/>
          </a:xfrm>
        </p:spPr>
        <p:txBody>
          <a:bodyPr>
            <a:normAutofit lnSpcReduction="10000"/>
          </a:bodyPr>
          <a:lstStyle/>
          <a:p>
            <a:r>
              <a:rPr lang="zh-CN" altLang="en-US" b="1" u="sng" dirty="0" smtClean="0"/>
              <a:t>属性</a:t>
            </a:r>
            <a:r>
              <a:rPr lang="en-US" altLang="zh-CN" b="1" u="sng" dirty="0" smtClean="0"/>
              <a:t>:</a:t>
            </a:r>
            <a:r>
              <a:rPr lang="en-US" altLang="zh-CN" dirty="0" smtClean="0"/>
              <a:t> </a:t>
            </a:r>
            <a:r>
              <a:rPr lang="zh-CN" altLang="en-US" dirty="0" smtClean="0"/>
              <a:t>对实体型性质的描述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 </a:t>
            </a:r>
            <a:r>
              <a:rPr lang="en-US" altLang="zh-CN" dirty="0"/>
              <a:t>Students: SSN, Name, Address, GPA, Status, ... </a:t>
            </a:r>
          </a:p>
          <a:p>
            <a:pPr lvl="1"/>
            <a:r>
              <a:rPr lang="en-US" altLang="zh-CN" dirty="0"/>
              <a:t>Books: Title, ISBN, Authors, Publisher, Year,</a:t>
            </a:r>
          </a:p>
          <a:p>
            <a:pPr>
              <a:lnSpc>
                <a:spcPct val="80000"/>
              </a:lnSpc>
            </a:pPr>
            <a:r>
              <a:rPr lang="zh-CN" altLang="en-US" b="1" u="sng" dirty="0" smtClean="0"/>
              <a:t>简单属性</a:t>
            </a:r>
            <a:r>
              <a:rPr lang="en-US" altLang="zh-CN" dirty="0" smtClean="0"/>
              <a:t>:</a:t>
            </a:r>
            <a:r>
              <a:rPr lang="zh-CN" altLang="en-US" dirty="0"/>
              <a:t>取一个单一且不可分割的值</a:t>
            </a:r>
            <a:r>
              <a:rPr lang="en-US" altLang="zh-CN" dirty="0" smtClean="0"/>
              <a:t>.</a:t>
            </a:r>
            <a:endParaRPr lang="en-US" altLang="zh-CN" dirty="0"/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   Examples: SSN, </a:t>
            </a:r>
            <a:r>
              <a:rPr lang="en-US" altLang="zh-CN" dirty="0" smtClean="0"/>
              <a:t>GPA.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zh-CN" altLang="en-US" b="1" u="sng" dirty="0" smtClean="0"/>
              <a:t>复合属性</a:t>
            </a:r>
            <a:r>
              <a:rPr lang="en-US" altLang="zh-CN" b="1" u="sng" dirty="0" smtClean="0"/>
              <a:t>:</a:t>
            </a:r>
            <a:r>
              <a:rPr lang="zh-CN" altLang="en-US" dirty="0"/>
              <a:t>可进一步划分为子部分的值</a:t>
            </a:r>
            <a:endParaRPr lang="en-US" altLang="zh-CN" dirty="0"/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   Examples: Name: </a:t>
            </a:r>
            <a:r>
              <a:rPr lang="en-US" altLang="zh-CN" dirty="0" err="1"/>
              <a:t>First_Name</a:t>
            </a:r>
            <a:r>
              <a:rPr lang="en-US" altLang="zh-CN" dirty="0"/>
              <a:t> </a:t>
            </a:r>
            <a:r>
              <a:rPr lang="zh-CN" altLang="en-US" dirty="0" smtClean="0"/>
              <a:t>，</a:t>
            </a:r>
            <a:r>
              <a:rPr lang="en-US" altLang="zh-CN" dirty="0" err="1" smtClean="0"/>
              <a:t>Middle_Name</a:t>
            </a:r>
            <a:r>
              <a:rPr lang="zh-CN" altLang="en-US" dirty="0" smtClean="0"/>
              <a:t>， </a:t>
            </a:r>
            <a:endParaRPr lang="en-US" altLang="zh-CN" dirty="0" smtClean="0"/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</a:t>
            </a:r>
            <a:r>
              <a:rPr lang="zh-CN" altLang="en-US" dirty="0" smtClean="0"/>
              <a:t>       </a:t>
            </a:r>
            <a:r>
              <a:rPr lang="en-US" altLang="zh-CN" dirty="0" err="1" smtClean="0"/>
              <a:t>Last_Name</a:t>
            </a:r>
            <a:endParaRPr lang="en-US" altLang="zh-CN" dirty="0"/>
          </a:p>
          <a:p>
            <a:pPr>
              <a:lnSpc>
                <a:spcPct val="80000"/>
              </a:lnSpc>
              <a:buNone/>
            </a:pPr>
            <a:r>
              <a:rPr lang="en-US" altLang="zh-CN" dirty="0"/>
              <a:t>   Address: </a:t>
            </a:r>
            <a:r>
              <a:rPr lang="en-US" altLang="zh-CN" dirty="0" err="1"/>
              <a:t>Street_Address</a:t>
            </a:r>
            <a:r>
              <a:rPr lang="en-US" altLang="zh-CN" dirty="0"/>
              <a:t> City </a:t>
            </a:r>
            <a:r>
              <a:rPr lang="en-US" altLang="zh-CN" dirty="0" err="1" smtClean="0"/>
              <a:t>Zipcode</a:t>
            </a:r>
            <a:endParaRPr lang="en-US" altLang="zh-CN" dirty="0" smtClean="0"/>
          </a:p>
          <a:p>
            <a:pPr>
              <a:lnSpc>
                <a:spcPct val="80000"/>
              </a:lnSpc>
            </a:pPr>
            <a:r>
              <a:rPr lang="zh-CN" altLang="en-US" dirty="0" smtClean="0"/>
              <a:t>存储的属性、派生属性、键属性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属性取值：单一取值，或者取多个值</a:t>
            </a:r>
          </a:p>
          <a:p>
            <a:pPr lvl="2">
              <a:lnSpc>
                <a:spcPct val="125000"/>
              </a:lnSpc>
              <a:buSzPct val="87000"/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548578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模型（关系）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4294967295"/>
          </p:nvPr>
        </p:nvSpPr>
        <p:spPr>
          <a:xfrm>
            <a:off x="449262" y="1325563"/>
            <a:ext cx="8963679" cy="5095875"/>
          </a:xfrm>
        </p:spPr>
        <p:txBody>
          <a:bodyPr>
            <a:normAutofit/>
          </a:bodyPr>
          <a:lstStyle/>
          <a:p>
            <a:r>
              <a:rPr lang="zh-CN" altLang="en-US" b="1" u="sng" dirty="0" smtClean="0"/>
              <a:t>关系：</a:t>
            </a:r>
            <a:r>
              <a:rPr lang="zh-CN" altLang="en-US" dirty="0" smtClean="0"/>
              <a:t>实体</a:t>
            </a:r>
            <a:r>
              <a:rPr lang="zh-CN" altLang="en-US" dirty="0"/>
              <a:t>之间的关联。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 </a:t>
            </a:r>
            <a:r>
              <a:rPr lang="en-US" altLang="zh-CN" dirty="0"/>
              <a:t>Example: Given a student s and a course c, there may be a relationship between them: s takes c</a:t>
            </a:r>
            <a:r>
              <a:rPr lang="en-US" altLang="zh-CN" dirty="0" smtClean="0"/>
              <a:t>.</a:t>
            </a:r>
          </a:p>
          <a:p>
            <a:pPr>
              <a:buNone/>
            </a:pPr>
            <a:r>
              <a:rPr lang="en-US" altLang="zh-CN" sz="2400" dirty="0" smtClean="0"/>
              <a:t>                        s1 </a:t>
            </a:r>
            <a:r>
              <a:rPr lang="en-US" altLang="zh-CN" sz="2400" dirty="0"/>
              <a:t>takes c1</a:t>
            </a:r>
          </a:p>
          <a:p>
            <a:pPr>
              <a:buNone/>
            </a:pPr>
            <a:r>
              <a:rPr lang="en-US" altLang="zh-CN" sz="2400" dirty="0"/>
              <a:t>                        s1 takes c2</a:t>
            </a:r>
          </a:p>
          <a:p>
            <a:pPr>
              <a:buNone/>
            </a:pPr>
            <a:r>
              <a:rPr lang="en-US" altLang="zh-CN" sz="2400" dirty="0"/>
              <a:t>                        s2 takes c1</a:t>
            </a:r>
          </a:p>
          <a:p>
            <a:pPr>
              <a:buNone/>
            </a:pPr>
            <a:r>
              <a:rPr lang="en-US" altLang="zh-CN" sz="2400" dirty="0"/>
              <a:t>                              ...</a:t>
            </a:r>
            <a:r>
              <a:rPr lang="en-US" altLang="zh-CN" sz="2400" dirty="0">
                <a:latin typeface="Times New Roman" panose="02020603050405020304" pitchFamily="18" charset="0"/>
              </a:rPr>
              <a:t>…</a:t>
            </a:r>
            <a:endParaRPr lang="en-US" altLang="zh-CN" sz="2400" dirty="0"/>
          </a:p>
          <a:p>
            <a:pPr>
              <a:buNone/>
            </a:pPr>
            <a:r>
              <a:rPr lang="en-US" altLang="zh-CN" sz="2400" dirty="0"/>
              <a:t>           Students  Takes  Courses</a:t>
            </a:r>
          </a:p>
          <a:p>
            <a:pPr lvl="1"/>
            <a:r>
              <a:rPr lang="en-US" altLang="zh-CN" dirty="0"/>
              <a:t>Takes is a relationship set between Students and Courses.</a:t>
            </a:r>
            <a:endParaRPr lang="en-US" altLang="zh-CN" sz="3200" dirty="0"/>
          </a:p>
          <a:p>
            <a:r>
              <a:rPr lang="zh-CN" altLang="en-US" b="1" dirty="0"/>
              <a:t>同一组实体集之间可能存在若干关系。</a:t>
            </a:r>
            <a:endParaRPr lang="en-US" altLang="zh-CN" b="1" dirty="0" smtClean="0"/>
          </a:p>
          <a:p>
            <a:pPr lvl="2">
              <a:lnSpc>
                <a:spcPct val="125000"/>
              </a:lnSpc>
              <a:buSzPct val="87000"/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endParaRPr lang="zh-CN" altLang="en-US" dirty="0" smtClean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411070" y="5685960"/>
            <a:ext cx="1471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Works_in</a:t>
            </a:r>
            <a:endParaRPr lang="en-US" altLang="zh-CN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3411070" y="6163797"/>
            <a:ext cx="1546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 Manages</a:t>
            </a:r>
            <a:endParaRPr lang="en-US" altLang="zh-CN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048870" y="5773272"/>
            <a:ext cx="20589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5697070" y="5773272"/>
            <a:ext cx="2441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Departments</a:t>
            </a:r>
            <a:endParaRPr lang="en-US" altLang="zh-CN" sz="28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14932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模型（关系）</a:t>
            </a:r>
          </a:p>
        </p:txBody>
      </p:sp>
      <p:sp>
        <p:nvSpPr>
          <p:cNvPr id="62469" name="TextBox 4"/>
          <p:cNvSpPr txBox="1">
            <a:spLocks noChangeArrowheads="1"/>
          </p:cNvSpPr>
          <p:nvPr/>
        </p:nvSpPr>
        <p:spPr bwMode="auto">
          <a:xfrm>
            <a:off x="433949" y="1433419"/>
            <a:ext cx="7786687" cy="301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Wingdings" panose="05000000000000000000" pitchFamily="2" charset="2"/>
              <a:buChar char="n"/>
            </a:pPr>
            <a:r>
              <a:rPr lang="zh-CN" altLang="en-US" sz="2400" b="1" dirty="0" smtClean="0"/>
              <a:t>关系的</a:t>
            </a:r>
            <a:r>
              <a:rPr lang="zh-CN" altLang="en-US" sz="2400" b="1" dirty="0"/>
              <a:t>度：</a:t>
            </a:r>
            <a:r>
              <a:rPr lang="zh-CN" altLang="zh-CN" sz="2400" b="1" dirty="0"/>
              <a:t>参与联系的实体型的数目</a:t>
            </a:r>
            <a:endParaRPr lang="en-US" altLang="zh-CN" sz="2400" b="1" dirty="0"/>
          </a:p>
          <a:p>
            <a:pPr lvl="1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b="1" dirty="0"/>
              <a:t>2</a:t>
            </a:r>
            <a:r>
              <a:rPr lang="zh-CN" altLang="zh-CN" sz="2200" b="1" dirty="0"/>
              <a:t>个实体型之间的联系度为</a:t>
            </a:r>
            <a:r>
              <a:rPr lang="en-US" altLang="zh-CN" sz="2200" b="1" dirty="0"/>
              <a:t>2</a:t>
            </a:r>
            <a:r>
              <a:rPr lang="zh-CN" altLang="zh-CN" sz="2200" b="1" dirty="0"/>
              <a:t>，也称为二</a:t>
            </a:r>
            <a:r>
              <a:rPr lang="zh-CN" altLang="zh-CN" sz="2200" b="1" dirty="0" smtClean="0"/>
              <a:t>元</a:t>
            </a:r>
            <a:r>
              <a:rPr lang="zh-CN" altLang="en-US" sz="2200" b="1" dirty="0" smtClean="0"/>
              <a:t>关系</a:t>
            </a:r>
            <a:r>
              <a:rPr lang="zh-CN" altLang="zh-CN" sz="2200" b="1" dirty="0" smtClean="0"/>
              <a:t>；</a:t>
            </a:r>
            <a:endParaRPr lang="en-US" altLang="zh-CN" sz="2200" b="1" dirty="0" smtClean="0"/>
          </a:p>
          <a:p>
            <a:pPr lvl="1" eaLnBrk="1" hangingPunct="1">
              <a:lnSpc>
                <a:spcPct val="120000"/>
              </a:lnSpc>
              <a:buSzPct val="87000"/>
            </a:pPr>
            <a:r>
              <a:rPr lang="zh-CN" altLang="en-US" sz="2200" b="1" dirty="0" smtClean="0"/>
              <a:t>   选修关系：    学生   课程 </a:t>
            </a:r>
            <a:endParaRPr lang="en-US" altLang="zh-CN" sz="2200" b="1" dirty="0"/>
          </a:p>
          <a:p>
            <a:pPr lvl="1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b="1" dirty="0"/>
              <a:t>3</a:t>
            </a:r>
            <a:r>
              <a:rPr lang="zh-CN" altLang="zh-CN" sz="2200" b="1" dirty="0"/>
              <a:t>个实体型之间的联系度为</a:t>
            </a:r>
            <a:r>
              <a:rPr lang="en-US" altLang="zh-CN" sz="2200" b="1" dirty="0"/>
              <a:t>3</a:t>
            </a:r>
            <a:r>
              <a:rPr lang="zh-CN" altLang="zh-CN" sz="2200" b="1" dirty="0"/>
              <a:t>，称为</a:t>
            </a:r>
            <a:r>
              <a:rPr lang="zh-CN" altLang="en-US" sz="2200" b="1" dirty="0"/>
              <a:t>三</a:t>
            </a:r>
            <a:r>
              <a:rPr lang="zh-CN" altLang="zh-CN" sz="2200" b="1" dirty="0" smtClean="0"/>
              <a:t>元</a:t>
            </a:r>
            <a:r>
              <a:rPr lang="zh-CN" altLang="en-US" sz="2200" b="1" dirty="0" smtClean="0"/>
              <a:t>关系</a:t>
            </a:r>
            <a:r>
              <a:rPr lang="zh-CN" altLang="zh-CN" sz="2200" b="1" dirty="0" smtClean="0"/>
              <a:t>；</a:t>
            </a:r>
            <a:endParaRPr lang="en-US" altLang="zh-CN" sz="2200" b="1" dirty="0" smtClean="0"/>
          </a:p>
          <a:p>
            <a:pPr lvl="1" eaLnBrk="1" hangingPunct="1">
              <a:lnSpc>
                <a:spcPct val="120000"/>
              </a:lnSpc>
              <a:buSzPct val="87000"/>
            </a:pPr>
            <a:r>
              <a:rPr lang="en-US" altLang="zh-CN" sz="2200" b="1" dirty="0" smtClean="0"/>
              <a:t>   </a:t>
            </a:r>
            <a:r>
              <a:rPr lang="en-US" altLang="zh-CN" sz="2400" dirty="0" err="1" smtClean="0"/>
              <a:t>skill_used</a:t>
            </a:r>
            <a:r>
              <a:rPr lang="en-US" altLang="zh-CN" sz="2400" dirty="0" smtClean="0"/>
              <a:t>  </a:t>
            </a:r>
            <a:r>
              <a:rPr lang="en-US" altLang="zh-CN" sz="2400" dirty="0"/>
              <a:t>among  Engineers, Skills and Projects</a:t>
            </a:r>
          </a:p>
          <a:p>
            <a:pPr lvl="1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endParaRPr lang="en-US" altLang="zh-CN" sz="2200" b="1" dirty="0"/>
          </a:p>
          <a:p>
            <a:pPr lvl="1" eaLnBrk="1" hangingPunct="1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en-US" altLang="zh-CN" sz="2200" b="1" dirty="0"/>
              <a:t>N</a:t>
            </a:r>
            <a:r>
              <a:rPr lang="zh-CN" altLang="zh-CN" sz="2200" b="1" dirty="0"/>
              <a:t>个实体型之间的联系度为</a:t>
            </a:r>
            <a:r>
              <a:rPr lang="en-US" altLang="zh-CN" sz="2200" b="1" dirty="0"/>
              <a:t>N</a:t>
            </a:r>
            <a:r>
              <a:rPr lang="zh-CN" altLang="zh-CN" sz="2200" b="1" dirty="0"/>
              <a:t>，也称为</a:t>
            </a:r>
            <a:r>
              <a:rPr lang="en-US" altLang="zh-CN" sz="2200" b="1" dirty="0"/>
              <a:t>N</a:t>
            </a:r>
            <a:r>
              <a:rPr lang="zh-CN" altLang="zh-CN" sz="2200" b="1" dirty="0" smtClean="0"/>
              <a:t>元</a:t>
            </a:r>
            <a:r>
              <a:rPr lang="zh-CN" altLang="en-US" sz="2200" b="1" dirty="0" smtClean="0"/>
              <a:t>关系</a:t>
            </a:r>
            <a:endParaRPr lang="zh-CN" altLang="en-US" sz="2200" b="1" dirty="0"/>
          </a:p>
        </p:txBody>
      </p:sp>
      <p:pic>
        <p:nvPicPr>
          <p:cNvPr id="4" name="图片 3" descr="19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2343" b="11278"/>
          <a:stretch/>
        </p:blipFill>
        <p:spPr bwMode="auto">
          <a:xfrm>
            <a:off x="1651570" y="4551330"/>
            <a:ext cx="1225854" cy="2108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 descr="110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99" b="14540"/>
          <a:stretch/>
        </p:blipFill>
        <p:spPr bwMode="auto">
          <a:xfrm>
            <a:off x="3996039" y="4711965"/>
            <a:ext cx="2102757" cy="1554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477612" y="4711965"/>
            <a:ext cx="3483646" cy="46609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1">
              <a:lnSpc>
                <a:spcPct val="120000"/>
              </a:lnSpc>
              <a:buSzPct val="87000"/>
            </a:pPr>
            <a:r>
              <a:rPr lang="zh-CN" altLang="en-US" sz="2200" b="1" dirty="0" smtClean="0">
                <a:solidFill>
                  <a:srgbClr val="FF0000"/>
                </a:solidFill>
              </a:rPr>
              <a:t>连线上的数字是什么？</a:t>
            </a:r>
            <a:endParaRPr lang="zh-CN" altLang="en-US" sz="2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126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模型（联系）</a:t>
            </a:r>
          </a:p>
        </p:txBody>
      </p:sp>
      <p:sp>
        <p:nvSpPr>
          <p:cNvPr id="54275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435975" cy="5095875"/>
          </a:xfrm>
        </p:spPr>
        <p:txBody>
          <a:bodyPr/>
          <a:lstStyle/>
          <a:p>
            <a:pPr>
              <a:lnSpc>
                <a:spcPct val="125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实体之间的联系</a:t>
            </a:r>
            <a:endParaRPr lang="en-US" altLang="zh-CN" dirty="0" smtClean="0"/>
          </a:p>
          <a:p>
            <a:pPr lvl="2">
              <a:lnSpc>
                <a:spcPct val="125000"/>
              </a:lnSpc>
              <a:buSzPct val="87000"/>
              <a:buFont typeface="Arial" panose="020B0604020202020204" pitchFamily="34" charset="0"/>
              <a:buNone/>
            </a:pPr>
            <a:r>
              <a:rPr lang="zh-CN" altLang="en-US" sz="2400" dirty="0" smtClean="0"/>
              <a:t>①一对一联系（</a:t>
            </a:r>
            <a:r>
              <a:rPr lang="en-US" altLang="zh-CN" sz="2400" dirty="0" smtClean="0"/>
              <a:t>1∶1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2">
              <a:lnSpc>
                <a:spcPct val="125000"/>
              </a:lnSpc>
              <a:buSzPct val="87000"/>
              <a:buFont typeface="Arial" panose="020B0604020202020204" pitchFamily="34" charset="0"/>
              <a:buNone/>
            </a:pPr>
            <a:r>
              <a:rPr lang="zh-CN" altLang="en-US" sz="2400" dirty="0" smtClean="0"/>
              <a:t>②一对多联系（</a:t>
            </a:r>
            <a:r>
              <a:rPr lang="en-US" altLang="zh-CN" sz="2400" dirty="0" smtClean="0"/>
              <a:t>1∶</a:t>
            </a:r>
            <a:r>
              <a:rPr lang="en-US" altLang="zh-CN" sz="2400" i="1" dirty="0" smtClean="0"/>
              <a:t>n</a:t>
            </a:r>
            <a:r>
              <a:rPr lang="zh-CN" altLang="en-US" sz="2400" dirty="0" smtClean="0"/>
              <a:t>）</a:t>
            </a:r>
            <a:endParaRPr lang="en-US" altLang="zh-CN" sz="2400" dirty="0" smtClean="0"/>
          </a:p>
          <a:p>
            <a:pPr lvl="2">
              <a:lnSpc>
                <a:spcPct val="125000"/>
              </a:lnSpc>
              <a:buSzPct val="87000"/>
              <a:buFont typeface="Arial" panose="020B0604020202020204" pitchFamily="34" charset="0"/>
              <a:buNone/>
            </a:pPr>
            <a:r>
              <a:rPr lang="zh-CN" altLang="en-US" sz="2400" dirty="0" smtClean="0"/>
              <a:t>③多对多联系（</a:t>
            </a:r>
            <a:r>
              <a:rPr lang="en-US" altLang="zh-CN" sz="2400" i="1" dirty="0" err="1" smtClean="0"/>
              <a:t>m</a:t>
            </a:r>
            <a:r>
              <a:rPr lang="en-US" altLang="zh-CN" sz="2400" dirty="0" err="1" smtClean="0"/>
              <a:t>∶</a:t>
            </a:r>
            <a:r>
              <a:rPr lang="en-US" altLang="zh-CN" sz="2400" i="1" dirty="0" err="1" smtClean="0"/>
              <a:t>n</a:t>
            </a:r>
            <a:r>
              <a:rPr lang="zh-CN" altLang="en-US" sz="2400" dirty="0" smtClean="0"/>
              <a:t>）</a:t>
            </a:r>
          </a:p>
          <a:p>
            <a:pPr lvl="2">
              <a:lnSpc>
                <a:spcPct val="125000"/>
              </a:lnSpc>
              <a:buSzPct val="87000"/>
              <a:buFont typeface="Wingdings" panose="05000000000000000000" pitchFamily="2" charset="2"/>
              <a:buChar char="l"/>
            </a:pPr>
            <a:endParaRPr lang="zh-CN" altLang="en-US" dirty="0" smtClean="0"/>
          </a:p>
          <a:p>
            <a:pPr lvl="2">
              <a:lnSpc>
                <a:spcPct val="125000"/>
              </a:lnSpc>
              <a:buSzPct val="87000"/>
              <a:buFont typeface="Wingdings" panose="05000000000000000000" pitchFamily="2" charset="2"/>
              <a:buChar char="l"/>
            </a:pPr>
            <a:endParaRPr lang="en-US" altLang="zh-CN" dirty="0" smtClean="0"/>
          </a:p>
          <a:p>
            <a:endParaRPr lang="zh-CN" altLang="en-US" dirty="0" smtClean="0"/>
          </a:p>
        </p:txBody>
      </p:sp>
      <p:pic>
        <p:nvPicPr>
          <p:cNvPr id="4" name="图片 3" descr="1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3024" y="3528065"/>
            <a:ext cx="4432402" cy="2376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049680" y="6194425"/>
            <a:ext cx="367506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+mn-lt"/>
              </a:rPr>
              <a:t>图</a:t>
            </a:r>
            <a:r>
              <a:rPr lang="en-US" altLang="zh-CN" b="1" dirty="0">
                <a:latin typeface="+mn-lt"/>
              </a:rPr>
              <a:t>7.6 </a:t>
            </a:r>
            <a:r>
              <a:rPr lang="zh-CN" altLang="en-US" b="1" dirty="0">
                <a:solidFill>
                  <a:srgbClr val="FF0000"/>
                </a:solidFill>
                <a:latin typeface="宋体" pitchFamily="2" charset="-122"/>
              </a:rPr>
              <a:t>两个实体型之间的三类联系</a:t>
            </a:r>
          </a:p>
        </p:txBody>
      </p:sp>
    </p:spTree>
    <p:extLst>
      <p:ext uri="{BB962C8B-B14F-4D97-AF65-F5344CB8AC3E}">
        <p14:creationId xmlns:p14="http://schemas.microsoft.com/office/powerpoint/2010/main" val="293621826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</a:t>
            </a:r>
            <a:r>
              <a:rPr lang="zh-CN" altLang="en-US" sz="3600" dirty="0"/>
              <a:t>（联系）</a:t>
            </a:r>
            <a:endParaRPr lang="zh-CN" altLang="en-US" sz="3600" dirty="0" smtClean="0"/>
          </a:p>
        </p:txBody>
      </p:sp>
      <p:sp>
        <p:nvSpPr>
          <p:cNvPr id="59395" name="内容占位符 2"/>
          <p:cNvSpPr>
            <a:spLocks noGrp="1"/>
          </p:cNvSpPr>
          <p:nvPr>
            <p:ph idx="4294967295"/>
          </p:nvPr>
        </p:nvSpPr>
        <p:spPr>
          <a:xfrm>
            <a:off x="457200" y="1123950"/>
            <a:ext cx="8229600" cy="5473700"/>
          </a:xfrm>
        </p:spPr>
        <p:txBody>
          <a:bodyPr/>
          <a:lstStyle/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zh-CN" altLang="en-US" dirty="0" smtClean="0">
                <a:solidFill>
                  <a:srgbClr val="FF0000"/>
                </a:solidFill>
              </a:rPr>
              <a:t>两个以上的实体型之间的联系</a:t>
            </a:r>
          </a:p>
          <a:p>
            <a:pPr lvl="2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一般地，两个以上的实体型之间也存在着一对一、一对多、多对多联系。</a:t>
            </a:r>
          </a:p>
          <a:p>
            <a:pPr lvl="2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对于课程、教师与参考书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个实体型，如果一门课程可以有若干个教师讲授，使用若干本参考书，而每一个教师只讲授一门课程，每一本参考书只供一门课程使用，则课程与教师、参考书之间的联系是一对多的，如图</a:t>
            </a:r>
            <a:r>
              <a:rPr lang="en-US" altLang="zh-CN" dirty="0" smtClean="0"/>
              <a:t>7.7(a)</a:t>
            </a:r>
            <a:r>
              <a:rPr lang="zh-CN" altLang="en-US" dirty="0" smtClean="0"/>
              <a:t>所示。</a:t>
            </a:r>
          </a:p>
        </p:txBody>
      </p:sp>
      <p:pic>
        <p:nvPicPr>
          <p:cNvPr id="4" name="图片 3" descr="11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0363" y="4032456"/>
            <a:ext cx="4265088" cy="1819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3230759" y="5954619"/>
            <a:ext cx="37925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b="1" dirty="0">
                <a:latin typeface="宋体" pitchFamily="2" charset="-122"/>
              </a:rPr>
              <a:t>图</a:t>
            </a:r>
            <a:r>
              <a:rPr lang="en-US" altLang="zh-CN" b="1" dirty="0">
                <a:latin typeface="+mn-lt"/>
              </a:rPr>
              <a:t>7.7</a:t>
            </a:r>
            <a:r>
              <a:rPr lang="en-US" altLang="zh-CN" b="1" dirty="0">
                <a:latin typeface="宋体" pitchFamily="2" charset="-122"/>
              </a:rPr>
              <a:t>  </a:t>
            </a:r>
            <a:r>
              <a:rPr lang="zh-CN" altLang="en-US" b="1" dirty="0">
                <a:latin typeface="宋体" pitchFamily="2" charset="-122"/>
              </a:rPr>
              <a:t>三个实体型之间的联系示例</a:t>
            </a:r>
          </a:p>
        </p:txBody>
      </p:sp>
    </p:spTree>
    <p:extLst>
      <p:ext uri="{BB962C8B-B14F-4D97-AF65-F5344CB8AC3E}">
        <p14:creationId xmlns:p14="http://schemas.microsoft.com/office/powerpoint/2010/main" val="48946028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</a:t>
            </a:r>
            <a:r>
              <a:rPr lang="zh-CN" altLang="en-US" sz="3600" dirty="0"/>
              <a:t>（联系）</a:t>
            </a:r>
            <a:endParaRPr lang="zh-CN" altLang="en-US" sz="3600" dirty="0" smtClean="0"/>
          </a:p>
        </p:txBody>
      </p:sp>
      <p:sp>
        <p:nvSpPr>
          <p:cNvPr id="61443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229600" cy="5095875"/>
          </a:xfrm>
        </p:spPr>
        <p:txBody>
          <a:bodyPr/>
          <a:lstStyle/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dirty="0" smtClean="0"/>
              <a:t>（</a:t>
            </a:r>
            <a:r>
              <a:rPr lang="en-US" altLang="zh-CN" dirty="0" smtClean="0"/>
              <a:t>3</a:t>
            </a:r>
            <a:r>
              <a:rPr lang="zh-CN" altLang="en-US" dirty="0" smtClean="0"/>
              <a:t>）</a:t>
            </a:r>
            <a:r>
              <a:rPr lang="zh-CN" altLang="en-US" dirty="0" smtClean="0">
                <a:solidFill>
                  <a:srgbClr val="FF0000"/>
                </a:solidFill>
              </a:rPr>
              <a:t>单个实体型内的联系</a:t>
            </a:r>
          </a:p>
          <a:p>
            <a:pPr lvl="2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同一个实体集内的各实体之间也可以存在一对一、一对多、多对多的联系。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34"/>
          <a:stretch/>
        </p:blipFill>
        <p:spPr bwMode="auto">
          <a:xfrm>
            <a:off x="1208015" y="2424113"/>
            <a:ext cx="6887361" cy="4442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5914239" y="2718034"/>
            <a:ext cx="2315361" cy="2164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443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Text Box 5"/>
          <p:cNvSpPr txBox="1">
            <a:spLocks noChangeArrowheads="1"/>
          </p:cNvSpPr>
          <p:nvPr/>
        </p:nvSpPr>
        <p:spPr bwMode="auto">
          <a:xfrm>
            <a:off x="3953436" y="1517897"/>
            <a:ext cx="335700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实体集</a:t>
            </a:r>
            <a:r>
              <a:rPr lang="en-US" altLang="zh-C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entity </a:t>
            </a:r>
            <a:r>
              <a:rPr lang="en-US" altLang="zh-CN" sz="3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set</a:t>
            </a:r>
          </a:p>
        </p:txBody>
      </p:sp>
      <p:sp>
        <p:nvSpPr>
          <p:cNvPr id="31748" name="Rectangle 8"/>
          <p:cNvSpPr>
            <a:spLocks noChangeArrowheads="1"/>
          </p:cNvSpPr>
          <p:nvPr/>
        </p:nvSpPr>
        <p:spPr bwMode="auto">
          <a:xfrm>
            <a:off x="3864388" y="2595781"/>
            <a:ext cx="507703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弱实体集 </a:t>
            </a:r>
            <a:r>
              <a:rPr lang="en-US" altLang="zh-CN" sz="36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weak </a:t>
            </a:r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entity set</a:t>
            </a:r>
          </a:p>
        </p:txBody>
      </p:sp>
      <p:sp>
        <p:nvSpPr>
          <p:cNvPr id="31749" name="Oval 9"/>
          <p:cNvSpPr>
            <a:spLocks noChangeArrowheads="1"/>
          </p:cNvSpPr>
          <p:nvPr/>
        </p:nvSpPr>
        <p:spPr bwMode="auto">
          <a:xfrm>
            <a:off x="1295400" y="3733800"/>
            <a:ext cx="1447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1750" name="Line 10"/>
          <p:cNvSpPr>
            <a:spLocks noChangeShapeType="1"/>
          </p:cNvSpPr>
          <p:nvPr/>
        </p:nvSpPr>
        <p:spPr bwMode="auto">
          <a:xfrm flipH="1">
            <a:off x="838200" y="40386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1" name="Rectangle 11"/>
          <p:cNvSpPr>
            <a:spLocks noChangeArrowheads="1"/>
          </p:cNvSpPr>
          <p:nvPr/>
        </p:nvSpPr>
        <p:spPr bwMode="auto">
          <a:xfrm>
            <a:off x="4137212" y="3667562"/>
            <a:ext cx="265970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属性 </a:t>
            </a:r>
            <a:r>
              <a:rPr lang="en-US" altLang="zh-CN" sz="32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attribute</a:t>
            </a:r>
            <a:endParaRPr lang="en-US" altLang="zh-CN" sz="3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1752" name="Oval 13"/>
          <p:cNvSpPr>
            <a:spLocks noChangeArrowheads="1"/>
          </p:cNvSpPr>
          <p:nvPr/>
        </p:nvSpPr>
        <p:spPr bwMode="auto">
          <a:xfrm>
            <a:off x="1295400" y="4724400"/>
            <a:ext cx="1447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1753" name="Line 14"/>
          <p:cNvSpPr>
            <a:spLocks noChangeShapeType="1"/>
          </p:cNvSpPr>
          <p:nvPr/>
        </p:nvSpPr>
        <p:spPr bwMode="auto">
          <a:xfrm flipH="1">
            <a:off x="838200" y="5029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4" name="Line 15"/>
          <p:cNvSpPr>
            <a:spLocks noChangeShapeType="1"/>
          </p:cNvSpPr>
          <p:nvPr/>
        </p:nvSpPr>
        <p:spPr bwMode="auto">
          <a:xfrm>
            <a:off x="1600200" y="52578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8" name="Rectangle 20"/>
          <p:cNvSpPr>
            <a:spLocks noChangeArrowheads="1"/>
          </p:cNvSpPr>
          <p:nvPr/>
        </p:nvSpPr>
        <p:spPr bwMode="auto">
          <a:xfrm>
            <a:off x="4137212" y="4586943"/>
            <a:ext cx="3536546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主键</a:t>
            </a:r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属性</a:t>
            </a:r>
            <a:endParaRPr lang="en-US" altLang="zh-CN" sz="2800" b="1" dirty="0" smtClean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r>
              <a:rPr lang="en-US" altLang="zh-CN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primary 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key attribute</a:t>
            </a:r>
          </a:p>
        </p:txBody>
      </p:sp>
      <p:pic>
        <p:nvPicPr>
          <p:cNvPr id="31760" name="Object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074" r="-182" b="-2042"/>
          <a:stretch>
            <a:fillRect/>
          </a:stretch>
        </p:blipFill>
        <p:spPr bwMode="auto">
          <a:xfrm>
            <a:off x="827088" y="1700213"/>
            <a:ext cx="17621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61" name="Object 2"/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042" r="-182" b="-1074"/>
          <a:stretch>
            <a:fillRect/>
          </a:stretch>
        </p:blipFill>
        <p:spPr bwMode="auto">
          <a:xfrm>
            <a:off x="827088" y="2565400"/>
            <a:ext cx="1762125" cy="87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标题 1"/>
          <p:cNvSpPr txBox="1">
            <a:spLocks/>
          </p:cNvSpPr>
          <p:nvPr/>
        </p:nvSpPr>
        <p:spPr>
          <a:xfrm>
            <a:off x="661147" y="-7461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模型（符号）</a:t>
            </a:r>
          </a:p>
        </p:txBody>
      </p:sp>
    </p:spTree>
    <p:extLst>
      <p:ext uri="{BB962C8B-B14F-4D97-AF65-F5344CB8AC3E}">
        <p14:creationId xmlns:p14="http://schemas.microsoft.com/office/powerpoint/2010/main" val="219164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1371600" y="1600200"/>
            <a:ext cx="1447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773" name="Line 5"/>
          <p:cNvSpPr>
            <a:spLocks noChangeShapeType="1"/>
          </p:cNvSpPr>
          <p:nvPr/>
        </p:nvSpPr>
        <p:spPr bwMode="auto">
          <a:xfrm flipH="1">
            <a:off x="914400" y="19050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1447800" y="1676400"/>
            <a:ext cx="1295400" cy="4572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auto">
          <a:xfrm>
            <a:off x="4038600" y="1321493"/>
            <a:ext cx="393088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多值属性</a:t>
            </a:r>
            <a:endParaRPr lang="en-US" altLang="zh-CN" sz="32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multivalued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attribute</a:t>
            </a:r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1371600" y="2895600"/>
            <a:ext cx="1447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 flipH="1">
            <a:off x="914400" y="3200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1219200" y="2514600"/>
            <a:ext cx="685800" cy="228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779" name="Oval 11"/>
          <p:cNvSpPr>
            <a:spLocks noChangeArrowheads="1"/>
          </p:cNvSpPr>
          <p:nvPr/>
        </p:nvSpPr>
        <p:spPr bwMode="auto">
          <a:xfrm>
            <a:off x="1371600" y="3962400"/>
            <a:ext cx="1447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780" name="Line 12"/>
          <p:cNvSpPr>
            <a:spLocks noChangeShapeType="1"/>
          </p:cNvSpPr>
          <p:nvPr/>
        </p:nvSpPr>
        <p:spPr bwMode="auto">
          <a:xfrm flipH="1">
            <a:off x="914400" y="42672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1" name="Oval 13"/>
          <p:cNvSpPr>
            <a:spLocks noChangeArrowheads="1"/>
          </p:cNvSpPr>
          <p:nvPr/>
        </p:nvSpPr>
        <p:spPr bwMode="auto">
          <a:xfrm>
            <a:off x="2438400" y="2514600"/>
            <a:ext cx="685800" cy="228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782" name="Line 14"/>
          <p:cNvSpPr>
            <a:spLocks noChangeShapeType="1"/>
          </p:cNvSpPr>
          <p:nvPr/>
        </p:nvSpPr>
        <p:spPr bwMode="auto">
          <a:xfrm>
            <a:off x="1676400" y="2743200"/>
            <a:ext cx="1524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3" name="Line 15"/>
          <p:cNvSpPr>
            <a:spLocks noChangeShapeType="1"/>
          </p:cNvSpPr>
          <p:nvPr/>
        </p:nvSpPr>
        <p:spPr bwMode="auto">
          <a:xfrm flipH="1">
            <a:off x="2514600" y="2743200"/>
            <a:ext cx="152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84" name="Rectangle 16"/>
          <p:cNvSpPr>
            <a:spLocks noChangeArrowheads="1"/>
          </p:cNvSpPr>
          <p:nvPr/>
        </p:nvSpPr>
        <p:spPr bwMode="auto">
          <a:xfrm>
            <a:off x="4113151" y="2541141"/>
            <a:ext cx="359104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复合属性</a:t>
            </a:r>
            <a:endParaRPr lang="en-US" altLang="zh-CN" sz="32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composite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attribute</a:t>
            </a:r>
          </a:p>
        </p:txBody>
      </p:sp>
      <p:sp>
        <p:nvSpPr>
          <p:cNvPr id="32785" name="Rectangle 17"/>
          <p:cNvSpPr>
            <a:spLocks noChangeArrowheads="1"/>
          </p:cNvSpPr>
          <p:nvPr/>
        </p:nvSpPr>
        <p:spPr bwMode="auto">
          <a:xfrm>
            <a:off x="4113151" y="3797022"/>
            <a:ext cx="2787943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 dirty="0">
                <a:latin typeface="Times New Roman" panose="02020603050405020304" pitchFamily="18" charset="0"/>
              </a:rPr>
              <a:t>派生</a:t>
            </a:r>
            <a:r>
              <a:rPr lang="zh-CN" altLang="en-US" sz="2800" b="1" dirty="0" smtClean="0">
                <a:latin typeface="Times New Roman" panose="02020603050405020304" pitchFamily="18" charset="0"/>
              </a:rPr>
              <a:t>属性</a:t>
            </a:r>
            <a:endParaRPr lang="en-US" altLang="zh-CN" sz="2800" b="1" dirty="0" smtClean="0">
              <a:latin typeface="Times New Roman" panose="02020603050405020304" pitchFamily="18" charset="0"/>
            </a:endParaRPr>
          </a:p>
          <a:p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derived </a:t>
            </a:r>
            <a:r>
              <a:rPr lang="en-US" altLang="zh-CN" sz="2800" b="1" dirty="0">
                <a:latin typeface="Times New Roman" panose="02020603050405020304" pitchFamily="18" charset="0"/>
                <a:ea typeface="宋体" panose="02010600030101010101" pitchFamily="2" charset="-122"/>
              </a:rPr>
              <a:t>attribute</a:t>
            </a:r>
          </a:p>
        </p:txBody>
      </p:sp>
      <p:sp>
        <p:nvSpPr>
          <p:cNvPr id="32786" name="AutoShape 18"/>
          <p:cNvSpPr>
            <a:spLocks noChangeArrowheads="1"/>
          </p:cNvSpPr>
          <p:nvPr/>
        </p:nvSpPr>
        <p:spPr bwMode="auto">
          <a:xfrm>
            <a:off x="1066800" y="5257800"/>
            <a:ext cx="1828800" cy="6858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2787" name="Rectangle 19"/>
          <p:cNvSpPr>
            <a:spLocks noChangeArrowheads="1"/>
          </p:cNvSpPr>
          <p:nvPr/>
        </p:nvSpPr>
        <p:spPr bwMode="auto">
          <a:xfrm>
            <a:off x="4059322" y="5253318"/>
            <a:ext cx="357790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关系 </a:t>
            </a:r>
            <a:r>
              <a:rPr lang="en-US" altLang="zh-C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relationship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1" name="标题 1"/>
          <p:cNvSpPr txBox="1">
            <a:spLocks/>
          </p:cNvSpPr>
          <p:nvPr/>
        </p:nvSpPr>
        <p:spPr>
          <a:xfrm>
            <a:off x="661147" y="-7461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模型（符号）</a:t>
            </a:r>
          </a:p>
        </p:txBody>
      </p:sp>
    </p:spTree>
    <p:extLst>
      <p:ext uri="{BB962C8B-B14F-4D97-AF65-F5344CB8AC3E}">
        <p14:creationId xmlns:p14="http://schemas.microsoft.com/office/powerpoint/2010/main" val="239872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3796" name="AutoShape 4"/>
          <p:cNvSpPr>
            <a:spLocks noChangeArrowheads="1"/>
          </p:cNvSpPr>
          <p:nvPr/>
        </p:nvSpPr>
        <p:spPr bwMode="auto">
          <a:xfrm>
            <a:off x="990600" y="1828800"/>
            <a:ext cx="1828800" cy="6858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797" name="AutoShape 5"/>
          <p:cNvSpPr>
            <a:spLocks noChangeArrowheads="1"/>
          </p:cNvSpPr>
          <p:nvPr/>
        </p:nvSpPr>
        <p:spPr bwMode="auto">
          <a:xfrm>
            <a:off x="1143000" y="1905000"/>
            <a:ext cx="1524000" cy="533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3482788" y="1565095"/>
            <a:ext cx="5134739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4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识别关系（与弱实体型连接的关系）</a:t>
            </a:r>
            <a:endParaRPr lang="en-US" altLang="zh-CN" sz="24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identifying 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relationship</a:t>
            </a:r>
          </a:p>
        </p:txBody>
      </p:sp>
      <p:sp>
        <p:nvSpPr>
          <p:cNvPr id="33799" name="Line 7"/>
          <p:cNvSpPr>
            <a:spLocks noChangeShapeType="1"/>
          </p:cNvSpPr>
          <p:nvPr/>
        </p:nvSpPr>
        <p:spPr bwMode="auto">
          <a:xfrm>
            <a:off x="1066800" y="3657600"/>
            <a:ext cx="1676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0" name="Line 8"/>
          <p:cNvSpPr>
            <a:spLocks noChangeShapeType="1"/>
          </p:cNvSpPr>
          <p:nvPr/>
        </p:nvSpPr>
        <p:spPr bwMode="auto">
          <a:xfrm>
            <a:off x="1066800" y="5181600"/>
            <a:ext cx="1676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1" name="Line 9"/>
          <p:cNvSpPr>
            <a:spLocks noChangeShapeType="1"/>
          </p:cNvSpPr>
          <p:nvPr/>
        </p:nvSpPr>
        <p:spPr bwMode="auto">
          <a:xfrm>
            <a:off x="1066800" y="5334000"/>
            <a:ext cx="1676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802" name="Text Box 10"/>
          <p:cNvSpPr txBox="1">
            <a:spLocks noChangeArrowheads="1"/>
          </p:cNvSpPr>
          <p:nvPr/>
        </p:nvSpPr>
        <p:spPr bwMode="auto">
          <a:xfrm>
            <a:off x="2270125" y="306705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33803" name="Rectangle 11"/>
          <p:cNvSpPr>
            <a:spLocks noChangeArrowheads="1"/>
          </p:cNvSpPr>
          <p:nvPr/>
        </p:nvSpPr>
        <p:spPr bwMode="auto">
          <a:xfrm>
            <a:off x="2286000" y="457200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</a:p>
        </p:txBody>
      </p:sp>
      <p:sp>
        <p:nvSpPr>
          <p:cNvPr id="33804" name="Rectangle 12"/>
          <p:cNvSpPr>
            <a:spLocks noChangeArrowheads="1"/>
          </p:cNvSpPr>
          <p:nvPr/>
        </p:nvSpPr>
        <p:spPr bwMode="auto">
          <a:xfrm>
            <a:off x="3581399" y="2971800"/>
            <a:ext cx="4966447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连接线</a:t>
            </a:r>
            <a:endParaRPr lang="en-US" altLang="zh-CN" sz="2800" b="1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connection with </a:t>
            </a:r>
          </a:p>
          <a:p>
            <a:r>
              <a:rPr lang="en-US" altLang="zh-CN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connectivity x</a:t>
            </a:r>
            <a:endParaRPr lang="en-US" altLang="zh-CN" sz="36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3805" name="Rectangle 13"/>
          <p:cNvSpPr>
            <a:spLocks noChangeArrowheads="1"/>
          </p:cNvSpPr>
          <p:nvPr/>
        </p:nvSpPr>
        <p:spPr bwMode="auto">
          <a:xfrm>
            <a:off x="3482788" y="4861719"/>
            <a:ext cx="4714752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全部参与连接</a:t>
            </a:r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/</a:t>
            </a:r>
            <a:r>
              <a:rPr lang="zh-CN" altLang="en-US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完全特化连接</a:t>
            </a:r>
            <a:endParaRPr lang="en-US" altLang="zh-CN" sz="2800" b="1" dirty="0" smtClean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28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total participation connection</a:t>
            </a:r>
            <a:endParaRPr lang="en-US" altLang="zh-CN" sz="28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" name="标题 1"/>
          <p:cNvSpPr txBox="1">
            <a:spLocks/>
          </p:cNvSpPr>
          <p:nvPr/>
        </p:nvSpPr>
        <p:spPr>
          <a:xfrm>
            <a:off x="661147" y="-7461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模型（符号）</a:t>
            </a:r>
          </a:p>
        </p:txBody>
      </p:sp>
    </p:spTree>
    <p:extLst>
      <p:ext uri="{BB962C8B-B14F-4D97-AF65-F5344CB8AC3E}">
        <p14:creationId xmlns:p14="http://schemas.microsoft.com/office/powerpoint/2010/main" val="2114281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553063" y="2003364"/>
            <a:ext cx="20377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一元关系</a:t>
            </a:r>
            <a:endParaRPr lang="en-US" altLang="zh-CN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2590800" y="2581837"/>
            <a:ext cx="2927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is_married_to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3276600" y="4029637"/>
            <a:ext cx="170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2041525" y="5344087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3505200" y="5401237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34825" name="Rectangle 9"/>
          <p:cNvSpPr>
            <a:spLocks noChangeArrowheads="1"/>
          </p:cNvSpPr>
          <p:nvPr/>
        </p:nvSpPr>
        <p:spPr bwMode="auto">
          <a:xfrm>
            <a:off x="5257800" y="5401237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34826" name="AutoShape 10"/>
          <p:cNvSpPr>
            <a:spLocks noChangeArrowheads="1"/>
          </p:cNvSpPr>
          <p:nvPr/>
        </p:nvSpPr>
        <p:spPr bwMode="auto">
          <a:xfrm>
            <a:off x="1828800" y="2429437"/>
            <a:ext cx="43434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827" name="Rectangle 11"/>
          <p:cNvSpPr>
            <a:spLocks noChangeArrowheads="1"/>
          </p:cNvSpPr>
          <p:nvPr/>
        </p:nvSpPr>
        <p:spPr bwMode="auto">
          <a:xfrm>
            <a:off x="3048000" y="4029637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828" name="Line 12"/>
          <p:cNvSpPr>
            <a:spLocks noChangeShapeType="1"/>
          </p:cNvSpPr>
          <p:nvPr/>
        </p:nvSpPr>
        <p:spPr bwMode="auto">
          <a:xfrm>
            <a:off x="3276600" y="3267637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29" name="Line 13"/>
          <p:cNvSpPr>
            <a:spLocks noChangeShapeType="1"/>
          </p:cNvSpPr>
          <p:nvPr/>
        </p:nvSpPr>
        <p:spPr bwMode="auto">
          <a:xfrm>
            <a:off x="4876800" y="3191437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0" name="Text Box 14"/>
          <p:cNvSpPr txBox="1">
            <a:spLocks noChangeArrowheads="1"/>
          </p:cNvSpPr>
          <p:nvPr/>
        </p:nvSpPr>
        <p:spPr bwMode="auto">
          <a:xfrm>
            <a:off x="2955925" y="3232712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4831" name="Text Box 15"/>
          <p:cNvSpPr txBox="1">
            <a:spLocks noChangeArrowheads="1"/>
          </p:cNvSpPr>
          <p:nvPr/>
        </p:nvSpPr>
        <p:spPr bwMode="auto">
          <a:xfrm>
            <a:off x="4876800" y="3191437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4832" name="Oval 16"/>
          <p:cNvSpPr>
            <a:spLocks noChangeArrowheads="1"/>
          </p:cNvSpPr>
          <p:nvPr/>
        </p:nvSpPr>
        <p:spPr bwMode="auto">
          <a:xfrm>
            <a:off x="1981200" y="5325037"/>
            <a:ext cx="10668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833" name="Line 17"/>
          <p:cNvSpPr>
            <a:spLocks noChangeShapeType="1"/>
          </p:cNvSpPr>
          <p:nvPr/>
        </p:nvSpPr>
        <p:spPr bwMode="auto">
          <a:xfrm>
            <a:off x="2133600" y="5858437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4" name="Oval 18"/>
          <p:cNvSpPr>
            <a:spLocks noChangeArrowheads="1"/>
          </p:cNvSpPr>
          <p:nvPr/>
        </p:nvSpPr>
        <p:spPr bwMode="auto">
          <a:xfrm>
            <a:off x="3429000" y="5325037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835" name="Oval 19"/>
          <p:cNvSpPr>
            <a:spLocks noChangeArrowheads="1"/>
          </p:cNvSpPr>
          <p:nvPr/>
        </p:nvSpPr>
        <p:spPr bwMode="auto">
          <a:xfrm>
            <a:off x="5181600" y="5401237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4836" name="Line 20"/>
          <p:cNvSpPr>
            <a:spLocks noChangeShapeType="1"/>
          </p:cNvSpPr>
          <p:nvPr/>
        </p:nvSpPr>
        <p:spPr bwMode="auto">
          <a:xfrm flipV="1">
            <a:off x="2590800" y="4715437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7" name="Line 21"/>
          <p:cNvSpPr>
            <a:spLocks noChangeShapeType="1"/>
          </p:cNvSpPr>
          <p:nvPr/>
        </p:nvSpPr>
        <p:spPr bwMode="auto">
          <a:xfrm flipV="1">
            <a:off x="4038600" y="4715437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838" name="Line 22"/>
          <p:cNvSpPr>
            <a:spLocks noChangeShapeType="1"/>
          </p:cNvSpPr>
          <p:nvPr/>
        </p:nvSpPr>
        <p:spPr bwMode="auto">
          <a:xfrm>
            <a:off x="4876800" y="4715437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标题 1"/>
          <p:cNvSpPr txBox="1">
            <a:spLocks/>
          </p:cNvSpPr>
          <p:nvPr/>
        </p:nvSpPr>
        <p:spPr>
          <a:xfrm>
            <a:off x="661147" y="-74613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图 （几元关系）</a:t>
            </a:r>
          </a:p>
        </p:txBody>
      </p:sp>
      <p:sp>
        <p:nvSpPr>
          <p:cNvPr id="25" name="Text Box 4"/>
          <p:cNvSpPr txBox="1">
            <a:spLocks noChangeArrowheads="1"/>
          </p:cNvSpPr>
          <p:nvPr/>
        </p:nvSpPr>
        <p:spPr bwMode="auto">
          <a:xfrm>
            <a:off x="587547" y="1170766"/>
            <a:ext cx="704141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首先确定实体之间是几元关系？</a:t>
            </a:r>
            <a:endParaRPr lang="en-US" altLang="zh-CN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39775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ER </a:t>
            </a:r>
            <a:r>
              <a:rPr lang="zh-CN" altLang="en-US" dirty="0" smtClean="0">
                <a:ea typeface="宋体" panose="02010600030101010101" pitchFamily="2" charset="-122"/>
              </a:rPr>
              <a:t>图</a:t>
            </a:r>
            <a:r>
              <a:rPr lang="zh-CN" altLang="en-US" dirty="0"/>
              <a:t>（几元关系</a:t>
            </a:r>
            <a:r>
              <a:rPr lang="zh-CN" altLang="en-US" dirty="0" smtClean="0"/>
              <a:t>）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24000"/>
            <a:ext cx="8534400" cy="5029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609600" y="1600200"/>
            <a:ext cx="20377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二元关系</a:t>
            </a:r>
            <a:endParaRPr lang="en-US" altLang="zh-CN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5845" name="Rectangle 5"/>
          <p:cNvSpPr>
            <a:spLocks noChangeArrowheads="1"/>
          </p:cNvSpPr>
          <p:nvPr/>
        </p:nvSpPr>
        <p:spPr bwMode="auto">
          <a:xfrm>
            <a:off x="3886200" y="3200400"/>
            <a:ext cx="1581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advises</a:t>
            </a:r>
          </a:p>
        </p:txBody>
      </p:sp>
      <p:sp>
        <p:nvSpPr>
          <p:cNvPr id="35846" name="Rectangle 6"/>
          <p:cNvSpPr>
            <a:spLocks noChangeArrowheads="1"/>
          </p:cNvSpPr>
          <p:nvPr/>
        </p:nvSpPr>
        <p:spPr bwMode="auto">
          <a:xfrm>
            <a:off x="685800" y="3200400"/>
            <a:ext cx="2216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Professors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288925" y="4514850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35848" name="Rectangle 8"/>
          <p:cNvSpPr>
            <a:spLocks noChangeArrowheads="1"/>
          </p:cNvSpPr>
          <p:nvPr/>
        </p:nvSpPr>
        <p:spPr bwMode="auto">
          <a:xfrm>
            <a:off x="1524000" y="45720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35849" name="Rectangle 9"/>
          <p:cNvSpPr>
            <a:spLocks noChangeArrowheads="1"/>
          </p:cNvSpPr>
          <p:nvPr/>
        </p:nvSpPr>
        <p:spPr bwMode="auto">
          <a:xfrm>
            <a:off x="2971800" y="4495800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35850" name="AutoShape 10"/>
          <p:cNvSpPr>
            <a:spLocks noChangeArrowheads="1"/>
          </p:cNvSpPr>
          <p:nvPr/>
        </p:nvSpPr>
        <p:spPr bwMode="auto">
          <a:xfrm>
            <a:off x="3429000" y="3048000"/>
            <a:ext cx="22860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51" name="Rectangle 11"/>
          <p:cNvSpPr>
            <a:spLocks noChangeArrowheads="1"/>
          </p:cNvSpPr>
          <p:nvPr/>
        </p:nvSpPr>
        <p:spPr bwMode="auto">
          <a:xfrm>
            <a:off x="609600" y="32004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52" name="Text Box 14"/>
          <p:cNvSpPr txBox="1">
            <a:spLocks noChangeArrowheads="1"/>
          </p:cNvSpPr>
          <p:nvPr/>
        </p:nvSpPr>
        <p:spPr bwMode="auto">
          <a:xfrm>
            <a:off x="3048000" y="31242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5853" name="Text Box 15"/>
          <p:cNvSpPr txBox="1">
            <a:spLocks noChangeArrowheads="1"/>
          </p:cNvSpPr>
          <p:nvPr/>
        </p:nvSpPr>
        <p:spPr bwMode="auto">
          <a:xfrm>
            <a:off x="6019800" y="31242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35854" name="Oval 16"/>
          <p:cNvSpPr>
            <a:spLocks noChangeArrowheads="1"/>
          </p:cNvSpPr>
          <p:nvPr/>
        </p:nvSpPr>
        <p:spPr bwMode="auto">
          <a:xfrm>
            <a:off x="228600" y="4495800"/>
            <a:ext cx="10668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55" name="Line 17"/>
          <p:cNvSpPr>
            <a:spLocks noChangeShapeType="1"/>
          </p:cNvSpPr>
          <p:nvPr/>
        </p:nvSpPr>
        <p:spPr bwMode="auto">
          <a:xfrm>
            <a:off x="381000" y="5029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6" name="Oval 18"/>
          <p:cNvSpPr>
            <a:spLocks noChangeArrowheads="1"/>
          </p:cNvSpPr>
          <p:nvPr/>
        </p:nvSpPr>
        <p:spPr bwMode="auto">
          <a:xfrm>
            <a:off x="1447800" y="4495800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57" name="Oval 19"/>
          <p:cNvSpPr>
            <a:spLocks noChangeArrowheads="1"/>
          </p:cNvSpPr>
          <p:nvPr/>
        </p:nvSpPr>
        <p:spPr bwMode="auto">
          <a:xfrm>
            <a:off x="2895600" y="44958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58" name="Line 20"/>
          <p:cNvSpPr>
            <a:spLocks noChangeShapeType="1"/>
          </p:cNvSpPr>
          <p:nvPr/>
        </p:nvSpPr>
        <p:spPr bwMode="auto">
          <a:xfrm flipV="1">
            <a:off x="838200" y="38862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59" name="Line 21"/>
          <p:cNvSpPr>
            <a:spLocks noChangeShapeType="1"/>
          </p:cNvSpPr>
          <p:nvPr/>
        </p:nvSpPr>
        <p:spPr bwMode="auto">
          <a:xfrm flipH="1" flipV="1">
            <a:off x="1600200" y="3886200"/>
            <a:ext cx="457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0" name="Line 22"/>
          <p:cNvSpPr>
            <a:spLocks noChangeShapeType="1"/>
          </p:cNvSpPr>
          <p:nvPr/>
        </p:nvSpPr>
        <p:spPr bwMode="auto">
          <a:xfrm>
            <a:off x="2590800" y="38862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1" name="Rectangle 23"/>
          <p:cNvSpPr>
            <a:spLocks noChangeArrowheads="1"/>
          </p:cNvSpPr>
          <p:nvPr/>
        </p:nvSpPr>
        <p:spPr bwMode="auto">
          <a:xfrm>
            <a:off x="6705600" y="3276600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Students</a:t>
            </a:r>
          </a:p>
        </p:txBody>
      </p:sp>
      <p:sp>
        <p:nvSpPr>
          <p:cNvPr id="35862" name="Text Box 24"/>
          <p:cNvSpPr txBox="1">
            <a:spLocks noChangeArrowheads="1"/>
          </p:cNvSpPr>
          <p:nvPr/>
        </p:nvSpPr>
        <p:spPr bwMode="auto">
          <a:xfrm>
            <a:off x="5241925" y="4591050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35863" name="Rectangle 25"/>
          <p:cNvSpPr>
            <a:spLocks noChangeArrowheads="1"/>
          </p:cNvSpPr>
          <p:nvPr/>
        </p:nvSpPr>
        <p:spPr bwMode="auto">
          <a:xfrm>
            <a:off x="6477000" y="46482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35864" name="Rectangle 26"/>
          <p:cNvSpPr>
            <a:spLocks noChangeArrowheads="1"/>
          </p:cNvSpPr>
          <p:nvPr/>
        </p:nvSpPr>
        <p:spPr bwMode="auto">
          <a:xfrm>
            <a:off x="7924800" y="4648200"/>
            <a:ext cx="8620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35865" name="Rectangle 27"/>
          <p:cNvSpPr>
            <a:spLocks noChangeArrowheads="1"/>
          </p:cNvSpPr>
          <p:nvPr/>
        </p:nvSpPr>
        <p:spPr bwMode="auto">
          <a:xfrm>
            <a:off x="6477000" y="3276600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66" name="Oval 28"/>
          <p:cNvSpPr>
            <a:spLocks noChangeArrowheads="1"/>
          </p:cNvSpPr>
          <p:nvPr/>
        </p:nvSpPr>
        <p:spPr bwMode="auto">
          <a:xfrm>
            <a:off x="5181600" y="4572000"/>
            <a:ext cx="10668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67" name="Line 29"/>
          <p:cNvSpPr>
            <a:spLocks noChangeShapeType="1"/>
          </p:cNvSpPr>
          <p:nvPr/>
        </p:nvSpPr>
        <p:spPr bwMode="auto">
          <a:xfrm>
            <a:off x="5334000" y="51054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68" name="Oval 30"/>
          <p:cNvSpPr>
            <a:spLocks noChangeArrowheads="1"/>
          </p:cNvSpPr>
          <p:nvPr/>
        </p:nvSpPr>
        <p:spPr bwMode="auto">
          <a:xfrm>
            <a:off x="6400800" y="4572000"/>
            <a:ext cx="12954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69" name="Oval 31"/>
          <p:cNvSpPr>
            <a:spLocks noChangeArrowheads="1"/>
          </p:cNvSpPr>
          <p:nvPr/>
        </p:nvSpPr>
        <p:spPr bwMode="auto">
          <a:xfrm>
            <a:off x="7848600" y="46482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5870" name="Line 32"/>
          <p:cNvSpPr>
            <a:spLocks noChangeShapeType="1"/>
          </p:cNvSpPr>
          <p:nvPr/>
        </p:nvSpPr>
        <p:spPr bwMode="auto">
          <a:xfrm flipV="1">
            <a:off x="5791200" y="3962400"/>
            <a:ext cx="8382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1" name="Line 33"/>
          <p:cNvSpPr>
            <a:spLocks noChangeShapeType="1"/>
          </p:cNvSpPr>
          <p:nvPr/>
        </p:nvSpPr>
        <p:spPr bwMode="auto">
          <a:xfrm flipV="1">
            <a:off x="7010400" y="3962400"/>
            <a:ext cx="6858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2" name="Line 34"/>
          <p:cNvSpPr>
            <a:spLocks noChangeShapeType="1"/>
          </p:cNvSpPr>
          <p:nvPr/>
        </p:nvSpPr>
        <p:spPr bwMode="auto">
          <a:xfrm flipH="1">
            <a:off x="8382000" y="39624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3" name="Line 35"/>
          <p:cNvSpPr>
            <a:spLocks noChangeShapeType="1"/>
          </p:cNvSpPr>
          <p:nvPr/>
        </p:nvSpPr>
        <p:spPr bwMode="auto">
          <a:xfrm>
            <a:off x="2895600" y="3581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74" name="Line 36"/>
          <p:cNvSpPr>
            <a:spLocks noChangeShapeType="1"/>
          </p:cNvSpPr>
          <p:nvPr/>
        </p:nvSpPr>
        <p:spPr bwMode="auto">
          <a:xfrm>
            <a:off x="5715000" y="3581400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2121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ER </a:t>
            </a:r>
            <a:r>
              <a:rPr lang="zh-CN" altLang="en-US" dirty="0" smtClean="0">
                <a:ea typeface="宋体" panose="02010600030101010101" pitchFamily="2" charset="-122"/>
              </a:rPr>
              <a:t>图</a:t>
            </a:r>
            <a:r>
              <a:rPr lang="zh-CN" altLang="en-US" dirty="0"/>
              <a:t>（几元关系</a:t>
            </a:r>
            <a:r>
              <a:rPr lang="zh-CN" altLang="en-US" dirty="0" smtClean="0"/>
              <a:t>）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609600" y="1600200"/>
            <a:ext cx="203773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三元关系</a:t>
            </a:r>
            <a:endParaRPr lang="en-US" altLang="zh-CN" sz="36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3429000" y="4191000"/>
            <a:ext cx="2190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Skill_used</a:t>
            </a:r>
          </a:p>
        </p:txBody>
      </p:sp>
      <p:sp>
        <p:nvSpPr>
          <p:cNvPr id="36870" name="Rectangle 6"/>
          <p:cNvSpPr>
            <a:spLocks noChangeArrowheads="1"/>
          </p:cNvSpPr>
          <p:nvPr/>
        </p:nvSpPr>
        <p:spPr bwMode="auto">
          <a:xfrm>
            <a:off x="914400" y="5410200"/>
            <a:ext cx="1479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Skills </a:t>
            </a:r>
          </a:p>
        </p:txBody>
      </p:sp>
      <p:sp>
        <p:nvSpPr>
          <p:cNvPr id="36871" name="AutoShape 10"/>
          <p:cNvSpPr>
            <a:spLocks noChangeArrowheads="1"/>
          </p:cNvSpPr>
          <p:nvPr/>
        </p:nvSpPr>
        <p:spPr bwMode="auto">
          <a:xfrm>
            <a:off x="2895600" y="4038600"/>
            <a:ext cx="33528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6872" name="Rectangle 11"/>
          <p:cNvSpPr>
            <a:spLocks noChangeArrowheads="1"/>
          </p:cNvSpPr>
          <p:nvPr/>
        </p:nvSpPr>
        <p:spPr bwMode="auto">
          <a:xfrm>
            <a:off x="762000" y="5410200"/>
            <a:ext cx="16764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6873" name="Rectangle 21"/>
          <p:cNvSpPr>
            <a:spLocks noChangeArrowheads="1"/>
          </p:cNvSpPr>
          <p:nvPr/>
        </p:nvSpPr>
        <p:spPr bwMode="auto">
          <a:xfrm>
            <a:off x="6400800" y="5486400"/>
            <a:ext cx="178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36874" name="Rectangle 25"/>
          <p:cNvSpPr>
            <a:spLocks noChangeArrowheads="1"/>
          </p:cNvSpPr>
          <p:nvPr/>
        </p:nvSpPr>
        <p:spPr bwMode="auto">
          <a:xfrm>
            <a:off x="6172200" y="5486400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6875" name="Line 33"/>
          <p:cNvSpPr>
            <a:spLocks noChangeShapeType="1"/>
          </p:cNvSpPr>
          <p:nvPr/>
        </p:nvSpPr>
        <p:spPr bwMode="auto">
          <a:xfrm flipV="1">
            <a:off x="1752600" y="4648200"/>
            <a:ext cx="1600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6" name="Line 34"/>
          <p:cNvSpPr>
            <a:spLocks noChangeShapeType="1"/>
          </p:cNvSpPr>
          <p:nvPr/>
        </p:nvSpPr>
        <p:spPr bwMode="auto">
          <a:xfrm>
            <a:off x="5791200" y="4648200"/>
            <a:ext cx="16002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7" name="Rectangle 35"/>
          <p:cNvSpPr>
            <a:spLocks noChangeArrowheads="1"/>
          </p:cNvSpPr>
          <p:nvPr/>
        </p:nvSpPr>
        <p:spPr bwMode="auto">
          <a:xfrm>
            <a:off x="3505200" y="2438400"/>
            <a:ext cx="2139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Engineers</a:t>
            </a:r>
          </a:p>
        </p:txBody>
      </p:sp>
      <p:sp>
        <p:nvSpPr>
          <p:cNvPr id="36878" name="Rectangle 36"/>
          <p:cNvSpPr>
            <a:spLocks noChangeArrowheads="1"/>
          </p:cNvSpPr>
          <p:nvPr/>
        </p:nvSpPr>
        <p:spPr bwMode="auto">
          <a:xfrm>
            <a:off x="3429000" y="24384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6879" name="Line 37"/>
          <p:cNvSpPr>
            <a:spLocks noChangeShapeType="1"/>
          </p:cNvSpPr>
          <p:nvPr/>
        </p:nvSpPr>
        <p:spPr bwMode="auto">
          <a:xfrm flipV="1">
            <a:off x="4572000" y="3124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826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811213"/>
          </a:xfrm>
        </p:spPr>
        <p:txBody>
          <a:bodyPr/>
          <a:lstStyle/>
          <a:p>
            <a:r>
              <a:rPr lang="en-US" altLang="zh-CN" dirty="0" smtClean="0"/>
              <a:t>     ER </a:t>
            </a:r>
            <a:r>
              <a:rPr lang="zh-CN" altLang="en-US" dirty="0"/>
              <a:t>图</a:t>
            </a:r>
            <a:r>
              <a:rPr lang="zh-CN" altLang="en-US" dirty="0" smtClean="0"/>
              <a:t>（实体的角色）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12875"/>
            <a:ext cx="8534400" cy="4824413"/>
          </a:xfrm>
        </p:spPr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Case 1: </a:t>
            </a:r>
            <a:r>
              <a:rPr lang="zh-CN" altLang="en-US" dirty="0" smtClean="0"/>
              <a:t>角色</a:t>
            </a:r>
            <a:r>
              <a:rPr lang="zh-CN" altLang="en-US" dirty="0"/>
              <a:t>可以通过正确选择的名称来确定。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39940" name="Rectangle 4"/>
          <p:cNvSpPr>
            <a:spLocks noChangeArrowheads="1"/>
          </p:cNvSpPr>
          <p:nvPr/>
        </p:nvSpPr>
        <p:spPr bwMode="auto">
          <a:xfrm>
            <a:off x="3953435" y="2581835"/>
            <a:ext cx="1314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takes</a:t>
            </a:r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676835" y="3343835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Students</a:t>
            </a:r>
          </a:p>
        </p:txBody>
      </p:sp>
      <p:sp>
        <p:nvSpPr>
          <p:cNvPr id="39942" name="AutoShape 6"/>
          <p:cNvSpPr>
            <a:spLocks noChangeArrowheads="1"/>
          </p:cNvSpPr>
          <p:nvPr/>
        </p:nvSpPr>
        <p:spPr bwMode="auto">
          <a:xfrm>
            <a:off x="3496235" y="2429435"/>
            <a:ext cx="22860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600635" y="3343835"/>
            <a:ext cx="20574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2658035" y="410583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2658035" y="2734235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39946" name="Rectangle 10"/>
          <p:cNvSpPr>
            <a:spLocks noChangeArrowheads="1"/>
          </p:cNvSpPr>
          <p:nvPr/>
        </p:nvSpPr>
        <p:spPr bwMode="auto">
          <a:xfrm>
            <a:off x="6696635" y="3420035"/>
            <a:ext cx="1873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Courses</a:t>
            </a:r>
          </a:p>
        </p:txBody>
      </p:sp>
      <p:sp>
        <p:nvSpPr>
          <p:cNvPr id="39947" name="Rectangle 11"/>
          <p:cNvSpPr>
            <a:spLocks noChangeArrowheads="1"/>
          </p:cNvSpPr>
          <p:nvPr/>
        </p:nvSpPr>
        <p:spPr bwMode="auto">
          <a:xfrm>
            <a:off x="6772835" y="3420035"/>
            <a:ext cx="18288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9948" name="Line 12"/>
          <p:cNvSpPr>
            <a:spLocks noChangeShapeType="1"/>
          </p:cNvSpPr>
          <p:nvPr/>
        </p:nvSpPr>
        <p:spPr bwMode="auto">
          <a:xfrm flipV="1">
            <a:off x="2658035" y="2886635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49" name="Line 13"/>
          <p:cNvSpPr>
            <a:spLocks noChangeShapeType="1"/>
          </p:cNvSpPr>
          <p:nvPr/>
        </p:nvSpPr>
        <p:spPr bwMode="auto">
          <a:xfrm>
            <a:off x="5782235" y="2962835"/>
            <a:ext cx="990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0" name="Rectangle 14"/>
          <p:cNvSpPr>
            <a:spLocks noChangeArrowheads="1"/>
          </p:cNvSpPr>
          <p:nvPr/>
        </p:nvSpPr>
        <p:spPr bwMode="auto">
          <a:xfrm>
            <a:off x="3724835" y="3953435"/>
            <a:ext cx="1962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is_TA_of</a:t>
            </a:r>
          </a:p>
        </p:txBody>
      </p:sp>
      <p:sp>
        <p:nvSpPr>
          <p:cNvPr id="39951" name="AutoShape 15"/>
          <p:cNvSpPr>
            <a:spLocks noChangeArrowheads="1"/>
          </p:cNvSpPr>
          <p:nvPr/>
        </p:nvSpPr>
        <p:spPr bwMode="auto">
          <a:xfrm>
            <a:off x="3115235" y="3801035"/>
            <a:ext cx="32004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9952" name="Line 16"/>
          <p:cNvSpPr>
            <a:spLocks noChangeShapeType="1"/>
          </p:cNvSpPr>
          <p:nvPr/>
        </p:nvSpPr>
        <p:spPr bwMode="auto">
          <a:xfrm>
            <a:off x="2658035" y="4029635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3" name="Line 17"/>
          <p:cNvSpPr>
            <a:spLocks noChangeShapeType="1"/>
          </p:cNvSpPr>
          <p:nvPr/>
        </p:nvSpPr>
        <p:spPr bwMode="auto">
          <a:xfrm flipV="1">
            <a:off x="6315635" y="4105835"/>
            <a:ext cx="4572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54" name="Text Box 18"/>
          <p:cNvSpPr txBox="1">
            <a:spLocks noChangeArrowheads="1"/>
          </p:cNvSpPr>
          <p:nvPr/>
        </p:nvSpPr>
        <p:spPr bwMode="auto">
          <a:xfrm>
            <a:off x="6315635" y="2810435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39955" name="Text Box 19"/>
          <p:cNvSpPr txBox="1">
            <a:spLocks noChangeArrowheads="1"/>
          </p:cNvSpPr>
          <p:nvPr/>
        </p:nvSpPr>
        <p:spPr bwMode="auto">
          <a:xfrm>
            <a:off x="6468035" y="410583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01131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524000"/>
            <a:ext cx="8534400" cy="5029200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</a:rPr>
              <a:t>Case 2:</a:t>
            </a:r>
            <a:r>
              <a:rPr lang="zh-CN" altLang="en-US" dirty="0"/>
              <a:t>角色需要明确地给出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762000" y="2895600"/>
            <a:ext cx="2927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is_married_to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1371600" y="4953000"/>
            <a:ext cx="170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40966" name="AutoShape 6"/>
          <p:cNvSpPr>
            <a:spLocks noChangeArrowheads="1"/>
          </p:cNvSpPr>
          <p:nvPr/>
        </p:nvSpPr>
        <p:spPr bwMode="auto">
          <a:xfrm>
            <a:off x="304800" y="2667000"/>
            <a:ext cx="3810000" cy="1143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1143000" y="4953000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0968" name="Line 8"/>
          <p:cNvSpPr>
            <a:spLocks noChangeShapeType="1"/>
          </p:cNvSpPr>
          <p:nvPr/>
        </p:nvSpPr>
        <p:spPr bwMode="auto">
          <a:xfrm>
            <a:off x="1447800" y="3657600"/>
            <a:ext cx="0" cy="1295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9" name="Line 9"/>
          <p:cNvSpPr>
            <a:spLocks noChangeShapeType="1"/>
          </p:cNvSpPr>
          <p:nvPr/>
        </p:nvSpPr>
        <p:spPr bwMode="auto">
          <a:xfrm>
            <a:off x="3048000" y="35814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1127125" y="36226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0971" name="Text Box 11"/>
          <p:cNvSpPr txBox="1">
            <a:spLocks noChangeArrowheads="1"/>
          </p:cNvSpPr>
          <p:nvPr/>
        </p:nvSpPr>
        <p:spPr bwMode="auto">
          <a:xfrm>
            <a:off x="3048000" y="358140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0972" name="Rectangle 12"/>
          <p:cNvSpPr>
            <a:spLocks noChangeArrowheads="1"/>
          </p:cNvSpPr>
          <p:nvPr/>
        </p:nvSpPr>
        <p:spPr bwMode="auto">
          <a:xfrm>
            <a:off x="381000" y="4114800"/>
            <a:ext cx="996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wife</a:t>
            </a:r>
          </a:p>
        </p:txBody>
      </p:sp>
      <p:sp>
        <p:nvSpPr>
          <p:cNvPr id="40973" name="Rectangle 13"/>
          <p:cNvSpPr>
            <a:spLocks noChangeArrowheads="1"/>
          </p:cNvSpPr>
          <p:nvPr/>
        </p:nvSpPr>
        <p:spPr bwMode="auto">
          <a:xfrm>
            <a:off x="2438400" y="4114800"/>
            <a:ext cx="1860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husband</a:t>
            </a:r>
          </a:p>
        </p:txBody>
      </p:sp>
      <p:sp>
        <p:nvSpPr>
          <p:cNvPr id="40974" name="Rectangle 14"/>
          <p:cNvSpPr>
            <a:spLocks noChangeArrowheads="1"/>
          </p:cNvSpPr>
          <p:nvPr/>
        </p:nvSpPr>
        <p:spPr bwMode="auto">
          <a:xfrm>
            <a:off x="5699125" y="2819400"/>
            <a:ext cx="2190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supervises</a:t>
            </a:r>
          </a:p>
        </p:txBody>
      </p:sp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5699125" y="4800600"/>
            <a:ext cx="2292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</a:p>
        </p:txBody>
      </p:sp>
      <p:sp>
        <p:nvSpPr>
          <p:cNvPr id="40976" name="AutoShape 16"/>
          <p:cNvSpPr>
            <a:spLocks noChangeArrowheads="1"/>
          </p:cNvSpPr>
          <p:nvPr/>
        </p:nvSpPr>
        <p:spPr bwMode="auto">
          <a:xfrm>
            <a:off x="5318125" y="2667000"/>
            <a:ext cx="30480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0977" name="Rectangle 17"/>
          <p:cNvSpPr>
            <a:spLocks noChangeArrowheads="1"/>
          </p:cNvSpPr>
          <p:nvPr/>
        </p:nvSpPr>
        <p:spPr bwMode="auto">
          <a:xfrm>
            <a:off x="5699125" y="48006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0978" name="Line 18"/>
          <p:cNvSpPr>
            <a:spLocks noChangeShapeType="1"/>
          </p:cNvSpPr>
          <p:nvPr/>
        </p:nvSpPr>
        <p:spPr bwMode="auto">
          <a:xfrm>
            <a:off x="6003925" y="34290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79" name="Line 19"/>
          <p:cNvSpPr>
            <a:spLocks noChangeShapeType="1"/>
          </p:cNvSpPr>
          <p:nvPr/>
        </p:nvSpPr>
        <p:spPr bwMode="auto">
          <a:xfrm>
            <a:off x="7604125" y="3429000"/>
            <a:ext cx="0" cy="1371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0" name="Text Box 20"/>
          <p:cNvSpPr txBox="1">
            <a:spLocks noChangeArrowheads="1"/>
          </p:cNvSpPr>
          <p:nvPr/>
        </p:nvSpPr>
        <p:spPr bwMode="auto">
          <a:xfrm>
            <a:off x="5683250" y="34702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40981" name="Text Box 21"/>
          <p:cNvSpPr txBox="1">
            <a:spLocks noChangeArrowheads="1"/>
          </p:cNvSpPr>
          <p:nvPr/>
        </p:nvSpPr>
        <p:spPr bwMode="auto">
          <a:xfrm>
            <a:off x="7604125" y="34290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40982" name="Rectangle 22"/>
          <p:cNvSpPr>
            <a:spLocks noChangeArrowheads="1"/>
          </p:cNvSpPr>
          <p:nvPr/>
        </p:nvSpPr>
        <p:spPr bwMode="auto">
          <a:xfrm>
            <a:off x="4664075" y="3962400"/>
            <a:ext cx="2241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supervisor</a:t>
            </a:r>
          </a:p>
        </p:txBody>
      </p:sp>
      <p:sp>
        <p:nvSpPr>
          <p:cNvPr id="40983" name="Rectangle 23"/>
          <p:cNvSpPr>
            <a:spLocks noChangeArrowheads="1"/>
          </p:cNvSpPr>
          <p:nvPr/>
        </p:nvSpPr>
        <p:spPr bwMode="auto">
          <a:xfrm>
            <a:off x="6950075" y="3962400"/>
            <a:ext cx="2216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supervisee</a:t>
            </a:r>
          </a:p>
        </p:txBody>
      </p:sp>
      <p:sp>
        <p:nvSpPr>
          <p:cNvPr id="25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811213"/>
          </a:xfrm>
        </p:spPr>
        <p:txBody>
          <a:bodyPr/>
          <a:lstStyle/>
          <a:p>
            <a:r>
              <a:rPr lang="en-US" altLang="zh-CN" dirty="0" smtClean="0"/>
              <a:t>     ER </a:t>
            </a:r>
            <a:r>
              <a:rPr lang="zh-CN" altLang="en-US" dirty="0"/>
              <a:t>图</a:t>
            </a:r>
            <a:r>
              <a:rPr lang="zh-CN" altLang="en-US" dirty="0" smtClean="0"/>
              <a:t>（实体的角色）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83590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ER </a:t>
            </a:r>
            <a:r>
              <a:rPr lang="zh-CN" altLang="en-US" dirty="0"/>
              <a:t>图</a:t>
            </a:r>
            <a:r>
              <a:rPr lang="zh-CN" altLang="en-US" dirty="0" smtClean="0"/>
              <a:t>（关系的属性）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Grade </a:t>
            </a:r>
            <a:r>
              <a:rPr lang="zh-CN" altLang="en-US" dirty="0" smtClean="0">
                <a:ea typeface="宋体" panose="02010600030101010101" pitchFamily="2" charset="-122"/>
              </a:rPr>
              <a:t>属性放在哪里？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有关系中两个实体共同决定的属性，放在关系上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41988" name="Rectangle 4"/>
          <p:cNvSpPr>
            <a:spLocks noChangeArrowheads="1"/>
          </p:cNvSpPr>
          <p:nvPr/>
        </p:nvSpPr>
        <p:spPr bwMode="auto">
          <a:xfrm>
            <a:off x="3886200" y="2362200"/>
            <a:ext cx="1200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takes</a:t>
            </a:r>
          </a:p>
        </p:txBody>
      </p:sp>
      <p:sp>
        <p:nvSpPr>
          <p:cNvPr id="41989" name="Rectangle 5"/>
          <p:cNvSpPr>
            <a:spLocks noChangeArrowheads="1"/>
          </p:cNvSpPr>
          <p:nvPr/>
        </p:nvSpPr>
        <p:spPr bwMode="auto">
          <a:xfrm>
            <a:off x="685800" y="2362200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Students</a:t>
            </a:r>
          </a:p>
        </p:txBody>
      </p:sp>
      <p:sp>
        <p:nvSpPr>
          <p:cNvPr id="41990" name="AutoShape 6"/>
          <p:cNvSpPr>
            <a:spLocks noChangeArrowheads="1"/>
          </p:cNvSpPr>
          <p:nvPr/>
        </p:nvSpPr>
        <p:spPr bwMode="auto">
          <a:xfrm>
            <a:off x="3352800" y="2209800"/>
            <a:ext cx="22860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1991" name="Rectangle 7"/>
          <p:cNvSpPr>
            <a:spLocks noChangeArrowheads="1"/>
          </p:cNvSpPr>
          <p:nvPr/>
        </p:nvSpPr>
        <p:spPr bwMode="auto">
          <a:xfrm>
            <a:off x="533400" y="2362200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1992" name="Text Box 8"/>
          <p:cNvSpPr txBox="1">
            <a:spLocks noChangeArrowheads="1"/>
          </p:cNvSpPr>
          <p:nvPr/>
        </p:nvSpPr>
        <p:spPr bwMode="auto">
          <a:xfrm>
            <a:off x="2971800" y="2286000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41993" name="Text Box 9"/>
          <p:cNvSpPr txBox="1">
            <a:spLocks noChangeArrowheads="1"/>
          </p:cNvSpPr>
          <p:nvPr/>
        </p:nvSpPr>
        <p:spPr bwMode="auto">
          <a:xfrm>
            <a:off x="5943600" y="2286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41994" name="Rectangle 10"/>
          <p:cNvSpPr>
            <a:spLocks noChangeArrowheads="1"/>
          </p:cNvSpPr>
          <p:nvPr/>
        </p:nvSpPr>
        <p:spPr bwMode="auto">
          <a:xfrm>
            <a:off x="6629400" y="2438400"/>
            <a:ext cx="175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Courses</a:t>
            </a:r>
          </a:p>
        </p:txBody>
      </p:sp>
      <p:sp>
        <p:nvSpPr>
          <p:cNvPr id="41995" name="Rectangle 11"/>
          <p:cNvSpPr>
            <a:spLocks noChangeArrowheads="1"/>
          </p:cNvSpPr>
          <p:nvPr/>
        </p:nvSpPr>
        <p:spPr bwMode="auto">
          <a:xfrm>
            <a:off x="6553200" y="2438400"/>
            <a:ext cx="1981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1996" name="Line 12"/>
          <p:cNvSpPr>
            <a:spLocks noChangeShapeType="1"/>
          </p:cNvSpPr>
          <p:nvPr/>
        </p:nvSpPr>
        <p:spPr bwMode="auto">
          <a:xfrm>
            <a:off x="2667000" y="27432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997" name="Line 13"/>
          <p:cNvSpPr>
            <a:spLocks noChangeShapeType="1"/>
          </p:cNvSpPr>
          <p:nvPr/>
        </p:nvSpPr>
        <p:spPr bwMode="auto">
          <a:xfrm>
            <a:off x="5638800" y="27432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4838700" y="1354930"/>
            <a:ext cx="2819400" cy="914401"/>
            <a:chOff x="4838700" y="1354930"/>
            <a:chExt cx="2819400" cy="914401"/>
          </a:xfrm>
        </p:grpSpPr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5757582" y="1354930"/>
              <a:ext cx="1441420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zh-CN" sz="3600" b="1" dirty="0" smtClean="0">
                  <a:latin typeface="Times New Roman" panose="02020603050405020304" pitchFamily="18" charset="0"/>
                  <a:ea typeface="宋体" panose="02010600030101010101" pitchFamily="2" charset="-122"/>
                </a:rPr>
                <a:t>Grade</a:t>
              </a:r>
              <a:endPara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5" name="Oval 16"/>
            <p:cNvSpPr>
              <a:spLocks noChangeArrowheads="1"/>
            </p:cNvSpPr>
            <p:nvPr/>
          </p:nvSpPr>
          <p:spPr bwMode="auto">
            <a:xfrm>
              <a:off x="5448300" y="1354931"/>
              <a:ext cx="2209800" cy="762000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zh-CN" altLang="zh-CN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 flipV="1">
              <a:off x="4838700" y="1812131"/>
              <a:ext cx="60960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41377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51054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  <a:r>
              <a:rPr lang="en-US" altLang="zh-CN" smtClean="0">
                <a:ea typeface="宋体" panose="02010600030101010101" pitchFamily="2" charset="-122"/>
              </a:rPr>
              <a:t>Another example:</a:t>
            </a:r>
          </a:p>
        </p:txBody>
      </p:sp>
      <p:sp>
        <p:nvSpPr>
          <p:cNvPr id="43012" name="Rectangle 4"/>
          <p:cNvSpPr>
            <a:spLocks noChangeArrowheads="1"/>
          </p:cNvSpPr>
          <p:nvPr/>
        </p:nvSpPr>
        <p:spPr bwMode="auto">
          <a:xfrm>
            <a:off x="3886200" y="4191000"/>
            <a:ext cx="1454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orders</a:t>
            </a:r>
          </a:p>
        </p:txBody>
      </p:sp>
      <p:sp>
        <p:nvSpPr>
          <p:cNvPr id="43013" name="Rectangle 5"/>
          <p:cNvSpPr>
            <a:spLocks noChangeArrowheads="1"/>
          </p:cNvSpPr>
          <p:nvPr/>
        </p:nvSpPr>
        <p:spPr bwMode="auto">
          <a:xfrm>
            <a:off x="1143000" y="5410200"/>
            <a:ext cx="1339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Parts </a:t>
            </a:r>
          </a:p>
        </p:txBody>
      </p:sp>
      <p:sp>
        <p:nvSpPr>
          <p:cNvPr id="43014" name="AutoShape 6"/>
          <p:cNvSpPr>
            <a:spLocks noChangeArrowheads="1"/>
          </p:cNvSpPr>
          <p:nvPr/>
        </p:nvSpPr>
        <p:spPr bwMode="auto">
          <a:xfrm>
            <a:off x="3429000" y="4038600"/>
            <a:ext cx="22860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990600" y="5410200"/>
            <a:ext cx="1524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6400800" y="5486400"/>
            <a:ext cx="178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43017" name="Rectangle 9"/>
          <p:cNvSpPr>
            <a:spLocks noChangeArrowheads="1"/>
          </p:cNvSpPr>
          <p:nvPr/>
        </p:nvSpPr>
        <p:spPr bwMode="auto">
          <a:xfrm>
            <a:off x="6172200" y="5486400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 flipV="1">
            <a:off x="1752600" y="4648200"/>
            <a:ext cx="1981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>
            <a:off x="5486400" y="4648200"/>
            <a:ext cx="1905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0" name="Rectangle 12"/>
          <p:cNvSpPr>
            <a:spLocks noChangeArrowheads="1"/>
          </p:cNvSpPr>
          <p:nvPr/>
        </p:nvSpPr>
        <p:spPr bwMode="auto">
          <a:xfrm>
            <a:off x="3581400" y="2438400"/>
            <a:ext cx="2038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Suppliers</a:t>
            </a:r>
          </a:p>
        </p:txBody>
      </p:sp>
      <p:sp>
        <p:nvSpPr>
          <p:cNvPr id="43021" name="Rectangle 13"/>
          <p:cNvSpPr>
            <a:spLocks noChangeArrowheads="1"/>
          </p:cNvSpPr>
          <p:nvPr/>
        </p:nvSpPr>
        <p:spPr bwMode="auto">
          <a:xfrm>
            <a:off x="3429000" y="24384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3022" name="Line 14"/>
          <p:cNvSpPr>
            <a:spLocks noChangeShapeType="1"/>
          </p:cNvSpPr>
          <p:nvPr/>
        </p:nvSpPr>
        <p:spPr bwMode="auto">
          <a:xfrm flipV="1">
            <a:off x="4572000" y="31242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3" name="Rectangle 15"/>
          <p:cNvSpPr>
            <a:spLocks noChangeArrowheads="1"/>
          </p:cNvSpPr>
          <p:nvPr/>
        </p:nvSpPr>
        <p:spPr bwMode="auto">
          <a:xfrm>
            <a:off x="5867400" y="3352800"/>
            <a:ext cx="1936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Quantity</a:t>
            </a:r>
          </a:p>
        </p:txBody>
      </p:sp>
      <p:sp>
        <p:nvSpPr>
          <p:cNvPr id="43024" name="Oval 16"/>
          <p:cNvSpPr>
            <a:spLocks noChangeArrowheads="1"/>
          </p:cNvSpPr>
          <p:nvPr/>
        </p:nvSpPr>
        <p:spPr bwMode="auto">
          <a:xfrm>
            <a:off x="5791200" y="3352800"/>
            <a:ext cx="2209800" cy="7620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3025" name="Line 17"/>
          <p:cNvSpPr>
            <a:spLocks noChangeShapeType="1"/>
          </p:cNvSpPr>
          <p:nvPr/>
        </p:nvSpPr>
        <p:spPr bwMode="auto">
          <a:xfrm flipV="1">
            <a:off x="5181600" y="3810000"/>
            <a:ext cx="609600" cy="4572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3026" name="Rectangle 18"/>
          <p:cNvSpPr>
            <a:spLocks noChangeArrowheads="1"/>
          </p:cNvSpPr>
          <p:nvPr/>
        </p:nvSpPr>
        <p:spPr bwMode="auto">
          <a:xfrm>
            <a:off x="4038600" y="3276600"/>
            <a:ext cx="56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43027" name="Rectangle 19"/>
          <p:cNvSpPr>
            <a:spLocks noChangeArrowheads="1"/>
          </p:cNvSpPr>
          <p:nvPr/>
        </p:nvSpPr>
        <p:spPr bwMode="auto">
          <a:xfrm>
            <a:off x="2362200" y="4495800"/>
            <a:ext cx="43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43028" name="Rectangle 20"/>
          <p:cNvSpPr>
            <a:spLocks noChangeArrowheads="1"/>
          </p:cNvSpPr>
          <p:nvPr/>
        </p:nvSpPr>
        <p:spPr bwMode="auto">
          <a:xfrm>
            <a:off x="6324600" y="4495800"/>
            <a:ext cx="387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22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0"/>
            <a:ext cx="7886700" cy="1325563"/>
          </a:xfrm>
        </p:spPr>
        <p:txBody>
          <a:bodyPr/>
          <a:lstStyle/>
          <a:p>
            <a:r>
              <a:rPr lang="en-US" altLang="zh-CN" dirty="0"/>
              <a:t>ER </a:t>
            </a:r>
            <a:r>
              <a:rPr lang="zh-CN" altLang="en-US" dirty="0"/>
              <a:t>图</a:t>
            </a:r>
            <a:r>
              <a:rPr lang="zh-CN" altLang="en-US" dirty="0" smtClean="0"/>
              <a:t>（关系的属性）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9359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模型（示例）</a:t>
            </a:r>
          </a:p>
        </p:txBody>
      </p:sp>
      <p:sp>
        <p:nvSpPr>
          <p:cNvPr id="65539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686800" cy="50673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 smtClean="0"/>
              <a:t>一个实例</a:t>
            </a:r>
            <a:endParaRPr lang="en-US" altLang="zh-CN" dirty="0" smtClean="0"/>
          </a:p>
          <a:p>
            <a:pPr lvl="1">
              <a:lnSpc>
                <a:spcPct val="120000"/>
              </a:lnSpc>
            </a:pPr>
            <a:r>
              <a:rPr lang="zh-CN" altLang="en-US" dirty="0" smtClean="0"/>
              <a:t>某个工厂物资管理的概念模型。物资管理涉及的实体有：</a:t>
            </a:r>
          </a:p>
          <a:p>
            <a:pPr lvl="2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仓库：属性有仓库号、面积、电话号码</a:t>
            </a:r>
          </a:p>
          <a:p>
            <a:pPr lvl="2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零件：属性有零件号、名称、规格、单价、描述</a:t>
            </a:r>
          </a:p>
          <a:p>
            <a:pPr lvl="2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供应商：属性有供应商号、姓名、地址、电话号码、账号</a:t>
            </a:r>
          </a:p>
          <a:p>
            <a:pPr lvl="2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项目：属性有项目号、预算、开工日期</a:t>
            </a:r>
          </a:p>
          <a:p>
            <a:pPr lvl="2">
              <a:lnSpc>
                <a:spcPct val="120000"/>
              </a:lnSpc>
              <a:buSzPct val="87000"/>
              <a:buFont typeface="Wingdings" panose="05000000000000000000" pitchFamily="2" charset="2"/>
              <a:buChar char="l"/>
            </a:pPr>
            <a:r>
              <a:rPr lang="zh-CN" altLang="en-US" dirty="0" smtClean="0"/>
              <a:t>职工：属性有职工号、姓名、年龄、职称</a:t>
            </a:r>
          </a:p>
        </p:txBody>
      </p:sp>
    </p:spTree>
    <p:extLst>
      <p:ext uri="{BB962C8B-B14F-4D97-AF65-F5344CB8AC3E}">
        <p14:creationId xmlns:p14="http://schemas.microsoft.com/office/powerpoint/2010/main" val="37888952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</a:t>
            </a:r>
            <a:r>
              <a:rPr lang="zh-CN" altLang="en-US" sz="3600" dirty="0"/>
              <a:t>（示例）</a:t>
            </a:r>
            <a:endParaRPr lang="zh-CN" altLang="en-US" sz="3600" dirty="0" smtClean="0"/>
          </a:p>
        </p:txBody>
      </p:sp>
      <p:pic>
        <p:nvPicPr>
          <p:cNvPr id="68611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1700213"/>
            <a:ext cx="8651875" cy="324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84943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</a:t>
            </a:r>
            <a:r>
              <a:rPr lang="zh-CN" altLang="en-US" sz="3600" dirty="0"/>
              <a:t>（示例）</a:t>
            </a:r>
            <a:endParaRPr lang="zh-CN" altLang="en-US" sz="3600" dirty="0" smtClean="0"/>
          </a:p>
        </p:txBody>
      </p:sp>
      <p:sp>
        <p:nvSpPr>
          <p:cNvPr id="66563" name="内容占位符 2"/>
          <p:cNvSpPr>
            <a:spLocks noGrp="1"/>
          </p:cNvSpPr>
          <p:nvPr>
            <p:ph idx="4294967295"/>
          </p:nvPr>
        </p:nvSpPr>
        <p:spPr>
          <a:xfrm>
            <a:off x="457200" y="1098550"/>
            <a:ext cx="8435975" cy="5095875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120000"/>
              </a:lnSpc>
            </a:pPr>
            <a:r>
              <a:rPr lang="zh-CN" altLang="en-US" dirty="0" smtClean="0"/>
              <a:t>这些实体之间的联系如下： </a:t>
            </a:r>
            <a:endParaRPr lang="en-US" altLang="zh-CN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 </a:t>
            </a:r>
            <a:r>
              <a:rPr lang="zh-CN" altLang="en-US" sz="2200" dirty="0" smtClean="0"/>
              <a:t>（</a:t>
            </a:r>
            <a:r>
              <a:rPr lang="en-US" altLang="zh-CN" sz="2200" dirty="0" smtClean="0"/>
              <a:t>1</a:t>
            </a:r>
            <a:r>
              <a:rPr lang="zh-CN" altLang="en-US" sz="2200" dirty="0" smtClean="0"/>
              <a:t>） 一个仓库可以存放多种零件，一种零件可以存放在多个 </a:t>
            </a:r>
            <a:endParaRPr lang="en-US" altLang="zh-CN" sz="2200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dirty="0" smtClean="0"/>
              <a:t>           仓库中，因此仓库和零件具有多对多的联系。用</a:t>
            </a:r>
            <a:r>
              <a:rPr lang="zh-CN" altLang="en-US" sz="2200" dirty="0" smtClean="0">
                <a:solidFill>
                  <a:srgbClr val="FF00FF"/>
                </a:solidFill>
              </a:rPr>
              <a:t>库存量</a:t>
            </a:r>
            <a:endParaRPr lang="en-US" altLang="zh-CN" sz="2200" dirty="0" smtClean="0">
              <a:solidFill>
                <a:srgbClr val="FF00FF"/>
              </a:solidFill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>
                <a:solidFill>
                  <a:srgbClr val="FF00FF"/>
                </a:solidFill>
              </a:rPr>
              <a:t>           </a:t>
            </a:r>
            <a:r>
              <a:rPr lang="zh-CN" altLang="en-US" sz="2200" dirty="0" smtClean="0"/>
              <a:t>来表示某种零件在某个仓库中的数量。</a:t>
            </a:r>
            <a:endParaRPr lang="en-US" altLang="zh-CN" sz="2200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zh-CN" altLang="en-US" sz="2200" dirty="0" smtClean="0"/>
              <a:t>（</a:t>
            </a:r>
            <a:r>
              <a:rPr lang="en-US" altLang="zh-CN" sz="2200" dirty="0" smtClean="0"/>
              <a:t>2</a:t>
            </a:r>
            <a:r>
              <a:rPr lang="zh-CN" altLang="en-US" sz="2200" dirty="0" smtClean="0"/>
              <a:t>） 一个仓库有多个职工当仓库保管员，一个职工只能在一</a:t>
            </a:r>
            <a:endParaRPr lang="en-US" altLang="zh-CN" sz="2200" dirty="0" smtClean="0"/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r>
              <a:rPr lang="en-US" altLang="zh-CN" sz="2200" dirty="0" smtClean="0"/>
              <a:t>          </a:t>
            </a:r>
            <a:r>
              <a:rPr lang="zh-CN" altLang="en-US" sz="2200" dirty="0" smtClean="0"/>
              <a:t>个仓库工作，因此仓库和职工之间是一对多的联系。</a:t>
            </a:r>
            <a:endParaRPr lang="en-US" altLang="zh-CN" sz="2200" dirty="0" smtClean="0"/>
          </a:p>
          <a:p>
            <a:pPr lvl="1">
              <a:lnSpc>
                <a:spcPct val="120000"/>
              </a:lnSpc>
              <a:buNone/>
            </a:pPr>
            <a:r>
              <a:rPr lang="zh-CN" altLang="en-US" sz="2200" dirty="0" smtClean="0"/>
              <a:t>（</a:t>
            </a:r>
            <a:r>
              <a:rPr lang="en-US" altLang="zh-CN" sz="2200" dirty="0"/>
              <a:t>3</a:t>
            </a:r>
            <a:r>
              <a:rPr lang="zh-CN" altLang="en-US" sz="2200" dirty="0"/>
              <a:t>） 职工之间具有领导与被领导关系。即仓库主任领导若</a:t>
            </a:r>
            <a:endParaRPr lang="en-US" altLang="zh-CN" sz="2200" dirty="0"/>
          </a:p>
          <a:p>
            <a:pPr lvl="1">
              <a:lnSpc>
                <a:spcPct val="120000"/>
              </a:lnSpc>
              <a:buNone/>
            </a:pPr>
            <a:r>
              <a:rPr lang="zh-CN" altLang="en-US" sz="2200" dirty="0"/>
              <a:t>          干保管员，因此职工实体型中具有一对多的联系。</a:t>
            </a:r>
            <a:endParaRPr lang="en-US" altLang="zh-CN" sz="2200" dirty="0"/>
          </a:p>
          <a:p>
            <a:pPr lvl="1">
              <a:lnSpc>
                <a:spcPct val="120000"/>
              </a:lnSpc>
              <a:buNone/>
            </a:pPr>
            <a:r>
              <a:rPr lang="zh-CN" altLang="en-US" sz="2200" dirty="0"/>
              <a:t>（</a:t>
            </a:r>
            <a:r>
              <a:rPr lang="en-US" altLang="zh-CN" sz="2200" dirty="0"/>
              <a:t>4</a:t>
            </a:r>
            <a:r>
              <a:rPr lang="zh-CN" altLang="en-US" sz="2200" dirty="0"/>
              <a:t>） 供应商、项目和零件三者之间具有多对多的联系。即一 </a:t>
            </a:r>
            <a:endParaRPr lang="en-US" altLang="zh-CN" sz="2200" dirty="0"/>
          </a:p>
          <a:p>
            <a:pPr lvl="1">
              <a:lnSpc>
                <a:spcPct val="120000"/>
              </a:lnSpc>
              <a:buNone/>
            </a:pPr>
            <a:r>
              <a:rPr lang="en-US" altLang="zh-CN" sz="2200" dirty="0"/>
              <a:t>          </a:t>
            </a:r>
            <a:r>
              <a:rPr lang="zh-CN" altLang="en-US" sz="2200" dirty="0"/>
              <a:t>个供应商可以供给若干项目多种零件，每个项目可以使</a:t>
            </a:r>
            <a:endParaRPr lang="en-US" altLang="zh-CN" sz="2200" dirty="0"/>
          </a:p>
          <a:p>
            <a:pPr lvl="1">
              <a:lnSpc>
                <a:spcPct val="120000"/>
              </a:lnSpc>
              <a:buNone/>
            </a:pPr>
            <a:r>
              <a:rPr lang="en-US" altLang="zh-CN" sz="2200" dirty="0"/>
              <a:t>          </a:t>
            </a:r>
            <a:r>
              <a:rPr lang="zh-CN" altLang="en-US" sz="2200" dirty="0"/>
              <a:t>用不同供应商供应的零件，每种零件可由不同供应商供 </a:t>
            </a:r>
            <a:endParaRPr lang="en-US" altLang="zh-CN" sz="2200" dirty="0"/>
          </a:p>
          <a:p>
            <a:pPr lvl="1">
              <a:lnSpc>
                <a:spcPct val="120000"/>
              </a:lnSpc>
              <a:buNone/>
            </a:pPr>
            <a:r>
              <a:rPr lang="en-US" altLang="zh-CN" sz="2200" dirty="0"/>
              <a:t>          </a:t>
            </a:r>
            <a:r>
              <a:rPr lang="zh-CN" altLang="en-US" sz="2200" dirty="0"/>
              <a:t>给。</a:t>
            </a:r>
          </a:p>
          <a:p>
            <a:pPr lvl="1">
              <a:lnSpc>
                <a:spcPct val="120000"/>
              </a:lnSpc>
              <a:buFont typeface="Wingdings" panose="05000000000000000000" pitchFamily="2" charset="2"/>
              <a:buNone/>
            </a:pPr>
            <a:endParaRPr lang="zh-CN" altLang="en-US" sz="2200" dirty="0" smtClean="0"/>
          </a:p>
        </p:txBody>
      </p:sp>
    </p:spTree>
    <p:extLst>
      <p:ext uri="{BB962C8B-B14F-4D97-AF65-F5344CB8AC3E}">
        <p14:creationId xmlns:p14="http://schemas.microsoft.com/office/powerpoint/2010/main" val="41032003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dirty="0" smtClean="0"/>
              <a:t>模型</a:t>
            </a:r>
            <a:r>
              <a:rPr lang="zh-CN" altLang="en-US" sz="3600" dirty="0"/>
              <a:t>（示例）</a:t>
            </a:r>
            <a:endParaRPr lang="zh-CN" altLang="en-US" sz="3600" dirty="0" smtClean="0"/>
          </a:p>
        </p:txBody>
      </p:sp>
      <p:pic>
        <p:nvPicPr>
          <p:cNvPr id="69635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3" y="1557338"/>
            <a:ext cx="8212137" cy="3527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353205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smtClean="0"/>
              <a:t>模型</a:t>
            </a:r>
            <a:r>
              <a:rPr lang="zh-CN" altLang="en-US" sz="3600"/>
              <a:t>（示例）</a:t>
            </a:r>
            <a:endParaRPr lang="zh-CN" altLang="en-US" sz="3600" dirty="0" smtClean="0"/>
          </a:p>
        </p:txBody>
      </p:sp>
      <p:pic>
        <p:nvPicPr>
          <p:cNvPr id="70659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1144588"/>
            <a:ext cx="7192962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20174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23900" y="0"/>
            <a:ext cx="8665906" cy="1325563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扩展</a:t>
            </a:r>
            <a:r>
              <a:rPr lang="en-US" altLang="zh-CN" dirty="0" smtClean="0">
                <a:ea typeface="宋体" panose="02010600030101010101" pitchFamily="2" charset="-122"/>
              </a:rPr>
              <a:t>ER </a:t>
            </a:r>
            <a:r>
              <a:rPr lang="zh-CN" altLang="en-US" dirty="0" smtClean="0">
                <a:ea typeface="宋体" panose="02010600030101010101" pitchFamily="2" charset="-122"/>
              </a:rPr>
              <a:t>模型</a:t>
            </a:r>
            <a:r>
              <a:rPr lang="en-US" altLang="zh-CN" dirty="0" smtClean="0">
                <a:ea typeface="宋体" panose="02010600030101010101" pitchFamily="2" charset="-122"/>
              </a:rPr>
              <a:t> (EER </a:t>
            </a:r>
            <a:r>
              <a:rPr lang="zh-CN" altLang="en-US" dirty="0" smtClean="0">
                <a:ea typeface="宋体" panose="02010600030101010101" pitchFamily="2" charset="-122"/>
              </a:rPr>
              <a:t>模型</a:t>
            </a:r>
            <a:r>
              <a:rPr lang="en-US" altLang="zh-CN" dirty="0" smtClean="0">
                <a:ea typeface="宋体" panose="02010600030101010101" pitchFamily="2" charset="-122"/>
              </a:rPr>
              <a:t>,</a:t>
            </a:r>
            <a:r>
              <a:rPr lang="zh-CN" altLang="en-US" dirty="0" smtClean="0">
                <a:ea typeface="宋体" panose="02010600030101010101" pitchFamily="2" charset="-122"/>
              </a:rPr>
              <a:t>或者</a:t>
            </a:r>
            <a:r>
              <a:rPr lang="en-US" altLang="zh-CN" dirty="0" smtClean="0">
                <a:ea typeface="宋体" panose="02010600030101010101" pitchFamily="2" charset="-122"/>
              </a:rPr>
              <a:t>ER plus)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962150"/>
            <a:ext cx="8713788" cy="3627438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介绍两种扩展</a:t>
            </a:r>
            <a:r>
              <a:rPr lang="en-US" altLang="zh-CN" dirty="0" smtClean="0">
                <a:ea typeface="宋体" panose="02010600030101010101" pitchFamily="2" charset="-122"/>
              </a:rPr>
              <a:t>:</a:t>
            </a:r>
          </a:p>
          <a:p>
            <a:pPr lvl="1"/>
            <a:r>
              <a:rPr lang="zh-CN" altLang="en-US" dirty="0" smtClean="0">
                <a:ea typeface="宋体" panose="02010600030101010101" pitchFamily="2" charset="-122"/>
              </a:rPr>
              <a:t>更精确的连接描述，基数约束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 lvl="1"/>
            <a:r>
              <a:rPr lang="zh-CN" altLang="en-US" dirty="0"/>
              <a:t>泛化</a:t>
            </a:r>
            <a:r>
              <a:rPr lang="en-US" altLang="zh-CN" dirty="0" smtClean="0"/>
              <a:t>/</a:t>
            </a:r>
            <a:r>
              <a:rPr lang="zh-CN" altLang="en-US" dirty="0" smtClean="0"/>
              <a:t>特化层次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1929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基数约束</a:t>
            </a:r>
            <a:r>
              <a:rPr lang="en-US" altLang="zh-CN" dirty="0" smtClean="0">
                <a:ea typeface="宋体" panose="02010600030101010101" pitchFamily="2" charset="-122"/>
              </a:rPr>
              <a:t>(1)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基数约束：说明实体型中的任何一个实体可以在联系中出现的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最少次数</a:t>
            </a:r>
            <a:r>
              <a:rPr lang="zh-CN" altLang="en-US" dirty="0" smtClean="0">
                <a:ea typeface="宋体" panose="02010600030101010101" pitchFamily="2" charset="-122"/>
              </a:rPr>
              <a:t>和</a:t>
            </a:r>
            <a:r>
              <a:rPr lang="zh-CN" altLang="en-US" dirty="0" smtClean="0">
                <a:solidFill>
                  <a:srgbClr val="FF0000"/>
                </a:solidFill>
                <a:ea typeface="宋体" panose="02010600030101010101" pitchFamily="2" charset="-122"/>
              </a:rPr>
              <a:t>最多次数</a:t>
            </a:r>
            <a:r>
              <a:rPr lang="zh-CN" altLang="en-US" dirty="0" smtClean="0">
                <a:ea typeface="宋体" panose="02010600030101010101" pitchFamily="2" charset="-122"/>
              </a:rPr>
              <a:t>。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endParaRPr lang="en-US" altLang="zh-CN" dirty="0">
              <a:ea typeface="宋体" panose="02010600030101010101" pitchFamily="2" charset="-122"/>
            </a:endParaRPr>
          </a:p>
          <a:p>
            <a:r>
              <a:rPr lang="en-US" altLang="zh-CN" dirty="0"/>
              <a:t>0 &lt;= </a:t>
            </a:r>
            <a:r>
              <a:rPr lang="en-US" altLang="zh-CN" dirty="0" err="1"/>
              <a:t>min_card</a:t>
            </a:r>
            <a:r>
              <a:rPr lang="en-US" altLang="zh-CN" dirty="0"/>
              <a:t> &lt;= </a:t>
            </a:r>
            <a:r>
              <a:rPr lang="en-US" altLang="zh-CN" dirty="0" err="1"/>
              <a:t>max_card</a:t>
            </a:r>
            <a:r>
              <a:rPr lang="en-US" altLang="zh-CN" dirty="0"/>
              <a:t> </a:t>
            </a:r>
            <a:endParaRPr lang="en-US" altLang="zh-CN" dirty="0" smtClean="0"/>
          </a:p>
          <a:p>
            <a:r>
              <a:rPr lang="zh-CN" altLang="en-US" dirty="0" smtClean="0"/>
              <a:t>解释</a:t>
            </a:r>
            <a:r>
              <a:rPr lang="en-US" altLang="zh-CN" dirty="0"/>
              <a:t>: E</a:t>
            </a:r>
            <a:r>
              <a:rPr lang="zh-CN" altLang="en-US" dirty="0"/>
              <a:t>中的每个实体都可能涉及</a:t>
            </a:r>
            <a:r>
              <a:rPr lang="en-US" altLang="zh-CN" dirty="0"/>
              <a:t>R</a:t>
            </a:r>
            <a:r>
              <a:rPr lang="zh-CN" altLang="en-US" dirty="0" smtClean="0"/>
              <a:t>中</a:t>
            </a:r>
            <a:r>
              <a:rPr lang="en-US" altLang="zh-CN" b="1" dirty="0" err="1">
                <a:latin typeface="Times New Roman" panose="02020603050405020304" pitchFamily="18" charset="0"/>
              </a:rPr>
              <a:t>min_card</a:t>
            </a:r>
            <a:r>
              <a:rPr lang="zh-CN" altLang="en-US" dirty="0" smtClean="0"/>
              <a:t>和</a:t>
            </a:r>
            <a:r>
              <a:rPr lang="en-US" altLang="zh-CN" b="1" dirty="0" err="1">
                <a:latin typeface="Times New Roman" panose="02020603050405020304" pitchFamily="18" charset="0"/>
              </a:rPr>
              <a:t>max_card</a:t>
            </a:r>
            <a:r>
              <a:rPr lang="zh-CN" altLang="en-US" dirty="0" smtClean="0"/>
              <a:t>之间</a:t>
            </a:r>
            <a:r>
              <a:rPr lang="zh-CN" altLang="en-US" dirty="0"/>
              <a:t>的关系。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6454588" y="2958353"/>
            <a:ext cx="1085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5" name="Rectangle 5"/>
          <p:cNvSpPr>
            <a:spLocks noChangeArrowheads="1"/>
          </p:cNvSpPr>
          <p:nvPr/>
        </p:nvSpPr>
        <p:spPr bwMode="auto">
          <a:xfrm>
            <a:off x="1272988" y="2882153"/>
            <a:ext cx="48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</a:p>
        </p:txBody>
      </p:sp>
      <p:sp>
        <p:nvSpPr>
          <p:cNvPr id="16" name="AutoShape 6"/>
          <p:cNvSpPr>
            <a:spLocks noChangeArrowheads="1"/>
          </p:cNvSpPr>
          <p:nvPr/>
        </p:nvSpPr>
        <p:spPr bwMode="auto">
          <a:xfrm>
            <a:off x="6606988" y="2882153"/>
            <a:ext cx="13716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7" name="Rectangle 7"/>
          <p:cNvSpPr>
            <a:spLocks noChangeArrowheads="1"/>
          </p:cNvSpPr>
          <p:nvPr/>
        </p:nvSpPr>
        <p:spPr bwMode="auto">
          <a:xfrm>
            <a:off x="1120588" y="2882153"/>
            <a:ext cx="762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187388" y="2653553"/>
            <a:ext cx="40655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3200" b="1" dirty="0" err="1">
                <a:latin typeface="Times New Roman" panose="02020603050405020304" pitchFamily="18" charset="0"/>
                <a:ea typeface="宋体" panose="02010600030101010101" pitchFamily="2" charset="-122"/>
              </a:rPr>
              <a:t>min_card</a:t>
            </a:r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en-US" altLang="zh-CN" sz="3200" b="1" dirty="0" err="1" smtClean="0">
                <a:latin typeface="Times New Roman" panose="02020603050405020304" pitchFamily="18" charset="0"/>
                <a:ea typeface="宋体" panose="02010600030101010101" pitchFamily="2" charset="-122"/>
              </a:rPr>
              <a:t>max_card</a:t>
            </a:r>
            <a:r>
              <a:rPr lang="en-US" altLang="zh-CN" sz="3200" b="1" dirty="0" smtClean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32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1882588" y="3263153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7978588" y="3263153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4168588" y="5748339"/>
            <a:ext cx="1200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takes</a:t>
            </a:r>
          </a:p>
        </p:txBody>
      </p:sp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968188" y="5748339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Students</a:t>
            </a:r>
          </a:p>
        </p:txBody>
      </p:sp>
      <p:sp>
        <p:nvSpPr>
          <p:cNvPr id="24" name="AutoShape 6"/>
          <p:cNvSpPr>
            <a:spLocks noChangeArrowheads="1"/>
          </p:cNvSpPr>
          <p:nvPr/>
        </p:nvSpPr>
        <p:spPr bwMode="auto">
          <a:xfrm>
            <a:off x="3635188" y="5595939"/>
            <a:ext cx="22860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815788" y="5748339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6" name="Text Box 8"/>
          <p:cNvSpPr txBox="1">
            <a:spLocks noChangeArrowheads="1"/>
          </p:cNvSpPr>
          <p:nvPr/>
        </p:nvSpPr>
        <p:spPr bwMode="auto">
          <a:xfrm>
            <a:off x="2949388" y="563913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(1, 5)</a:t>
            </a:r>
          </a:p>
        </p:txBody>
      </p:sp>
      <p:sp>
        <p:nvSpPr>
          <p:cNvPr id="27" name="Text Box 9"/>
          <p:cNvSpPr txBox="1">
            <a:spLocks noChangeArrowheads="1"/>
          </p:cNvSpPr>
          <p:nvPr/>
        </p:nvSpPr>
        <p:spPr bwMode="auto">
          <a:xfrm>
            <a:off x="5860676" y="5566494"/>
            <a:ext cx="996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(5, 60)</a:t>
            </a:r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6911788" y="5824539"/>
            <a:ext cx="1758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Courses</a:t>
            </a:r>
          </a:p>
        </p:txBody>
      </p:sp>
      <p:sp>
        <p:nvSpPr>
          <p:cNvPr id="29" name="Rectangle 11"/>
          <p:cNvSpPr>
            <a:spLocks noChangeArrowheads="1"/>
          </p:cNvSpPr>
          <p:nvPr/>
        </p:nvSpPr>
        <p:spPr bwMode="auto">
          <a:xfrm>
            <a:off x="6835588" y="5824539"/>
            <a:ext cx="1981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30" name="Line 12"/>
          <p:cNvSpPr>
            <a:spLocks noChangeShapeType="1"/>
          </p:cNvSpPr>
          <p:nvPr/>
        </p:nvSpPr>
        <p:spPr bwMode="auto">
          <a:xfrm>
            <a:off x="2949388" y="6129339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Line 13"/>
          <p:cNvSpPr>
            <a:spLocks noChangeShapeType="1"/>
          </p:cNvSpPr>
          <p:nvPr/>
        </p:nvSpPr>
        <p:spPr bwMode="auto">
          <a:xfrm>
            <a:off x="5921188" y="6129339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517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基数约束</a:t>
            </a:r>
            <a:r>
              <a:rPr lang="en-US" altLang="zh-CN" dirty="0" smtClean="0"/>
              <a:t>(2)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899" y="1663701"/>
            <a:ext cx="8133229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If </a:t>
            </a:r>
            <a:r>
              <a:rPr lang="en-US" altLang="zh-CN" dirty="0" err="1" smtClean="0">
                <a:ea typeface="宋体" panose="02010600030101010101" pitchFamily="2" charset="-122"/>
              </a:rPr>
              <a:t>min_card</a:t>
            </a:r>
            <a:r>
              <a:rPr lang="en-US" altLang="zh-CN" dirty="0" smtClean="0">
                <a:ea typeface="宋体" panose="02010600030101010101" pitchFamily="2" charset="-122"/>
              </a:rPr>
              <a:t> &gt;= 1, E </a:t>
            </a:r>
            <a:r>
              <a:rPr lang="zh-CN" altLang="en-US" dirty="0" smtClean="0">
                <a:ea typeface="宋体" panose="02010600030101010101" pitchFamily="2" charset="-122"/>
              </a:rPr>
              <a:t>全部（强制）参与关系</a:t>
            </a:r>
            <a:r>
              <a:rPr lang="en-US" altLang="zh-CN" dirty="0" smtClean="0">
                <a:ea typeface="宋体" panose="02010600030101010101" pitchFamily="2" charset="-122"/>
              </a:rPr>
              <a:t>R</a:t>
            </a:r>
            <a:r>
              <a:rPr lang="zh-CN" altLang="en-US" dirty="0" smtClean="0">
                <a:ea typeface="宋体" panose="02010600030101010101" pitchFamily="2" charset="-122"/>
              </a:rPr>
              <a:t>，强制参与约束</a:t>
            </a:r>
            <a:r>
              <a:rPr lang="en-US" altLang="zh-CN" dirty="0" smtClean="0">
                <a:ea typeface="宋体" panose="02010600030101010101" pitchFamily="2" charset="-122"/>
              </a:rPr>
              <a:t>.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If </a:t>
            </a:r>
            <a:r>
              <a:rPr lang="en-US" altLang="zh-CN" dirty="0" err="1" smtClean="0">
                <a:ea typeface="宋体" panose="02010600030101010101" pitchFamily="2" charset="-122"/>
              </a:rPr>
              <a:t>min_card</a:t>
            </a:r>
            <a:r>
              <a:rPr lang="en-US" altLang="zh-CN" dirty="0" smtClean="0">
                <a:ea typeface="宋体" panose="02010600030101010101" pitchFamily="2" charset="-122"/>
              </a:rPr>
              <a:t> = 0, E </a:t>
            </a:r>
            <a:r>
              <a:rPr lang="zh-CN" altLang="en-US" dirty="0" smtClean="0">
                <a:ea typeface="宋体" panose="02010600030101010101" pitchFamily="2" charset="-122"/>
              </a:rPr>
              <a:t>部分（选择）参与</a:t>
            </a:r>
            <a:r>
              <a:rPr lang="en-US" altLang="zh-CN" dirty="0" smtClean="0">
                <a:ea typeface="宋体" panose="02010600030101010101" pitchFamily="2" charset="-122"/>
              </a:rPr>
              <a:t> R</a:t>
            </a:r>
            <a:r>
              <a:rPr lang="zh-CN" altLang="en-US" dirty="0" smtClean="0">
                <a:ea typeface="宋体" panose="02010600030101010101" pitchFamily="2" charset="-122"/>
              </a:rPr>
              <a:t>，非强制参与约束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3680012" y="3729318"/>
            <a:ext cx="1885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manages</a:t>
            </a: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74862" y="3756306"/>
            <a:ext cx="2176463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400" b="1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AutoShape 6"/>
          <p:cNvSpPr>
            <a:spLocks noChangeArrowheads="1"/>
          </p:cNvSpPr>
          <p:nvPr/>
        </p:nvSpPr>
        <p:spPr bwMode="auto">
          <a:xfrm>
            <a:off x="3394262" y="3500718"/>
            <a:ext cx="2286000" cy="12192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574862" y="3729318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708462" y="3653118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(0, 1)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5680262" y="3653118"/>
            <a:ext cx="76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(1,1)</a:t>
            </a: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6423212" y="3805518"/>
            <a:ext cx="25844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400" b="1">
                <a:latin typeface="Times New Roman" panose="02020603050405020304" pitchFamily="18" charset="0"/>
                <a:ea typeface="宋体" panose="02010600030101010101" pitchFamily="2" charset="-122"/>
              </a:rPr>
              <a:t>Departments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6423212" y="3805518"/>
            <a:ext cx="25908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2708462" y="4110318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5680262" y="4110318"/>
            <a:ext cx="7429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57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232569"/>
            <a:ext cx="9144000" cy="887413"/>
          </a:xfrm>
        </p:spPr>
        <p:txBody>
          <a:bodyPr>
            <a:normAutofit/>
          </a:bodyPr>
          <a:lstStyle/>
          <a:p>
            <a:r>
              <a:rPr lang="zh-CN" altLang="en-US" dirty="0"/>
              <a:t>基数约束</a:t>
            </a:r>
            <a:r>
              <a:rPr lang="en-US" altLang="zh-CN" dirty="0" smtClean="0"/>
              <a:t>(3)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825" y="1424782"/>
            <a:ext cx="8713788" cy="4883943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</a:t>
            </a:r>
            <a:r>
              <a:rPr lang="en-US" altLang="zh-CN" sz="3200" dirty="0"/>
              <a:t>1-to-1, 1-to-m, </a:t>
            </a:r>
            <a:r>
              <a:rPr lang="en-US" altLang="zh-CN" sz="3200" dirty="0" smtClean="0"/>
              <a:t>m-to-m</a:t>
            </a:r>
            <a:r>
              <a:rPr lang="zh-CN" altLang="en-US" sz="3200" dirty="0" smtClean="0"/>
              <a:t>关系的描述</a:t>
            </a:r>
            <a:endParaRPr lang="zh-CN" altLang="en-US" sz="3200" dirty="0" smtClean="0">
              <a:ea typeface="宋体" panose="02010600030101010101" pitchFamily="2" charset="-122"/>
            </a:endParaRPr>
          </a:p>
        </p:txBody>
      </p:sp>
      <p:sp>
        <p:nvSpPr>
          <p:cNvPr id="49156" name="Rectangle 4"/>
          <p:cNvSpPr>
            <a:spLocks noChangeArrowheads="1"/>
          </p:cNvSpPr>
          <p:nvPr/>
        </p:nvSpPr>
        <p:spPr bwMode="auto">
          <a:xfrm>
            <a:off x="5867400" y="2362200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9157" name="Rectangle 5"/>
          <p:cNvSpPr>
            <a:spLocks noChangeArrowheads="1"/>
          </p:cNvSpPr>
          <p:nvPr/>
        </p:nvSpPr>
        <p:spPr bwMode="auto">
          <a:xfrm>
            <a:off x="3962400" y="2362200"/>
            <a:ext cx="4714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4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58" name="AutoShape 6"/>
          <p:cNvSpPr>
            <a:spLocks noChangeArrowheads="1"/>
          </p:cNvSpPr>
          <p:nvPr/>
        </p:nvSpPr>
        <p:spPr bwMode="auto">
          <a:xfrm>
            <a:off x="5715000" y="2286000"/>
            <a:ext cx="990600" cy="8382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59" name="Rectangle 7"/>
          <p:cNvSpPr>
            <a:spLocks noChangeArrowheads="1"/>
          </p:cNvSpPr>
          <p:nvPr/>
        </p:nvSpPr>
        <p:spPr bwMode="auto">
          <a:xfrm>
            <a:off x="3886200" y="2362200"/>
            <a:ext cx="6096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60" name="Text Box 8"/>
          <p:cNvSpPr txBox="1">
            <a:spLocks noChangeArrowheads="1"/>
          </p:cNvSpPr>
          <p:nvPr/>
        </p:nvSpPr>
        <p:spPr bwMode="auto">
          <a:xfrm>
            <a:off x="4648200" y="220980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(0, 1)</a:t>
            </a:r>
          </a:p>
        </p:txBody>
      </p:sp>
      <p:sp>
        <p:nvSpPr>
          <p:cNvPr id="49161" name="Text Box 9"/>
          <p:cNvSpPr txBox="1">
            <a:spLocks noChangeArrowheads="1"/>
          </p:cNvSpPr>
          <p:nvPr/>
        </p:nvSpPr>
        <p:spPr bwMode="auto">
          <a:xfrm>
            <a:off x="7086600" y="2209800"/>
            <a:ext cx="844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(0, 1)</a:t>
            </a:r>
          </a:p>
        </p:txBody>
      </p:sp>
      <p:sp>
        <p:nvSpPr>
          <p:cNvPr id="49162" name="Rectangle 10"/>
          <p:cNvSpPr>
            <a:spLocks noChangeArrowheads="1"/>
          </p:cNvSpPr>
          <p:nvPr/>
        </p:nvSpPr>
        <p:spPr bwMode="auto">
          <a:xfrm>
            <a:off x="8077200" y="2362200"/>
            <a:ext cx="44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4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3" name="Rectangle 11"/>
          <p:cNvSpPr>
            <a:spLocks noChangeArrowheads="1"/>
          </p:cNvSpPr>
          <p:nvPr/>
        </p:nvSpPr>
        <p:spPr bwMode="auto">
          <a:xfrm>
            <a:off x="8001000" y="2362200"/>
            <a:ext cx="6096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64" name="Line 12"/>
          <p:cNvSpPr>
            <a:spLocks noChangeShapeType="1"/>
          </p:cNvSpPr>
          <p:nvPr/>
        </p:nvSpPr>
        <p:spPr bwMode="auto">
          <a:xfrm>
            <a:off x="4495800" y="2667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5" name="Line 13"/>
          <p:cNvSpPr>
            <a:spLocks noChangeShapeType="1"/>
          </p:cNvSpPr>
          <p:nvPr/>
        </p:nvSpPr>
        <p:spPr bwMode="auto">
          <a:xfrm>
            <a:off x="6705600" y="26670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66" name="Text Box 14"/>
          <p:cNvSpPr txBox="1">
            <a:spLocks noChangeArrowheads="1"/>
          </p:cNvSpPr>
          <p:nvPr/>
        </p:nvSpPr>
        <p:spPr bwMode="auto">
          <a:xfrm>
            <a:off x="685800" y="2286000"/>
            <a:ext cx="2393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one-to-one:</a:t>
            </a:r>
          </a:p>
        </p:txBody>
      </p:sp>
      <p:sp>
        <p:nvSpPr>
          <p:cNvPr id="49167" name="Rectangle 15"/>
          <p:cNvSpPr>
            <a:spLocks noChangeArrowheads="1"/>
          </p:cNvSpPr>
          <p:nvPr/>
        </p:nvSpPr>
        <p:spPr bwMode="auto">
          <a:xfrm>
            <a:off x="5867400" y="3429000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9168" name="Rectangle 16"/>
          <p:cNvSpPr>
            <a:spLocks noChangeArrowheads="1"/>
          </p:cNvSpPr>
          <p:nvPr/>
        </p:nvSpPr>
        <p:spPr bwMode="auto">
          <a:xfrm>
            <a:off x="3962400" y="3429000"/>
            <a:ext cx="4714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4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69" name="AutoShape 17"/>
          <p:cNvSpPr>
            <a:spLocks noChangeArrowheads="1"/>
          </p:cNvSpPr>
          <p:nvPr/>
        </p:nvSpPr>
        <p:spPr bwMode="auto">
          <a:xfrm>
            <a:off x="5715000" y="3352800"/>
            <a:ext cx="990600" cy="8382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70" name="Rectangle 18"/>
          <p:cNvSpPr>
            <a:spLocks noChangeArrowheads="1"/>
          </p:cNvSpPr>
          <p:nvPr/>
        </p:nvSpPr>
        <p:spPr bwMode="auto">
          <a:xfrm>
            <a:off x="3886200" y="3429000"/>
            <a:ext cx="6096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71" name="Text Box 19"/>
          <p:cNvSpPr txBox="1">
            <a:spLocks noChangeArrowheads="1"/>
          </p:cNvSpPr>
          <p:nvPr/>
        </p:nvSpPr>
        <p:spPr bwMode="auto">
          <a:xfrm>
            <a:off x="4648200" y="3276600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(0, m)</a:t>
            </a:r>
          </a:p>
        </p:txBody>
      </p:sp>
      <p:sp>
        <p:nvSpPr>
          <p:cNvPr id="49172" name="Text Box 20"/>
          <p:cNvSpPr txBox="1">
            <a:spLocks noChangeArrowheads="1"/>
          </p:cNvSpPr>
          <p:nvPr/>
        </p:nvSpPr>
        <p:spPr bwMode="auto">
          <a:xfrm>
            <a:off x="7086600" y="3276600"/>
            <a:ext cx="862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(0, n)</a:t>
            </a:r>
          </a:p>
        </p:txBody>
      </p:sp>
      <p:sp>
        <p:nvSpPr>
          <p:cNvPr id="49173" name="Rectangle 21"/>
          <p:cNvSpPr>
            <a:spLocks noChangeArrowheads="1"/>
          </p:cNvSpPr>
          <p:nvPr/>
        </p:nvSpPr>
        <p:spPr bwMode="auto">
          <a:xfrm>
            <a:off x="8077200" y="3429000"/>
            <a:ext cx="44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4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74" name="Rectangle 22"/>
          <p:cNvSpPr>
            <a:spLocks noChangeArrowheads="1"/>
          </p:cNvSpPr>
          <p:nvPr/>
        </p:nvSpPr>
        <p:spPr bwMode="auto">
          <a:xfrm>
            <a:off x="8001000" y="3429000"/>
            <a:ext cx="6096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75" name="Line 23"/>
          <p:cNvSpPr>
            <a:spLocks noChangeShapeType="1"/>
          </p:cNvSpPr>
          <p:nvPr/>
        </p:nvSpPr>
        <p:spPr bwMode="auto">
          <a:xfrm>
            <a:off x="4495800" y="37338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6" name="Line 24"/>
          <p:cNvSpPr>
            <a:spLocks noChangeShapeType="1"/>
          </p:cNvSpPr>
          <p:nvPr/>
        </p:nvSpPr>
        <p:spPr bwMode="auto">
          <a:xfrm>
            <a:off x="6705600" y="3733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77" name="Text Box 25"/>
          <p:cNvSpPr txBox="1">
            <a:spLocks noChangeArrowheads="1"/>
          </p:cNvSpPr>
          <p:nvPr/>
        </p:nvSpPr>
        <p:spPr bwMode="auto">
          <a:xfrm>
            <a:off x="304800" y="3352800"/>
            <a:ext cx="3206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many-to-many:</a:t>
            </a:r>
          </a:p>
        </p:txBody>
      </p:sp>
      <p:sp>
        <p:nvSpPr>
          <p:cNvPr id="49178" name="Rectangle 26"/>
          <p:cNvSpPr>
            <a:spLocks noChangeArrowheads="1"/>
          </p:cNvSpPr>
          <p:nvPr/>
        </p:nvSpPr>
        <p:spPr bwMode="auto">
          <a:xfrm>
            <a:off x="5867400" y="4495800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9179" name="Rectangle 27"/>
          <p:cNvSpPr>
            <a:spLocks noChangeArrowheads="1"/>
          </p:cNvSpPr>
          <p:nvPr/>
        </p:nvSpPr>
        <p:spPr bwMode="auto">
          <a:xfrm>
            <a:off x="3962400" y="4495800"/>
            <a:ext cx="4714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4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80" name="AutoShape 28"/>
          <p:cNvSpPr>
            <a:spLocks noChangeArrowheads="1"/>
          </p:cNvSpPr>
          <p:nvPr/>
        </p:nvSpPr>
        <p:spPr bwMode="auto">
          <a:xfrm>
            <a:off x="5715000" y="4419600"/>
            <a:ext cx="990600" cy="8382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81" name="Rectangle 29"/>
          <p:cNvSpPr>
            <a:spLocks noChangeArrowheads="1"/>
          </p:cNvSpPr>
          <p:nvPr/>
        </p:nvSpPr>
        <p:spPr bwMode="auto">
          <a:xfrm>
            <a:off x="3886200" y="4495800"/>
            <a:ext cx="6096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82" name="Text Box 30"/>
          <p:cNvSpPr txBox="1">
            <a:spLocks noChangeArrowheads="1"/>
          </p:cNvSpPr>
          <p:nvPr/>
        </p:nvSpPr>
        <p:spPr bwMode="auto">
          <a:xfrm>
            <a:off x="4648200" y="4343400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(0, m)</a:t>
            </a:r>
          </a:p>
        </p:txBody>
      </p:sp>
      <p:sp>
        <p:nvSpPr>
          <p:cNvPr id="49183" name="Text Box 31"/>
          <p:cNvSpPr txBox="1">
            <a:spLocks noChangeArrowheads="1"/>
          </p:cNvSpPr>
          <p:nvPr/>
        </p:nvSpPr>
        <p:spPr bwMode="auto">
          <a:xfrm>
            <a:off x="7086600" y="4343400"/>
            <a:ext cx="76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(0,1)</a:t>
            </a:r>
          </a:p>
        </p:txBody>
      </p:sp>
      <p:sp>
        <p:nvSpPr>
          <p:cNvPr id="49184" name="Rectangle 32"/>
          <p:cNvSpPr>
            <a:spLocks noChangeArrowheads="1"/>
          </p:cNvSpPr>
          <p:nvPr/>
        </p:nvSpPr>
        <p:spPr bwMode="auto">
          <a:xfrm>
            <a:off x="8077200" y="4495800"/>
            <a:ext cx="44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4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85" name="Rectangle 33"/>
          <p:cNvSpPr>
            <a:spLocks noChangeArrowheads="1"/>
          </p:cNvSpPr>
          <p:nvPr/>
        </p:nvSpPr>
        <p:spPr bwMode="auto">
          <a:xfrm>
            <a:off x="8001000" y="4495800"/>
            <a:ext cx="6096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86" name="Line 34"/>
          <p:cNvSpPr>
            <a:spLocks noChangeShapeType="1"/>
          </p:cNvSpPr>
          <p:nvPr/>
        </p:nvSpPr>
        <p:spPr bwMode="auto">
          <a:xfrm>
            <a:off x="4495800" y="4800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87" name="Line 35"/>
          <p:cNvSpPr>
            <a:spLocks noChangeShapeType="1"/>
          </p:cNvSpPr>
          <p:nvPr/>
        </p:nvSpPr>
        <p:spPr bwMode="auto">
          <a:xfrm>
            <a:off x="6705600" y="4800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88" name="Text Box 36"/>
          <p:cNvSpPr txBox="1">
            <a:spLocks noChangeArrowheads="1"/>
          </p:cNvSpPr>
          <p:nvPr/>
        </p:nvSpPr>
        <p:spPr bwMode="auto">
          <a:xfrm>
            <a:off x="552450" y="4397188"/>
            <a:ext cx="2800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one-to-many:</a:t>
            </a:r>
          </a:p>
        </p:txBody>
      </p:sp>
      <p:sp>
        <p:nvSpPr>
          <p:cNvPr id="49189" name="Rectangle 37"/>
          <p:cNvSpPr>
            <a:spLocks noChangeArrowheads="1"/>
          </p:cNvSpPr>
          <p:nvPr/>
        </p:nvSpPr>
        <p:spPr bwMode="auto">
          <a:xfrm>
            <a:off x="5867400" y="5638800"/>
            <a:ext cx="628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49190" name="Rectangle 38"/>
          <p:cNvSpPr>
            <a:spLocks noChangeArrowheads="1"/>
          </p:cNvSpPr>
          <p:nvPr/>
        </p:nvSpPr>
        <p:spPr bwMode="auto">
          <a:xfrm>
            <a:off x="3962400" y="5638800"/>
            <a:ext cx="4714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400" b="1">
                <a:latin typeface="Times New Roman" panose="02020603050405020304" pitchFamily="18" charset="0"/>
                <a:ea typeface="宋体" panose="02010600030101010101" pitchFamily="2" charset="-122"/>
              </a:rPr>
              <a:t>E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91" name="AutoShape 39"/>
          <p:cNvSpPr>
            <a:spLocks noChangeArrowheads="1"/>
          </p:cNvSpPr>
          <p:nvPr/>
        </p:nvSpPr>
        <p:spPr bwMode="auto">
          <a:xfrm>
            <a:off x="5715000" y="5562600"/>
            <a:ext cx="990600" cy="8382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92" name="Rectangle 40"/>
          <p:cNvSpPr>
            <a:spLocks noChangeArrowheads="1"/>
          </p:cNvSpPr>
          <p:nvPr/>
        </p:nvSpPr>
        <p:spPr bwMode="auto">
          <a:xfrm>
            <a:off x="3886200" y="5638800"/>
            <a:ext cx="6096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95" name="Rectangle 43"/>
          <p:cNvSpPr>
            <a:spLocks noChangeArrowheads="1"/>
          </p:cNvSpPr>
          <p:nvPr/>
        </p:nvSpPr>
        <p:spPr bwMode="auto">
          <a:xfrm>
            <a:off x="8077200" y="5638800"/>
            <a:ext cx="44767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400" b="1">
                <a:latin typeface="Times New Roman" panose="02020603050405020304" pitchFamily="18" charset="0"/>
                <a:ea typeface="宋体" panose="02010600030101010101" pitchFamily="2" charset="-122"/>
              </a:rPr>
              <a:t>F</a:t>
            </a:r>
            <a:endParaRPr lang="en-US" altLang="zh-CN" sz="36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9196" name="Rectangle 44"/>
          <p:cNvSpPr>
            <a:spLocks noChangeArrowheads="1"/>
          </p:cNvSpPr>
          <p:nvPr/>
        </p:nvSpPr>
        <p:spPr bwMode="auto">
          <a:xfrm>
            <a:off x="8001000" y="5638800"/>
            <a:ext cx="6096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49197" name="Line 45"/>
          <p:cNvSpPr>
            <a:spLocks noChangeShapeType="1"/>
          </p:cNvSpPr>
          <p:nvPr/>
        </p:nvSpPr>
        <p:spPr bwMode="auto">
          <a:xfrm>
            <a:off x="4495800" y="59436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198" name="Line 46"/>
          <p:cNvSpPr>
            <a:spLocks noChangeShapeType="1"/>
          </p:cNvSpPr>
          <p:nvPr/>
        </p:nvSpPr>
        <p:spPr bwMode="auto">
          <a:xfrm>
            <a:off x="6705600" y="59436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7" name="Text Box 31"/>
          <p:cNvSpPr txBox="1">
            <a:spLocks noChangeArrowheads="1"/>
          </p:cNvSpPr>
          <p:nvPr/>
        </p:nvSpPr>
        <p:spPr bwMode="auto">
          <a:xfrm>
            <a:off x="4737100" y="5414680"/>
            <a:ext cx="768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(0,1)</a:t>
            </a:r>
          </a:p>
        </p:txBody>
      </p:sp>
      <p:sp>
        <p:nvSpPr>
          <p:cNvPr id="48" name="Text Box 30"/>
          <p:cNvSpPr txBox="1">
            <a:spLocks noChangeArrowheads="1"/>
          </p:cNvSpPr>
          <p:nvPr/>
        </p:nvSpPr>
        <p:spPr bwMode="auto">
          <a:xfrm>
            <a:off x="6888956" y="5486400"/>
            <a:ext cx="946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(0, m)</a:t>
            </a:r>
          </a:p>
        </p:txBody>
      </p:sp>
    </p:spTree>
    <p:extLst>
      <p:ext uri="{BB962C8B-B14F-4D97-AF65-F5344CB8AC3E}">
        <p14:creationId xmlns:p14="http://schemas.microsoft.com/office/powerpoint/2010/main" val="26008508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泛化（</a:t>
            </a:r>
            <a:r>
              <a:rPr lang="en-US" altLang="zh-CN" dirty="0" smtClean="0">
                <a:ea typeface="宋体" panose="02010600030101010101" pitchFamily="2" charset="-122"/>
              </a:rPr>
              <a:t>1</a:t>
            </a:r>
            <a:r>
              <a:rPr lang="zh-CN" altLang="en-US" dirty="0" smtClean="0">
                <a:ea typeface="宋体" panose="02010600030101010101" pitchFamily="2" charset="-122"/>
              </a:rPr>
              <a:t>） 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839200" cy="5105400"/>
          </a:xfrm>
        </p:spPr>
        <p:txBody>
          <a:bodyPr/>
          <a:lstStyle/>
          <a:p>
            <a:pPr>
              <a:buNone/>
            </a:pPr>
            <a:r>
              <a:rPr lang="zh-CN" altLang="en-US" dirty="0" smtClean="0"/>
              <a:t>泛化</a:t>
            </a:r>
            <a:r>
              <a:rPr lang="zh-CN" altLang="en-US" dirty="0"/>
              <a:t>是从给定的语义相关实体集定义广义实体集的过程。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auto">
          <a:xfrm>
            <a:off x="914400" y="5069541"/>
            <a:ext cx="2470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G_Students</a:t>
            </a:r>
          </a:p>
        </p:txBody>
      </p:sp>
      <p:sp>
        <p:nvSpPr>
          <p:cNvPr id="50181" name="Text Box 5"/>
          <p:cNvSpPr txBox="1">
            <a:spLocks noChangeArrowheads="1"/>
          </p:cNvSpPr>
          <p:nvPr/>
        </p:nvSpPr>
        <p:spPr bwMode="auto">
          <a:xfrm>
            <a:off x="365125" y="3412191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auto">
          <a:xfrm>
            <a:off x="1447800" y="3469341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2590800" y="2859741"/>
            <a:ext cx="104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GPA</a:t>
            </a:r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auto">
          <a:xfrm>
            <a:off x="838200" y="5069541"/>
            <a:ext cx="2743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0185" name="Oval 9"/>
          <p:cNvSpPr>
            <a:spLocks noChangeArrowheads="1"/>
          </p:cNvSpPr>
          <p:nvPr/>
        </p:nvSpPr>
        <p:spPr bwMode="auto">
          <a:xfrm>
            <a:off x="304800" y="3393141"/>
            <a:ext cx="990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0186" name="Line 10"/>
          <p:cNvSpPr>
            <a:spLocks noChangeShapeType="1"/>
          </p:cNvSpPr>
          <p:nvPr/>
        </p:nvSpPr>
        <p:spPr bwMode="auto">
          <a:xfrm>
            <a:off x="457200" y="3926541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87" name="Oval 11"/>
          <p:cNvSpPr>
            <a:spLocks noChangeArrowheads="1"/>
          </p:cNvSpPr>
          <p:nvPr/>
        </p:nvSpPr>
        <p:spPr bwMode="auto">
          <a:xfrm>
            <a:off x="1447800" y="3393141"/>
            <a:ext cx="12192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0188" name="Oval 12"/>
          <p:cNvSpPr>
            <a:spLocks noChangeArrowheads="1"/>
          </p:cNvSpPr>
          <p:nvPr/>
        </p:nvSpPr>
        <p:spPr bwMode="auto">
          <a:xfrm>
            <a:off x="2590800" y="2859741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0189" name="Line 13"/>
          <p:cNvSpPr>
            <a:spLocks noChangeShapeType="1"/>
          </p:cNvSpPr>
          <p:nvPr/>
        </p:nvSpPr>
        <p:spPr bwMode="auto">
          <a:xfrm flipH="1" flipV="1">
            <a:off x="914400" y="4078941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0" name="Line 14"/>
          <p:cNvSpPr>
            <a:spLocks noChangeShapeType="1"/>
          </p:cNvSpPr>
          <p:nvPr/>
        </p:nvSpPr>
        <p:spPr bwMode="auto">
          <a:xfrm flipV="1">
            <a:off x="1828800" y="4078941"/>
            <a:ext cx="1524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1" name="Line 15"/>
          <p:cNvSpPr>
            <a:spLocks noChangeShapeType="1"/>
          </p:cNvSpPr>
          <p:nvPr/>
        </p:nvSpPr>
        <p:spPr bwMode="auto">
          <a:xfrm flipH="1">
            <a:off x="2590800" y="3469341"/>
            <a:ext cx="3048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2" name="Rectangle 16"/>
          <p:cNvSpPr>
            <a:spLocks noChangeArrowheads="1"/>
          </p:cNvSpPr>
          <p:nvPr/>
        </p:nvSpPr>
        <p:spPr bwMode="auto">
          <a:xfrm>
            <a:off x="3200400" y="3469341"/>
            <a:ext cx="1065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GRE</a:t>
            </a:r>
          </a:p>
        </p:txBody>
      </p:sp>
      <p:sp>
        <p:nvSpPr>
          <p:cNvPr id="50193" name="Oval 17"/>
          <p:cNvSpPr>
            <a:spLocks noChangeArrowheads="1"/>
          </p:cNvSpPr>
          <p:nvPr/>
        </p:nvSpPr>
        <p:spPr bwMode="auto">
          <a:xfrm>
            <a:off x="3200400" y="3469341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0194" name="Line 18"/>
          <p:cNvSpPr>
            <a:spLocks noChangeShapeType="1"/>
          </p:cNvSpPr>
          <p:nvPr/>
        </p:nvSpPr>
        <p:spPr bwMode="auto">
          <a:xfrm flipH="1">
            <a:off x="3276600" y="4078941"/>
            <a:ext cx="304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195" name="Rectangle 19"/>
          <p:cNvSpPr>
            <a:spLocks noChangeArrowheads="1"/>
          </p:cNvSpPr>
          <p:nvPr/>
        </p:nvSpPr>
        <p:spPr bwMode="auto">
          <a:xfrm>
            <a:off x="5334000" y="5145741"/>
            <a:ext cx="2800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UG_Students</a:t>
            </a:r>
          </a:p>
        </p:txBody>
      </p:sp>
      <p:sp>
        <p:nvSpPr>
          <p:cNvPr id="50196" name="Text Box 20"/>
          <p:cNvSpPr txBox="1">
            <a:spLocks noChangeArrowheads="1"/>
          </p:cNvSpPr>
          <p:nvPr/>
        </p:nvSpPr>
        <p:spPr bwMode="auto">
          <a:xfrm>
            <a:off x="4860925" y="3564591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50197" name="Rectangle 21"/>
          <p:cNvSpPr>
            <a:spLocks noChangeArrowheads="1"/>
          </p:cNvSpPr>
          <p:nvPr/>
        </p:nvSpPr>
        <p:spPr bwMode="auto">
          <a:xfrm>
            <a:off x="5943600" y="3621741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50198" name="Rectangle 22"/>
          <p:cNvSpPr>
            <a:spLocks noChangeArrowheads="1"/>
          </p:cNvSpPr>
          <p:nvPr/>
        </p:nvSpPr>
        <p:spPr bwMode="auto">
          <a:xfrm>
            <a:off x="6934200" y="2859741"/>
            <a:ext cx="104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GPA</a:t>
            </a:r>
          </a:p>
        </p:txBody>
      </p:sp>
      <p:sp>
        <p:nvSpPr>
          <p:cNvPr id="50199" name="Rectangle 23"/>
          <p:cNvSpPr>
            <a:spLocks noChangeArrowheads="1"/>
          </p:cNvSpPr>
          <p:nvPr/>
        </p:nvSpPr>
        <p:spPr bwMode="auto">
          <a:xfrm>
            <a:off x="5257800" y="5145741"/>
            <a:ext cx="29718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0200" name="Oval 24"/>
          <p:cNvSpPr>
            <a:spLocks noChangeArrowheads="1"/>
          </p:cNvSpPr>
          <p:nvPr/>
        </p:nvSpPr>
        <p:spPr bwMode="auto">
          <a:xfrm>
            <a:off x="4800600" y="3545541"/>
            <a:ext cx="990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0201" name="Line 25"/>
          <p:cNvSpPr>
            <a:spLocks noChangeShapeType="1"/>
          </p:cNvSpPr>
          <p:nvPr/>
        </p:nvSpPr>
        <p:spPr bwMode="auto">
          <a:xfrm>
            <a:off x="4953000" y="4078941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202" name="Oval 26"/>
          <p:cNvSpPr>
            <a:spLocks noChangeArrowheads="1"/>
          </p:cNvSpPr>
          <p:nvPr/>
        </p:nvSpPr>
        <p:spPr bwMode="auto">
          <a:xfrm>
            <a:off x="5943600" y="3545541"/>
            <a:ext cx="12192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0203" name="Oval 27"/>
          <p:cNvSpPr>
            <a:spLocks noChangeArrowheads="1"/>
          </p:cNvSpPr>
          <p:nvPr/>
        </p:nvSpPr>
        <p:spPr bwMode="auto">
          <a:xfrm>
            <a:off x="6934200" y="2859741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0204" name="Line 28"/>
          <p:cNvSpPr>
            <a:spLocks noChangeShapeType="1"/>
          </p:cNvSpPr>
          <p:nvPr/>
        </p:nvSpPr>
        <p:spPr bwMode="auto">
          <a:xfrm flipH="1" flipV="1">
            <a:off x="5334000" y="4231341"/>
            <a:ext cx="304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205" name="Line 29"/>
          <p:cNvSpPr>
            <a:spLocks noChangeShapeType="1"/>
          </p:cNvSpPr>
          <p:nvPr/>
        </p:nvSpPr>
        <p:spPr bwMode="auto">
          <a:xfrm flipV="1">
            <a:off x="6477000" y="4231341"/>
            <a:ext cx="762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206" name="Line 30"/>
          <p:cNvSpPr>
            <a:spLocks noChangeShapeType="1"/>
          </p:cNvSpPr>
          <p:nvPr/>
        </p:nvSpPr>
        <p:spPr bwMode="auto">
          <a:xfrm>
            <a:off x="7391400" y="3469341"/>
            <a:ext cx="762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207" name="Rectangle 31"/>
          <p:cNvSpPr>
            <a:spLocks noChangeArrowheads="1"/>
          </p:cNvSpPr>
          <p:nvPr/>
        </p:nvSpPr>
        <p:spPr bwMode="auto">
          <a:xfrm>
            <a:off x="7924800" y="3545541"/>
            <a:ext cx="974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SAT</a:t>
            </a:r>
          </a:p>
        </p:txBody>
      </p:sp>
      <p:sp>
        <p:nvSpPr>
          <p:cNvPr id="50208" name="Oval 32"/>
          <p:cNvSpPr>
            <a:spLocks noChangeArrowheads="1"/>
          </p:cNvSpPr>
          <p:nvPr/>
        </p:nvSpPr>
        <p:spPr bwMode="auto">
          <a:xfrm>
            <a:off x="7924800" y="3545541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0209" name="Line 33"/>
          <p:cNvSpPr>
            <a:spLocks noChangeShapeType="1"/>
          </p:cNvSpPr>
          <p:nvPr/>
        </p:nvSpPr>
        <p:spPr bwMode="auto">
          <a:xfrm flipH="1">
            <a:off x="7924800" y="4155141"/>
            <a:ext cx="4572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0210" name="Rectangle 34"/>
          <p:cNvSpPr>
            <a:spLocks noChangeArrowheads="1"/>
          </p:cNvSpPr>
          <p:nvPr/>
        </p:nvSpPr>
        <p:spPr bwMode="auto">
          <a:xfrm>
            <a:off x="3460750" y="3282016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4637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泛化</a:t>
            </a:r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800" y="1468581"/>
            <a:ext cx="8534400" cy="4953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>
            <a:off x="1828800" y="4668981"/>
            <a:ext cx="2470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G_Students</a:t>
            </a:r>
          </a:p>
        </p:txBody>
      </p:sp>
      <p:sp>
        <p:nvSpPr>
          <p:cNvPr id="51205" name="Rectangle 5"/>
          <p:cNvSpPr>
            <a:spLocks noChangeArrowheads="1"/>
          </p:cNvSpPr>
          <p:nvPr/>
        </p:nvSpPr>
        <p:spPr bwMode="auto">
          <a:xfrm>
            <a:off x="1752600" y="4668981"/>
            <a:ext cx="2743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2971800" y="5888181"/>
            <a:ext cx="1065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GRE</a:t>
            </a:r>
          </a:p>
        </p:txBody>
      </p:sp>
      <p:sp>
        <p:nvSpPr>
          <p:cNvPr id="51207" name="Oval 7"/>
          <p:cNvSpPr>
            <a:spLocks noChangeArrowheads="1"/>
          </p:cNvSpPr>
          <p:nvPr/>
        </p:nvSpPr>
        <p:spPr bwMode="auto">
          <a:xfrm>
            <a:off x="2971800" y="5888181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1208" name="Line 8"/>
          <p:cNvSpPr>
            <a:spLocks noChangeShapeType="1"/>
          </p:cNvSpPr>
          <p:nvPr/>
        </p:nvSpPr>
        <p:spPr bwMode="auto">
          <a:xfrm flipH="1">
            <a:off x="3505200" y="535478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6172200" y="4668981"/>
            <a:ext cx="2800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UG_Students</a:t>
            </a:r>
          </a:p>
        </p:txBody>
      </p:sp>
      <p:sp>
        <p:nvSpPr>
          <p:cNvPr id="51210" name="Rectangle 10"/>
          <p:cNvSpPr>
            <a:spLocks noChangeArrowheads="1"/>
          </p:cNvSpPr>
          <p:nvPr/>
        </p:nvSpPr>
        <p:spPr bwMode="auto">
          <a:xfrm>
            <a:off x="6096000" y="4668981"/>
            <a:ext cx="29718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1211" name="Rectangle 11"/>
          <p:cNvSpPr>
            <a:spLocks noChangeArrowheads="1"/>
          </p:cNvSpPr>
          <p:nvPr/>
        </p:nvSpPr>
        <p:spPr bwMode="auto">
          <a:xfrm>
            <a:off x="7696200" y="5888181"/>
            <a:ext cx="974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SAT</a:t>
            </a:r>
          </a:p>
        </p:txBody>
      </p:sp>
      <p:sp>
        <p:nvSpPr>
          <p:cNvPr id="51212" name="Oval 12"/>
          <p:cNvSpPr>
            <a:spLocks noChangeArrowheads="1"/>
          </p:cNvSpPr>
          <p:nvPr/>
        </p:nvSpPr>
        <p:spPr bwMode="auto">
          <a:xfrm>
            <a:off x="7696200" y="5888181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1213" name="Line 13"/>
          <p:cNvSpPr>
            <a:spLocks noChangeShapeType="1"/>
          </p:cNvSpPr>
          <p:nvPr/>
        </p:nvSpPr>
        <p:spPr bwMode="auto">
          <a:xfrm flipH="1">
            <a:off x="8229600" y="5354781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4" name="Rectangle 14"/>
          <p:cNvSpPr>
            <a:spLocks noChangeArrowheads="1"/>
          </p:cNvSpPr>
          <p:nvPr/>
        </p:nvSpPr>
        <p:spPr bwMode="auto">
          <a:xfrm>
            <a:off x="3962400" y="2992581"/>
            <a:ext cx="2228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Students</a:t>
            </a:r>
          </a:p>
        </p:txBody>
      </p:sp>
      <p:sp>
        <p:nvSpPr>
          <p:cNvPr id="51215" name="Text Box 15"/>
          <p:cNvSpPr txBox="1">
            <a:spLocks noChangeArrowheads="1"/>
          </p:cNvSpPr>
          <p:nvPr/>
        </p:nvSpPr>
        <p:spPr bwMode="auto">
          <a:xfrm>
            <a:off x="3413125" y="1640031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51216" name="Rectangle 16"/>
          <p:cNvSpPr>
            <a:spLocks noChangeArrowheads="1"/>
          </p:cNvSpPr>
          <p:nvPr/>
        </p:nvSpPr>
        <p:spPr bwMode="auto">
          <a:xfrm>
            <a:off x="4724400" y="1697181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51217" name="Rectangle 17"/>
          <p:cNvSpPr>
            <a:spLocks noChangeArrowheads="1"/>
          </p:cNvSpPr>
          <p:nvPr/>
        </p:nvSpPr>
        <p:spPr bwMode="auto">
          <a:xfrm>
            <a:off x="3886200" y="2992581"/>
            <a:ext cx="2743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1218" name="Oval 18"/>
          <p:cNvSpPr>
            <a:spLocks noChangeArrowheads="1"/>
          </p:cNvSpPr>
          <p:nvPr/>
        </p:nvSpPr>
        <p:spPr bwMode="auto">
          <a:xfrm>
            <a:off x="3352800" y="1620981"/>
            <a:ext cx="990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1219" name="Line 19"/>
          <p:cNvSpPr>
            <a:spLocks noChangeShapeType="1"/>
          </p:cNvSpPr>
          <p:nvPr/>
        </p:nvSpPr>
        <p:spPr bwMode="auto">
          <a:xfrm>
            <a:off x="3505200" y="2154381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0" name="Oval 20"/>
          <p:cNvSpPr>
            <a:spLocks noChangeArrowheads="1"/>
          </p:cNvSpPr>
          <p:nvPr/>
        </p:nvSpPr>
        <p:spPr bwMode="auto">
          <a:xfrm>
            <a:off x="4724400" y="1620981"/>
            <a:ext cx="12192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1221" name="Line 21"/>
          <p:cNvSpPr>
            <a:spLocks noChangeShapeType="1"/>
          </p:cNvSpPr>
          <p:nvPr/>
        </p:nvSpPr>
        <p:spPr bwMode="auto">
          <a:xfrm flipH="1" flipV="1">
            <a:off x="3962400" y="2306781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2" name="Line 22"/>
          <p:cNvSpPr>
            <a:spLocks noChangeShapeType="1"/>
          </p:cNvSpPr>
          <p:nvPr/>
        </p:nvSpPr>
        <p:spPr bwMode="auto">
          <a:xfrm flipV="1">
            <a:off x="5334000" y="2306781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3" name="Rectangle 23"/>
          <p:cNvSpPr>
            <a:spLocks noChangeArrowheads="1"/>
          </p:cNvSpPr>
          <p:nvPr/>
        </p:nvSpPr>
        <p:spPr bwMode="auto">
          <a:xfrm>
            <a:off x="6248400" y="1697181"/>
            <a:ext cx="104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GPA</a:t>
            </a:r>
          </a:p>
        </p:txBody>
      </p:sp>
      <p:sp>
        <p:nvSpPr>
          <p:cNvPr id="51224" name="Oval 24"/>
          <p:cNvSpPr>
            <a:spLocks noChangeArrowheads="1"/>
          </p:cNvSpPr>
          <p:nvPr/>
        </p:nvSpPr>
        <p:spPr bwMode="auto">
          <a:xfrm>
            <a:off x="6248400" y="1697181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1225" name="Line 25"/>
          <p:cNvSpPr>
            <a:spLocks noChangeShapeType="1"/>
          </p:cNvSpPr>
          <p:nvPr/>
        </p:nvSpPr>
        <p:spPr bwMode="auto">
          <a:xfrm flipH="1">
            <a:off x="6324600" y="2306781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6" name="AutoShape 28"/>
          <p:cNvSpPr>
            <a:spLocks noChangeArrowheads="1"/>
          </p:cNvSpPr>
          <p:nvPr/>
        </p:nvSpPr>
        <p:spPr bwMode="auto">
          <a:xfrm rot="-4661968">
            <a:off x="3817938" y="4059381"/>
            <a:ext cx="990600" cy="228600"/>
          </a:xfrm>
          <a:prstGeom prst="rightArrow">
            <a:avLst>
              <a:gd name="adj1" fmla="val 50000"/>
              <a:gd name="adj2" fmla="val 10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1227" name="AutoShape 29"/>
          <p:cNvSpPr>
            <a:spLocks noChangeArrowheads="1"/>
          </p:cNvSpPr>
          <p:nvPr/>
        </p:nvSpPr>
        <p:spPr bwMode="auto">
          <a:xfrm rot="-6034052">
            <a:off x="5867400" y="4059381"/>
            <a:ext cx="990600" cy="228600"/>
          </a:xfrm>
          <a:prstGeom prst="rightArrow">
            <a:avLst>
              <a:gd name="adj1" fmla="val 50000"/>
              <a:gd name="adj2" fmla="val 10833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" name="矩形 1"/>
          <p:cNvSpPr/>
          <p:nvPr/>
        </p:nvSpPr>
        <p:spPr>
          <a:xfrm>
            <a:off x="368365" y="1776120"/>
            <a:ext cx="313735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/>
              <a:t>学生是一个超级实体集</a:t>
            </a:r>
            <a:r>
              <a:rPr lang="zh-CN" altLang="en-US" dirty="0" smtClean="0"/>
              <a:t>（父类型）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 smtClean="0"/>
              <a:t>G</a:t>
            </a:r>
            <a:r>
              <a:rPr lang="en-US" altLang="zh-CN" dirty="0"/>
              <a:t>_</a:t>
            </a:r>
            <a:r>
              <a:rPr lang="zh-CN" altLang="en-US" dirty="0" smtClean="0"/>
              <a:t>Students</a:t>
            </a:r>
            <a:r>
              <a:rPr lang="zh-CN" altLang="en-US" dirty="0"/>
              <a:t>和</a:t>
            </a:r>
            <a:r>
              <a:rPr lang="zh-CN" altLang="en-US" dirty="0" smtClean="0"/>
              <a:t>UG</a:t>
            </a:r>
            <a:r>
              <a:rPr lang="en-US" altLang="zh-CN" dirty="0" smtClean="0"/>
              <a:t>_</a:t>
            </a:r>
            <a:r>
              <a:rPr lang="zh-CN" altLang="en-US" dirty="0" smtClean="0"/>
              <a:t>Students</a:t>
            </a:r>
            <a:r>
              <a:rPr lang="zh-CN" altLang="en-US" dirty="0"/>
              <a:t>是子实体集（子类型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 smtClean="0"/>
              <a:t>超级</a:t>
            </a:r>
            <a:r>
              <a:rPr lang="zh-CN" altLang="en-US" dirty="0"/>
              <a:t>实体</a:t>
            </a:r>
            <a:r>
              <a:rPr lang="zh-CN" altLang="en-US" dirty="0" smtClean="0"/>
              <a:t>集有</a:t>
            </a:r>
            <a:r>
              <a:rPr lang="zh-CN" altLang="en-US" dirty="0"/>
              <a:t>子实体集的所有公共属性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p"/>
            </a:pPr>
            <a:r>
              <a:rPr lang="zh-CN" altLang="en-US" dirty="0" smtClean="0"/>
              <a:t>继承</a:t>
            </a:r>
            <a:r>
              <a:rPr lang="zh-CN" altLang="en-US" dirty="0"/>
              <a:t>原则：子实体集继承超级实体集的所有属性（属性和关系）。</a:t>
            </a:r>
          </a:p>
        </p:txBody>
      </p:sp>
    </p:spTree>
    <p:extLst>
      <p:ext uri="{BB962C8B-B14F-4D97-AF65-F5344CB8AC3E}">
        <p14:creationId xmlns:p14="http://schemas.microsoft.com/office/powerpoint/2010/main" val="200280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特化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特化：在父实体集中定义子实体集</a:t>
            </a: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dirty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IS_A </a:t>
            </a:r>
            <a:r>
              <a:rPr lang="zh-CN" altLang="en-US" dirty="0" smtClean="0">
                <a:ea typeface="宋体" panose="02010600030101010101" pitchFamily="2" charset="-122"/>
              </a:rPr>
              <a:t>联系</a:t>
            </a:r>
            <a:r>
              <a:rPr lang="en-US" altLang="zh-CN" dirty="0" smtClean="0">
                <a:ea typeface="宋体" panose="02010600030101010101" pitchFamily="2" charset="-122"/>
              </a:rPr>
              <a:t>: </a:t>
            </a:r>
            <a:r>
              <a:rPr lang="zh-CN" altLang="en-US" dirty="0" smtClean="0">
                <a:ea typeface="宋体" panose="02010600030101010101" pitchFamily="2" charset="-122"/>
              </a:rPr>
              <a:t>“</a:t>
            </a:r>
            <a:r>
              <a:rPr lang="en-US" altLang="zh-CN" dirty="0" smtClean="0">
                <a:ea typeface="宋体" panose="02010600030101010101" pitchFamily="2" charset="-122"/>
              </a:rPr>
              <a:t>is a</a:t>
            </a:r>
            <a:r>
              <a:rPr lang="zh-CN" altLang="en-US" dirty="0" smtClean="0">
                <a:ea typeface="宋体" panose="02010600030101010101" pitchFamily="2" charset="-122"/>
              </a:rPr>
              <a:t>”：子类中的每个实体是父类中的一个实体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泛化和特化层次称为</a:t>
            </a:r>
            <a:r>
              <a:rPr lang="en-US" altLang="zh-CN" dirty="0" smtClean="0">
                <a:ea typeface="宋体" panose="02010600030101010101" pitchFamily="2" charset="-122"/>
              </a:rPr>
              <a:t>IS_A </a:t>
            </a:r>
            <a:r>
              <a:rPr lang="zh-CN" altLang="en-US" dirty="0" smtClean="0">
                <a:ea typeface="宋体" panose="02010600030101010101" pitchFamily="2" charset="-122"/>
              </a:rPr>
              <a:t>层次</a:t>
            </a:r>
            <a:r>
              <a:rPr lang="en-US" altLang="zh-CN" dirty="0" smtClean="0">
                <a:ea typeface="宋体" panose="02010600030101010101" pitchFamily="2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5249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IS_A </a:t>
            </a:r>
            <a:r>
              <a:rPr lang="zh-CN" altLang="en-US" dirty="0" smtClean="0">
                <a:ea typeface="宋体" panose="02010600030101010101" pitchFamily="2" charset="-122"/>
              </a:rPr>
              <a:t>层次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609600" y="4953000"/>
            <a:ext cx="2470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G_Students</a:t>
            </a:r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533400" y="4953000"/>
            <a:ext cx="2743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278" name="Rectangle 6"/>
          <p:cNvSpPr>
            <a:spLocks noChangeArrowheads="1"/>
          </p:cNvSpPr>
          <p:nvPr/>
        </p:nvSpPr>
        <p:spPr bwMode="auto">
          <a:xfrm>
            <a:off x="1295400" y="6019800"/>
            <a:ext cx="10652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GRE</a:t>
            </a:r>
          </a:p>
        </p:txBody>
      </p:sp>
      <p:sp>
        <p:nvSpPr>
          <p:cNvPr id="54279" name="Oval 7"/>
          <p:cNvSpPr>
            <a:spLocks noChangeArrowheads="1"/>
          </p:cNvSpPr>
          <p:nvPr/>
        </p:nvSpPr>
        <p:spPr bwMode="auto">
          <a:xfrm>
            <a:off x="1295400" y="60198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280" name="Line 8"/>
          <p:cNvSpPr>
            <a:spLocks noChangeShapeType="1"/>
          </p:cNvSpPr>
          <p:nvPr/>
        </p:nvSpPr>
        <p:spPr bwMode="auto">
          <a:xfrm>
            <a:off x="1752600" y="56388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1" name="Rectangle 9"/>
          <p:cNvSpPr>
            <a:spLocks noChangeArrowheads="1"/>
          </p:cNvSpPr>
          <p:nvPr/>
        </p:nvSpPr>
        <p:spPr bwMode="auto">
          <a:xfrm>
            <a:off x="4191000" y="4953000"/>
            <a:ext cx="2800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UG_Students</a:t>
            </a:r>
          </a:p>
        </p:txBody>
      </p:sp>
      <p:sp>
        <p:nvSpPr>
          <p:cNvPr id="54282" name="Rectangle 10"/>
          <p:cNvSpPr>
            <a:spLocks noChangeArrowheads="1"/>
          </p:cNvSpPr>
          <p:nvPr/>
        </p:nvSpPr>
        <p:spPr bwMode="auto">
          <a:xfrm>
            <a:off x="4114800" y="4953000"/>
            <a:ext cx="29718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283" name="Rectangle 11"/>
          <p:cNvSpPr>
            <a:spLocks noChangeArrowheads="1"/>
          </p:cNvSpPr>
          <p:nvPr/>
        </p:nvSpPr>
        <p:spPr bwMode="auto">
          <a:xfrm>
            <a:off x="5257800" y="6019800"/>
            <a:ext cx="974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SAT</a:t>
            </a:r>
          </a:p>
        </p:txBody>
      </p:sp>
      <p:sp>
        <p:nvSpPr>
          <p:cNvPr id="54284" name="Oval 12"/>
          <p:cNvSpPr>
            <a:spLocks noChangeArrowheads="1"/>
          </p:cNvSpPr>
          <p:nvPr/>
        </p:nvSpPr>
        <p:spPr bwMode="auto">
          <a:xfrm>
            <a:off x="5257800" y="60198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285" name="Line 13"/>
          <p:cNvSpPr>
            <a:spLocks noChangeShapeType="1"/>
          </p:cNvSpPr>
          <p:nvPr/>
        </p:nvSpPr>
        <p:spPr bwMode="auto">
          <a:xfrm>
            <a:off x="5638800" y="56388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86" name="Rectangle 14"/>
          <p:cNvSpPr>
            <a:spLocks noChangeArrowheads="1"/>
          </p:cNvSpPr>
          <p:nvPr/>
        </p:nvSpPr>
        <p:spPr bwMode="auto">
          <a:xfrm>
            <a:off x="2209800" y="3581400"/>
            <a:ext cx="22288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Students</a:t>
            </a:r>
          </a:p>
        </p:txBody>
      </p:sp>
      <p:sp>
        <p:nvSpPr>
          <p:cNvPr id="54287" name="Text Box 15"/>
          <p:cNvSpPr txBox="1">
            <a:spLocks noChangeArrowheads="1"/>
          </p:cNvSpPr>
          <p:nvPr/>
        </p:nvSpPr>
        <p:spPr bwMode="auto">
          <a:xfrm>
            <a:off x="3946525" y="1238250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54288" name="Rectangle 16"/>
          <p:cNvSpPr>
            <a:spLocks noChangeArrowheads="1"/>
          </p:cNvSpPr>
          <p:nvPr/>
        </p:nvSpPr>
        <p:spPr bwMode="auto">
          <a:xfrm>
            <a:off x="5257800" y="12954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54289" name="Rectangle 17"/>
          <p:cNvSpPr>
            <a:spLocks noChangeArrowheads="1"/>
          </p:cNvSpPr>
          <p:nvPr/>
        </p:nvSpPr>
        <p:spPr bwMode="auto">
          <a:xfrm>
            <a:off x="2133600" y="3581400"/>
            <a:ext cx="2743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290" name="Oval 18"/>
          <p:cNvSpPr>
            <a:spLocks noChangeArrowheads="1"/>
          </p:cNvSpPr>
          <p:nvPr/>
        </p:nvSpPr>
        <p:spPr bwMode="auto">
          <a:xfrm>
            <a:off x="3886200" y="1219200"/>
            <a:ext cx="990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291" name="Line 19"/>
          <p:cNvSpPr>
            <a:spLocks noChangeShapeType="1"/>
          </p:cNvSpPr>
          <p:nvPr/>
        </p:nvSpPr>
        <p:spPr bwMode="auto">
          <a:xfrm>
            <a:off x="4038600" y="1752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92" name="Oval 20"/>
          <p:cNvSpPr>
            <a:spLocks noChangeArrowheads="1"/>
          </p:cNvSpPr>
          <p:nvPr/>
        </p:nvSpPr>
        <p:spPr bwMode="auto">
          <a:xfrm>
            <a:off x="5257800" y="1219200"/>
            <a:ext cx="12192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293" name="Line 21"/>
          <p:cNvSpPr>
            <a:spLocks noChangeShapeType="1"/>
          </p:cNvSpPr>
          <p:nvPr/>
        </p:nvSpPr>
        <p:spPr bwMode="auto">
          <a:xfrm flipH="1" flipV="1">
            <a:off x="4495800" y="19050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94" name="Line 22"/>
          <p:cNvSpPr>
            <a:spLocks noChangeShapeType="1"/>
          </p:cNvSpPr>
          <p:nvPr/>
        </p:nvSpPr>
        <p:spPr bwMode="auto">
          <a:xfrm flipV="1">
            <a:off x="5867400" y="1905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95" name="Rectangle 23"/>
          <p:cNvSpPr>
            <a:spLocks noChangeArrowheads="1"/>
          </p:cNvSpPr>
          <p:nvPr/>
        </p:nvSpPr>
        <p:spPr bwMode="auto">
          <a:xfrm>
            <a:off x="762000" y="2743200"/>
            <a:ext cx="1041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GPA</a:t>
            </a:r>
          </a:p>
        </p:txBody>
      </p:sp>
      <p:sp>
        <p:nvSpPr>
          <p:cNvPr id="54296" name="Oval 24"/>
          <p:cNvSpPr>
            <a:spLocks noChangeArrowheads="1"/>
          </p:cNvSpPr>
          <p:nvPr/>
        </p:nvSpPr>
        <p:spPr bwMode="auto">
          <a:xfrm>
            <a:off x="762000" y="27432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297" name="Line 25"/>
          <p:cNvSpPr>
            <a:spLocks noChangeShapeType="1"/>
          </p:cNvSpPr>
          <p:nvPr/>
        </p:nvSpPr>
        <p:spPr bwMode="auto">
          <a:xfrm>
            <a:off x="1524000" y="32766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298" name="Rectangle 28"/>
          <p:cNvSpPr>
            <a:spLocks noChangeArrowheads="1"/>
          </p:cNvSpPr>
          <p:nvPr/>
        </p:nvSpPr>
        <p:spPr bwMode="auto">
          <a:xfrm>
            <a:off x="5562600" y="3581400"/>
            <a:ext cx="1771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Faculty</a:t>
            </a:r>
          </a:p>
        </p:txBody>
      </p:sp>
      <p:sp>
        <p:nvSpPr>
          <p:cNvPr id="54299" name="Rectangle 29"/>
          <p:cNvSpPr>
            <a:spLocks noChangeArrowheads="1"/>
          </p:cNvSpPr>
          <p:nvPr/>
        </p:nvSpPr>
        <p:spPr bwMode="auto">
          <a:xfrm>
            <a:off x="5486400" y="3581400"/>
            <a:ext cx="1981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300" name="Line 30"/>
          <p:cNvSpPr>
            <a:spLocks noChangeShapeType="1"/>
          </p:cNvSpPr>
          <p:nvPr/>
        </p:nvSpPr>
        <p:spPr bwMode="auto">
          <a:xfrm flipH="1">
            <a:off x="7315200" y="2590800"/>
            <a:ext cx="228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01" name="Text Box 31"/>
          <p:cNvSpPr txBox="1">
            <a:spLocks noChangeArrowheads="1"/>
          </p:cNvSpPr>
          <p:nvPr/>
        </p:nvSpPr>
        <p:spPr bwMode="auto">
          <a:xfrm>
            <a:off x="7239000" y="1981200"/>
            <a:ext cx="13128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Salary</a:t>
            </a:r>
          </a:p>
        </p:txBody>
      </p:sp>
      <p:sp>
        <p:nvSpPr>
          <p:cNvPr id="54302" name="Rectangle 32"/>
          <p:cNvSpPr>
            <a:spLocks noChangeArrowheads="1"/>
          </p:cNvSpPr>
          <p:nvPr/>
        </p:nvSpPr>
        <p:spPr bwMode="auto">
          <a:xfrm>
            <a:off x="7696200" y="28956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Rank</a:t>
            </a:r>
          </a:p>
        </p:txBody>
      </p:sp>
      <p:sp>
        <p:nvSpPr>
          <p:cNvPr id="54303" name="Oval 33"/>
          <p:cNvSpPr>
            <a:spLocks noChangeArrowheads="1"/>
          </p:cNvSpPr>
          <p:nvPr/>
        </p:nvSpPr>
        <p:spPr bwMode="auto">
          <a:xfrm>
            <a:off x="7178675" y="1962150"/>
            <a:ext cx="1431925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304" name="Oval 34"/>
          <p:cNvSpPr>
            <a:spLocks noChangeArrowheads="1"/>
          </p:cNvSpPr>
          <p:nvPr/>
        </p:nvSpPr>
        <p:spPr bwMode="auto">
          <a:xfrm>
            <a:off x="7696200" y="2819400"/>
            <a:ext cx="12192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305" name="Line 35"/>
          <p:cNvSpPr>
            <a:spLocks noChangeShapeType="1"/>
          </p:cNvSpPr>
          <p:nvPr/>
        </p:nvSpPr>
        <p:spPr bwMode="auto">
          <a:xfrm flipH="1">
            <a:off x="7467600" y="34290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4306" name="Rectangle 36"/>
          <p:cNvSpPr>
            <a:spLocks noChangeArrowheads="1"/>
          </p:cNvSpPr>
          <p:nvPr/>
        </p:nvSpPr>
        <p:spPr bwMode="auto">
          <a:xfrm>
            <a:off x="3886200" y="2209800"/>
            <a:ext cx="2165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54307" name="Rectangle 37"/>
          <p:cNvSpPr>
            <a:spLocks noChangeArrowheads="1"/>
          </p:cNvSpPr>
          <p:nvPr/>
        </p:nvSpPr>
        <p:spPr bwMode="auto">
          <a:xfrm>
            <a:off x="4038600" y="2209800"/>
            <a:ext cx="22098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308" name="AutoShape 40"/>
          <p:cNvSpPr>
            <a:spLocks noChangeArrowheads="1"/>
          </p:cNvSpPr>
          <p:nvPr/>
        </p:nvSpPr>
        <p:spPr bwMode="auto">
          <a:xfrm rot="-4661968">
            <a:off x="4081463" y="3119438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309" name="AutoShape 41"/>
          <p:cNvSpPr>
            <a:spLocks noChangeArrowheads="1"/>
          </p:cNvSpPr>
          <p:nvPr/>
        </p:nvSpPr>
        <p:spPr bwMode="auto">
          <a:xfrm rot="-4661968">
            <a:off x="2667000" y="44958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310" name="AutoShape 42"/>
          <p:cNvSpPr>
            <a:spLocks noChangeArrowheads="1"/>
          </p:cNvSpPr>
          <p:nvPr/>
        </p:nvSpPr>
        <p:spPr bwMode="auto">
          <a:xfrm rot="-6021358">
            <a:off x="5715000" y="31242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4311" name="AutoShape 43"/>
          <p:cNvSpPr>
            <a:spLocks noChangeArrowheads="1"/>
          </p:cNvSpPr>
          <p:nvPr/>
        </p:nvSpPr>
        <p:spPr bwMode="auto">
          <a:xfrm rot="-6021358">
            <a:off x="4114800" y="44958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2" name="矩形 1"/>
          <p:cNvSpPr/>
          <p:nvPr/>
        </p:nvSpPr>
        <p:spPr>
          <a:xfrm>
            <a:off x="365744" y="1464229"/>
            <a:ext cx="29578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IS_A </a:t>
            </a:r>
            <a:r>
              <a:rPr lang="zh-CN" altLang="en-US" dirty="0">
                <a:solidFill>
                  <a:srgbClr val="FF0000"/>
                </a:solidFill>
              </a:rPr>
              <a:t>层次可以提高模型质量</a:t>
            </a:r>
          </a:p>
        </p:txBody>
      </p:sp>
    </p:spTree>
    <p:extLst>
      <p:ext uri="{BB962C8B-B14F-4D97-AF65-F5344CB8AC3E}">
        <p14:creationId xmlns:p14="http://schemas.microsoft.com/office/powerpoint/2010/main" val="424706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>
                <a:ea typeface="宋体" panose="02010600030101010101" pitchFamily="2" charset="-122"/>
              </a:rPr>
              <a:t>ER </a:t>
            </a:r>
            <a:r>
              <a:rPr lang="zh-CN" altLang="en-US" dirty="0" smtClean="0">
                <a:ea typeface="宋体" panose="02010600030101010101" pitchFamily="2" charset="-122"/>
              </a:rPr>
              <a:t>建模的灵活性</a:t>
            </a:r>
            <a:r>
              <a:rPr lang="en-US" altLang="zh-CN" dirty="0" smtClean="0">
                <a:ea typeface="宋体" panose="02010600030101010101" pitchFamily="2" charset="-122"/>
              </a:rPr>
              <a:t> (1)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1816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实体和属性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56324" name="Rectangle 4"/>
          <p:cNvSpPr>
            <a:spLocks noChangeArrowheads="1"/>
          </p:cNvSpPr>
          <p:nvPr/>
        </p:nvSpPr>
        <p:spPr bwMode="auto">
          <a:xfrm>
            <a:off x="228600" y="1524000"/>
            <a:ext cx="85344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sz="320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56325" name="Rectangle 5"/>
          <p:cNvSpPr>
            <a:spLocks noChangeArrowheads="1"/>
          </p:cNvSpPr>
          <p:nvPr/>
        </p:nvSpPr>
        <p:spPr bwMode="auto">
          <a:xfrm>
            <a:off x="7010400" y="5638800"/>
            <a:ext cx="130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Cities</a:t>
            </a:r>
          </a:p>
        </p:txBody>
      </p:sp>
      <p:sp>
        <p:nvSpPr>
          <p:cNvPr id="56326" name="Rectangle 6"/>
          <p:cNvSpPr>
            <a:spLocks noChangeArrowheads="1"/>
          </p:cNvSpPr>
          <p:nvPr/>
        </p:nvSpPr>
        <p:spPr bwMode="auto">
          <a:xfrm>
            <a:off x="6858000" y="5638800"/>
            <a:ext cx="16764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327" name="Rectangle 7"/>
          <p:cNvSpPr>
            <a:spLocks noChangeArrowheads="1"/>
          </p:cNvSpPr>
          <p:nvPr/>
        </p:nvSpPr>
        <p:spPr bwMode="auto">
          <a:xfrm>
            <a:off x="2057400" y="3429000"/>
            <a:ext cx="20510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56328" name="Text Box 8"/>
          <p:cNvSpPr txBox="1">
            <a:spLocks noChangeArrowheads="1"/>
          </p:cNvSpPr>
          <p:nvPr/>
        </p:nvSpPr>
        <p:spPr bwMode="auto">
          <a:xfrm>
            <a:off x="1508125" y="2381250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56329" name="Rectangle 9"/>
          <p:cNvSpPr>
            <a:spLocks noChangeArrowheads="1"/>
          </p:cNvSpPr>
          <p:nvPr/>
        </p:nvSpPr>
        <p:spPr bwMode="auto">
          <a:xfrm>
            <a:off x="2819400" y="24384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56330" name="Rectangle 10"/>
          <p:cNvSpPr>
            <a:spLocks noChangeArrowheads="1"/>
          </p:cNvSpPr>
          <p:nvPr/>
        </p:nvSpPr>
        <p:spPr bwMode="auto">
          <a:xfrm>
            <a:off x="2057400" y="3429000"/>
            <a:ext cx="2514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331" name="Oval 11"/>
          <p:cNvSpPr>
            <a:spLocks noChangeArrowheads="1"/>
          </p:cNvSpPr>
          <p:nvPr/>
        </p:nvSpPr>
        <p:spPr bwMode="auto">
          <a:xfrm>
            <a:off x="1447800" y="2362200"/>
            <a:ext cx="990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332" name="Line 12"/>
          <p:cNvSpPr>
            <a:spLocks noChangeShapeType="1"/>
          </p:cNvSpPr>
          <p:nvPr/>
        </p:nvSpPr>
        <p:spPr bwMode="auto">
          <a:xfrm>
            <a:off x="1600200" y="2895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3" name="Oval 13"/>
          <p:cNvSpPr>
            <a:spLocks noChangeArrowheads="1"/>
          </p:cNvSpPr>
          <p:nvPr/>
        </p:nvSpPr>
        <p:spPr bwMode="auto">
          <a:xfrm>
            <a:off x="2819400" y="2362200"/>
            <a:ext cx="12192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334" name="Line 14"/>
          <p:cNvSpPr>
            <a:spLocks noChangeShapeType="1"/>
          </p:cNvSpPr>
          <p:nvPr/>
        </p:nvSpPr>
        <p:spPr bwMode="auto">
          <a:xfrm flipH="1" flipV="1">
            <a:off x="2057400" y="30480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5" name="Line 15"/>
          <p:cNvSpPr>
            <a:spLocks noChangeShapeType="1"/>
          </p:cNvSpPr>
          <p:nvPr/>
        </p:nvSpPr>
        <p:spPr bwMode="auto">
          <a:xfrm flipV="1">
            <a:off x="3429000" y="3048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6" name="Rectangle 16"/>
          <p:cNvSpPr>
            <a:spLocks noChangeArrowheads="1"/>
          </p:cNvSpPr>
          <p:nvPr/>
        </p:nvSpPr>
        <p:spPr bwMode="auto">
          <a:xfrm>
            <a:off x="4419600" y="2438400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City</a:t>
            </a:r>
          </a:p>
        </p:txBody>
      </p:sp>
      <p:sp>
        <p:nvSpPr>
          <p:cNvPr id="56337" name="Oval 17"/>
          <p:cNvSpPr>
            <a:spLocks noChangeArrowheads="1"/>
          </p:cNvSpPr>
          <p:nvPr/>
        </p:nvSpPr>
        <p:spPr bwMode="auto">
          <a:xfrm>
            <a:off x="4343400" y="2438400"/>
            <a:ext cx="1066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338" name="Line 18"/>
          <p:cNvSpPr>
            <a:spLocks noChangeShapeType="1"/>
          </p:cNvSpPr>
          <p:nvPr/>
        </p:nvSpPr>
        <p:spPr bwMode="auto">
          <a:xfrm flipH="1">
            <a:off x="4343400" y="30480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39" name="Rectangle 19"/>
          <p:cNvSpPr>
            <a:spLocks noChangeArrowheads="1"/>
          </p:cNvSpPr>
          <p:nvPr/>
        </p:nvSpPr>
        <p:spPr bwMode="auto">
          <a:xfrm>
            <a:off x="762000" y="5562600"/>
            <a:ext cx="1936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Persons</a:t>
            </a:r>
          </a:p>
        </p:txBody>
      </p:sp>
      <p:sp>
        <p:nvSpPr>
          <p:cNvPr id="56340" name="Text Box 20"/>
          <p:cNvSpPr txBox="1">
            <a:spLocks noChangeArrowheads="1"/>
          </p:cNvSpPr>
          <p:nvPr/>
        </p:nvSpPr>
        <p:spPr bwMode="auto">
          <a:xfrm>
            <a:off x="685800" y="4495800"/>
            <a:ext cx="9286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SSN</a:t>
            </a:r>
          </a:p>
        </p:txBody>
      </p:sp>
      <p:sp>
        <p:nvSpPr>
          <p:cNvPr id="56341" name="Rectangle 21"/>
          <p:cNvSpPr>
            <a:spLocks noChangeArrowheads="1"/>
          </p:cNvSpPr>
          <p:nvPr/>
        </p:nvSpPr>
        <p:spPr bwMode="auto">
          <a:xfrm>
            <a:off x="1981200" y="45720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56342" name="Rectangle 22"/>
          <p:cNvSpPr>
            <a:spLocks noChangeArrowheads="1"/>
          </p:cNvSpPr>
          <p:nvPr/>
        </p:nvSpPr>
        <p:spPr bwMode="auto">
          <a:xfrm>
            <a:off x="685800" y="55626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343" name="Oval 23"/>
          <p:cNvSpPr>
            <a:spLocks noChangeArrowheads="1"/>
          </p:cNvSpPr>
          <p:nvPr/>
        </p:nvSpPr>
        <p:spPr bwMode="auto">
          <a:xfrm>
            <a:off x="625475" y="4476750"/>
            <a:ext cx="9906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344" name="Line 24"/>
          <p:cNvSpPr>
            <a:spLocks noChangeShapeType="1"/>
          </p:cNvSpPr>
          <p:nvPr/>
        </p:nvSpPr>
        <p:spPr bwMode="auto">
          <a:xfrm>
            <a:off x="777875" y="501015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5" name="Oval 25"/>
          <p:cNvSpPr>
            <a:spLocks noChangeArrowheads="1"/>
          </p:cNvSpPr>
          <p:nvPr/>
        </p:nvSpPr>
        <p:spPr bwMode="auto">
          <a:xfrm>
            <a:off x="1981200" y="4495800"/>
            <a:ext cx="1219200" cy="6858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346" name="Line 26"/>
          <p:cNvSpPr>
            <a:spLocks noChangeShapeType="1"/>
          </p:cNvSpPr>
          <p:nvPr/>
        </p:nvSpPr>
        <p:spPr bwMode="auto">
          <a:xfrm flipH="1" flipV="1">
            <a:off x="1235075" y="5162550"/>
            <a:ext cx="60325" cy="400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7" name="Line 27"/>
          <p:cNvSpPr>
            <a:spLocks noChangeShapeType="1"/>
          </p:cNvSpPr>
          <p:nvPr/>
        </p:nvSpPr>
        <p:spPr bwMode="auto">
          <a:xfrm flipV="1">
            <a:off x="2590800" y="5181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48" name="Rectangle 28"/>
          <p:cNvSpPr>
            <a:spLocks noChangeArrowheads="1"/>
          </p:cNvSpPr>
          <p:nvPr/>
        </p:nvSpPr>
        <p:spPr bwMode="auto">
          <a:xfrm>
            <a:off x="7391400" y="46482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56349" name="Oval 29"/>
          <p:cNvSpPr>
            <a:spLocks noChangeArrowheads="1"/>
          </p:cNvSpPr>
          <p:nvPr/>
        </p:nvSpPr>
        <p:spPr bwMode="auto">
          <a:xfrm>
            <a:off x="7315200" y="4648200"/>
            <a:ext cx="12954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350" name="Line 30"/>
          <p:cNvSpPr>
            <a:spLocks noChangeShapeType="1"/>
          </p:cNvSpPr>
          <p:nvPr/>
        </p:nvSpPr>
        <p:spPr bwMode="auto">
          <a:xfrm flipH="1">
            <a:off x="7315200" y="52578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1" name="Line 31"/>
          <p:cNvSpPr>
            <a:spLocks noChangeShapeType="1"/>
          </p:cNvSpPr>
          <p:nvPr/>
        </p:nvSpPr>
        <p:spPr bwMode="auto">
          <a:xfrm>
            <a:off x="2971800" y="5943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2" name="AutoShape 32"/>
          <p:cNvSpPr>
            <a:spLocks noChangeArrowheads="1"/>
          </p:cNvSpPr>
          <p:nvPr/>
        </p:nvSpPr>
        <p:spPr bwMode="auto">
          <a:xfrm>
            <a:off x="3581400" y="5334000"/>
            <a:ext cx="2362200" cy="1143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6353" name="Rectangle 33"/>
          <p:cNvSpPr>
            <a:spLocks noChangeArrowheads="1"/>
          </p:cNvSpPr>
          <p:nvPr/>
        </p:nvSpPr>
        <p:spPr bwMode="auto">
          <a:xfrm>
            <a:off x="3810000" y="5562600"/>
            <a:ext cx="1771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lives_in</a:t>
            </a:r>
          </a:p>
        </p:txBody>
      </p:sp>
      <p:sp>
        <p:nvSpPr>
          <p:cNvPr id="56354" name="Line 34"/>
          <p:cNvSpPr>
            <a:spLocks noChangeShapeType="1"/>
          </p:cNvSpPr>
          <p:nvPr/>
        </p:nvSpPr>
        <p:spPr bwMode="auto">
          <a:xfrm>
            <a:off x="5943600" y="5943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5" name="Line 35"/>
          <p:cNvSpPr>
            <a:spLocks noChangeShapeType="1"/>
          </p:cNvSpPr>
          <p:nvPr/>
        </p:nvSpPr>
        <p:spPr bwMode="auto">
          <a:xfrm>
            <a:off x="7620000" y="5181600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56" name="Text Box 36"/>
          <p:cNvSpPr txBox="1">
            <a:spLocks noChangeArrowheads="1"/>
          </p:cNvSpPr>
          <p:nvPr/>
        </p:nvSpPr>
        <p:spPr bwMode="auto">
          <a:xfrm>
            <a:off x="3032125" y="5451475"/>
            <a:ext cx="43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56357" name="Text Box 37"/>
          <p:cNvSpPr txBox="1">
            <a:spLocks noChangeArrowheads="1"/>
          </p:cNvSpPr>
          <p:nvPr/>
        </p:nvSpPr>
        <p:spPr bwMode="auto">
          <a:xfrm>
            <a:off x="6308725" y="5451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3096532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ER </a:t>
            </a:r>
            <a:r>
              <a:rPr lang="zh-CN" altLang="en-US" dirty="0"/>
              <a:t>建模的灵活性</a:t>
            </a:r>
            <a:r>
              <a:rPr lang="en-US" altLang="zh-CN" dirty="0" smtClean="0">
                <a:ea typeface="宋体" panose="02010600030101010101" pitchFamily="2" charset="-122"/>
              </a:rPr>
              <a:t>(2)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3900" y="2047081"/>
            <a:ext cx="78867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800" dirty="0" smtClean="0">
                <a:ea typeface="宋体" panose="02010600030101010101" pitchFamily="2" charset="-122"/>
              </a:rPr>
              <a:t>Assume each engineer uses at most one skill for any given project. </a:t>
            </a: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auto">
          <a:xfrm>
            <a:off x="1676400" y="2895600"/>
            <a:ext cx="2114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skill_used</a:t>
            </a: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762000" y="4419600"/>
            <a:ext cx="1365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Skills </a:t>
            </a:r>
          </a:p>
        </p:txBody>
      </p:sp>
      <p:sp>
        <p:nvSpPr>
          <p:cNvPr id="57350" name="AutoShape 6"/>
          <p:cNvSpPr>
            <a:spLocks noChangeArrowheads="1"/>
          </p:cNvSpPr>
          <p:nvPr/>
        </p:nvSpPr>
        <p:spPr bwMode="auto">
          <a:xfrm>
            <a:off x="1371600" y="2743200"/>
            <a:ext cx="2895600" cy="990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7351" name="Rectangle 7"/>
          <p:cNvSpPr>
            <a:spLocks noChangeArrowheads="1"/>
          </p:cNvSpPr>
          <p:nvPr/>
        </p:nvSpPr>
        <p:spPr bwMode="auto">
          <a:xfrm>
            <a:off x="609600" y="4419600"/>
            <a:ext cx="1524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auto">
          <a:xfrm>
            <a:off x="6400800" y="4419600"/>
            <a:ext cx="178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6172200" y="4419600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 flipV="1">
            <a:off x="1371600" y="3505200"/>
            <a:ext cx="7620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5" name="Line 11"/>
          <p:cNvSpPr>
            <a:spLocks noChangeShapeType="1"/>
          </p:cNvSpPr>
          <p:nvPr/>
        </p:nvSpPr>
        <p:spPr bwMode="auto">
          <a:xfrm>
            <a:off x="7162800" y="3886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6" name="Rectangle 12"/>
          <p:cNvSpPr>
            <a:spLocks noChangeArrowheads="1"/>
          </p:cNvSpPr>
          <p:nvPr/>
        </p:nvSpPr>
        <p:spPr bwMode="auto">
          <a:xfrm>
            <a:off x="1905000" y="1524000"/>
            <a:ext cx="2139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Engineers</a:t>
            </a:r>
          </a:p>
        </p:txBody>
      </p:sp>
      <p:sp>
        <p:nvSpPr>
          <p:cNvPr id="57357" name="Rectangle 13"/>
          <p:cNvSpPr>
            <a:spLocks noChangeArrowheads="1"/>
          </p:cNvSpPr>
          <p:nvPr/>
        </p:nvSpPr>
        <p:spPr bwMode="auto">
          <a:xfrm>
            <a:off x="1752600" y="15240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 flipV="1">
            <a:off x="2819400" y="2209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59" name="Rectangle 15"/>
          <p:cNvSpPr>
            <a:spLocks noChangeArrowheads="1"/>
          </p:cNvSpPr>
          <p:nvPr/>
        </p:nvSpPr>
        <p:spPr bwMode="auto">
          <a:xfrm>
            <a:off x="4876800" y="2209800"/>
            <a:ext cx="1073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Skill</a:t>
            </a:r>
          </a:p>
        </p:txBody>
      </p:sp>
      <p:sp>
        <p:nvSpPr>
          <p:cNvPr id="57360" name="Oval 16"/>
          <p:cNvSpPr>
            <a:spLocks noChangeArrowheads="1"/>
          </p:cNvSpPr>
          <p:nvPr/>
        </p:nvSpPr>
        <p:spPr bwMode="auto">
          <a:xfrm>
            <a:off x="4800600" y="2209800"/>
            <a:ext cx="12192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7361" name="Rectangle 17"/>
          <p:cNvSpPr>
            <a:spLocks noChangeArrowheads="1"/>
          </p:cNvSpPr>
          <p:nvPr/>
        </p:nvSpPr>
        <p:spPr bwMode="auto">
          <a:xfrm>
            <a:off x="2209800" y="2133600"/>
            <a:ext cx="565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57362" name="Rectangle 18"/>
          <p:cNvSpPr>
            <a:spLocks noChangeArrowheads="1"/>
          </p:cNvSpPr>
          <p:nvPr/>
        </p:nvSpPr>
        <p:spPr bwMode="auto">
          <a:xfrm>
            <a:off x="1371600" y="3581400"/>
            <a:ext cx="41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7363" name="Rectangle 19"/>
          <p:cNvSpPr>
            <a:spLocks noChangeArrowheads="1"/>
          </p:cNvSpPr>
          <p:nvPr/>
        </p:nvSpPr>
        <p:spPr bwMode="auto">
          <a:xfrm>
            <a:off x="3352800" y="4419600"/>
            <a:ext cx="1784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57364" name="Rectangle 20"/>
          <p:cNvSpPr>
            <a:spLocks noChangeArrowheads="1"/>
          </p:cNvSpPr>
          <p:nvPr/>
        </p:nvSpPr>
        <p:spPr bwMode="auto">
          <a:xfrm>
            <a:off x="3124200" y="4419600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7365" name="Line 21"/>
          <p:cNvSpPr>
            <a:spLocks noChangeShapeType="1"/>
          </p:cNvSpPr>
          <p:nvPr/>
        </p:nvSpPr>
        <p:spPr bwMode="auto">
          <a:xfrm>
            <a:off x="3581400" y="3505200"/>
            <a:ext cx="5334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66" name="Rectangle 22"/>
          <p:cNvSpPr>
            <a:spLocks noChangeArrowheads="1"/>
          </p:cNvSpPr>
          <p:nvPr/>
        </p:nvSpPr>
        <p:spPr bwMode="auto">
          <a:xfrm>
            <a:off x="3886200" y="3581400"/>
            <a:ext cx="43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57367" name="Rectangle 23"/>
          <p:cNvSpPr>
            <a:spLocks noChangeArrowheads="1"/>
          </p:cNvSpPr>
          <p:nvPr/>
        </p:nvSpPr>
        <p:spPr bwMode="auto">
          <a:xfrm>
            <a:off x="6172200" y="1600200"/>
            <a:ext cx="21399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Engineers</a:t>
            </a:r>
          </a:p>
        </p:txBody>
      </p:sp>
      <p:sp>
        <p:nvSpPr>
          <p:cNvPr id="57368" name="Rectangle 24"/>
          <p:cNvSpPr>
            <a:spLocks noChangeArrowheads="1"/>
          </p:cNvSpPr>
          <p:nvPr/>
        </p:nvSpPr>
        <p:spPr bwMode="auto">
          <a:xfrm>
            <a:off x="6019800" y="16002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7369" name="Rectangle 25"/>
          <p:cNvSpPr>
            <a:spLocks noChangeArrowheads="1"/>
          </p:cNvSpPr>
          <p:nvPr/>
        </p:nvSpPr>
        <p:spPr bwMode="auto">
          <a:xfrm>
            <a:off x="5867400" y="2971800"/>
            <a:ext cx="2495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participates</a:t>
            </a:r>
          </a:p>
        </p:txBody>
      </p:sp>
      <p:sp>
        <p:nvSpPr>
          <p:cNvPr id="57370" name="AutoShape 26"/>
          <p:cNvSpPr>
            <a:spLocks noChangeArrowheads="1"/>
          </p:cNvSpPr>
          <p:nvPr/>
        </p:nvSpPr>
        <p:spPr bwMode="auto">
          <a:xfrm>
            <a:off x="5486400" y="2819400"/>
            <a:ext cx="3276600" cy="10668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7371" name="Line 27"/>
          <p:cNvSpPr>
            <a:spLocks noChangeShapeType="1"/>
          </p:cNvSpPr>
          <p:nvPr/>
        </p:nvSpPr>
        <p:spPr bwMode="auto">
          <a:xfrm>
            <a:off x="7162800" y="2286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72" name="Line 28"/>
          <p:cNvSpPr>
            <a:spLocks noChangeShapeType="1"/>
          </p:cNvSpPr>
          <p:nvPr/>
        </p:nvSpPr>
        <p:spPr bwMode="auto">
          <a:xfrm>
            <a:off x="5562600" y="2819400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7373" name="Rectangle 29"/>
          <p:cNvSpPr>
            <a:spLocks noChangeArrowheads="1"/>
          </p:cNvSpPr>
          <p:nvPr/>
        </p:nvSpPr>
        <p:spPr bwMode="auto">
          <a:xfrm>
            <a:off x="7239000" y="2209800"/>
            <a:ext cx="679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</a:p>
        </p:txBody>
      </p:sp>
      <p:sp>
        <p:nvSpPr>
          <p:cNvPr id="57374" name="Rectangle 30"/>
          <p:cNvSpPr>
            <a:spLocks noChangeArrowheads="1"/>
          </p:cNvSpPr>
          <p:nvPr/>
        </p:nvSpPr>
        <p:spPr bwMode="auto">
          <a:xfrm>
            <a:off x="7162800" y="3810000"/>
            <a:ext cx="43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105688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ER </a:t>
            </a:r>
            <a:r>
              <a:rPr lang="zh-CN" altLang="en-US" dirty="0"/>
              <a:t>建模的灵活性</a:t>
            </a:r>
            <a:r>
              <a:rPr lang="en-US" altLang="zh-CN" dirty="0" smtClean="0">
                <a:ea typeface="宋体" panose="02010600030101010101" pitchFamily="2" charset="-122"/>
              </a:rPr>
              <a:t>(3)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447800"/>
            <a:ext cx="8534400" cy="5105400"/>
          </a:xfrm>
        </p:spPr>
        <p:txBody>
          <a:bodyPr/>
          <a:lstStyle/>
          <a:p>
            <a:r>
              <a:rPr lang="zh-CN" altLang="en-US" dirty="0" smtClean="0">
                <a:ea typeface="宋体" panose="02010600030101010101" pitchFamily="2" charset="-122"/>
              </a:rPr>
              <a:t>实体集 </a:t>
            </a:r>
            <a:r>
              <a:rPr lang="en-US" altLang="zh-CN" dirty="0" smtClean="0">
                <a:ea typeface="宋体" panose="02010600030101010101" pitchFamily="2" charset="-122"/>
              </a:rPr>
              <a:t>VS</a:t>
            </a:r>
            <a:r>
              <a:rPr lang="zh-CN" altLang="en-US" dirty="0" smtClean="0">
                <a:ea typeface="宋体" panose="02010600030101010101" pitchFamily="2" charset="-122"/>
              </a:rPr>
              <a:t>关系集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58372" name="Rectangle 4"/>
          <p:cNvSpPr>
            <a:spLocks noChangeArrowheads="1"/>
          </p:cNvSpPr>
          <p:nvPr/>
        </p:nvSpPr>
        <p:spPr bwMode="auto">
          <a:xfrm>
            <a:off x="1390650" y="3505200"/>
            <a:ext cx="14922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CAB</a:t>
            </a:r>
          </a:p>
        </p:txBody>
      </p:sp>
      <p:sp>
        <p:nvSpPr>
          <p:cNvPr id="58373" name="Rectangle 5"/>
          <p:cNvSpPr>
            <a:spLocks noChangeArrowheads="1"/>
          </p:cNvSpPr>
          <p:nvPr/>
        </p:nvSpPr>
        <p:spPr bwMode="auto">
          <a:xfrm>
            <a:off x="95250" y="4572000"/>
            <a:ext cx="2292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Customers</a:t>
            </a:r>
          </a:p>
        </p:txBody>
      </p:sp>
      <p:sp>
        <p:nvSpPr>
          <p:cNvPr id="58374" name="AutoShape 6"/>
          <p:cNvSpPr>
            <a:spLocks noChangeArrowheads="1"/>
          </p:cNvSpPr>
          <p:nvPr/>
        </p:nvSpPr>
        <p:spPr bwMode="auto">
          <a:xfrm>
            <a:off x="1162050" y="3505200"/>
            <a:ext cx="2286000" cy="6858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375" name="Rectangle 7"/>
          <p:cNvSpPr>
            <a:spLocks noChangeArrowheads="1"/>
          </p:cNvSpPr>
          <p:nvPr/>
        </p:nvSpPr>
        <p:spPr bwMode="auto">
          <a:xfrm>
            <a:off x="95250" y="4572000"/>
            <a:ext cx="22860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376" name="Rectangle 8"/>
          <p:cNvSpPr>
            <a:spLocks noChangeArrowheads="1"/>
          </p:cNvSpPr>
          <p:nvPr/>
        </p:nvSpPr>
        <p:spPr bwMode="auto">
          <a:xfrm>
            <a:off x="5638800" y="5410200"/>
            <a:ext cx="2292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Customers</a:t>
            </a:r>
          </a:p>
        </p:txBody>
      </p:sp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5562600" y="5410200"/>
            <a:ext cx="2362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auto">
          <a:xfrm flipV="1">
            <a:off x="857250" y="3962400"/>
            <a:ext cx="7620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>
            <a:off x="6553200" y="472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0" name="Rectangle 12"/>
          <p:cNvSpPr>
            <a:spLocks noChangeArrowheads="1"/>
          </p:cNvSpPr>
          <p:nvPr/>
        </p:nvSpPr>
        <p:spPr bwMode="auto">
          <a:xfrm>
            <a:off x="1695450" y="2286000"/>
            <a:ext cx="1403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Banks</a:t>
            </a:r>
          </a:p>
        </p:txBody>
      </p:sp>
      <p:sp>
        <p:nvSpPr>
          <p:cNvPr id="58381" name="Rectangle 13"/>
          <p:cNvSpPr>
            <a:spLocks noChangeArrowheads="1"/>
          </p:cNvSpPr>
          <p:nvPr/>
        </p:nvSpPr>
        <p:spPr bwMode="auto">
          <a:xfrm>
            <a:off x="1543050" y="2286000"/>
            <a:ext cx="16002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 flipV="1">
            <a:off x="2305050" y="29718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83" name="Rectangle 15"/>
          <p:cNvSpPr>
            <a:spLocks noChangeArrowheads="1"/>
          </p:cNvSpPr>
          <p:nvPr/>
        </p:nvSpPr>
        <p:spPr bwMode="auto">
          <a:xfrm>
            <a:off x="4267200" y="3200400"/>
            <a:ext cx="173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Balance</a:t>
            </a:r>
          </a:p>
        </p:txBody>
      </p:sp>
      <p:sp>
        <p:nvSpPr>
          <p:cNvPr id="58384" name="Oval 16"/>
          <p:cNvSpPr>
            <a:spLocks noChangeArrowheads="1"/>
          </p:cNvSpPr>
          <p:nvPr/>
        </p:nvSpPr>
        <p:spPr bwMode="auto">
          <a:xfrm>
            <a:off x="4191000" y="3200400"/>
            <a:ext cx="19050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385" name="Rectangle 17"/>
          <p:cNvSpPr>
            <a:spLocks noChangeArrowheads="1"/>
          </p:cNvSpPr>
          <p:nvPr/>
        </p:nvSpPr>
        <p:spPr bwMode="auto">
          <a:xfrm>
            <a:off x="1477963" y="2913063"/>
            <a:ext cx="641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8386" name="Rectangle 18"/>
          <p:cNvSpPr>
            <a:spLocks noChangeArrowheads="1"/>
          </p:cNvSpPr>
          <p:nvPr/>
        </p:nvSpPr>
        <p:spPr bwMode="auto">
          <a:xfrm>
            <a:off x="628650" y="3962400"/>
            <a:ext cx="41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8387" name="Rectangle 19"/>
          <p:cNvSpPr>
            <a:spLocks noChangeArrowheads="1"/>
          </p:cNvSpPr>
          <p:nvPr/>
        </p:nvSpPr>
        <p:spPr bwMode="auto">
          <a:xfrm>
            <a:off x="2686050" y="4572000"/>
            <a:ext cx="1987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Accounts</a:t>
            </a:r>
          </a:p>
        </p:txBody>
      </p:sp>
      <p:sp>
        <p:nvSpPr>
          <p:cNvPr id="58388" name="Rectangle 20"/>
          <p:cNvSpPr>
            <a:spLocks noChangeArrowheads="1"/>
          </p:cNvSpPr>
          <p:nvPr/>
        </p:nvSpPr>
        <p:spPr bwMode="auto">
          <a:xfrm>
            <a:off x="2609850" y="4572000"/>
            <a:ext cx="21336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389" name="Line 21"/>
          <p:cNvSpPr>
            <a:spLocks noChangeShapeType="1"/>
          </p:cNvSpPr>
          <p:nvPr/>
        </p:nvSpPr>
        <p:spPr bwMode="auto">
          <a:xfrm>
            <a:off x="3143250" y="3962400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90" name="Rectangle 22"/>
          <p:cNvSpPr>
            <a:spLocks noChangeArrowheads="1"/>
          </p:cNvSpPr>
          <p:nvPr/>
        </p:nvSpPr>
        <p:spPr bwMode="auto">
          <a:xfrm>
            <a:off x="3524250" y="3962400"/>
            <a:ext cx="412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58391" name="Rectangle 23"/>
          <p:cNvSpPr>
            <a:spLocks noChangeArrowheads="1"/>
          </p:cNvSpPr>
          <p:nvPr/>
        </p:nvSpPr>
        <p:spPr bwMode="auto">
          <a:xfrm>
            <a:off x="5867400" y="2286000"/>
            <a:ext cx="14033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Banks</a:t>
            </a:r>
          </a:p>
        </p:txBody>
      </p:sp>
      <p:sp>
        <p:nvSpPr>
          <p:cNvPr id="58392" name="Rectangle 24"/>
          <p:cNvSpPr>
            <a:spLocks noChangeArrowheads="1"/>
          </p:cNvSpPr>
          <p:nvPr/>
        </p:nvSpPr>
        <p:spPr bwMode="auto">
          <a:xfrm>
            <a:off x="5715000" y="2286000"/>
            <a:ext cx="1676400" cy="6858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393" name="Rectangle 25"/>
          <p:cNvSpPr>
            <a:spLocks noChangeArrowheads="1"/>
          </p:cNvSpPr>
          <p:nvPr/>
        </p:nvSpPr>
        <p:spPr bwMode="auto">
          <a:xfrm>
            <a:off x="5486400" y="3962400"/>
            <a:ext cx="1936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6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account</a:t>
            </a:r>
          </a:p>
        </p:txBody>
      </p:sp>
      <p:sp>
        <p:nvSpPr>
          <p:cNvPr id="58394" name="AutoShape 26"/>
          <p:cNvSpPr>
            <a:spLocks noChangeArrowheads="1"/>
          </p:cNvSpPr>
          <p:nvPr/>
        </p:nvSpPr>
        <p:spPr bwMode="auto">
          <a:xfrm>
            <a:off x="5334000" y="3810000"/>
            <a:ext cx="24384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395" name="Line 27"/>
          <p:cNvSpPr>
            <a:spLocks noChangeShapeType="1"/>
          </p:cNvSpPr>
          <p:nvPr/>
        </p:nvSpPr>
        <p:spPr bwMode="auto">
          <a:xfrm>
            <a:off x="6553200" y="2971800"/>
            <a:ext cx="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96" name="Line 28"/>
          <p:cNvSpPr>
            <a:spLocks noChangeShapeType="1"/>
          </p:cNvSpPr>
          <p:nvPr/>
        </p:nvSpPr>
        <p:spPr bwMode="auto">
          <a:xfrm>
            <a:off x="5486400" y="38100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397" name="Rectangle 29"/>
          <p:cNvSpPr>
            <a:spLocks noChangeArrowheads="1"/>
          </p:cNvSpPr>
          <p:nvPr/>
        </p:nvSpPr>
        <p:spPr bwMode="auto">
          <a:xfrm>
            <a:off x="6629400" y="3200400"/>
            <a:ext cx="679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 </a:t>
            </a:r>
          </a:p>
        </p:txBody>
      </p:sp>
      <p:sp>
        <p:nvSpPr>
          <p:cNvPr id="58398" name="Rectangle 30"/>
          <p:cNvSpPr>
            <a:spLocks noChangeArrowheads="1"/>
          </p:cNvSpPr>
          <p:nvPr/>
        </p:nvSpPr>
        <p:spPr bwMode="auto">
          <a:xfrm>
            <a:off x="6553200" y="4800600"/>
            <a:ext cx="4381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58399" name="Rectangle 31"/>
          <p:cNvSpPr>
            <a:spLocks noChangeArrowheads="1"/>
          </p:cNvSpPr>
          <p:nvPr/>
        </p:nvSpPr>
        <p:spPr bwMode="auto">
          <a:xfrm>
            <a:off x="7620000" y="3124200"/>
            <a:ext cx="130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Acct#</a:t>
            </a:r>
          </a:p>
        </p:txBody>
      </p:sp>
      <p:sp>
        <p:nvSpPr>
          <p:cNvPr id="58400" name="Oval 32"/>
          <p:cNvSpPr>
            <a:spLocks noChangeArrowheads="1"/>
          </p:cNvSpPr>
          <p:nvPr/>
        </p:nvSpPr>
        <p:spPr bwMode="auto">
          <a:xfrm>
            <a:off x="7543800" y="3200400"/>
            <a:ext cx="1447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401" name="Line 33"/>
          <p:cNvSpPr>
            <a:spLocks noChangeShapeType="1"/>
          </p:cNvSpPr>
          <p:nvPr/>
        </p:nvSpPr>
        <p:spPr bwMode="auto">
          <a:xfrm flipH="1">
            <a:off x="7086600" y="3733800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2" name="Rectangle 34"/>
          <p:cNvSpPr>
            <a:spLocks noChangeArrowheads="1"/>
          </p:cNvSpPr>
          <p:nvPr/>
        </p:nvSpPr>
        <p:spPr bwMode="auto">
          <a:xfrm>
            <a:off x="1771650" y="5715000"/>
            <a:ext cx="1301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Acct#</a:t>
            </a:r>
          </a:p>
        </p:txBody>
      </p:sp>
      <p:sp>
        <p:nvSpPr>
          <p:cNvPr id="58403" name="Oval 35"/>
          <p:cNvSpPr>
            <a:spLocks noChangeArrowheads="1"/>
          </p:cNvSpPr>
          <p:nvPr/>
        </p:nvSpPr>
        <p:spPr bwMode="auto">
          <a:xfrm>
            <a:off x="1695450" y="5791200"/>
            <a:ext cx="14478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404" name="Line 36"/>
          <p:cNvSpPr>
            <a:spLocks noChangeShapeType="1"/>
          </p:cNvSpPr>
          <p:nvPr/>
        </p:nvSpPr>
        <p:spPr bwMode="auto">
          <a:xfrm flipH="1">
            <a:off x="2457450" y="52578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5" name="Rectangle 37"/>
          <p:cNvSpPr>
            <a:spLocks noChangeArrowheads="1"/>
          </p:cNvSpPr>
          <p:nvPr/>
        </p:nvSpPr>
        <p:spPr bwMode="auto">
          <a:xfrm>
            <a:off x="3448050" y="5715000"/>
            <a:ext cx="17335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Balance</a:t>
            </a:r>
          </a:p>
        </p:txBody>
      </p:sp>
      <p:sp>
        <p:nvSpPr>
          <p:cNvPr id="58406" name="Oval 38"/>
          <p:cNvSpPr>
            <a:spLocks noChangeArrowheads="1"/>
          </p:cNvSpPr>
          <p:nvPr/>
        </p:nvSpPr>
        <p:spPr bwMode="auto">
          <a:xfrm>
            <a:off x="3371850" y="5791200"/>
            <a:ext cx="1905000" cy="609600"/>
          </a:xfrm>
          <a:prstGeom prst="ellips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8407" name="Line 39"/>
          <p:cNvSpPr>
            <a:spLocks noChangeShapeType="1"/>
          </p:cNvSpPr>
          <p:nvPr/>
        </p:nvSpPr>
        <p:spPr bwMode="auto">
          <a:xfrm>
            <a:off x="3981450" y="5257800"/>
            <a:ext cx="152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8408" name="Line 40"/>
          <p:cNvSpPr>
            <a:spLocks noChangeShapeType="1"/>
          </p:cNvSpPr>
          <p:nvPr/>
        </p:nvSpPr>
        <p:spPr bwMode="auto">
          <a:xfrm flipH="1">
            <a:off x="7772400" y="37338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395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ER </a:t>
            </a:r>
            <a:r>
              <a:rPr lang="zh-CN" altLang="en-US" dirty="0"/>
              <a:t>建模的灵活性</a:t>
            </a:r>
            <a:r>
              <a:rPr lang="en-US" altLang="zh-CN" dirty="0" smtClean="0">
                <a:ea typeface="宋体" panose="02010600030101010101" pitchFamily="2" charset="-122"/>
              </a:rPr>
              <a:t>(4)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181600"/>
          </a:xfrm>
        </p:spPr>
        <p:txBody>
          <a:bodyPr/>
          <a:lstStyle/>
          <a:p>
            <a:r>
              <a:rPr lang="zh-CN" altLang="en-US" sz="3000" dirty="0" smtClean="0">
                <a:ea typeface="宋体" panose="02010600030101010101" pitchFamily="2" charset="-122"/>
              </a:rPr>
              <a:t>三元关系 </a:t>
            </a:r>
            <a:r>
              <a:rPr lang="en-US" altLang="zh-CN" sz="3000" dirty="0" smtClean="0">
                <a:ea typeface="宋体" panose="02010600030101010101" pitchFamily="2" charset="-122"/>
              </a:rPr>
              <a:t>vs. </a:t>
            </a:r>
            <a:r>
              <a:rPr lang="zh-CN" altLang="en-US" sz="3000" dirty="0" smtClean="0">
                <a:ea typeface="宋体" panose="02010600030101010101" pitchFamily="2" charset="-122"/>
              </a:rPr>
              <a:t>二元关系</a:t>
            </a:r>
            <a:endParaRPr lang="en-US" altLang="zh-CN" sz="3000" dirty="0" smtClean="0">
              <a:ea typeface="宋体" panose="02010600030101010101" pitchFamily="2" charset="-122"/>
            </a:endParaRPr>
          </a:p>
          <a:p>
            <a:pPr>
              <a:buNone/>
            </a:pPr>
            <a:r>
              <a:rPr lang="zh-CN" altLang="en-US" sz="2900" dirty="0"/>
              <a:t>三元</a:t>
            </a:r>
            <a:r>
              <a:rPr lang="zh-CN" altLang="en-US" sz="2900" dirty="0" smtClean="0"/>
              <a:t>关系有时不能</a:t>
            </a:r>
            <a:r>
              <a:rPr lang="zh-CN" altLang="en-US" sz="2900" dirty="0"/>
              <a:t>用多个二元关系表示</a:t>
            </a:r>
            <a:r>
              <a:rPr lang="zh-CN" altLang="en-US" sz="2900" dirty="0" smtClean="0"/>
              <a:t>。</a:t>
            </a:r>
            <a:endParaRPr lang="en-US" altLang="zh-CN" sz="2900" dirty="0" smtClean="0">
              <a:ea typeface="宋体" panose="02010600030101010101" pitchFamily="2" charset="-122"/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auto">
          <a:xfrm>
            <a:off x="838200" y="4622800"/>
            <a:ext cx="1538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supply</a:t>
            </a: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auto">
          <a:xfrm>
            <a:off x="304800" y="5740400"/>
            <a:ext cx="1109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Parts</a:t>
            </a:r>
          </a:p>
        </p:txBody>
      </p:sp>
      <p:sp>
        <p:nvSpPr>
          <p:cNvPr id="59398" name="AutoShape 6"/>
          <p:cNvSpPr>
            <a:spLocks noChangeArrowheads="1"/>
          </p:cNvSpPr>
          <p:nvPr/>
        </p:nvSpPr>
        <p:spPr bwMode="auto">
          <a:xfrm>
            <a:off x="609600" y="4572000"/>
            <a:ext cx="2209800" cy="736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auto">
          <a:xfrm>
            <a:off x="304800" y="5765800"/>
            <a:ext cx="11430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400" name="Line 8"/>
          <p:cNvSpPr>
            <a:spLocks noChangeShapeType="1"/>
          </p:cNvSpPr>
          <p:nvPr/>
        </p:nvSpPr>
        <p:spPr bwMode="auto">
          <a:xfrm flipV="1">
            <a:off x="762000" y="51562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1" name="Rectangle 9"/>
          <p:cNvSpPr>
            <a:spLocks noChangeArrowheads="1"/>
          </p:cNvSpPr>
          <p:nvPr/>
        </p:nvSpPr>
        <p:spPr bwMode="auto">
          <a:xfrm>
            <a:off x="914400" y="3327400"/>
            <a:ext cx="1831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Suppliers</a:t>
            </a:r>
          </a:p>
        </p:txBody>
      </p:sp>
      <p:sp>
        <p:nvSpPr>
          <p:cNvPr id="59402" name="Rectangle 10"/>
          <p:cNvSpPr>
            <a:spLocks noChangeArrowheads="1"/>
          </p:cNvSpPr>
          <p:nvPr/>
        </p:nvSpPr>
        <p:spPr bwMode="auto">
          <a:xfrm>
            <a:off x="838200" y="3327400"/>
            <a:ext cx="19050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403" name="Line 11"/>
          <p:cNvSpPr>
            <a:spLocks noChangeShapeType="1"/>
          </p:cNvSpPr>
          <p:nvPr/>
        </p:nvSpPr>
        <p:spPr bwMode="auto">
          <a:xfrm flipH="1" flipV="1">
            <a:off x="1752600" y="3937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4" name="Rectangle 12"/>
          <p:cNvSpPr>
            <a:spLocks noChangeArrowheads="1"/>
          </p:cNvSpPr>
          <p:nvPr/>
        </p:nvSpPr>
        <p:spPr bwMode="auto">
          <a:xfrm>
            <a:off x="1143000" y="3937000"/>
            <a:ext cx="522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59405" name="Rectangle 13"/>
          <p:cNvSpPr>
            <a:spLocks noChangeArrowheads="1"/>
          </p:cNvSpPr>
          <p:nvPr/>
        </p:nvSpPr>
        <p:spPr bwMode="auto">
          <a:xfrm>
            <a:off x="533400" y="5156200"/>
            <a:ext cx="5111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 </a:t>
            </a:r>
          </a:p>
        </p:txBody>
      </p:sp>
      <p:sp>
        <p:nvSpPr>
          <p:cNvPr id="59406" name="Rectangle 14"/>
          <p:cNvSpPr>
            <a:spLocks noChangeArrowheads="1"/>
          </p:cNvSpPr>
          <p:nvPr/>
        </p:nvSpPr>
        <p:spPr bwMode="auto">
          <a:xfrm>
            <a:off x="1981200" y="57658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59407" name="Rectangle 15"/>
          <p:cNvSpPr>
            <a:spLocks noChangeArrowheads="1"/>
          </p:cNvSpPr>
          <p:nvPr/>
        </p:nvSpPr>
        <p:spPr bwMode="auto">
          <a:xfrm>
            <a:off x="1905000" y="5791200"/>
            <a:ext cx="17526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408" name="Line 16"/>
          <p:cNvSpPr>
            <a:spLocks noChangeShapeType="1"/>
          </p:cNvSpPr>
          <p:nvPr/>
        </p:nvSpPr>
        <p:spPr bwMode="auto">
          <a:xfrm>
            <a:off x="2209800" y="5156200"/>
            <a:ext cx="5334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9" name="Rectangle 17"/>
          <p:cNvSpPr>
            <a:spLocks noChangeArrowheads="1"/>
          </p:cNvSpPr>
          <p:nvPr/>
        </p:nvSpPr>
        <p:spPr bwMode="auto">
          <a:xfrm>
            <a:off x="2590800" y="5080000"/>
            <a:ext cx="365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59410" name="Rectangle 18"/>
          <p:cNvSpPr>
            <a:spLocks noChangeArrowheads="1"/>
          </p:cNvSpPr>
          <p:nvPr/>
        </p:nvSpPr>
        <p:spPr bwMode="auto">
          <a:xfrm>
            <a:off x="3810000" y="3403600"/>
            <a:ext cx="18319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Suppliers</a:t>
            </a:r>
          </a:p>
        </p:txBody>
      </p:sp>
      <p:sp>
        <p:nvSpPr>
          <p:cNvPr id="59411" name="Rectangle 19"/>
          <p:cNvSpPr>
            <a:spLocks noChangeArrowheads="1"/>
          </p:cNvSpPr>
          <p:nvPr/>
        </p:nvSpPr>
        <p:spPr bwMode="auto">
          <a:xfrm>
            <a:off x="3733800" y="3403600"/>
            <a:ext cx="19050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412" name="Rectangle 20"/>
          <p:cNvSpPr>
            <a:spLocks noChangeArrowheads="1"/>
          </p:cNvSpPr>
          <p:nvPr/>
        </p:nvSpPr>
        <p:spPr bwMode="auto">
          <a:xfrm>
            <a:off x="4267200" y="5765800"/>
            <a:ext cx="11096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Parts</a:t>
            </a:r>
          </a:p>
        </p:txBody>
      </p:sp>
      <p:sp>
        <p:nvSpPr>
          <p:cNvPr id="59413" name="Rectangle 21"/>
          <p:cNvSpPr>
            <a:spLocks noChangeArrowheads="1"/>
          </p:cNvSpPr>
          <p:nvPr/>
        </p:nvSpPr>
        <p:spPr bwMode="auto">
          <a:xfrm>
            <a:off x="4267200" y="5791200"/>
            <a:ext cx="11430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414" name="Rectangle 22"/>
          <p:cNvSpPr>
            <a:spLocks noChangeArrowheads="1"/>
          </p:cNvSpPr>
          <p:nvPr/>
        </p:nvSpPr>
        <p:spPr bwMode="auto">
          <a:xfrm>
            <a:off x="3429000" y="4622800"/>
            <a:ext cx="23844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can -supply</a:t>
            </a:r>
          </a:p>
        </p:txBody>
      </p:sp>
      <p:sp>
        <p:nvSpPr>
          <p:cNvPr id="59415" name="AutoShape 23"/>
          <p:cNvSpPr>
            <a:spLocks noChangeArrowheads="1"/>
          </p:cNvSpPr>
          <p:nvPr/>
        </p:nvSpPr>
        <p:spPr bwMode="auto">
          <a:xfrm>
            <a:off x="3352800" y="4470400"/>
            <a:ext cx="27432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416" name="Rectangle 24"/>
          <p:cNvSpPr>
            <a:spLocks noChangeArrowheads="1"/>
          </p:cNvSpPr>
          <p:nvPr/>
        </p:nvSpPr>
        <p:spPr bwMode="auto">
          <a:xfrm>
            <a:off x="7010400" y="46228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59417" name="Rectangle 25"/>
          <p:cNvSpPr>
            <a:spLocks noChangeArrowheads="1"/>
          </p:cNvSpPr>
          <p:nvPr/>
        </p:nvSpPr>
        <p:spPr bwMode="auto">
          <a:xfrm>
            <a:off x="6934200" y="4648200"/>
            <a:ext cx="1752600" cy="609600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418" name="Rectangle 26"/>
          <p:cNvSpPr>
            <a:spLocks noChangeArrowheads="1"/>
          </p:cNvSpPr>
          <p:nvPr/>
        </p:nvSpPr>
        <p:spPr bwMode="auto">
          <a:xfrm>
            <a:off x="6553200" y="3327400"/>
            <a:ext cx="20796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supply_to</a:t>
            </a:r>
          </a:p>
        </p:txBody>
      </p:sp>
      <p:sp>
        <p:nvSpPr>
          <p:cNvPr id="59419" name="AutoShape 27"/>
          <p:cNvSpPr>
            <a:spLocks noChangeArrowheads="1"/>
          </p:cNvSpPr>
          <p:nvPr/>
        </p:nvSpPr>
        <p:spPr bwMode="auto">
          <a:xfrm>
            <a:off x="6477000" y="3175000"/>
            <a:ext cx="2362200" cy="9144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59420" name="Rectangle 28"/>
          <p:cNvSpPr>
            <a:spLocks noChangeArrowheads="1"/>
          </p:cNvSpPr>
          <p:nvPr/>
        </p:nvSpPr>
        <p:spPr bwMode="auto">
          <a:xfrm>
            <a:off x="6705600" y="5842000"/>
            <a:ext cx="3873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zh-CN" altLang="en-US" sz="3200" b="1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</a:p>
        </p:txBody>
      </p:sp>
      <p:sp>
        <p:nvSpPr>
          <p:cNvPr id="59421" name="AutoShape 29"/>
          <p:cNvSpPr>
            <a:spLocks noChangeArrowheads="1"/>
          </p:cNvSpPr>
          <p:nvPr/>
        </p:nvSpPr>
        <p:spPr bwMode="auto">
          <a:xfrm>
            <a:off x="6858000" y="5791200"/>
            <a:ext cx="1752600" cy="7366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use</a:t>
            </a:r>
          </a:p>
        </p:txBody>
      </p:sp>
      <p:sp>
        <p:nvSpPr>
          <p:cNvPr id="59422" name="Line 30"/>
          <p:cNvSpPr>
            <a:spLocks noChangeShapeType="1"/>
          </p:cNvSpPr>
          <p:nvPr/>
        </p:nvSpPr>
        <p:spPr bwMode="auto">
          <a:xfrm flipV="1">
            <a:off x="4724400" y="40132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23" name="Line 31"/>
          <p:cNvSpPr>
            <a:spLocks noChangeShapeType="1"/>
          </p:cNvSpPr>
          <p:nvPr/>
        </p:nvSpPr>
        <p:spPr bwMode="auto">
          <a:xfrm flipH="1" flipV="1">
            <a:off x="7696200" y="4089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24" name="Line 32"/>
          <p:cNvSpPr>
            <a:spLocks noChangeShapeType="1"/>
          </p:cNvSpPr>
          <p:nvPr/>
        </p:nvSpPr>
        <p:spPr bwMode="auto">
          <a:xfrm flipH="1" flipV="1">
            <a:off x="7772400" y="5232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25" name="Line 33"/>
          <p:cNvSpPr>
            <a:spLocks noChangeShapeType="1"/>
          </p:cNvSpPr>
          <p:nvPr/>
        </p:nvSpPr>
        <p:spPr bwMode="auto">
          <a:xfrm flipH="1" flipV="1">
            <a:off x="4724400" y="53848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26" name="Line 34"/>
          <p:cNvSpPr>
            <a:spLocks noChangeShapeType="1"/>
          </p:cNvSpPr>
          <p:nvPr/>
        </p:nvSpPr>
        <p:spPr bwMode="auto">
          <a:xfrm flipV="1">
            <a:off x="5638800" y="36322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27" name="Line 35"/>
          <p:cNvSpPr>
            <a:spLocks noChangeShapeType="1"/>
          </p:cNvSpPr>
          <p:nvPr/>
        </p:nvSpPr>
        <p:spPr bwMode="auto">
          <a:xfrm flipV="1">
            <a:off x="5410200" y="6146800"/>
            <a:ext cx="1447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28" name="Rectangle 36"/>
          <p:cNvSpPr>
            <a:spLocks noChangeArrowheads="1"/>
          </p:cNvSpPr>
          <p:nvPr/>
        </p:nvSpPr>
        <p:spPr bwMode="auto">
          <a:xfrm>
            <a:off x="5867400" y="3098800"/>
            <a:ext cx="5222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59429" name="Rectangle 37"/>
          <p:cNvSpPr>
            <a:spLocks noChangeArrowheads="1"/>
          </p:cNvSpPr>
          <p:nvPr/>
        </p:nvSpPr>
        <p:spPr bwMode="auto">
          <a:xfrm>
            <a:off x="7696200" y="408940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59430" name="Rectangle 38"/>
          <p:cNvSpPr>
            <a:spLocks noChangeArrowheads="1"/>
          </p:cNvSpPr>
          <p:nvPr/>
        </p:nvSpPr>
        <p:spPr bwMode="auto">
          <a:xfrm>
            <a:off x="7772400" y="5232400"/>
            <a:ext cx="409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u</a:t>
            </a:r>
          </a:p>
        </p:txBody>
      </p:sp>
      <p:sp>
        <p:nvSpPr>
          <p:cNvPr id="59431" name="Rectangle 39"/>
          <p:cNvSpPr>
            <a:spLocks noChangeArrowheads="1"/>
          </p:cNvSpPr>
          <p:nvPr/>
        </p:nvSpPr>
        <p:spPr bwMode="auto">
          <a:xfrm>
            <a:off x="4191000" y="3937000"/>
            <a:ext cx="365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59432" name="Rectangle 40"/>
          <p:cNvSpPr>
            <a:spLocks noChangeArrowheads="1"/>
          </p:cNvSpPr>
          <p:nvPr/>
        </p:nvSpPr>
        <p:spPr bwMode="auto">
          <a:xfrm>
            <a:off x="4114800" y="5232400"/>
            <a:ext cx="342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s</a:t>
            </a:r>
          </a:p>
        </p:txBody>
      </p:sp>
      <p:sp>
        <p:nvSpPr>
          <p:cNvPr id="59433" name="Rectangle 41"/>
          <p:cNvSpPr>
            <a:spLocks noChangeArrowheads="1"/>
          </p:cNvSpPr>
          <p:nvPr/>
        </p:nvSpPr>
        <p:spPr bwMode="auto">
          <a:xfrm>
            <a:off x="5867400" y="5613400"/>
            <a:ext cx="319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2167552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838200"/>
          </a:xfrm>
        </p:spPr>
        <p:txBody>
          <a:bodyPr/>
          <a:lstStyle/>
          <a:p>
            <a:r>
              <a:rPr lang="en-US" altLang="zh-CN" dirty="0"/>
              <a:t>ER </a:t>
            </a:r>
            <a:r>
              <a:rPr lang="zh-CN" altLang="en-US" dirty="0"/>
              <a:t>建模的灵活性</a:t>
            </a:r>
            <a:r>
              <a:rPr lang="en-US" altLang="zh-CN" dirty="0" smtClean="0">
                <a:ea typeface="宋体" panose="02010600030101010101" pitchFamily="2" charset="-122"/>
              </a:rPr>
              <a:t>(5)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71600"/>
            <a:ext cx="8534400" cy="5257800"/>
          </a:xfrm>
        </p:spPr>
        <p:txBody>
          <a:bodyPr/>
          <a:lstStyle/>
          <a:p>
            <a:r>
              <a:rPr lang="zh-CN" altLang="en-US" dirty="0"/>
              <a:t>三元关系通常能提供更准确的信息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 supply      </a:t>
            </a:r>
            <a:r>
              <a:rPr lang="en-US" altLang="zh-CN" dirty="0" err="1" smtClean="0">
                <a:ea typeface="宋体" panose="02010600030101010101" pitchFamily="2" charset="-122"/>
              </a:rPr>
              <a:t>supply_to</a:t>
            </a:r>
            <a:r>
              <a:rPr lang="en-US" altLang="zh-CN" dirty="0" smtClean="0">
                <a:ea typeface="宋体" panose="02010600030101010101" pitchFamily="2" charset="-122"/>
              </a:rPr>
              <a:t>    can-supply    uses   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s1  p1  j1        s1  j1             s1  p1       j1  p1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s1  p2  j1       s2  j1             s1  p2       j1  p2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s2  p1  j1       s2  j2             s2  p1       j2  p2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dirty="0" smtClean="0">
                <a:ea typeface="宋体" panose="02010600030101010101" pitchFamily="2" charset="-122"/>
              </a:rPr>
              <a:t>  s2  p2  j2                             s2  p2  </a:t>
            </a:r>
          </a:p>
          <a:p>
            <a:r>
              <a:rPr lang="en-US" altLang="zh-CN" dirty="0" smtClean="0">
                <a:ea typeface="宋体" panose="02010600030101010101" pitchFamily="2" charset="-122"/>
              </a:rPr>
              <a:t>(s2, p2, j1)</a:t>
            </a:r>
            <a:r>
              <a:rPr lang="zh-CN" altLang="en-US" dirty="0"/>
              <a:t>可能是</a:t>
            </a:r>
            <a:r>
              <a:rPr lang="zh-CN" altLang="en-US" dirty="0" smtClean="0"/>
              <a:t>从二元关系</a:t>
            </a:r>
            <a:r>
              <a:rPr lang="zh-CN" altLang="en-US" dirty="0"/>
              <a:t>中错误地派生出来的</a:t>
            </a:r>
            <a:r>
              <a:rPr lang="zh-CN" altLang="en-US" dirty="0" smtClean="0"/>
              <a:t>。</a:t>
            </a:r>
            <a:endParaRPr lang="en-US" altLang="zh-CN" dirty="0" smtClean="0">
              <a:ea typeface="宋体" panose="02010600030101010101" pitchFamily="2" charset="-122"/>
            </a:endParaRPr>
          </a:p>
        </p:txBody>
      </p:sp>
      <p:sp>
        <p:nvSpPr>
          <p:cNvPr id="60420" name="Line 4"/>
          <p:cNvSpPr>
            <a:spLocks noChangeShapeType="1"/>
          </p:cNvSpPr>
          <p:nvPr/>
        </p:nvSpPr>
        <p:spPr bwMode="auto">
          <a:xfrm>
            <a:off x="304800" y="3110753"/>
            <a:ext cx="1676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1" name="Line 5"/>
          <p:cNvSpPr>
            <a:spLocks noChangeShapeType="1"/>
          </p:cNvSpPr>
          <p:nvPr/>
        </p:nvSpPr>
        <p:spPr bwMode="auto">
          <a:xfrm>
            <a:off x="5347447" y="3110753"/>
            <a:ext cx="1143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2" name="Line 6"/>
          <p:cNvSpPr>
            <a:spLocks noChangeShapeType="1"/>
          </p:cNvSpPr>
          <p:nvPr/>
        </p:nvSpPr>
        <p:spPr bwMode="auto">
          <a:xfrm>
            <a:off x="3590365" y="3110753"/>
            <a:ext cx="20574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423" name="Line 7"/>
          <p:cNvSpPr>
            <a:spLocks noChangeShapeType="1"/>
          </p:cNvSpPr>
          <p:nvPr/>
        </p:nvSpPr>
        <p:spPr bwMode="auto">
          <a:xfrm>
            <a:off x="1918447" y="3110753"/>
            <a:ext cx="1905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0870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838200"/>
          </a:xfrm>
        </p:spPr>
        <p:txBody>
          <a:bodyPr/>
          <a:lstStyle/>
          <a:p>
            <a:r>
              <a:rPr lang="en-US" altLang="zh-CN" sz="3400" smtClean="0">
                <a:ea typeface="宋体" panose="02010600030101010101" pitchFamily="2" charset="-122"/>
              </a:rPr>
              <a:t>An Example EER Diagram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dirty="0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1981200" y="1447800"/>
            <a:ext cx="1371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Cities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1905000" y="1447800"/>
            <a:ext cx="1447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3810000" y="1219200"/>
            <a:ext cx="1628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C_name</a:t>
            </a:r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3352800" y="1524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228600" y="3048000"/>
            <a:ext cx="1222375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Emp#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>
            <a:off x="4038600" y="1828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3810000" y="1905000"/>
            <a:ext cx="2078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Population</a:t>
            </a:r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 flipH="1" flipV="1">
            <a:off x="3352800" y="1973263"/>
            <a:ext cx="457200" cy="160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1600200" y="38100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1524000" y="3810000"/>
            <a:ext cx="23622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3810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Managers</a:t>
            </a:r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304800" y="5105400"/>
            <a:ext cx="2209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2971800" y="5105400"/>
            <a:ext cx="297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Programmers</a:t>
            </a:r>
          </a:p>
        </p:txBody>
      </p: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2895600" y="5105400"/>
            <a:ext cx="3048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8" name="AutoShape 20"/>
          <p:cNvSpPr>
            <a:spLocks noChangeArrowheads="1"/>
          </p:cNvSpPr>
          <p:nvPr/>
        </p:nvSpPr>
        <p:spPr bwMode="auto">
          <a:xfrm>
            <a:off x="1600200" y="2514600"/>
            <a:ext cx="2209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9" name="Text Box 21"/>
          <p:cNvSpPr txBox="1">
            <a:spLocks noChangeArrowheads="1"/>
          </p:cNvSpPr>
          <p:nvPr/>
        </p:nvSpPr>
        <p:spPr bwMode="auto">
          <a:xfrm>
            <a:off x="1981200" y="2590800"/>
            <a:ext cx="1335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live_in</a:t>
            </a:r>
          </a:p>
        </p:txBody>
      </p:sp>
      <p:sp>
        <p:nvSpPr>
          <p:cNvPr id="61460" name="Line 22"/>
          <p:cNvSpPr>
            <a:spLocks noChangeShapeType="1"/>
          </p:cNvSpPr>
          <p:nvPr/>
        </p:nvSpPr>
        <p:spPr bwMode="auto">
          <a:xfrm>
            <a:off x="304800" y="3657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61" name="Rectangle 23"/>
          <p:cNvSpPr>
            <a:spLocks noChangeArrowheads="1"/>
          </p:cNvSpPr>
          <p:nvPr/>
        </p:nvSpPr>
        <p:spPr bwMode="auto">
          <a:xfrm>
            <a:off x="4191000" y="41910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Hobbies</a:t>
            </a:r>
          </a:p>
        </p:txBody>
      </p:sp>
      <p:sp>
        <p:nvSpPr>
          <p:cNvPr id="61462" name="Rectangle 24"/>
          <p:cNvSpPr>
            <a:spLocks noChangeArrowheads="1"/>
          </p:cNvSpPr>
          <p:nvPr/>
        </p:nvSpPr>
        <p:spPr bwMode="auto">
          <a:xfrm>
            <a:off x="685800" y="6096000"/>
            <a:ext cx="1425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Budget</a:t>
            </a:r>
          </a:p>
        </p:txBody>
      </p:sp>
      <p:sp>
        <p:nvSpPr>
          <p:cNvPr id="61463" name="Rectangle 25"/>
          <p:cNvSpPr>
            <a:spLocks noChangeArrowheads="1"/>
          </p:cNvSpPr>
          <p:nvPr/>
        </p:nvSpPr>
        <p:spPr bwMode="auto">
          <a:xfrm>
            <a:off x="2514600" y="6096000"/>
            <a:ext cx="370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years_of_experience</a:t>
            </a:r>
          </a:p>
        </p:txBody>
      </p:sp>
      <p:sp>
        <p:nvSpPr>
          <p:cNvPr id="61464" name="Rectangle 26"/>
          <p:cNvSpPr>
            <a:spLocks noChangeArrowheads="1"/>
          </p:cNvSpPr>
          <p:nvPr/>
        </p:nvSpPr>
        <p:spPr bwMode="auto">
          <a:xfrm>
            <a:off x="6858000" y="2286000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61465" name="Rectangle 27"/>
          <p:cNvSpPr>
            <a:spLocks noChangeArrowheads="1"/>
          </p:cNvSpPr>
          <p:nvPr/>
        </p:nvSpPr>
        <p:spPr bwMode="auto">
          <a:xfrm>
            <a:off x="6781800" y="2286000"/>
            <a:ext cx="1905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6" name="AutoShape 28"/>
          <p:cNvSpPr>
            <a:spLocks noChangeArrowheads="1"/>
          </p:cNvSpPr>
          <p:nvPr/>
        </p:nvSpPr>
        <p:spPr bwMode="auto">
          <a:xfrm>
            <a:off x="3962400" y="2895600"/>
            <a:ext cx="2590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7" name="Text Box 29"/>
          <p:cNvSpPr txBox="1">
            <a:spLocks noChangeArrowheads="1"/>
          </p:cNvSpPr>
          <p:nvPr/>
        </p:nvSpPr>
        <p:spPr bwMode="auto">
          <a:xfrm>
            <a:off x="4343400" y="2971800"/>
            <a:ext cx="1719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work_on</a:t>
            </a:r>
          </a:p>
        </p:txBody>
      </p:sp>
      <p:sp>
        <p:nvSpPr>
          <p:cNvPr id="61468" name="AutoShape 30"/>
          <p:cNvSpPr>
            <a:spLocks noChangeArrowheads="1"/>
          </p:cNvSpPr>
          <p:nvPr/>
        </p:nvSpPr>
        <p:spPr bwMode="auto">
          <a:xfrm>
            <a:off x="7086600" y="3733800"/>
            <a:ext cx="15240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9" name="Text Box 31"/>
          <p:cNvSpPr txBox="1">
            <a:spLocks noChangeArrowheads="1"/>
          </p:cNvSpPr>
          <p:nvPr/>
        </p:nvSpPr>
        <p:spPr bwMode="auto">
          <a:xfrm>
            <a:off x="7467600" y="3810000"/>
            <a:ext cx="749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use</a:t>
            </a:r>
          </a:p>
        </p:txBody>
      </p:sp>
      <p:sp>
        <p:nvSpPr>
          <p:cNvPr id="61470" name="Rectangle 32"/>
          <p:cNvSpPr>
            <a:spLocks noChangeArrowheads="1"/>
          </p:cNvSpPr>
          <p:nvPr/>
        </p:nvSpPr>
        <p:spPr bwMode="auto">
          <a:xfrm>
            <a:off x="65532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Languages</a:t>
            </a:r>
          </a:p>
        </p:txBody>
      </p:sp>
      <p:sp>
        <p:nvSpPr>
          <p:cNvPr id="61471" name="Rectangle 33"/>
          <p:cNvSpPr>
            <a:spLocks noChangeArrowheads="1"/>
          </p:cNvSpPr>
          <p:nvPr/>
        </p:nvSpPr>
        <p:spPr bwMode="auto">
          <a:xfrm>
            <a:off x="6553200" y="5105400"/>
            <a:ext cx="2286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72" name="Rectangle 34"/>
          <p:cNvSpPr>
            <a:spLocks noChangeArrowheads="1"/>
          </p:cNvSpPr>
          <p:nvPr/>
        </p:nvSpPr>
        <p:spPr bwMode="auto">
          <a:xfrm>
            <a:off x="6096000" y="1295400"/>
            <a:ext cx="11541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Proj#</a:t>
            </a:r>
          </a:p>
        </p:txBody>
      </p:sp>
      <p:sp>
        <p:nvSpPr>
          <p:cNvPr id="61473" name="Rectangle 35"/>
          <p:cNvSpPr>
            <a:spLocks noChangeArrowheads="1"/>
          </p:cNvSpPr>
          <p:nvPr/>
        </p:nvSpPr>
        <p:spPr bwMode="auto">
          <a:xfrm>
            <a:off x="7620000" y="12954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61474" name="Line 36"/>
          <p:cNvSpPr>
            <a:spLocks noChangeShapeType="1"/>
          </p:cNvSpPr>
          <p:nvPr/>
        </p:nvSpPr>
        <p:spPr bwMode="auto">
          <a:xfrm>
            <a:off x="7848600" y="449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5" name="Line 37"/>
          <p:cNvSpPr>
            <a:spLocks noChangeShapeType="1"/>
          </p:cNvSpPr>
          <p:nvPr/>
        </p:nvSpPr>
        <p:spPr bwMode="auto">
          <a:xfrm flipV="1">
            <a:off x="7848600" y="2971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6" name="Line 38"/>
          <p:cNvSpPr>
            <a:spLocks noChangeShapeType="1"/>
          </p:cNvSpPr>
          <p:nvPr/>
        </p:nvSpPr>
        <p:spPr bwMode="auto">
          <a:xfrm flipV="1">
            <a:off x="5715000" y="4114800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7" name="Line 39"/>
          <p:cNvSpPr>
            <a:spLocks noChangeShapeType="1"/>
          </p:cNvSpPr>
          <p:nvPr/>
        </p:nvSpPr>
        <p:spPr bwMode="auto">
          <a:xfrm>
            <a:off x="26670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8" name="Line 40"/>
          <p:cNvSpPr>
            <a:spLocks noChangeShapeType="1"/>
          </p:cNvSpPr>
          <p:nvPr/>
        </p:nvSpPr>
        <p:spPr bwMode="auto">
          <a:xfrm flipH="1" flipV="1">
            <a:off x="2667000" y="2133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9" name="Line 41"/>
          <p:cNvSpPr>
            <a:spLocks noChangeShapeType="1"/>
          </p:cNvSpPr>
          <p:nvPr/>
        </p:nvSpPr>
        <p:spPr bwMode="auto">
          <a:xfrm flipV="1">
            <a:off x="5791200" y="26670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0" name="Line 42"/>
          <p:cNvSpPr>
            <a:spLocks noChangeShapeType="1"/>
          </p:cNvSpPr>
          <p:nvPr/>
        </p:nvSpPr>
        <p:spPr bwMode="auto">
          <a:xfrm flipV="1">
            <a:off x="3810000" y="35052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1" name="Line 43"/>
          <p:cNvSpPr>
            <a:spLocks noChangeShapeType="1"/>
          </p:cNvSpPr>
          <p:nvPr/>
        </p:nvSpPr>
        <p:spPr bwMode="auto">
          <a:xfrm>
            <a:off x="6248400" y="190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2" name="Line 44"/>
          <p:cNvSpPr>
            <a:spLocks noChangeShapeType="1"/>
          </p:cNvSpPr>
          <p:nvPr/>
        </p:nvSpPr>
        <p:spPr bwMode="auto">
          <a:xfrm flipV="1">
            <a:off x="4343400" y="57912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3" name="Line 45"/>
          <p:cNvSpPr>
            <a:spLocks noChangeShapeType="1"/>
          </p:cNvSpPr>
          <p:nvPr/>
        </p:nvSpPr>
        <p:spPr bwMode="auto">
          <a:xfrm flipV="1">
            <a:off x="1371600" y="57912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4" name="Line 46"/>
          <p:cNvSpPr>
            <a:spLocks noChangeShapeType="1"/>
          </p:cNvSpPr>
          <p:nvPr/>
        </p:nvSpPr>
        <p:spPr bwMode="auto">
          <a:xfrm>
            <a:off x="74676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5" name="Line 47"/>
          <p:cNvSpPr>
            <a:spLocks noChangeShapeType="1"/>
          </p:cNvSpPr>
          <p:nvPr/>
        </p:nvSpPr>
        <p:spPr bwMode="auto">
          <a:xfrm>
            <a:off x="8153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6" name="Line 48"/>
          <p:cNvSpPr>
            <a:spLocks noChangeShapeType="1"/>
          </p:cNvSpPr>
          <p:nvPr/>
        </p:nvSpPr>
        <p:spPr bwMode="auto">
          <a:xfrm flipH="1" flipV="1">
            <a:off x="6629400" y="1905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7" name="Rectangle 49"/>
          <p:cNvSpPr>
            <a:spLocks noChangeArrowheads="1"/>
          </p:cNvSpPr>
          <p:nvPr/>
        </p:nvSpPr>
        <p:spPr bwMode="auto">
          <a:xfrm>
            <a:off x="6934200" y="60960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L_name</a:t>
            </a:r>
          </a:p>
        </p:txBody>
      </p:sp>
      <p:sp>
        <p:nvSpPr>
          <p:cNvPr id="61488" name="Rectangle 50"/>
          <p:cNvSpPr>
            <a:spLocks noChangeArrowheads="1"/>
          </p:cNvSpPr>
          <p:nvPr/>
        </p:nvSpPr>
        <p:spPr bwMode="auto">
          <a:xfrm>
            <a:off x="5943600" y="3581400"/>
            <a:ext cx="1268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 dirty="0">
                <a:latin typeface="Times New Roman" panose="02020603050405020304" pitchFamily="18" charset="0"/>
                <a:ea typeface="宋体" panose="02010600030101010101" pitchFamily="2" charset="-122"/>
              </a:rPr>
              <a:t>Hours</a:t>
            </a:r>
          </a:p>
        </p:txBody>
      </p:sp>
      <p:sp>
        <p:nvSpPr>
          <p:cNvPr id="61489" name="Line 51"/>
          <p:cNvSpPr>
            <a:spLocks noChangeShapeType="1"/>
          </p:cNvSpPr>
          <p:nvPr/>
        </p:nvSpPr>
        <p:spPr bwMode="auto">
          <a:xfrm>
            <a:off x="5562600" y="35814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0" name="Oval 52"/>
          <p:cNvSpPr>
            <a:spLocks noChangeArrowheads="1"/>
          </p:cNvSpPr>
          <p:nvPr/>
        </p:nvSpPr>
        <p:spPr bwMode="auto">
          <a:xfrm>
            <a:off x="4114800" y="4267200"/>
            <a:ext cx="17526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91" name="Oval 53"/>
          <p:cNvSpPr>
            <a:spLocks noChangeArrowheads="1"/>
          </p:cNvSpPr>
          <p:nvPr/>
        </p:nvSpPr>
        <p:spPr bwMode="auto">
          <a:xfrm>
            <a:off x="4038600" y="4191000"/>
            <a:ext cx="19050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92" name="Line 54"/>
          <p:cNvSpPr>
            <a:spLocks noChangeShapeType="1"/>
          </p:cNvSpPr>
          <p:nvPr/>
        </p:nvSpPr>
        <p:spPr bwMode="auto">
          <a:xfrm>
            <a:off x="3886200" y="41148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3" name="Line 55"/>
          <p:cNvSpPr>
            <a:spLocks noChangeShapeType="1"/>
          </p:cNvSpPr>
          <p:nvPr/>
        </p:nvSpPr>
        <p:spPr bwMode="auto">
          <a:xfrm>
            <a:off x="1295400" y="41148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4" name="Line 56"/>
          <p:cNvSpPr>
            <a:spLocks noChangeShapeType="1"/>
          </p:cNvSpPr>
          <p:nvPr/>
        </p:nvSpPr>
        <p:spPr bwMode="auto">
          <a:xfrm flipV="1">
            <a:off x="1143000" y="4495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5" name="Line 57"/>
          <p:cNvSpPr>
            <a:spLocks noChangeShapeType="1"/>
          </p:cNvSpPr>
          <p:nvPr/>
        </p:nvSpPr>
        <p:spPr bwMode="auto">
          <a:xfrm>
            <a:off x="1447800" y="3429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6" name="Text Box 58"/>
          <p:cNvSpPr txBox="1">
            <a:spLocks noChangeArrowheads="1"/>
          </p:cNvSpPr>
          <p:nvPr/>
        </p:nvSpPr>
        <p:spPr bwMode="auto">
          <a:xfrm>
            <a:off x="2651125" y="2022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97" name="Text Box 59"/>
          <p:cNvSpPr txBox="1">
            <a:spLocks noChangeArrowheads="1"/>
          </p:cNvSpPr>
          <p:nvPr/>
        </p:nvSpPr>
        <p:spPr bwMode="auto">
          <a:xfrm>
            <a:off x="2651125" y="3267075"/>
            <a:ext cx="481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61498" name="Text Box 60"/>
          <p:cNvSpPr txBox="1">
            <a:spLocks noChangeArrowheads="1"/>
          </p:cNvSpPr>
          <p:nvPr/>
        </p:nvSpPr>
        <p:spPr bwMode="auto">
          <a:xfrm>
            <a:off x="3733800" y="32766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61499" name="Text Box 61"/>
          <p:cNvSpPr txBox="1">
            <a:spLocks noChangeArrowheads="1"/>
          </p:cNvSpPr>
          <p:nvPr/>
        </p:nvSpPr>
        <p:spPr bwMode="auto">
          <a:xfrm>
            <a:off x="6096000" y="2438400"/>
            <a:ext cx="34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61500" name="AutoShape 62"/>
          <p:cNvSpPr>
            <a:spLocks noChangeArrowheads="1"/>
          </p:cNvSpPr>
          <p:nvPr/>
        </p:nvSpPr>
        <p:spPr bwMode="auto">
          <a:xfrm rot="-4582092">
            <a:off x="1710531" y="4690269"/>
            <a:ext cx="612775" cy="223838"/>
          </a:xfrm>
          <a:prstGeom prst="rightArrow">
            <a:avLst>
              <a:gd name="adj1" fmla="val 50000"/>
              <a:gd name="adj2" fmla="val 684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501" name="AutoShape 63"/>
          <p:cNvSpPr>
            <a:spLocks noChangeArrowheads="1"/>
          </p:cNvSpPr>
          <p:nvPr/>
        </p:nvSpPr>
        <p:spPr bwMode="auto">
          <a:xfrm rot="-6187411">
            <a:off x="3082131" y="4690269"/>
            <a:ext cx="612775" cy="223838"/>
          </a:xfrm>
          <a:prstGeom prst="rightArrow">
            <a:avLst>
              <a:gd name="adj1" fmla="val 50000"/>
              <a:gd name="adj2" fmla="val 684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743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1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4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1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1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1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1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14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4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1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1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1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14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14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14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1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1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1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1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1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1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1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61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1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61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14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614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1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614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14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1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614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1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61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61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6" grpId="0"/>
      <p:bldP spid="61447" grpId="0" animBg="1"/>
      <p:bldP spid="61448" grpId="0"/>
      <p:bldP spid="61449" grpId="0" animBg="1"/>
      <p:bldP spid="61450" grpId="0"/>
      <p:bldP spid="61451" grpId="0" animBg="1"/>
      <p:bldP spid="61460" grpId="0" animBg="1"/>
      <p:bldP spid="61461" grpId="0"/>
      <p:bldP spid="61462" grpId="0"/>
      <p:bldP spid="61463" grpId="0"/>
      <p:bldP spid="61472" grpId="0"/>
      <p:bldP spid="61473" grpId="0"/>
      <p:bldP spid="61481" grpId="0" animBg="1"/>
      <p:bldP spid="61482" grpId="0" animBg="1"/>
      <p:bldP spid="61483" grpId="0" animBg="1"/>
      <p:bldP spid="61484" grpId="0" animBg="1"/>
      <p:bldP spid="61485" grpId="0" animBg="1"/>
      <p:bldP spid="61486" grpId="0" animBg="1"/>
      <p:bldP spid="61487" grpId="0"/>
      <p:bldP spid="61488" grpId="0"/>
      <p:bldP spid="61489" grpId="0" animBg="1"/>
      <p:bldP spid="61490" grpId="0" animBg="1"/>
      <p:bldP spid="61491" grpId="0" animBg="1"/>
      <p:bldP spid="61492" grpId="0" animBg="1"/>
      <p:bldP spid="61493" grpId="0" animBg="1"/>
      <p:bldP spid="61494" grpId="0" animBg="1"/>
      <p:bldP spid="6149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28600"/>
            <a:ext cx="8534400" cy="838200"/>
          </a:xfrm>
        </p:spPr>
        <p:txBody>
          <a:bodyPr/>
          <a:lstStyle/>
          <a:p>
            <a:r>
              <a:rPr lang="en-US" altLang="zh-CN" sz="3400" smtClean="0">
                <a:ea typeface="宋体" panose="02010600030101010101" pitchFamily="2" charset="-122"/>
              </a:rPr>
              <a:t>An Example EER Diagram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mtClean="0"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1981200" y="1447800"/>
            <a:ext cx="1371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Cities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1905000" y="1447800"/>
            <a:ext cx="1447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3810000" y="1219200"/>
            <a:ext cx="1628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C_name</a:t>
            </a:r>
          </a:p>
        </p:txBody>
      </p:sp>
      <p:sp>
        <p:nvSpPr>
          <p:cNvPr id="61447" name="Line 7"/>
          <p:cNvSpPr>
            <a:spLocks noChangeShapeType="1"/>
          </p:cNvSpPr>
          <p:nvPr/>
        </p:nvSpPr>
        <p:spPr bwMode="auto">
          <a:xfrm>
            <a:off x="3352800" y="1524000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228600" y="3048000"/>
            <a:ext cx="1222375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Emp#</a:t>
            </a:r>
          </a:p>
          <a:p>
            <a:pPr>
              <a:lnSpc>
                <a:spcPct val="120000"/>
              </a:lnSpc>
            </a:pPr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Age</a:t>
            </a:r>
          </a:p>
        </p:txBody>
      </p:sp>
      <p:sp>
        <p:nvSpPr>
          <p:cNvPr id="61449" name="Line 9"/>
          <p:cNvSpPr>
            <a:spLocks noChangeShapeType="1"/>
          </p:cNvSpPr>
          <p:nvPr/>
        </p:nvSpPr>
        <p:spPr bwMode="auto">
          <a:xfrm>
            <a:off x="4038600" y="1828800"/>
            <a:ext cx="129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0" name="Rectangle 10"/>
          <p:cNvSpPr>
            <a:spLocks noChangeArrowheads="1"/>
          </p:cNvSpPr>
          <p:nvPr/>
        </p:nvSpPr>
        <p:spPr bwMode="auto">
          <a:xfrm>
            <a:off x="3810000" y="1905000"/>
            <a:ext cx="207803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Population</a:t>
            </a:r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 flipH="1" flipV="1">
            <a:off x="3352800" y="1973263"/>
            <a:ext cx="457200" cy="1603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52" name="Rectangle 12"/>
          <p:cNvSpPr>
            <a:spLocks noChangeArrowheads="1"/>
          </p:cNvSpPr>
          <p:nvPr/>
        </p:nvSpPr>
        <p:spPr bwMode="auto">
          <a:xfrm>
            <a:off x="1600200" y="38100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 dirty="0">
                <a:latin typeface="Times New Roman" panose="02020603050405020304" pitchFamily="18" charset="0"/>
                <a:ea typeface="宋体" panose="02010600030101010101" pitchFamily="2" charset="-122"/>
              </a:rPr>
              <a:t>Employees</a:t>
            </a:r>
          </a:p>
        </p:txBody>
      </p:sp>
      <p:sp>
        <p:nvSpPr>
          <p:cNvPr id="61453" name="Rectangle 13"/>
          <p:cNvSpPr>
            <a:spLocks noChangeArrowheads="1"/>
          </p:cNvSpPr>
          <p:nvPr/>
        </p:nvSpPr>
        <p:spPr bwMode="auto">
          <a:xfrm>
            <a:off x="1524000" y="3810000"/>
            <a:ext cx="23622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4" name="Rectangle 14"/>
          <p:cNvSpPr>
            <a:spLocks noChangeArrowheads="1"/>
          </p:cNvSpPr>
          <p:nvPr/>
        </p:nvSpPr>
        <p:spPr bwMode="auto">
          <a:xfrm>
            <a:off x="3810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Managers</a:t>
            </a:r>
          </a:p>
        </p:txBody>
      </p:sp>
      <p:sp>
        <p:nvSpPr>
          <p:cNvPr id="61455" name="Rectangle 15"/>
          <p:cNvSpPr>
            <a:spLocks noChangeArrowheads="1"/>
          </p:cNvSpPr>
          <p:nvPr/>
        </p:nvSpPr>
        <p:spPr bwMode="auto">
          <a:xfrm>
            <a:off x="304800" y="5105400"/>
            <a:ext cx="22098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6" name="Rectangle 16"/>
          <p:cNvSpPr>
            <a:spLocks noChangeArrowheads="1"/>
          </p:cNvSpPr>
          <p:nvPr/>
        </p:nvSpPr>
        <p:spPr bwMode="auto">
          <a:xfrm>
            <a:off x="2971800" y="5105400"/>
            <a:ext cx="2971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Programmers</a:t>
            </a:r>
          </a:p>
        </p:txBody>
      </p:sp>
      <p:sp>
        <p:nvSpPr>
          <p:cNvPr id="61457" name="Rectangle 17"/>
          <p:cNvSpPr>
            <a:spLocks noChangeArrowheads="1"/>
          </p:cNvSpPr>
          <p:nvPr/>
        </p:nvSpPr>
        <p:spPr bwMode="auto">
          <a:xfrm>
            <a:off x="2895600" y="5105400"/>
            <a:ext cx="3048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8" name="AutoShape 20"/>
          <p:cNvSpPr>
            <a:spLocks noChangeArrowheads="1"/>
          </p:cNvSpPr>
          <p:nvPr/>
        </p:nvSpPr>
        <p:spPr bwMode="auto">
          <a:xfrm>
            <a:off x="1600200" y="2514600"/>
            <a:ext cx="2209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59" name="Text Box 21"/>
          <p:cNvSpPr txBox="1">
            <a:spLocks noChangeArrowheads="1"/>
          </p:cNvSpPr>
          <p:nvPr/>
        </p:nvSpPr>
        <p:spPr bwMode="auto">
          <a:xfrm>
            <a:off x="1981200" y="2590800"/>
            <a:ext cx="13350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live_in</a:t>
            </a:r>
          </a:p>
        </p:txBody>
      </p:sp>
      <p:sp>
        <p:nvSpPr>
          <p:cNvPr id="61460" name="Line 22"/>
          <p:cNvSpPr>
            <a:spLocks noChangeShapeType="1"/>
          </p:cNvSpPr>
          <p:nvPr/>
        </p:nvSpPr>
        <p:spPr bwMode="auto">
          <a:xfrm>
            <a:off x="304800" y="36576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61" name="Rectangle 23"/>
          <p:cNvSpPr>
            <a:spLocks noChangeArrowheads="1"/>
          </p:cNvSpPr>
          <p:nvPr/>
        </p:nvSpPr>
        <p:spPr bwMode="auto">
          <a:xfrm>
            <a:off x="4191000" y="41910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Hobbies</a:t>
            </a:r>
          </a:p>
        </p:txBody>
      </p:sp>
      <p:sp>
        <p:nvSpPr>
          <p:cNvPr id="61462" name="Rectangle 24"/>
          <p:cNvSpPr>
            <a:spLocks noChangeArrowheads="1"/>
          </p:cNvSpPr>
          <p:nvPr/>
        </p:nvSpPr>
        <p:spPr bwMode="auto">
          <a:xfrm>
            <a:off x="685800" y="6096000"/>
            <a:ext cx="14255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Budget</a:t>
            </a:r>
          </a:p>
        </p:txBody>
      </p:sp>
      <p:sp>
        <p:nvSpPr>
          <p:cNvPr id="61463" name="Rectangle 25"/>
          <p:cNvSpPr>
            <a:spLocks noChangeArrowheads="1"/>
          </p:cNvSpPr>
          <p:nvPr/>
        </p:nvSpPr>
        <p:spPr bwMode="auto">
          <a:xfrm>
            <a:off x="2514600" y="6096000"/>
            <a:ext cx="370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years_of_experience</a:t>
            </a:r>
          </a:p>
        </p:txBody>
      </p:sp>
      <p:sp>
        <p:nvSpPr>
          <p:cNvPr id="61464" name="Rectangle 26"/>
          <p:cNvSpPr>
            <a:spLocks noChangeArrowheads="1"/>
          </p:cNvSpPr>
          <p:nvPr/>
        </p:nvSpPr>
        <p:spPr bwMode="auto">
          <a:xfrm>
            <a:off x="6858000" y="2286000"/>
            <a:ext cx="1905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Projects</a:t>
            </a:r>
          </a:p>
        </p:txBody>
      </p:sp>
      <p:sp>
        <p:nvSpPr>
          <p:cNvPr id="61465" name="Rectangle 27"/>
          <p:cNvSpPr>
            <a:spLocks noChangeArrowheads="1"/>
          </p:cNvSpPr>
          <p:nvPr/>
        </p:nvSpPr>
        <p:spPr bwMode="auto">
          <a:xfrm>
            <a:off x="6781800" y="2286000"/>
            <a:ext cx="1905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6" name="AutoShape 28"/>
          <p:cNvSpPr>
            <a:spLocks noChangeArrowheads="1"/>
          </p:cNvSpPr>
          <p:nvPr/>
        </p:nvSpPr>
        <p:spPr bwMode="auto">
          <a:xfrm>
            <a:off x="3962400" y="2895600"/>
            <a:ext cx="25908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7" name="Text Box 29"/>
          <p:cNvSpPr txBox="1">
            <a:spLocks noChangeArrowheads="1"/>
          </p:cNvSpPr>
          <p:nvPr/>
        </p:nvSpPr>
        <p:spPr bwMode="auto">
          <a:xfrm>
            <a:off x="4343400" y="2971800"/>
            <a:ext cx="1719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work_on</a:t>
            </a:r>
          </a:p>
        </p:txBody>
      </p:sp>
      <p:sp>
        <p:nvSpPr>
          <p:cNvPr id="61468" name="AutoShape 30"/>
          <p:cNvSpPr>
            <a:spLocks noChangeArrowheads="1"/>
          </p:cNvSpPr>
          <p:nvPr/>
        </p:nvSpPr>
        <p:spPr bwMode="auto">
          <a:xfrm>
            <a:off x="7086600" y="3733800"/>
            <a:ext cx="1524000" cy="762000"/>
          </a:xfrm>
          <a:prstGeom prst="diamond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69" name="Text Box 31"/>
          <p:cNvSpPr txBox="1">
            <a:spLocks noChangeArrowheads="1"/>
          </p:cNvSpPr>
          <p:nvPr/>
        </p:nvSpPr>
        <p:spPr bwMode="auto">
          <a:xfrm>
            <a:off x="7467600" y="3810000"/>
            <a:ext cx="7493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use</a:t>
            </a:r>
          </a:p>
        </p:txBody>
      </p:sp>
      <p:sp>
        <p:nvSpPr>
          <p:cNvPr id="61470" name="Rectangle 32"/>
          <p:cNvSpPr>
            <a:spLocks noChangeArrowheads="1"/>
          </p:cNvSpPr>
          <p:nvPr/>
        </p:nvSpPr>
        <p:spPr bwMode="auto">
          <a:xfrm>
            <a:off x="6553200" y="5105400"/>
            <a:ext cx="23622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600" b="1">
                <a:latin typeface="Times New Roman" panose="02020603050405020304" pitchFamily="18" charset="0"/>
                <a:ea typeface="宋体" panose="02010600030101010101" pitchFamily="2" charset="-122"/>
              </a:rPr>
              <a:t>Languages</a:t>
            </a:r>
          </a:p>
        </p:txBody>
      </p:sp>
      <p:sp>
        <p:nvSpPr>
          <p:cNvPr id="61471" name="Rectangle 33"/>
          <p:cNvSpPr>
            <a:spLocks noChangeArrowheads="1"/>
          </p:cNvSpPr>
          <p:nvPr/>
        </p:nvSpPr>
        <p:spPr bwMode="auto">
          <a:xfrm>
            <a:off x="6553200" y="5105400"/>
            <a:ext cx="2286000" cy="676275"/>
          </a:xfrm>
          <a:prstGeom prst="rect">
            <a:avLst/>
          </a:prstGeom>
          <a:noFill/>
          <a:ln w="158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72" name="Rectangle 34"/>
          <p:cNvSpPr>
            <a:spLocks noChangeArrowheads="1"/>
          </p:cNvSpPr>
          <p:nvPr/>
        </p:nvSpPr>
        <p:spPr bwMode="auto">
          <a:xfrm>
            <a:off x="6096000" y="1295400"/>
            <a:ext cx="11541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Proj#</a:t>
            </a:r>
          </a:p>
        </p:txBody>
      </p:sp>
      <p:sp>
        <p:nvSpPr>
          <p:cNvPr id="61473" name="Rectangle 35"/>
          <p:cNvSpPr>
            <a:spLocks noChangeArrowheads="1"/>
          </p:cNvSpPr>
          <p:nvPr/>
        </p:nvSpPr>
        <p:spPr bwMode="auto">
          <a:xfrm>
            <a:off x="7620000" y="1295400"/>
            <a:ext cx="1200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Name</a:t>
            </a:r>
          </a:p>
        </p:txBody>
      </p:sp>
      <p:sp>
        <p:nvSpPr>
          <p:cNvPr id="61474" name="Line 36"/>
          <p:cNvSpPr>
            <a:spLocks noChangeShapeType="1"/>
          </p:cNvSpPr>
          <p:nvPr/>
        </p:nvSpPr>
        <p:spPr bwMode="auto">
          <a:xfrm>
            <a:off x="7848600" y="44958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5" name="Line 37"/>
          <p:cNvSpPr>
            <a:spLocks noChangeShapeType="1"/>
          </p:cNvSpPr>
          <p:nvPr/>
        </p:nvSpPr>
        <p:spPr bwMode="auto">
          <a:xfrm flipV="1">
            <a:off x="7848600" y="2971800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6" name="Line 38"/>
          <p:cNvSpPr>
            <a:spLocks noChangeShapeType="1"/>
          </p:cNvSpPr>
          <p:nvPr/>
        </p:nvSpPr>
        <p:spPr bwMode="auto">
          <a:xfrm flipV="1">
            <a:off x="5715000" y="4114800"/>
            <a:ext cx="1371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7" name="Line 39"/>
          <p:cNvSpPr>
            <a:spLocks noChangeShapeType="1"/>
          </p:cNvSpPr>
          <p:nvPr/>
        </p:nvSpPr>
        <p:spPr bwMode="auto">
          <a:xfrm>
            <a:off x="2667000" y="3276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8" name="Line 40"/>
          <p:cNvSpPr>
            <a:spLocks noChangeShapeType="1"/>
          </p:cNvSpPr>
          <p:nvPr/>
        </p:nvSpPr>
        <p:spPr bwMode="auto">
          <a:xfrm flipH="1" flipV="1">
            <a:off x="2667000" y="21336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79" name="Line 41"/>
          <p:cNvSpPr>
            <a:spLocks noChangeShapeType="1"/>
          </p:cNvSpPr>
          <p:nvPr/>
        </p:nvSpPr>
        <p:spPr bwMode="auto">
          <a:xfrm flipV="1">
            <a:off x="5791200" y="2667000"/>
            <a:ext cx="990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0" name="Line 42"/>
          <p:cNvSpPr>
            <a:spLocks noChangeShapeType="1"/>
          </p:cNvSpPr>
          <p:nvPr/>
        </p:nvSpPr>
        <p:spPr bwMode="auto">
          <a:xfrm flipV="1">
            <a:off x="3810000" y="3505200"/>
            <a:ext cx="838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1" name="Line 43"/>
          <p:cNvSpPr>
            <a:spLocks noChangeShapeType="1"/>
          </p:cNvSpPr>
          <p:nvPr/>
        </p:nvSpPr>
        <p:spPr bwMode="auto">
          <a:xfrm>
            <a:off x="6248400" y="1905000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2" name="Line 44"/>
          <p:cNvSpPr>
            <a:spLocks noChangeShapeType="1"/>
          </p:cNvSpPr>
          <p:nvPr/>
        </p:nvSpPr>
        <p:spPr bwMode="auto">
          <a:xfrm flipV="1">
            <a:off x="4343400" y="57912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3" name="Line 45"/>
          <p:cNvSpPr>
            <a:spLocks noChangeShapeType="1"/>
          </p:cNvSpPr>
          <p:nvPr/>
        </p:nvSpPr>
        <p:spPr bwMode="auto">
          <a:xfrm flipV="1">
            <a:off x="1371600" y="5791200"/>
            <a:ext cx="762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4" name="Line 46"/>
          <p:cNvSpPr>
            <a:spLocks noChangeShapeType="1"/>
          </p:cNvSpPr>
          <p:nvPr/>
        </p:nvSpPr>
        <p:spPr bwMode="auto">
          <a:xfrm>
            <a:off x="7467600" y="5791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5" name="Line 47"/>
          <p:cNvSpPr>
            <a:spLocks noChangeShapeType="1"/>
          </p:cNvSpPr>
          <p:nvPr/>
        </p:nvSpPr>
        <p:spPr bwMode="auto">
          <a:xfrm>
            <a:off x="8153400" y="19050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6" name="Line 48"/>
          <p:cNvSpPr>
            <a:spLocks noChangeShapeType="1"/>
          </p:cNvSpPr>
          <p:nvPr/>
        </p:nvSpPr>
        <p:spPr bwMode="auto">
          <a:xfrm flipH="1" flipV="1">
            <a:off x="6629400" y="1905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87" name="Rectangle 49"/>
          <p:cNvSpPr>
            <a:spLocks noChangeArrowheads="1"/>
          </p:cNvSpPr>
          <p:nvPr/>
        </p:nvSpPr>
        <p:spPr bwMode="auto">
          <a:xfrm>
            <a:off x="6934200" y="6096000"/>
            <a:ext cx="16065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L_name</a:t>
            </a:r>
          </a:p>
        </p:txBody>
      </p:sp>
      <p:sp>
        <p:nvSpPr>
          <p:cNvPr id="61488" name="Rectangle 50"/>
          <p:cNvSpPr>
            <a:spLocks noChangeArrowheads="1"/>
          </p:cNvSpPr>
          <p:nvPr/>
        </p:nvSpPr>
        <p:spPr bwMode="auto">
          <a:xfrm>
            <a:off x="5943600" y="3581400"/>
            <a:ext cx="12684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3200" b="1">
                <a:latin typeface="Times New Roman" panose="02020603050405020304" pitchFamily="18" charset="0"/>
                <a:ea typeface="宋体" panose="02010600030101010101" pitchFamily="2" charset="-122"/>
              </a:rPr>
              <a:t>Hours</a:t>
            </a:r>
          </a:p>
        </p:txBody>
      </p:sp>
      <p:sp>
        <p:nvSpPr>
          <p:cNvPr id="61489" name="Line 51"/>
          <p:cNvSpPr>
            <a:spLocks noChangeShapeType="1"/>
          </p:cNvSpPr>
          <p:nvPr/>
        </p:nvSpPr>
        <p:spPr bwMode="auto">
          <a:xfrm>
            <a:off x="5562600" y="35814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0" name="Oval 52"/>
          <p:cNvSpPr>
            <a:spLocks noChangeArrowheads="1"/>
          </p:cNvSpPr>
          <p:nvPr/>
        </p:nvSpPr>
        <p:spPr bwMode="auto">
          <a:xfrm>
            <a:off x="4114800" y="4267200"/>
            <a:ext cx="1752600" cy="457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91" name="Oval 53"/>
          <p:cNvSpPr>
            <a:spLocks noChangeArrowheads="1"/>
          </p:cNvSpPr>
          <p:nvPr/>
        </p:nvSpPr>
        <p:spPr bwMode="auto">
          <a:xfrm>
            <a:off x="4038600" y="4191000"/>
            <a:ext cx="1905000" cy="609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492" name="Line 54"/>
          <p:cNvSpPr>
            <a:spLocks noChangeShapeType="1"/>
          </p:cNvSpPr>
          <p:nvPr/>
        </p:nvSpPr>
        <p:spPr bwMode="auto">
          <a:xfrm>
            <a:off x="3886200" y="4114800"/>
            <a:ext cx="609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3" name="Line 55"/>
          <p:cNvSpPr>
            <a:spLocks noChangeShapeType="1"/>
          </p:cNvSpPr>
          <p:nvPr/>
        </p:nvSpPr>
        <p:spPr bwMode="auto">
          <a:xfrm>
            <a:off x="1295400" y="4114800"/>
            <a:ext cx="2286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4" name="Line 56"/>
          <p:cNvSpPr>
            <a:spLocks noChangeShapeType="1"/>
          </p:cNvSpPr>
          <p:nvPr/>
        </p:nvSpPr>
        <p:spPr bwMode="auto">
          <a:xfrm flipV="1">
            <a:off x="1143000" y="4495800"/>
            <a:ext cx="3810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5" name="Line 57"/>
          <p:cNvSpPr>
            <a:spLocks noChangeShapeType="1"/>
          </p:cNvSpPr>
          <p:nvPr/>
        </p:nvSpPr>
        <p:spPr bwMode="auto">
          <a:xfrm>
            <a:off x="1447800" y="3429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496" name="Text Box 58"/>
          <p:cNvSpPr txBox="1">
            <a:spLocks noChangeArrowheads="1"/>
          </p:cNvSpPr>
          <p:nvPr/>
        </p:nvSpPr>
        <p:spPr bwMode="auto">
          <a:xfrm>
            <a:off x="2651125" y="20224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400" b="1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</a:p>
        </p:txBody>
      </p:sp>
      <p:sp>
        <p:nvSpPr>
          <p:cNvPr id="61497" name="Text Box 59"/>
          <p:cNvSpPr txBox="1">
            <a:spLocks noChangeArrowheads="1"/>
          </p:cNvSpPr>
          <p:nvPr/>
        </p:nvSpPr>
        <p:spPr bwMode="auto">
          <a:xfrm>
            <a:off x="2651125" y="3267075"/>
            <a:ext cx="4810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m</a:t>
            </a:r>
          </a:p>
        </p:txBody>
      </p:sp>
      <p:sp>
        <p:nvSpPr>
          <p:cNvPr id="61498" name="Text Box 60"/>
          <p:cNvSpPr txBox="1">
            <a:spLocks noChangeArrowheads="1"/>
          </p:cNvSpPr>
          <p:nvPr/>
        </p:nvSpPr>
        <p:spPr bwMode="auto">
          <a:xfrm>
            <a:off x="3733800" y="3276600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</a:p>
        </p:txBody>
      </p:sp>
      <p:sp>
        <p:nvSpPr>
          <p:cNvPr id="61499" name="Text Box 61"/>
          <p:cNvSpPr txBox="1">
            <a:spLocks noChangeArrowheads="1"/>
          </p:cNvSpPr>
          <p:nvPr/>
        </p:nvSpPr>
        <p:spPr bwMode="auto">
          <a:xfrm>
            <a:off x="6096000" y="2438400"/>
            <a:ext cx="341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zh-CN" sz="2800" b="1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61500" name="AutoShape 62"/>
          <p:cNvSpPr>
            <a:spLocks noChangeArrowheads="1"/>
          </p:cNvSpPr>
          <p:nvPr/>
        </p:nvSpPr>
        <p:spPr bwMode="auto">
          <a:xfrm rot="-4582092">
            <a:off x="1710531" y="4690269"/>
            <a:ext cx="612775" cy="223838"/>
          </a:xfrm>
          <a:prstGeom prst="rightArrow">
            <a:avLst>
              <a:gd name="adj1" fmla="val 50000"/>
              <a:gd name="adj2" fmla="val 684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  <p:sp>
        <p:nvSpPr>
          <p:cNvPr id="61501" name="AutoShape 63"/>
          <p:cNvSpPr>
            <a:spLocks noChangeArrowheads="1"/>
          </p:cNvSpPr>
          <p:nvPr/>
        </p:nvSpPr>
        <p:spPr bwMode="auto">
          <a:xfrm rot="-6187411">
            <a:off x="3082131" y="4690269"/>
            <a:ext cx="612775" cy="223838"/>
          </a:xfrm>
          <a:prstGeom prst="rightArrow">
            <a:avLst>
              <a:gd name="adj1" fmla="val 50000"/>
              <a:gd name="adj2" fmla="val 6844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03241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smtClean="0"/>
              <a:t>模型</a:t>
            </a:r>
            <a:r>
              <a:rPr lang="zh-CN" altLang="en-US" sz="3600"/>
              <a:t>（示例）</a:t>
            </a:r>
            <a:endParaRPr lang="zh-CN" altLang="en-US" sz="3600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028" y="1402642"/>
            <a:ext cx="7592485" cy="77163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891" y="2352610"/>
            <a:ext cx="7621064" cy="93358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841"/>
          <a:stretch/>
        </p:blipFill>
        <p:spPr>
          <a:xfrm>
            <a:off x="2982134" y="2000342"/>
            <a:ext cx="5910039" cy="48576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97" y="3883890"/>
            <a:ext cx="3581900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8594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smtClean="0"/>
              <a:t>模型</a:t>
            </a:r>
            <a:r>
              <a:rPr lang="zh-CN" altLang="en-US" sz="3600"/>
              <a:t>（示例）</a:t>
            </a:r>
            <a:endParaRPr lang="zh-CN" altLang="en-US" sz="3600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95"/>
          <a:stretch/>
        </p:blipFill>
        <p:spPr>
          <a:xfrm>
            <a:off x="337859" y="1407459"/>
            <a:ext cx="8002117" cy="2652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715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zh-CN" sz="3600" dirty="0" smtClean="0"/>
              <a:t>E-R</a:t>
            </a:r>
            <a:r>
              <a:rPr lang="zh-CN" altLang="en-US" sz="3600" smtClean="0"/>
              <a:t>模型</a:t>
            </a:r>
            <a:r>
              <a:rPr lang="zh-CN" altLang="en-US" sz="3600"/>
              <a:t>（示例）</a:t>
            </a:r>
            <a:endParaRPr lang="zh-CN" altLang="en-US" sz="3600" dirty="0" smtClean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113" y="0"/>
            <a:ext cx="7154273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5554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1208094852"/>
  <p:tag name="MH_LIBRARY" val="GRAPHIC"/>
  <p:tag name="MH_TYPE" val="Text"/>
  <p:tag name="MH_ORD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1208094852"/>
  <p:tag name="MH_LIBRARY" val="GRAPHIC"/>
  <p:tag name="MH_TYPE" val="SubTitle"/>
  <p:tag name="MH_ORDE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1208094852"/>
  <p:tag name="MH_LIBRARY" val="GRAPHIC"/>
  <p:tag name="MH_TYPE" val="Other"/>
  <p:tag name="MH_ORDER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1208094852"/>
  <p:tag name="MH_LIBRARY" val="GRAPHIC"/>
  <p:tag name="MH_TYPE" val="Text"/>
  <p:tag name="MH_ORDER" val="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1208094852"/>
  <p:tag name="MH_LIBRARY" val="GRAPHIC"/>
  <p:tag name="MH_TYPE" val="SubTitle"/>
  <p:tag name="MH_ORDER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1208094852"/>
  <p:tag name="MH_LIBRARY" val="GRAPHIC"/>
  <p:tag name="MH_TYPE" val="Other"/>
  <p:tag name="MH_ORDER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1208094852"/>
  <p:tag name="MH_LIBRARY" val="GRAPHIC"/>
  <p:tag name="MH_TYPE" val="Text"/>
  <p:tag name="MH_ORDER" val="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1208094852"/>
  <p:tag name="MH_LIBRARY" val="GRAPHIC"/>
  <p:tag name="MH_TYPE" val="SubTitle"/>
  <p:tag name="MH_ORDER" val="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201208094852"/>
  <p:tag name="MH_LIBRARY" val="GRAPHIC"/>
  <p:tag name="MH_TYPE" val="Other"/>
  <p:tag name="MH_ORDER" val="3"/>
</p:tagLst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3046</TotalTime>
  <Words>2308</Words>
  <Application>Microsoft Office PowerPoint</Application>
  <PresentationFormat>全屏显示(4:3)</PresentationFormat>
  <Paragraphs>566</Paragraphs>
  <Slides>49</Slides>
  <Notes>22</Notes>
  <HiddenSlides>7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6" baseType="lpstr">
      <vt:lpstr>宋体</vt:lpstr>
      <vt:lpstr>Arial</vt:lpstr>
      <vt:lpstr>Calibri</vt:lpstr>
      <vt:lpstr>Calibri Light</vt:lpstr>
      <vt:lpstr>Times New Roman</vt:lpstr>
      <vt:lpstr>Wingdings</vt:lpstr>
      <vt:lpstr>Office 主题</vt:lpstr>
      <vt:lpstr>数据库设计 E-R模型图</vt:lpstr>
      <vt:lpstr>回顾</vt:lpstr>
      <vt:lpstr>An Example EER Diagram</vt:lpstr>
      <vt:lpstr>目录</vt:lpstr>
      <vt:lpstr>数据库设计的基本步骤</vt:lpstr>
      <vt:lpstr>数据库设计的基本步骤（续）</vt:lpstr>
      <vt:lpstr>数据库设计的基本步骤</vt:lpstr>
      <vt:lpstr>数据库设计的基本步骤（续）</vt:lpstr>
      <vt:lpstr>E-R模型介绍</vt:lpstr>
      <vt:lpstr>E-R模型（实体型）</vt:lpstr>
      <vt:lpstr>E-R模型（属性）</vt:lpstr>
      <vt:lpstr>E-R模型（关系）</vt:lpstr>
      <vt:lpstr>E-R模型（关系）</vt:lpstr>
      <vt:lpstr>E-R模型（联系）</vt:lpstr>
      <vt:lpstr>E-R模型（联系）</vt:lpstr>
      <vt:lpstr>E-R模型（联系）</vt:lpstr>
      <vt:lpstr>PowerPoint 演示文稿</vt:lpstr>
      <vt:lpstr>PowerPoint 演示文稿</vt:lpstr>
      <vt:lpstr>PowerPoint 演示文稿</vt:lpstr>
      <vt:lpstr>PowerPoint 演示文稿</vt:lpstr>
      <vt:lpstr>ER 图（几元关系）</vt:lpstr>
      <vt:lpstr>ER 图（几元关系）</vt:lpstr>
      <vt:lpstr>     ER 图（实体的角色）</vt:lpstr>
      <vt:lpstr>     ER 图（实体的角色）</vt:lpstr>
      <vt:lpstr>ER 图（关系的属性）</vt:lpstr>
      <vt:lpstr>ER 图（关系的属性）</vt:lpstr>
      <vt:lpstr>E-R模型（示例）</vt:lpstr>
      <vt:lpstr>E-R模型（示例）</vt:lpstr>
      <vt:lpstr>E-R模型（示例）</vt:lpstr>
      <vt:lpstr>E-R模型（示例）</vt:lpstr>
      <vt:lpstr>E-R模型（示例）</vt:lpstr>
      <vt:lpstr>扩展ER 模型 (EER 模型,或者ER plus)</vt:lpstr>
      <vt:lpstr>基数约束(1)</vt:lpstr>
      <vt:lpstr>基数约束(2)</vt:lpstr>
      <vt:lpstr>基数约束(3)</vt:lpstr>
      <vt:lpstr>泛化（1） </vt:lpstr>
      <vt:lpstr>泛化（2）</vt:lpstr>
      <vt:lpstr>特化</vt:lpstr>
      <vt:lpstr>IS_A 层次</vt:lpstr>
      <vt:lpstr>ER 建模的灵活性 (1)</vt:lpstr>
      <vt:lpstr>ER 建模的灵活性(2)</vt:lpstr>
      <vt:lpstr>ER 建模的灵活性(3)</vt:lpstr>
      <vt:lpstr>ER 建模的灵活性(4)</vt:lpstr>
      <vt:lpstr>ER 建模的灵活性(5)</vt:lpstr>
      <vt:lpstr>An Example EER Diagram</vt:lpstr>
      <vt:lpstr>An Example EER Diagram</vt:lpstr>
      <vt:lpstr>E-R模型（示例）</vt:lpstr>
      <vt:lpstr>E-R模型（示例）</vt:lpstr>
      <vt:lpstr>E-R模型（示例）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DELL</cp:lastModifiedBy>
  <cp:revision>788</cp:revision>
  <cp:lastPrinted>2020-11-03T04:09:11Z</cp:lastPrinted>
  <dcterms:created xsi:type="dcterms:W3CDTF">2020-09-13T01:44:02Z</dcterms:created>
  <dcterms:modified xsi:type="dcterms:W3CDTF">2023-11-29T03:41:44Z</dcterms:modified>
</cp:coreProperties>
</file>