
<file path=[Content_Types].xml><?xml version="1.0" encoding="utf-8"?>
<Types xmlns="http://schemas.openxmlformats.org/package/2006/content-types">
  <Default Extension="png" ContentType="image/png"/>
  <Default Extension="bin" ContentType="application/vnd.openxmlformats-officedocument.oleObject"/>
  <Default Extension="emf" ContentType="image/x-emf"/>
  <Default Extension="jpeg" ContentType="image/jpeg"/>
  <Default Extension="rels" ContentType="application/vnd.openxmlformats-package.relationships+xml"/>
  <Default Extension="xml" ContentType="application/xml"/>
  <Default Extension="vml" ContentType="application/vnd.openxmlformats-officedocument.vmlDrawing"/>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20" r:id="rId1"/>
  </p:sldMasterIdLst>
  <p:notesMasterIdLst>
    <p:notesMasterId r:id="rId59"/>
  </p:notesMasterIdLst>
  <p:sldIdLst>
    <p:sldId id="256" r:id="rId2"/>
    <p:sldId id="439" r:id="rId3"/>
    <p:sldId id="441" r:id="rId4"/>
    <p:sldId id="442" r:id="rId5"/>
    <p:sldId id="443" r:id="rId6"/>
    <p:sldId id="444" r:id="rId7"/>
    <p:sldId id="449" r:id="rId8"/>
    <p:sldId id="520" r:id="rId9"/>
    <p:sldId id="450" r:id="rId10"/>
    <p:sldId id="452" r:id="rId11"/>
    <p:sldId id="454" r:id="rId12"/>
    <p:sldId id="456" r:id="rId13"/>
    <p:sldId id="576" r:id="rId14"/>
    <p:sldId id="577" r:id="rId15"/>
    <p:sldId id="578" r:id="rId16"/>
    <p:sldId id="579" r:id="rId17"/>
    <p:sldId id="460" r:id="rId18"/>
    <p:sldId id="536" r:id="rId19"/>
    <p:sldId id="462" r:id="rId20"/>
    <p:sldId id="466" r:id="rId21"/>
    <p:sldId id="521" r:id="rId22"/>
    <p:sldId id="467" r:id="rId23"/>
    <p:sldId id="471" r:id="rId24"/>
    <p:sldId id="472" r:id="rId25"/>
    <p:sldId id="474" r:id="rId26"/>
    <p:sldId id="475" r:id="rId27"/>
    <p:sldId id="476" r:id="rId28"/>
    <p:sldId id="480" r:id="rId29"/>
    <p:sldId id="539" r:id="rId30"/>
    <p:sldId id="541" r:id="rId31"/>
    <p:sldId id="482" r:id="rId32"/>
    <p:sldId id="484" r:id="rId33"/>
    <p:sldId id="485" r:id="rId34"/>
    <p:sldId id="486" r:id="rId35"/>
    <p:sldId id="487" r:id="rId36"/>
    <p:sldId id="489" r:id="rId37"/>
    <p:sldId id="491" r:id="rId38"/>
    <p:sldId id="492" r:id="rId39"/>
    <p:sldId id="493" r:id="rId40"/>
    <p:sldId id="494" r:id="rId41"/>
    <p:sldId id="497" r:id="rId42"/>
    <p:sldId id="499" r:id="rId43"/>
    <p:sldId id="584" r:id="rId44"/>
    <p:sldId id="585" r:id="rId45"/>
    <p:sldId id="555" r:id="rId46"/>
    <p:sldId id="557" r:id="rId47"/>
    <p:sldId id="560" r:id="rId48"/>
    <p:sldId id="561" r:id="rId49"/>
    <p:sldId id="570" r:id="rId50"/>
    <p:sldId id="565" r:id="rId51"/>
    <p:sldId id="568" r:id="rId52"/>
    <p:sldId id="569" r:id="rId53"/>
    <p:sldId id="571" r:id="rId54"/>
    <p:sldId id="580" r:id="rId55"/>
    <p:sldId id="581" r:id="rId56"/>
    <p:sldId id="582" r:id="rId57"/>
    <p:sldId id="573" r:id="rId58"/>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25785" autoAdjust="0"/>
    <p:restoredTop sz="71514" autoAdjust="0"/>
  </p:normalViewPr>
  <p:slideViewPr>
    <p:cSldViewPr snapToGrid="0">
      <p:cViewPr varScale="1">
        <p:scale>
          <a:sx n="105" d="100"/>
          <a:sy n="105" d="100"/>
        </p:scale>
        <p:origin x="63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61" Type="http://schemas.openxmlformats.org/officeDocument/2006/relationships/viewProps" Target="viewProps.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notesMaster" Target="notesMasters/notesMaster1.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4.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4.e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8014743-55CB-4535-BFA3-9EBD9B1C88C9}" type="datetimeFigureOut">
              <a:rPr lang="zh-CN" altLang="en-US" smtClean="0"/>
              <a:t>2025/9/26</a:t>
            </a:fld>
            <a:endParaRPr lang="zh-CN" altLang="en-US"/>
          </a:p>
        </p:txBody>
      </p:sp>
      <p:sp>
        <p:nvSpPr>
          <p:cNvPr id="4" name="幻灯片图像占位符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C358177-CB7F-483B-8710-93D2E5EA7162}" type="slidenum">
              <a:rPr lang="zh-CN" altLang="en-US" smtClean="0"/>
              <a:t>‹#›</a:t>
            </a:fld>
            <a:endParaRPr lang="zh-CN" altLang="en-US"/>
          </a:p>
        </p:txBody>
      </p:sp>
    </p:spTree>
    <p:extLst>
      <p:ext uri="{BB962C8B-B14F-4D97-AF65-F5344CB8AC3E}">
        <p14:creationId xmlns:p14="http://schemas.microsoft.com/office/powerpoint/2010/main" val="41853905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zhida.zhihu.com/search?content_id=390328422&amp;content_type=Answer&amp;match_order=1&amp;q=hashtable%E8%BF%9E%E6%8E%A5&amp;zd_token=eyJhbGciOiJIUzI1NiIsInR5cCI6IkpXVCJ9.eyJpc3MiOiJ6aGlkYV9zZXJ2ZXIiLCJleHAiOjE3NTkwMzQ3MzgsInEiOiJoYXNodGFibGXov57mjqUiLCJ6aGlkYV9zb3VyY2UiOiJlbnRpdHkiLCJjb250ZW50X2lkIjozOTAzMjg0MjIsImNvbnRlbnRfdHlwZSI6IkFuc3dlciIsIm1hdGNoX29yZGVyIjoxLCJ6ZF90b2tlbiI6bnVsbH0.ojGyFQDhVUwsBTmu-kpz9BcoY0h7WIYOLp6Z1ipyXD8&amp;zhida_source=entity" TargetMode="External"/><Relationship Id="rId2" Type="http://schemas.openxmlformats.org/officeDocument/2006/relationships/slide" Target="../slides/slide6.xml"/><Relationship Id="rId1" Type="http://schemas.openxmlformats.org/officeDocument/2006/relationships/notesMaster" Target="../notesMasters/notesMaster1.xml"/><Relationship Id="rId4" Type="http://schemas.openxmlformats.org/officeDocument/2006/relationships/hyperlink" Target="https://zhida.zhihu.com/search?content_id=390328422&amp;content_type=Answer&amp;match_order=1&amp;q=%E7%AC%9B%E5%8D%A1%E5%B0%94%E9%9B%86&amp;zd_token=eyJhbGciOiJIUzI1NiIsInR5cCI6IkpXVCJ9.eyJpc3MiOiJ6aGlkYV9zZXJ2ZXIiLCJleHAiOjE3NTkwMzQ3MzgsInEiOiLnrJvljaHlsJTpm4YiLCJ6aGlkYV9zb3VyY2UiOiJlbnRpdHkiLCJjb250ZW50X2lkIjozOTAzMjg0MjIsImNvbnRlbnRfdHlwZSI6IkFuc3dlciIsIm1hdGNoX29yZGVyIjoxLCJ6ZF90b2tlbiI6bnVsbH0.9tBmXeG7uQIvhOOWsdJWfMGCLrDZ0ZoQhwIV5JoJKos&amp;zhida_source=entity" TargetMode="Externa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a:t>
            </a:fld>
            <a:endParaRPr lang="zh-CN" altLang="en-US"/>
          </a:p>
        </p:txBody>
      </p:sp>
    </p:spTree>
    <p:extLst>
      <p:ext uri="{BB962C8B-B14F-4D97-AF65-F5344CB8AC3E}">
        <p14:creationId xmlns:p14="http://schemas.microsoft.com/office/powerpoint/2010/main" val="141609645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smtClean="0">
                <a:solidFill>
                  <a:schemeClr val="tx1"/>
                </a:solidFill>
                <a:effectLst/>
                <a:latin typeface="+mn-lt"/>
                <a:ea typeface="+mn-ea"/>
                <a:cs typeface="+mn-cs"/>
              </a:rPr>
              <a:t>简单来说</a:t>
            </a:r>
            <a:r>
              <a:rPr lang="en-US" altLang="zh-CN" sz="1200" b="0" i="0" kern="1200" dirty="0" smtClean="0">
                <a:solidFill>
                  <a:schemeClr val="tx1"/>
                </a:solidFill>
                <a:effectLst/>
                <a:latin typeface="+mn-lt"/>
                <a:ea typeface="+mn-ea"/>
                <a:cs typeface="+mn-cs"/>
              </a:rPr>
              <a:t>inner join</a:t>
            </a:r>
            <a:r>
              <a:rPr lang="zh-CN" altLang="en-US" sz="1200" b="0" i="0" kern="1200" dirty="0" smtClean="0">
                <a:solidFill>
                  <a:schemeClr val="tx1"/>
                </a:solidFill>
                <a:effectLst/>
                <a:latin typeface="+mn-lt"/>
                <a:ea typeface="+mn-ea"/>
                <a:cs typeface="+mn-cs"/>
              </a:rPr>
              <a:t>（</a:t>
            </a:r>
            <a:r>
              <a:rPr lang="en-US" altLang="zh-CN" sz="1200" b="0" i="0" kern="1200" dirty="0" smtClean="0">
                <a:solidFill>
                  <a:schemeClr val="tx1"/>
                </a:solidFill>
                <a:effectLst/>
                <a:latin typeface="+mn-lt"/>
                <a:ea typeface="+mn-ea"/>
                <a:cs typeface="+mn-cs"/>
              </a:rPr>
              <a:t>inner join</a:t>
            </a:r>
            <a:r>
              <a:rPr lang="zh-CN" altLang="en-US" sz="1200" b="0" i="0" kern="1200" dirty="0" smtClean="0">
                <a:solidFill>
                  <a:schemeClr val="tx1"/>
                </a:solidFill>
                <a:effectLst/>
                <a:latin typeface="+mn-lt"/>
                <a:ea typeface="+mn-ea"/>
                <a:cs typeface="+mn-cs"/>
              </a:rPr>
              <a:t>即</a:t>
            </a:r>
            <a:r>
              <a:rPr lang="en-US" altLang="zh-CN" sz="1200" b="0" i="0" kern="1200" dirty="0" smtClean="0">
                <a:solidFill>
                  <a:schemeClr val="tx1"/>
                </a:solidFill>
                <a:effectLst/>
                <a:latin typeface="+mn-lt"/>
                <a:ea typeface="+mn-ea"/>
                <a:cs typeface="+mn-cs"/>
              </a:rPr>
              <a:t>join</a:t>
            </a:r>
            <a:r>
              <a:rPr lang="zh-CN" altLang="en-US" sz="1200" b="0" i="0" kern="1200" dirty="0" smtClean="0">
                <a:solidFill>
                  <a:schemeClr val="tx1"/>
                </a:solidFill>
                <a:effectLst/>
                <a:latin typeface="+mn-lt"/>
                <a:ea typeface="+mn-ea"/>
                <a:cs typeface="+mn-cs"/>
              </a:rPr>
              <a:t>）和</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等号结果一样，但实现原理完全不同，</a:t>
            </a:r>
            <a:r>
              <a:rPr lang="en-US" altLang="zh-CN" sz="1200" b="0" i="0" kern="1200" dirty="0" smtClean="0">
                <a:solidFill>
                  <a:schemeClr val="tx1"/>
                </a:solidFill>
                <a:effectLst/>
                <a:latin typeface="+mn-lt"/>
                <a:ea typeface="+mn-ea"/>
                <a:cs typeface="+mn-cs"/>
              </a:rPr>
              <a:t>join</a:t>
            </a:r>
            <a:r>
              <a:rPr lang="zh-CN" altLang="en-US" sz="1200" b="0" i="0" kern="1200" dirty="0" smtClean="0">
                <a:solidFill>
                  <a:schemeClr val="tx1"/>
                </a:solidFill>
                <a:effectLst/>
                <a:latin typeface="+mn-lt"/>
                <a:ea typeface="+mn-ea"/>
                <a:cs typeface="+mn-cs"/>
              </a:rPr>
              <a:t>是基于</a:t>
            </a:r>
            <a:r>
              <a:rPr lang="en-US" altLang="zh-CN" sz="1200" b="0" i="0" u="none" strike="noStrike" kern="1200" dirty="0" smtClean="0">
                <a:solidFill>
                  <a:schemeClr val="tx1"/>
                </a:solidFill>
                <a:effectLst/>
                <a:latin typeface="+mn-lt"/>
                <a:ea typeface="+mn-ea"/>
                <a:cs typeface="+mn-cs"/>
                <a:hlinkClick r:id="rId3"/>
              </a:rPr>
              <a:t>hashtable</a:t>
            </a:r>
            <a:r>
              <a:rPr lang="zh-CN" altLang="en-US" sz="1200" b="0" i="0" u="none" strike="noStrike" kern="1200" dirty="0" smtClean="0">
                <a:solidFill>
                  <a:schemeClr val="tx1"/>
                </a:solidFill>
                <a:effectLst/>
                <a:latin typeface="+mn-lt"/>
                <a:ea typeface="+mn-ea"/>
                <a:cs typeface="+mn-cs"/>
                <a:hlinkClick r:id="rId3"/>
              </a:rPr>
              <a:t>连接</a:t>
            </a:r>
            <a:r>
              <a:rPr lang="zh-CN" altLang="en-US" sz="1200" b="0" i="0" kern="1200" dirty="0" smtClean="0">
                <a:solidFill>
                  <a:schemeClr val="tx1"/>
                </a:solidFill>
                <a:effectLst/>
                <a:latin typeface="+mn-lt"/>
                <a:ea typeface="+mn-ea"/>
                <a:cs typeface="+mn-cs"/>
              </a:rPr>
              <a:t>比较，而</a:t>
            </a:r>
            <a:r>
              <a:rPr lang="en-US" altLang="zh-CN" sz="1200" b="0" i="0" kern="1200" dirty="0" smtClean="0">
                <a:solidFill>
                  <a:schemeClr val="tx1"/>
                </a:solidFill>
                <a:effectLst/>
                <a:latin typeface="+mn-lt"/>
                <a:ea typeface="+mn-ea"/>
                <a:cs typeface="+mn-cs"/>
              </a:rPr>
              <a:t>=</a:t>
            </a:r>
            <a:r>
              <a:rPr lang="zh-CN" altLang="en-US" sz="1200" b="0" i="0" kern="1200" dirty="0" smtClean="0">
                <a:solidFill>
                  <a:schemeClr val="tx1"/>
                </a:solidFill>
                <a:effectLst/>
                <a:latin typeface="+mn-lt"/>
                <a:ea typeface="+mn-ea"/>
                <a:cs typeface="+mn-cs"/>
              </a:rPr>
              <a:t>直接就是取</a:t>
            </a:r>
            <a:r>
              <a:rPr lang="zh-CN" altLang="en-US" sz="1200" b="0" i="0" u="none" strike="noStrike" kern="1200" dirty="0" smtClean="0">
                <a:solidFill>
                  <a:schemeClr val="tx1"/>
                </a:solidFill>
                <a:effectLst/>
                <a:latin typeface="+mn-lt"/>
                <a:ea typeface="+mn-ea"/>
                <a:cs typeface="+mn-cs"/>
                <a:hlinkClick r:id="rId4"/>
              </a:rPr>
              <a:t>笛卡尔集</a:t>
            </a:r>
            <a:r>
              <a:rPr lang="zh-CN" altLang="en-US" sz="1200" b="0" i="0" kern="1200" dirty="0" smtClean="0">
                <a:solidFill>
                  <a:schemeClr val="tx1"/>
                </a:solidFill>
                <a:effectLst/>
                <a:latin typeface="+mn-lt"/>
                <a:ea typeface="+mn-ea"/>
                <a:cs typeface="+mn-cs"/>
              </a:rPr>
              <a:t>再过滤，所以后者效率低，是</a:t>
            </a:r>
            <a:r>
              <a:rPr lang="en-US" altLang="zh-CN" sz="1200" b="0" i="0" kern="1200" dirty="0" smtClean="0">
                <a:solidFill>
                  <a:schemeClr val="tx1"/>
                </a:solidFill>
                <a:effectLst/>
                <a:latin typeface="+mn-lt"/>
                <a:ea typeface="+mn-ea"/>
                <a:cs typeface="+mn-cs"/>
              </a:rPr>
              <a:t>O(N^2)</a:t>
            </a:r>
            <a:r>
              <a:rPr lang="zh-CN" altLang="en-US" sz="1200" b="0" i="0" kern="1200" dirty="0" smtClean="0">
                <a:solidFill>
                  <a:schemeClr val="tx1"/>
                </a:solidFill>
                <a:effectLst/>
                <a:latin typeface="+mn-lt"/>
                <a:ea typeface="+mn-ea"/>
                <a:cs typeface="+mn-cs"/>
              </a:rPr>
              <a:t>，前者是</a:t>
            </a:r>
            <a:r>
              <a:rPr lang="en-US" altLang="zh-CN" sz="1200" b="0" i="0" kern="1200" dirty="0" smtClean="0">
                <a:solidFill>
                  <a:schemeClr val="tx1"/>
                </a:solidFill>
                <a:effectLst/>
                <a:latin typeface="+mn-lt"/>
                <a:ea typeface="+mn-ea"/>
                <a:cs typeface="+mn-cs"/>
              </a:rPr>
              <a:t>O(</a:t>
            </a:r>
            <a:r>
              <a:rPr lang="en-US" altLang="zh-CN" sz="1200" b="0" i="0" kern="1200" dirty="0" err="1" smtClean="0">
                <a:solidFill>
                  <a:schemeClr val="tx1"/>
                </a:solidFill>
                <a:effectLst/>
                <a:latin typeface="+mn-lt"/>
                <a:ea typeface="+mn-ea"/>
                <a:cs typeface="+mn-cs"/>
              </a:rPr>
              <a:t>LogN</a:t>
            </a:r>
            <a:r>
              <a:rPr lang="en-US" altLang="zh-CN" sz="1200" b="0" i="0" kern="1200" dirty="0" smtClean="0">
                <a:solidFill>
                  <a:schemeClr val="tx1"/>
                </a:solidFill>
                <a:effectLst/>
                <a:latin typeface="+mn-lt"/>
                <a:ea typeface="+mn-ea"/>
                <a:cs typeface="+mn-cs"/>
              </a:rPr>
              <a:t>)</a:t>
            </a:r>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6</a:t>
            </a:fld>
            <a:endParaRPr lang="zh-CN" altLang="en-US"/>
          </a:p>
        </p:txBody>
      </p:sp>
    </p:spTree>
    <p:extLst>
      <p:ext uri="{BB962C8B-B14F-4D97-AF65-F5344CB8AC3E}">
        <p14:creationId xmlns:p14="http://schemas.microsoft.com/office/powerpoint/2010/main" val="308035293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8</a:t>
            </a:fld>
            <a:endParaRPr lang="zh-CN" altLang="en-US"/>
          </a:p>
        </p:txBody>
      </p:sp>
    </p:spTree>
    <p:extLst>
      <p:ext uri="{BB962C8B-B14F-4D97-AF65-F5344CB8AC3E}">
        <p14:creationId xmlns:p14="http://schemas.microsoft.com/office/powerpoint/2010/main" val="39107313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13</a:t>
            </a:fld>
            <a:endParaRPr lang="zh-CN" altLang="en-US"/>
          </a:p>
        </p:txBody>
      </p:sp>
    </p:spTree>
    <p:extLst>
      <p:ext uri="{BB962C8B-B14F-4D97-AF65-F5344CB8AC3E}">
        <p14:creationId xmlns:p14="http://schemas.microsoft.com/office/powerpoint/2010/main" val="35402463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15</a:t>
            </a:fld>
            <a:endParaRPr lang="zh-CN" altLang="en-US"/>
          </a:p>
        </p:txBody>
      </p:sp>
    </p:spTree>
    <p:extLst>
      <p:ext uri="{BB962C8B-B14F-4D97-AF65-F5344CB8AC3E}">
        <p14:creationId xmlns:p14="http://schemas.microsoft.com/office/powerpoint/2010/main" val="2435444583"/>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21</a:t>
            </a:fld>
            <a:endParaRPr lang="zh-CN" altLang="en-US"/>
          </a:p>
        </p:txBody>
      </p:sp>
    </p:spTree>
    <p:extLst>
      <p:ext uri="{BB962C8B-B14F-4D97-AF65-F5344CB8AC3E}">
        <p14:creationId xmlns:p14="http://schemas.microsoft.com/office/powerpoint/2010/main" val="32137232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26</a:t>
            </a:fld>
            <a:endParaRPr lang="zh-CN" altLang="en-US"/>
          </a:p>
        </p:txBody>
      </p:sp>
    </p:spTree>
    <p:extLst>
      <p:ext uri="{BB962C8B-B14F-4D97-AF65-F5344CB8AC3E}">
        <p14:creationId xmlns:p14="http://schemas.microsoft.com/office/powerpoint/2010/main" val="30338908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2514" name="Rectangle 2"/>
          <p:cNvSpPr>
            <a:spLocks noGrp="1" noRot="1" noChangeAspect="1" noChangeArrowheads="1" noTextEdit="1"/>
          </p:cNvSpPr>
          <p:nvPr>
            <p:ph type="sldImg"/>
          </p:nvPr>
        </p:nvSpPr>
        <p:spPr/>
      </p:sp>
      <p:sp>
        <p:nvSpPr>
          <p:cNvPr id="192515"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zh-CN" altLang="zh-CN" smtClean="0"/>
          </a:p>
        </p:txBody>
      </p:sp>
    </p:spTree>
    <p:extLst>
      <p:ext uri="{BB962C8B-B14F-4D97-AF65-F5344CB8AC3E}">
        <p14:creationId xmlns:p14="http://schemas.microsoft.com/office/powerpoint/2010/main" val="39362420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33</a:t>
            </a:fld>
            <a:endParaRPr lang="zh-CN" altLang="en-US"/>
          </a:p>
        </p:txBody>
      </p:sp>
    </p:spTree>
    <p:extLst>
      <p:ext uri="{BB962C8B-B14F-4D97-AF65-F5344CB8AC3E}">
        <p14:creationId xmlns:p14="http://schemas.microsoft.com/office/powerpoint/2010/main" val="259221239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10"/>
          </p:nvPr>
        </p:nvSpPr>
        <p:spPr/>
        <p:txBody>
          <a:bodyPr/>
          <a:lstStyle/>
          <a:p>
            <a:fld id="{BC358177-CB7F-483B-8710-93D2E5EA7162}" type="slidenum">
              <a:rPr lang="zh-CN" altLang="en-US" smtClean="0"/>
              <a:t>57</a:t>
            </a:fld>
            <a:endParaRPr lang="zh-CN" altLang="en-US"/>
          </a:p>
        </p:txBody>
      </p:sp>
    </p:spTree>
    <p:extLst>
      <p:ext uri="{BB962C8B-B14F-4D97-AF65-F5344CB8AC3E}">
        <p14:creationId xmlns:p14="http://schemas.microsoft.com/office/powerpoint/2010/main" val="33160614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solidFill>
                  <a:schemeClr val="tx1"/>
                </a:solidFill>
              </a:defRPr>
            </a:lvl1pPr>
          </a:lstStyle>
          <a:p>
            <a:r>
              <a:rPr lang="zh-CN" altLang="en-US" dirty="0" smtClean="0"/>
              <a:t>单击此处编辑母版标题样式</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11"/>
          </p:nvPr>
        </p:nvSpPr>
        <p:spPr/>
        <p:txBody>
          <a:bodyPr/>
          <a:lstStyle/>
          <a:p>
            <a:r>
              <a:rPr lang="zh-CN" altLang="zh-CN" dirty="0" smtClean="0"/>
              <a:t>数据库系统</a:t>
            </a:r>
            <a:endParaRPr lang="zh-CN" altLang="en-US" dirty="0"/>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280868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dirty="0" smtClean="0"/>
              <a:t>单击此处编辑母版标题样式</a:t>
            </a:r>
            <a:endParaRPr lang="en-US" dirty="0"/>
          </a:p>
        </p:txBody>
      </p:sp>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7917285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39"/>
            <a:ext cx="7886700" cy="2852737"/>
          </a:xfrm>
        </p:spPr>
        <p:txBody>
          <a:bodyPr anchor="b"/>
          <a:lstStyle>
            <a:lvl1pPr>
              <a:defRPr sz="6000"/>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3888" y="4589464"/>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5082351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2066129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6"/>
            <a:ext cx="7886700" cy="1325563"/>
          </a:xfrm>
        </p:spPr>
        <p:txBody>
          <a:bodyPr/>
          <a:lstStyle/>
          <a:p>
            <a:r>
              <a:rPr lang="zh-CN" altLang="en-US" smtClean="0"/>
              <a:t>单击此处编辑母版标题样式</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29842" y="2505075"/>
            <a:ext cx="3868340"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29150"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29150" y="2505075"/>
            <a:ext cx="3887391" cy="36845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9527859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Date Placeholder 2"/>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21620596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33137880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Content Placeholder 2"/>
          <p:cNvSpPr>
            <a:spLocks noGrp="1"/>
          </p:cNvSpPr>
          <p:nvPr>
            <p:ph idx="1"/>
          </p:nvPr>
        </p:nvSpPr>
        <p:spPr>
          <a:xfrm>
            <a:off x="3887391" y="987426"/>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89424743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zh-CN" altLang="en-US" smtClean="0"/>
              <a:t>单击此处编辑母版标题样式</a:t>
            </a:r>
            <a:endParaRPr lang="en-US" dirty="0"/>
          </a:p>
        </p:txBody>
      </p:sp>
      <p:sp>
        <p:nvSpPr>
          <p:cNvPr id="3" name="Picture Placeholder 2"/>
          <p:cNvSpPr>
            <a:spLocks noGrp="1" noChangeAspect="1"/>
          </p:cNvSpPr>
          <p:nvPr>
            <p:ph type="pic" idx="1"/>
          </p:nvPr>
        </p:nvSpPr>
        <p:spPr>
          <a:xfrm>
            <a:off x="3887391" y="987426"/>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6233428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193942738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10;文本">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5" y="365125"/>
            <a:ext cx="1971675" cy="5811838"/>
          </a:xfrm>
        </p:spPr>
        <p:txBody>
          <a:bodyPr vert="eaVert"/>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628650" y="365125"/>
            <a:ext cx="5800725" cy="5811838"/>
          </a:xfrm>
        </p:spPr>
        <p:txBody>
          <a:bodyPr vert="eaVert"/>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4" name="Date Placeholder 3"/>
          <p:cNvSpPr>
            <a:spLocks noGrp="1"/>
          </p:cNvSpPr>
          <p:nvPr>
            <p:ph type="dt" sz="half" idx="10"/>
          </p:nvPr>
        </p:nvSpPr>
        <p:spPr/>
        <p:txBody>
          <a:body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565CE74E-AB26-4998-AD42-012C4C1AD076}" type="slidenum">
              <a:rPr lang="zh-CN" altLang="en-US" smtClean="0"/>
              <a:t>‹#›</a:t>
            </a:fld>
            <a:endParaRPr lang="zh-CN" altLang="en-US"/>
          </a:p>
        </p:txBody>
      </p:sp>
    </p:spTree>
    <p:extLst>
      <p:ext uri="{BB962C8B-B14F-4D97-AF65-F5344CB8AC3E}">
        <p14:creationId xmlns:p14="http://schemas.microsoft.com/office/powerpoint/2010/main" val="240894316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bl">
  <p:cSld name="标题和表格">
    <p:spTree>
      <p:nvGrpSpPr>
        <p:cNvPr id="1" name=""/>
        <p:cNvGrpSpPr/>
        <p:nvPr/>
      </p:nvGrpSpPr>
      <p:grpSpPr>
        <a:xfrm>
          <a:off x="0" y="0"/>
          <a:ext cx="0" cy="0"/>
          <a:chOff x="0" y="0"/>
          <a:chExt cx="0" cy="0"/>
        </a:xfrm>
      </p:grpSpPr>
      <p:sp>
        <p:nvSpPr>
          <p:cNvPr id="2" name="标题 1"/>
          <p:cNvSpPr>
            <a:spLocks noGrp="1"/>
          </p:cNvSpPr>
          <p:nvPr>
            <p:ph type="title"/>
          </p:nvPr>
        </p:nvSpPr>
        <p:spPr>
          <a:xfrm>
            <a:off x="914400" y="685800"/>
            <a:ext cx="7391400" cy="563563"/>
          </a:xfrm>
        </p:spPr>
        <p:txBody>
          <a:bodyPr/>
          <a:lstStyle/>
          <a:p>
            <a:r>
              <a:rPr lang="zh-CN" altLang="en-US" smtClean="0"/>
              <a:t>单击此处编辑母版标题样式</a:t>
            </a:r>
            <a:endParaRPr lang="zh-CN" altLang="en-US"/>
          </a:p>
        </p:txBody>
      </p:sp>
      <p:sp>
        <p:nvSpPr>
          <p:cNvPr id="3" name="表格占位符 2"/>
          <p:cNvSpPr>
            <a:spLocks noGrp="1"/>
          </p:cNvSpPr>
          <p:nvPr>
            <p:ph type="tbl" idx="1"/>
          </p:nvPr>
        </p:nvSpPr>
        <p:spPr>
          <a:xfrm>
            <a:off x="457200" y="1828800"/>
            <a:ext cx="8229600" cy="4495800"/>
          </a:xfrm>
        </p:spPr>
        <p:txBody>
          <a:bodyPr/>
          <a:lstStyle/>
          <a:p>
            <a:pPr lvl="0"/>
            <a:endParaRPr lang="zh-CN" altLang="en-US" noProof="0" smtClean="0"/>
          </a:p>
        </p:txBody>
      </p:sp>
      <p:sp>
        <p:nvSpPr>
          <p:cNvPr id="4" name="Rectangle 15"/>
          <p:cNvSpPr>
            <a:spLocks noGrp="1" noChangeArrowheads="1"/>
          </p:cNvSpPr>
          <p:nvPr>
            <p:ph type="dt" sz="half" idx="10"/>
          </p:nvPr>
        </p:nvSpPr>
        <p:spPr>
          <a:xfrm>
            <a:off x="457200" y="6400800"/>
            <a:ext cx="2133600" cy="320675"/>
          </a:xfrm>
          <a:prstGeom prst="rect">
            <a:avLst/>
          </a:prstGeom>
        </p:spPr>
        <p:txBody>
          <a:bodyPr/>
          <a:lstStyle>
            <a:lvl1pPr>
              <a:defRPr/>
            </a:lvl1pPr>
          </a:lstStyle>
          <a:p>
            <a:pPr>
              <a:defRPr/>
            </a:pPr>
            <a:endParaRPr lang="en-US" altLang="zh-CN"/>
          </a:p>
        </p:txBody>
      </p:sp>
      <p:sp>
        <p:nvSpPr>
          <p:cNvPr id="5" name="Rectangle 16"/>
          <p:cNvSpPr>
            <a:spLocks noGrp="1" noChangeArrowheads="1"/>
          </p:cNvSpPr>
          <p:nvPr>
            <p:ph type="ftr" sz="quarter" idx="11"/>
          </p:nvPr>
        </p:nvSpPr>
        <p:spPr>
          <a:xfrm>
            <a:off x="5219700" y="6381750"/>
            <a:ext cx="3600450" cy="320675"/>
          </a:xfrm>
          <a:prstGeom prst="rect">
            <a:avLst/>
          </a:prstGeom>
        </p:spPr>
        <p:txBody>
          <a:bodyPr/>
          <a:lstStyle>
            <a:lvl1pPr>
              <a:defRPr/>
            </a:lvl1pPr>
          </a:lstStyle>
          <a:p>
            <a:pPr>
              <a:defRPr/>
            </a:pPr>
            <a:r>
              <a:rPr lang="en-US" altLang="zh-CN"/>
              <a:t>An Introduction to Database System</a:t>
            </a:r>
          </a:p>
        </p:txBody>
      </p:sp>
    </p:spTree>
    <p:extLst>
      <p:ext uri="{BB962C8B-B14F-4D97-AF65-F5344CB8AC3E}">
        <p14:creationId xmlns:p14="http://schemas.microsoft.com/office/powerpoint/2010/main" val="9379868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l="-3000" r="-3000"/>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3900" y="0"/>
            <a:ext cx="7886700" cy="1325563"/>
          </a:xfrm>
          <a:prstGeom prst="rect">
            <a:avLst/>
          </a:prstGeom>
        </p:spPr>
        <p:txBody>
          <a:bodyPr vert="horz" lIns="91440" tIns="45720" rIns="91440" bIns="45720" rtlCol="0" anchor="ctr">
            <a:normAutofit/>
          </a:bodyPr>
          <a:lstStyle/>
          <a:p>
            <a:r>
              <a:rPr lang="zh-CN" altLang="en-US" dirty="0" smtClean="0"/>
              <a:t>单击此处编辑母版标题样式</a:t>
            </a:r>
            <a:endParaRPr lang="en-US" dirty="0"/>
          </a:p>
        </p:txBody>
      </p:sp>
      <p:sp>
        <p:nvSpPr>
          <p:cNvPr id="3" name="Text Placeholder 2"/>
          <p:cNvSpPr>
            <a:spLocks noGrp="1"/>
          </p:cNvSpPr>
          <p:nvPr>
            <p:ph type="body" idx="1"/>
          </p:nvPr>
        </p:nvSpPr>
        <p:spPr>
          <a:xfrm>
            <a:off x="723900" y="1663701"/>
            <a:ext cx="7886700" cy="4351338"/>
          </a:xfrm>
          <a:prstGeom prst="rect">
            <a:avLst/>
          </a:prstGeom>
        </p:spPr>
        <p:txBody>
          <a:bodyPr vert="horz" lIns="91440" tIns="45720" rIns="91440" bIns="45720" rtlCol="0">
            <a:normAutofit/>
          </a:bodyPr>
          <a:lstStyle/>
          <a:p>
            <a:pPr lvl="0"/>
            <a:r>
              <a:rPr lang="zh-CN" altLang="en-US" dirty="0" smtClean="0"/>
              <a:t>单击此处编辑母版文本样式</a:t>
            </a:r>
          </a:p>
          <a:p>
            <a:pPr lvl="1"/>
            <a:r>
              <a:rPr lang="zh-CN" altLang="en-US" dirty="0" smtClean="0"/>
              <a:t>第二级</a:t>
            </a:r>
          </a:p>
          <a:p>
            <a:pPr lvl="2"/>
            <a:r>
              <a:rPr lang="zh-CN" altLang="en-US" dirty="0" smtClean="0"/>
              <a:t>第三级</a:t>
            </a:r>
          </a:p>
          <a:p>
            <a:pPr lvl="3"/>
            <a:r>
              <a:rPr lang="zh-CN" altLang="en-US" dirty="0" smtClean="0"/>
              <a:t>第四级</a:t>
            </a:r>
          </a:p>
          <a:p>
            <a:pPr lvl="4"/>
            <a:r>
              <a:rPr lang="zh-CN" altLang="en-US" dirty="0" smtClean="0"/>
              <a:t>第五级</a:t>
            </a:r>
            <a:endParaRPr lang="en-US" dirty="0"/>
          </a:p>
        </p:txBody>
      </p:sp>
      <p:sp>
        <p:nvSpPr>
          <p:cNvPr id="4" name="Date Placeholder 3"/>
          <p:cNvSpPr>
            <a:spLocks noGrp="1"/>
          </p:cNvSpPr>
          <p:nvPr>
            <p:ph type="dt" sz="half" idx="2"/>
          </p:nvPr>
        </p:nvSpPr>
        <p:spPr>
          <a:xfrm>
            <a:off x="628650" y="6356351"/>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997B5FA-0921-464F-AAE1-844C04324D75}" type="datetimeFigureOut">
              <a:rPr lang="zh-CN" altLang="en-US" smtClean="0"/>
              <a:t>2025/9/26</a:t>
            </a:fld>
            <a:endParaRPr lang="zh-CN" altLang="en-US"/>
          </a:p>
        </p:txBody>
      </p:sp>
      <p:sp>
        <p:nvSpPr>
          <p:cNvPr id="5" name="Footer Placeholder 4"/>
          <p:cNvSpPr>
            <a:spLocks noGrp="1"/>
          </p:cNvSpPr>
          <p:nvPr>
            <p:ph type="ftr" sz="quarter" idx="3"/>
          </p:nvPr>
        </p:nvSpPr>
        <p:spPr>
          <a:xfrm>
            <a:off x="3028950" y="6356351"/>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zh-CN" altLang="zh-CN" dirty="0" smtClean="0"/>
              <a:t>数据库系统</a:t>
            </a:r>
            <a:endParaRPr lang="zh-CN" altLang="en-US" dirty="0"/>
          </a:p>
        </p:txBody>
      </p:sp>
      <p:sp>
        <p:nvSpPr>
          <p:cNvPr id="6" name="Slide Number Placeholder 5"/>
          <p:cNvSpPr>
            <a:spLocks noGrp="1"/>
          </p:cNvSpPr>
          <p:nvPr>
            <p:ph type="sldNum" sz="quarter" idx="4"/>
          </p:nvPr>
        </p:nvSpPr>
        <p:spPr>
          <a:xfrm>
            <a:off x="6457950" y="6356351"/>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65CE74E-AB26-4998-AD42-012C4C1AD076}" type="slidenum">
              <a:rPr lang="zh-CN" altLang="en-US" smtClean="0"/>
              <a:t>‹#›</a:t>
            </a:fld>
            <a:endParaRPr lang="zh-CN" altLang="en-US" dirty="0"/>
          </a:p>
        </p:txBody>
      </p:sp>
    </p:spTree>
    <p:extLst>
      <p:ext uri="{BB962C8B-B14F-4D97-AF65-F5344CB8AC3E}">
        <p14:creationId xmlns:p14="http://schemas.microsoft.com/office/powerpoint/2010/main" val="1319821650"/>
      </p:ext>
    </p:extLst>
  </p:cSld>
  <p:clrMap bg1="lt1" tx1="dk1" bg2="lt2" tx2="dk2" accent1="accent1" accent2="accent2" accent3="accent3" accent4="accent4" accent5="accent5" accent6="accent6" hlink="hlink" folHlink="folHlink"/>
  <p:sldLayoutIdLst>
    <p:sldLayoutId id="2147483721" r:id="rId1"/>
    <p:sldLayoutId id="2147483722" r:id="rId2"/>
    <p:sldLayoutId id="2147483723" r:id="rId3"/>
    <p:sldLayoutId id="2147483724" r:id="rId4"/>
    <p:sldLayoutId id="2147483725" r:id="rId5"/>
    <p:sldLayoutId id="2147483726" r:id="rId6"/>
    <p:sldLayoutId id="2147483727" r:id="rId7"/>
    <p:sldLayoutId id="2147483728" r:id="rId8"/>
    <p:sldLayoutId id="2147483729" r:id="rId9"/>
    <p:sldLayoutId id="2147483730" r:id="rId10"/>
    <p:sldLayoutId id="2147483731" r:id="rId11"/>
    <p:sldLayoutId id="2147483732" r:id="rId12"/>
  </p:sldLayoutIdLst>
  <p:txStyles>
    <p:titleStyle>
      <a:lvl1pPr algn="l" defTabSz="914400" rtl="0" eaLnBrk="1" latinLnBrk="0" hangingPunct="1">
        <a:lnSpc>
          <a:spcPct val="90000"/>
        </a:lnSpc>
        <a:spcBef>
          <a:spcPct val="0"/>
        </a:spcBef>
        <a:buNone/>
        <a:defRPr sz="4400" kern="1200">
          <a:solidFill>
            <a:schemeClr val="bg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Wingdings" panose="05000000000000000000" pitchFamily="2" charset="2"/>
        <a:buChar char="p"/>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Wingdings" panose="05000000000000000000" pitchFamily="2" charset="2"/>
        <a:buChar char="n"/>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hyperlink" Target="http://localhost/phpmyadmin/url.php?url=http://dev.mysql.com/doc/refman/5.5/en/string-functions.html&amp;server=0&amp;token=a8c8eee66b2d285100f6723f9429cc83#function_right" TargetMode="External"/><Relationship Id="rId4" Type="http://schemas.openxmlformats.org/officeDocument/2006/relationships/hyperlink" Target="http://localhost/phpmyadmin/url.php?url=http://dev.mysql.com/doc/refman/5.5/en/string-functions.html&amp;server=0&amp;token=a8c8eee66b2d285100f6723f9429cc83#function_left"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hyperlink" Target="http://localhost/phpmyadmin/url.php?url=http://dev.mysql.com/doc/refman/5.5/en/select.html&amp;server=0&amp;token=a8c8eee66b2d285100f6723f9429cc83"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5.xml"/><Relationship Id="rId7" Type="http://schemas.openxmlformats.org/officeDocument/2006/relationships/image" Target="../media/image4.emf"/><Relationship Id="rId2" Type="http://schemas.openxmlformats.org/officeDocument/2006/relationships/slideLayout" Target="../slideLayouts/slideLayout2.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image" Target="../media/image6.jpeg"/><Relationship Id="rId4" Type="http://schemas.openxmlformats.org/officeDocument/2006/relationships/image" Target="../media/image5.emf"/></Relationships>
</file>

<file path=ppt/slides/_rels/slide16.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2.vml"/><Relationship Id="rId5" Type="http://schemas.openxmlformats.org/officeDocument/2006/relationships/image" Target="../media/image4.emf"/><Relationship Id="rId4" Type="http://schemas.openxmlformats.org/officeDocument/2006/relationships/oleObject" Target="../embeddings/oleObject2.bin"/></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slideLayout" Target="../slideLayouts/slideLayout2.xml"/><Relationship Id="rId1" Type="http://schemas.openxmlformats.org/officeDocument/2006/relationships/vmlDrawing" Target="../drawings/vmlDrawing3.vml"/><Relationship Id="rId6" Type="http://schemas.openxmlformats.org/officeDocument/2006/relationships/image" Target="../media/image4.emf"/><Relationship Id="rId5" Type="http://schemas.openxmlformats.org/officeDocument/2006/relationships/oleObject" Target="../embeddings/oleObject3.bin"/><Relationship Id="rId4" Type="http://schemas.openxmlformats.org/officeDocument/2006/relationships/image" Target="../media/image5.e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2" Type="http://schemas.openxmlformats.org/officeDocument/2006/relationships/hyperlink" Target="https://blog.csdn.net/m0_56062333/article/details/119965649" TargetMode="External"/><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normAutofit/>
          </a:bodyPr>
          <a:lstStyle/>
          <a:p>
            <a:r>
              <a:rPr lang="zh-CN" altLang="en-US" dirty="0"/>
              <a:t>关系数据库标准语言</a:t>
            </a:r>
            <a:r>
              <a:rPr lang="en-US" altLang="zh-CN" dirty="0" smtClean="0"/>
              <a:t>SQL </a:t>
            </a:r>
            <a:endParaRPr lang="zh-CN" altLang="en-US" sz="4400" dirty="0"/>
          </a:p>
        </p:txBody>
      </p:sp>
      <p:sp>
        <p:nvSpPr>
          <p:cNvPr id="3" name="副标题 2"/>
          <p:cNvSpPr>
            <a:spLocks noGrp="1"/>
          </p:cNvSpPr>
          <p:nvPr>
            <p:ph type="subTitle" idx="1"/>
          </p:nvPr>
        </p:nvSpPr>
        <p:spPr/>
        <p:txBody>
          <a:bodyPr/>
          <a:lstStyle/>
          <a:p>
            <a:pPr>
              <a:lnSpc>
                <a:spcPct val="110000"/>
              </a:lnSpc>
            </a:pPr>
            <a:r>
              <a:rPr lang="zh-CN" altLang="en-US" dirty="0"/>
              <a:t>授课教师：张小燕</a:t>
            </a:r>
            <a:endParaRPr lang="en-US" altLang="zh-CN" dirty="0"/>
          </a:p>
          <a:p>
            <a:pPr>
              <a:lnSpc>
                <a:spcPct val="110000"/>
              </a:lnSpc>
            </a:pPr>
            <a:r>
              <a:rPr lang="zh-CN" altLang="en-US" dirty="0" smtClean="0"/>
              <a:t>邮箱：</a:t>
            </a:r>
            <a:r>
              <a:rPr lang="en-US" altLang="zh-CN" dirty="0" smtClean="0"/>
              <a:t>xyzhang15@szu.edu.cn</a:t>
            </a:r>
          </a:p>
          <a:p>
            <a:pPr>
              <a:lnSpc>
                <a:spcPct val="110000"/>
              </a:lnSpc>
            </a:pPr>
            <a:r>
              <a:rPr lang="zh-CN" altLang="en-US" dirty="0" smtClean="0"/>
              <a:t>深圳大学 计算机与软件学院</a:t>
            </a:r>
            <a:endParaRPr lang="en-US" altLang="zh-CN" dirty="0" smtClean="0"/>
          </a:p>
        </p:txBody>
      </p:sp>
    </p:spTree>
    <p:extLst>
      <p:ext uri="{BB962C8B-B14F-4D97-AF65-F5344CB8AC3E}">
        <p14:creationId xmlns:p14="http://schemas.microsoft.com/office/powerpoint/2010/main" val="224279162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页脚占位符 4"/>
          <p:cNvSpPr txBox="1">
            <a:spLocks noGrp="1" noChangeArrowheads="1"/>
          </p:cNvSpPr>
          <p:nvPr/>
        </p:nvSpPr>
        <p:spPr bwMode="auto">
          <a:xfrm>
            <a:off x="5219700" y="6381750"/>
            <a:ext cx="3600450" cy="3206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en-US" altLang="zh-CN"/>
          </a:p>
        </p:txBody>
      </p:sp>
      <p:sp>
        <p:nvSpPr>
          <p:cNvPr id="5123" name="Rectangle 2"/>
          <p:cNvSpPr>
            <a:spLocks noGrp="1" noChangeArrowheads="1"/>
          </p:cNvSpPr>
          <p:nvPr>
            <p:ph type="title" idx="4294967295"/>
          </p:nvPr>
        </p:nvSpPr>
        <p:spPr/>
        <p:txBody>
          <a:bodyPr/>
          <a:lstStyle/>
          <a:p>
            <a:pPr eaLnBrk="1" hangingPunct="1"/>
            <a:r>
              <a:rPr lang="zh-CN" altLang="en-US" sz="3600" smtClean="0"/>
              <a:t>第三章</a:t>
            </a:r>
            <a:r>
              <a:rPr lang="zh-CN" altLang="en-US" sz="3600" smtClean="0">
                <a:ea typeface="黑体" panose="02010609060101010101" pitchFamily="49" charset="-122"/>
              </a:rPr>
              <a:t>  </a:t>
            </a:r>
            <a:r>
              <a:rPr lang="zh-CN" altLang="en-US" sz="3600" smtClean="0"/>
              <a:t>关系数据库标准语言</a:t>
            </a:r>
            <a:r>
              <a:rPr lang="en-US" altLang="zh-CN" sz="3600" smtClean="0">
                <a:ea typeface="黑体" panose="02010609060101010101" pitchFamily="49" charset="-122"/>
              </a:rPr>
              <a:t>SQL</a:t>
            </a:r>
          </a:p>
        </p:txBody>
      </p:sp>
      <p:sp>
        <p:nvSpPr>
          <p:cNvPr id="5124" name="Rectangle 3"/>
          <p:cNvSpPr>
            <a:spLocks noGrp="1" noChangeArrowheads="1"/>
          </p:cNvSpPr>
          <p:nvPr>
            <p:ph type="body" idx="4294967295"/>
          </p:nvPr>
        </p:nvSpPr>
        <p:spPr>
          <a:xfrm>
            <a:off x="971550" y="1098550"/>
            <a:ext cx="6508750" cy="4994275"/>
          </a:xfrm>
        </p:spPr>
        <p:txBody>
          <a:bodyPr>
            <a:normAutofit/>
          </a:bodyPr>
          <a:lstStyle/>
          <a:p>
            <a:pPr algn="just" eaLnBrk="1" hangingPunct="1">
              <a:lnSpc>
                <a:spcPct val="130000"/>
              </a:lnSpc>
              <a:buFont typeface="Wingdings" panose="05000000000000000000" pitchFamily="2" charset="2"/>
              <a:buNone/>
            </a:pPr>
            <a:r>
              <a:rPr lang="zh-CN" altLang="en-US" dirty="0" smtClean="0"/>
              <a:t>数据查询 （</a:t>
            </a:r>
            <a:r>
              <a:rPr lang="en-US" altLang="zh-CN" dirty="0" smtClean="0"/>
              <a:t>select</a:t>
            </a:r>
            <a:r>
              <a:rPr lang="zh-CN" altLang="en-US" dirty="0" smtClean="0"/>
              <a:t>）</a:t>
            </a:r>
            <a:endParaRPr lang="en-US" altLang="zh-CN" dirty="0" smtClean="0"/>
          </a:p>
          <a:p>
            <a:pPr marL="457200" lvl="1" indent="0" algn="just">
              <a:lnSpc>
                <a:spcPct val="150000"/>
              </a:lnSpc>
              <a:buNone/>
              <a:defRPr/>
            </a:pPr>
            <a:r>
              <a:rPr lang="en-US" altLang="zh-CN" dirty="0" smtClean="0"/>
              <a:t>1. </a:t>
            </a:r>
            <a:r>
              <a:rPr lang="zh-CN" altLang="en-US" dirty="0" smtClean="0"/>
              <a:t>连接</a:t>
            </a:r>
            <a:r>
              <a:rPr lang="zh-CN" altLang="en-US" dirty="0"/>
              <a:t>查询</a:t>
            </a:r>
          </a:p>
          <a:p>
            <a:pPr marL="457200" lvl="1" indent="0" algn="just">
              <a:lnSpc>
                <a:spcPct val="150000"/>
              </a:lnSpc>
              <a:buNone/>
              <a:defRPr/>
            </a:pPr>
            <a:r>
              <a:rPr lang="en-US" altLang="zh-CN" dirty="0" smtClean="0"/>
              <a:t>2. </a:t>
            </a:r>
            <a:r>
              <a:rPr lang="zh-CN" altLang="en-US" dirty="0" smtClean="0"/>
              <a:t>嵌套</a:t>
            </a:r>
            <a:r>
              <a:rPr lang="zh-CN" altLang="en-US" dirty="0"/>
              <a:t>查询</a:t>
            </a:r>
          </a:p>
          <a:p>
            <a:pPr algn="just" eaLnBrk="1" hangingPunct="1">
              <a:lnSpc>
                <a:spcPct val="130000"/>
              </a:lnSpc>
              <a:buFont typeface="Wingdings" panose="05000000000000000000" pitchFamily="2" charset="2"/>
              <a:buNone/>
            </a:pPr>
            <a:r>
              <a:rPr lang="zh-CN" altLang="en-US" dirty="0" smtClean="0"/>
              <a:t>数据更新</a:t>
            </a:r>
            <a:endParaRPr lang="en-US" altLang="zh-CN" dirty="0" smtClean="0"/>
          </a:p>
          <a:p>
            <a:pPr lvl="1" algn="just">
              <a:lnSpc>
                <a:spcPct val="130000"/>
              </a:lnSpc>
              <a:buFont typeface="Wingdings" panose="05000000000000000000" pitchFamily="2" charset="2"/>
              <a:buNone/>
            </a:pPr>
            <a:r>
              <a:rPr lang="en-US" altLang="zh-CN" dirty="0" smtClean="0"/>
              <a:t>3.</a:t>
            </a:r>
            <a:r>
              <a:rPr lang="zh-CN" altLang="en-US" dirty="0" smtClean="0"/>
              <a:t>插入 （</a:t>
            </a:r>
            <a:r>
              <a:rPr lang="en-US" altLang="zh-CN" dirty="0" smtClean="0"/>
              <a:t>insert</a:t>
            </a:r>
            <a:r>
              <a:rPr lang="zh-CN" altLang="en-US" dirty="0" smtClean="0"/>
              <a:t>）</a:t>
            </a:r>
            <a:endParaRPr lang="en-US" altLang="zh-CN" dirty="0" smtClean="0"/>
          </a:p>
          <a:p>
            <a:pPr lvl="1" algn="just">
              <a:lnSpc>
                <a:spcPct val="130000"/>
              </a:lnSpc>
              <a:buFont typeface="Wingdings" panose="05000000000000000000" pitchFamily="2" charset="2"/>
              <a:buNone/>
            </a:pPr>
            <a:r>
              <a:rPr lang="en-US" altLang="zh-CN" dirty="0" smtClean="0"/>
              <a:t>4.</a:t>
            </a:r>
            <a:r>
              <a:rPr lang="zh-CN" altLang="en-US" dirty="0" smtClean="0"/>
              <a:t>更新  （</a:t>
            </a:r>
            <a:r>
              <a:rPr lang="en-US" altLang="zh-CN" dirty="0" smtClean="0"/>
              <a:t>update</a:t>
            </a:r>
            <a:r>
              <a:rPr lang="zh-CN" altLang="en-US" dirty="0" smtClean="0"/>
              <a:t>）</a:t>
            </a:r>
            <a:endParaRPr lang="en-US" altLang="zh-CN" dirty="0" smtClean="0"/>
          </a:p>
          <a:p>
            <a:pPr lvl="1" algn="just">
              <a:lnSpc>
                <a:spcPct val="130000"/>
              </a:lnSpc>
              <a:buFont typeface="Wingdings" panose="05000000000000000000" pitchFamily="2" charset="2"/>
              <a:buNone/>
            </a:pPr>
            <a:r>
              <a:rPr lang="en-US" altLang="zh-CN" dirty="0" smtClean="0"/>
              <a:t>5.</a:t>
            </a:r>
            <a:r>
              <a:rPr lang="zh-CN" altLang="en-US" dirty="0" smtClean="0"/>
              <a:t>删除   （</a:t>
            </a:r>
            <a:r>
              <a:rPr lang="en-US" altLang="zh-CN" dirty="0" smtClean="0"/>
              <a:t>delete</a:t>
            </a:r>
            <a:r>
              <a:rPr lang="zh-CN" altLang="en-US" dirty="0" smtClean="0"/>
              <a:t>）</a:t>
            </a:r>
            <a:endParaRPr lang="en-US" altLang="zh-CN" dirty="0" smtClean="0"/>
          </a:p>
          <a:p>
            <a:pPr algn="just" eaLnBrk="1" hangingPunct="1">
              <a:lnSpc>
                <a:spcPct val="130000"/>
              </a:lnSpc>
              <a:buFont typeface="Wingdings" panose="05000000000000000000" pitchFamily="2" charset="2"/>
              <a:buNone/>
            </a:pPr>
            <a:endParaRPr lang="zh-CN" altLang="en-US" sz="3200" dirty="0" smtClean="0"/>
          </a:p>
        </p:txBody>
      </p:sp>
    </p:spTree>
    <p:extLst>
      <p:ext uri="{BB962C8B-B14F-4D97-AF65-F5344CB8AC3E}">
        <p14:creationId xmlns:p14="http://schemas.microsoft.com/office/powerpoint/2010/main" val="313960243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Grp="1" noChangeArrowheads="1"/>
          </p:cNvSpPr>
          <p:nvPr>
            <p:ph type="title" idx="4294967295"/>
          </p:nvPr>
        </p:nvSpPr>
        <p:spPr/>
        <p:txBody>
          <a:bodyPr/>
          <a:lstStyle/>
          <a:p>
            <a:pPr eaLnBrk="1" hangingPunct="1"/>
            <a:r>
              <a:rPr lang="en-US" altLang="zh-CN" sz="3600" dirty="0" smtClean="0"/>
              <a:t>1. </a:t>
            </a:r>
            <a:r>
              <a:rPr lang="zh-CN" altLang="en-US" sz="3600" dirty="0" smtClean="0"/>
              <a:t>连接查询 </a:t>
            </a:r>
          </a:p>
        </p:txBody>
      </p:sp>
      <p:sp>
        <p:nvSpPr>
          <p:cNvPr id="7171" name="Rectangle 3"/>
          <p:cNvSpPr>
            <a:spLocks noGrp="1" noChangeArrowheads="1"/>
          </p:cNvSpPr>
          <p:nvPr>
            <p:ph type="body" idx="4294967295"/>
          </p:nvPr>
        </p:nvSpPr>
        <p:spPr>
          <a:xfrm>
            <a:off x="323850" y="1030288"/>
            <a:ext cx="8505825" cy="5494337"/>
          </a:xfrm>
        </p:spPr>
        <p:txBody>
          <a:bodyPr>
            <a:normAutofit/>
          </a:bodyPr>
          <a:lstStyle/>
          <a:p>
            <a:pPr algn="just" eaLnBrk="1" hangingPunct="1">
              <a:lnSpc>
                <a:spcPct val="150000"/>
              </a:lnSpc>
            </a:pPr>
            <a:r>
              <a:rPr lang="zh-CN" altLang="en-US" dirty="0" smtClean="0"/>
              <a:t>连接查询：同时涉及两个以上的表的查询</a:t>
            </a:r>
          </a:p>
          <a:p>
            <a:pPr algn="just" eaLnBrk="1" hangingPunct="1"/>
            <a:r>
              <a:rPr lang="en-US" altLang="zh-CN" dirty="0"/>
              <a:t> </a:t>
            </a:r>
            <a:r>
              <a:rPr lang="zh-CN" altLang="en-US" dirty="0" smtClean="0"/>
              <a:t>对应关系代数的</a:t>
            </a:r>
            <a:endParaRPr lang="en-US" altLang="zh-CN" dirty="0" smtClean="0"/>
          </a:p>
          <a:p>
            <a:pPr algn="just" eaLnBrk="1" hangingPunct="1"/>
            <a:r>
              <a:rPr lang="en-US" altLang="zh-CN" dirty="0" smtClean="0"/>
              <a:t>Join </a:t>
            </a:r>
            <a:r>
              <a:rPr lang="zh-CN" altLang="en-US" dirty="0" smtClean="0"/>
              <a:t>（</a:t>
            </a:r>
            <a:r>
              <a:rPr lang="en-US" altLang="zh-CN" dirty="0" smtClean="0"/>
              <a:t>inner join</a:t>
            </a:r>
            <a:r>
              <a:rPr lang="zh-CN" altLang="en-US" dirty="0" smtClean="0"/>
              <a:t>）</a:t>
            </a:r>
            <a:endParaRPr lang="en-US" altLang="zh-CN" dirty="0" smtClean="0"/>
          </a:p>
          <a:p>
            <a:pPr algn="just" eaLnBrk="1" hangingPunct="1"/>
            <a:endParaRPr lang="en-US" altLang="zh-CN" dirty="0"/>
          </a:p>
          <a:p>
            <a:pPr algn="just"/>
            <a:r>
              <a:rPr lang="en-US" altLang="zh-CN" dirty="0"/>
              <a:t>Natural </a:t>
            </a:r>
            <a:r>
              <a:rPr lang="en-US" altLang="zh-CN" dirty="0" smtClean="0"/>
              <a:t>join</a:t>
            </a:r>
          </a:p>
          <a:p>
            <a:pPr algn="just"/>
            <a:endParaRPr lang="en-US" altLang="zh-CN" dirty="0"/>
          </a:p>
          <a:p>
            <a:pPr algn="just"/>
            <a:r>
              <a:rPr lang="en-US" altLang="zh-CN" dirty="0" smtClean="0"/>
              <a:t>Left outer join</a:t>
            </a:r>
          </a:p>
          <a:p>
            <a:pPr algn="just"/>
            <a:endParaRPr lang="en-US" altLang="zh-CN" dirty="0"/>
          </a:p>
          <a:p>
            <a:pPr algn="just"/>
            <a:r>
              <a:rPr lang="en-US" altLang="zh-CN" dirty="0" smtClean="0"/>
              <a:t>Right outer join</a:t>
            </a:r>
            <a:endParaRPr lang="zh-CN" altLang="en-US" dirty="0" smtClean="0"/>
          </a:p>
        </p:txBody>
      </p:sp>
      <p:grpSp>
        <p:nvGrpSpPr>
          <p:cNvPr id="4" name="Group 9"/>
          <p:cNvGrpSpPr>
            <a:grpSpLocks/>
          </p:cNvGrpSpPr>
          <p:nvPr/>
        </p:nvGrpSpPr>
        <p:grpSpPr bwMode="auto">
          <a:xfrm>
            <a:off x="3049182" y="1889262"/>
            <a:ext cx="1295400" cy="677863"/>
            <a:chOff x="2305" y="9420"/>
            <a:chExt cx="705" cy="363"/>
          </a:xfrm>
        </p:grpSpPr>
        <p:sp>
          <p:nvSpPr>
            <p:cNvPr id="5" name="AutoShape 10"/>
            <p:cNvSpPr>
              <a:spLocks noChangeArrowheads="1"/>
            </p:cNvSpPr>
            <p:nvPr/>
          </p:nvSpPr>
          <p:spPr bwMode="auto">
            <a:xfrm rot="5400000" flipV="1">
              <a:off x="2642" y="9423"/>
              <a:ext cx="78" cy="142"/>
            </a:xfrm>
            <a:prstGeom prst="flowChartCollate">
              <a:avLst/>
            </a:prstGeom>
            <a:solidFill>
              <a:srgbClr val="FFFFFF"/>
            </a:solidFill>
            <a:ln w="6350">
              <a:solidFill>
                <a:srgbClr val="000000"/>
              </a:solidFill>
              <a:miter lim="800000"/>
              <a:headEnd/>
              <a:tailEnd/>
            </a:ln>
          </p:spPr>
          <p:txBody>
            <a:bodyPr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sp>
          <p:nvSpPr>
            <p:cNvPr id="6" name="Text Box 11"/>
            <p:cNvSpPr txBox="1">
              <a:spLocks noChangeArrowheads="1"/>
            </p:cNvSpPr>
            <p:nvPr/>
          </p:nvSpPr>
          <p:spPr bwMode="auto">
            <a:xfrm flipV="1">
              <a:off x="2305" y="9420"/>
              <a:ext cx="705" cy="3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rot="10800000" vert="eaVert"/>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just">
                <a:lnSpc>
                  <a:spcPct val="80000"/>
                </a:lnSpc>
              </a:pPr>
              <a:endParaRPr lang="zh-CN" altLang="zh-CN" sz="2000"/>
            </a:p>
          </p:txBody>
        </p:sp>
      </p:grpSp>
      <p:sp>
        <p:nvSpPr>
          <p:cNvPr id="7" name="矩形 6"/>
          <p:cNvSpPr/>
          <p:nvPr/>
        </p:nvSpPr>
        <p:spPr>
          <a:xfrm>
            <a:off x="633468" y="2763089"/>
            <a:ext cx="765558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smtClean="0">
                <a:solidFill>
                  <a:srgbClr val="FF0000"/>
                </a:solidFill>
                <a:latin typeface="Courier New" panose="02070309020205020404" pitchFamily="49" charset="0"/>
              </a:rPr>
              <a:t>inner</a:t>
            </a:r>
            <a:r>
              <a:rPr lang="en-US" altLang="zh-CN" dirty="0">
                <a:solidFill>
                  <a:srgbClr val="FF0000"/>
                </a:solidFill>
                <a:latin typeface="Courier New" panose="02070309020205020404" pitchFamily="49" charset="0"/>
              </a:rPr>
              <a:t> 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8" name="矩形 7"/>
          <p:cNvSpPr/>
          <p:nvPr/>
        </p:nvSpPr>
        <p:spPr>
          <a:xfrm>
            <a:off x="633468" y="3848247"/>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 </a:t>
            </a:r>
            <a:r>
              <a:rPr lang="en-US" altLang="zh-CN" dirty="0" smtClean="0">
                <a:solidFill>
                  <a:srgbClr val="0055AA"/>
                </a:solidFill>
                <a:latin typeface="Courier New" panose="02070309020205020404" pitchFamily="49" charset="0"/>
              </a:rPr>
              <a:t>`</a:t>
            </a:r>
            <a:r>
              <a:rPr lang="en-US" altLang="zh-CN" dirty="0" err="1" smtClean="0">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a:t>
            </a:r>
            <a:endParaRPr lang="zh-CN" altLang="en-US" dirty="0"/>
          </a:p>
        </p:txBody>
      </p:sp>
      <p:sp>
        <p:nvSpPr>
          <p:cNvPr id="2" name="矩形 1"/>
          <p:cNvSpPr/>
          <p:nvPr/>
        </p:nvSpPr>
        <p:spPr>
          <a:xfrm flipH="1">
            <a:off x="723900" y="4732723"/>
            <a:ext cx="8281555"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4"/>
              </a:rPr>
              <a:t>left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
        <p:nvSpPr>
          <p:cNvPr id="10" name="矩形 9"/>
          <p:cNvSpPr/>
          <p:nvPr/>
        </p:nvSpPr>
        <p:spPr>
          <a:xfrm>
            <a:off x="633468" y="5788553"/>
            <a:ext cx="8371987" cy="646331"/>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235A81"/>
                </a:solidFill>
                <a:latin typeface="Courier New" panose="02070309020205020404" pitchFamily="49" charset="0"/>
                <a:hlinkClick r:id="rId5"/>
              </a:rPr>
              <a:t>right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outer</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join</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a:solidFill>
                  <a:srgbClr val="0055AA"/>
                </a:solidFill>
                <a:latin typeface="Courier New" panose="02070309020205020404" pitchFamily="49" charset="0"/>
              </a:rPr>
              <a:t>`</a:t>
            </a:r>
            <a:r>
              <a:rPr lang="en-US" altLang="zh-CN" dirty="0">
                <a:solidFill>
                  <a:srgbClr val="444444"/>
                </a:solidFill>
                <a:latin typeface="Courier New" panose="02070309020205020404" pitchFamily="49" charset="0"/>
              </a:rPr>
              <a:t> </a:t>
            </a:r>
            <a:r>
              <a:rPr lang="en-US" altLang="zh-CN" dirty="0">
                <a:solidFill>
                  <a:srgbClr val="770088"/>
                </a:solidFill>
                <a:latin typeface="Courier New" panose="02070309020205020404" pitchFamily="49" charset="0"/>
              </a:rPr>
              <a:t>on</a:t>
            </a:r>
            <a:r>
              <a:rPr lang="en-US" altLang="zh-CN" dirty="0">
                <a:solidFill>
                  <a:srgbClr val="444444"/>
                </a:solidFill>
                <a:latin typeface="Courier New" panose="02070309020205020404" pitchFamily="49" charset="0"/>
              </a:rPr>
              <a:t> </a:t>
            </a:r>
            <a:r>
              <a:rPr lang="en-US" altLang="zh-CN" dirty="0" err="1">
                <a:solidFill>
                  <a:srgbClr val="444444"/>
                </a:solidFill>
                <a:latin typeface="Courier New" panose="02070309020205020404" pitchFamily="49" charset="0"/>
              </a:rPr>
              <a:t>dept</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r>
              <a:rPr lang="en-US" altLang="zh-CN" dirty="0">
                <a:solidFill>
                  <a:srgbClr val="444444"/>
                </a:solidFill>
                <a:latin typeface="Courier New" panose="02070309020205020404" pitchFamily="49" charset="0"/>
              </a:rPr>
              <a:t>=</a:t>
            </a:r>
            <a:r>
              <a:rPr lang="en-US" altLang="zh-CN" dirty="0" err="1">
                <a:solidFill>
                  <a:srgbClr val="444444"/>
                </a:solidFill>
                <a:latin typeface="Courier New" panose="02070309020205020404" pitchFamily="49" charset="0"/>
              </a:rPr>
              <a:t>emp</a:t>
            </a:r>
            <a:r>
              <a:rPr lang="en-US" altLang="zh-CN" dirty="0">
                <a:solidFill>
                  <a:srgbClr val="444444"/>
                </a:solidFill>
                <a:latin typeface="Courier New" panose="02070309020205020404" pitchFamily="49" charset="0"/>
              </a:rPr>
              <a:t>.</a:t>
            </a:r>
            <a:r>
              <a:rPr lang="en-US" altLang="zh-CN" dirty="0">
                <a:solidFill>
                  <a:srgbClr val="0055AA"/>
                </a:solidFill>
                <a:latin typeface="Courier New" panose="02070309020205020404" pitchFamily="49" charset="0"/>
              </a:rPr>
              <a:t>`DEPTNO`</a:t>
            </a:r>
            <a:endParaRPr lang="zh-CN" altLang="en-US" dirty="0"/>
          </a:p>
        </p:txBody>
      </p:sp>
    </p:spTree>
    <p:extLst>
      <p:ext uri="{BB962C8B-B14F-4D97-AF65-F5344CB8AC3E}">
        <p14:creationId xmlns:p14="http://schemas.microsoft.com/office/powerpoint/2010/main" val="2091894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Rectangle 2"/>
          <p:cNvSpPr>
            <a:spLocks noGrp="1" noChangeArrowheads="1"/>
          </p:cNvSpPr>
          <p:nvPr>
            <p:ph type="title" idx="4294967295"/>
          </p:nvPr>
        </p:nvSpPr>
        <p:spPr/>
        <p:txBody>
          <a:bodyPr/>
          <a:lstStyle/>
          <a:p>
            <a:pPr eaLnBrk="1" hangingPunct="1"/>
            <a:r>
              <a:rPr lang="zh-CN" altLang="en-US" sz="3600" smtClean="0"/>
              <a:t>连接查询（续）</a:t>
            </a:r>
          </a:p>
        </p:txBody>
      </p:sp>
      <p:sp>
        <p:nvSpPr>
          <p:cNvPr id="8195" name="Rectangle 3"/>
          <p:cNvSpPr>
            <a:spLocks noGrp="1" noChangeArrowheads="1"/>
          </p:cNvSpPr>
          <p:nvPr>
            <p:ph type="body" idx="4294967295"/>
          </p:nvPr>
        </p:nvSpPr>
        <p:spPr/>
        <p:txBody>
          <a:bodyPr/>
          <a:lstStyle/>
          <a:p>
            <a:pPr lvl="1">
              <a:buFont typeface="Wingdings" panose="05000000000000000000" pitchFamily="2" charset="2"/>
              <a:buNone/>
            </a:pPr>
            <a:endParaRPr lang="en-US" altLang="zh-CN" dirty="0" smtClean="0"/>
          </a:p>
          <a:p>
            <a:pPr lvl="1">
              <a:lnSpc>
                <a:spcPct val="150000"/>
              </a:lnSpc>
              <a:buFont typeface="Wingdings" panose="05000000000000000000" pitchFamily="2" charset="2"/>
              <a:buNone/>
            </a:pPr>
            <a:r>
              <a:rPr lang="en-US" altLang="zh-CN" sz="2800" dirty="0" smtClean="0">
                <a:solidFill>
                  <a:srgbClr val="7030A0"/>
                </a:solidFill>
              </a:rPr>
              <a:t>(1)</a:t>
            </a:r>
            <a:r>
              <a:rPr lang="zh-CN" altLang="en-US" sz="2800" dirty="0" smtClean="0">
                <a:solidFill>
                  <a:srgbClr val="7030A0"/>
                </a:solidFill>
              </a:rPr>
              <a:t>等值与非等值连接查询 </a:t>
            </a:r>
          </a:p>
          <a:p>
            <a:pPr lvl="1">
              <a:lnSpc>
                <a:spcPct val="150000"/>
              </a:lnSpc>
              <a:buFont typeface="Wingdings" panose="05000000000000000000" pitchFamily="2" charset="2"/>
              <a:buNone/>
            </a:pPr>
            <a:r>
              <a:rPr lang="en-US" altLang="zh-CN" sz="2800" dirty="0" smtClean="0"/>
              <a:t>(2)</a:t>
            </a:r>
            <a:r>
              <a:rPr lang="zh-CN" altLang="en-US" sz="2800" dirty="0" smtClean="0"/>
              <a:t>自身连接</a:t>
            </a:r>
          </a:p>
          <a:p>
            <a:pPr lvl="1">
              <a:lnSpc>
                <a:spcPct val="150000"/>
              </a:lnSpc>
              <a:buFont typeface="Wingdings" panose="05000000000000000000" pitchFamily="2" charset="2"/>
              <a:buNone/>
            </a:pPr>
            <a:r>
              <a:rPr lang="en-US" altLang="zh-CN" sz="2800" dirty="0" smtClean="0"/>
              <a:t>(3)</a:t>
            </a:r>
            <a:r>
              <a:rPr lang="zh-CN" altLang="en-US" sz="2800" dirty="0" smtClean="0"/>
              <a:t>外连接</a:t>
            </a:r>
            <a:endParaRPr lang="en-US" altLang="zh-CN" sz="2800" dirty="0" smtClean="0"/>
          </a:p>
          <a:p>
            <a:pPr lvl="1">
              <a:lnSpc>
                <a:spcPct val="150000"/>
              </a:lnSpc>
              <a:buNone/>
            </a:pPr>
            <a:r>
              <a:rPr lang="en-US" altLang="zh-CN" sz="2800" dirty="0" smtClean="0"/>
              <a:t>(4)</a:t>
            </a:r>
            <a:r>
              <a:rPr lang="zh-CN" altLang="en-US" sz="2800" dirty="0" smtClean="0"/>
              <a:t>多</a:t>
            </a:r>
            <a:r>
              <a:rPr lang="zh-CN" altLang="en-US" sz="2800" dirty="0"/>
              <a:t>表连接</a:t>
            </a:r>
          </a:p>
          <a:p>
            <a:pPr lvl="1">
              <a:buFont typeface="Wingdings" panose="05000000000000000000" pitchFamily="2" charset="2"/>
              <a:buNone/>
            </a:pPr>
            <a:endParaRPr lang="en-US" altLang="zh-CN" sz="2800" dirty="0" smtClean="0"/>
          </a:p>
        </p:txBody>
      </p:sp>
    </p:spTree>
    <p:extLst>
      <p:ext uri="{BB962C8B-B14F-4D97-AF65-F5344CB8AC3E}">
        <p14:creationId xmlns:p14="http://schemas.microsoft.com/office/powerpoint/2010/main" val="12818223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idx="4294967295"/>
          </p:nvPr>
        </p:nvSpPr>
        <p:spPr/>
        <p:txBody>
          <a:bodyPr/>
          <a:lstStyle/>
          <a:p>
            <a:pPr eaLnBrk="1" hangingPunct="1"/>
            <a:r>
              <a:rPr lang="zh-CN" altLang="en-US" sz="3600" dirty="0" smtClean="0"/>
              <a:t>（</a:t>
            </a:r>
            <a:r>
              <a:rPr lang="en-US" altLang="zh-CN" sz="3600" dirty="0" smtClean="0"/>
              <a:t>1</a:t>
            </a:r>
            <a:r>
              <a:rPr lang="zh-CN" altLang="en-US" sz="3600" dirty="0" smtClean="0"/>
              <a:t>） 等值与非等值连接查询 </a:t>
            </a:r>
          </a:p>
        </p:txBody>
      </p:sp>
      <p:sp>
        <p:nvSpPr>
          <p:cNvPr id="9219" name="Rectangle 3"/>
          <p:cNvSpPr>
            <a:spLocks noGrp="1" noChangeArrowheads="1"/>
          </p:cNvSpPr>
          <p:nvPr>
            <p:ph type="body" idx="4294967295"/>
          </p:nvPr>
        </p:nvSpPr>
        <p:spPr>
          <a:xfrm>
            <a:off x="684213" y="1268413"/>
            <a:ext cx="7696200" cy="4114800"/>
          </a:xfrm>
        </p:spPr>
        <p:txBody>
          <a:bodyPr/>
          <a:lstStyle/>
          <a:p>
            <a:pPr algn="just" eaLnBrk="1" hangingPunct="1">
              <a:lnSpc>
                <a:spcPct val="120000"/>
              </a:lnSpc>
            </a:pPr>
            <a:r>
              <a:rPr lang="zh-CN" altLang="en-US" dirty="0" smtClean="0"/>
              <a:t>等值连接：连接运算符为</a:t>
            </a:r>
            <a:r>
              <a:rPr lang="en-US" altLang="zh-CN" dirty="0" smtClean="0"/>
              <a:t>=</a:t>
            </a:r>
          </a:p>
          <a:p>
            <a:pPr algn="just" eaLnBrk="1" hangingPunct="1">
              <a:lnSpc>
                <a:spcPct val="12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3.49]  </a:t>
            </a:r>
            <a:r>
              <a:rPr lang="zh-CN" altLang="en-US" sz="2400" dirty="0" smtClean="0"/>
              <a:t>查询每个学生及其选修课程的情况</a:t>
            </a:r>
          </a:p>
          <a:p>
            <a:pPr algn="just" eaLnBrk="1" hangingPunct="1">
              <a:lnSpc>
                <a:spcPct val="120000"/>
              </a:lnSpc>
              <a:buFont typeface="Wingdings" panose="05000000000000000000" pitchFamily="2" charset="2"/>
              <a:buNone/>
            </a:pPr>
            <a:r>
              <a:rPr lang="zh-CN" altLang="en-US" sz="2400" dirty="0" smtClean="0"/>
              <a:t>		         </a:t>
            </a:r>
            <a:r>
              <a:rPr lang="en-US" altLang="zh-CN" sz="2400" dirty="0" smtClean="0"/>
              <a:t>SELECT  Student.*</a:t>
            </a:r>
            <a:r>
              <a:rPr lang="zh-CN" altLang="en-US" sz="2400" dirty="0" smtClean="0"/>
              <a:t>, </a:t>
            </a:r>
            <a:r>
              <a:rPr lang="en-US" altLang="zh-CN" sz="2400" dirty="0" smtClean="0"/>
              <a:t>SC.*</a:t>
            </a:r>
          </a:p>
          <a:p>
            <a:pPr eaLnBrk="1" hangingPunct="1">
              <a:lnSpc>
                <a:spcPct val="130000"/>
              </a:lnSpc>
              <a:buFont typeface="Wingdings" panose="05000000000000000000" pitchFamily="2" charset="2"/>
              <a:buNone/>
            </a:pPr>
            <a:r>
              <a:rPr lang="en-US" altLang="zh-CN" sz="2400" dirty="0" smtClean="0"/>
              <a:t>		        </a:t>
            </a:r>
            <a:r>
              <a:rPr lang="zh-CN" altLang="en-US" sz="2400" dirty="0" smtClean="0"/>
              <a:t> </a:t>
            </a:r>
            <a:r>
              <a:rPr lang="en-US" altLang="zh-CN" sz="2400" dirty="0" smtClean="0"/>
              <a:t>FROM     Student</a:t>
            </a:r>
            <a:r>
              <a:rPr lang="zh-CN" altLang="en-US" sz="2400" dirty="0" smtClean="0"/>
              <a:t>, </a:t>
            </a:r>
            <a:r>
              <a:rPr lang="en-US" altLang="zh-CN" sz="2400" dirty="0" smtClean="0"/>
              <a:t>SC</a:t>
            </a:r>
          </a:p>
          <a:p>
            <a:pPr eaLnBrk="1" hangingPunct="1">
              <a:lnSpc>
                <a:spcPct val="130000"/>
              </a:lnSpc>
              <a:buFont typeface="Wingdings" panose="05000000000000000000" pitchFamily="2" charset="2"/>
              <a:buNone/>
            </a:pPr>
            <a:r>
              <a:rPr lang="en-US" altLang="zh-CN" sz="2400" dirty="0" smtClean="0"/>
              <a:t>		</a:t>
            </a:r>
            <a:r>
              <a:rPr lang="zh-CN" altLang="en-US" sz="2400" dirty="0" smtClean="0"/>
              <a:t>         </a:t>
            </a:r>
            <a:r>
              <a:rPr lang="en-US" altLang="zh-CN" sz="2400" dirty="0" smtClean="0"/>
              <a:t>WHERE  </a:t>
            </a:r>
            <a:r>
              <a:rPr lang="en-US" altLang="zh-CN" sz="2400" dirty="0" err="1" smtClean="0"/>
              <a:t>Student.Sno</a:t>
            </a:r>
            <a:r>
              <a:rPr lang="en-US" altLang="zh-CN" sz="2400" dirty="0" smtClean="0"/>
              <a:t> = </a:t>
            </a:r>
            <a:r>
              <a:rPr lang="en-US" altLang="zh-CN" sz="2400" dirty="0" err="1" smtClean="0"/>
              <a:t>SC.Sno</a:t>
            </a:r>
            <a:r>
              <a:rPr lang="zh-CN" altLang="en-US" sz="2400" dirty="0" smtClean="0"/>
              <a:t>;</a:t>
            </a:r>
          </a:p>
        </p:txBody>
      </p:sp>
      <p:sp>
        <p:nvSpPr>
          <p:cNvPr id="4" name="Rectangle 83"/>
          <p:cNvSpPr>
            <a:spLocks noChangeArrowheads="1"/>
          </p:cNvSpPr>
          <p:nvPr/>
        </p:nvSpPr>
        <p:spPr bwMode="auto">
          <a:xfrm>
            <a:off x="114350" y="4136602"/>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graphicFrame>
        <p:nvGraphicFramePr>
          <p:cNvPr id="5" name="Group 271"/>
          <p:cNvGraphicFramePr>
            <a:graphicFrameLocks/>
          </p:cNvGraphicFramePr>
          <p:nvPr>
            <p:extLst>
              <p:ext uri="{D42A27DB-BD31-4B8C-83A1-F6EECF244321}">
                <p14:modId xmlns:p14="http://schemas.microsoft.com/office/powerpoint/2010/main" val="23809980"/>
              </p:ext>
            </p:extLst>
          </p:nvPr>
        </p:nvGraphicFramePr>
        <p:xfrm>
          <a:off x="0" y="4634492"/>
          <a:ext cx="4554070" cy="2223508"/>
        </p:xfrm>
        <a:graphic>
          <a:graphicData uri="http://schemas.openxmlformats.org/drawingml/2006/table">
            <a:tbl>
              <a:tblPr>
                <a:tableStyleId>{2D5ABB26-0587-4C30-8999-92F81FD0307C}</a:tableStyleId>
              </a:tblPr>
              <a:tblGrid>
                <a:gridCol w="1141551">
                  <a:extLst>
                    <a:ext uri="{9D8B030D-6E8A-4147-A177-3AD203B41FA5}">
                      <a16:colId xmlns:a16="http://schemas.microsoft.com/office/drawing/2014/main" xmlns="" val="20000"/>
                    </a:ext>
                  </a:extLst>
                </a:gridCol>
                <a:gridCol w="680428">
                  <a:extLst>
                    <a:ext uri="{9D8B030D-6E8A-4147-A177-3AD203B41FA5}">
                      <a16:colId xmlns:a16="http://schemas.microsoft.com/office/drawing/2014/main" xmlns="" val="20001"/>
                    </a:ext>
                  </a:extLst>
                </a:gridCol>
                <a:gridCol w="910111">
                  <a:extLst>
                    <a:ext uri="{9D8B030D-6E8A-4147-A177-3AD203B41FA5}">
                      <a16:colId xmlns:a16="http://schemas.microsoft.com/office/drawing/2014/main" xmlns="" val="20002"/>
                    </a:ext>
                  </a:extLst>
                </a:gridCol>
                <a:gridCol w="910990">
                  <a:extLst>
                    <a:ext uri="{9D8B030D-6E8A-4147-A177-3AD203B41FA5}">
                      <a16:colId xmlns:a16="http://schemas.microsoft.com/office/drawing/2014/main" xmlns="" val="20003"/>
                    </a:ext>
                  </a:extLst>
                </a:gridCol>
                <a:gridCol w="910990">
                  <a:extLst>
                    <a:ext uri="{9D8B030D-6E8A-4147-A177-3AD203B41FA5}">
                      <a16:colId xmlns:a16="http://schemas.microsoft.com/office/drawing/2014/main" xmlns="" val="20004"/>
                    </a:ext>
                  </a:extLst>
                </a:gridCol>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bl>
          </a:graphicData>
        </a:graphic>
      </p:graphicFrame>
      <p:graphicFrame>
        <p:nvGraphicFramePr>
          <p:cNvPr id="6" name="Group 384"/>
          <p:cNvGraphicFramePr>
            <a:graphicFrameLocks/>
          </p:cNvGraphicFramePr>
          <p:nvPr>
            <p:extLst>
              <p:ext uri="{D42A27DB-BD31-4B8C-83A1-F6EECF244321}">
                <p14:modId xmlns:p14="http://schemas.microsoft.com/office/powerpoint/2010/main" val="2968798594"/>
              </p:ext>
            </p:extLst>
          </p:nvPr>
        </p:nvGraphicFramePr>
        <p:xfrm>
          <a:off x="6179027" y="4634492"/>
          <a:ext cx="2885599" cy="2185668"/>
        </p:xfrm>
        <a:graphic>
          <a:graphicData uri="http://schemas.openxmlformats.org/drawingml/2006/table">
            <a:tbl>
              <a:tblPr/>
              <a:tblGrid>
                <a:gridCol w="945896">
                  <a:extLst>
                    <a:ext uri="{9D8B030D-6E8A-4147-A177-3AD203B41FA5}">
                      <a16:colId xmlns:a16="http://schemas.microsoft.com/office/drawing/2014/main" xmlns="" val="20000"/>
                    </a:ext>
                  </a:extLst>
                </a:gridCol>
                <a:gridCol w="1057041">
                  <a:extLst>
                    <a:ext uri="{9D8B030D-6E8A-4147-A177-3AD203B41FA5}">
                      <a16:colId xmlns:a16="http://schemas.microsoft.com/office/drawing/2014/main" xmlns="" val="20001"/>
                    </a:ext>
                  </a:extLst>
                </a:gridCol>
                <a:gridCol w="882662">
                  <a:extLst>
                    <a:ext uri="{9D8B030D-6E8A-4147-A177-3AD203B41FA5}">
                      <a16:colId xmlns:a16="http://schemas.microsoft.com/office/drawing/2014/main" xmlns="" val="20002"/>
                    </a:ext>
                  </a:extLst>
                </a:gridCol>
              </a:tblGrid>
              <a:tr h="594273">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7" name="Rectangle 185"/>
          <p:cNvSpPr>
            <a:spLocks noChangeArrowheads="1"/>
          </p:cNvSpPr>
          <p:nvPr/>
        </p:nvSpPr>
        <p:spPr bwMode="auto">
          <a:xfrm>
            <a:off x="7082077" y="4073501"/>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160345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9219">
                                            <p:txEl>
                                              <p:pRg st="2" end="2"/>
                                            </p:txEl>
                                          </p:spTgt>
                                        </p:tgtEl>
                                        <p:attrNameLst>
                                          <p:attrName>style.visibility</p:attrName>
                                        </p:attrNameLst>
                                      </p:cBhvr>
                                      <p:to>
                                        <p:strVal val="visible"/>
                                      </p:to>
                                    </p:set>
                                    <p:anim calcmode="lin" valueType="num">
                                      <p:cBhvr additive="base">
                                        <p:cTn id="7" dur="500" fill="hold"/>
                                        <p:tgtEl>
                                          <p:spTgt spid="92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9219">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9219">
                                            <p:txEl>
                                              <p:pRg st="3" end="3"/>
                                            </p:txEl>
                                          </p:spTgt>
                                        </p:tgtEl>
                                        <p:attrNameLst>
                                          <p:attrName>style.visibility</p:attrName>
                                        </p:attrNameLst>
                                      </p:cBhvr>
                                      <p:to>
                                        <p:strVal val="visible"/>
                                      </p:to>
                                    </p:set>
                                    <p:anim calcmode="lin" valueType="num">
                                      <p:cBhvr additive="base">
                                        <p:cTn id="11" dur="500" fill="hold"/>
                                        <p:tgtEl>
                                          <p:spTgt spid="9219">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9219">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9219">
                                            <p:txEl>
                                              <p:pRg st="4" end="4"/>
                                            </p:txEl>
                                          </p:spTgt>
                                        </p:tgtEl>
                                        <p:attrNameLst>
                                          <p:attrName>style.visibility</p:attrName>
                                        </p:attrNameLst>
                                      </p:cBhvr>
                                      <p:to>
                                        <p:strVal val="visible"/>
                                      </p:to>
                                    </p:set>
                                    <p:anim calcmode="lin" valueType="num">
                                      <p:cBhvr additive="base">
                                        <p:cTn id="15" dur="500" fill="hold"/>
                                        <p:tgtEl>
                                          <p:spTgt spid="9219">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9219">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312"/>
          <p:cNvSpPr>
            <a:spLocks noGrp="1" noChangeArrowheads="1"/>
          </p:cNvSpPr>
          <p:nvPr>
            <p:ph type="title" idx="4294967295"/>
          </p:nvPr>
        </p:nvSpPr>
        <p:spPr>
          <a:xfrm>
            <a:off x="900113" y="188913"/>
            <a:ext cx="7391400" cy="563562"/>
          </a:xfrm>
        </p:spPr>
        <p:txBody>
          <a:bodyPr>
            <a:normAutofit fontScale="90000"/>
          </a:bodyPr>
          <a:lstStyle/>
          <a:p>
            <a:pPr eaLnBrk="1" hangingPunct="1"/>
            <a:r>
              <a:rPr lang="zh-CN" altLang="en-US" sz="3600" smtClean="0"/>
              <a:t>等值与非等值连接查询（续）</a:t>
            </a:r>
          </a:p>
        </p:txBody>
      </p:sp>
      <p:graphicFrame>
        <p:nvGraphicFramePr>
          <p:cNvPr id="15363" name="Group 3"/>
          <p:cNvGraphicFramePr>
            <a:graphicFrameLocks noGrp="1"/>
          </p:cNvGraphicFramePr>
          <p:nvPr>
            <p:ph idx="4294967295"/>
          </p:nvPr>
        </p:nvGraphicFramePr>
        <p:xfrm>
          <a:off x="684213" y="1916113"/>
          <a:ext cx="7999412" cy="2968626"/>
        </p:xfrm>
        <a:graphic>
          <a:graphicData uri="http://schemas.openxmlformats.org/drawingml/2006/table">
            <a:tbl>
              <a:tblPr/>
              <a:tblGrid>
                <a:gridCol w="1565275">
                  <a:extLst>
                    <a:ext uri="{9D8B030D-6E8A-4147-A177-3AD203B41FA5}">
                      <a16:colId xmlns:a16="http://schemas.microsoft.com/office/drawing/2014/main" xmlns="" val="20000"/>
                    </a:ext>
                  </a:extLst>
                </a:gridCol>
                <a:gridCol w="957262">
                  <a:extLst>
                    <a:ext uri="{9D8B030D-6E8A-4147-A177-3AD203B41FA5}">
                      <a16:colId xmlns:a16="http://schemas.microsoft.com/office/drawing/2014/main" xmlns="" val="20001"/>
                    </a:ext>
                  </a:extLst>
                </a:gridCol>
                <a:gridCol w="752475">
                  <a:extLst>
                    <a:ext uri="{9D8B030D-6E8A-4147-A177-3AD203B41FA5}">
                      <a16:colId xmlns:a16="http://schemas.microsoft.com/office/drawing/2014/main" xmlns="" val="20002"/>
                    </a:ext>
                  </a:extLst>
                </a:gridCol>
                <a:gridCol w="819150">
                  <a:extLst>
                    <a:ext uri="{9D8B030D-6E8A-4147-A177-3AD203B41FA5}">
                      <a16:colId xmlns:a16="http://schemas.microsoft.com/office/drawing/2014/main" xmlns="" val="20003"/>
                    </a:ext>
                  </a:extLst>
                </a:gridCol>
                <a:gridCol w="819150">
                  <a:extLst>
                    <a:ext uri="{9D8B030D-6E8A-4147-A177-3AD203B41FA5}">
                      <a16:colId xmlns:a16="http://schemas.microsoft.com/office/drawing/2014/main" xmlns="" val="20004"/>
                    </a:ext>
                  </a:extLst>
                </a:gridCol>
                <a:gridCol w="1436688">
                  <a:extLst>
                    <a:ext uri="{9D8B030D-6E8A-4147-A177-3AD203B41FA5}">
                      <a16:colId xmlns:a16="http://schemas.microsoft.com/office/drawing/2014/main" xmlns="" val="20005"/>
                    </a:ext>
                  </a:extLst>
                </a:gridCol>
                <a:gridCol w="674687">
                  <a:extLst>
                    <a:ext uri="{9D8B030D-6E8A-4147-A177-3AD203B41FA5}">
                      <a16:colId xmlns:a16="http://schemas.microsoft.com/office/drawing/2014/main" xmlns="" val="20006"/>
                    </a:ext>
                  </a:extLst>
                </a:gridCol>
                <a:gridCol w="974725">
                  <a:extLst>
                    <a:ext uri="{9D8B030D-6E8A-4147-A177-3AD203B41FA5}">
                      <a16:colId xmlns:a16="http://schemas.microsoft.com/office/drawing/2014/main" xmlns="" val="20007"/>
                    </a:ext>
                  </a:extLst>
                </a:gridCol>
              </a:tblGrid>
              <a:tr h="5207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Student.Sno</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Sname</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Ssex</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Sage</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Sdept</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SC.Sno</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Cno</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Grade</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0"/>
                  </a:ext>
                </a:extLst>
              </a:tr>
              <a:tr h="503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92</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504825">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503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李勇</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男</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201215121</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88</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r h="504825">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90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4"/>
                  </a:ext>
                </a:extLst>
              </a:tr>
              <a:tr h="431800">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刘晨</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zh-CN" altLang="en-US"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女</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19</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CS</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201215122</a:t>
                      </a:r>
                    </a:p>
                  </a:txBody>
                  <a:tcPr horzOverflow="overflow">
                    <a:lnL>
                      <a:noFill/>
                    </a:lnL>
                    <a:lnR>
                      <a:noFill/>
                    </a:lnR>
                    <a:lnT>
                      <a:noFill/>
                    </a:lnT>
                    <a:lnB>
                      <a:noFill/>
                    </a:lnB>
                    <a:lnTlToBr>
                      <a:noFill/>
                    </a:lnTlToBr>
                    <a:lnBlToTr>
                      <a:noFill/>
                    </a:lnBlToTr>
                    <a:solidFill>
                      <a:srgbClr val="B3B3B3"/>
                    </a:solid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0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80</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10292" name="Text Box 423"/>
          <p:cNvSpPr txBox="1">
            <a:spLocks noChangeArrowheads="1"/>
          </p:cNvSpPr>
          <p:nvPr/>
        </p:nvSpPr>
        <p:spPr bwMode="auto">
          <a:xfrm>
            <a:off x="427038" y="1270000"/>
            <a:ext cx="1706562"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zh-CN" altLang="en-US" sz="2400" b="1">
                <a:latin typeface="Times New Roman" panose="02020603050405020304" pitchFamily="18" charset="0"/>
              </a:rPr>
              <a:t>查询结果：</a:t>
            </a:r>
          </a:p>
        </p:txBody>
      </p:sp>
      <p:sp>
        <p:nvSpPr>
          <p:cNvPr id="10293" name="Line 424"/>
          <p:cNvSpPr>
            <a:spLocks noChangeShapeType="1"/>
          </p:cNvSpPr>
          <p:nvPr/>
        </p:nvSpPr>
        <p:spPr bwMode="auto">
          <a:xfrm>
            <a:off x="684213" y="2420938"/>
            <a:ext cx="792003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Tree>
    <p:extLst>
      <p:ext uri="{BB962C8B-B14F-4D97-AF65-F5344CB8AC3E}">
        <p14:creationId xmlns:p14="http://schemas.microsoft.com/office/powerpoint/2010/main" val="4008532915"/>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Rectangle 2"/>
          <p:cNvSpPr>
            <a:spLocks noGrp="1" noChangeArrowheads="1"/>
          </p:cNvSpPr>
          <p:nvPr>
            <p:ph type="title" idx="4294967295"/>
          </p:nvPr>
        </p:nvSpPr>
        <p:spPr/>
        <p:txBody>
          <a:bodyPr/>
          <a:lstStyle/>
          <a:p>
            <a:pPr eaLnBrk="1" hangingPunct="1"/>
            <a:r>
              <a:rPr lang="zh-CN" altLang="en-US" sz="3600" dirty="0" smtClean="0"/>
              <a:t>等值与非等值连接查询（续）</a:t>
            </a:r>
          </a:p>
        </p:txBody>
      </p:sp>
      <p:sp>
        <p:nvSpPr>
          <p:cNvPr id="15363" name="Rectangle 3"/>
          <p:cNvSpPr>
            <a:spLocks noGrp="1" noChangeArrowheads="1"/>
          </p:cNvSpPr>
          <p:nvPr>
            <p:ph type="body" idx="4294967295"/>
          </p:nvPr>
        </p:nvSpPr>
        <p:spPr>
          <a:xfrm>
            <a:off x="250825" y="1196975"/>
            <a:ext cx="8893175" cy="4495800"/>
          </a:xfrm>
        </p:spPr>
        <p:txBody>
          <a:bodyPr>
            <a:normAutofit fontScale="85000" lnSpcReduction="10000"/>
          </a:bodyPr>
          <a:lstStyle/>
          <a:p>
            <a:pPr algn="just" eaLnBrk="1" hangingPunct="1"/>
            <a:r>
              <a:rPr lang="zh-CN" altLang="en-US" dirty="0" smtClean="0"/>
              <a:t>自然连接</a:t>
            </a:r>
          </a:p>
          <a:p>
            <a:pPr algn="just">
              <a:lnSpc>
                <a:spcPct val="120000"/>
              </a:lnSpc>
              <a:buNone/>
            </a:pPr>
            <a:r>
              <a:rPr lang="en-US" altLang="zh-CN" sz="2400" dirty="0" smtClean="0"/>
              <a:t>                              SELECT  *     </a:t>
            </a:r>
            <a:r>
              <a:rPr lang="zh-CN" altLang="en-US" sz="2400" dirty="0" smtClean="0"/>
              <a:t> </a:t>
            </a:r>
            <a:r>
              <a:rPr lang="en-US" altLang="zh-CN" sz="2400" dirty="0"/>
              <a:t>FROM     </a:t>
            </a:r>
            <a:r>
              <a:rPr lang="en-US" altLang="zh-CN" sz="2400" dirty="0" smtClean="0"/>
              <a:t>Student </a:t>
            </a:r>
            <a:r>
              <a:rPr lang="en-US" altLang="zh-CN" sz="2400" b="1" dirty="0" smtClean="0"/>
              <a:t>natural join </a:t>
            </a:r>
            <a:r>
              <a:rPr lang="en-US" altLang="zh-CN" sz="2400" dirty="0" smtClean="0"/>
              <a:t>SC</a:t>
            </a:r>
            <a:endParaRPr lang="en-US" altLang="zh-CN" sz="2400" dirty="0"/>
          </a:p>
          <a:p>
            <a:pPr>
              <a:lnSpc>
                <a:spcPct val="130000"/>
              </a:lnSpc>
              <a:buNone/>
            </a:pPr>
            <a:r>
              <a:rPr lang="en-US" altLang="zh-CN" sz="2400" dirty="0"/>
              <a:t>		</a:t>
            </a:r>
            <a:endParaRPr lang="en-US" altLang="zh-CN" sz="2400" dirty="0" smtClean="0">
              <a:solidFill>
                <a:srgbClr val="FF0000"/>
              </a:solidFill>
            </a:endParaRPr>
          </a:p>
          <a:p>
            <a:pPr eaLnBrk="1" hangingPunct="1">
              <a:lnSpc>
                <a:spcPct val="140000"/>
              </a:lnSpc>
              <a:buFont typeface="Wingdings" panose="05000000000000000000" pitchFamily="2" charset="2"/>
              <a:buNone/>
            </a:pPr>
            <a:r>
              <a:rPr lang="zh-CN" altLang="en-US" sz="2400" dirty="0" smtClean="0">
                <a:solidFill>
                  <a:srgbClr val="FF0000"/>
                </a:solidFill>
              </a:rPr>
              <a:t>把</a:t>
            </a:r>
            <a:r>
              <a:rPr lang="zh-CN" altLang="en-US" sz="2400" dirty="0" smtClean="0">
                <a:solidFill>
                  <a:srgbClr val="FF0000"/>
                </a:solidFill>
              </a:rPr>
              <a:t>目标列中重复的属性列去掉则为自然连接。</a:t>
            </a:r>
            <a:endParaRPr lang="en-US" altLang="zh-CN" sz="2400" dirty="0" smtClean="0">
              <a:solidFill>
                <a:srgbClr val="FF0000"/>
              </a:solidFill>
            </a:endParaRPr>
          </a:p>
          <a:p>
            <a:pPr eaLnBrk="1" hangingPunct="1">
              <a:lnSpc>
                <a:spcPct val="140000"/>
              </a:lnSpc>
              <a:buFont typeface="Wingdings" panose="05000000000000000000" pitchFamily="2" charset="2"/>
              <a:buNone/>
            </a:pPr>
            <a:endParaRPr lang="en-US" altLang="zh-CN" sz="2400" dirty="0" smtClean="0"/>
          </a:p>
          <a:p>
            <a:pPr eaLnBrk="1" hangingPunct="1">
              <a:lnSpc>
                <a:spcPct val="14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3.50]  </a:t>
            </a:r>
            <a:r>
              <a:rPr lang="zh-CN" altLang="en-US" sz="2400" dirty="0" smtClean="0"/>
              <a:t>对</a:t>
            </a:r>
            <a:r>
              <a:rPr lang="en-US" altLang="zh-CN" sz="2400" dirty="0" smtClean="0"/>
              <a:t>[</a:t>
            </a:r>
            <a:r>
              <a:rPr lang="zh-CN" altLang="en-US" sz="2400" dirty="0" smtClean="0"/>
              <a:t>例 </a:t>
            </a:r>
            <a:r>
              <a:rPr lang="en-US" altLang="zh-CN" sz="2400" dirty="0" smtClean="0"/>
              <a:t>3.49]</a:t>
            </a:r>
            <a:r>
              <a:rPr lang="zh-CN" altLang="en-US" sz="2400" dirty="0" smtClean="0"/>
              <a:t>用自然连接完成。</a:t>
            </a:r>
          </a:p>
          <a:p>
            <a:pPr eaLnBrk="1" hangingPunct="1">
              <a:lnSpc>
                <a:spcPct val="140000"/>
              </a:lnSpc>
              <a:buFont typeface="Wingdings" panose="05000000000000000000" pitchFamily="2" charset="2"/>
              <a:buNone/>
            </a:pPr>
            <a:r>
              <a:rPr lang="zh-CN" altLang="en-US" sz="2400" dirty="0" smtClean="0"/>
              <a:t> </a:t>
            </a:r>
            <a:r>
              <a:rPr lang="en-US" altLang="zh-CN" sz="2400" dirty="0" smtClean="0"/>
              <a:t>SELECT  </a:t>
            </a:r>
            <a:r>
              <a:rPr lang="en-US" altLang="zh-CN" sz="2400" dirty="0" err="1" smtClean="0">
                <a:solidFill>
                  <a:srgbClr val="D75B5B"/>
                </a:solidFill>
              </a:rPr>
              <a:t>Student.Sno</a:t>
            </a:r>
            <a:r>
              <a:rPr lang="zh-CN" altLang="en-US" sz="2400" dirty="0" smtClean="0"/>
              <a:t>,</a:t>
            </a:r>
            <a:r>
              <a:rPr lang="en-US" altLang="zh-CN" sz="2400" dirty="0" err="1" smtClean="0"/>
              <a:t>Sname</a:t>
            </a:r>
            <a:r>
              <a:rPr lang="zh-CN" altLang="en-US" sz="2400" dirty="0" smtClean="0"/>
              <a:t>,</a:t>
            </a:r>
            <a:r>
              <a:rPr lang="en-US" altLang="zh-CN" sz="2400" dirty="0" err="1" smtClean="0"/>
              <a:t>Ssex</a:t>
            </a:r>
            <a:r>
              <a:rPr lang="zh-CN" altLang="en-US" sz="2400" dirty="0" smtClean="0"/>
              <a:t>,</a:t>
            </a:r>
            <a:r>
              <a:rPr lang="en-US" altLang="zh-CN" sz="2400" dirty="0" smtClean="0"/>
              <a:t>Sage</a:t>
            </a:r>
            <a:r>
              <a:rPr lang="zh-CN" altLang="en-US" sz="2400" dirty="0" smtClean="0"/>
              <a:t>,</a:t>
            </a:r>
            <a:r>
              <a:rPr lang="en-US" altLang="zh-CN" sz="2400" dirty="0" err="1" smtClean="0"/>
              <a:t>Sdept</a:t>
            </a:r>
            <a:r>
              <a:rPr lang="zh-CN" altLang="en-US" sz="2400" dirty="0" smtClean="0"/>
              <a:t>,</a:t>
            </a:r>
            <a:r>
              <a:rPr lang="en-US" altLang="zh-CN" sz="2400" dirty="0" err="1" smtClean="0"/>
              <a:t>Cno</a:t>
            </a:r>
            <a:r>
              <a:rPr lang="zh-CN" altLang="en-US" sz="2400" dirty="0" smtClean="0"/>
              <a:t>,</a:t>
            </a:r>
            <a:r>
              <a:rPr lang="en-US" altLang="zh-CN" sz="2400" dirty="0" smtClean="0"/>
              <a:t>Grade</a:t>
            </a:r>
          </a:p>
          <a:p>
            <a:pPr eaLnBrk="1" hangingPunct="1">
              <a:lnSpc>
                <a:spcPct val="140000"/>
              </a:lnSpc>
              <a:buFont typeface="Wingdings" panose="05000000000000000000" pitchFamily="2" charset="2"/>
              <a:buNone/>
            </a:pPr>
            <a:r>
              <a:rPr lang="en-US" altLang="zh-CN" sz="2400" dirty="0" smtClean="0"/>
              <a:t> FROM     Student</a:t>
            </a:r>
            <a:r>
              <a:rPr lang="zh-CN" altLang="en-US" sz="2400" dirty="0" smtClean="0"/>
              <a:t>,</a:t>
            </a:r>
            <a:r>
              <a:rPr lang="en-US" altLang="zh-CN" sz="2400" dirty="0" smtClean="0"/>
              <a:t>SC</a:t>
            </a:r>
          </a:p>
          <a:p>
            <a:pPr eaLnBrk="1" hangingPunct="1">
              <a:lnSpc>
                <a:spcPct val="140000"/>
              </a:lnSpc>
              <a:buFont typeface="Wingdings" panose="05000000000000000000" pitchFamily="2" charset="2"/>
              <a:buNone/>
            </a:pPr>
            <a:r>
              <a:rPr lang="en-US" altLang="zh-CN" sz="2400" dirty="0" smtClean="0"/>
              <a:t> WHERE  </a:t>
            </a:r>
            <a:r>
              <a:rPr lang="en-US" altLang="zh-CN" sz="2400" dirty="0" err="1" smtClean="0"/>
              <a:t>Student.Sno</a:t>
            </a:r>
            <a:r>
              <a:rPr lang="en-US" altLang="zh-CN" sz="2400" dirty="0" smtClean="0"/>
              <a:t> = </a:t>
            </a:r>
            <a:r>
              <a:rPr lang="en-US" altLang="zh-CN" sz="2400" dirty="0" err="1" smtClean="0"/>
              <a:t>SC.Sno</a:t>
            </a:r>
            <a:r>
              <a:rPr lang="zh-CN" altLang="en-US" sz="2400" dirty="0" smtClean="0"/>
              <a:t>;</a:t>
            </a:r>
            <a:endParaRPr lang="en-US" altLang="zh-CN" sz="2400" dirty="0" smtClean="0"/>
          </a:p>
          <a:p>
            <a:pPr eaLnBrk="1" hangingPunct="1">
              <a:lnSpc>
                <a:spcPct val="140000"/>
              </a:lnSpc>
              <a:buFont typeface="Wingdings" panose="05000000000000000000" pitchFamily="2" charset="2"/>
              <a:buNone/>
            </a:pPr>
            <a:endParaRPr lang="en-US" altLang="zh-CN" sz="2400" dirty="0" smtClean="0"/>
          </a:p>
        </p:txBody>
      </p:sp>
    </p:spTree>
    <p:extLst>
      <p:ext uri="{BB962C8B-B14F-4D97-AF65-F5344CB8AC3E}">
        <p14:creationId xmlns:p14="http://schemas.microsoft.com/office/powerpoint/2010/main" val="129021808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7282" name="Rectangle 2"/>
          <p:cNvSpPr>
            <a:spLocks noGrp="1" noChangeArrowheads="1"/>
          </p:cNvSpPr>
          <p:nvPr>
            <p:ph type="title"/>
          </p:nvPr>
        </p:nvSpPr>
        <p:spPr/>
        <p:txBody>
          <a:bodyPr/>
          <a:lstStyle/>
          <a:p>
            <a:r>
              <a:rPr lang="zh-CN" altLang="en-US" sz="3600" dirty="0"/>
              <a:t>等值与非等值连接查询（续）</a:t>
            </a:r>
            <a:endParaRPr lang="en-US" altLang="zh-CN" sz="3600" dirty="0" smtClean="0"/>
          </a:p>
        </p:txBody>
      </p:sp>
      <p:sp>
        <p:nvSpPr>
          <p:cNvPr id="97283" name="Rectangle 3"/>
          <p:cNvSpPr>
            <a:spLocks noGrp="1" noChangeArrowheads="1"/>
          </p:cNvSpPr>
          <p:nvPr>
            <p:ph type="body" idx="1"/>
          </p:nvPr>
        </p:nvSpPr>
        <p:spPr>
          <a:xfrm>
            <a:off x="755650" y="1341438"/>
            <a:ext cx="7772400" cy="4841875"/>
          </a:xfrm>
        </p:spPr>
        <p:txBody>
          <a:bodyPr>
            <a:normAutofit/>
          </a:bodyPr>
          <a:lstStyle/>
          <a:p>
            <a:pPr marL="228600" lvl="1" algn="just">
              <a:spcBef>
                <a:spcPts val="1000"/>
              </a:spcBef>
              <a:buFont typeface="Wingdings" panose="05000000000000000000" pitchFamily="2" charset="2"/>
              <a:buChar char="p"/>
            </a:pPr>
            <a:r>
              <a:rPr lang="zh-CN" altLang="en-US" sz="2800" dirty="0"/>
              <a:t>自然连接（</a:t>
            </a:r>
            <a:r>
              <a:rPr lang="en-US" altLang="zh-CN" sz="2800" dirty="0"/>
              <a:t>Natural join</a:t>
            </a:r>
            <a:r>
              <a:rPr lang="zh-CN" altLang="en-US" sz="2800" dirty="0"/>
              <a:t>）  </a:t>
            </a:r>
          </a:p>
        </p:txBody>
      </p:sp>
      <p:sp>
        <p:nvSpPr>
          <p:cNvPr id="2" name="矩形 1"/>
          <p:cNvSpPr/>
          <p:nvPr/>
        </p:nvSpPr>
        <p:spPr>
          <a:xfrm>
            <a:off x="1124465" y="1907550"/>
            <a:ext cx="6792098" cy="369332"/>
          </a:xfrm>
          <a:prstGeom prst="rect">
            <a:avLst/>
          </a:prstGeom>
        </p:spPr>
        <p:txBody>
          <a:bodyPr wrap="square">
            <a:spAutoFit/>
          </a:bodyPr>
          <a:lstStyle/>
          <a:p>
            <a:r>
              <a:rPr lang="en-US" altLang="zh-CN" dirty="0">
                <a:solidFill>
                  <a:srgbClr val="235A81"/>
                </a:solidFill>
                <a:latin typeface="Courier New" panose="02070309020205020404" pitchFamily="49" charset="0"/>
                <a:hlinkClick r:id="rId3"/>
              </a:rPr>
              <a:t>SELECT</a:t>
            </a:r>
            <a:r>
              <a:rPr lang="en-US" altLang="zh-CN" dirty="0">
                <a:solidFill>
                  <a:srgbClr val="444444"/>
                </a:solidFill>
                <a:latin typeface="Courier New" panose="02070309020205020404" pitchFamily="49" charset="0"/>
              </a:rPr>
              <a:t> * </a:t>
            </a:r>
            <a:r>
              <a:rPr lang="en-US" altLang="zh-CN" dirty="0">
                <a:solidFill>
                  <a:srgbClr val="770088"/>
                </a:solidFill>
                <a:latin typeface="Courier New" panose="02070309020205020404" pitchFamily="49" charset="0"/>
              </a:rPr>
              <a:t>FROM</a:t>
            </a:r>
            <a:r>
              <a:rPr lang="en-US" altLang="zh-CN" dirty="0">
                <a:solidFill>
                  <a:srgbClr val="444444"/>
                </a:solidFill>
                <a:latin typeface="Courier New" panose="02070309020205020404" pitchFamily="49" charset="0"/>
              </a:rPr>
              <a:t>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emp</a:t>
            </a:r>
            <a:r>
              <a:rPr lang="en-US" altLang="zh-CN" dirty="0" smtClean="0">
                <a:solidFill>
                  <a:srgbClr val="0055AA"/>
                </a:solidFill>
                <a:latin typeface="Courier New" panose="02070309020205020404" pitchFamily="49" charset="0"/>
              </a:rPr>
              <a:t>` </a:t>
            </a:r>
            <a:r>
              <a:rPr lang="en-US" altLang="zh-CN" dirty="0" smtClean="0">
                <a:solidFill>
                  <a:srgbClr val="770088"/>
                </a:solidFill>
                <a:latin typeface="Courier New" panose="02070309020205020404" pitchFamily="49" charset="0"/>
              </a:rPr>
              <a:t>natural</a:t>
            </a:r>
            <a:r>
              <a:rPr lang="en-US" altLang="zh-CN" dirty="0">
                <a:solidFill>
                  <a:srgbClr val="444444"/>
                </a:solidFill>
                <a:latin typeface="Courier New" panose="02070309020205020404" pitchFamily="49" charset="0"/>
              </a:rPr>
              <a:t> </a:t>
            </a:r>
            <a:r>
              <a:rPr lang="en-US" altLang="zh-CN" dirty="0" smtClean="0">
                <a:solidFill>
                  <a:srgbClr val="770088"/>
                </a:solidFill>
                <a:latin typeface="Courier New" panose="02070309020205020404" pitchFamily="49" charset="0"/>
              </a:rPr>
              <a:t>join </a:t>
            </a:r>
            <a:r>
              <a:rPr lang="en-US" altLang="zh-CN" dirty="0">
                <a:solidFill>
                  <a:srgbClr val="0055AA"/>
                </a:solidFill>
                <a:latin typeface="Courier New" panose="02070309020205020404" pitchFamily="49" charset="0"/>
              </a:rPr>
              <a:t>`</a:t>
            </a:r>
            <a:r>
              <a:rPr lang="en-US" altLang="zh-CN" dirty="0" err="1">
                <a:solidFill>
                  <a:srgbClr val="0055AA"/>
                </a:solidFill>
                <a:latin typeface="Courier New" panose="02070309020205020404" pitchFamily="49" charset="0"/>
              </a:rPr>
              <a:t>dept</a:t>
            </a:r>
            <a:r>
              <a:rPr lang="en-US" altLang="zh-CN" dirty="0">
                <a:solidFill>
                  <a:srgbClr val="0055AA"/>
                </a:solidFill>
                <a:latin typeface="Courier New" panose="02070309020205020404" pitchFamily="49" charset="0"/>
              </a:rPr>
              <a:t>` </a:t>
            </a:r>
            <a:r>
              <a:rPr lang="en-US" altLang="zh-CN" dirty="0">
                <a:solidFill>
                  <a:srgbClr val="444444"/>
                </a:solidFill>
                <a:latin typeface="Courier New" panose="02070309020205020404" pitchFamily="49" charset="0"/>
              </a:rPr>
              <a:t> </a:t>
            </a:r>
            <a:endParaRPr lang="zh-CN" altLang="en-US" dirty="0"/>
          </a:p>
        </p:txBody>
      </p:sp>
      <p:pic>
        <p:nvPicPr>
          <p:cNvPr id="4" name="图片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3900" y="2276882"/>
            <a:ext cx="7554379" cy="4096322"/>
          </a:xfrm>
          <a:prstGeom prst="rect">
            <a:avLst/>
          </a:prstGeom>
        </p:spPr>
      </p:pic>
    </p:spTree>
    <p:extLst>
      <p:ext uri="{BB962C8B-B14F-4D97-AF65-F5344CB8AC3E}">
        <p14:creationId xmlns:p14="http://schemas.microsoft.com/office/powerpoint/2010/main" val="307656372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标题 1"/>
          <p:cNvSpPr>
            <a:spLocks noGrp="1"/>
          </p:cNvSpPr>
          <p:nvPr>
            <p:ph type="title" idx="4294967295"/>
          </p:nvPr>
        </p:nvSpPr>
        <p:spPr/>
        <p:txBody>
          <a:bodyPr/>
          <a:lstStyle/>
          <a:p>
            <a:pPr eaLnBrk="1" hangingPunct="1"/>
            <a:r>
              <a:rPr lang="zh-CN" altLang="en-US" sz="3600" smtClean="0"/>
              <a:t>等值与非等值连接查询（续）</a:t>
            </a:r>
          </a:p>
        </p:txBody>
      </p:sp>
      <p:sp>
        <p:nvSpPr>
          <p:cNvPr id="16387" name="内容占位符 2"/>
          <p:cNvSpPr>
            <a:spLocks noGrp="1"/>
          </p:cNvSpPr>
          <p:nvPr>
            <p:ph idx="4294967295"/>
          </p:nvPr>
        </p:nvSpPr>
        <p:spPr>
          <a:xfrm>
            <a:off x="151245" y="1193511"/>
            <a:ext cx="8823325" cy="5499100"/>
          </a:xfrm>
        </p:spPr>
        <p:txBody>
          <a:bodyPr/>
          <a:lstStyle/>
          <a:p>
            <a:pPr marL="87313" indent="-87313" eaLnBrk="1" hangingPunct="1">
              <a:lnSpc>
                <a:spcPct val="120000"/>
              </a:lnSpc>
              <a:spcBef>
                <a:spcPct val="0"/>
              </a:spcBef>
            </a:pPr>
            <a:r>
              <a:rPr lang="zh-CN" altLang="en-US" dirty="0" smtClean="0">
                <a:latin typeface="宋体" panose="02010600030101010101" pitchFamily="2" charset="-122"/>
              </a:rPr>
              <a:t>一条</a:t>
            </a:r>
            <a:r>
              <a:rPr lang="en-US" altLang="zh-CN" dirty="0" smtClean="0"/>
              <a:t>SQL</a:t>
            </a:r>
            <a:r>
              <a:rPr lang="zh-CN" altLang="en-US" dirty="0" smtClean="0">
                <a:latin typeface="宋体" panose="02010600030101010101" pitchFamily="2" charset="-122"/>
              </a:rPr>
              <a:t>语句可以同时完成选择和连接查询，这时</a:t>
            </a:r>
            <a:r>
              <a:rPr lang="en-US" altLang="zh-CN" dirty="0" smtClean="0"/>
              <a:t>WHERE</a:t>
            </a:r>
            <a:r>
              <a:rPr lang="zh-CN" altLang="en-US" dirty="0" smtClean="0">
                <a:latin typeface="宋体" panose="02010600030101010101" pitchFamily="2" charset="-122"/>
              </a:rPr>
              <a:t>子句是由连接谓词和选择谓词组成的复合条件。</a:t>
            </a:r>
          </a:p>
          <a:p>
            <a:pPr marL="87313" indent="-87313" eaLnBrk="1" hangingPunct="1">
              <a:lnSpc>
                <a:spcPct val="150000"/>
              </a:lnSpc>
              <a:spcBef>
                <a:spcPct val="0"/>
              </a:spcBef>
              <a:buFont typeface="Wingdings" panose="05000000000000000000" pitchFamily="2" charset="2"/>
              <a:buNone/>
            </a:pPr>
            <a:r>
              <a:rPr lang="en-US" altLang="zh-CN" sz="2400" dirty="0" smtClean="0"/>
              <a:t>[</a:t>
            </a:r>
            <a:r>
              <a:rPr lang="zh-CN" altLang="en-US" sz="2400" dirty="0" smtClean="0"/>
              <a:t>例 </a:t>
            </a:r>
            <a:r>
              <a:rPr lang="en-US" altLang="zh-CN" sz="2400" dirty="0" smtClean="0"/>
              <a:t>3.51 ]</a:t>
            </a:r>
            <a:r>
              <a:rPr lang="zh-CN" altLang="en-US" sz="2000" dirty="0" smtClean="0"/>
              <a:t>查询选修</a:t>
            </a:r>
            <a:r>
              <a:rPr lang="en-US" altLang="zh-CN" sz="2000" dirty="0" smtClean="0"/>
              <a:t>2</a:t>
            </a:r>
            <a:r>
              <a:rPr lang="zh-CN" altLang="en-US" sz="2000" dirty="0" smtClean="0"/>
              <a:t>号课程且成绩在</a:t>
            </a:r>
            <a:r>
              <a:rPr lang="en-US" altLang="zh-CN" sz="2000" dirty="0" smtClean="0"/>
              <a:t>90</a:t>
            </a:r>
            <a:r>
              <a:rPr lang="zh-CN" altLang="en-US" sz="2000" dirty="0" smtClean="0"/>
              <a:t>分以上的所有学生的学号和姓名。</a:t>
            </a:r>
            <a:endParaRPr lang="zh-CN" altLang="en-US" sz="24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SELECT </a:t>
            </a:r>
            <a:r>
              <a:rPr lang="en-US" altLang="zh-CN" sz="2200" dirty="0" err="1" smtClean="0"/>
              <a:t>Student.Sno</a:t>
            </a:r>
            <a:r>
              <a:rPr lang="zh-CN" altLang="en-US" sz="2200" dirty="0" smtClean="0"/>
              <a:t>, </a:t>
            </a:r>
            <a:r>
              <a:rPr lang="en-US" altLang="zh-CN" sz="2200" dirty="0" err="1" smtClean="0"/>
              <a:t>Sname</a:t>
            </a:r>
            <a:endParaRPr lang="zh-CN" altLang="en-US" sz="22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FROM     Student</a:t>
            </a:r>
            <a:r>
              <a:rPr lang="zh-CN" altLang="en-US" sz="2200" dirty="0" smtClean="0"/>
              <a:t>, </a:t>
            </a:r>
            <a:r>
              <a:rPr lang="en-US" altLang="zh-CN" sz="2200" dirty="0" smtClean="0"/>
              <a:t>SC</a:t>
            </a:r>
            <a:endParaRPr lang="zh-CN" altLang="en-US" sz="2200" dirty="0" smtClean="0"/>
          </a:p>
          <a:p>
            <a:pPr marL="87313" indent="-87313" eaLnBrk="1" hangingPunct="1">
              <a:lnSpc>
                <a:spcPct val="120000"/>
              </a:lnSpc>
              <a:spcBef>
                <a:spcPct val="0"/>
              </a:spcBef>
              <a:buFont typeface="Wingdings" panose="05000000000000000000" pitchFamily="2" charset="2"/>
              <a:buNone/>
            </a:pPr>
            <a:r>
              <a:rPr lang="en-US" altLang="zh-CN" sz="2200" dirty="0" smtClean="0"/>
              <a:t>    WHERE  </a:t>
            </a:r>
            <a:r>
              <a:rPr lang="en-US" altLang="zh-CN" sz="2200" dirty="0" err="1" smtClean="0"/>
              <a:t>Student.Sno</a:t>
            </a:r>
            <a:r>
              <a:rPr lang="en-US" altLang="zh-CN" sz="2200" dirty="0" smtClean="0"/>
              <a:t>=</a:t>
            </a:r>
            <a:r>
              <a:rPr lang="en-US" altLang="zh-CN" sz="2200" dirty="0" err="1" smtClean="0"/>
              <a:t>SC.Sno</a:t>
            </a:r>
            <a:r>
              <a:rPr lang="en-US" altLang="zh-CN" sz="2200" dirty="0" smtClean="0"/>
              <a:t>  AND    		               </a:t>
            </a:r>
          </a:p>
          <a:p>
            <a:pPr marL="87313" indent="-87313" eaLnBrk="1" hangingPunct="1">
              <a:lnSpc>
                <a:spcPct val="120000"/>
              </a:lnSpc>
              <a:spcBef>
                <a:spcPct val="0"/>
              </a:spcBef>
              <a:buFont typeface="Wingdings" panose="05000000000000000000" pitchFamily="2" charset="2"/>
              <a:buNone/>
            </a:pPr>
            <a:r>
              <a:rPr lang="en-US" altLang="zh-CN" sz="2200" dirty="0" smtClean="0"/>
              <a:t>                   </a:t>
            </a:r>
            <a:r>
              <a:rPr lang="en-US" altLang="zh-CN" sz="2200" dirty="0" err="1" smtClean="0"/>
              <a:t>SC.Cno</a:t>
            </a:r>
            <a:r>
              <a:rPr lang="en-US" altLang="zh-CN" sz="2200" dirty="0" smtClean="0"/>
              <a:t>=' 2 ' AND </a:t>
            </a:r>
            <a:r>
              <a:rPr lang="en-US" altLang="zh-CN" sz="2200" dirty="0" err="1" smtClean="0"/>
              <a:t>SC.Grade</a:t>
            </a:r>
            <a:r>
              <a:rPr lang="en-US" altLang="zh-CN" sz="2200" dirty="0" smtClean="0"/>
              <a:t>&gt;90</a:t>
            </a:r>
            <a:r>
              <a:rPr lang="zh-CN" altLang="en-US" sz="2200" dirty="0" smtClean="0"/>
              <a:t>;</a:t>
            </a:r>
            <a:endParaRPr lang="en-US" altLang="zh-CN" sz="2200" dirty="0" smtClean="0"/>
          </a:p>
          <a:p>
            <a:pPr marL="400050" lvl="1" indent="0" eaLnBrk="1" hangingPunct="1">
              <a:lnSpc>
                <a:spcPct val="150000"/>
              </a:lnSpc>
              <a:spcBef>
                <a:spcPct val="0"/>
              </a:spcBef>
            </a:pPr>
            <a:r>
              <a:rPr lang="zh-CN" altLang="en-US" dirty="0" smtClean="0"/>
              <a:t>执行过程</a:t>
            </a:r>
            <a:r>
              <a:rPr lang="en-US" altLang="zh-CN" dirty="0" smtClean="0"/>
              <a:t>:</a:t>
            </a:r>
          </a:p>
          <a:p>
            <a:pPr marL="800100" lvl="2" indent="0" eaLnBrk="1" hangingPunct="1">
              <a:lnSpc>
                <a:spcPct val="120000"/>
              </a:lnSpc>
              <a:spcBef>
                <a:spcPct val="0"/>
              </a:spcBef>
              <a:buSzPct val="87000"/>
              <a:buFont typeface="Wingdings" panose="05000000000000000000" pitchFamily="2" charset="2"/>
              <a:buChar char="l"/>
            </a:pPr>
            <a:r>
              <a:rPr lang="zh-CN" altLang="en-US" sz="2200" dirty="0" smtClean="0"/>
              <a:t>先从</a:t>
            </a:r>
            <a:r>
              <a:rPr lang="en-US" altLang="zh-CN" sz="2200" dirty="0" smtClean="0"/>
              <a:t>SC</a:t>
            </a:r>
            <a:r>
              <a:rPr lang="zh-CN" altLang="en-US" sz="2200" dirty="0" smtClean="0"/>
              <a:t>中挑选出</a:t>
            </a:r>
            <a:r>
              <a:rPr lang="en-US" altLang="zh-CN" sz="2200" dirty="0" err="1" smtClean="0"/>
              <a:t>Cno</a:t>
            </a:r>
            <a:r>
              <a:rPr lang="en-US" altLang="zh-CN" sz="2200" dirty="0" smtClean="0"/>
              <a:t>=</a:t>
            </a:r>
            <a:r>
              <a:rPr lang="zh-CN" altLang="en-US" sz="2200" dirty="0" smtClean="0"/>
              <a:t>'</a:t>
            </a:r>
            <a:r>
              <a:rPr lang="en-US" altLang="zh-CN" sz="2200" dirty="0" smtClean="0"/>
              <a:t>2</a:t>
            </a:r>
            <a:r>
              <a:rPr lang="zh-CN" altLang="en-US" sz="2200" dirty="0" smtClean="0"/>
              <a:t>'并且</a:t>
            </a:r>
            <a:r>
              <a:rPr lang="en-US" altLang="zh-CN" sz="2200" dirty="0" smtClean="0"/>
              <a:t>Grade&gt;90</a:t>
            </a:r>
            <a:r>
              <a:rPr lang="zh-CN" altLang="en-US" sz="2200" dirty="0" smtClean="0"/>
              <a:t>的元组形成一个中间关系</a:t>
            </a:r>
          </a:p>
          <a:p>
            <a:pPr marL="800100" lvl="2" indent="0" eaLnBrk="1" hangingPunct="1">
              <a:lnSpc>
                <a:spcPct val="120000"/>
              </a:lnSpc>
              <a:spcBef>
                <a:spcPct val="0"/>
              </a:spcBef>
              <a:buSzPct val="87000"/>
              <a:buFont typeface="Wingdings" panose="05000000000000000000" pitchFamily="2" charset="2"/>
              <a:buChar char="l"/>
            </a:pPr>
            <a:r>
              <a:rPr lang="zh-CN" altLang="en-US" sz="2200" dirty="0" smtClean="0"/>
              <a:t>再和</a:t>
            </a:r>
            <a:r>
              <a:rPr lang="en-US" altLang="zh-CN" sz="2200" dirty="0" smtClean="0"/>
              <a:t>Student</a:t>
            </a:r>
            <a:r>
              <a:rPr lang="zh-CN" altLang="en-US" sz="2200" dirty="0" smtClean="0"/>
              <a:t>中满足连接条件的元组进行连接得到最终的结果关系</a:t>
            </a:r>
          </a:p>
        </p:txBody>
      </p:sp>
    </p:spTree>
    <p:extLst>
      <p:ext uri="{BB962C8B-B14F-4D97-AF65-F5344CB8AC3E}">
        <p14:creationId xmlns:p14="http://schemas.microsoft.com/office/powerpoint/2010/main" val="4879666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6387">
                                            <p:txEl>
                                              <p:pRg st="2" end="2"/>
                                            </p:txEl>
                                          </p:spTgt>
                                        </p:tgtEl>
                                        <p:attrNameLst>
                                          <p:attrName>style.visibility</p:attrName>
                                        </p:attrNameLst>
                                      </p:cBhvr>
                                      <p:to>
                                        <p:strVal val="visible"/>
                                      </p:to>
                                    </p:set>
                                    <p:anim calcmode="lin" valueType="num">
                                      <p:cBhvr additive="base">
                                        <p:cTn id="7" dur="500" fill="hold"/>
                                        <p:tgtEl>
                                          <p:spTgt spid="16387">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6387">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6387">
                                            <p:txEl>
                                              <p:pRg st="3" end="3"/>
                                            </p:txEl>
                                          </p:spTgt>
                                        </p:tgtEl>
                                        <p:attrNameLst>
                                          <p:attrName>style.visibility</p:attrName>
                                        </p:attrNameLst>
                                      </p:cBhvr>
                                      <p:to>
                                        <p:strVal val="visible"/>
                                      </p:to>
                                    </p:set>
                                    <p:anim calcmode="lin" valueType="num">
                                      <p:cBhvr additive="base">
                                        <p:cTn id="11" dur="500" fill="hold"/>
                                        <p:tgtEl>
                                          <p:spTgt spid="16387">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6387">
                                            <p:txEl>
                                              <p:pRg st="3" end="3"/>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6387">
                                            <p:txEl>
                                              <p:pRg st="4" end="4"/>
                                            </p:txEl>
                                          </p:spTgt>
                                        </p:tgtEl>
                                        <p:attrNameLst>
                                          <p:attrName>style.visibility</p:attrName>
                                        </p:attrNameLst>
                                      </p:cBhvr>
                                      <p:to>
                                        <p:strVal val="visible"/>
                                      </p:to>
                                    </p:set>
                                    <p:anim calcmode="lin" valueType="num">
                                      <p:cBhvr additive="base">
                                        <p:cTn id="15" dur="500" fill="hold"/>
                                        <p:tgtEl>
                                          <p:spTgt spid="16387">
                                            <p:txEl>
                                              <p:pRg st="4" end="4"/>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6387">
                                            <p:txEl>
                                              <p:pRg st="4" end="4"/>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6387">
                                            <p:txEl>
                                              <p:pRg st="5" end="5"/>
                                            </p:txEl>
                                          </p:spTgt>
                                        </p:tgtEl>
                                        <p:attrNameLst>
                                          <p:attrName>style.visibility</p:attrName>
                                        </p:attrNameLst>
                                      </p:cBhvr>
                                      <p:to>
                                        <p:strVal val="visible"/>
                                      </p:to>
                                    </p:set>
                                    <p:anim calcmode="lin" valueType="num">
                                      <p:cBhvr additive="base">
                                        <p:cTn id="19" dur="500" fill="hold"/>
                                        <p:tgtEl>
                                          <p:spTgt spid="16387">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6387">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6387">
                                            <p:txEl>
                                              <p:pRg st="6" end="6"/>
                                            </p:txEl>
                                          </p:spTgt>
                                        </p:tgtEl>
                                        <p:attrNameLst>
                                          <p:attrName>style.visibility</p:attrName>
                                        </p:attrNameLst>
                                      </p:cBhvr>
                                      <p:to>
                                        <p:strVal val="visible"/>
                                      </p:to>
                                    </p:set>
                                    <p:anim calcmode="lin" valueType="num">
                                      <p:cBhvr additive="base">
                                        <p:cTn id="23" dur="500" fill="hold"/>
                                        <p:tgtEl>
                                          <p:spTgt spid="16387">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6387">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6387">
                                            <p:txEl>
                                              <p:pRg st="7" end="7"/>
                                            </p:txEl>
                                          </p:spTgt>
                                        </p:tgtEl>
                                        <p:attrNameLst>
                                          <p:attrName>style.visibility</p:attrName>
                                        </p:attrNameLst>
                                      </p:cBhvr>
                                      <p:to>
                                        <p:strVal val="visible"/>
                                      </p:to>
                                    </p:set>
                                    <p:anim calcmode="lin" valueType="num">
                                      <p:cBhvr additive="base">
                                        <p:cTn id="27" dur="500" fill="hold"/>
                                        <p:tgtEl>
                                          <p:spTgt spid="16387">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6387">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6387">
                                            <p:txEl>
                                              <p:pRg st="8" end="8"/>
                                            </p:txEl>
                                          </p:spTgt>
                                        </p:tgtEl>
                                        <p:attrNameLst>
                                          <p:attrName>style.visibility</p:attrName>
                                        </p:attrNameLst>
                                      </p:cBhvr>
                                      <p:to>
                                        <p:strVal val="visible"/>
                                      </p:to>
                                    </p:set>
                                    <p:anim calcmode="lin" valueType="num">
                                      <p:cBhvr additive="base">
                                        <p:cTn id="31" dur="500" fill="hold"/>
                                        <p:tgtEl>
                                          <p:spTgt spid="16387">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6387">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自身连接 </a:t>
            </a:r>
          </a:p>
        </p:txBody>
      </p:sp>
      <p:sp>
        <p:nvSpPr>
          <p:cNvPr id="18435" name="Rectangle 3"/>
          <p:cNvSpPr>
            <a:spLocks noGrp="1" noChangeArrowheads="1"/>
          </p:cNvSpPr>
          <p:nvPr>
            <p:ph type="body" idx="4294967295"/>
          </p:nvPr>
        </p:nvSpPr>
        <p:spPr>
          <a:xfrm>
            <a:off x="457200" y="1125538"/>
            <a:ext cx="8229600" cy="4854575"/>
          </a:xfrm>
        </p:spPr>
        <p:txBody>
          <a:bodyPr>
            <a:normAutofit lnSpcReduction="10000"/>
          </a:bodyPr>
          <a:lstStyle/>
          <a:p>
            <a:pPr eaLnBrk="1" hangingPunct="1">
              <a:lnSpc>
                <a:spcPct val="110000"/>
              </a:lnSpc>
              <a:defRPr/>
            </a:pPr>
            <a:r>
              <a:rPr lang="zh-CN" altLang="en-US" dirty="0" smtClean="0">
                <a:latin typeface="+mn-ea"/>
              </a:rPr>
              <a:t>自身连接</a:t>
            </a:r>
            <a:r>
              <a:rPr lang="zh-CN" altLang="en-US" dirty="0" smtClean="0">
                <a:ea typeface="黑体" pitchFamily="49" charset="-122"/>
              </a:rPr>
              <a:t>：</a:t>
            </a:r>
            <a:r>
              <a:rPr lang="zh-CN" altLang="en-US" dirty="0" smtClean="0"/>
              <a:t>一个表与其自己进行连接</a:t>
            </a:r>
          </a:p>
          <a:p>
            <a:pPr eaLnBrk="1" hangingPunct="1">
              <a:lnSpc>
                <a:spcPct val="110000"/>
              </a:lnSpc>
              <a:defRPr/>
            </a:pPr>
            <a:r>
              <a:rPr lang="zh-CN" altLang="en-US" dirty="0" smtClean="0">
                <a:solidFill>
                  <a:srgbClr val="FF0000"/>
                </a:solidFill>
              </a:rPr>
              <a:t>需要给表起别名以示区别</a:t>
            </a:r>
          </a:p>
          <a:p>
            <a:pPr eaLnBrk="1" hangingPunct="1">
              <a:lnSpc>
                <a:spcPct val="140000"/>
              </a:lnSpc>
              <a:defRPr/>
            </a:pPr>
            <a:r>
              <a:rPr lang="zh-CN" altLang="en-US" dirty="0" smtClean="0">
                <a:solidFill>
                  <a:srgbClr val="FF0000"/>
                </a:solidFill>
              </a:rPr>
              <a:t>由于所有属性名都是同名属性，因此必须使用别名前缀</a:t>
            </a:r>
          </a:p>
          <a:p>
            <a:pPr eaLnBrk="1" hangingPunct="1">
              <a:lnSpc>
                <a:spcPct val="140000"/>
              </a:lnSpc>
              <a:buFont typeface="Wingdings" panose="05000000000000000000" pitchFamily="2" charset="2"/>
              <a:buNone/>
              <a:defRPr/>
            </a:pPr>
            <a:r>
              <a:rPr lang="en-US" altLang="zh-CN" sz="2400" dirty="0" smtClean="0"/>
              <a:t>[</a:t>
            </a:r>
            <a:r>
              <a:rPr lang="zh-CN" altLang="en-US" sz="2400" dirty="0" smtClean="0">
                <a:ea typeface="黑体" pitchFamily="49" charset="-122"/>
              </a:rPr>
              <a:t>例 </a:t>
            </a:r>
            <a:r>
              <a:rPr lang="en-US" altLang="zh-CN" sz="2400" dirty="0" smtClean="0">
                <a:ea typeface="黑体" pitchFamily="49" charset="-122"/>
              </a:rPr>
              <a:t>3.</a:t>
            </a:r>
            <a:r>
              <a:rPr lang="en-US" altLang="zh-CN" sz="2400" dirty="0" smtClean="0"/>
              <a:t>52]</a:t>
            </a:r>
            <a:r>
              <a:rPr lang="zh-CN" altLang="en-US" sz="2400" dirty="0" smtClean="0"/>
              <a:t>查询每一门课的间接先修课（即先修课的先修课）</a:t>
            </a:r>
          </a:p>
          <a:p>
            <a:pPr eaLnBrk="1" hangingPunct="1">
              <a:lnSpc>
                <a:spcPct val="140000"/>
              </a:lnSpc>
              <a:buFont typeface="Wingdings" panose="05000000000000000000" pitchFamily="2" charset="2"/>
              <a:buNone/>
              <a:defRPr/>
            </a:pPr>
            <a:r>
              <a:rPr lang="zh-CN" altLang="en-US" dirty="0" smtClean="0"/>
              <a:t>    </a:t>
            </a:r>
            <a:r>
              <a:rPr lang="en-US" altLang="zh-CN" sz="2400" dirty="0" smtClean="0"/>
              <a:t>SELECT  </a:t>
            </a:r>
            <a:r>
              <a:rPr lang="en-US" altLang="zh-CN" sz="2400" dirty="0" err="1" smtClean="0"/>
              <a:t>FIRST.Cno</a:t>
            </a:r>
            <a:r>
              <a:rPr lang="zh-CN" altLang="en-US" sz="2400" dirty="0" smtClean="0"/>
              <a:t>, </a:t>
            </a:r>
            <a:r>
              <a:rPr lang="en-US" altLang="zh-CN" sz="2400" dirty="0" err="1" smtClean="0"/>
              <a:t>SECOND.Cpno</a:t>
            </a:r>
            <a:endParaRPr lang="en-US" altLang="zh-CN" sz="2400" dirty="0" smtClean="0"/>
          </a:p>
          <a:p>
            <a:pPr eaLnBrk="1" hangingPunct="1">
              <a:lnSpc>
                <a:spcPct val="140000"/>
              </a:lnSpc>
              <a:buFont typeface="Wingdings" panose="05000000000000000000" pitchFamily="2" charset="2"/>
              <a:buNone/>
              <a:defRPr/>
            </a:pPr>
            <a:r>
              <a:rPr lang="en-US" altLang="zh-CN" sz="2400" dirty="0" smtClean="0"/>
              <a:t>     FROM  Course  </a:t>
            </a:r>
            <a:r>
              <a:rPr lang="en-US" altLang="zh-CN" sz="2400" dirty="0" smtClean="0">
                <a:solidFill>
                  <a:srgbClr val="D75B5B"/>
                </a:solidFill>
              </a:rPr>
              <a:t>FIRST</a:t>
            </a:r>
            <a:r>
              <a:rPr lang="zh-CN" altLang="en-US" sz="2400" dirty="0" smtClean="0"/>
              <a:t>, </a:t>
            </a:r>
            <a:r>
              <a:rPr lang="en-US" altLang="zh-CN" sz="2400" dirty="0" smtClean="0"/>
              <a:t>Course  </a:t>
            </a:r>
            <a:r>
              <a:rPr lang="en-US" altLang="zh-CN" sz="2400" dirty="0" smtClean="0">
                <a:solidFill>
                  <a:srgbClr val="D75B5B"/>
                </a:solidFill>
              </a:rPr>
              <a:t>SECOND</a:t>
            </a:r>
            <a:endParaRPr lang="en-US" altLang="zh-CN" sz="2400" dirty="0" smtClean="0"/>
          </a:p>
          <a:p>
            <a:pPr eaLnBrk="1" hangingPunct="1">
              <a:lnSpc>
                <a:spcPct val="140000"/>
              </a:lnSpc>
              <a:buFont typeface="Wingdings" panose="05000000000000000000" pitchFamily="2" charset="2"/>
              <a:buNone/>
              <a:defRPr/>
            </a:pPr>
            <a:r>
              <a:rPr lang="en-US" altLang="zh-CN" sz="2400" dirty="0" smtClean="0"/>
              <a:t>     WHERE </a:t>
            </a:r>
            <a:r>
              <a:rPr lang="en-US" altLang="zh-CN" sz="2400" dirty="0" err="1" smtClean="0"/>
              <a:t>FIRST.Cpno</a:t>
            </a:r>
            <a:r>
              <a:rPr lang="en-US" altLang="zh-CN" sz="2400" dirty="0" smtClean="0"/>
              <a:t> = </a:t>
            </a:r>
            <a:r>
              <a:rPr lang="en-US" altLang="zh-CN" sz="2400" dirty="0" err="1" smtClean="0"/>
              <a:t>SECOND.Cno</a:t>
            </a:r>
            <a:r>
              <a:rPr lang="zh-CN" altLang="en-US" sz="2400" dirty="0" smtClean="0"/>
              <a:t>;</a:t>
            </a:r>
          </a:p>
        </p:txBody>
      </p:sp>
      <p:graphicFrame>
        <p:nvGraphicFramePr>
          <p:cNvPr id="4" name="Group 575"/>
          <p:cNvGraphicFramePr>
            <a:graphicFrameLocks/>
          </p:cNvGraphicFramePr>
          <p:nvPr>
            <p:extLst>
              <p:ext uri="{D42A27DB-BD31-4B8C-83A1-F6EECF244321}">
                <p14:modId xmlns:p14="http://schemas.microsoft.com/office/powerpoint/2010/main" val="347435637"/>
              </p:ext>
            </p:extLst>
          </p:nvPr>
        </p:nvGraphicFramePr>
        <p:xfrm>
          <a:off x="5643418" y="4426704"/>
          <a:ext cx="3500582" cy="2431296"/>
        </p:xfrm>
        <a:graphic>
          <a:graphicData uri="http://schemas.openxmlformats.org/drawingml/2006/table">
            <a:tbl>
              <a:tblPr/>
              <a:tblGrid>
                <a:gridCol w="729672">
                  <a:extLst>
                    <a:ext uri="{9D8B030D-6E8A-4147-A177-3AD203B41FA5}">
                      <a16:colId xmlns:a16="http://schemas.microsoft.com/office/drawing/2014/main" xmlns="" val="20000"/>
                    </a:ext>
                  </a:extLst>
                </a:gridCol>
                <a:gridCol w="1182254">
                  <a:extLst>
                    <a:ext uri="{9D8B030D-6E8A-4147-A177-3AD203B41FA5}">
                      <a16:colId xmlns:a16="http://schemas.microsoft.com/office/drawing/2014/main" xmlns="" val="20001"/>
                    </a:ext>
                  </a:extLst>
                </a:gridCol>
                <a:gridCol w="790730">
                  <a:extLst>
                    <a:ext uri="{9D8B030D-6E8A-4147-A177-3AD203B41FA5}">
                      <a16:colId xmlns:a16="http://schemas.microsoft.com/office/drawing/2014/main" xmlns="" val="20002"/>
                    </a:ext>
                  </a:extLst>
                </a:gridCol>
                <a:gridCol w="797926">
                  <a:extLst>
                    <a:ext uri="{9D8B030D-6E8A-4147-A177-3AD203B41FA5}">
                      <a16:colId xmlns:a16="http://schemas.microsoft.com/office/drawing/2014/main" xmlns="" val="20003"/>
                    </a:ext>
                  </a:extLst>
                </a:gridCol>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5" name="Text Box 502"/>
          <p:cNvSpPr txBox="1">
            <a:spLocks noChangeArrowheads="1"/>
          </p:cNvSpPr>
          <p:nvPr/>
        </p:nvSpPr>
        <p:spPr bwMode="auto">
          <a:xfrm>
            <a:off x="5768465" y="3993317"/>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spTree>
    <p:extLst>
      <p:ext uri="{BB962C8B-B14F-4D97-AF65-F5344CB8AC3E}">
        <p14:creationId xmlns:p14="http://schemas.microsoft.com/office/powerpoint/2010/main" val="95279054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8435">
                                            <p:txEl>
                                              <p:pRg st="4" end="4"/>
                                            </p:txEl>
                                          </p:spTgt>
                                        </p:tgtEl>
                                        <p:attrNameLst>
                                          <p:attrName>style.visibility</p:attrName>
                                        </p:attrNameLst>
                                      </p:cBhvr>
                                      <p:to>
                                        <p:strVal val="visible"/>
                                      </p:to>
                                    </p:set>
                                    <p:animEffect transition="in" filter="fade">
                                      <p:cBhvr>
                                        <p:cTn id="7" dur="1000"/>
                                        <p:tgtEl>
                                          <p:spTgt spid="18435">
                                            <p:txEl>
                                              <p:pRg st="4" end="4"/>
                                            </p:txEl>
                                          </p:spTgt>
                                        </p:tgtEl>
                                      </p:cBhvr>
                                    </p:animEffect>
                                    <p:anim calcmode="lin" valueType="num">
                                      <p:cBhvr>
                                        <p:cTn id="8" dur="1000" fill="hold"/>
                                        <p:tgtEl>
                                          <p:spTgt spid="18435">
                                            <p:txEl>
                                              <p:pRg st="4" end="4"/>
                                            </p:txEl>
                                          </p:spTgt>
                                        </p:tgtEl>
                                        <p:attrNameLst>
                                          <p:attrName>ppt_x</p:attrName>
                                        </p:attrNameLst>
                                      </p:cBhvr>
                                      <p:tavLst>
                                        <p:tav tm="0">
                                          <p:val>
                                            <p:strVal val="#ppt_x"/>
                                          </p:val>
                                        </p:tav>
                                        <p:tav tm="100000">
                                          <p:val>
                                            <p:strVal val="#ppt_x"/>
                                          </p:val>
                                        </p:tav>
                                      </p:tavLst>
                                    </p:anim>
                                    <p:anim calcmode="lin" valueType="num">
                                      <p:cBhvr>
                                        <p:cTn id="9" dur="1000" fill="hold"/>
                                        <p:tgtEl>
                                          <p:spTgt spid="18435">
                                            <p:txEl>
                                              <p:pRg st="4" end="4"/>
                                            </p:txEl>
                                          </p:spTgt>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8435">
                                            <p:txEl>
                                              <p:pRg st="5" end="5"/>
                                            </p:txEl>
                                          </p:spTgt>
                                        </p:tgtEl>
                                        <p:attrNameLst>
                                          <p:attrName>style.visibility</p:attrName>
                                        </p:attrNameLst>
                                      </p:cBhvr>
                                      <p:to>
                                        <p:strVal val="visible"/>
                                      </p:to>
                                    </p:set>
                                    <p:animEffect transition="in" filter="fade">
                                      <p:cBhvr>
                                        <p:cTn id="12" dur="1000"/>
                                        <p:tgtEl>
                                          <p:spTgt spid="18435">
                                            <p:txEl>
                                              <p:pRg st="5" end="5"/>
                                            </p:txEl>
                                          </p:spTgt>
                                        </p:tgtEl>
                                      </p:cBhvr>
                                    </p:animEffect>
                                    <p:anim calcmode="lin" valueType="num">
                                      <p:cBhvr>
                                        <p:cTn id="13" dur="1000" fill="hold"/>
                                        <p:tgtEl>
                                          <p:spTgt spid="18435">
                                            <p:txEl>
                                              <p:pRg st="5" end="5"/>
                                            </p:txEl>
                                          </p:spTgt>
                                        </p:tgtEl>
                                        <p:attrNameLst>
                                          <p:attrName>ppt_x</p:attrName>
                                        </p:attrNameLst>
                                      </p:cBhvr>
                                      <p:tavLst>
                                        <p:tav tm="0">
                                          <p:val>
                                            <p:strVal val="#ppt_x"/>
                                          </p:val>
                                        </p:tav>
                                        <p:tav tm="100000">
                                          <p:val>
                                            <p:strVal val="#ppt_x"/>
                                          </p:val>
                                        </p:tav>
                                      </p:tavLst>
                                    </p:anim>
                                    <p:anim calcmode="lin" valueType="num">
                                      <p:cBhvr>
                                        <p:cTn id="14" dur="1000" fill="hold"/>
                                        <p:tgtEl>
                                          <p:spTgt spid="18435">
                                            <p:txEl>
                                              <p:pRg st="5" end="5"/>
                                            </p:txEl>
                                          </p:spTgt>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18435">
                                            <p:txEl>
                                              <p:pRg st="6" end="6"/>
                                            </p:txEl>
                                          </p:spTgt>
                                        </p:tgtEl>
                                        <p:attrNameLst>
                                          <p:attrName>style.visibility</p:attrName>
                                        </p:attrNameLst>
                                      </p:cBhvr>
                                      <p:to>
                                        <p:strVal val="visible"/>
                                      </p:to>
                                    </p:set>
                                    <p:animEffect transition="in" filter="fade">
                                      <p:cBhvr>
                                        <p:cTn id="17" dur="1000"/>
                                        <p:tgtEl>
                                          <p:spTgt spid="18435">
                                            <p:txEl>
                                              <p:pRg st="6" end="6"/>
                                            </p:txEl>
                                          </p:spTgt>
                                        </p:tgtEl>
                                      </p:cBhvr>
                                    </p:animEffect>
                                    <p:anim calcmode="lin" valueType="num">
                                      <p:cBhvr>
                                        <p:cTn id="18" dur="1000" fill="hold"/>
                                        <p:tgtEl>
                                          <p:spTgt spid="18435">
                                            <p:txEl>
                                              <p:pRg st="6" end="6"/>
                                            </p:txEl>
                                          </p:spTgt>
                                        </p:tgtEl>
                                        <p:attrNameLst>
                                          <p:attrName>ppt_x</p:attrName>
                                        </p:attrNameLst>
                                      </p:cBhvr>
                                      <p:tavLst>
                                        <p:tav tm="0">
                                          <p:val>
                                            <p:strVal val="#ppt_x"/>
                                          </p:val>
                                        </p:tav>
                                        <p:tav tm="100000">
                                          <p:val>
                                            <p:strVal val="#ppt_x"/>
                                          </p:val>
                                        </p:tav>
                                      </p:tavLst>
                                    </p:anim>
                                    <p:anim calcmode="lin" valueType="num">
                                      <p:cBhvr>
                                        <p:cTn id="19" dur="1000" fill="hold"/>
                                        <p:tgtEl>
                                          <p:spTgt spid="18435">
                                            <p:txEl>
                                              <p:pRg st="6" end="6"/>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idx="4294967295"/>
          </p:nvPr>
        </p:nvSpPr>
        <p:spPr>
          <a:xfrm>
            <a:off x="914400" y="260350"/>
            <a:ext cx="7391400" cy="561975"/>
          </a:xfrm>
        </p:spPr>
        <p:txBody>
          <a:bodyPr>
            <a:normAutofit fontScale="90000"/>
          </a:bodyPr>
          <a:lstStyle/>
          <a:p>
            <a:pPr eaLnBrk="1" hangingPunct="1"/>
            <a:r>
              <a:rPr lang="zh-CN" altLang="en-US" sz="3600" smtClean="0"/>
              <a:t>自身连接（续）</a:t>
            </a:r>
          </a:p>
        </p:txBody>
      </p:sp>
      <p:sp>
        <p:nvSpPr>
          <p:cNvPr id="20483" name="Rectangle 3"/>
          <p:cNvSpPr>
            <a:spLocks noGrp="1" noChangeArrowheads="1"/>
          </p:cNvSpPr>
          <p:nvPr>
            <p:ph type="body" sz="half" idx="4294967295"/>
          </p:nvPr>
        </p:nvSpPr>
        <p:spPr>
          <a:xfrm>
            <a:off x="457200" y="1828800"/>
            <a:ext cx="4038600" cy="592138"/>
          </a:xfrm>
        </p:spPr>
        <p:txBody>
          <a:bodyPr/>
          <a:lstStyle/>
          <a:p>
            <a:pPr eaLnBrk="1" hangingPunct="1">
              <a:buFont typeface="Wingdings" panose="05000000000000000000" pitchFamily="2" charset="2"/>
              <a:buNone/>
            </a:pPr>
            <a:r>
              <a:rPr lang="zh-CN" altLang="en-US" smtClean="0"/>
              <a:t>查询结果：</a:t>
            </a:r>
          </a:p>
        </p:txBody>
      </p:sp>
      <p:graphicFrame>
        <p:nvGraphicFramePr>
          <p:cNvPr id="21508" name="Group 4"/>
          <p:cNvGraphicFramePr>
            <a:graphicFrameLocks noGrp="1"/>
          </p:cNvGraphicFramePr>
          <p:nvPr>
            <p:ph sz="half" idx="4294967295"/>
            <p:extLst>
              <p:ext uri="{D42A27DB-BD31-4B8C-83A1-F6EECF244321}">
                <p14:modId xmlns:p14="http://schemas.microsoft.com/office/powerpoint/2010/main" val="4114181540"/>
              </p:ext>
            </p:extLst>
          </p:nvPr>
        </p:nvGraphicFramePr>
        <p:xfrm>
          <a:off x="570706" y="3166228"/>
          <a:ext cx="3827463" cy="2520952"/>
        </p:xfrm>
        <a:graphic>
          <a:graphicData uri="http://schemas.openxmlformats.org/drawingml/2006/table">
            <a:tbl>
              <a:tblPr/>
              <a:tblGrid>
                <a:gridCol w="1914525">
                  <a:extLst>
                    <a:ext uri="{9D8B030D-6E8A-4147-A177-3AD203B41FA5}">
                      <a16:colId xmlns:a16="http://schemas.microsoft.com/office/drawing/2014/main" xmlns="" val="20000"/>
                    </a:ext>
                  </a:extLst>
                </a:gridCol>
                <a:gridCol w="1912938">
                  <a:extLst>
                    <a:ext uri="{9D8B030D-6E8A-4147-A177-3AD203B41FA5}">
                      <a16:colId xmlns:a16="http://schemas.microsoft.com/office/drawing/2014/main" xmlns="" val="20001"/>
                    </a:ext>
                  </a:extLst>
                </a:gridCol>
              </a:tblGrid>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dirty="0" err="1"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Cno</a:t>
                      </a:r>
                      <a:endParaRPr kumimoji="0" lang="en-US" altLang="zh-CN" sz="2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endParaRP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Pcno</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0"/>
                  </a:ext>
                </a:extLst>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1</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7</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1"/>
                  </a:ext>
                </a:extLst>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3</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2"/>
                  </a:ext>
                </a:extLst>
              </a:tr>
              <a:tr h="630238">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5</a:t>
                      </a:r>
                    </a:p>
                  </a:txBody>
                  <a:tcPr horzOverflow="overflow">
                    <a:lnL>
                      <a:noFill/>
                    </a:lnL>
                    <a:lnR>
                      <a:noFill/>
                    </a:lnR>
                    <a:lnT>
                      <a:noFill/>
                    </a:lnT>
                    <a:lnB>
                      <a:noFill/>
                    </a:lnB>
                    <a:lnTlToBr>
                      <a:noFill/>
                    </a:lnTlToBr>
                    <a:lnBlToTr>
                      <a:noFill/>
                    </a:lnBlToTr>
                    <a:noFill/>
                  </a:tcPr>
                </a:tc>
                <a:tc>
                  <a:txBody>
                    <a:bodyPr/>
                    <a:lstStyle>
                      <a:lvl1pPr marL="342900" indent="-342900"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342900" marR="0" lvl="0" indent="-342900" algn="ctr" defTabSz="914400" rtl="0" eaLnBrk="1" fontAlgn="base" latinLnBrk="0" hangingPunct="1">
                        <a:lnSpc>
                          <a:spcPct val="100000"/>
                        </a:lnSpc>
                        <a:spcBef>
                          <a:spcPct val="0"/>
                        </a:spcBef>
                        <a:spcAft>
                          <a:spcPct val="0"/>
                        </a:spcAft>
                        <a:buClrTx/>
                        <a:buSzPct val="100000"/>
                        <a:buFont typeface="Arial" panose="020B0604020202020204" pitchFamily="34" charset="0"/>
                        <a:buNone/>
                        <a:tabLst/>
                      </a:pPr>
                      <a:r>
                        <a:rPr kumimoji="0" lang="en-US" altLang="zh-CN" sz="2200" b="1" i="0" u="none" strike="noStrike" cap="none" normalizeH="0" baseline="0" dirty="0" smtClean="0">
                          <a:ln>
                            <a:noFill/>
                          </a:ln>
                          <a:solidFill>
                            <a:schemeClr val="tx1"/>
                          </a:solidFill>
                          <a:effectLst/>
                          <a:latin typeface="Times New Roman" panose="02020603050405020304" pitchFamily="18" charset="0"/>
                          <a:ea typeface="宋体" panose="02010600030101010101" pitchFamily="2" charset="-122"/>
                          <a:cs typeface="Times New Roman" panose="02020603050405020304" pitchFamily="18" charset="0"/>
                        </a:rPr>
                        <a:t>6</a:t>
                      </a:r>
                    </a:p>
                  </a:txBody>
                  <a:tcPr horzOverflow="overflow">
                    <a:lnL>
                      <a:noFill/>
                    </a:lnL>
                    <a:lnR>
                      <a:noFill/>
                    </a:lnR>
                    <a:lnT>
                      <a:noFill/>
                    </a:lnT>
                    <a:lnB>
                      <a:noFill/>
                    </a:lnB>
                    <a:lnTlToBr>
                      <a:noFill/>
                    </a:lnTlToBr>
                    <a:lnBlToTr>
                      <a:noFill/>
                    </a:lnBlToTr>
                    <a:noFill/>
                  </a:tcPr>
                </a:tc>
                <a:extLst>
                  <a:ext uri="{0D108BD9-81ED-4DB2-BD59-A6C34878D82A}">
                    <a16:rowId xmlns:a16="http://schemas.microsoft.com/office/drawing/2014/main" xmlns="" val="10003"/>
                  </a:ext>
                </a:extLst>
              </a:tr>
            </a:tbl>
          </a:graphicData>
        </a:graphic>
      </p:graphicFrame>
      <p:sp>
        <p:nvSpPr>
          <p:cNvPr id="20493" name="Line 91"/>
          <p:cNvSpPr>
            <a:spLocks noChangeShapeType="1"/>
          </p:cNvSpPr>
          <p:nvPr/>
        </p:nvSpPr>
        <p:spPr bwMode="auto">
          <a:xfrm>
            <a:off x="1072356" y="3674918"/>
            <a:ext cx="2808287" cy="0"/>
          </a:xfrm>
          <a:prstGeom prst="line">
            <a:avLst/>
          </a:prstGeom>
          <a:noFill/>
          <a:ln w="9525">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6" name="Group 575"/>
          <p:cNvGraphicFramePr>
            <a:graphicFrameLocks/>
          </p:cNvGraphicFramePr>
          <p:nvPr>
            <p:extLst>
              <p:ext uri="{D42A27DB-BD31-4B8C-83A1-F6EECF244321}">
                <p14:modId xmlns:p14="http://schemas.microsoft.com/office/powerpoint/2010/main" val="4075384397"/>
              </p:ext>
            </p:extLst>
          </p:nvPr>
        </p:nvGraphicFramePr>
        <p:xfrm>
          <a:off x="5430838" y="2930413"/>
          <a:ext cx="3500582" cy="2431296"/>
        </p:xfrm>
        <a:graphic>
          <a:graphicData uri="http://schemas.openxmlformats.org/drawingml/2006/table">
            <a:tbl>
              <a:tblPr/>
              <a:tblGrid>
                <a:gridCol w="729672">
                  <a:extLst>
                    <a:ext uri="{9D8B030D-6E8A-4147-A177-3AD203B41FA5}">
                      <a16:colId xmlns:a16="http://schemas.microsoft.com/office/drawing/2014/main" xmlns="" val="20000"/>
                    </a:ext>
                  </a:extLst>
                </a:gridCol>
                <a:gridCol w="1182254">
                  <a:extLst>
                    <a:ext uri="{9D8B030D-6E8A-4147-A177-3AD203B41FA5}">
                      <a16:colId xmlns:a16="http://schemas.microsoft.com/office/drawing/2014/main" xmlns="" val="20001"/>
                    </a:ext>
                  </a:extLst>
                </a:gridCol>
                <a:gridCol w="790730">
                  <a:extLst>
                    <a:ext uri="{9D8B030D-6E8A-4147-A177-3AD203B41FA5}">
                      <a16:colId xmlns:a16="http://schemas.microsoft.com/office/drawing/2014/main" xmlns="" val="20002"/>
                    </a:ext>
                  </a:extLst>
                </a:gridCol>
                <a:gridCol w="797926">
                  <a:extLst>
                    <a:ext uri="{9D8B030D-6E8A-4147-A177-3AD203B41FA5}">
                      <a16:colId xmlns:a16="http://schemas.microsoft.com/office/drawing/2014/main" xmlns="" val="20003"/>
                    </a:ext>
                  </a:extLst>
                </a:gridCol>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7" name="Text Box 502"/>
          <p:cNvSpPr txBox="1">
            <a:spLocks noChangeArrowheads="1"/>
          </p:cNvSpPr>
          <p:nvPr/>
        </p:nvSpPr>
        <p:spPr bwMode="auto">
          <a:xfrm>
            <a:off x="5430838" y="2420938"/>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spTree>
    <p:extLst>
      <p:ext uri="{BB962C8B-B14F-4D97-AF65-F5344CB8AC3E}">
        <p14:creationId xmlns:p14="http://schemas.microsoft.com/office/powerpoint/2010/main" val="2761779079"/>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idx="4294967295"/>
          </p:nvPr>
        </p:nvSpPr>
        <p:spPr/>
        <p:txBody>
          <a:bodyPr/>
          <a:lstStyle/>
          <a:p>
            <a:pPr eaLnBrk="1" hangingPunct="1"/>
            <a:r>
              <a:rPr lang="en-US" altLang="zh-CN" sz="3600" dirty="0" smtClean="0"/>
              <a:t>(3) </a:t>
            </a:r>
            <a:r>
              <a:rPr lang="zh-CN" altLang="en-US" sz="3600" dirty="0" smtClean="0"/>
              <a:t>外连接</a:t>
            </a:r>
          </a:p>
        </p:txBody>
      </p:sp>
      <p:sp>
        <p:nvSpPr>
          <p:cNvPr id="22531" name="Rectangle 3"/>
          <p:cNvSpPr>
            <a:spLocks noGrp="1" noChangeArrowheads="1"/>
          </p:cNvSpPr>
          <p:nvPr>
            <p:ph type="body" idx="4294967295"/>
          </p:nvPr>
        </p:nvSpPr>
        <p:spPr>
          <a:xfrm>
            <a:off x="457200" y="1125538"/>
            <a:ext cx="8686800" cy="5040312"/>
          </a:xfrm>
        </p:spPr>
        <p:txBody>
          <a:bodyPr/>
          <a:lstStyle/>
          <a:p>
            <a:pPr algn="just" eaLnBrk="1" hangingPunct="1">
              <a:lnSpc>
                <a:spcPct val="120000"/>
              </a:lnSpc>
              <a:spcBef>
                <a:spcPct val="0"/>
              </a:spcBef>
            </a:pPr>
            <a:r>
              <a:rPr lang="zh-CN" altLang="en-US" dirty="0" smtClean="0"/>
              <a:t>外连接与普通连接的区别</a:t>
            </a:r>
          </a:p>
          <a:p>
            <a:pPr lvl="1" algn="just" eaLnBrk="1" hangingPunct="1">
              <a:lnSpc>
                <a:spcPct val="120000"/>
              </a:lnSpc>
              <a:spcBef>
                <a:spcPct val="0"/>
              </a:spcBef>
            </a:pPr>
            <a:r>
              <a:rPr lang="zh-CN" altLang="en-US" dirty="0" smtClean="0"/>
              <a:t>普通连接操作只输出满足连接条件的元组</a:t>
            </a:r>
          </a:p>
          <a:p>
            <a:pPr lvl="1" eaLnBrk="1" hangingPunct="1">
              <a:lnSpc>
                <a:spcPct val="120000"/>
              </a:lnSpc>
              <a:spcBef>
                <a:spcPct val="0"/>
              </a:spcBef>
            </a:pPr>
            <a:r>
              <a:rPr lang="zh-CN" altLang="en-US" dirty="0" smtClean="0"/>
              <a:t>外连接操作以指定表为连接主体，将主体表中不满足连接条件的元组一并输出</a:t>
            </a:r>
          </a:p>
          <a:p>
            <a:pPr lvl="1" algn="just" eaLnBrk="1" hangingPunct="1">
              <a:lnSpc>
                <a:spcPct val="120000"/>
              </a:lnSpc>
              <a:spcBef>
                <a:spcPct val="0"/>
              </a:spcBef>
            </a:pPr>
            <a:r>
              <a:rPr lang="en-US" altLang="zh-CN" dirty="0" smtClean="0"/>
              <a:t> </a:t>
            </a:r>
            <a:r>
              <a:rPr lang="zh-CN" altLang="en-US" dirty="0" smtClean="0"/>
              <a:t>左外连接</a:t>
            </a:r>
          </a:p>
          <a:p>
            <a:pPr lvl="2" algn="just">
              <a:lnSpc>
                <a:spcPct val="120000"/>
              </a:lnSpc>
              <a:spcBef>
                <a:spcPct val="0"/>
              </a:spcBef>
              <a:buSzPct val="87000"/>
              <a:buFont typeface="Wingdings" panose="05000000000000000000" pitchFamily="2" charset="2"/>
              <a:buChar char="l"/>
            </a:pPr>
            <a:r>
              <a:rPr lang="zh-CN" altLang="en-US" dirty="0" smtClean="0"/>
              <a:t>列出左边关系中所有的元组 </a:t>
            </a:r>
            <a:r>
              <a:rPr lang="en-US" altLang="zh-CN" dirty="0"/>
              <a:t>(LEFT OUTER JOIN</a:t>
            </a:r>
            <a:r>
              <a:rPr lang="zh-CN" altLang="zh-CN" dirty="0"/>
              <a:t>或</a:t>
            </a:r>
            <a:r>
              <a:rPr lang="en-US" altLang="zh-CN" dirty="0"/>
              <a:t>LEFT JOIN) </a:t>
            </a:r>
          </a:p>
          <a:p>
            <a:pPr lvl="1" algn="just" eaLnBrk="1" hangingPunct="1">
              <a:lnSpc>
                <a:spcPct val="120000"/>
              </a:lnSpc>
              <a:spcBef>
                <a:spcPct val="0"/>
              </a:spcBef>
            </a:pPr>
            <a:r>
              <a:rPr lang="zh-CN" altLang="en-US" dirty="0" smtClean="0"/>
              <a:t> 右外连接</a:t>
            </a:r>
          </a:p>
          <a:p>
            <a:pPr lvl="2" algn="just">
              <a:lnSpc>
                <a:spcPct val="120000"/>
              </a:lnSpc>
              <a:spcBef>
                <a:spcPct val="0"/>
              </a:spcBef>
              <a:buSzPct val="87000"/>
              <a:buFont typeface="Wingdings" panose="05000000000000000000" pitchFamily="2" charset="2"/>
              <a:buChar char="l"/>
            </a:pPr>
            <a:r>
              <a:rPr lang="zh-CN" altLang="en-US" dirty="0" smtClean="0"/>
              <a:t>列出右边关系中所有的元组</a:t>
            </a:r>
            <a:r>
              <a:rPr lang="en-US" altLang="zh-CN" dirty="0" smtClean="0"/>
              <a:t>(</a:t>
            </a:r>
            <a:r>
              <a:rPr lang="en-US" altLang="zh-CN" dirty="0"/>
              <a:t>RIGHT OUTER JOIN</a:t>
            </a:r>
            <a:r>
              <a:rPr lang="zh-CN" altLang="zh-CN" dirty="0"/>
              <a:t>或</a:t>
            </a:r>
            <a:r>
              <a:rPr lang="en-US" altLang="zh-CN" dirty="0"/>
              <a:t>RIGHT JOIN)</a:t>
            </a:r>
          </a:p>
          <a:p>
            <a:pPr lvl="2" algn="just" eaLnBrk="1" hangingPunct="1">
              <a:lnSpc>
                <a:spcPct val="120000"/>
              </a:lnSpc>
              <a:spcBef>
                <a:spcPct val="0"/>
              </a:spcBef>
              <a:buSzPct val="87000"/>
              <a:buFont typeface="Wingdings" panose="05000000000000000000" pitchFamily="2" charset="2"/>
              <a:buChar char="l"/>
            </a:pPr>
            <a:endParaRPr lang="zh-CN" altLang="en-US" sz="2200" dirty="0" smtClean="0"/>
          </a:p>
          <a:p>
            <a:pPr eaLnBrk="1" hangingPunct="1">
              <a:lnSpc>
                <a:spcPct val="90000"/>
              </a:lnSpc>
              <a:buFont typeface="Wingdings" panose="05000000000000000000" pitchFamily="2" charset="2"/>
              <a:buNone/>
            </a:pPr>
            <a:r>
              <a:rPr lang="zh-CN" altLang="en-US" sz="2000" dirty="0" smtClean="0"/>
              <a:t>    </a:t>
            </a:r>
          </a:p>
        </p:txBody>
      </p:sp>
      <p:graphicFrame>
        <p:nvGraphicFramePr>
          <p:cNvPr id="4" name="Group 271"/>
          <p:cNvGraphicFramePr>
            <a:graphicFrameLocks/>
          </p:cNvGraphicFramePr>
          <p:nvPr>
            <p:extLst>
              <p:ext uri="{D42A27DB-BD31-4B8C-83A1-F6EECF244321}">
                <p14:modId xmlns:p14="http://schemas.microsoft.com/office/powerpoint/2010/main" val="1737615479"/>
              </p:ext>
            </p:extLst>
          </p:nvPr>
        </p:nvGraphicFramePr>
        <p:xfrm>
          <a:off x="0" y="4634492"/>
          <a:ext cx="4554070" cy="2223508"/>
        </p:xfrm>
        <a:graphic>
          <a:graphicData uri="http://schemas.openxmlformats.org/drawingml/2006/table">
            <a:tbl>
              <a:tblPr>
                <a:tableStyleId>{2D5ABB26-0587-4C30-8999-92F81FD0307C}</a:tableStyleId>
              </a:tblPr>
              <a:tblGrid>
                <a:gridCol w="1141551">
                  <a:extLst>
                    <a:ext uri="{9D8B030D-6E8A-4147-A177-3AD203B41FA5}">
                      <a16:colId xmlns:a16="http://schemas.microsoft.com/office/drawing/2014/main" xmlns="" val="20000"/>
                    </a:ext>
                  </a:extLst>
                </a:gridCol>
                <a:gridCol w="680428">
                  <a:extLst>
                    <a:ext uri="{9D8B030D-6E8A-4147-A177-3AD203B41FA5}">
                      <a16:colId xmlns:a16="http://schemas.microsoft.com/office/drawing/2014/main" xmlns="" val="20001"/>
                    </a:ext>
                  </a:extLst>
                </a:gridCol>
                <a:gridCol w="910111">
                  <a:extLst>
                    <a:ext uri="{9D8B030D-6E8A-4147-A177-3AD203B41FA5}">
                      <a16:colId xmlns:a16="http://schemas.microsoft.com/office/drawing/2014/main" xmlns="" val="20002"/>
                    </a:ext>
                  </a:extLst>
                </a:gridCol>
                <a:gridCol w="910990">
                  <a:extLst>
                    <a:ext uri="{9D8B030D-6E8A-4147-A177-3AD203B41FA5}">
                      <a16:colId xmlns:a16="http://schemas.microsoft.com/office/drawing/2014/main" xmlns="" val="20003"/>
                    </a:ext>
                  </a:extLst>
                </a:gridCol>
                <a:gridCol w="910990">
                  <a:extLst>
                    <a:ext uri="{9D8B030D-6E8A-4147-A177-3AD203B41FA5}">
                      <a16:colId xmlns:a16="http://schemas.microsoft.com/office/drawing/2014/main" xmlns="" val="20004"/>
                    </a:ext>
                  </a:extLst>
                </a:gridCol>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李勇</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王敏</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bl>
          </a:graphicData>
        </a:graphic>
      </p:graphicFrame>
      <p:graphicFrame>
        <p:nvGraphicFramePr>
          <p:cNvPr id="5" name="Group 384"/>
          <p:cNvGraphicFramePr>
            <a:graphicFrameLocks/>
          </p:cNvGraphicFramePr>
          <p:nvPr>
            <p:extLst>
              <p:ext uri="{D42A27DB-BD31-4B8C-83A1-F6EECF244321}">
                <p14:modId xmlns:p14="http://schemas.microsoft.com/office/powerpoint/2010/main" val="3918918995"/>
              </p:ext>
            </p:extLst>
          </p:nvPr>
        </p:nvGraphicFramePr>
        <p:xfrm>
          <a:off x="6179027" y="4634492"/>
          <a:ext cx="2885599" cy="2185668"/>
        </p:xfrm>
        <a:graphic>
          <a:graphicData uri="http://schemas.openxmlformats.org/drawingml/2006/table">
            <a:tbl>
              <a:tblPr/>
              <a:tblGrid>
                <a:gridCol w="945896">
                  <a:extLst>
                    <a:ext uri="{9D8B030D-6E8A-4147-A177-3AD203B41FA5}">
                      <a16:colId xmlns:a16="http://schemas.microsoft.com/office/drawing/2014/main" xmlns="" val="20000"/>
                    </a:ext>
                  </a:extLst>
                </a:gridCol>
                <a:gridCol w="1057041">
                  <a:extLst>
                    <a:ext uri="{9D8B030D-6E8A-4147-A177-3AD203B41FA5}">
                      <a16:colId xmlns:a16="http://schemas.microsoft.com/office/drawing/2014/main" xmlns="" val="20001"/>
                    </a:ext>
                  </a:extLst>
                </a:gridCol>
                <a:gridCol w="882662">
                  <a:extLst>
                    <a:ext uri="{9D8B030D-6E8A-4147-A177-3AD203B41FA5}">
                      <a16:colId xmlns:a16="http://schemas.microsoft.com/office/drawing/2014/main" xmlns="" val="20002"/>
                    </a:ext>
                  </a:extLst>
                </a:gridCol>
              </a:tblGrid>
              <a:tr h="594273">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18279">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364457838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794" name="Rectangle 2"/>
          <p:cNvSpPr>
            <a:spLocks noGrp="1" noChangeArrowheads="1"/>
          </p:cNvSpPr>
          <p:nvPr>
            <p:ph type="title"/>
          </p:nvPr>
        </p:nvSpPr>
        <p:spPr>
          <a:xfrm>
            <a:off x="1410891" y="1178720"/>
            <a:ext cx="6172200" cy="540544"/>
          </a:xfrm>
        </p:spPr>
        <p:txBody>
          <a:bodyPr>
            <a:normAutofit fontScale="90000"/>
          </a:bodyPr>
          <a:lstStyle/>
          <a:p>
            <a:r>
              <a:rPr lang="zh-CN" altLang="en-US" dirty="0" smtClean="0"/>
              <a:t>例子</a:t>
            </a:r>
            <a:endParaRPr lang="en-US" altLang="zh-CN" dirty="0" smtClean="0"/>
          </a:p>
        </p:txBody>
      </p:sp>
      <p:sp>
        <p:nvSpPr>
          <p:cNvPr id="149507" name="Rectangle 3"/>
          <p:cNvSpPr>
            <a:spLocks noGrp="1" noChangeArrowheads="1"/>
          </p:cNvSpPr>
          <p:nvPr>
            <p:ph type="body" idx="1"/>
          </p:nvPr>
        </p:nvSpPr>
        <p:spPr>
          <a:xfrm>
            <a:off x="1058061" y="1359541"/>
            <a:ext cx="6172200" cy="3257550"/>
          </a:xfrm>
        </p:spPr>
        <p:txBody>
          <a:bodyPr/>
          <a:lstStyle/>
          <a:p>
            <a:pPr>
              <a:buFont typeface="Wingdings" panose="05000000000000000000" pitchFamily="2" charset="2"/>
              <a:buNone/>
            </a:pPr>
            <a:r>
              <a:rPr lang="en-US" altLang="zh-CN" dirty="0" smtClean="0">
                <a:ea typeface="宋体" panose="02010600030101010101" pitchFamily="2" charset="-122"/>
              </a:rPr>
              <a:t>[Example ]</a:t>
            </a:r>
            <a:r>
              <a:rPr lang="en-US" altLang="zh-CN" b="1" dirty="0" smtClean="0">
                <a:ea typeface="宋体" panose="02010600030101010101" pitchFamily="2" charset="-122"/>
              </a:rPr>
              <a:t>:  Find all pairs of students who have the same GPA.</a:t>
            </a:r>
            <a:endParaRPr lang="en-US" altLang="zh-CN" dirty="0" smtClean="0">
              <a:ea typeface="宋体" panose="02010600030101010101" pitchFamily="2" charset="-122"/>
            </a:endParaRPr>
          </a:p>
          <a:p>
            <a:pPr>
              <a:buFont typeface="Wingdings" panose="05000000000000000000" pitchFamily="2" charset="2"/>
              <a:buNone/>
            </a:pPr>
            <a:r>
              <a:rPr lang="en-US" altLang="zh-CN" dirty="0" smtClean="0">
                <a:ea typeface="宋体" panose="02010600030101010101" pitchFamily="2" charset="-122"/>
              </a:rPr>
              <a:t>         select s1.SSN, s2.SSN</a:t>
            </a:r>
          </a:p>
          <a:p>
            <a:pPr>
              <a:buFont typeface="Wingdings" panose="05000000000000000000" pitchFamily="2" charset="2"/>
              <a:buNone/>
            </a:pPr>
            <a:r>
              <a:rPr lang="en-US" altLang="zh-CN" dirty="0" smtClean="0">
                <a:ea typeface="宋体" panose="02010600030101010101" pitchFamily="2" charset="-122"/>
              </a:rPr>
              <a:t>         from Students s1, Students s2</a:t>
            </a:r>
          </a:p>
          <a:p>
            <a:pPr>
              <a:buFont typeface="Wingdings" panose="05000000000000000000" pitchFamily="2" charset="2"/>
              <a:buNone/>
            </a:pPr>
            <a:r>
              <a:rPr lang="en-US" altLang="zh-CN" dirty="0" smtClean="0">
                <a:ea typeface="宋体" panose="02010600030101010101" pitchFamily="2" charset="-122"/>
              </a:rPr>
              <a:t>         where s1.GPA = s2.GPA </a:t>
            </a:r>
          </a:p>
          <a:p>
            <a:pPr>
              <a:buFont typeface="Wingdings" panose="05000000000000000000" pitchFamily="2" charset="2"/>
              <a:buNone/>
            </a:pPr>
            <a:r>
              <a:rPr lang="en-US" altLang="zh-CN" dirty="0" smtClean="0">
                <a:ea typeface="宋体" panose="02010600030101010101" pitchFamily="2" charset="-122"/>
              </a:rPr>
              <a:t>                  and s1.SSN &lt; s2.SSN</a:t>
            </a:r>
          </a:p>
        </p:txBody>
      </p:sp>
      <p:pic>
        <p:nvPicPr>
          <p:cNvPr id="4"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872" r="11166"/>
          <a:stretch/>
        </p:blipFill>
        <p:spPr>
          <a:xfrm>
            <a:off x="2039859" y="4952395"/>
            <a:ext cx="4208603" cy="1568472"/>
          </a:xfrm>
          <a:prstGeom prst="rect">
            <a:avLst/>
          </a:prstGeom>
          <a:noFill/>
        </p:spPr>
      </p:pic>
      <p:sp>
        <p:nvSpPr>
          <p:cNvPr id="6" name="Rectangle 2"/>
          <p:cNvSpPr txBox="1">
            <a:spLocks noChangeArrowheads="1"/>
          </p:cNvSpPr>
          <p:nvPr/>
        </p:nvSpPr>
        <p:spPr>
          <a:xfrm>
            <a:off x="723900" y="0"/>
            <a:ext cx="78867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bg1"/>
                </a:solidFill>
                <a:latin typeface="+mj-lt"/>
                <a:ea typeface="+mj-ea"/>
                <a:cs typeface="+mj-cs"/>
              </a:defRPr>
            </a:lvl1pPr>
          </a:lstStyle>
          <a:p>
            <a:r>
              <a:rPr lang="en-US" altLang="zh-CN" sz="3600" dirty="0" smtClean="0"/>
              <a:t> </a:t>
            </a:r>
            <a:r>
              <a:rPr lang="zh-CN" altLang="en-US" sz="3600" dirty="0" smtClean="0"/>
              <a:t>示例</a:t>
            </a:r>
          </a:p>
        </p:txBody>
      </p:sp>
    </p:spTree>
    <p:extLst>
      <p:ext uri="{BB962C8B-B14F-4D97-AF65-F5344CB8AC3E}">
        <p14:creationId xmlns:p14="http://schemas.microsoft.com/office/powerpoint/2010/main" val="3842425258"/>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49507">
                                            <p:txEl>
                                              <p:pRg st="1" end="1"/>
                                            </p:txEl>
                                          </p:spTgt>
                                        </p:tgtEl>
                                        <p:attrNameLst>
                                          <p:attrName>style.visibility</p:attrName>
                                        </p:attrNameLst>
                                      </p:cBhvr>
                                      <p:to>
                                        <p:strVal val="visible"/>
                                      </p:to>
                                    </p:set>
                                    <p:animEffect transition="in" filter="blinds(horizontal)">
                                      <p:cBhvr>
                                        <p:cTn id="7" dur="500"/>
                                        <p:tgtEl>
                                          <p:spTgt spid="149507">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49507">
                                            <p:txEl>
                                              <p:pRg st="2" end="2"/>
                                            </p:txEl>
                                          </p:spTgt>
                                        </p:tgtEl>
                                        <p:attrNameLst>
                                          <p:attrName>style.visibility</p:attrName>
                                        </p:attrNameLst>
                                      </p:cBhvr>
                                      <p:to>
                                        <p:strVal val="visible"/>
                                      </p:to>
                                    </p:set>
                                    <p:animEffect transition="in" filter="blinds(horizontal)">
                                      <p:cBhvr>
                                        <p:cTn id="10" dur="500"/>
                                        <p:tgtEl>
                                          <p:spTgt spid="149507">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49507">
                                            <p:txEl>
                                              <p:pRg st="3" end="3"/>
                                            </p:txEl>
                                          </p:spTgt>
                                        </p:tgtEl>
                                        <p:attrNameLst>
                                          <p:attrName>style.visibility</p:attrName>
                                        </p:attrNameLst>
                                      </p:cBhvr>
                                      <p:to>
                                        <p:strVal val="visible"/>
                                      </p:to>
                                    </p:set>
                                    <p:animEffect transition="in" filter="blinds(horizontal)">
                                      <p:cBhvr>
                                        <p:cTn id="13" dur="500"/>
                                        <p:tgtEl>
                                          <p:spTgt spid="149507">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49507">
                                            <p:txEl>
                                              <p:pRg st="4" end="4"/>
                                            </p:txEl>
                                          </p:spTgt>
                                        </p:tgtEl>
                                        <p:attrNameLst>
                                          <p:attrName>style.visibility</p:attrName>
                                        </p:attrNameLst>
                                      </p:cBhvr>
                                      <p:to>
                                        <p:strVal val="visible"/>
                                      </p:to>
                                    </p:set>
                                    <p:animEffect transition="in" filter="blinds(horizontal)">
                                      <p:cBhvr>
                                        <p:cTn id="16" dur="500"/>
                                        <p:tgtEl>
                                          <p:spTgt spid="149507">
                                            <p:txEl>
                                              <p:pRg st="4" end="4"/>
                                            </p:txEl>
                                          </p:spTgt>
                                        </p:tgtEl>
                                      </p:cBhvr>
                                    </p:animEffect>
                                  </p:childTnLst>
                                </p:cTn>
                              </p:par>
                            </p:childTnLst>
                          </p:cTn>
                        </p:par>
                      </p:childTnLst>
                    </p:cTn>
                  </p:par>
                  <p:par>
                    <p:cTn id="17" fill="hold">
                      <p:stCondLst>
                        <p:cond delay="indefinite"/>
                      </p:stCondLst>
                      <p:childTnLst>
                        <p:par>
                          <p:cTn id="18" fill="hold">
                            <p:stCondLst>
                              <p:cond delay="0"/>
                            </p:stCondLst>
                            <p:childTnLst>
                              <p:par>
                                <p:cTn id="19" presetID="2" presetClass="entr" presetSubtype="4" fill="hold" nodeType="clickEffect">
                                  <p:stCondLst>
                                    <p:cond delay="0"/>
                                  </p:stCondLst>
                                  <p:childTnLst>
                                    <p:set>
                                      <p:cBhvr>
                                        <p:cTn id="20" dur="1" fill="hold">
                                          <p:stCondLst>
                                            <p:cond delay="0"/>
                                          </p:stCondLst>
                                        </p:cTn>
                                        <p:tgtEl>
                                          <p:spTgt spid="149507">
                                            <p:txEl>
                                              <p:pRg st="1" end="1"/>
                                            </p:txEl>
                                          </p:spTgt>
                                        </p:tgtEl>
                                        <p:attrNameLst>
                                          <p:attrName>style.visibility</p:attrName>
                                        </p:attrNameLst>
                                      </p:cBhvr>
                                      <p:to>
                                        <p:strVal val="visible"/>
                                      </p:to>
                                    </p:set>
                                    <p:anim calcmode="lin" valueType="num">
                                      <p:cBhvr additive="base">
                                        <p:cTn id="21" dur="500" fill="hold"/>
                                        <p:tgtEl>
                                          <p:spTgt spid="149507">
                                            <p:txEl>
                                              <p:pRg st="1" end="1"/>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149507">
                                            <p:txEl>
                                              <p:pRg st="1" end="1"/>
                                            </p:txEl>
                                          </p:spTgt>
                                        </p:tgtEl>
                                        <p:attrNameLst>
                                          <p:attrName>ppt_y</p:attrName>
                                        </p:attrNameLst>
                                      </p:cBhvr>
                                      <p:tavLst>
                                        <p:tav tm="0">
                                          <p:val>
                                            <p:strVal val="1+#ppt_h/2"/>
                                          </p:val>
                                        </p:tav>
                                        <p:tav tm="100000">
                                          <p:val>
                                            <p:strVal val="#ppt_y"/>
                                          </p:val>
                                        </p:tav>
                                      </p:tavLst>
                                    </p:anim>
                                  </p:childTnLst>
                                </p:cTn>
                              </p:par>
                              <p:par>
                                <p:cTn id="23" presetID="2" presetClass="entr" presetSubtype="4" fill="hold" nodeType="withEffect">
                                  <p:stCondLst>
                                    <p:cond delay="0"/>
                                  </p:stCondLst>
                                  <p:childTnLst>
                                    <p:set>
                                      <p:cBhvr>
                                        <p:cTn id="24" dur="1" fill="hold">
                                          <p:stCondLst>
                                            <p:cond delay="0"/>
                                          </p:stCondLst>
                                        </p:cTn>
                                        <p:tgtEl>
                                          <p:spTgt spid="149507">
                                            <p:txEl>
                                              <p:pRg st="2" end="2"/>
                                            </p:txEl>
                                          </p:spTgt>
                                        </p:tgtEl>
                                        <p:attrNameLst>
                                          <p:attrName>style.visibility</p:attrName>
                                        </p:attrNameLst>
                                      </p:cBhvr>
                                      <p:to>
                                        <p:strVal val="visible"/>
                                      </p:to>
                                    </p:set>
                                    <p:anim calcmode="lin" valueType="num">
                                      <p:cBhvr additive="base">
                                        <p:cTn id="25" dur="500" fill="hold"/>
                                        <p:tgtEl>
                                          <p:spTgt spid="149507">
                                            <p:txEl>
                                              <p:pRg st="2" end="2"/>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49507">
                                            <p:txEl>
                                              <p:pRg st="2" end="2"/>
                                            </p:txEl>
                                          </p:spTgt>
                                        </p:tgtEl>
                                        <p:attrNameLst>
                                          <p:attrName>ppt_y</p:attrName>
                                        </p:attrNameLst>
                                      </p:cBhvr>
                                      <p:tavLst>
                                        <p:tav tm="0">
                                          <p:val>
                                            <p:strVal val="1+#ppt_h/2"/>
                                          </p:val>
                                        </p:tav>
                                        <p:tav tm="100000">
                                          <p:val>
                                            <p:strVal val="#ppt_y"/>
                                          </p:val>
                                        </p:tav>
                                      </p:tavLst>
                                    </p:anim>
                                  </p:childTnLst>
                                </p:cTn>
                              </p:par>
                              <p:par>
                                <p:cTn id="27" presetID="2" presetClass="entr" presetSubtype="4" fill="hold" nodeType="withEffect">
                                  <p:stCondLst>
                                    <p:cond delay="0"/>
                                  </p:stCondLst>
                                  <p:childTnLst>
                                    <p:set>
                                      <p:cBhvr>
                                        <p:cTn id="28" dur="1" fill="hold">
                                          <p:stCondLst>
                                            <p:cond delay="0"/>
                                          </p:stCondLst>
                                        </p:cTn>
                                        <p:tgtEl>
                                          <p:spTgt spid="149507">
                                            <p:txEl>
                                              <p:pRg st="3" end="3"/>
                                            </p:txEl>
                                          </p:spTgt>
                                        </p:tgtEl>
                                        <p:attrNameLst>
                                          <p:attrName>style.visibility</p:attrName>
                                        </p:attrNameLst>
                                      </p:cBhvr>
                                      <p:to>
                                        <p:strVal val="visible"/>
                                      </p:to>
                                    </p:set>
                                    <p:anim calcmode="lin" valueType="num">
                                      <p:cBhvr additive="base">
                                        <p:cTn id="29" dur="500" fill="hold"/>
                                        <p:tgtEl>
                                          <p:spTgt spid="149507">
                                            <p:txEl>
                                              <p:pRg st="3" end="3"/>
                                            </p:txEl>
                                          </p:spTgt>
                                        </p:tgtEl>
                                        <p:attrNameLst>
                                          <p:attrName>ppt_x</p:attrName>
                                        </p:attrNameLst>
                                      </p:cBhvr>
                                      <p:tavLst>
                                        <p:tav tm="0">
                                          <p:val>
                                            <p:strVal val="#ppt_x"/>
                                          </p:val>
                                        </p:tav>
                                        <p:tav tm="100000">
                                          <p:val>
                                            <p:strVal val="#ppt_x"/>
                                          </p:val>
                                        </p:tav>
                                      </p:tavLst>
                                    </p:anim>
                                    <p:anim calcmode="lin" valueType="num">
                                      <p:cBhvr additive="base">
                                        <p:cTn id="30" dur="500" fill="hold"/>
                                        <p:tgtEl>
                                          <p:spTgt spid="149507">
                                            <p:txEl>
                                              <p:pRg st="3" end="3"/>
                                            </p:txEl>
                                          </p:spTgt>
                                        </p:tgtEl>
                                        <p:attrNameLst>
                                          <p:attrName>ppt_y</p:attrName>
                                        </p:attrNameLst>
                                      </p:cBhvr>
                                      <p:tavLst>
                                        <p:tav tm="0">
                                          <p:val>
                                            <p:strVal val="1+#ppt_h/2"/>
                                          </p:val>
                                        </p:tav>
                                        <p:tav tm="100000">
                                          <p:val>
                                            <p:strVal val="#ppt_y"/>
                                          </p:val>
                                        </p:tav>
                                      </p:tavLst>
                                    </p:anim>
                                  </p:childTnLst>
                                </p:cTn>
                              </p:par>
                              <p:par>
                                <p:cTn id="31" presetID="2" presetClass="entr" presetSubtype="4" fill="hold" nodeType="withEffect">
                                  <p:stCondLst>
                                    <p:cond delay="0"/>
                                  </p:stCondLst>
                                  <p:childTnLst>
                                    <p:set>
                                      <p:cBhvr>
                                        <p:cTn id="32" dur="1" fill="hold">
                                          <p:stCondLst>
                                            <p:cond delay="0"/>
                                          </p:stCondLst>
                                        </p:cTn>
                                        <p:tgtEl>
                                          <p:spTgt spid="149507">
                                            <p:txEl>
                                              <p:pRg st="4" end="4"/>
                                            </p:txEl>
                                          </p:spTgt>
                                        </p:tgtEl>
                                        <p:attrNameLst>
                                          <p:attrName>style.visibility</p:attrName>
                                        </p:attrNameLst>
                                      </p:cBhvr>
                                      <p:to>
                                        <p:strVal val="visible"/>
                                      </p:to>
                                    </p:set>
                                    <p:anim calcmode="lin" valueType="num">
                                      <p:cBhvr additive="base">
                                        <p:cTn id="33" dur="500" fill="hold"/>
                                        <p:tgtEl>
                                          <p:spTgt spid="149507">
                                            <p:txEl>
                                              <p:pRg st="4" end="4"/>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149507">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18" name="Rectangle 2"/>
          <p:cNvSpPr>
            <a:spLocks noGrp="1" noChangeArrowheads="1"/>
          </p:cNvSpPr>
          <p:nvPr>
            <p:ph type="title"/>
          </p:nvPr>
        </p:nvSpPr>
        <p:spPr/>
        <p:txBody>
          <a:bodyPr/>
          <a:lstStyle/>
          <a:p>
            <a:r>
              <a:rPr lang="zh-CN" altLang="en-US" dirty="0"/>
              <a:t>示例</a:t>
            </a:r>
          </a:p>
        </p:txBody>
      </p:sp>
      <p:sp>
        <p:nvSpPr>
          <p:cNvPr id="150531" name="Rectangle 3"/>
          <p:cNvSpPr>
            <a:spLocks noGrp="1" noChangeArrowheads="1"/>
          </p:cNvSpPr>
          <p:nvPr>
            <p:ph type="body" idx="1"/>
          </p:nvPr>
        </p:nvSpPr>
        <p:spPr/>
        <p:txBody>
          <a:bodyPr/>
          <a:lstStyle/>
          <a:p>
            <a:pPr>
              <a:buFont typeface="Wingdings" panose="05000000000000000000" pitchFamily="2" charset="2"/>
              <a:buNone/>
            </a:pPr>
            <a:r>
              <a:rPr lang="en-US" altLang="zh-CN" dirty="0" smtClean="0">
                <a:ea typeface="宋体" panose="02010600030101010101" pitchFamily="2" charset="-122"/>
              </a:rPr>
              <a:t>[Example ]</a:t>
            </a:r>
            <a:r>
              <a:rPr lang="en-US" altLang="zh-CN" b="1" dirty="0" smtClean="0">
                <a:ea typeface="宋体" panose="02010600030101010101" pitchFamily="2" charset="-122"/>
              </a:rPr>
              <a:t>:  Find the names of all students whose GPA is higher than LUOZI 's GPA.</a:t>
            </a:r>
            <a:endParaRPr lang="en-US" altLang="zh-CN" dirty="0" smtClean="0">
              <a:ea typeface="宋体" panose="02010600030101010101" pitchFamily="2" charset="-122"/>
            </a:endParaRPr>
          </a:p>
          <a:p>
            <a:pPr>
              <a:buFont typeface="Wingdings" panose="05000000000000000000" pitchFamily="2" charset="2"/>
              <a:buNone/>
            </a:pPr>
            <a:r>
              <a:rPr lang="en-US" altLang="zh-CN" dirty="0" smtClean="0">
                <a:ea typeface="宋体" panose="02010600030101010101" pitchFamily="2" charset="-122"/>
              </a:rPr>
              <a:t>         select s1.SNAME </a:t>
            </a:r>
          </a:p>
          <a:p>
            <a:pPr>
              <a:buFont typeface="Wingdings" panose="05000000000000000000" pitchFamily="2" charset="2"/>
              <a:buNone/>
            </a:pPr>
            <a:r>
              <a:rPr lang="en-US" altLang="zh-CN" dirty="0" smtClean="0">
                <a:ea typeface="宋体" panose="02010600030101010101" pitchFamily="2" charset="-122"/>
              </a:rPr>
              <a:t>        from Student s1, Student s2</a:t>
            </a:r>
          </a:p>
          <a:p>
            <a:pPr>
              <a:buFont typeface="Wingdings" panose="05000000000000000000" pitchFamily="2" charset="2"/>
              <a:buNone/>
            </a:pPr>
            <a:r>
              <a:rPr lang="en-US" altLang="zh-CN" dirty="0" smtClean="0">
                <a:ea typeface="宋体" panose="02010600030101010101" pitchFamily="2" charset="-122"/>
              </a:rPr>
              <a:t>        where s2.SNAME = ‘LUOZI'</a:t>
            </a:r>
          </a:p>
          <a:p>
            <a:pPr>
              <a:buFont typeface="Wingdings" panose="05000000000000000000" pitchFamily="2" charset="2"/>
              <a:buNone/>
            </a:pPr>
            <a:r>
              <a:rPr lang="en-US" altLang="zh-CN" dirty="0" smtClean="0">
                <a:ea typeface="宋体" panose="02010600030101010101" pitchFamily="2" charset="-122"/>
              </a:rPr>
              <a:t>                 and s1.GPA &gt; s2.GPA </a:t>
            </a:r>
          </a:p>
        </p:txBody>
      </p:sp>
    </p:spTree>
    <p:extLst>
      <p:ext uri="{BB962C8B-B14F-4D97-AF65-F5344CB8AC3E}">
        <p14:creationId xmlns:p14="http://schemas.microsoft.com/office/powerpoint/2010/main" val="947089483"/>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50531">
                                            <p:txEl>
                                              <p:pRg st="1" end="1"/>
                                            </p:txEl>
                                          </p:spTgt>
                                        </p:tgtEl>
                                        <p:attrNameLst>
                                          <p:attrName>style.visibility</p:attrName>
                                        </p:attrNameLst>
                                      </p:cBhvr>
                                      <p:to>
                                        <p:strVal val="visible"/>
                                      </p:to>
                                    </p:set>
                                    <p:animEffect transition="in" filter="blinds(horizontal)">
                                      <p:cBhvr>
                                        <p:cTn id="7" dur="500"/>
                                        <p:tgtEl>
                                          <p:spTgt spid="150531">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50531">
                                            <p:txEl>
                                              <p:pRg st="2" end="2"/>
                                            </p:txEl>
                                          </p:spTgt>
                                        </p:tgtEl>
                                        <p:attrNameLst>
                                          <p:attrName>style.visibility</p:attrName>
                                        </p:attrNameLst>
                                      </p:cBhvr>
                                      <p:to>
                                        <p:strVal val="visible"/>
                                      </p:to>
                                    </p:set>
                                    <p:animEffect transition="in" filter="blinds(horizontal)">
                                      <p:cBhvr>
                                        <p:cTn id="10" dur="500"/>
                                        <p:tgtEl>
                                          <p:spTgt spid="150531">
                                            <p:txEl>
                                              <p:pRg st="2" end="2"/>
                                            </p:txEl>
                                          </p:spTgt>
                                        </p:tgtEl>
                                      </p:cBhvr>
                                    </p:animEffect>
                                  </p:childTnLst>
                                </p:cTn>
                              </p:par>
                              <p:par>
                                <p:cTn id="11" presetID="3" presetClass="entr" presetSubtype="10" fill="hold" nodeType="withEffect">
                                  <p:stCondLst>
                                    <p:cond delay="0"/>
                                  </p:stCondLst>
                                  <p:childTnLst>
                                    <p:set>
                                      <p:cBhvr>
                                        <p:cTn id="12" dur="1" fill="hold">
                                          <p:stCondLst>
                                            <p:cond delay="0"/>
                                          </p:stCondLst>
                                        </p:cTn>
                                        <p:tgtEl>
                                          <p:spTgt spid="150531">
                                            <p:txEl>
                                              <p:pRg st="3" end="3"/>
                                            </p:txEl>
                                          </p:spTgt>
                                        </p:tgtEl>
                                        <p:attrNameLst>
                                          <p:attrName>style.visibility</p:attrName>
                                        </p:attrNameLst>
                                      </p:cBhvr>
                                      <p:to>
                                        <p:strVal val="visible"/>
                                      </p:to>
                                    </p:set>
                                    <p:animEffect transition="in" filter="blinds(horizontal)">
                                      <p:cBhvr>
                                        <p:cTn id="13" dur="500"/>
                                        <p:tgtEl>
                                          <p:spTgt spid="150531">
                                            <p:txEl>
                                              <p:pRg st="3" end="3"/>
                                            </p:txEl>
                                          </p:spTgt>
                                        </p:tgtEl>
                                      </p:cBhvr>
                                    </p:animEffect>
                                  </p:childTnLst>
                                </p:cTn>
                              </p:par>
                              <p:par>
                                <p:cTn id="14" presetID="3" presetClass="entr" presetSubtype="10" fill="hold" nodeType="withEffect">
                                  <p:stCondLst>
                                    <p:cond delay="0"/>
                                  </p:stCondLst>
                                  <p:childTnLst>
                                    <p:set>
                                      <p:cBhvr>
                                        <p:cTn id="15" dur="1" fill="hold">
                                          <p:stCondLst>
                                            <p:cond delay="0"/>
                                          </p:stCondLst>
                                        </p:cTn>
                                        <p:tgtEl>
                                          <p:spTgt spid="150531">
                                            <p:txEl>
                                              <p:pRg st="4" end="4"/>
                                            </p:txEl>
                                          </p:spTgt>
                                        </p:tgtEl>
                                        <p:attrNameLst>
                                          <p:attrName>style.visibility</p:attrName>
                                        </p:attrNameLst>
                                      </p:cBhvr>
                                      <p:to>
                                        <p:strVal val="visible"/>
                                      </p:to>
                                    </p:set>
                                    <p:animEffect transition="in" filter="blinds(horizontal)">
                                      <p:cBhvr>
                                        <p:cTn id="16" dur="500"/>
                                        <p:tgtEl>
                                          <p:spTgt spid="150531">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7939" name="Rectangle 2"/>
          <p:cNvSpPr>
            <a:spLocks noGrp="1" noChangeArrowheads="1"/>
          </p:cNvSpPr>
          <p:nvPr>
            <p:ph type="title"/>
          </p:nvPr>
        </p:nvSpPr>
        <p:spPr/>
        <p:txBody>
          <a:bodyPr/>
          <a:lstStyle/>
          <a:p>
            <a:r>
              <a:rPr lang="zh-CN" altLang="en-US" dirty="0"/>
              <a:t>练习</a:t>
            </a:r>
            <a:endParaRPr lang="zh-CN" altLang="zh-CN" dirty="0" smtClean="0"/>
          </a:p>
        </p:txBody>
      </p:sp>
      <p:sp>
        <p:nvSpPr>
          <p:cNvPr id="949251" name="Rectangle 3"/>
          <p:cNvSpPr>
            <a:spLocks noGrp="1" noChangeArrowheads="1"/>
          </p:cNvSpPr>
          <p:nvPr>
            <p:ph type="body" idx="1"/>
          </p:nvPr>
        </p:nvSpPr>
        <p:spPr>
          <a:xfrm>
            <a:off x="699048" y="1535112"/>
            <a:ext cx="7886700" cy="4351338"/>
          </a:xfrm>
        </p:spPr>
        <p:txBody>
          <a:bodyPr/>
          <a:lstStyle/>
          <a:p>
            <a:pPr marL="457200" indent="-457200"/>
            <a:r>
              <a:rPr lang="en-US" altLang="zh-CN" dirty="0" smtClean="0">
                <a:solidFill>
                  <a:schemeClr val="hlink"/>
                </a:solidFill>
                <a:ea typeface="宋体" panose="02010600030101010101" pitchFamily="2" charset="-122"/>
              </a:rPr>
              <a:t>Select the courses that were selected by none students. List the courses’ NO. and names. </a:t>
            </a:r>
            <a:endParaRPr lang="zh-CN" altLang="en-US" sz="2700" dirty="0">
              <a:ea typeface="宋体" panose="02010600030101010101" pitchFamily="2" charset="-122"/>
            </a:endParaRPr>
          </a:p>
          <a:p>
            <a:pPr marL="457200" indent="-457200">
              <a:buNone/>
            </a:pPr>
            <a:r>
              <a:rPr lang="en-US" altLang="zh-CN" sz="1950" dirty="0">
                <a:solidFill>
                  <a:srgbClr val="990000"/>
                </a:solidFill>
                <a:ea typeface="宋体" panose="02010600030101010101" pitchFamily="2" charset="-122"/>
              </a:rPr>
              <a:t>Select </a:t>
            </a:r>
            <a:r>
              <a:rPr lang="en-US" altLang="zh-CN" sz="1950" dirty="0" err="1">
                <a:solidFill>
                  <a:srgbClr val="990000"/>
                </a:solidFill>
                <a:ea typeface="宋体" panose="02010600030101010101" pitchFamily="2" charset="-122"/>
              </a:rPr>
              <a:t>c.cno,cname</a:t>
            </a:r>
            <a:r>
              <a:rPr lang="en-US" altLang="zh-CN" sz="1950" dirty="0">
                <a:solidFill>
                  <a:srgbClr val="990000"/>
                </a:solidFill>
                <a:ea typeface="宋体" panose="02010600030101010101" pitchFamily="2" charset="-122"/>
              </a:rPr>
              <a:t> </a:t>
            </a:r>
          </a:p>
          <a:p>
            <a:pPr marL="457200" indent="-457200">
              <a:buNone/>
            </a:pPr>
            <a:r>
              <a:rPr lang="en-US" altLang="zh-CN" sz="1950" dirty="0">
                <a:solidFill>
                  <a:srgbClr val="990000"/>
                </a:solidFill>
                <a:ea typeface="宋体" panose="02010600030101010101" pitchFamily="2" charset="-122"/>
              </a:rPr>
              <a:t>from course c left join </a:t>
            </a:r>
            <a:r>
              <a:rPr lang="en-US" altLang="zh-CN" sz="1950" dirty="0" err="1">
                <a:solidFill>
                  <a:srgbClr val="990000"/>
                </a:solidFill>
                <a:ea typeface="宋体" panose="02010600030101010101" pitchFamily="2" charset="-122"/>
              </a:rPr>
              <a:t>sc</a:t>
            </a:r>
            <a:r>
              <a:rPr lang="en-US" altLang="zh-CN" sz="1950" dirty="0">
                <a:solidFill>
                  <a:srgbClr val="990000"/>
                </a:solidFill>
                <a:ea typeface="宋体" panose="02010600030101010101" pitchFamily="2" charset="-122"/>
              </a:rPr>
              <a:t> on </a:t>
            </a:r>
            <a:r>
              <a:rPr lang="en-US" altLang="zh-CN" sz="1950" dirty="0" err="1">
                <a:solidFill>
                  <a:srgbClr val="990000"/>
                </a:solidFill>
                <a:ea typeface="宋体" panose="02010600030101010101" pitchFamily="2" charset="-122"/>
              </a:rPr>
              <a:t>c.cno</a:t>
            </a:r>
            <a:r>
              <a:rPr lang="en-US" altLang="zh-CN" sz="1950" dirty="0">
                <a:solidFill>
                  <a:srgbClr val="990000"/>
                </a:solidFill>
                <a:ea typeface="宋体" panose="02010600030101010101" pitchFamily="2" charset="-122"/>
              </a:rPr>
              <a:t>=</a:t>
            </a:r>
            <a:r>
              <a:rPr lang="en-US" altLang="zh-CN" sz="1950" dirty="0" err="1">
                <a:solidFill>
                  <a:srgbClr val="990000"/>
                </a:solidFill>
                <a:ea typeface="宋体" panose="02010600030101010101" pitchFamily="2" charset="-122"/>
              </a:rPr>
              <a:t>sc.cno</a:t>
            </a:r>
            <a:r>
              <a:rPr lang="en-US" altLang="zh-CN" sz="1950" dirty="0">
                <a:solidFill>
                  <a:srgbClr val="990000"/>
                </a:solidFill>
                <a:ea typeface="宋体" panose="02010600030101010101" pitchFamily="2" charset="-122"/>
              </a:rPr>
              <a:t> where </a:t>
            </a:r>
            <a:r>
              <a:rPr lang="en-US" altLang="zh-CN" sz="1950" dirty="0" err="1">
                <a:solidFill>
                  <a:srgbClr val="990000"/>
                </a:solidFill>
                <a:ea typeface="宋体" panose="02010600030101010101" pitchFamily="2" charset="-122"/>
              </a:rPr>
              <a:t>sc.cno</a:t>
            </a:r>
            <a:r>
              <a:rPr lang="en-US" altLang="zh-CN" sz="1950" dirty="0">
                <a:solidFill>
                  <a:srgbClr val="990000"/>
                </a:solidFill>
                <a:ea typeface="宋体" panose="02010600030101010101" pitchFamily="2" charset="-122"/>
              </a:rPr>
              <a:t> is null</a:t>
            </a:r>
          </a:p>
          <a:p>
            <a:pPr marL="457200" indent="-457200"/>
            <a:endParaRPr lang="en-US" altLang="zh-CN" sz="2700" dirty="0">
              <a:ea typeface="宋体" panose="02010600030101010101" pitchFamily="2" charset="-122"/>
            </a:endParaRPr>
          </a:p>
        </p:txBody>
      </p:sp>
      <p:sp>
        <p:nvSpPr>
          <p:cNvPr id="6" name="Text Box 502"/>
          <p:cNvSpPr txBox="1">
            <a:spLocks noChangeArrowheads="1"/>
          </p:cNvSpPr>
          <p:nvPr/>
        </p:nvSpPr>
        <p:spPr bwMode="auto">
          <a:xfrm>
            <a:off x="288556" y="3743252"/>
            <a:ext cx="864082" cy="32480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67500" tIns="35100" rIns="67500" bIns="351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650" b="1" dirty="0"/>
              <a:t>Course</a:t>
            </a:r>
          </a:p>
        </p:txBody>
      </p:sp>
      <p:sp>
        <p:nvSpPr>
          <p:cNvPr id="8" name="Rectangle 185"/>
          <p:cNvSpPr>
            <a:spLocks noChangeArrowheads="1"/>
          </p:cNvSpPr>
          <p:nvPr/>
        </p:nvSpPr>
        <p:spPr bwMode="auto">
          <a:xfrm>
            <a:off x="5096444" y="3643457"/>
            <a:ext cx="809625" cy="378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67500" tIns="35100" rIns="67500" bIns="351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1650" b="1" dirty="0"/>
              <a:t>SC</a:t>
            </a:r>
          </a:p>
        </p:txBody>
      </p:sp>
      <p:pic>
        <p:nvPicPr>
          <p:cNvPr id="11"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1439240" y="4423223"/>
            <a:ext cx="2573915" cy="1075625"/>
          </a:xfrm>
          <a:prstGeom prst="rect">
            <a:avLst/>
          </a:prstGeom>
          <a:noFill/>
        </p:spPr>
      </p:pic>
      <p:pic>
        <p:nvPicPr>
          <p:cNvPr id="2" name="图片 1"/>
          <p:cNvPicPr>
            <a:picLocks noChangeAspect="1"/>
          </p:cNvPicPr>
          <p:nvPr/>
        </p:nvPicPr>
        <p:blipFill>
          <a:blip r:embed="rId5"/>
          <a:stretch>
            <a:fillRect/>
          </a:stretch>
        </p:blipFill>
        <p:spPr>
          <a:xfrm>
            <a:off x="293257" y="4068053"/>
            <a:ext cx="4695630" cy="1961730"/>
          </a:xfrm>
          <a:prstGeom prst="rect">
            <a:avLst/>
          </a:prstGeom>
        </p:spPr>
      </p:pic>
      <p:graphicFrame>
        <p:nvGraphicFramePr>
          <p:cNvPr id="12" name="Object 7"/>
          <p:cNvGraphicFramePr>
            <a:graphicFrameLocks noChangeAspect="1"/>
          </p:cNvGraphicFramePr>
          <p:nvPr>
            <p:extLst>
              <p:ext uri="{D42A27DB-BD31-4B8C-83A1-F6EECF244321}">
                <p14:modId xmlns:p14="http://schemas.microsoft.com/office/powerpoint/2010/main" val="3969994069"/>
              </p:ext>
            </p:extLst>
          </p:nvPr>
        </p:nvGraphicFramePr>
        <p:xfrm>
          <a:off x="5419104" y="3832767"/>
          <a:ext cx="3171345" cy="2357018"/>
        </p:xfrm>
        <a:graphic>
          <a:graphicData uri="http://schemas.openxmlformats.org/presentationml/2006/ole">
            <mc:AlternateContent xmlns:mc="http://schemas.openxmlformats.org/markup-compatibility/2006">
              <mc:Choice xmlns:v="urn:schemas-microsoft-com:vml" Requires="v">
                <p:oleObj spid="_x0000_s2111" name="文档" r:id="rId6" imgW="5404050" imgH="2442342" progId="Word.Document.8">
                  <p:embed/>
                </p:oleObj>
              </mc:Choice>
              <mc:Fallback>
                <p:oleObj name="文档" r:id="rId6" imgW="5404050" imgH="2442342" progId="Word.Document.8">
                  <p:embed/>
                  <p:pic>
                    <p:nvPicPr>
                      <p:cNvPr id="0" name=""/>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419104" y="3832767"/>
                        <a:ext cx="3171345" cy="2357018"/>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306791581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8" presetClass="entr" presetSubtype="16" fill="hold" nodeType="clickEffect">
                                  <p:stCondLst>
                                    <p:cond delay="0"/>
                                  </p:stCondLst>
                                  <p:childTnLst>
                                    <p:set>
                                      <p:cBhvr>
                                        <p:cTn id="6" dur="1" fill="hold">
                                          <p:stCondLst>
                                            <p:cond delay="0"/>
                                          </p:stCondLst>
                                        </p:cTn>
                                        <p:tgtEl>
                                          <p:spTgt spid="949251">
                                            <p:txEl>
                                              <p:pRg st="1" end="1"/>
                                            </p:txEl>
                                          </p:spTgt>
                                        </p:tgtEl>
                                        <p:attrNameLst>
                                          <p:attrName>style.visibility</p:attrName>
                                        </p:attrNameLst>
                                      </p:cBhvr>
                                      <p:to>
                                        <p:strVal val="visible"/>
                                      </p:to>
                                    </p:set>
                                    <p:animEffect transition="in" filter="diamond(in)">
                                      <p:cBhvr>
                                        <p:cTn id="7" dur="2000"/>
                                        <p:tgtEl>
                                          <p:spTgt spid="949251">
                                            <p:txEl>
                                              <p:pRg st="1" end="1"/>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8" presetClass="entr" presetSubtype="16" fill="hold" nodeType="clickEffect">
                                  <p:stCondLst>
                                    <p:cond delay="0"/>
                                  </p:stCondLst>
                                  <p:childTnLst>
                                    <p:set>
                                      <p:cBhvr>
                                        <p:cTn id="11" dur="1" fill="hold">
                                          <p:stCondLst>
                                            <p:cond delay="0"/>
                                          </p:stCondLst>
                                        </p:cTn>
                                        <p:tgtEl>
                                          <p:spTgt spid="949251">
                                            <p:txEl>
                                              <p:pRg st="2" end="2"/>
                                            </p:txEl>
                                          </p:spTgt>
                                        </p:tgtEl>
                                        <p:attrNameLst>
                                          <p:attrName>style.visibility</p:attrName>
                                        </p:attrNameLst>
                                      </p:cBhvr>
                                      <p:to>
                                        <p:strVal val="visible"/>
                                      </p:to>
                                    </p:set>
                                    <p:animEffect transition="in" filter="diamond(in)">
                                      <p:cBhvr>
                                        <p:cTn id="12" dur="2000"/>
                                        <p:tgtEl>
                                          <p:spTgt spid="949251">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8963" name="Rectangle 2"/>
          <p:cNvSpPr>
            <a:spLocks noGrp="1" noChangeArrowheads="1"/>
          </p:cNvSpPr>
          <p:nvPr>
            <p:ph type="title"/>
          </p:nvPr>
        </p:nvSpPr>
        <p:spPr/>
        <p:txBody>
          <a:bodyPr/>
          <a:lstStyle/>
          <a:p>
            <a:r>
              <a:rPr lang="zh-CN" altLang="en-US" dirty="0"/>
              <a:t>练习</a:t>
            </a:r>
            <a:endParaRPr lang="zh-CN" altLang="zh-CN" dirty="0" smtClean="0"/>
          </a:p>
        </p:txBody>
      </p:sp>
      <p:sp>
        <p:nvSpPr>
          <p:cNvPr id="951299" name="Rectangle 3"/>
          <p:cNvSpPr>
            <a:spLocks noGrp="1" noChangeArrowheads="1"/>
          </p:cNvSpPr>
          <p:nvPr>
            <p:ph type="body" idx="1"/>
          </p:nvPr>
        </p:nvSpPr>
        <p:spPr/>
        <p:txBody>
          <a:bodyPr/>
          <a:lstStyle/>
          <a:p>
            <a:pPr>
              <a:lnSpc>
                <a:spcPct val="80000"/>
              </a:lnSpc>
              <a:buFontTx/>
              <a:buNone/>
            </a:pPr>
            <a:endParaRPr lang="en-US" altLang="zh-CN" sz="1800" dirty="0">
              <a:ea typeface="宋体" panose="02010600030101010101" pitchFamily="2" charset="-122"/>
            </a:endParaRPr>
          </a:p>
          <a:p>
            <a:pPr>
              <a:lnSpc>
                <a:spcPct val="80000"/>
              </a:lnSpc>
              <a:buFontTx/>
              <a:buNone/>
            </a:pPr>
            <a:r>
              <a:rPr lang="en-US" altLang="zh-CN" sz="1800" dirty="0" smtClean="0">
                <a:solidFill>
                  <a:schemeClr val="hlink"/>
                </a:solidFill>
                <a:ea typeface="宋体" panose="02010600030101010101" pitchFamily="2" charset="-122"/>
              </a:rPr>
              <a:t>Select </a:t>
            </a:r>
            <a:r>
              <a:rPr lang="en-US" altLang="zh-CN" sz="1800" dirty="0">
                <a:solidFill>
                  <a:schemeClr val="hlink"/>
                </a:solidFill>
                <a:ea typeface="宋体" panose="02010600030101010101" pitchFamily="2" charset="-122"/>
              </a:rPr>
              <a:t>the names, courses NO. and grade of the students whose grade is more than 80.Show the result by descendent order on grade.</a:t>
            </a:r>
            <a:endParaRPr lang="zh-CN" altLang="en-US" sz="1800" dirty="0">
              <a:ea typeface="宋体" panose="02010600030101010101" pitchFamily="2" charset="-122"/>
            </a:endParaRPr>
          </a:p>
          <a:p>
            <a:pPr>
              <a:lnSpc>
                <a:spcPct val="80000"/>
              </a:lnSpc>
              <a:buFontTx/>
              <a:buNone/>
            </a:pPr>
            <a:r>
              <a:rPr lang="en-US" altLang="zh-CN" sz="1800" dirty="0">
                <a:ea typeface="宋体" panose="02010600030101010101" pitchFamily="2" charset="-122"/>
              </a:rPr>
              <a:t>Select </a:t>
            </a:r>
            <a:r>
              <a:rPr lang="en-US" altLang="zh-CN" sz="1800" dirty="0" err="1">
                <a:ea typeface="宋体" panose="02010600030101010101" pitchFamily="2" charset="-122"/>
              </a:rPr>
              <a:t>sname,cno,grade</a:t>
            </a:r>
            <a:endParaRPr lang="en-US" altLang="zh-CN" sz="1800" dirty="0">
              <a:ea typeface="宋体" panose="02010600030101010101" pitchFamily="2" charset="-122"/>
            </a:endParaRPr>
          </a:p>
          <a:p>
            <a:pPr>
              <a:lnSpc>
                <a:spcPct val="80000"/>
              </a:lnSpc>
              <a:buFontTx/>
              <a:buNone/>
            </a:pPr>
            <a:r>
              <a:rPr lang="en-US" altLang="zh-CN" sz="1800" dirty="0">
                <a:ea typeface="宋体" panose="02010600030101010101" pitchFamily="2" charset="-122"/>
              </a:rPr>
              <a:t>From </a:t>
            </a:r>
            <a:r>
              <a:rPr lang="en-US" altLang="zh-CN" sz="1800" dirty="0" err="1">
                <a:ea typeface="宋体" panose="02010600030101010101" pitchFamily="2" charset="-122"/>
              </a:rPr>
              <a:t>student,sc</a:t>
            </a:r>
            <a:endParaRPr lang="en-US" altLang="zh-CN" sz="1800" dirty="0">
              <a:ea typeface="宋体" panose="02010600030101010101" pitchFamily="2" charset="-122"/>
            </a:endParaRPr>
          </a:p>
          <a:p>
            <a:pPr>
              <a:lnSpc>
                <a:spcPct val="80000"/>
              </a:lnSpc>
              <a:buFontTx/>
              <a:buNone/>
            </a:pPr>
            <a:r>
              <a:rPr lang="en-US" altLang="zh-CN" sz="1800" dirty="0">
                <a:ea typeface="宋体" panose="02010600030101010101" pitchFamily="2" charset="-122"/>
              </a:rPr>
              <a:t>Where </a:t>
            </a:r>
            <a:r>
              <a:rPr lang="en-US" altLang="zh-CN" sz="1800" dirty="0" err="1">
                <a:ea typeface="宋体" panose="02010600030101010101" pitchFamily="2" charset="-122"/>
              </a:rPr>
              <a:t>student.ssn</a:t>
            </a:r>
            <a:r>
              <a:rPr lang="en-US" altLang="zh-CN" sz="1800" dirty="0">
                <a:ea typeface="宋体" panose="02010600030101010101" pitchFamily="2" charset="-122"/>
              </a:rPr>
              <a:t>=</a:t>
            </a:r>
            <a:r>
              <a:rPr lang="en-US" altLang="zh-CN" sz="1800" dirty="0" err="1">
                <a:ea typeface="宋体" panose="02010600030101010101" pitchFamily="2" charset="-122"/>
              </a:rPr>
              <a:t>sc.ssn</a:t>
            </a:r>
            <a:endParaRPr lang="en-US" altLang="zh-CN" sz="1800" dirty="0">
              <a:ea typeface="宋体" panose="02010600030101010101" pitchFamily="2" charset="-122"/>
            </a:endParaRPr>
          </a:p>
          <a:p>
            <a:pPr>
              <a:lnSpc>
                <a:spcPct val="80000"/>
              </a:lnSpc>
              <a:buFontTx/>
              <a:buNone/>
            </a:pPr>
            <a:r>
              <a:rPr lang="en-US" altLang="zh-CN" sz="1800" dirty="0">
                <a:ea typeface="宋体" panose="02010600030101010101" pitchFamily="2" charset="-122"/>
              </a:rPr>
              <a:t>And grade &gt;80</a:t>
            </a:r>
          </a:p>
          <a:p>
            <a:pPr>
              <a:lnSpc>
                <a:spcPct val="80000"/>
              </a:lnSpc>
              <a:buFontTx/>
              <a:buNone/>
            </a:pPr>
            <a:r>
              <a:rPr lang="en-US" altLang="zh-CN" sz="1800" dirty="0">
                <a:ea typeface="宋体" panose="02010600030101010101" pitchFamily="2" charset="-122"/>
              </a:rPr>
              <a:t>Order by grade </a:t>
            </a:r>
            <a:r>
              <a:rPr lang="en-US" altLang="zh-CN" sz="1800" dirty="0" err="1">
                <a:ea typeface="宋体" panose="02010600030101010101" pitchFamily="2" charset="-122"/>
              </a:rPr>
              <a:t>desc</a:t>
            </a:r>
            <a:endParaRPr lang="en-US" altLang="zh-CN" sz="1800" dirty="0">
              <a:ea typeface="宋体" panose="02010600030101010101" pitchFamily="2" charset="-122"/>
            </a:endParaRPr>
          </a:p>
        </p:txBody>
      </p:sp>
      <p:pic>
        <p:nvPicPr>
          <p:cNvPr id="5"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872" r="11166"/>
          <a:stretch/>
        </p:blipFill>
        <p:spPr>
          <a:xfrm>
            <a:off x="4959533" y="2768368"/>
            <a:ext cx="3543130" cy="1320462"/>
          </a:xfrm>
          <a:prstGeom prst="rect">
            <a:avLst/>
          </a:prstGeom>
          <a:noFill/>
        </p:spPr>
      </p:pic>
      <p:graphicFrame>
        <p:nvGraphicFramePr>
          <p:cNvPr id="6" name="Object 7"/>
          <p:cNvGraphicFramePr>
            <a:graphicFrameLocks noChangeAspect="1"/>
          </p:cNvGraphicFramePr>
          <p:nvPr>
            <p:extLst>
              <p:ext uri="{D42A27DB-BD31-4B8C-83A1-F6EECF244321}">
                <p14:modId xmlns:p14="http://schemas.microsoft.com/office/powerpoint/2010/main" val="1519981131"/>
              </p:ext>
            </p:extLst>
          </p:nvPr>
        </p:nvGraphicFramePr>
        <p:xfrm>
          <a:off x="5048931" y="4277525"/>
          <a:ext cx="3038055" cy="2257954"/>
        </p:xfrm>
        <a:graphic>
          <a:graphicData uri="http://schemas.openxmlformats.org/presentationml/2006/ole">
            <mc:AlternateContent xmlns:mc="http://schemas.openxmlformats.org/markup-compatibility/2006">
              <mc:Choice xmlns:v="urn:schemas-microsoft-com:vml" Requires="v">
                <p:oleObj spid="_x0000_s3135" name="文档" r:id="rId4" imgW="5404050" imgH="2442342" progId="Word.Document.8">
                  <p:embed/>
                </p:oleObj>
              </mc:Choice>
              <mc:Fallback>
                <p:oleObj name="文档" r:id="rId4" imgW="5404050" imgH="2442342" progId="Word.Document.8">
                  <p:embed/>
                  <p:pic>
                    <p:nvPicPr>
                      <p:cNvPr id="0" name=""/>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48931" y="4277525"/>
                        <a:ext cx="3038055" cy="225795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24072061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nodeType="clickEffect">
                                  <p:stCondLst>
                                    <p:cond delay="0"/>
                                  </p:stCondLst>
                                  <p:childTnLst>
                                    <p:set>
                                      <p:cBhvr>
                                        <p:cTn id="6" dur="1" fill="hold">
                                          <p:stCondLst>
                                            <p:cond delay="0"/>
                                          </p:stCondLst>
                                        </p:cTn>
                                        <p:tgtEl>
                                          <p:spTgt spid="951299">
                                            <p:txEl>
                                              <p:pRg st="2" end="2"/>
                                            </p:txEl>
                                          </p:spTgt>
                                        </p:tgtEl>
                                        <p:attrNameLst>
                                          <p:attrName>style.visibility</p:attrName>
                                        </p:attrNameLst>
                                      </p:cBhvr>
                                      <p:to>
                                        <p:strVal val="visible"/>
                                      </p:to>
                                    </p:set>
                                    <p:animEffect transition="in" filter="checkerboard(across)">
                                      <p:cBhvr>
                                        <p:cTn id="7" dur="500"/>
                                        <p:tgtEl>
                                          <p:spTgt spid="951299">
                                            <p:txEl>
                                              <p:pRg st="2" end="2"/>
                                            </p:txEl>
                                          </p:spTgt>
                                        </p:tgtEl>
                                      </p:cBhvr>
                                    </p:animEffect>
                                  </p:childTnLst>
                                </p:cTn>
                              </p:par>
                              <p:par>
                                <p:cTn id="8" presetID="5" presetClass="entr" presetSubtype="10" fill="hold" nodeType="withEffect">
                                  <p:stCondLst>
                                    <p:cond delay="0"/>
                                  </p:stCondLst>
                                  <p:childTnLst>
                                    <p:set>
                                      <p:cBhvr>
                                        <p:cTn id="9" dur="1" fill="hold">
                                          <p:stCondLst>
                                            <p:cond delay="0"/>
                                          </p:stCondLst>
                                        </p:cTn>
                                        <p:tgtEl>
                                          <p:spTgt spid="951299">
                                            <p:txEl>
                                              <p:pRg st="3" end="3"/>
                                            </p:txEl>
                                          </p:spTgt>
                                        </p:tgtEl>
                                        <p:attrNameLst>
                                          <p:attrName>style.visibility</p:attrName>
                                        </p:attrNameLst>
                                      </p:cBhvr>
                                      <p:to>
                                        <p:strVal val="visible"/>
                                      </p:to>
                                    </p:set>
                                    <p:animEffect transition="in" filter="checkerboard(across)">
                                      <p:cBhvr>
                                        <p:cTn id="10" dur="500"/>
                                        <p:tgtEl>
                                          <p:spTgt spid="951299">
                                            <p:txEl>
                                              <p:pRg st="3" end="3"/>
                                            </p:txEl>
                                          </p:spTgt>
                                        </p:tgtEl>
                                      </p:cBhvr>
                                    </p:animEffect>
                                  </p:childTnLst>
                                </p:cTn>
                              </p:par>
                              <p:par>
                                <p:cTn id="11" presetID="5" presetClass="entr" presetSubtype="10" fill="hold" nodeType="withEffect">
                                  <p:stCondLst>
                                    <p:cond delay="0"/>
                                  </p:stCondLst>
                                  <p:childTnLst>
                                    <p:set>
                                      <p:cBhvr>
                                        <p:cTn id="12" dur="1" fill="hold">
                                          <p:stCondLst>
                                            <p:cond delay="0"/>
                                          </p:stCondLst>
                                        </p:cTn>
                                        <p:tgtEl>
                                          <p:spTgt spid="951299">
                                            <p:txEl>
                                              <p:pRg st="4" end="4"/>
                                            </p:txEl>
                                          </p:spTgt>
                                        </p:tgtEl>
                                        <p:attrNameLst>
                                          <p:attrName>style.visibility</p:attrName>
                                        </p:attrNameLst>
                                      </p:cBhvr>
                                      <p:to>
                                        <p:strVal val="visible"/>
                                      </p:to>
                                    </p:set>
                                    <p:animEffect transition="in" filter="checkerboard(across)">
                                      <p:cBhvr>
                                        <p:cTn id="13" dur="500"/>
                                        <p:tgtEl>
                                          <p:spTgt spid="951299">
                                            <p:txEl>
                                              <p:pRg st="4" end="4"/>
                                            </p:txEl>
                                          </p:spTgt>
                                        </p:tgtEl>
                                      </p:cBhvr>
                                    </p:animEffect>
                                  </p:childTnLst>
                                </p:cTn>
                              </p:par>
                              <p:par>
                                <p:cTn id="14" presetID="5" presetClass="entr" presetSubtype="10" fill="hold" nodeType="withEffect">
                                  <p:stCondLst>
                                    <p:cond delay="0"/>
                                  </p:stCondLst>
                                  <p:childTnLst>
                                    <p:set>
                                      <p:cBhvr>
                                        <p:cTn id="15" dur="1" fill="hold">
                                          <p:stCondLst>
                                            <p:cond delay="0"/>
                                          </p:stCondLst>
                                        </p:cTn>
                                        <p:tgtEl>
                                          <p:spTgt spid="951299">
                                            <p:txEl>
                                              <p:pRg st="5" end="5"/>
                                            </p:txEl>
                                          </p:spTgt>
                                        </p:tgtEl>
                                        <p:attrNameLst>
                                          <p:attrName>style.visibility</p:attrName>
                                        </p:attrNameLst>
                                      </p:cBhvr>
                                      <p:to>
                                        <p:strVal val="visible"/>
                                      </p:to>
                                    </p:set>
                                    <p:animEffect transition="in" filter="checkerboard(across)">
                                      <p:cBhvr>
                                        <p:cTn id="16" dur="500"/>
                                        <p:tgtEl>
                                          <p:spTgt spid="951299">
                                            <p:txEl>
                                              <p:pRg st="5" end="5"/>
                                            </p:txEl>
                                          </p:spTgt>
                                        </p:tgtEl>
                                      </p:cBhvr>
                                    </p:animEffect>
                                  </p:childTnLst>
                                </p:cTn>
                              </p:par>
                              <p:par>
                                <p:cTn id="17" presetID="5" presetClass="entr" presetSubtype="10" fill="hold" nodeType="withEffect">
                                  <p:stCondLst>
                                    <p:cond delay="0"/>
                                  </p:stCondLst>
                                  <p:childTnLst>
                                    <p:set>
                                      <p:cBhvr>
                                        <p:cTn id="18" dur="1" fill="hold">
                                          <p:stCondLst>
                                            <p:cond delay="0"/>
                                          </p:stCondLst>
                                        </p:cTn>
                                        <p:tgtEl>
                                          <p:spTgt spid="951299">
                                            <p:txEl>
                                              <p:pRg st="6" end="6"/>
                                            </p:txEl>
                                          </p:spTgt>
                                        </p:tgtEl>
                                        <p:attrNameLst>
                                          <p:attrName>style.visibility</p:attrName>
                                        </p:attrNameLst>
                                      </p:cBhvr>
                                      <p:to>
                                        <p:strVal val="visible"/>
                                      </p:to>
                                    </p:set>
                                    <p:animEffect transition="in" filter="checkerboard(across)">
                                      <p:cBhvr>
                                        <p:cTn id="19" dur="500"/>
                                        <p:tgtEl>
                                          <p:spTgt spid="951299">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idx="4294967295"/>
          </p:nvPr>
        </p:nvSpPr>
        <p:spPr/>
        <p:txBody>
          <a:bodyPr/>
          <a:lstStyle/>
          <a:p>
            <a:pPr eaLnBrk="1" hangingPunct="1"/>
            <a:r>
              <a:rPr lang="en-US" altLang="zh-CN" sz="3600" dirty="0" smtClean="0"/>
              <a:t>(4) </a:t>
            </a:r>
            <a:r>
              <a:rPr lang="zh-CN" altLang="en-US" sz="3600" dirty="0" smtClean="0"/>
              <a:t>多表连接</a:t>
            </a:r>
          </a:p>
        </p:txBody>
      </p:sp>
      <p:sp>
        <p:nvSpPr>
          <p:cNvPr id="26627" name="Rectangle 3"/>
          <p:cNvSpPr>
            <a:spLocks noGrp="1" noChangeArrowheads="1"/>
          </p:cNvSpPr>
          <p:nvPr>
            <p:ph type="body" idx="4294967295"/>
          </p:nvPr>
        </p:nvSpPr>
        <p:spPr>
          <a:xfrm>
            <a:off x="611188" y="1268413"/>
            <a:ext cx="8075612" cy="4114800"/>
          </a:xfrm>
        </p:spPr>
        <p:txBody>
          <a:bodyPr>
            <a:normAutofit lnSpcReduction="10000"/>
          </a:bodyPr>
          <a:lstStyle/>
          <a:p>
            <a:pPr eaLnBrk="1" hangingPunct="1">
              <a:lnSpc>
                <a:spcPct val="170000"/>
              </a:lnSpc>
            </a:pPr>
            <a:r>
              <a:rPr lang="zh-CN" altLang="en-US" sz="2400" dirty="0" smtClean="0"/>
              <a:t>多表连接：两个以上的表进行连接</a:t>
            </a:r>
            <a:endParaRPr lang="zh-CN" altLang="en-US" dirty="0" smtClean="0"/>
          </a:p>
          <a:p>
            <a:pPr algn="just" eaLnBrk="1" hangingPunct="1">
              <a:buFont typeface="Wingdings" panose="05000000000000000000" pitchFamily="2" charset="2"/>
              <a:buNone/>
            </a:pPr>
            <a:endParaRPr lang="zh-CN" altLang="en-US" sz="3200" dirty="0" smtClean="0"/>
          </a:p>
          <a:p>
            <a:pPr algn="just" eaLnBrk="1" hangingPunct="1">
              <a:buFont typeface="Wingdings" panose="05000000000000000000" pitchFamily="2" charset="2"/>
              <a:buNone/>
            </a:pPr>
            <a:r>
              <a:rPr lang="en-US" altLang="zh-CN" sz="2400" dirty="0" smtClean="0"/>
              <a:t>[</a:t>
            </a:r>
            <a:r>
              <a:rPr lang="zh-CN" altLang="en-US" sz="2400" dirty="0" smtClean="0"/>
              <a:t>例</a:t>
            </a:r>
            <a:r>
              <a:rPr lang="en-US" altLang="zh-CN" sz="2400" dirty="0" smtClean="0"/>
              <a:t>3.54]</a:t>
            </a:r>
            <a:r>
              <a:rPr lang="zh-CN" altLang="en-US" sz="2400" dirty="0" smtClean="0"/>
              <a:t>查询每个学生的学号、姓名、选修的课程名及成绩</a:t>
            </a:r>
          </a:p>
          <a:p>
            <a:pPr lvl="1" algn="just">
              <a:lnSpc>
                <a:spcPct val="120000"/>
              </a:lnSpc>
              <a:buFont typeface="Wingdings" panose="05000000000000000000" pitchFamily="2" charset="2"/>
              <a:buNone/>
            </a:pPr>
            <a:r>
              <a:rPr lang="zh-CN" altLang="en-US" dirty="0" smtClean="0"/>
              <a:t>  </a:t>
            </a:r>
            <a:r>
              <a:rPr lang="en-US" altLang="zh-CN" dirty="0" smtClean="0"/>
              <a:t>SELECT </a:t>
            </a:r>
            <a:r>
              <a:rPr lang="en-US" altLang="zh-CN" dirty="0" err="1" smtClean="0"/>
              <a:t>Student.Sno</a:t>
            </a:r>
            <a:r>
              <a:rPr lang="zh-CN" altLang="en-US" dirty="0" smtClean="0"/>
              <a:t>, </a:t>
            </a:r>
            <a:r>
              <a:rPr lang="en-US" altLang="zh-CN" dirty="0" err="1" smtClean="0"/>
              <a:t>Sname</a:t>
            </a:r>
            <a:r>
              <a:rPr lang="zh-CN" altLang="en-US" dirty="0" smtClean="0"/>
              <a:t>, </a:t>
            </a:r>
            <a:r>
              <a:rPr lang="en-US" altLang="zh-CN" dirty="0" err="1" smtClean="0"/>
              <a:t>Cname</a:t>
            </a:r>
            <a:r>
              <a:rPr lang="zh-CN" altLang="en-US" dirty="0" smtClean="0"/>
              <a:t>, </a:t>
            </a:r>
            <a:r>
              <a:rPr lang="en-US" altLang="zh-CN" dirty="0" smtClean="0"/>
              <a:t>Grade</a:t>
            </a:r>
          </a:p>
          <a:p>
            <a:pPr lvl="1" algn="just">
              <a:lnSpc>
                <a:spcPct val="120000"/>
              </a:lnSpc>
              <a:buFont typeface="Wingdings" panose="05000000000000000000" pitchFamily="2" charset="2"/>
              <a:buNone/>
            </a:pPr>
            <a:r>
              <a:rPr lang="en-US" altLang="zh-CN" dirty="0" smtClean="0"/>
              <a:t>   FROM    Student</a:t>
            </a:r>
            <a:r>
              <a:rPr lang="zh-CN" altLang="en-US" dirty="0" smtClean="0"/>
              <a:t>, </a:t>
            </a:r>
            <a:r>
              <a:rPr lang="en-US" altLang="zh-CN" dirty="0" smtClean="0"/>
              <a:t>SC</a:t>
            </a:r>
            <a:r>
              <a:rPr lang="zh-CN" altLang="en-US" dirty="0" smtClean="0"/>
              <a:t>, </a:t>
            </a:r>
            <a:r>
              <a:rPr lang="en-US" altLang="zh-CN" dirty="0" smtClean="0"/>
              <a:t>Course    </a:t>
            </a:r>
            <a:r>
              <a:rPr lang="en-US" altLang="zh-CN" sz="2000" dirty="0" smtClean="0">
                <a:solidFill>
                  <a:srgbClr val="E02920"/>
                </a:solidFill>
              </a:rPr>
              <a:t>/*</a:t>
            </a:r>
            <a:r>
              <a:rPr lang="zh-CN" altLang="en-US" sz="2000" dirty="0" smtClean="0">
                <a:solidFill>
                  <a:srgbClr val="E02920"/>
                </a:solidFill>
              </a:rPr>
              <a:t>多表连接*</a:t>
            </a:r>
            <a:r>
              <a:rPr lang="en-US" altLang="zh-CN" sz="2000" dirty="0" smtClean="0">
                <a:solidFill>
                  <a:srgbClr val="E02920"/>
                </a:solidFill>
              </a:rPr>
              <a:t>/</a:t>
            </a:r>
            <a:endParaRPr lang="en-US" altLang="zh-CN" dirty="0" smtClean="0">
              <a:solidFill>
                <a:srgbClr val="E02920"/>
              </a:solidFill>
            </a:endParaRPr>
          </a:p>
          <a:p>
            <a:pPr lvl="1" algn="just">
              <a:lnSpc>
                <a:spcPct val="120000"/>
              </a:lnSpc>
              <a:buFont typeface="Wingdings" panose="05000000000000000000" pitchFamily="2" charset="2"/>
              <a:buNone/>
            </a:pPr>
            <a:r>
              <a:rPr lang="en-US" altLang="zh-CN" dirty="0" smtClean="0"/>
              <a:t>   WHERE </a:t>
            </a:r>
            <a:r>
              <a:rPr lang="en-US" altLang="zh-CN" dirty="0" err="1" smtClean="0"/>
              <a:t>Student.Sno</a:t>
            </a:r>
            <a:r>
              <a:rPr lang="en-US" altLang="zh-CN" dirty="0" smtClean="0"/>
              <a:t> = </a:t>
            </a:r>
            <a:r>
              <a:rPr lang="en-US" altLang="zh-CN" dirty="0" err="1" smtClean="0"/>
              <a:t>SC.Sno</a:t>
            </a:r>
            <a:r>
              <a:rPr lang="en-US" altLang="zh-CN" dirty="0" smtClean="0"/>
              <a:t> </a:t>
            </a:r>
          </a:p>
          <a:p>
            <a:pPr lvl="1" algn="just">
              <a:lnSpc>
                <a:spcPct val="120000"/>
              </a:lnSpc>
              <a:buFont typeface="Wingdings" panose="05000000000000000000" pitchFamily="2" charset="2"/>
              <a:buNone/>
            </a:pPr>
            <a:r>
              <a:rPr lang="en-US" altLang="zh-CN" dirty="0" smtClean="0"/>
              <a:t>                  AND </a:t>
            </a:r>
            <a:r>
              <a:rPr lang="en-US" altLang="zh-CN" dirty="0" err="1" smtClean="0"/>
              <a:t>SC.Cno</a:t>
            </a:r>
            <a:r>
              <a:rPr lang="en-US" altLang="zh-CN" dirty="0" smtClean="0"/>
              <a:t> = </a:t>
            </a:r>
            <a:r>
              <a:rPr lang="en-US" altLang="zh-CN" dirty="0" err="1" smtClean="0"/>
              <a:t>Course.Cno</a:t>
            </a:r>
            <a:r>
              <a:rPr lang="zh-CN" altLang="en-US" dirty="0" smtClean="0"/>
              <a:t>;</a:t>
            </a:r>
          </a:p>
          <a:p>
            <a:pPr algn="just" eaLnBrk="1" hangingPunct="1">
              <a:lnSpc>
                <a:spcPct val="120000"/>
              </a:lnSpc>
              <a:buFont typeface="Wingdings" panose="05000000000000000000" pitchFamily="2" charset="2"/>
              <a:buNone/>
            </a:pPr>
            <a:r>
              <a:rPr lang="zh-CN" altLang="en-US" sz="2000" dirty="0" smtClean="0">
                <a:latin typeface="Courier New" panose="02070309020205020404" pitchFamily="49" charset="0"/>
              </a:rPr>
              <a:t> </a:t>
            </a:r>
          </a:p>
        </p:txBody>
      </p:sp>
    </p:spTree>
    <p:extLst>
      <p:ext uri="{BB962C8B-B14F-4D97-AF65-F5344CB8AC3E}">
        <p14:creationId xmlns:p14="http://schemas.microsoft.com/office/powerpoint/2010/main" val="2147012104"/>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0770" name="Rectangle 2"/>
          <p:cNvSpPr>
            <a:spLocks noGrp="1" noChangeArrowheads="1"/>
          </p:cNvSpPr>
          <p:nvPr>
            <p:ph type="title"/>
          </p:nvPr>
        </p:nvSpPr>
        <p:spPr/>
        <p:txBody>
          <a:bodyPr/>
          <a:lstStyle/>
          <a:p>
            <a:r>
              <a:rPr lang="zh-CN" altLang="en-US" dirty="0"/>
              <a:t>多表连接</a:t>
            </a:r>
            <a:endParaRPr lang="en-US" altLang="zh-CN" dirty="0" smtClean="0"/>
          </a:p>
        </p:txBody>
      </p:sp>
      <p:sp>
        <p:nvSpPr>
          <p:cNvPr id="148483" name="Rectangle 3"/>
          <p:cNvSpPr>
            <a:spLocks noGrp="1" noChangeArrowheads="1"/>
          </p:cNvSpPr>
          <p:nvPr>
            <p:ph type="body" idx="1"/>
          </p:nvPr>
        </p:nvSpPr>
        <p:spPr>
          <a:xfrm>
            <a:off x="457200" y="1676400"/>
            <a:ext cx="8229600" cy="4495800"/>
          </a:xfrm>
        </p:spPr>
        <p:txBody>
          <a:bodyPr>
            <a:normAutofit/>
          </a:bodyPr>
          <a:lstStyle/>
          <a:p>
            <a:pPr>
              <a:lnSpc>
                <a:spcPct val="80000"/>
              </a:lnSpc>
            </a:pPr>
            <a:r>
              <a:rPr lang="zh-CN" altLang="en-US" sz="2000" dirty="0"/>
              <a:t>表名可以缩写，以简化查询中键入的内容</a:t>
            </a:r>
            <a:r>
              <a:rPr lang="zh-CN" altLang="en-US" sz="2000" dirty="0" smtClean="0"/>
              <a:t>。</a:t>
            </a:r>
            <a:endParaRPr lang="en-US" altLang="zh-CN" sz="2000" dirty="0" smtClean="0"/>
          </a:p>
          <a:p>
            <a:pPr>
              <a:lnSpc>
                <a:spcPct val="80000"/>
              </a:lnSpc>
            </a:pPr>
            <a:endParaRPr lang="en-US" altLang="zh-CN" sz="2000" dirty="0">
              <a:ea typeface="宋体" panose="02010600030101010101" pitchFamily="2" charset="-122"/>
            </a:endParaRPr>
          </a:p>
          <a:p>
            <a:pPr>
              <a:lnSpc>
                <a:spcPct val="80000"/>
              </a:lnSpc>
            </a:pPr>
            <a:r>
              <a:rPr lang="en-US" altLang="zh-CN" sz="2000" dirty="0" smtClean="0">
                <a:ea typeface="宋体" panose="02010600030101010101" pitchFamily="2" charset="-122"/>
              </a:rPr>
              <a:t>[Example 36]</a:t>
            </a:r>
            <a:r>
              <a:rPr lang="en-US" altLang="zh-CN" sz="2000" b="1" dirty="0" smtClean="0">
                <a:ea typeface="宋体" panose="02010600030101010101" pitchFamily="2" charset="-122"/>
              </a:rPr>
              <a:t>: Find the names and GPAs of all students who take Math. </a:t>
            </a:r>
            <a:endParaRPr lang="en-US" altLang="zh-CN" sz="2000" dirty="0" smtClean="0">
              <a:ea typeface="宋体" panose="02010600030101010101" pitchFamily="2" charset="-122"/>
            </a:endParaRPr>
          </a:p>
          <a:p>
            <a:pPr>
              <a:lnSpc>
                <a:spcPct val="80000"/>
              </a:lnSpc>
              <a:buFont typeface="Wingdings" panose="05000000000000000000" pitchFamily="2" charset="2"/>
              <a:buNone/>
            </a:pPr>
            <a:r>
              <a:rPr lang="en-US" altLang="zh-CN" sz="2000" dirty="0" smtClean="0">
                <a:ea typeface="宋体" panose="02010600030101010101" pitchFamily="2" charset="-122"/>
              </a:rPr>
              <a:t>   select SNAME, GPA </a:t>
            </a:r>
          </a:p>
          <a:p>
            <a:pPr>
              <a:lnSpc>
                <a:spcPct val="80000"/>
              </a:lnSpc>
              <a:buFont typeface="Wingdings" panose="05000000000000000000" pitchFamily="2" charset="2"/>
              <a:buNone/>
            </a:pPr>
            <a:r>
              <a:rPr lang="en-US" altLang="zh-CN" sz="2000" dirty="0" smtClean="0">
                <a:ea typeface="宋体" panose="02010600030101010101" pitchFamily="2" charset="-122"/>
              </a:rPr>
              <a:t>   from Students s, SC e, Courses c</a:t>
            </a:r>
          </a:p>
          <a:p>
            <a:pPr>
              <a:lnSpc>
                <a:spcPct val="80000"/>
              </a:lnSpc>
              <a:buFont typeface="Wingdings" panose="05000000000000000000" pitchFamily="2" charset="2"/>
              <a:buNone/>
            </a:pPr>
            <a:r>
              <a:rPr lang="en-US" altLang="zh-CN" sz="2000" dirty="0" smtClean="0">
                <a:ea typeface="宋体" panose="02010600030101010101" pitchFamily="2" charset="-122"/>
              </a:rPr>
              <a:t>   where CNAME= ‘Math'</a:t>
            </a:r>
          </a:p>
          <a:p>
            <a:pPr>
              <a:lnSpc>
                <a:spcPct val="80000"/>
              </a:lnSpc>
              <a:buFont typeface="Wingdings" panose="05000000000000000000" pitchFamily="2" charset="2"/>
              <a:buNone/>
            </a:pPr>
            <a:r>
              <a:rPr lang="en-US" altLang="zh-CN" sz="2000" dirty="0" smtClean="0">
                <a:ea typeface="宋体" panose="02010600030101010101" pitchFamily="2" charset="-122"/>
              </a:rPr>
              <a:t>           and </a:t>
            </a:r>
            <a:r>
              <a:rPr lang="en-US" altLang="zh-CN" sz="2000" dirty="0" err="1" smtClean="0">
                <a:ea typeface="宋体" panose="02010600030101010101" pitchFamily="2" charset="-122"/>
              </a:rPr>
              <a:t>s.SSN</a:t>
            </a:r>
            <a:r>
              <a:rPr lang="en-US" altLang="zh-CN" sz="2000" dirty="0" smtClean="0">
                <a:ea typeface="宋体" panose="02010600030101010101" pitchFamily="2" charset="-122"/>
              </a:rPr>
              <a:t> = </a:t>
            </a:r>
            <a:r>
              <a:rPr lang="en-US" altLang="zh-CN" sz="2000" dirty="0" err="1" smtClean="0">
                <a:ea typeface="宋体" panose="02010600030101010101" pitchFamily="2" charset="-122"/>
              </a:rPr>
              <a:t>e.SSN</a:t>
            </a:r>
            <a:endParaRPr lang="en-US" altLang="zh-CN" sz="2000" dirty="0" smtClean="0">
              <a:ea typeface="宋体" panose="02010600030101010101" pitchFamily="2" charset="-122"/>
            </a:endParaRPr>
          </a:p>
          <a:p>
            <a:pPr>
              <a:lnSpc>
                <a:spcPct val="80000"/>
              </a:lnSpc>
              <a:buFont typeface="Wingdings" panose="05000000000000000000" pitchFamily="2" charset="2"/>
              <a:buNone/>
            </a:pPr>
            <a:r>
              <a:rPr lang="en-US" altLang="zh-CN" sz="2000" dirty="0" smtClean="0">
                <a:ea typeface="宋体" panose="02010600030101010101" pitchFamily="2" charset="-122"/>
              </a:rPr>
              <a:t>           and </a:t>
            </a:r>
            <a:r>
              <a:rPr lang="en-US" altLang="zh-CN" sz="2000" dirty="0" err="1" smtClean="0">
                <a:ea typeface="宋体" panose="02010600030101010101" pitchFamily="2" charset="-122"/>
              </a:rPr>
              <a:t>e.CNO</a:t>
            </a:r>
            <a:r>
              <a:rPr lang="en-US" altLang="zh-CN" sz="2000" dirty="0" smtClean="0">
                <a:ea typeface="宋体" panose="02010600030101010101" pitchFamily="2" charset="-122"/>
              </a:rPr>
              <a:t> = </a:t>
            </a:r>
            <a:r>
              <a:rPr lang="en-US" altLang="zh-CN" sz="2000" dirty="0" err="1" smtClean="0">
                <a:ea typeface="宋体" panose="02010600030101010101" pitchFamily="2" charset="-122"/>
              </a:rPr>
              <a:t>c.CNO</a:t>
            </a:r>
            <a:r>
              <a:rPr lang="en-US" altLang="zh-CN" sz="2000" dirty="0" smtClean="0">
                <a:ea typeface="宋体" panose="02010600030101010101" pitchFamily="2" charset="-122"/>
              </a:rPr>
              <a:t> </a:t>
            </a:r>
          </a:p>
          <a:p>
            <a:pPr>
              <a:lnSpc>
                <a:spcPct val="80000"/>
              </a:lnSpc>
              <a:buFont typeface="Wingdings" panose="05000000000000000000" pitchFamily="2" charset="2"/>
              <a:buNone/>
            </a:pPr>
            <a:r>
              <a:rPr lang="en-US" altLang="zh-CN" sz="2000" dirty="0" smtClean="0">
                <a:ea typeface="宋体" panose="02010600030101010101" pitchFamily="2" charset="-122"/>
              </a:rPr>
              <a:t> </a:t>
            </a:r>
          </a:p>
          <a:p>
            <a:pPr>
              <a:lnSpc>
                <a:spcPct val="80000"/>
              </a:lnSpc>
            </a:pPr>
            <a:r>
              <a:rPr lang="en-US" altLang="zh-CN" sz="2000" dirty="0" smtClean="0">
                <a:ea typeface="宋体" panose="02010600030101010101" pitchFamily="2" charset="-122"/>
              </a:rPr>
              <a:t>s, e and c </a:t>
            </a:r>
            <a:r>
              <a:rPr lang="zh-CN" altLang="en-US" sz="2000" dirty="0" smtClean="0">
                <a:ea typeface="宋体" panose="02010600030101010101" pitchFamily="2" charset="-122"/>
              </a:rPr>
              <a:t>是别名</a:t>
            </a:r>
            <a:r>
              <a:rPr lang="en-US" altLang="zh-CN" sz="2000" dirty="0" smtClean="0">
                <a:ea typeface="宋体" panose="02010600030101010101" pitchFamily="2" charset="-122"/>
              </a:rPr>
              <a:t>. </a:t>
            </a:r>
          </a:p>
        </p:txBody>
      </p:sp>
      <p:pic>
        <p:nvPicPr>
          <p:cNvPr id="4" name="Picture 4"/>
          <p:cNvPicPr>
            <a:picLocks noChangeAspect="1" noChangeArrowheads="1"/>
          </p:cNvPicPr>
          <p:nvPr/>
        </p:nvPicPr>
        <p:blipFill rotWithShape="1">
          <a:blip r:embed="rId3" cstate="print">
            <a:extLst>
              <a:ext uri="{28A0092B-C50C-407E-A947-70E740481C1C}">
                <a14:useLocalDpi xmlns:a14="http://schemas.microsoft.com/office/drawing/2010/main" val="0"/>
              </a:ext>
            </a:extLst>
          </a:blip>
          <a:srcRect t="14872" r="11166"/>
          <a:stretch/>
        </p:blipFill>
        <p:spPr>
          <a:xfrm>
            <a:off x="5364951" y="2777017"/>
            <a:ext cx="3541923" cy="1320012"/>
          </a:xfrm>
          <a:prstGeom prst="rect">
            <a:avLst/>
          </a:prstGeom>
          <a:noFill/>
        </p:spPr>
      </p:pic>
      <p:pic>
        <p:nvPicPr>
          <p:cNvPr id="5" name="Picture 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a:xfrm>
            <a:off x="5558115" y="4097029"/>
            <a:ext cx="3431886" cy="1434167"/>
          </a:xfrm>
          <a:prstGeom prst="rect">
            <a:avLst/>
          </a:prstGeom>
          <a:noFill/>
        </p:spPr>
      </p:pic>
      <p:graphicFrame>
        <p:nvGraphicFramePr>
          <p:cNvPr id="6" name="Object 7"/>
          <p:cNvGraphicFramePr>
            <a:graphicFrameLocks noChangeAspect="1"/>
          </p:cNvGraphicFramePr>
          <p:nvPr>
            <p:extLst>
              <p:ext uri="{D42A27DB-BD31-4B8C-83A1-F6EECF244321}">
                <p14:modId xmlns:p14="http://schemas.microsoft.com/office/powerpoint/2010/main" val="1937489079"/>
              </p:ext>
            </p:extLst>
          </p:nvPr>
        </p:nvGraphicFramePr>
        <p:xfrm>
          <a:off x="5895501" y="5417041"/>
          <a:ext cx="2715099" cy="2017925"/>
        </p:xfrm>
        <a:graphic>
          <a:graphicData uri="http://schemas.openxmlformats.org/presentationml/2006/ole">
            <mc:AlternateContent xmlns:mc="http://schemas.openxmlformats.org/markup-compatibility/2006">
              <mc:Choice xmlns:v="urn:schemas-microsoft-com:vml" Requires="v">
                <p:oleObj spid="_x0000_s1256" name="文档" r:id="rId5" imgW="5404050" imgH="2442342" progId="Word.Document.8">
                  <p:embed/>
                </p:oleObj>
              </mc:Choice>
              <mc:Fallback>
                <p:oleObj name="文档" r:id="rId5" imgW="5404050" imgH="2442342" progId="Word.Document.8">
                  <p:embed/>
                  <p:pic>
                    <p:nvPicPr>
                      <p:cNvPr id="0" name=""/>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895501" y="5417041"/>
                        <a:ext cx="2715099" cy="2017925"/>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65552397"/>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4" fill="hold" nodeType="clickEffect">
                                  <p:stCondLst>
                                    <p:cond delay="0"/>
                                  </p:stCondLst>
                                  <p:childTnLst>
                                    <p:set>
                                      <p:cBhvr>
                                        <p:cTn id="6" dur="1" fill="hold">
                                          <p:stCondLst>
                                            <p:cond delay="0"/>
                                          </p:stCondLst>
                                        </p:cTn>
                                        <p:tgtEl>
                                          <p:spTgt spid="148483">
                                            <p:txEl>
                                              <p:pRg st="3" end="3"/>
                                            </p:txEl>
                                          </p:spTgt>
                                        </p:tgtEl>
                                        <p:attrNameLst>
                                          <p:attrName>style.visibility</p:attrName>
                                        </p:attrNameLst>
                                      </p:cBhvr>
                                      <p:to>
                                        <p:strVal val="visible"/>
                                      </p:to>
                                    </p:set>
                                    <p:anim calcmode="lin" valueType="num">
                                      <p:cBhvr additive="base">
                                        <p:cTn id="7" dur="500" fill="hold"/>
                                        <p:tgtEl>
                                          <p:spTgt spid="14848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4848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148483">
                                            <p:txEl>
                                              <p:pRg st="4" end="4"/>
                                            </p:txEl>
                                          </p:spTgt>
                                        </p:tgtEl>
                                        <p:attrNameLst>
                                          <p:attrName>style.visibility</p:attrName>
                                        </p:attrNameLst>
                                      </p:cBhvr>
                                      <p:to>
                                        <p:strVal val="visible"/>
                                      </p:to>
                                    </p:set>
                                    <p:anim calcmode="lin" valueType="num">
                                      <p:cBhvr additive="base">
                                        <p:cTn id="11" dur="500" fill="hold"/>
                                        <p:tgtEl>
                                          <p:spTgt spid="14848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148483">
                                            <p:txEl>
                                              <p:pRg st="4" end="4"/>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148483">
                                            <p:txEl>
                                              <p:pRg st="5" end="5"/>
                                            </p:txEl>
                                          </p:spTgt>
                                        </p:tgtEl>
                                        <p:attrNameLst>
                                          <p:attrName>style.visibility</p:attrName>
                                        </p:attrNameLst>
                                      </p:cBhvr>
                                      <p:to>
                                        <p:strVal val="visible"/>
                                      </p:to>
                                    </p:set>
                                    <p:anim calcmode="lin" valueType="num">
                                      <p:cBhvr additive="base">
                                        <p:cTn id="15" dur="500" fill="hold"/>
                                        <p:tgtEl>
                                          <p:spTgt spid="148483">
                                            <p:txEl>
                                              <p:pRg st="5" end="5"/>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148483">
                                            <p:txEl>
                                              <p:pRg st="5" end="5"/>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148483">
                                            <p:txEl>
                                              <p:pRg st="6" end="6"/>
                                            </p:txEl>
                                          </p:spTgt>
                                        </p:tgtEl>
                                        <p:attrNameLst>
                                          <p:attrName>style.visibility</p:attrName>
                                        </p:attrNameLst>
                                      </p:cBhvr>
                                      <p:to>
                                        <p:strVal val="visible"/>
                                      </p:to>
                                    </p:set>
                                    <p:anim calcmode="lin" valueType="num">
                                      <p:cBhvr additive="base">
                                        <p:cTn id="19" dur="500" fill="hold"/>
                                        <p:tgtEl>
                                          <p:spTgt spid="148483">
                                            <p:txEl>
                                              <p:pRg st="6" end="6"/>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48483">
                                            <p:txEl>
                                              <p:pRg st="6" end="6"/>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48483">
                                            <p:txEl>
                                              <p:pRg st="7" end="7"/>
                                            </p:txEl>
                                          </p:spTgt>
                                        </p:tgtEl>
                                        <p:attrNameLst>
                                          <p:attrName>style.visibility</p:attrName>
                                        </p:attrNameLst>
                                      </p:cBhvr>
                                      <p:to>
                                        <p:strVal val="visible"/>
                                      </p:to>
                                    </p:set>
                                    <p:anim calcmode="lin" valueType="num">
                                      <p:cBhvr additive="base">
                                        <p:cTn id="23" dur="500" fill="hold"/>
                                        <p:tgtEl>
                                          <p:spTgt spid="148483">
                                            <p:txEl>
                                              <p:pRg st="7" end="7"/>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48483">
                                            <p:txEl>
                                              <p:pRg st="7" end="7"/>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48483">
                                            <p:txEl>
                                              <p:pRg st="8" end="8"/>
                                            </p:txEl>
                                          </p:spTgt>
                                        </p:tgtEl>
                                        <p:attrNameLst>
                                          <p:attrName>style.visibility</p:attrName>
                                        </p:attrNameLst>
                                      </p:cBhvr>
                                      <p:to>
                                        <p:strVal val="visible"/>
                                      </p:to>
                                    </p:set>
                                    <p:anim calcmode="lin" valueType="num">
                                      <p:cBhvr additive="base">
                                        <p:cTn id="27" dur="500" fill="hold"/>
                                        <p:tgtEl>
                                          <p:spTgt spid="148483">
                                            <p:txEl>
                                              <p:pRg st="8" end="8"/>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48483">
                                            <p:txEl>
                                              <p:pRg st="8" end="8"/>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148483">
                                            <p:txEl>
                                              <p:pRg st="9" end="9"/>
                                            </p:txEl>
                                          </p:spTgt>
                                        </p:tgtEl>
                                        <p:attrNameLst>
                                          <p:attrName>style.visibility</p:attrName>
                                        </p:attrNameLst>
                                      </p:cBhvr>
                                      <p:to>
                                        <p:strVal val="visible"/>
                                      </p:to>
                                    </p:set>
                                    <p:anim calcmode="lin" valueType="num">
                                      <p:cBhvr additive="base">
                                        <p:cTn id="31" dur="500" fill="hold"/>
                                        <p:tgtEl>
                                          <p:spTgt spid="148483">
                                            <p:txEl>
                                              <p:pRg st="9" end="9"/>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148483">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Rectangle 2"/>
          <p:cNvSpPr>
            <a:spLocks noGrp="1" noChangeArrowheads="1"/>
          </p:cNvSpPr>
          <p:nvPr>
            <p:ph type="title" idx="4294967295"/>
          </p:nvPr>
        </p:nvSpPr>
        <p:spPr/>
        <p:txBody>
          <a:bodyPr/>
          <a:lstStyle/>
          <a:p>
            <a:pPr eaLnBrk="1" hangingPunct="1"/>
            <a:r>
              <a:rPr lang="en-US" altLang="zh-CN" sz="3600" dirty="0" smtClean="0"/>
              <a:t>2.</a:t>
            </a:r>
            <a:r>
              <a:rPr lang="zh-CN" altLang="en-US" sz="3600" dirty="0" smtClean="0"/>
              <a:t>嵌套查询</a:t>
            </a:r>
          </a:p>
        </p:txBody>
      </p:sp>
      <p:sp>
        <p:nvSpPr>
          <p:cNvPr id="28675" name="Rectangle 3"/>
          <p:cNvSpPr>
            <a:spLocks noGrp="1" noChangeArrowheads="1"/>
          </p:cNvSpPr>
          <p:nvPr>
            <p:ph type="body" idx="4294967295"/>
          </p:nvPr>
        </p:nvSpPr>
        <p:spPr>
          <a:xfrm>
            <a:off x="583479" y="1394114"/>
            <a:ext cx="7772400" cy="5138738"/>
          </a:xfrm>
        </p:spPr>
        <p:txBody>
          <a:bodyPr/>
          <a:lstStyle/>
          <a:p>
            <a:pPr eaLnBrk="1" hangingPunct="1">
              <a:spcBef>
                <a:spcPct val="0"/>
              </a:spcBef>
            </a:pPr>
            <a:r>
              <a:rPr lang="zh-CN" altLang="en-US" dirty="0" smtClean="0"/>
              <a:t>嵌套查询概述</a:t>
            </a:r>
          </a:p>
          <a:p>
            <a:pPr lvl="1">
              <a:spcBef>
                <a:spcPct val="0"/>
              </a:spcBef>
              <a:spcAft>
                <a:spcPct val="40000"/>
              </a:spcAft>
            </a:pPr>
            <a:r>
              <a:rPr lang="zh-CN" altLang="en-US" dirty="0" smtClean="0"/>
              <a:t>一个</a:t>
            </a:r>
            <a:r>
              <a:rPr lang="en-US" altLang="zh-CN" dirty="0" smtClean="0"/>
              <a:t>SELECT-FROM-WHERE</a:t>
            </a:r>
            <a:r>
              <a:rPr lang="zh-CN" altLang="en-US" dirty="0" smtClean="0"/>
              <a:t>语句称为一个</a:t>
            </a:r>
            <a:r>
              <a:rPr lang="zh-CN" altLang="en-US" dirty="0" smtClean="0">
                <a:solidFill>
                  <a:srgbClr val="FF00FF"/>
                </a:solidFill>
              </a:rPr>
              <a:t>查询块</a:t>
            </a:r>
          </a:p>
          <a:p>
            <a:pPr lvl="1">
              <a:spcBef>
                <a:spcPct val="0"/>
              </a:spcBef>
            </a:pPr>
            <a:r>
              <a:rPr lang="zh-CN" altLang="en-US" dirty="0" smtClean="0"/>
              <a:t>将一个查询块嵌套在另一个查询块的</a:t>
            </a:r>
            <a:r>
              <a:rPr lang="en-US" altLang="zh-CN" dirty="0" smtClean="0"/>
              <a:t>WHERE</a:t>
            </a:r>
            <a:r>
              <a:rPr lang="zh-CN" altLang="en-US" dirty="0" smtClean="0"/>
              <a:t>子句或</a:t>
            </a:r>
            <a:r>
              <a:rPr lang="en-US" altLang="zh-CN" dirty="0" smtClean="0"/>
              <a:t>HAVING</a:t>
            </a:r>
            <a:r>
              <a:rPr lang="zh-CN" altLang="en-US" dirty="0" smtClean="0"/>
              <a:t>短语的条件中的查询称为</a:t>
            </a:r>
            <a:r>
              <a:rPr lang="zh-CN" altLang="en-US" dirty="0" smtClean="0">
                <a:solidFill>
                  <a:srgbClr val="FF00FF"/>
                </a:solidFill>
              </a:rPr>
              <a:t>嵌套查询</a:t>
            </a:r>
            <a:endParaRPr lang="en-US" altLang="zh-CN" dirty="0" smtClean="0">
              <a:solidFill>
                <a:srgbClr val="FF00FF"/>
              </a:solidFill>
            </a:endParaRPr>
          </a:p>
          <a:p>
            <a:pPr eaLnBrk="1" hangingPunct="1">
              <a:spcBef>
                <a:spcPct val="0"/>
              </a:spcBef>
              <a:buFont typeface="Wingdings" panose="05000000000000000000" pitchFamily="2" charset="2"/>
              <a:buNone/>
            </a:pPr>
            <a:endParaRPr lang="en-US" altLang="zh-CN" sz="2400" dirty="0" smtClean="0"/>
          </a:p>
          <a:p>
            <a:pPr eaLnBrk="1" hangingPunct="1">
              <a:spcBef>
                <a:spcPct val="0"/>
              </a:spcBef>
              <a:buFont typeface="Wingdings" panose="05000000000000000000" pitchFamily="2" charset="2"/>
              <a:buNone/>
            </a:pPr>
            <a:r>
              <a:rPr lang="en-US" altLang="zh-CN" sz="2400" dirty="0" smtClean="0"/>
              <a:t>     SELECT </a:t>
            </a:r>
            <a:r>
              <a:rPr lang="en-US" altLang="zh-CN" sz="2400" dirty="0" err="1" smtClean="0"/>
              <a:t>Sname</a:t>
            </a:r>
            <a:r>
              <a:rPr lang="en-US" altLang="zh-CN" sz="2400" dirty="0" smtClean="0"/>
              <a:t>	</a:t>
            </a:r>
            <a:r>
              <a:rPr lang="en-US" altLang="zh-CN" sz="2000" dirty="0" smtClean="0"/>
              <a:t>                           /*</a:t>
            </a:r>
            <a:r>
              <a:rPr lang="zh-CN" altLang="en-US" sz="2000" dirty="0" smtClean="0">
                <a:solidFill>
                  <a:srgbClr val="FF0000"/>
                </a:solidFill>
              </a:rPr>
              <a:t>外层查询</a:t>
            </a:r>
            <a:r>
              <a:rPr lang="en-US" altLang="zh-CN" sz="2000" dirty="0" smtClean="0">
                <a:solidFill>
                  <a:srgbClr val="FF0000"/>
                </a:solidFill>
              </a:rPr>
              <a:t>/</a:t>
            </a:r>
            <a:r>
              <a:rPr lang="zh-CN" altLang="en-US" sz="2000" dirty="0" smtClean="0">
                <a:solidFill>
                  <a:srgbClr val="FF0000"/>
                </a:solidFill>
              </a:rPr>
              <a:t>父查询</a:t>
            </a:r>
            <a:r>
              <a:rPr lang="zh-CN" altLang="en-US" sz="2000" dirty="0" smtClean="0"/>
              <a:t>*</a:t>
            </a:r>
            <a:r>
              <a:rPr lang="en-US" altLang="zh-CN" sz="2000" dirty="0" smtClean="0"/>
              <a:t>/</a:t>
            </a:r>
          </a:p>
          <a:p>
            <a:pPr eaLnBrk="1" hangingPunct="1">
              <a:spcBef>
                <a:spcPct val="0"/>
              </a:spcBef>
              <a:buFont typeface="Wingdings" panose="05000000000000000000" pitchFamily="2" charset="2"/>
              <a:buNone/>
            </a:pPr>
            <a:r>
              <a:rPr lang="en-US" altLang="zh-CN" sz="2400" dirty="0" smtClean="0"/>
              <a:t>     FROM Student</a:t>
            </a:r>
          </a:p>
          <a:p>
            <a:pPr eaLnBrk="1" hangingPunct="1">
              <a:spcBef>
                <a:spcPct val="0"/>
              </a:spcBef>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 IN</a:t>
            </a:r>
          </a:p>
          <a:p>
            <a:pPr eaLnBrk="1" hangingPunct="1">
              <a:spcBef>
                <a:spcPct val="0"/>
              </a:spcBef>
              <a:buFont typeface="Wingdings" panose="05000000000000000000" pitchFamily="2" charset="2"/>
              <a:buNone/>
            </a:pPr>
            <a:r>
              <a:rPr lang="en-US" altLang="zh-CN" sz="2400" dirty="0" smtClean="0"/>
              <a:t>                        </a:t>
            </a:r>
            <a:r>
              <a:rPr lang="zh-CN" altLang="en-US" sz="2400" dirty="0" smtClean="0"/>
              <a:t>( </a:t>
            </a:r>
            <a:r>
              <a:rPr lang="en-US" altLang="zh-CN" sz="2400" dirty="0" smtClean="0"/>
              <a:t>SELECT </a:t>
            </a:r>
            <a:r>
              <a:rPr lang="en-US" altLang="zh-CN" sz="2400" dirty="0" err="1" smtClean="0"/>
              <a:t>Sno</a:t>
            </a:r>
            <a:r>
              <a:rPr lang="en-US" altLang="zh-CN" sz="2400" dirty="0" smtClean="0"/>
              <a:t>        </a:t>
            </a:r>
            <a:r>
              <a:rPr lang="en-US" altLang="zh-CN" sz="2000" dirty="0" smtClean="0"/>
              <a:t>/*</a:t>
            </a:r>
            <a:r>
              <a:rPr lang="zh-CN" altLang="en-US" sz="2000" dirty="0" smtClean="0">
                <a:solidFill>
                  <a:srgbClr val="FF0000"/>
                </a:solidFill>
              </a:rPr>
              <a:t>内层查询</a:t>
            </a:r>
            <a:r>
              <a:rPr lang="en-US" altLang="zh-CN" sz="2000" dirty="0" smtClean="0">
                <a:solidFill>
                  <a:srgbClr val="FF0000"/>
                </a:solidFill>
              </a:rPr>
              <a:t>/</a:t>
            </a:r>
            <a:r>
              <a:rPr lang="zh-CN" altLang="en-US" sz="2000" dirty="0" smtClean="0">
                <a:solidFill>
                  <a:srgbClr val="FF0000"/>
                </a:solidFill>
              </a:rPr>
              <a:t>子查询</a:t>
            </a:r>
            <a:r>
              <a:rPr lang="zh-CN" altLang="en-US" sz="2000" dirty="0" smtClean="0"/>
              <a:t>*</a:t>
            </a:r>
            <a:r>
              <a:rPr lang="en-US" altLang="zh-CN" sz="2000" dirty="0" smtClean="0"/>
              <a:t>/</a:t>
            </a:r>
          </a:p>
          <a:p>
            <a:pPr eaLnBrk="1" hangingPunct="1">
              <a:spcBef>
                <a:spcPct val="0"/>
              </a:spcBef>
              <a:buFont typeface="Wingdings" panose="05000000000000000000" pitchFamily="2" charset="2"/>
              <a:buNone/>
            </a:pPr>
            <a:r>
              <a:rPr lang="en-US" altLang="zh-CN" sz="2400" dirty="0" smtClean="0"/>
              <a:t>                          FROM SC</a:t>
            </a:r>
          </a:p>
          <a:p>
            <a:pPr eaLnBrk="1" hangingPunct="1">
              <a:spcBef>
                <a:spcPct val="0"/>
              </a:spcBef>
              <a:buFont typeface="Wingdings" panose="05000000000000000000" pitchFamily="2" charset="2"/>
              <a:buNone/>
            </a:pPr>
            <a:r>
              <a:rPr lang="en-US" altLang="zh-CN" sz="2400" dirty="0" smtClean="0"/>
              <a:t>                          WHERE </a:t>
            </a:r>
            <a:r>
              <a:rPr lang="en-US" altLang="zh-CN" sz="2400" dirty="0" err="1" smtClean="0"/>
              <a:t>Cno</a:t>
            </a:r>
            <a:r>
              <a:rPr lang="en-US" altLang="zh-CN" sz="2400" dirty="0" smtClean="0"/>
              <a:t>= ' 2 '</a:t>
            </a:r>
            <a:r>
              <a:rPr lang="zh-CN" altLang="en-US" sz="2400" dirty="0" smtClean="0"/>
              <a:t>);</a:t>
            </a:r>
          </a:p>
          <a:p>
            <a:pPr lvl="1">
              <a:spcBef>
                <a:spcPct val="0"/>
              </a:spcBef>
            </a:pPr>
            <a:endParaRPr lang="zh-CN" altLang="en-US" dirty="0" smtClean="0">
              <a:solidFill>
                <a:srgbClr val="FF00FF"/>
              </a:solidFill>
            </a:endParaRPr>
          </a:p>
          <a:p>
            <a:pPr eaLnBrk="1" hangingPunct="1">
              <a:spcBef>
                <a:spcPct val="0"/>
              </a:spcBef>
              <a:buFont typeface="Wingdings" panose="05000000000000000000" pitchFamily="2" charset="2"/>
              <a:buNone/>
            </a:pPr>
            <a:r>
              <a:rPr lang="zh-CN" altLang="en-US" sz="2400" dirty="0" smtClean="0"/>
              <a:t>        </a:t>
            </a:r>
          </a:p>
        </p:txBody>
      </p:sp>
    </p:spTree>
    <p:extLst>
      <p:ext uri="{BB962C8B-B14F-4D97-AF65-F5344CB8AC3E}">
        <p14:creationId xmlns:p14="http://schemas.microsoft.com/office/powerpoint/2010/main" val="65782637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嵌套查询</a:t>
            </a:r>
          </a:p>
        </p:txBody>
      </p:sp>
      <p:sp>
        <p:nvSpPr>
          <p:cNvPr id="32771" name="Rectangle 3"/>
          <p:cNvSpPr>
            <a:spLocks noGrp="1" noChangeArrowheads="1"/>
          </p:cNvSpPr>
          <p:nvPr>
            <p:ph type="body" idx="4294967295"/>
          </p:nvPr>
        </p:nvSpPr>
        <p:spPr>
          <a:xfrm>
            <a:off x="411018" y="1257300"/>
            <a:ext cx="8512464" cy="5041899"/>
          </a:xfrm>
        </p:spPr>
        <p:txBody>
          <a:bodyPr>
            <a:normAutofit fontScale="85000" lnSpcReduction="20000"/>
          </a:bodyPr>
          <a:lstStyle/>
          <a:p>
            <a:pPr eaLnBrk="1" hangingPunct="1">
              <a:lnSpc>
                <a:spcPct val="150000"/>
              </a:lnSpc>
              <a:buFont typeface="Wingdings" panose="05000000000000000000" pitchFamily="2" charset="2"/>
              <a:buNone/>
            </a:pPr>
            <a:r>
              <a:rPr lang="en-US" altLang="zh-CN" dirty="0" smtClean="0">
                <a:solidFill>
                  <a:srgbClr val="7030A0"/>
                </a:solidFill>
              </a:rPr>
              <a:t>  (1).</a:t>
            </a:r>
            <a:r>
              <a:rPr lang="zh-CN" altLang="en-US" dirty="0" smtClean="0">
                <a:solidFill>
                  <a:srgbClr val="7030A0"/>
                </a:solidFill>
              </a:rPr>
              <a:t>带有</a:t>
            </a:r>
            <a:r>
              <a:rPr lang="en-US" altLang="zh-CN" dirty="0" smtClean="0">
                <a:solidFill>
                  <a:srgbClr val="7030A0"/>
                </a:solidFill>
              </a:rPr>
              <a:t>IN</a:t>
            </a:r>
            <a:r>
              <a:rPr lang="zh-CN" altLang="en-US" dirty="0" smtClean="0">
                <a:solidFill>
                  <a:srgbClr val="7030A0"/>
                </a:solidFill>
              </a:rPr>
              <a:t>谓词的子查询 </a:t>
            </a:r>
            <a:endParaRPr lang="en-US" altLang="zh-CN" dirty="0" smtClean="0">
              <a:solidFill>
                <a:srgbClr val="7030A0"/>
              </a:solidFill>
            </a:endParaRPr>
          </a:p>
          <a:p>
            <a:pPr eaLnBrk="1" hangingPunct="1">
              <a:lnSpc>
                <a:spcPct val="150000"/>
              </a:lnSpc>
              <a:buFont typeface="Wingdings" panose="05000000000000000000" pitchFamily="2" charset="2"/>
              <a:buNone/>
            </a:pPr>
            <a:r>
              <a:rPr lang="en-US" altLang="zh-CN" dirty="0">
                <a:solidFill>
                  <a:srgbClr val="7030A0"/>
                </a:solidFill>
              </a:rPr>
              <a:t> </a:t>
            </a:r>
            <a:r>
              <a:rPr lang="en-US" altLang="zh-CN" dirty="0" smtClean="0">
                <a:solidFill>
                  <a:srgbClr val="7030A0"/>
                </a:solidFill>
              </a:rPr>
              <a:t>      </a:t>
            </a:r>
            <a:r>
              <a:rPr lang="zh-CN" altLang="en-US" dirty="0" smtClean="0">
                <a:solidFill>
                  <a:srgbClr val="FF0000"/>
                </a:solidFill>
              </a:rPr>
              <a:t>子查询返回的是一个集合或单值</a:t>
            </a:r>
          </a:p>
          <a:p>
            <a:pPr eaLnBrk="1" hangingPunct="1">
              <a:lnSpc>
                <a:spcPct val="150000"/>
              </a:lnSpc>
              <a:buFont typeface="Wingdings" panose="05000000000000000000" pitchFamily="2" charset="2"/>
              <a:buNone/>
            </a:pPr>
            <a:r>
              <a:rPr lang="zh-CN" altLang="en-US" dirty="0" smtClean="0"/>
              <a:t>  </a:t>
            </a:r>
            <a:r>
              <a:rPr lang="en-US" altLang="zh-CN" dirty="0" smtClean="0"/>
              <a:t>(2).</a:t>
            </a:r>
            <a:r>
              <a:rPr lang="zh-CN" altLang="en-US" dirty="0" smtClean="0"/>
              <a:t>带有比较运算符的子查询</a:t>
            </a:r>
            <a:endParaRPr lang="en-US" altLang="zh-CN" dirty="0" smtClean="0"/>
          </a:p>
          <a:p>
            <a:pPr>
              <a:lnSpc>
                <a:spcPct val="150000"/>
              </a:lnSpc>
              <a:buNone/>
            </a:pPr>
            <a:r>
              <a:rPr lang="zh-CN" altLang="en-US" dirty="0" smtClean="0">
                <a:solidFill>
                  <a:srgbClr val="FF0000"/>
                </a:solidFill>
              </a:rPr>
              <a:t>        子</a:t>
            </a:r>
            <a:r>
              <a:rPr lang="zh-CN" altLang="en-US" dirty="0">
                <a:solidFill>
                  <a:srgbClr val="FF0000"/>
                </a:solidFill>
              </a:rPr>
              <a:t>查询返回的是一</a:t>
            </a:r>
            <a:r>
              <a:rPr lang="zh-CN" altLang="en-US" dirty="0" smtClean="0">
                <a:solidFill>
                  <a:srgbClr val="FF0000"/>
                </a:solidFill>
              </a:rPr>
              <a:t>个值</a:t>
            </a:r>
            <a:endParaRPr lang="zh-CN" altLang="en-US" dirty="0" smtClean="0"/>
          </a:p>
          <a:p>
            <a:pPr eaLnBrk="1" hangingPunct="1">
              <a:lnSpc>
                <a:spcPct val="150000"/>
              </a:lnSpc>
              <a:buFont typeface="Wingdings" panose="05000000000000000000" pitchFamily="2" charset="2"/>
              <a:buNone/>
            </a:pPr>
            <a:r>
              <a:rPr lang="zh-CN" altLang="en-US" dirty="0" smtClean="0"/>
              <a:t>  </a:t>
            </a:r>
            <a:r>
              <a:rPr lang="en-US" altLang="zh-CN" dirty="0" smtClean="0"/>
              <a:t>(3).</a:t>
            </a:r>
            <a:r>
              <a:rPr lang="zh-CN" altLang="en-US" dirty="0" smtClean="0"/>
              <a:t>带有</a:t>
            </a:r>
            <a:r>
              <a:rPr lang="en-US" altLang="zh-CN" dirty="0" smtClean="0"/>
              <a:t>ANY</a:t>
            </a:r>
            <a:r>
              <a:rPr lang="zh-CN" altLang="en-US" dirty="0" smtClean="0"/>
              <a:t>（</a:t>
            </a:r>
            <a:r>
              <a:rPr lang="en-US" altLang="zh-CN" dirty="0" smtClean="0"/>
              <a:t>SOME</a:t>
            </a:r>
            <a:r>
              <a:rPr lang="zh-CN" altLang="en-US" dirty="0" smtClean="0"/>
              <a:t>）或</a:t>
            </a:r>
            <a:r>
              <a:rPr lang="en-US" altLang="zh-CN" dirty="0" smtClean="0"/>
              <a:t>ALL</a:t>
            </a:r>
            <a:r>
              <a:rPr lang="zh-CN" altLang="en-US" dirty="0" smtClean="0"/>
              <a:t>谓词的子查询</a:t>
            </a:r>
            <a:endParaRPr lang="en-US" altLang="zh-CN" dirty="0" smtClean="0"/>
          </a:p>
          <a:p>
            <a:pPr eaLnBrk="1" hangingPunct="1">
              <a:lnSpc>
                <a:spcPct val="150000"/>
              </a:lnSpc>
              <a:buFont typeface="Wingdings" panose="05000000000000000000" pitchFamily="2" charset="2"/>
              <a:buNone/>
            </a:pPr>
            <a:r>
              <a:rPr lang="en-US" altLang="zh-CN" dirty="0"/>
              <a:t> </a:t>
            </a:r>
            <a:r>
              <a:rPr lang="en-US" altLang="zh-CN" dirty="0" smtClean="0"/>
              <a:t>        </a:t>
            </a:r>
            <a:r>
              <a:rPr lang="zh-CN" altLang="en-US" dirty="0" smtClean="0">
                <a:solidFill>
                  <a:srgbClr val="FF0000"/>
                </a:solidFill>
              </a:rPr>
              <a:t>子查询返回的是一个集合，和比较运算符一起使用</a:t>
            </a:r>
          </a:p>
          <a:p>
            <a:pPr eaLnBrk="1" hangingPunct="1">
              <a:lnSpc>
                <a:spcPct val="150000"/>
              </a:lnSpc>
              <a:buFont typeface="Wingdings" panose="05000000000000000000" pitchFamily="2" charset="2"/>
              <a:buNone/>
            </a:pPr>
            <a:r>
              <a:rPr lang="zh-CN" altLang="en-US" dirty="0" smtClean="0"/>
              <a:t>  </a:t>
            </a:r>
            <a:r>
              <a:rPr lang="en-US" altLang="zh-CN" dirty="0" smtClean="0"/>
              <a:t>(4).</a:t>
            </a:r>
            <a:r>
              <a:rPr lang="zh-CN" altLang="en-US" dirty="0" smtClean="0"/>
              <a:t>带有</a:t>
            </a:r>
            <a:r>
              <a:rPr lang="en-US" altLang="zh-CN" dirty="0" smtClean="0"/>
              <a:t>EXISTS</a:t>
            </a:r>
            <a:r>
              <a:rPr lang="zh-CN" altLang="en-US" dirty="0" smtClean="0"/>
              <a:t>谓词的子查询</a:t>
            </a:r>
            <a:endParaRPr lang="en-US" altLang="zh-CN" dirty="0" smtClean="0"/>
          </a:p>
          <a:p>
            <a:pPr>
              <a:lnSpc>
                <a:spcPct val="150000"/>
              </a:lnSpc>
              <a:buNone/>
            </a:pPr>
            <a:r>
              <a:rPr lang="zh-CN" altLang="en-US" dirty="0" smtClean="0"/>
              <a:t>        </a:t>
            </a:r>
            <a:r>
              <a:rPr lang="zh-CN" altLang="en-US" dirty="0" smtClean="0">
                <a:solidFill>
                  <a:srgbClr val="FF0000"/>
                </a:solidFill>
              </a:rPr>
              <a:t>只</a:t>
            </a:r>
            <a:r>
              <a:rPr lang="zh-CN" altLang="en-US" dirty="0">
                <a:solidFill>
                  <a:srgbClr val="FF0000"/>
                </a:solidFill>
              </a:rPr>
              <a:t>产生逻辑真值“</a:t>
            </a:r>
            <a:r>
              <a:rPr lang="en-US" altLang="zh-CN" dirty="0">
                <a:solidFill>
                  <a:srgbClr val="FF0000"/>
                </a:solidFill>
              </a:rPr>
              <a:t>true”</a:t>
            </a:r>
            <a:r>
              <a:rPr lang="zh-CN" altLang="en-US" dirty="0">
                <a:solidFill>
                  <a:srgbClr val="FF0000"/>
                </a:solidFill>
              </a:rPr>
              <a:t>或逻辑假值“</a:t>
            </a:r>
            <a:r>
              <a:rPr lang="en-US" altLang="zh-CN" dirty="0">
                <a:solidFill>
                  <a:srgbClr val="FF0000"/>
                </a:solidFill>
              </a:rPr>
              <a:t>false”</a:t>
            </a:r>
            <a:endParaRPr lang="zh-CN" altLang="en-US" dirty="0" smtClean="0">
              <a:solidFill>
                <a:srgbClr val="FF0000"/>
              </a:solidFill>
            </a:endParaRPr>
          </a:p>
          <a:p>
            <a:pPr eaLnBrk="1" hangingPunct="1">
              <a:lnSpc>
                <a:spcPct val="130000"/>
              </a:lnSpc>
              <a:buFont typeface="Wingdings" panose="05000000000000000000" pitchFamily="2" charset="2"/>
              <a:buNone/>
            </a:pPr>
            <a:endParaRPr lang="en-US" altLang="zh-CN" dirty="0" smtClean="0"/>
          </a:p>
        </p:txBody>
      </p:sp>
    </p:spTree>
    <p:extLst>
      <p:ext uri="{BB962C8B-B14F-4D97-AF65-F5344CB8AC3E}">
        <p14:creationId xmlns:p14="http://schemas.microsoft.com/office/powerpoint/2010/main" val="404610743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Rectangle 2"/>
          <p:cNvSpPr>
            <a:spLocks noGrp="1" noChangeArrowheads="1"/>
          </p:cNvSpPr>
          <p:nvPr>
            <p:ph type="title"/>
          </p:nvPr>
        </p:nvSpPr>
        <p:spPr>
          <a:xfrm>
            <a:off x="914400" y="188913"/>
            <a:ext cx="7391400" cy="563562"/>
          </a:xfrm>
        </p:spPr>
        <p:txBody>
          <a:bodyPr>
            <a:normAutofit fontScale="90000"/>
          </a:bodyPr>
          <a:lstStyle/>
          <a:p>
            <a:pPr eaLnBrk="1" hangingPunct="1"/>
            <a:r>
              <a:rPr lang="zh-CN" altLang="en-US" sz="3600" dirty="0" smtClean="0"/>
              <a:t>数据表示例</a:t>
            </a:r>
            <a:endParaRPr lang="en-US" altLang="zh-CN" sz="3600" dirty="0" smtClean="0"/>
          </a:p>
        </p:txBody>
      </p:sp>
      <p:sp>
        <p:nvSpPr>
          <p:cNvPr id="84996" name="Rectangle 83"/>
          <p:cNvSpPr>
            <a:spLocks noChangeArrowheads="1"/>
          </p:cNvSpPr>
          <p:nvPr/>
        </p:nvSpPr>
        <p:spPr bwMode="auto">
          <a:xfrm>
            <a:off x="468313" y="2133600"/>
            <a:ext cx="914400" cy="6096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dirty="0"/>
              <a:t> </a:t>
            </a:r>
            <a:r>
              <a:rPr lang="en-US" altLang="zh-CN" sz="2200" b="1" dirty="0"/>
              <a:t>Student</a:t>
            </a:r>
          </a:p>
        </p:txBody>
      </p:sp>
      <p:sp>
        <p:nvSpPr>
          <p:cNvPr id="84997" name="Rectangle 91"/>
          <p:cNvSpPr>
            <a:spLocks noChangeArrowheads="1"/>
          </p:cNvSpPr>
          <p:nvPr/>
        </p:nvSpPr>
        <p:spPr bwMode="auto">
          <a:xfrm>
            <a:off x="539750" y="1127125"/>
            <a:ext cx="7488238" cy="9334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a:spAutoFit/>
          </a:bodyP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lnSpc>
                <a:spcPct val="120000"/>
              </a:lnSpc>
            </a:pPr>
            <a:r>
              <a:rPr lang="zh-CN" altLang="en-US" sz="2400" b="1"/>
              <a:t>学生</a:t>
            </a:r>
            <a:r>
              <a:rPr lang="en-US" altLang="zh-CN" sz="2400" b="1"/>
              <a:t>-</a:t>
            </a:r>
            <a:r>
              <a:rPr lang="zh-CN" altLang="en-US" sz="2400" b="1"/>
              <a:t>课程数据库</a:t>
            </a:r>
            <a:r>
              <a:rPr lang="en-US" altLang="zh-CN" sz="2400" b="1"/>
              <a:t>:</a:t>
            </a:r>
          </a:p>
          <a:p>
            <a:pPr eaLnBrk="1" hangingPunct="1">
              <a:lnSpc>
                <a:spcPct val="120000"/>
              </a:lnSpc>
            </a:pPr>
            <a:r>
              <a:rPr lang="en-US" altLang="zh-CN" sz="2400" b="1"/>
              <a:t>     </a:t>
            </a:r>
            <a:r>
              <a:rPr lang="zh-CN" altLang="en-US" sz="2400" b="1"/>
              <a:t>学生关系</a:t>
            </a:r>
            <a:r>
              <a:rPr lang="en-US" altLang="zh-CN" sz="2400" b="1"/>
              <a:t>Student</a:t>
            </a:r>
            <a:r>
              <a:rPr lang="zh-CN" altLang="en-US" sz="2400" b="1"/>
              <a:t>、课程关系</a:t>
            </a:r>
            <a:r>
              <a:rPr lang="en-US" altLang="zh-CN" sz="2400" b="1"/>
              <a:t>Course</a:t>
            </a:r>
            <a:r>
              <a:rPr lang="zh-CN" altLang="en-US" sz="2400" b="1"/>
              <a:t>和选修</a:t>
            </a:r>
            <a:r>
              <a:rPr lang="zh-CN" altLang="en-US" sz="2200" b="1"/>
              <a:t>关系</a:t>
            </a:r>
            <a:r>
              <a:rPr lang="en-US" altLang="zh-CN" sz="2200" b="1"/>
              <a:t>SC</a:t>
            </a:r>
          </a:p>
        </p:txBody>
      </p:sp>
      <p:graphicFrame>
        <p:nvGraphicFramePr>
          <p:cNvPr id="341263" name="Group 271"/>
          <p:cNvGraphicFramePr>
            <a:graphicFrameLocks noGrp="1"/>
          </p:cNvGraphicFramePr>
          <p:nvPr>
            <p:ph idx="1"/>
            <p:extLst/>
          </p:nvPr>
        </p:nvGraphicFramePr>
        <p:xfrm>
          <a:off x="1892411" y="2133600"/>
          <a:ext cx="5970490" cy="1979668"/>
        </p:xfrm>
        <a:graphic>
          <a:graphicData uri="http://schemas.openxmlformats.org/drawingml/2006/table">
            <a:tbl>
              <a:tblPr>
                <a:tableStyleId>{2D5ABB26-0587-4C30-8999-92F81FD0307C}</a:tableStyleId>
              </a:tblPr>
              <a:tblGrid>
                <a:gridCol w="1194329">
                  <a:extLst>
                    <a:ext uri="{9D8B030D-6E8A-4147-A177-3AD203B41FA5}">
                      <a16:colId xmlns:a16="http://schemas.microsoft.com/office/drawing/2014/main" xmlns="" val="20000"/>
                    </a:ext>
                  </a:extLst>
                </a:gridCol>
                <a:gridCol w="1194328">
                  <a:extLst>
                    <a:ext uri="{9D8B030D-6E8A-4147-A177-3AD203B41FA5}">
                      <a16:colId xmlns:a16="http://schemas.microsoft.com/office/drawing/2014/main" xmlns="" val="20001"/>
                    </a:ext>
                  </a:extLst>
                </a:gridCol>
                <a:gridCol w="1193176">
                  <a:extLst>
                    <a:ext uri="{9D8B030D-6E8A-4147-A177-3AD203B41FA5}">
                      <a16:colId xmlns:a16="http://schemas.microsoft.com/office/drawing/2014/main" xmlns="" val="20002"/>
                    </a:ext>
                  </a:extLst>
                </a:gridCol>
                <a:gridCol w="1194329">
                  <a:extLst>
                    <a:ext uri="{9D8B030D-6E8A-4147-A177-3AD203B41FA5}">
                      <a16:colId xmlns:a16="http://schemas.microsoft.com/office/drawing/2014/main" xmlns="" val="20003"/>
                    </a:ext>
                  </a:extLst>
                </a:gridCol>
                <a:gridCol w="1194328">
                  <a:extLst>
                    <a:ext uri="{9D8B030D-6E8A-4147-A177-3AD203B41FA5}">
                      <a16:colId xmlns:a16="http://schemas.microsoft.com/office/drawing/2014/main" xmlns="" val="20004"/>
                    </a:ext>
                  </a:extLst>
                </a:gridCol>
              </a:tblGrid>
              <a:tr h="530922">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Sno</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姓名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Sname</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性别</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err="1" smtClean="0">
                          <a:ln>
                            <a:noFill/>
                          </a:ln>
                          <a:effectLst/>
                        </a:rPr>
                        <a:t>Ssex</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年龄</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Sage</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所在系</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Sdept</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0"/>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201215121</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李勇</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男</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1"/>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201215122</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刘晨</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女</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19</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CS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2"/>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201215123</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王敏</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女</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18</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MA</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3"/>
                  </a:ext>
                </a:extLst>
              </a:tr>
              <a:tr h="296639">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201215125</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dirty="0" smtClean="0">
                          <a:ln>
                            <a:noFill/>
                          </a:ln>
                          <a:effectLst/>
                        </a:rPr>
                        <a:t>张立</a:t>
                      </a:r>
                      <a:endParaRPr kumimoji="0" lang="zh-CN" altLang="en-US"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zh-CN" altLang="en-US" sz="1600" b="1" u="none" strike="noStrike" cap="none" normalizeH="0" baseline="0" smtClean="0">
                          <a:ln>
                            <a:noFill/>
                          </a:ln>
                          <a:effectLst/>
                        </a:rPr>
                        <a:t>男</a:t>
                      </a:r>
                      <a:endParaRPr kumimoji="0" lang="zh-CN" altLang="en-US"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smtClean="0">
                          <a:ln>
                            <a:noFill/>
                          </a:ln>
                          <a:effectLst/>
                        </a:rPr>
                        <a:t>19</a:t>
                      </a:r>
                      <a:endParaRPr kumimoji="0" lang="en-US" altLang="zh-CN" sz="1600" b="1" i="0" u="none" strike="noStrike" cap="none" normalizeH="0" baseline="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tc>
                  <a:txBody>
                    <a:body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itchFamily="2" charset="2"/>
                        <a:buNone/>
                        <a:tabLst/>
                      </a:pPr>
                      <a:r>
                        <a:rPr kumimoji="0" lang="en-US" altLang="zh-CN" sz="1600" b="1" u="none" strike="noStrike" cap="none" normalizeH="0" baseline="0" dirty="0" smtClean="0">
                          <a:ln>
                            <a:noFill/>
                          </a:ln>
                          <a:effectLst/>
                        </a:rPr>
                        <a:t>IS</a:t>
                      </a:r>
                      <a:endParaRPr kumimoji="0" lang="en-US" altLang="zh-CN" sz="1600" b="1" i="0" u="none" strike="noStrike" cap="none" normalizeH="0" baseline="0" dirty="0" smtClean="0">
                        <a:ln>
                          <a:noFill/>
                        </a:ln>
                        <a:solidFill>
                          <a:schemeClr val="tx1"/>
                        </a:solidFill>
                        <a:effectLst/>
                        <a:latin typeface="Arial" pitchFamily="34" charset="0"/>
                        <a:ea typeface="宋体" pitchFamily="2" charset="-122"/>
                      </a:endParaRPr>
                    </a:p>
                  </a:txBody>
                  <a:tcPr marL="90000" marR="90000" marT="46786" marB="46786"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xmlns="" val="10004"/>
                  </a:ext>
                </a:extLst>
              </a:tr>
            </a:tbl>
          </a:graphicData>
        </a:graphic>
      </p:graphicFrame>
      <p:graphicFrame>
        <p:nvGraphicFramePr>
          <p:cNvPr id="7" name="Group 575"/>
          <p:cNvGraphicFramePr>
            <a:graphicFrameLocks/>
          </p:cNvGraphicFramePr>
          <p:nvPr>
            <p:extLst/>
          </p:nvPr>
        </p:nvGraphicFramePr>
        <p:xfrm>
          <a:off x="230743" y="4326269"/>
          <a:ext cx="4277647" cy="2431296"/>
        </p:xfrm>
        <a:graphic>
          <a:graphicData uri="http://schemas.openxmlformats.org/drawingml/2006/table">
            <a:tbl>
              <a:tblPr/>
              <a:tblGrid>
                <a:gridCol w="1069879">
                  <a:extLst>
                    <a:ext uri="{9D8B030D-6E8A-4147-A177-3AD203B41FA5}">
                      <a16:colId xmlns:a16="http://schemas.microsoft.com/office/drawing/2014/main" xmlns="" val="20000"/>
                    </a:ext>
                  </a:extLst>
                </a:gridCol>
                <a:gridCol w="1132428">
                  <a:extLst>
                    <a:ext uri="{9D8B030D-6E8A-4147-A177-3AD203B41FA5}">
                      <a16:colId xmlns:a16="http://schemas.microsoft.com/office/drawing/2014/main" xmlns="" val="20001"/>
                    </a:ext>
                  </a:extLst>
                </a:gridCol>
                <a:gridCol w="1006395">
                  <a:extLst>
                    <a:ext uri="{9D8B030D-6E8A-4147-A177-3AD203B41FA5}">
                      <a16:colId xmlns:a16="http://schemas.microsoft.com/office/drawing/2014/main" xmlns="" val="20002"/>
                    </a:ext>
                  </a:extLst>
                </a:gridCol>
                <a:gridCol w="1068945">
                  <a:extLst>
                    <a:ext uri="{9D8B030D-6E8A-4147-A177-3AD203B41FA5}">
                      <a16:colId xmlns:a16="http://schemas.microsoft.com/office/drawing/2014/main" xmlns="" val="20003"/>
                    </a:ext>
                  </a:extLst>
                </a:gridCol>
              </a:tblGrid>
              <a:tr h="381771">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课程名</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Cname</a:t>
                      </a:r>
                      <a:endPar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先行课</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Cpno</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学分</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Ccredit</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数据库</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数学</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信息系统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操作系统</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3</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5</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数据结构</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数据处理</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endParaRPr kumimoji="0" lang="zh-CN"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endParaRP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6"/>
                  </a:ext>
                </a:extLst>
              </a:tr>
              <a:tr h="2128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7</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PASCAL</a:t>
                      </a:r>
                      <a:r>
                        <a:rPr kumimoji="0" lang="zh-CN" altLang="en-US"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语言</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6</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2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4</a:t>
                      </a:r>
                    </a:p>
                  </a:txBody>
                  <a:tcPr marL="90000" marR="90000" marT="46800" marB="4680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7"/>
                  </a:ext>
                </a:extLst>
              </a:tr>
            </a:tbl>
          </a:graphicData>
        </a:graphic>
      </p:graphicFrame>
      <p:sp>
        <p:nvSpPr>
          <p:cNvPr id="8" name="Text Box 502"/>
          <p:cNvSpPr txBox="1">
            <a:spLocks noChangeArrowheads="1"/>
          </p:cNvSpPr>
          <p:nvPr/>
        </p:nvSpPr>
        <p:spPr bwMode="auto">
          <a:xfrm>
            <a:off x="198938" y="3786381"/>
            <a:ext cx="1154112" cy="4333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lgn="ctr">
                <a:solidFill>
                  <a:srgbClr val="000000"/>
                </a:solidFill>
                <a:miter lim="800000"/>
                <a:headEnd/>
                <a:tailEnd/>
              </a14:hiddenLine>
            </a:ext>
          </a:extLst>
        </p:spPr>
        <p:txBody>
          <a:bodyPr wrap="none" lIns="90000" tIns="46800" rIns="90000" bIns="46800">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200" b="1" dirty="0"/>
              <a:t>Course</a:t>
            </a:r>
          </a:p>
        </p:txBody>
      </p:sp>
      <p:graphicFrame>
        <p:nvGraphicFramePr>
          <p:cNvPr id="9" name="Group 384"/>
          <p:cNvGraphicFramePr>
            <a:graphicFrameLocks/>
          </p:cNvGraphicFramePr>
          <p:nvPr>
            <p:extLst/>
          </p:nvPr>
        </p:nvGraphicFramePr>
        <p:xfrm>
          <a:off x="4877656" y="4440329"/>
          <a:ext cx="3729163" cy="2317236"/>
        </p:xfrm>
        <a:graphic>
          <a:graphicData uri="http://schemas.openxmlformats.org/drawingml/2006/table">
            <a:tbl>
              <a:tblPr/>
              <a:tblGrid>
                <a:gridCol w="1907375">
                  <a:extLst>
                    <a:ext uri="{9D8B030D-6E8A-4147-A177-3AD203B41FA5}">
                      <a16:colId xmlns:a16="http://schemas.microsoft.com/office/drawing/2014/main" xmlns="" val="20000"/>
                    </a:ext>
                  </a:extLst>
                </a:gridCol>
                <a:gridCol w="874213">
                  <a:extLst>
                    <a:ext uri="{9D8B030D-6E8A-4147-A177-3AD203B41FA5}">
                      <a16:colId xmlns:a16="http://schemas.microsoft.com/office/drawing/2014/main" xmlns="" val="20001"/>
                    </a:ext>
                  </a:extLst>
                </a:gridCol>
                <a:gridCol w="947575">
                  <a:extLst>
                    <a:ext uri="{9D8B030D-6E8A-4147-A177-3AD203B41FA5}">
                      <a16:colId xmlns:a16="http://schemas.microsoft.com/office/drawing/2014/main" xmlns="" val="20002"/>
                    </a:ext>
                  </a:extLst>
                </a:gridCol>
              </a:tblGrid>
              <a:tr h="60539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24234">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
        <p:nvSpPr>
          <p:cNvPr id="10" name="Rectangle 185"/>
          <p:cNvSpPr>
            <a:spLocks noChangeArrowheads="1"/>
          </p:cNvSpPr>
          <p:nvPr/>
        </p:nvSpPr>
        <p:spPr bwMode="auto">
          <a:xfrm>
            <a:off x="4610100" y="4073856"/>
            <a:ext cx="1079500" cy="504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90000" tIns="46800" rIns="90000" bIns="46800" anchor="ct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algn="ctr" eaLnBrk="1" hangingPunct="1"/>
            <a:r>
              <a:rPr lang="en-US" altLang="zh-CN" sz="2200" b="1" dirty="0"/>
              <a:t>SC</a:t>
            </a:r>
          </a:p>
        </p:txBody>
      </p:sp>
    </p:spTree>
    <p:extLst>
      <p:ext uri="{BB962C8B-B14F-4D97-AF65-F5344CB8AC3E}">
        <p14:creationId xmlns:p14="http://schemas.microsoft.com/office/powerpoint/2010/main" val="1145952386"/>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Rectangle 2"/>
          <p:cNvSpPr>
            <a:spLocks noGrp="1" noChangeArrowheads="1"/>
          </p:cNvSpPr>
          <p:nvPr>
            <p:ph type="title" idx="4294967295"/>
          </p:nvPr>
        </p:nvSpPr>
        <p:spPr/>
        <p:txBody>
          <a:bodyPr/>
          <a:lstStyle/>
          <a:p>
            <a:pPr eaLnBrk="1" hangingPunct="1"/>
            <a:r>
              <a:rPr lang="en-US" altLang="zh-CN" sz="3600" dirty="0" smtClean="0"/>
              <a:t>(1). </a:t>
            </a:r>
            <a:r>
              <a:rPr lang="zh-CN" altLang="en-US" sz="3600" dirty="0" smtClean="0"/>
              <a:t>带有</a:t>
            </a:r>
            <a:r>
              <a:rPr lang="en-US" altLang="zh-CN" sz="3600" dirty="0" smtClean="0"/>
              <a:t>IN</a:t>
            </a:r>
            <a:r>
              <a:rPr lang="zh-CN" altLang="en-US" sz="3600" dirty="0" smtClean="0"/>
              <a:t>谓词的子查询</a:t>
            </a:r>
          </a:p>
        </p:txBody>
      </p:sp>
      <p:sp>
        <p:nvSpPr>
          <p:cNvPr id="33795" name="Rectangle 3"/>
          <p:cNvSpPr>
            <a:spLocks noGrp="1" noChangeArrowheads="1"/>
          </p:cNvSpPr>
          <p:nvPr>
            <p:ph type="body" idx="4294967295"/>
          </p:nvPr>
        </p:nvSpPr>
        <p:spPr>
          <a:xfrm>
            <a:off x="723900" y="1228436"/>
            <a:ext cx="7886700" cy="4786603"/>
          </a:xfrm>
        </p:spPr>
        <p:txBody>
          <a:bodyPr>
            <a:normAutofit fontScale="77500" lnSpcReduction="20000"/>
          </a:bodyPr>
          <a:lstStyle/>
          <a:p>
            <a:pPr eaLnBrk="1" hangingPunct="1">
              <a:lnSpc>
                <a:spcPct val="14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3.55]  </a:t>
            </a:r>
            <a:r>
              <a:rPr lang="zh-CN" altLang="en-US" sz="2400" dirty="0" smtClean="0"/>
              <a:t>查询与“刘晨”在同一个系学习的学生。</a:t>
            </a:r>
          </a:p>
          <a:p>
            <a:pPr>
              <a:lnSpc>
                <a:spcPct val="140000"/>
              </a:lnSpc>
              <a:buNone/>
            </a:pPr>
            <a:r>
              <a:rPr lang="zh-CN" altLang="en-US" dirty="0" smtClean="0"/>
              <a:t>    </a:t>
            </a:r>
            <a:r>
              <a:rPr lang="en-US" altLang="zh-CN" sz="2400" dirty="0" smtClean="0"/>
              <a:t>SELECT </a:t>
            </a:r>
            <a:r>
              <a:rPr lang="en-US" altLang="zh-CN" sz="2400" dirty="0" err="1"/>
              <a:t>Sno</a:t>
            </a:r>
            <a:r>
              <a:rPr lang="zh-CN" altLang="en-US" sz="2400" dirty="0"/>
              <a:t>, </a:t>
            </a:r>
            <a:r>
              <a:rPr lang="en-US" altLang="zh-CN" sz="2400" dirty="0" err="1"/>
              <a:t>Sname</a:t>
            </a:r>
            <a:r>
              <a:rPr lang="zh-CN" altLang="en-US" sz="2400" dirty="0"/>
              <a:t>, </a:t>
            </a:r>
            <a:r>
              <a:rPr lang="en-US" altLang="zh-CN" sz="2400" dirty="0" err="1"/>
              <a:t>Sdept</a:t>
            </a:r>
            <a:endParaRPr lang="en-US" altLang="zh-CN" sz="2400" dirty="0"/>
          </a:p>
          <a:p>
            <a:pPr>
              <a:buNone/>
            </a:pPr>
            <a:r>
              <a:rPr lang="en-US" altLang="zh-CN" sz="2400" dirty="0"/>
              <a:t>    	FROM Student</a:t>
            </a:r>
          </a:p>
          <a:p>
            <a:pPr>
              <a:buNone/>
            </a:pPr>
            <a:r>
              <a:rPr lang="en-US" altLang="zh-CN" sz="2400" dirty="0"/>
              <a:t>   	WHERE </a:t>
            </a:r>
            <a:r>
              <a:rPr lang="en-US" altLang="zh-CN" sz="2400" dirty="0" err="1"/>
              <a:t>Sdept</a:t>
            </a:r>
            <a:r>
              <a:rPr lang="en-US" altLang="zh-CN" sz="2400" dirty="0"/>
              <a:t>  </a:t>
            </a:r>
            <a:r>
              <a:rPr lang="en-US" altLang="zh-CN" sz="2400" dirty="0">
                <a:solidFill>
                  <a:srgbClr val="FF00FF"/>
                </a:solidFill>
              </a:rPr>
              <a:t>IN</a:t>
            </a:r>
          </a:p>
          <a:p>
            <a:pPr>
              <a:buNone/>
            </a:pPr>
            <a:r>
              <a:rPr lang="en-US" altLang="zh-CN" sz="2400" dirty="0"/>
              <a:t>                  </a:t>
            </a:r>
            <a:r>
              <a:rPr lang="zh-CN" altLang="en-US" sz="2400" dirty="0"/>
              <a:t>(</a:t>
            </a:r>
            <a:r>
              <a:rPr lang="en-US" altLang="zh-CN" sz="2400" dirty="0"/>
              <a:t>SELECT </a:t>
            </a:r>
            <a:r>
              <a:rPr lang="en-US" altLang="zh-CN" sz="2400" dirty="0" err="1"/>
              <a:t>Sdept</a:t>
            </a:r>
            <a:endParaRPr lang="en-US" altLang="zh-CN" sz="2400" dirty="0"/>
          </a:p>
          <a:p>
            <a:pPr>
              <a:buNone/>
            </a:pPr>
            <a:r>
              <a:rPr lang="en-US" altLang="zh-CN" sz="2400" dirty="0"/>
              <a:t>                   FROM Student</a:t>
            </a:r>
          </a:p>
          <a:p>
            <a:pPr>
              <a:buNone/>
            </a:pPr>
            <a:r>
              <a:rPr lang="en-US" altLang="zh-CN" sz="2400" dirty="0"/>
              <a:t>                   WHERE </a:t>
            </a:r>
            <a:r>
              <a:rPr lang="en-US" altLang="zh-CN" sz="2400" dirty="0" err="1"/>
              <a:t>Sname</a:t>
            </a:r>
            <a:r>
              <a:rPr lang="en-US" altLang="zh-CN" sz="2400" dirty="0"/>
              <a:t>= </a:t>
            </a:r>
            <a:r>
              <a:rPr lang="zh-CN" altLang="en-US" sz="2400" dirty="0"/>
              <a:t>'</a:t>
            </a:r>
            <a:r>
              <a:rPr lang="en-US" altLang="zh-CN" sz="2400" dirty="0"/>
              <a:t> </a:t>
            </a:r>
            <a:r>
              <a:rPr lang="zh-CN" altLang="en-US" sz="2400" dirty="0"/>
              <a:t>刘晨 ');</a:t>
            </a:r>
          </a:p>
          <a:p>
            <a:pPr>
              <a:lnSpc>
                <a:spcPct val="140000"/>
              </a:lnSpc>
              <a:buNone/>
            </a:pPr>
            <a:r>
              <a:rPr lang="zh-CN" altLang="en-US" sz="2400" dirty="0"/>
              <a:t> </a:t>
            </a:r>
            <a:r>
              <a:rPr lang="zh-CN" altLang="en-US" dirty="0">
                <a:solidFill>
                  <a:srgbClr val="FF0000"/>
                </a:solidFill>
              </a:rPr>
              <a:t>此查询为不相关子查询。</a:t>
            </a:r>
            <a:endParaRPr lang="en-US" altLang="zh-CN" dirty="0">
              <a:solidFill>
                <a:srgbClr val="FF0000"/>
              </a:solidFill>
            </a:endParaRPr>
          </a:p>
          <a:p>
            <a:pPr>
              <a:lnSpc>
                <a:spcPct val="110000"/>
              </a:lnSpc>
              <a:buNone/>
            </a:pPr>
            <a:r>
              <a:rPr lang="zh-CN" altLang="en-US" dirty="0"/>
              <a:t>子查询的查询条件不依赖于父查询</a:t>
            </a:r>
          </a:p>
          <a:p>
            <a:pPr lvl="1">
              <a:lnSpc>
                <a:spcPct val="150000"/>
              </a:lnSpc>
            </a:pPr>
            <a:r>
              <a:rPr lang="zh-CN" altLang="en-US" sz="2800" dirty="0"/>
              <a:t>由里向</a:t>
            </a:r>
            <a:r>
              <a:rPr lang="zh-CN" altLang="en-US" sz="2800" dirty="0" smtClean="0"/>
              <a:t>外逐</a:t>
            </a:r>
            <a:r>
              <a:rPr lang="zh-CN" altLang="en-US" sz="2800" dirty="0"/>
              <a:t>层处理。即每个子查询在上一级查询处理之前求解，子查询的结果用于建立其父查询的查找条件。</a:t>
            </a:r>
          </a:p>
        </p:txBody>
      </p:sp>
    </p:spTree>
    <p:extLst>
      <p:ext uri="{BB962C8B-B14F-4D97-AF65-F5344CB8AC3E}">
        <p14:creationId xmlns:p14="http://schemas.microsoft.com/office/powerpoint/2010/main" val="35631888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3795">
                                            <p:txEl>
                                              <p:pRg st="1" end="1"/>
                                            </p:txEl>
                                          </p:spTgt>
                                        </p:tgtEl>
                                        <p:attrNameLst>
                                          <p:attrName>style.visibility</p:attrName>
                                        </p:attrNameLst>
                                      </p:cBhvr>
                                      <p:to>
                                        <p:strVal val="visible"/>
                                      </p:to>
                                    </p:set>
                                    <p:anim calcmode="lin" valueType="num">
                                      <p:cBhvr additive="base">
                                        <p:cTn id="7" dur="500" fill="hold"/>
                                        <p:tgtEl>
                                          <p:spTgt spid="3379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379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3795">
                                            <p:txEl>
                                              <p:pRg st="2" end="2"/>
                                            </p:txEl>
                                          </p:spTgt>
                                        </p:tgtEl>
                                        <p:attrNameLst>
                                          <p:attrName>style.visibility</p:attrName>
                                        </p:attrNameLst>
                                      </p:cBhvr>
                                      <p:to>
                                        <p:strVal val="visible"/>
                                      </p:to>
                                    </p:set>
                                    <p:anim calcmode="lin" valueType="num">
                                      <p:cBhvr additive="base">
                                        <p:cTn id="11" dur="500" fill="hold"/>
                                        <p:tgtEl>
                                          <p:spTgt spid="3379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379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3795">
                                            <p:txEl>
                                              <p:pRg st="3" end="3"/>
                                            </p:txEl>
                                          </p:spTgt>
                                        </p:tgtEl>
                                        <p:attrNameLst>
                                          <p:attrName>style.visibility</p:attrName>
                                        </p:attrNameLst>
                                      </p:cBhvr>
                                      <p:to>
                                        <p:strVal val="visible"/>
                                      </p:to>
                                    </p:set>
                                    <p:anim calcmode="lin" valueType="num">
                                      <p:cBhvr additive="base">
                                        <p:cTn id="15" dur="500" fill="hold"/>
                                        <p:tgtEl>
                                          <p:spTgt spid="3379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379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3795">
                                            <p:txEl>
                                              <p:pRg st="4" end="4"/>
                                            </p:txEl>
                                          </p:spTgt>
                                        </p:tgtEl>
                                        <p:attrNameLst>
                                          <p:attrName>style.visibility</p:attrName>
                                        </p:attrNameLst>
                                      </p:cBhvr>
                                      <p:to>
                                        <p:strVal val="visible"/>
                                      </p:to>
                                    </p:set>
                                    <p:anim calcmode="lin" valueType="num">
                                      <p:cBhvr additive="base">
                                        <p:cTn id="19" dur="500" fill="hold"/>
                                        <p:tgtEl>
                                          <p:spTgt spid="3379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379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3795">
                                            <p:txEl>
                                              <p:pRg st="5" end="5"/>
                                            </p:txEl>
                                          </p:spTgt>
                                        </p:tgtEl>
                                        <p:attrNameLst>
                                          <p:attrName>style.visibility</p:attrName>
                                        </p:attrNameLst>
                                      </p:cBhvr>
                                      <p:to>
                                        <p:strVal val="visible"/>
                                      </p:to>
                                    </p:set>
                                    <p:anim calcmode="lin" valueType="num">
                                      <p:cBhvr additive="base">
                                        <p:cTn id="23" dur="500" fill="hold"/>
                                        <p:tgtEl>
                                          <p:spTgt spid="3379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379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3795">
                                            <p:txEl>
                                              <p:pRg st="6" end="6"/>
                                            </p:txEl>
                                          </p:spTgt>
                                        </p:tgtEl>
                                        <p:attrNameLst>
                                          <p:attrName>style.visibility</p:attrName>
                                        </p:attrNameLst>
                                      </p:cBhvr>
                                      <p:to>
                                        <p:strVal val="visible"/>
                                      </p:to>
                                    </p:set>
                                    <p:anim calcmode="lin" valueType="num">
                                      <p:cBhvr additive="base">
                                        <p:cTn id="27" dur="500" fill="hold"/>
                                        <p:tgtEl>
                                          <p:spTgt spid="3379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3795">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9" fill="hold">
                      <p:stCondLst>
                        <p:cond delay="indefinite"/>
                      </p:stCondLst>
                      <p:childTnLst>
                        <p:par>
                          <p:cTn id="30" fill="hold">
                            <p:stCondLst>
                              <p:cond delay="0"/>
                            </p:stCondLst>
                            <p:childTnLst>
                              <p:par>
                                <p:cTn id="31" presetID="2" presetClass="entr" presetSubtype="4" fill="hold" nodeType="clickEffect">
                                  <p:stCondLst>
                                    <p:cond delay="0"/>
                                  </p:stCondLst>
                                  <p:childTnLst>
                                    <p:set>
                                      <p:cBhvr>
                                        <p:cTn id="32" dur="1" fill="hold">
                                          <p:stCondLst>
                                            <p:cond delay="0"/>
                                          </p:stCondLst>
                                        </p:cTn>
                                        <p:tgtEl>
                                          <p:spTgt spid="33795">
                                            <p:txEl>
                                              <p:pRg st="7" end="7"/>
                                            </p:txEl>
                                          </p:spTgt>
                                        </p:tgtEl>
                                        <p:attrNameLst>
                                          <p:attrName>style.visibility</p:attrName>
                                        </p:attrNameLst>
                                      </p:cBhvr>
                                      <p:to>
                                        <p:strVal val="visible"/>
                                      </p:to>
                                    </p:set>
                                    <p:anim calcmode="lin" valueType="num">
                                      <p:cBhvr additive="base">
                                        <p:cTn id="33" dur="500" fill="hold"/>
                                        <p:tgtEl>
                                          <p:spTgt spid="33795">
                                            <p:txEl>
                                              <p:pRg st="7" end="7"/>
                                            </p:txEl>
                                          </p:spTgt>
                                        </p:tgtEl>
                                        <p:attrNameLst>
                                          <p:attrName>ppt_x</p:attrName>
                                        </p:attrNameLst>
                                      </p:cBhvr>
                                      <p:tavLst>
                                        <p:tav tm="0">
                                          <p:val>
                                            <p:strVal val="#ppt_x"/>
                                          </p:val>
                                        </p:tav>
                                        <p:tav tm="100000">
                                          <p:val>
                                            <p:strVal val="#ppt_x"/>
                                          </p:val>
                                        </p:tav>
                                      </p:tavLst>
                                    </p:anim>
                                    <p:anim calcmode="lin" valueType="num">
                                      <p:cBhvr additive="base">
                                        <p:cTn id="34" dur="500" fill="hold"/>
                                        <p:tgtEl>
                                          <p:spTgt spid="33795">
                                            <p:txEl>
                                              <p:pRg st="7" end="7"/>
                                            </p:txEl>
                                          </p:spTgt>
                                        </p:tgtEl>
                                        <p:attrNameLst>
                                          <p:attrName>ppt_y</p:attrName>
                                        </p:attrNameLst>
                                      </p:cBhvr>
                                      <p:tavLst>
                                        <p:tav tm="0">
                                          <p:val>
                                            <p:strVal val="1+#ppt_h/2"/>
                                          </p:val>
                                        </p:tav>
                                        <p:tav tm="100000">
                                          <p:val>
                                            <p:strVal val="#ppt_y"/>
                                          </p:val>
                                        </p:tav>
                                      </p:tavLst>
                                    </p:anim>
                                  </p:childTnLst>
                                </p:cTn>
                              </p:par>
                              <p:par>
                                <p:cTn id="35" presetID="2" presetClass="entr" presetSubtype="4" fill="hold" nodeType="withEffect">
                                  <p:stCondLst>
                                    <p:cond delay="0"/>
                                  </p:stCondLst>
                                  <p:childTnLst>
                                    <p:set>
                                      <p:cBhvr>
                                        <p:cTn id="36" dur="1" fill="hold">
                                          <p:stCondLst>
                                            <p:cond delay="0"/>
                                          </p:stCondLst>
                                        </p:cTn>
                                        <p:tgtEl>
                                          <p:spTgt spid="33795">
                                            <p:txEl>
                                              <p:pRg st="8" end="8"/>
                                            </p:txEl>
                                          </p:spTgt>
                                        </p:tgtEl>
                                        <p:attrNameLst>
                                          <p:attrName>style.visibility</p:attrName>
                                        </p:attrNameLst>
                                      </p:cBhvr>
                                      <p:to>
                                        <p:strVal val="visible"/>
                                      </p:to>
                                    </p:set>
                                    <p:anim calcmode="lin" valueType="num">
                                      <p:cBhvr additive="base">
                                        <p:cTn id="37" dur="500" fill="hold"/>
                                        <p:tgtEl>
                                          <p:spTgt spid="33795">
                                            <p:txEl>
                                              <p:pRg st="8" end="8"/>
                                            </p:txEl>
                                          </p:spTgt>
                                        </p:tgtEl>
                                        <p:attrNameLst>
                                          <p:attrName>ppt_x</p:attrName>
                                        </p:attrNameLst>
                                      </p:cBhvr>
                                      <p:tavLst>
                                        <p:tav tm="0">
                                          <p:val>
                                            <p:strVal val="#ppt_x"/>
                                          </p:val>
                                        </p:tav>
                                        <p:tav tm="100000">
                                          <p:val>
                                            <p:strVal val="#ppt_x"/>
                                          </p:val>
                                        </p:tav>
                                      </p:tavLst>
                                    </p:anim>
                                    <p:anim calcmode="lin" valueType="num">
                                      <p:cBhvr additive="base">
                                        <p:cTn id="38" dur="500" fill="hold"/>
                                        <p:tgtEl>
                                          <p:spTgt spid="33795">
                                            <p:txEl>
                                              <p:pRg st="8" end="8"/>
                                            </p:txEl>
                                          </p:spTgt>
                                        </p:tgtEl>
                                        <p:attrNameLst>
                                          <p:attrName>ppt_y</p:attrName>
                                        </p:attrNameLst>
                                      </p:cBhvr>
                                      <p:tavLst>
                                        <p:tav tm="0">
                                          <p:val>
                                            <p:strVal val="1+#ppt_h/2"/>
                                          </p:val>
                                        </p:tav>
                                        <p:tav tm="100000">
                                          <p:val>
                                            <p:strVal val="#ppt_y"/>
                                          </p:val>
                                        </p:tav>
                                      </p:tavLst>
                                    </p:anim>
                                  </p:childTnLst>
                                </p:cTn>
                              </p:par>
                              <p:par>
                                <p:cTn id="39" presetID="2" presetClass="entr" presetSubtype="4" fill="hold" nodeType="withEffect">
                                  <p:stCondLst>
                                    <p:cond delay="0"/>
                                  </p:stCondLst>
                                  <p:childTnLst>
                                    <p:set>
                                      <p:cBhvr>
                                        <p:cTn id="40" dur="1" fill="hold">
                                          <p:stCondLst>
                                            <p:cond delay="0"/>
                                          </p:stCondLst>
                                        </p:cTn>
                                        <p:tgtEl>
                                          <p:spTgt spid="33795">
                                            <p:txEl>
                                              <p:pRg st="9" end="9"/>
                                            </p:txEl>
                                          </p:spTgt>
                                        </p:tgtEl>
                                        <p:attrNameLst>
                                          <p:attrName>style.visibility</p:attrName>
                                        </p:attrNameLst>
                                      </p:cBhvr>
                                      <p:to>
                                        <p:strVal val="visible"/>
                                      </p:to>
                                    </p:set>
                                    <p:anim calcmode="lin" valueType="num">
                                      <p:cBhvr additive="base">
                                        <p:cTn id="41" dur="500" fill="hold"/>
                                        <p:tgtEl>
                                          <p:spTgt spid="33795">
                                            <p:txEl>
                                              <p:pRg st="9" end="9"/>
                                            </p:txEl>
                                          </p:spTgt>
                                        </p:tgtEl>
                                        <p:attrNameLst>
                                          <p:attrName>ppt_x</p:attrName>
                                        </p:attrNameLst>
                                      </p:cBhvr>
                                      <p:tavLst>
                                        <p:tav tm="0">
                                          <p:val>
                                            <p:strVal val="#ppt_x"/>
                                          </p:val>
                                        </p:tav>
                                        <p:tav tm="100000">
                                          <p:val>
                                            <p:strVal val="#ppt_x"/>
                                          </p:val>
                                        </p:tav>
                                      </p:tavLst>
                                    </p:anim>
                                    <p:anim calcmode="lin" valueType="num">
                                      <p:cBhvr additive="base">
                                        <p:cTn id="42" dur="500" fill="hold"/>
                                        <p:tgtEl>
                                          <p:spTgt spid="33795">
                                            <p:txEl>
                                              <p:pRg st="9" end="9"/>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IN</a:t>
            </a:r>
            <a:r>
              <a:rPr lang="zh-CN" altLang="en-US" sz="3600" smtClean="0"/>
              <a:t>谓词的子查询（续）</a:t>
            </a:r>
          </a:p>
        </p:txBody>
      </p:sp>
      <p:sp>
        <p:nvSpPr>
          <p:cNvPr id="37891" name="Rectangle 3"/>
          <p:cNvSpPr>
            <a:spLocks noGrp="1" noChangeArrowheads="1"/>
          </p:cNvSpPr>
          <p:nvPr>
            <p:ph type="body" idx="4294967295"/>
          </p:nvPr>
        </p:nvSpPr>
        <p:spPr>
          <a:xfrm>
            <a:off x="458788" y="1412875"/>
            <a:ext cx="8577262" cy="4267200"/>
          </a:xfrm>
        </p:spPr>
        <p:txBody>
          <a:bodyPr>
            <a:normAutofit fontScale="92500" lnSpcReduction="10000"/>
          </a:bodyPr>
          <a:lstStyle/>
          <a:p>
            <a:pPr eaLnBrk="1" hangingPunct="1">
              <a:lnSpc>
                <a:spcPct val="80000"/>
              </a:lnSpc>
              <a:buFont typeface="Wingdings" panose="05000000000000000000" pitchFamily="2" charset="2"/>
              <a:buNone/>
            </a:pPr>
            <a:r>
              <a:rPr lang="en-US" altLang="zh-CN" sz="2400" dirty="0" smtClean="0"/>
              <a:t>[</a:t>
            </a:r>
            <a:r>
              <a:rPr lang="zh-CN" altLang="en-US" sz="2400" dirty="0" smtClean="0"/>
              <a:t>例 </a:t>
            </a:r>
            <a:r>
              <a:rPr lang="en-US" altLang="zh-CN" sz="2400" dirty="0" smtClean="0"/>
              <a:t>3.56]</a:t>
            </a:r>
            <a:r>
              <a:rPr lang="zh-CN" altLang="en-US" sz="2400" dirty="0" smtClean="0"/>
              <a:t>查询选修了课程名为“信息系统”的学生学号和姓名</a:t>
            </a:r>
          </a:p>
          <a:p>
            <a:pPr eaLnBrk="1" hangingPunct="1">
              <a:lnSpc>
                <a:spcPct val="80000"/>
              </a:lnSpc>
              <a:buFont typeface="Wingdings" panose="05000000000000000000" pitchFamily="2" charset="2"/>
              <a:buNone/>
            </a:pPr>
            <a:r>
              <a:rPr lang="zh-CN" altLang="en-US" sz="2400" dirty="0" smtClean="0"/>
              <a:t> 	</a:t>
            </a:r>
            <a:r>
              <a:rPr lang="en-US" altLang="zh-CN" sz="2200" dirty="0" smtClean="0"/>
              <a:t>SELECT </a:t>
            </a:r>
            <a:r>
              <a:rPr lang="en-US" altLang="zh-CN" sz="2200" dirty="0" err="1" smtClean="0"/>
              <a:t>Sno</a:t>
            </a:r>
            <a:r>
              <a:rPr lang="zh-CN" altLang="en-US" sz="2200" dirty="0" smtClean="0"/>
              <a:t>,</a:t>
            </a:r>
            <a:r>
              <a:rPr lang="en-US" altLang="zh-CN" sz="2200" dirty="0" err="1" smtClean="0"/>
              <a:t>Sname</a:t>
            </a:r>
            <a:r>
              <a:rPr lang="en-US" altLang="zh-CN" sz="2200" dirty="0" smtClean="0"/>
              <a:t>              </a:t>
            </a:r>
            <a:r>
              <a:rPr lang="zh-CN" altLang="en-US" sz="2200" dirty="0" smtClean="0"/>
              <a:t>   </a:t>
            </a:r>
            <a:r>
              <a:rPr lang="en-US" altLang="zh-CN" sz="2200" dirty="0" smtClean="0">
                <a:solidFill>
                  <a:srgbClr val="FF3399"/>
                </a:solidFill>
              </a:rPr>
              <a:t>③ </a:t>
            </a:r>
            <a:r>
              <a:rPr lang="zh-CN" altLang="en-US" sz="2200" dirty="0" smtClean="0">
                <a:solidFill>
                  <a:srgbClr val="FF3399"/>
                </a:solidFill>
              </a:rPr>
              <a:t>最后在</a:t>
            </a:r>
            <a:r>
              <a:rPr lang="en-US" altLang="zh-CN" sz="2200" dirty="0" smtClean="0">
                <a:solidFill>
                  <a:srgbClr val="FF3399"/>
                </a:solidFill>
              </a:rPr>
              <a:t>Student</a:t>
            </a:r>
            <a:r>
              <a:rPr lang="zh-CN" altLang="en-US" sz="2200" dirty="0" smtClean="0">
                <a:solidFill>
                  <a:srgbClr val="FF3399"/>
                </a:solidFill>
              </a:rPr>
              <a:t>关系中</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FROM    Student                         </a:t>
            </a:r>
            <a:r>
              <a:rPr lang="zh-CN" altLang="en-US" sz="2200" dirty="0" smtClean="0"/>
              <a:t> </a:t>
            </a:r>
            <a:r>
              <a:rPr lang="zh-CN" altLang="en-US" sz="2200" dirty="0" smtClean="0">
                <a:solidFill>
                  <a:srgbClr val="FF3399"/>
                </a:solidFill>
              </a:rPr>
              <a:t>取出</a:t>
            </a:r>
            <a:r>
              <a:rPr lang="en-US" altLang="zh-CN" sz="2200" dirty="0" err="1" smtClean="0">
                <a:solidFill>
                  <a:srgbClr val="FF3399"/>
                </a:solidFill>
              </a:rPr>
              <a:t>Sno</a:t>
            </a:r>
            <a:r>
              <a:rPr lang="zh-CN" altLang="en-US" sz="2200" dirty="0" smtClean="0">
                <a:solidFill>
                  <a:srgbClr val="FF3399"/>
                </a:solidFill>
              </a:rPr>
              <a:t>和</a:t>
            </a:r>
            <a:r>
              <a:rPr lang="en-US" altLang="zh-CN" sz="2200" dirty="0" err="1" smtClean="0">
                <a:solidFill>
                  <a:srgbClr val="FF3399"/>
                </a:solidFill>
              </a:rPr>
              <a:t>Sname</a:t>
            </a:r>
            <a:endParaRPr lang="en-US" altLang="zh-CN" sz="2200" dirty="0" smtClean="0"/>
          </a:p>
          <a:p>
            <a:pPr eaLnBrk="1" hangingPunct="1">
              <a:lnSpc>
                <a:spcPct val="80000"/>
              </a:lnSpc>
              <a:buFont typeface="Wingdings" panose="05000000000000000000" pitchFamily="2" charset="2"/>
              <a:buNone/>
            </a:pPr>
            <a:r>
              <a:rPr lang="en-US" altLang="zh-CN" sz="2200" dirty="0" smtClean="0"/>
              <a:t> 	WHERE </a:t>
            </a:r>
            <a:r>
              <a:rPr lang="en-US" altLang="zh-CN" sz="2200" dirty="0" err="1" smtClean="0"/>
              <a:t>Sno</a:t>
            </a:r>
            <a:r>
              <a:rPr lang="en-US" altLang="zh-CN" sz="2200" dirty="0" smtClean="0"/>
              <a:t>  IN</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SELECT </a:t>
            </a:r>
            <a:r>
              <a:rPr lang="en-US" altLang="zh-CN" sz="2200" dirty="0" err="1" smtClean="0"/>
              <a:t>Sno</a:t>
            </a:r>
            <a:r>
              <a:rPr lang="en-US" altLang="zh-CN" sz="2200" dirty="0" smtClean="0"/>
              <a:t>                     </a:t>
            </a:r>
            <a:r>
              <a:rPr lang="en-US" altLang="zh-CN" sz="2200" dirty="0" smtClean="0">
                <a:solidFill>
                  <a:srgbClr val="FF3399"/>
                </a:solidFill>
              </a:rPr>
              <a:t>② </a:t>
            </a:r>
            <a:r>
              <a:rPr lang="zh-CN" altLang="en-US" sz="2200" dirty="0" smtClean="0">
                <a:solidFill>
                  <a:srgbClr val="FF3399"/>
                </a:solidFill>
              </a:rPr>
              <a:t>然后在</a:t>
            </a:r>
            <a:r>
              <a:rPr lang="en-US" altLang="zh-CN" sz="2200" dirty="0" smtClean="0">
                <a:solidFill>
                  <a:srgbClr val="FF3399"/>
                </a:solidFill>
              </a:rPr>
              <a:t>SC</a:t>
            </a:r>
            <a:r>
              <a:rPr lang="zh-CN" altLang="en-US" sz="2200" dirty="0" smtClean="0">
                <a:solidFill>
                  <a:srgbClr val="FF3399"/>
                </a:solidFill>
              </a:rPr>
              <a:t>关系中找出选</a:t>
            </a:r>
          </a:p>
          <a:p>
            <a:pPr eaLnBrk="1" hangingPunct="1">
              <a:lnSpc>
                <a:spcPct val="80000"/>
              </a:lnSpc>
              <a:buFont typeface="Wingdings" panose="05000000000000000000" pitchFamily="2" charset="2"/>
              <a:buNone/>
            </a:pPr>
            <a:r>
              <a:rPr lang="zh-CN" altLang="en-US" sz="2200" dirty="0" smtClean="0"/>
              <a:t>              </a:t>
            </a:r>
            <a:r>
              <a:rPr lang="en-US" altLang="zh-CN" sz="2200" dirty="0" smtClean="0"/>
              <a:t>FROM    SC                         </a:t>
            </a:r>
            <a:r>
              <a:rPr lang="zh-CN" altLang="en-US" sz="2200" dirty="0" smtClean="0">
                <a:solidFill>
                  <a:srgbClr val="FF3399"/>
                </a:solidFill>
              </a:rPr>
              <a:t>修了</a:t>
            </a:r>
            <a:r>
              <a:rPr lang="en-US" altLang="zh-CN" sz="2200" dirty="0" smtClean="0">
                <a:solidFill>
                  <a:srgbClr val="FF3399"/>
                </a:solidFill>
              </a:rPr>
              <a:t>3</a:t>
            </a:r>
            <a:r>
              <a:rPr lang="zh-CN" altLang="en-US" sz="2200" dirty="0" smtClean="0">
                <a:solidFill>
                  <a:srgbClr val="FF3399"/>
                </a:solidFill>
              </a:rPr>
              <a:t>号课程的学生学号</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WHERE  </a:t>
            </a:r>
            <a:r>
              <a:rPr lang="en-US" altLang="zh-CN" sz="2200" dirty="0" err="1" smtClean="0"/>
              <a:t>Cno</a:t>
            </a:r>
            <a:r>
              <a:rPr lang="en-US" altLang="zh-CN" sz="2200" dirty="0" smtClean="0"/>
              <a:t> IN</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SELECT </a:t>
            </a:r>
            <a:r>
              <a:rPr lang="en-US" altLang="zh-CN" sz="2200" dirty="0" err="1" smtClean="0"/>
              <a:t>Cno</a:t>
            </a:r>
            <a:r>
              <a:rPr lang="en-US" altLang="zh-CN" sz="2200" dirty="0" smtClean="0"/>
              <a:t>             </a:t>
            </a:r>
            <a:r>
              <a:rPr lang="en-US" altLang="zh-CN" sz="2200" dirty="0" smtClean="0">
                <a:solidFill>
                  <a:srgbClr val="FF3399"/>
                </a:solidFill>
              </a:rPr>
              <a:t>① </a:t>
            </a:r>
            <a:r>
              <a:rPr lang="zh-CN" altLang="en-US" sz="2200" dirty="0" smtClean="0">
                <a:solidFill>
                  <a:srgbClr val="FF3399"/>
                </a:solidFill>
              </a:rPr>
              <a:t>首先在</a:t>
            </a:r>
            <a:r>
              <a:rPr lang="en-US" altLang="zh-CN" sz="2200" dirty="0" smtClean="0">
                <a:solidFill>
                  <a:srgbClr val="FF3399"/>
                </a:solidFill>
              </a:rPr>
              <a:t>Course</a:t>
            </a:r>
            <a:r>
              <a:rPr lang="zh-CN" altLang="en-US" sz="2200" dirty="0" smtClean="0">
                <a:solidFill>
                  <a:srgbClr val="FF3399"/>
                </a:solidFill>
              </a:rPr>
              <a:t>关系中找出</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FROM Course           </a:t>
            </a:r>
            <a:r>
              <a:rPr lang="en-US" altLang="zh-CN" sz="2200" dirty="0" smtClean="0">
                <a:solidFill>
                  <a:srgbClr val="FF3399"/>
                </a:solidFill>
              </a:rPr>
              <a:t>“</a:t>
            </a:r>
            <a:r>
              <a:rPr lang="zh-CN" altLang="en-US" sz="2200" dirty="0" smtClean="0">
                <a:solidFill>
                  <a:srgbClr val="FF3399"/>
                </a:solidFill>
              </a:rPr>
              <a:t>信息系统”的课程号，为</a:t>
            </a:r>
            <a:r>
              <a:rPr lang="en-US" altLang="zh-CN" sz="2200" dirty="0" smtClean="0">
                <a:solidFill>
                  <a:srgbClr val="FF3399"/>
                </a:solidFill>
              </a:rPr>
              <a:t>3</a:t>
            </a:r>
            <a:r>
              <a:rPr lang="zh-CN" altLang="en-US" sz="2200" dirty="0" smtClean="0">
                <a:solidFill>
                  <a:srgbClr val="FF3399"/>
                </a:solidFill>
              </a:rPr>
              <a:t>号</a:t>
            </a:r>
            <a:endParaRPr lang="zh-CN" altLang="en-US" sz="2200" dirty="0" smtClean="0"/>
          </a:p>
          <a:p>
            <a:pPr eaLnBrk="1" hangingPunct="1">
              <a:lnSpc>
                <a:spcPct val="80000"/>
              </a:lnSpc>
              <a:buFont typeface="Wingdings" panose="05000000000000000000" pitchFamily="2" charset="2"/>
              <a:buNone/>
            </a:pPr>
            <a:r>
              <a:rPr lang="zh-CN" altLang="en-US" sz="2200" dirty="0" smtClean="0"/>
              <a:t>                       </a:t>
            </a:r>
            <a:r>
              <a:rPr lang="en-US" altLang="zh-CN" sz="2200" dirty="0" smtClean="0"/>
              <a:t>WHERE </a:t>
            </a:r>
            <a:r>
              <a:rPr lang="en-US" altLang="zh-CN" sz="2200" dirty="0" err="1" smtClean="0"/>
              <a:t>Cname</a:t>
            </a:r>
            <a:r>
              <a:rPr lang="en-US" altLang="zh-CN" sz="2200" dirty="0" smtClean="0"/>
              <a:t>= </a:t>
            </a:r>
            <a:r>
              <a:rPr lang="zh-CN" altLang="en-US" sz="2200" dirty="0" smtClean="0"/>
              <a:t>'信息系统'                      </a:t>
            </a:r>
          </a:p>
          <a:p>
            <a:pPr eaLnBrk="1" hangingPunct="1">
              <a:lnSpc>
                <a:spcPct val="80000"/>
              </a:lnSpc>
              <a:buFont typeface="Wingdings" panose="05000000000000000000" pitchFamily="2" charset="2"/>
              <a:buNone/>
            </a:pPr>
            <a:r>
              <a:rPr lang="zh-CN" altLang="en-US" sz="2200" dirty="0" smtClean="0"/>
              <a:t>		          )</a:t>
            </a:r>
          </a:p>
          <a:p>
            <a:pPr eaLnBrk="1" hangingPunct="1">
              <a:lnSpc>
                <a:spcPct val="80000"/>
              </a:lnSpc>
              <a:buFont typeface="Wingdings" panose="05000000000000000000" pitchFamily="2" charset="2"/>
              <a:buNone/>
            </a:pPr>
            <a:r>
              <a:rPr lang="en-US" altLang="zh-CN" sz="2200" dirty="0" smtClean="0"/>
              <a:t>              </a:t>
            </a:r>
            <a:r>
              <a:rPr lang="zh-CN" altLang="en-US" sz="2200" dirty="0" smtClean="0"/>
              <a:t>)</a:t>
            </a:r>
            <a:r>
              <a:rPr lang="en-US" altLang="zh-CN" sz="2200" dirty="0" smtClean="0"/>
              <a:t>;</a:t>
            </a:r>
          </a:p>
        </p:txBody>
      </p:sp>
    </p:spTree>
    <p:extLst>
      <p:ext uri="{BB962C8B-B14F-4D97-AF65-F5344CB8AC3E}">
        <p14:creationId xmlns:p14="http://schemas.microsoft.com/office/powerpoint/2010/main" val="18203285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7891">
                                            <p:txEl>
                                              <p:pRg st="1" end="1"/>
                                            </p:txEl>
                                          </p:spTgt>
                                        </p:tgtEl>
                                        <p:attrNameLst>
                                          <p:attrName>style.visibility</p:attrName>
                                        </p:attrNameLst>
                                      </p:cBhvr>
                                      <p:to>
                                        <p:strVal val="visible"/>
                                      </p:to>
                                    </p:set>
                                    <p:anim calcmode="lin" valueType="num">
                                      <p:cBhvr additive="base">
                                        <p:cTn id="7" dur="500" fill="hold"/>
                                        <p:tgtEl>
                                          <p:spTgt spid="37891">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7891">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7891">
                                            <p:txEl>
                                              <p:pRg st="2" end="2"/>
                                            </p:txEl>
                                          </p:spTgt>
                                        </p:tgtEl>
                                        <p:attrNameLst>
                                          <p:attrName>style.visibility</p:attrName>
                                        </p:attrNameLst>
                                      </p:cBhvr>
                                      <p:to>
                                        <p:strVal val="visible"/>
                                      </p:to>
                                    </p:set>
                                    <p:anim calcmode="lin" valueType="num">
                                      <p:cBhvr additive="base">
                                        <p:cTn id="11" dur="500" fill="hold"/>
                                        <p:tgtEl>
                                          <p:spTgt spid="37891">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7891">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37891">
                                            <p:txEl>
                                              <p:pRg st="3" end="3"/>
                                            </p:txEl>
                                          </p:spTgt>
                                        </p:tgtEl>
                                        <p:attrNameLst>
                                          <p:attrName>style.visibility</p:attrName>
                                        </p:attrNameLst>
                                      </p:cBhvr>
                                      <p:to>
                                        <p:strVal val="visible"/>
                                      </p:to>
                                    </p:set>
                                    <p:anim calcmode="lin" valueType="num">
                                      <p:cBhvr additive="base">
                                        <p:cTn id="15" dur="500" fill="hold"/>
                                        <p:tgtEl>
                                          <p:spTgt spid="37891">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37891">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37891">
                                            <p:txEl>
                                              <p:pRg st="4" end="4"/>
                                            </p:txEl>
                                          </p:spTgt>
                                        </p:tgtEl>
                                        <p:attrNameLst>
                                          <p:attrName>style.visibility</p:attrName>
                                        </p:attrNameLst>
                                      </p:cBhvr>
                                      <p:to>
                                        <p:strVal val="visible"/>
                                      </p:to>
                                    </p:set>
                                    <p:anim calcmode="lin" valueType="num">
                                      <p:cBhvr additive="base">
                                        <p:cTn id="19" dur="500" fill="hold"/>
                                        <p:tgtEl>
                                          <p:spTgt spid="37891">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37891">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37891">
                                            <p:txEl>
                                              <p:pRg st="5" end="5"/>
                                            </p:txEl>
                                          </p:spTgt>
                                        </p:tgtEl>
                                        <p:attrNameLst>
                                          <p:attrName>style.visibility</p:attrName>
                                        </p:attrNameLst>
                                      </p:cBhvr>
                                      <p:to>
                                        <p:strVal val="visible"/>
                                      </p:to>
                                    </p:set>
                                    <p:anim calcmode="lin" valueType="num">
                                      <p:cBhvr additive="base">
                                        <p:cTn id="23" dur="500" fill="hold"/>
                                        <p:tgtEl>
                                          <p:spTgt spid="37891">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37891">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37891">
                                            <p:txEl>
                                              <p:pRg st="6" end="6"/>
                                            </p:txEl>
                                          </p:spTgt>
                                        </p:tgtEl>
                                        <p:attrNameLst>
                                          <p:attrName>style.visibility</p:attrName>
                                        </p:attrNameLst>
                                      </p:cBhvr>
                                      <p:to>
                                        <p:strVal val="visible"/>
                                      </p:to>
                                    </p:set>
                                    <p:anim calcmode="lin" valueType="num">
                                      <p:cBhvr additive="base">
                                        <p:cTn id="27" dur="500" fill="hold"/>
                                        <p:tgtEl>
                                          <p:spTgt spid="37891">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37891">
                                            <p:txEl>
                                              <p:pRg st="6" end="6"/>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37891">
                                            <p:txEl>
                                              <p:pRg st="7" end="7"/>
                                            </p:txEl>
                                          </p:spTgt>
                                        </p:tgtEl>
                                        <p:attrNameLst>
                                          <p:attrName>style.visibility</p:attrName>
                                        </p:attrNameLst>
                                      </p:cBhvr>
                                      <p:to>
                                        <p:strVal val="visible"/>
                                      </p:to>
                                    </p:set>
                                    <p:anim calcmode="lin" valueType="num">
                                      <p:cBhvr additive="base">
                                        <p:cTn id="31" dur="500" fill="hold"/>
                                        <p:tgtEl>
                                          <p:spTgt spid="37891">
                                            <p:txEl>
                                              <p:pRg st="7" end="7"/>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37891">
                                            <p:txEl>
                                              <p:pRg st="7" end="7"/>
                                            </p:txEl>
                                          </p:spTgt>
                                        </p:tgtEl>
                                        <p:attrNameLst>
                                          <p:attrName>ppt_y</p:attrName>
                                        </p:attrNameLst>
                                      </p:cBhvr>
                                      <p:tavLst>
                                        <p:tav tm="0">
                                          <p:val>
                                            <p:strVal val="1+#ppt_h/2"/>
                                          </p:val>
                                        </p:tav>
                                        <p:tav tm="100000">
                                          <p:val>
                                            <p:strVal val="#ppt_y"/>
                                          </p:val>
                                        </p:tav>
                                      </p:tavLst>
                                    </p:anim>
                                  </p:childTnLst>
                                </p:cTn>
                              </p:par>
                              <p:par>
                                <p:cTn id="33" presetID="2" presetClass="entr" presetSubtype="4" fill="hold" nodeType="withEffect">
                                  <p:stCondLst>
                                    <p:cond delay="0"/>
                                  </p:stCondLst>
                                  <p:childTnLst>
                                    <p:set>
                                      <p:cBhvr>
                                        <p:cTn id="34" dur="1" fill="hold">
                                          <p:stCondLst>
                                            <p:cond delay="0"/>
                                          </p:stCondLst>
                                        </p:cTn>
                                        <p:tgtEl>
                                          <p:spTgt spid="37891">
                                            <p:txEl>
                                              <p:pRg st="8" end="8"/>
                                            </p:txEl>
                                          </p:spTgt>
                                        </p:tgtEl>
                                        <p:attrNameLst>
                                          <p:attrName>style.visibility</p:attrName>
                                        </p:attrNameLst>
                                      </p:cBhvr>
                                      <p:to>
                                        <p:strVal val="visible"/>
                                      </p:to>
                                    </p:set>
                                    <p:anim calcmode="lin" valueType="num">
                                      <p:cBhvr additive="base">
                                        <p:cTn id="35" dur="500" fill="hold"/>
                                        <p:tgtEl>
                                          <p:spTgt spid="37891">
                                            <p:txEl>
                                              <p:pRg st="8" end="8"/>
                                            </p:txEl>
                                          </p:spTgt>
                                        </p:tgtEl>
                                        <p:attrNameLst>
                                          <p:attrName>ppt_x</p:attrName>
                                        </p:attrNameLst>
                                      </p:cBhvr>
                                      <p:tavLst>
                                        <p:tav tm="0">
                                          <p:val>
                                            <p:strVal val="#ppt_x"/>
                                          </p:val>
                                        </p:tav>
                                        <p:tav tm="100000">
                                          <p:val>
                                            <p:strVal val="#ppt_x"/>
                                          </p:val>
                                        </p:tav>
                                      </p:tavLst>
                                    </p:anim>
                                    <p:anim calcmode="lin" valueType="num">
                                      <p:cBhvr additive="base">
                                        <p:cTn id="36" dur="500" fill="hold"/>
                                        <p:tgtEl>
                                          <p:spTgt spid="37891">
                                            <p:txEl>
                                              <p:pRg st="8" end="8"/>
                                            </p:txEl>
                                          </p:spTgt>
                                        </p:tgtEl>
                                        <p:attrNameLst>
                                          <p:attrName>ppt_y</p:attrName>
                                        </p:attrNameLst>
                                      </p:cBhvr>
                                      <p:tavLst>
                                        <p:tav tm="0">
                                          <p:val>
                                            <p:strVal val="1+#ppt_h/2"/>
                                          </p:val>
                                        </p:tav>
                                        <p:tav tm="100000">
                                          <p:val>
                                            <p:strVal val="#ppt_y"/>
                                          </p:val>
                                        </p:tav>
                                      </p:tavLst>
                                    </p:anim>
                                  </p:childTnLst>
                                </p:cTn>
                              </p:par>
                              <p:par>
                                <p:cTn id="37" presetID="2" presetClass="entr" presetSubtype="4" fill="hold" nodeType="withEffect">
                                  <p:stCondLst>
                                    <p:cond delay="0"/>
                                  </p:stCondLst>
                                  <p:childTnLst>
                                    <p:set>
                                      <p:cBhvr>
                                        <p:cTn id="38" dur="1" fill="hold">
                                          <p:stCondLst>
                                            <p:cond delay="0"/>
                                          </p:stCondLst>
                                        </p:cTn>
                                        <p:tgtEl>
                                          <p:spTgt spid="37891">
                                            <p:txEl>
                                              <p:pRg st="9" end="9"/>
                                            </p:txEl>
                                          </p:spTgt>
                                        </p:tgtEl>
                                        <p:attrNameLst>
                                          <p:attrName>style.visibility</p:attrName>
                                        </p:attrNameLst>
                                      </p:cBhvr>
                                      <p:to>
                                        <p:strVal val="visible"/>
                                      </p:to>
                                    </p:set>
                                    <p:anim calcmode="lin" valueType="num">
                                      <p:cBhvr additive="base">
                                        <p:cTn id="39" dur="500" fill="hold"/>
                                        <p:tgtEl>
                                          <p:spTgt spid="37891">
                                            <p:txEl>
                                              <p:pRg st="9" end="9"/>
                                            </p:txEl>
                                          </p:spTgt>
                                        </p:tgtEl>
                                        <p:attrNameLst>
                                          <p:attrName>ppt_x</p:attrName>
                                        </p:attrNameLst>
                                      </p:cBhvr>
                                      <p:tavLst>
                                        <p:tav tm="0">
                                          <p:val>
                                            <p:strVal val="#ppt_x"/>
                                          </p:val>
                                        </p:tav>
                                        <p:tav tm="100000">
                                          <p:val>
                                            <p:strVal val="#ppt_x"/>
                                          </p:val>
                                        </p:tav>
                                      </p:tavLst>
                                    </p:anim>
                                    <p:anim calcmode="lin" valueType="num">
                                      <p:cBhvr additive="base">
                                        <p:cTn id="40" dur="500" fill="hold"/>
                                        <p:tgtEl>
                                          <p:spTgt spid="37891">
                                            <p:txEl>
                                              <p:pRg st="9" end="9"/>
                                            </p:txEl>
                                          </p:spTgt>
                                        </p:tgtEl>
                                        <p:attrNameLst>
                                          <p:attrName>ppt_y</p:attrName>
                                        </p:attrNameLst>
                                      </p:cBhvr>
                                      <p:tavLst>
                                        <p:tav tm="0">
                                          <p:val>
                                            <p:strVal val="1+#ppt_h/2"/>
                                          </p:val>
                                        </p:tav>
                                        <p:tav tm="100000">
                                          <p:val>
                                            <p:strVal val="#ppt_y"/>
                                          </p:val>
                                        </p:tav>
                                      </p:tavLst>
                                    </p:anim>
                                  </p:childTnLst>
                                </p:cTn>
                              </p:par>
                              <p:par>
                                <p:cTn id="41" presetID="2" presetClass="entr" presetSubtype="4" fill="hold" nodeType="withEffect">
                                  <p:stCondLst>
                                    <p:cond delay="0"/>
                                  </p:stCondLst>
                                  <p:childTnLst>
                                    <p:set>
                                      <p:cBhvr>
                                        <p:cTn id="42" dur="1" fill="hold">
                                          <p:stCondLst>
                                            <p:cond delay="0"/>
                                          </p:stCondLst>
                                        </p:cTn>
                                        <p:tgtEl>
                                          <p:spTgt spid="37891">
                                            <p:txEl>
                                              <p:pRg st="10" end="10"/>
                                            </p:txEl>
                                          </p:spTgt>
                                        </p:tgtEl>
                                        <p:attrNameLst>
                                          <p:attrName>style.visibility</p:attrName>
                                        </p:attrNameLst>
                                      </p:cBhvr>
                                      <p:to>
                                        <p:strVal val="visible"/>
                                      </p:to>
                                    </p:set>
                                    <p:anim calcmode="lin" valueType="num">
                                      <p:cBhvr additive="base">
                                        <p:cTn id="43" dur="500" fill="hold"/>
                                        <p:tgtEl>
                                          <p:spTgt spid="37891">
                                            <p:txEl>
                                              <p:pRg st="10" end="10"/>
                                            </p:txEl>
                                          </p:spTgt>
                                        </p:tgtEl>
                                        <p:attrNameLst>
                                          <p:attrName>ppt_x</p:attrName>
                                        </p:attrNameLst>
                                      </p:cBhvr>
                                      <p:tavLst>
                                        <p:tav tm="0">
                                          <p:val>
                                            <p:strVal val="#ppt_x"/>
                                          </p:val>
                                        </p:tav>
                                        <p:tav tm="100000">
                                          <p:val>
                                            <p:strVal val="#ppt_x"/>
                                          </p:val>
                                        </p:tav>
                                      </p:tavLst>
                                    </p:anim>
                                    <p:anim calcmode="lin" valueType="num">
                                      <p:cBhvr additive="base">
                                        <p:cTn id="44" dur="500" fill="hold"/>
                                        <p:tgtEl>
                                          <p:spTgt spid="37891">
                                            <p:txEl>
                                              <p:pRg st="10" end="10"/>
                                            </p:txEl>
                                          </p:spTgt>
                                        </p:tgtEl>
                                        <p:attrNameLst>
                                          <p:attrName>ppt_y</p:attrName>
                                        </p:attrNameLst>
                                      </p:cBhvr>
                                      <p:tavLst>
                                        <p:tav tm="0">
                                          <p:val>
                                            <p:strVal val="1+#ppt_h/2"/>
                                          </p:val>
                                        </p:tav>
                                        <p:tav tm="100000">
                                          <p:val>
                                            <p:strVal val="#ppt_y"/>
                                          </p:val>
                                        </p:tav>
                                      </p:tavLst>
                                    </p:anim>
                                  </p:childTnLst>
                                </p:cTn>
                              </p:par>
                              <p:par>
                                <p:cTn id="45" presetID="2" presetClass="entr" presetSubtype="4" fill="hold" nodeType="withEffect">
                                  <p:stCondLst>
                                    <p:cond delay="0"/>
                                  </p:stCondLst>
                                  <p:childTnLst>
                                    <p:set>
                                      <p:cBhvr>
                                        <p:cTn id="46" dur="1" fill="hold">
                                          <p:stCondLst>
                                            <p:cond delay="0"/>
                                          </p:stCondLst>
                                        </p:cTn>
                                        <p:tgtEl>
                                          <p:spTgt spid="37891">
                                            <p:txEl>
                                              <p:pRg st="11" end="11"/>
                                            </p:txEl>
                                          </p:spTgt>
                                        </p:tgtEl>
                                        <p:attrNameLst>
                                          <p:attrName>style.visibility</p:attrName>
                                        </p:attrNameLst>
                                      </p:cBhvr>
                                      <p:to>
                                        <p:strVal val="visible"/>
                                      </p:to>
                                    </p:set>
                                    <p:anim calcmode="lin" valueType="num">
                                      <p:cBhvr additive="base">
                                        <p:cTn id="47" dur="500" fill="hold"/>
                                        <p:tgtEl>
                                          <p:spTgt spid="37891">
                                            <p:txEl>
                                              <p:pRg st="11" end="11"/>
                                            </p:txEl>
                                          </p:spTgt>
                                        </p:tgtEl>
                                        <p:attrNameLst>
                                          <p:attrName>ppt_x</p:attrName>
                                        </p:attrNameLst>
                                      </p:cBhvr>
                                      <p:tavLst>
                                        <p:tav tm="0">
                                          <p:val>
                                            <p:strVal val="#ppt_x"/>
                                          </p:val>
                                        </p:tav>
                                        <p:tav tm="100000">
                                          <p:val>
                                            <p:strVal val="#ppt_x"/>
                                          </p:val>
                                        </p:tav>
                                      </p:tavLst>
                                    </p:anim>
                                    <p:anim calcmode="lin" valueType="num">
                                      <p:cBhvr additive="base">
                                        <p:cTn id="48" dur="500" fill="hold"/>
                                        <p:tgtEl>
                                          <p:spTgt spid="37891">
                                            <p:txEl>
                                              <p:pRg st="11" end="1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IN</a:t>
            </a:r>
            <a:r>
              <a:rPr lang="zh-CN" altLang="en-US" sz="3600" smtClean="0"/>
              <a:t>谓词的子查询（续）</a:t>
            </a:r>
          </a:p>
        </p:txBody>
      </p:sp>
      <p:sp>
        <p:nvSpPr>
          <p:cNvPr id="38915" name="Rectangle 3"/>
          <p:cNvSpPr>
            <a:spLocks noGrp="1" noChangeArrowheads="1"/>
          </p:cNvSpPr>
          <p:nvPr>
            <p:ph type="body" idx="4294967295"/>
          </p:nvPr>
        </p:nvSpPr>
        <p:spPr/>
        <p:txBody>
          <a:bodyPr/>
          <a:lstStyle/>
          <a:p>
            <a:pPr lvl="1">
              <a:buFont typeface="Wingdings" panose="05000000000000000000" pitchFamily="2" charset="2"/>
              <a:buNone/>
            </a:pPr>
            <a:r>
              <a:rPr lang="zh-CN" altLang="en-US" sz="2800" dirty="0" smtClean="0">
                <a:latin typeface="宋体" panose="02010600030101010101" pitchFamily="2" charset="-122"/>
              </a:rPr>
              <a:t>用连接查询实现</a:t>
            </a:r>
            <a:r>
              <a:rPr lang="en-US" altLang="zh-CN" sz="2800" dirty="0" smtClean="0"/>
              <a:t>[</a:t>
            </a:r>
            <a:r>
              <a:rPr lang="zh-CN" altLang="en-US" sz="2800" dirty="0" smtClean="0"/>
              <a:t>例 </a:t>
            </a:r>
            <a:r>
              <a:rPr lang="en-US" altLang="zh-CN" sz="2800" dirty="0" smtClean="0"/>
              <a:t>3.56] </a:t>
            </a:r>
            <a:r>
              <a:rPr lang="zh-CN" altLang="en-US" sz="2800" dirty="0" smtClean="0">
                <a:latin typeface="宋体" panose="02010600030101010101" pitchFamily="2" charset="-122"/>
              </a:rPr>
              <a:t>：</a:t>
            </a:r>
            <a:endParaRPr lang="en-US" altLang="zh-CN" dirty="0" smtClean="0">
              <a:latin typeface="宋体" panose="02010600030101010101" pitchFamily="2" charset="-122"/>
            </a:endParaRPr>
          </a:p>
          <a:p>
            <a:pPr eaLnBrk="1" hangingPunct="1">
              <a:lnSpc>
                <a:spcPct val="130000"/>
              </a:lnSpc>
              <a:buFont typeface="Wingdings" panose="05000000000000000000" pitchFamily="2" charset="2"/>
              <a:buNone/>
            </a:pPr>
            <a:r>
              <a:rPr lang="en-US" altLang="zh-CN" dirty="0" smtClean="0"/>
              <a:t>     </a:t>
            </a:r>
            <a:r>
              <a:rPr lang="en-US" altLang="zh-CN" sz="2400" dirty="0" smtClean="0"/>
              <a:t>SELECT </a:t>
            </a:r>
            <a:r>
              <a:rPr lang="en-US" altLang="zh-CN" sz="2400" dirty="0" err="1" smtClean="0"/>
              <a:t>Sno</a:t>
            </a:r>
            <a:r>
              <a:rPr lang="zh-CN" altLang="en-US" sz="2400" dirty="0" smtClean="0"/>
              <a:t>,</a:t>
            </a:r>
            <a:r>
              <a:rPr lang="en-US" altLang="zh-CN" sz="2400" dirty="0" err="1" smtClean="0"/>
              <a:t>Sname</a:t>
            </a:r>
            <a:endParaRPr lang="en-US" altLang="zh-CN" sz="2400" dirty="0" smtClean="0"/>
          </a:p>
          <a:p>
            <a:pPr eaLnBrk="1" hangingPunct="1">
              <a:lnSpc>
                <a:spcPct val="130000"/>
              </a:lnSpc>
              <a:buFont typeface="Wingdings" panose="05000000000000000000" pitchFamily="2" charset="2"/>
              <a:buNone/>
            </a:pPr>
            <a:r>
              <a:rPr lang="en-US" altLang="zh-CN" sz="2400" dirty="0" smtClean="0"/>
              <a:t>      FROM    Student</a:t>
            </a:r>
            <a:r>
              <a:rPr lang="zh-CN" altLang="en-US" sz="2400" dirty="0" smtClean="0"/>
              <a:t>,</a:t>
            </a:r>
            <a:r>
              <a:rPr lang="en-US" altLang="zh-CN" sz="2400" dirty="0" smtClean="0"/>
              <a:t>SC</a:t>
            </a:r>
            <a:r>
              <a:rPr lang="zh-CN" altLang="en-US" sz="2400" dirty="0" smtClean="0"/>
              <a:t>,</a:t>
            </a:r>
            <a:r>
              <a:rPr lang="en-US" altLang="zh-CN" sz="2400" dirty="0" smtClean="0"/>
              <a:t>Course</a:t>
            </a:r>
          </a:p>
          <a:p>
            <a:pPr eaLnBrk="1" hangingPunct="1">
              <a:lnSpc>
                <a:spcPct val="130000"/>
              </a:lnSpc>
              <a:buFont typeface="Wingdings" panose="05000000000000000000" pitchFamily="2" charset="2"/>
              <a:buNone/>
            </a:pPr>
            <a:r>
              <a:rPr lang="en-US" altLang="zh-CN" sz="2400" dirty="0" smtClean="0"/>
              <a:t>      WHERE </a:t>
            </a:r>
            <a:r>
              <a:rPr lang="en-US" altLang="zh-CN" sz="2400" dirty="0" err="1" smtClean="0"/>
              <a:t>Student.Sno</a:t>
            </a:r>
            <a:r>
              <a:rPr lang="en-US" altLang="zh-CN" sz="2400" dirty="0" smtClean="0"/>
              <a:t> = </a:t>
            </a:r>
            <a:r>
              <a:rPr lang="en-US" altLang="zh-CN" sz="2400" dirty="0" err="1" smtClean="0"/>
              <a:t>SC.Sno</a:t>
            </a:r>
            <a:r>
              <a:rPr lang="en-US" altLang="zh-CN" sz="2400" dirty="0" smtClean="0"/>
              <a:t>  AND</a:t>
            </a:r>
          </a:p>
          <a:p>
            <a:pPr eaLnBrk="1" hangingPunct="1">
              <a:lnSpc>
                <a:spcPct val="130000"/>
              </a:lnSpc>
              <a:buFont typeface="Wingdings" panose="05000000000000000000" pitchFamily="2" charset="2"/>
              <a:buNone/>
            </a:pPr>
            <a:r>
              <a:rPr lang="en-US" altLang="zh-CN" sz="2400" dirty="0" smtClean="0"/>
              <a:t>                     </a:t>
            </a:r>
            <a:r>
              <a:rPr lang="en-US" altLang="zh-CN" sz="2400" dirty="0" err="1" smtClean="0"/>
              <a:t>SC.Cno</a:t>
            </a:r>
            <a:r>
              <a:rPr lang="en-US" altLang="zh-CN" sz="2400" dirty="0" smtClean="0"/>
              <a:t> = </a:t>
            </a:r>
            <a:r>
              <a:rPr lang="en-US" altLang="zh-CN" sz="2400" dirty="0" err="1" smtClean="0"/>
              <a:t>Course.Cno</a:t>
            </a:r>
            <a:r>
              <a:rPr lang="en-US" altLang="zh-CN" sz="2400" dirty="0" smtClean="0"/>
              <a:t> AND</a:t>
            </a:r>
          </a:p>
          <a:p>
            <a:pPr eaLnBrk="1" hangingPunct="1">
              <a:lnSpc>
                <a:spcPct val="130000"/>
              </a:lnSpc>
              <a:buFont typeface="Wingdings" panose="05000000000000000000" pitchFamily="2" charset="2"/>
              <a:buNone/>
            </a:pPr>
            <a:r>
              <a:rPr lang="en-US" altLang="zh-CN" sz="2400" dirty="0" smtClean="0"/>
              <a:t>                     </a:t>
            </a:r>
            <a:r>
              <a:rPr lang="en-US" altLang="zh-CN" sz="2400" dirty="0" err="1" smtClean="0"/>
              <a:t>Course.Cname</a:t>
            </a:r>
            <a:r>
              <a:rPr lang="en-US" altLang="zh-CN" sz="2400" dirty="0" smtClean="0"/>
              <a:t>=</a:t>
            </a:r>
            <a:r>
              <a:rPr lang="zh-CN" altLang="en-US" sz="2400" dirty="0" smtClean="0"/>
              <a:t>'信息系统'</a:t>
            </a:r>
            <a:r>
              <a:rPr lang="en-US" altLang="zh-CN" sz="2400" dirty="0" smtClean="0"/>
              <a:t>;</a:t>
            </a:r>
            <a:endParaRPr lang="zh-CN" altLang="en-US" dirty="0" smtClean="0">
              <a:latin typeface="宋体" panose="02010600030101010101" pitchFamily="2" charset="-122"/>
            </a:endParaRPr>
          </a:p>
        </p:txBody>
      </p:sp>
    </p:spTree>
    <p:extLst>
      <p:ext uri="{BB962C8B-B14F-4D97-AF65-F5344CB8AC3E}">
        <p14:creationId xmlns:p14="http://schemas.microsoft.com/office/powerpoint/2010/main" val="2226284267"/>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Rectangle 2"/>
          <p:cNvSpPr>
            <a:spLocks noGrp="1" noChangeArrowheads="1"/>
          </p:cNvSpPr>
          <p:nvPr>
            <p:ph type="title" idx="4294967295"/>
          </p:nvPr>
        </p:nvSpPr>
        <p:spPr/>
        <p:txBody>
          <a:bodyPr/>
          <a:lstStyle/>
          <a:p>
            <a:pPr eaLnBrk="1" hangingPunct="1"/>
            <a:r>
              <a:rPr lang="en-US" altLang="zh-CN" sz="3600" dirty="0" smtClean="0"/>
              <a:t>(2). </a:t>
            </a:r>
            <a:r>
              <a:rPr lang="zh-CN" altLang="en-US" sz="3600" dirty="0" smtClean="0"/>
              <a:t>带有比较运算符的子查询</a:t>
            </a:r>
          </a:p>
        </p:txBody>
      </p:sp>
      <p:sp>
        <p:nvSpPr>
          <p:cNvPr id="40963" name="Rectangle 3"/>
          <p:cNvSpPr>
            <a:spLocks noGrp="1" noChangeArrowheads="1"/>
          </p:cNvSpPr>
          <p:nvPr>
            <p:ph type="body" idx="4294967295"/>
          </p:nvPr>
        </p:nvSpPr>
        <p:spPr>
          <a:xfrm>
            <a:off x="457200" y="1098550"/>
            <a:ext cx="8229600" cy="4854575"/>
          </a:xfrm>
        </p:spPr>
        <p:txBody>
          <a:bodyPr>
            <a:normAutofit lnSpcReduction="10000"/>
          </a:bodyPr>
          <a:lstStyle/>
          <a:p>
            <a:pPr eaLnBrk="1" hangingPunct="1">
              <a:lnSpc>
                <a:spcPct val="150000"/>
              </a:lnSpc>
            </a:pPr>
            <a:r>
              <a:rPr lang="en-US" altLang="zh-CN" sz="2400" dirty="0" smtClean="0"/>
              <a:t> </a:t>
            </a:r>
            <a:r>
              <a:rPr lang="zh-CN" altLang="en-US" dirty="0" smtClean="0"/>
              <a:t>当能确切知道</a:t>
            </a:r>
            <a:r>
              <a:rPr lang="zh-CN" altLang="en-US" dirty="0" smtClean="0">
                <a:solidFill>
                  <a:srgbClr val="FF0000"/>
                </a:solidFill>
              </a:rPr>
              <a:t>内层查询返回单值</a:t>
            </a:r>
            <a:r>
              <a:rPr lang="zh-CN" altLang="en-US" dirty="0" smtClean="0"/>
              <a:t>时，可用比较运算符（</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a:t>
            </a:r>
            <a:r>
              <a:rPr lang="en-US" altLang="zh-CN" dirty="0" smtClean="0"/>
              <a:t>&gt;=</a:t>
            </a:r>
            <a:r>
              <a:rPr lang="zh-CN" altLang="en-US" dirty="0" smtClean="0"/>
              <a:t>，</a:t>
            </a:r>
            <a:r>
              <a:rPr lang="en-US" altLang="zh-CN" dirty="0" smtClean="0"/>
              <a:t>&lt;=</a:t>
            </a:r>
            <a:r>
              <a:rPr lang="zh-CN" altLang="en-US" dirty="0" smtClean="0"/>
              <a:t>，</a:t>
            </a:r>
            <a:r>
              <a:rPr lang="en-US" altLang="zh-CN" dirty="0" smtClean="0"/>
              <a:t>!=</a:t>
            </a:r>
            <a:r>
              <a:rPr lang="zh-CN" altLang="en-US" dirty="0" smtClean="0"/>
              <a:t>或</a:t>
            </a:r>
            <a:r>
              <a:rPr lang="en-US" altLang="zh-CN" dirty="0" smtClean="0"/>
              <a:t>&lt; &gt;</a:t>
            </a:r>
            <a:r>
              <a:rPr lang="zh-CN" altLang="en-US" dirty="0" smtClean="0"/>
              <a:t>）。</a:t>
            </a:r>
          </a:p>
          <a:p>
            <a:pPr eaLnBrk="1" hangingPunct="1">
              <a:buFont typeface="宋体" panose="02010600030101010101" pitchFamily="2" charset="-122"/>
              <a:buNone/>
            </a:pPr>
            <a:r>
              <a:rPr lang="zh-CN" altLang="en-US" sz="2400" dirty="0" smtClean="0"/>
              <a:t>在</a:t>
            </a:r>
            <a:r>
              <a:rPr lang="en-US" altLang="zh-CN" sz="2400" dirty="0" smtClean="0"/>
              <a:t>[</a:t>
            </a:r>
            <a:r>
              <a:rPr lang="zh-CN" altLang="en-US" sz="2400" dirty="0" smtClean="0"/>
              <a:t>例 </a:t>
            </a:r>
            <a:r>
              <a:rPr lang="en-US" altLang="zh-CN" sz="2400" dirty="0" smtClean="0"/>
              <a:t>3.55]</a:t>
            </a:r>
            <a:r>
              <a:rPr lang="zh-CN" altLang="en-US" sz="2400" dirty="0" smtClean="0"/>
              <a:t>中，由于一个学生只可能在一个系学习，则可以</a:t>
            </a:r>
            <a:r>
              <a:rPr lang="zh-CN" altLang="en-US" sz="2400" dirty="0" smtClean="0">
                <a:solidFill>
                  <a:srgbClr val="D75B5B"/>
                </a:solidFill>
              </a:rPr>
              <a:t>用 </a:t>
            </a:r>
            <a:r>
              <a:rPr lang="en-US" altLang="zh-CN" sz="2400" dirty="0" smtClean="0">
                <a:solidFill>
                  <a:srgbClr val="D75B5B"/>
                </a:solidFill>
              </a:rPr>
              <a:t>= </a:t>
            </a:r>
            <a:r>
              <a:rPr lang="zh-CN" altLang="en-US" sz="2400" dirty="0" smtClean="0">
                <a:solidFill>
                  <a:srgbClr val="D75B5B"/>
                </a:solidFill>
              </a:rPr>
              <a:t>代替</a:t>
            </a:r>
            <a:r>
              <a:rPr lang="en-US" altLang="zh-CN" sz="2400" dirty="0" smtClean="0">
                <a:solidFill>
                  <a:srgbClr val="D75B5B"/>
                </a:solidFill>
              </a:rPr>
              <a:t>IN</a:t>
            </a:r>
            <a:r>
              <a:rPr lang="en-US" altLang="zh-CN" sz="2400" dirty="0" smtClean="0"/>
              <a:t> </a:t>
            </a:r>
            <a:r>
              <a:rPr lang="zh-CN" altLang="en-US" sz="2400" dirty="0" smtClean="0"/>
              <a:t>：</a:t>
            </a:r>
          </a:p>
          <a:p>
            <a:pPr eaLnBrk="1" hangingPunct="1">
              <a:buFont typeface="宋体" panose="02010600030101010101" pitchFamily="2" charset="-122"/>
              <a:buNone/>
            </a:pPr>
            <a:r>
              <a:rPr lang="zh-CN" altLang="en-US" sz="2400" dirty="0" smtClean="0"/>
              <a:t>     </a:t>
            </a:r>
            <a:r>
              <a:rPr lang="en-US" altLang="zh-CN" sz="2400" dirty="0" smtClean="0"/>
              <a:t>SELECT </a:t>
            </a:r>
            <a:r>
              <a:rPr lang="en-US" altLang="zh-CN" sz="2400" dirty="0" err="1" smtClean="0"/>
              <a:t>Sno</a:t>
            </a:r>
            <a:r>
              <a:rPr lang="zh-CN" altLang="en-US" sz="2400" dirty="0" smtClean="0"/>
              <a:t>,</a:t>
            </a:r>
            <a:r>
              <a:rPr lang="en-US" altLang="zh-CN" sz="2400" dirty="0" err="1" smtClean="0"/>
              <a:t>Sname</a:t>
            </a:r>
            <a:r>
              <a:rPr lang="zh-CN" altLang="en-US" sz="2400" dirty="0" smtClean="0"/>
              <a:t>,</a:t>
            </a:r>
            <a:r>
              <a:rPr lang="en-US" altLang="zh-CN" sz="2400" dirty="0" err="1" smtClean="0"/>
              <a:t>Sdept</a:t>
            </a:r>
            <a:endParaRPr lang="en-US" altLang="zh-CN" sz="2400" dirty="0" smtClean="0"/>
          </a:p>
          <a:p>
            <a:pPr eaLnBrk="1" hangingPunct="1">
              <a:buFont typeface="宋体" panose="02010600030101010101" pitchFamily="2" charset="-122"/>
              <a:buNone/>
            </a:pPr>
            <a:r>
              <a:rPr lang="en-US" altLang="zh-CN" sz="2400" dirty="0" smtClean="0"/>
              <a:t>     FROM    Student</a:t>
            </a:r>
          </a:p>
          <a:p>
            <a:pPr eaLnBrk="1" hangingPunct="1">
              <a:buFont typeface="宋体" panose="02010600030101010101" pitchFamily="2" charset="-122"/>
              <a:buNone/>
            </a:pPr>
            <a:r>
              <a:rPr lang="en-US" altLang="zh-CN" sz="2400" dirty="0" smtClean="0"/>
              <a:t>     WHERE </a:t>
            </a:r>
            <a:r>
              <a:rPr lang="en-US" altLang="zh-CN" sz="2400" dirty="0" err="1" smtClean="0"/>
              <a:t>Sdept</a:t>
            </a:r>
            <a:r>
              <a:rPr lang="en-US" altLang="zh-CN" sz="2400" dirty="0" smtClean="0"/>
              <a:t>  </a:t>
            </a:r>
            <a:r>
              <a:rPr lang="en-US" altLang="zh-CN" sz="2400" dirty="0" smtClean="0">
                <a:solidFill>
                  <a:srgbClr val="D75B5B"/>
                </a:solidFill>
              </a:rPr>
              <a:t> =</a:t>
            </a:r>
            <a:endParaRPr lang="en-US" altLang="zh-CN" sz="2400" dirty="0" smtClean="0"/>
          </a:p>
          <a:p>
            <a:pPr eaLnBrk="1" hangingPunct="1">
              <a:buFont typeface="宋体" panose="02010600030101010101" pitchFamily="2" charset="-122"/>
              <a:buNone/>
            </a:pPr>
            <a:r>
              <a:rPr lang="en-US" altLang="zh-CN" sz="2400" dirty="0" smtClean="0"/>
              <a:t>                   </a:t>
            </a:r>
            <a:r>
              <a:rPr lang="zh-CN" altLang="en-US" sz="2400" dirty="0" smtClean="0"/>
              <a:t>(</a:t>
            </a:r>
            <a:r>
              <a:rPr lang="en-US" altLang="zh-CN" sz="2400" dirty="0" smtClean="0"/>
              <a:t>SELECT </a:t>
            </a:r>
            <a:r>
              <a:rPr lang="en-US" altLang="zh-CN" sz="2400" dirty="0" err="1" smtClean="0"/>
              <a:t>Sdept</a:t>
            </a:r>
            <a:endParaRPr lang="en-US" altLang="zh-CN" sz="2400" dirty="0" smtClean="0"/>
          </a:p>
          <a:p>
            <a:pPr eaLnBrk="1" hangingPunct="1">
              <a:buFont typeface="宋体" panose="02010600030101010101" pitchFamily="2" charset="-122"/>
              <a:buNone/>
            </a:pPr>
            <a:r>
              <a:rPr lang="en-US" altLang="zh-CN" sz="2400" dirty="0" smtClean="0"/>
              <a:t>                    FROM    Student</a:t>
            </a:r>
          </a:p>
          <a:p>
            <a:pPr eaLnBrk="1" hangingPunct="1">
              <a:buFont typeface="宋体" panose="02010600030101010101" pitchFamily="2" charset="-122"/>
              <a:buNone/>
            </a:pPr>
            <a:r>
              <a:rPr lang="en-US" altLang="zh-CN" sz="2400" dirty="0" smtClean="0"/>
              <a:t>                    WHERE </a:t>
            </a:r>
            <a:r>
              <a:rPr lang="en-US" altLang="zh-CN" sz="2400" dirty="0" err="1" smtClean="0"/>
              <a:t>Sname</a:t>
            </a:r>
            <a:r>
              <a:rPr lang="en-US" altLang="zh-CN" sz="2400" dirty="0" smtClean="0"/>
              <a:t>= </a:t>
            </a:r>
            <a:r>
              <a:rPr lang="zh-CN" altLang="en-US" sz="2400" dirty="0" smtClean="0"/>
              <a:t>'刘晨');</a:t>
            </a:r>
          </a:p>
          <a:p>
            <a:pPr eaLnBrk="1" hangingPunct="1">
              <a:lnSpc>
                <a:spcPct val="160000"/>
              </a:lnSpc>
            </a:pPr>
            <a:endParaRPr lang="zh-CN" altLang="en-US" sz="2400" dirty="0" smtClean="0"/>
          </a:p>
          <a:p>
            <a:pPr eaLnBrk="1" hangingPunct="1">
              <a:buFont typeface="Wingdings" panose="05000000000000000000" pitchFamily="2" charset="2"/>
              <a:buNone/>
            </a:pPr>
            <a:endParaRPr lang="en-US" altLang="zh-CN" sz="2400" dirty="0" smtClean="0"/>
          </a:p>
        </p:txBody>
      </p:sp>
    </p:spTree>
    <p:extLst>
      <p:ext uri="{BB962C8B-B14F-4D97-AF65-F5344CB8AC3E}">
        <p14:creationId xmlns:p14="http://schemas.microsoft.com/office/powerpoint/2010/main" val="3076888378"/>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6" name="Rectangle 2"/>
          <p:cNvSpPr>
            <a:spLocks noGrp="1" noChangeArrowheads="1"/>
          </p:cNvSpPr>
          <p:nvPr>
            <p:ph type="title" idx="4294967295"/>
          </p:nvPr>
        </p:nvSpPr>
        <p:spPr/>
        <p:txBody>
          <a:bodyPr/>
          <a:lstStyle/>
          <a:p>
            <a:pPr eaLnBrk="1" hangingPunct="1"/>
            <a:r>
              <a:rPr lang="zh-CN" altLang="en-US" sz="3600" smtClean="0"/>
              <a:t>带有比较运算符的子查询（续）</a:t>
            </a:r>
          </a:p>
        </p:txBody>
      </p:sp>
      <p:sp>
        <p:nvSpPr>
          <p:cNvPr id="41987"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dirty="0" smtClean="0"/>
              <a:t>[</a:t>
            </a:r>
            <a:r>
              <a:rPr lang="zh-CN" altLang="en-US" sz="2400" dirty="0" smtClean="0"/>
              <a:t>例 </a:t>
            </a:r>
            <a:r>
              <a:rPr lang="en-US" altLang="zh-CN" sz="2400" dirty="0" smtClean="0"/>
              <a:t>3.57 ]</a:t>
            </a:r>
            <a:r>
              <a:rPr lang="zh-CN" altLang="en-US" sz="2400" dirty="0" smtClean="0"/>
              <a:t>找出每个学生超过他选修课程平均成绩的课程号。</a:t>
            </a:r>
          </a:p>
          <a:p>
            <a:pPr eaLnBrk="1" hangingPunct="1">
              <a:buFont typeface="Wingdings" panose="05000000000000000000" pitchFamily="2" charset="2"/>
              <a:buNone/>
            </a:pPr>
            <a:r>
              <a:rPr lang="zh-CN" altLang="en-US" dirty="0" smtClean="0"/>
              <a:t>   </a:t>
            </a:r>
            <a:r>
              <a:rPr lang="en-US" altLang="zh-CN" sz="2400" dirty="0" smtClean="0"/>
              <a:t>SELECT </a:t>
            </a:r>
            <a:r>
              <a:rPr lang="en-US" altLang="zh-CN" sz="2400" dirty="0" err="1" smtClean="0"/>
              <a:t>Sno</a:t>
            </a:r>
            <a:r>
              <a:rPr lang="zh-CN" altLang="en-US" sz="2400" dirty="0" smtClean="0"/>
              <a:t>, </a:t>
            </a:r>
            <a:r>
              <a:rPr lang="en-US" altLang="zh-CN" sz="2400" dirty="0" err="1" smtClean="0"/>
              <a:t>Cno</a:t>
            </a:r>
            <a:endParaRPr lang="en-US" altLang="zh-CN" sz="2400" dirty="0" smtClean="0"/>
          </a:p>
          <a:p>
            <a:pPr eaLnBrk="1" hangingPunct="1">
              <a:buFont typeface="Wingdings" panose="05000000000000000000" pitchFamily="2" charset="2"/>
              <a:buNone/>
            </a:pPr>
            <a:r>
              <a:rPr lang="en-US" altLang="zh-CN" sz="2400" dirty="0" smtClean="0"/>
              <a:t>    FROM    SC  x</a:t>
            </a:r>
          </a:p>
          <a:p>
            <a:pPr eaLnBrk="1" hangingPunct="1">
              <a:buFont typeface="Wingdings" panose="05000000000000000000" pitchFamily="2" charset="2"/>
              <a:buNone/>
            </a:pPr>
            <a:r>
              <a:rPr lang="en-US" altLang="zh-CN" sz="2400" dirty="0" smtClean="0"/>
              <a:t>    WHERE Grade &gt;=</a:t>
            </a:r>
            <a:r>
              <a:rPr lang="zh-CN" altLang="en-US" sz="2400" dirty="0" smtClean="0"/>
              <a:t>(</a:t>
            </a:r>
            <a:r>
              <a:rPr lang="en-US" altLang="zh-CN" sz="2400" dirty="0" smtClean="0"/>
              <a:t>SELECT </a:t>
            </a:r>
            <a:r>
              <a:rPr lang="en-US" altLang="zh-CN" sz="2400" dirty="0" err="1" smtClean="0"/>
              <a:t>AVG（Grade</a:t>
            </a:r>
            <a:r>
              <a:rPr lang="en-US" altLang="zh-CN" sz="2400" dirty="0" smtClean="0"/>
              <a:t>） </a:t>
            </a:r>
          </a:p>
          <a:p>
            <a:pPr eaLnBrk="1" hangingPunct="1">
              <a:buFont typeface="Wingdings" panose="05000000000000000000" pitchFamily="2" charset="2"/>
              <a:buNone/>
            </a:pPr>
            <a:r>
              <a:rPr lang="en-US" altLang="zh-CN" sz="2400" dirty="0" smtClean="0"/>
              <a:t>		                        FROM  SC y</a:t>
            </a:r>
          </a:p>
          <a:p>
            <a:pPr eaLnBrk="1" hangingPunct="1">
              <a:buFont typeface="Wingdings" panose="05000000000000000000" pitchFamily="2" charset="2"/>
              <a:buNone/>
            </a:pPr>
            <a:r>
              <a:rPr lang="en-US" altLang="zh-CN" sz="2400" dirty="0" smtClean="0"/>
              <a:t>                                   WHERE </a:t>
            </a:r>
            <a:r>
              <a:rPr lang="en-US" altLang="zh-CN" sz="2400" dirty="0" err="1" smtClean="0"/>
              <a:t>y.Sno</a:t>
            </a:r>
            <a:r>
              <a:rPr lang="en-US" altLang="zh-CN" sz="2400" dirty="0" smtClean="0"/>
              <a:t>=</a:t>
            </a:r>
            <a:r>
              <a:rPr lang="en-US" altLang="zh-CN" sz="2400" dirty="0" err="1" smtClean="0"/>
              <a:t>x.Sno</a:t>
            </a:r>
            <a:r>
              <a:rPr lang="zh-CN" altLang="en-US" sz="2400" dirty="0" smtClean="0"/>
              <a:t>)</a:t>
            </a:r>
            <a:r>
              <a:rPr lang="en-US" altLang="zh-CN" sz="2400" dirty="0" smtClean="0"/>
              <a:t>;</a:t>
            </a:r>
          </a:p>
        </p:txBody>
      </p:sp>
      <p:sp>
        <p:nvSpPr>
          <p:cNvPr id="41988" name="AutoShape 4"/>
          <p:cNvSpPr>
            <a:spLocks noChangeArrowheads="1"/>
          </p:cNvSpPr>
          <p:nvPr/>
        </p:nvSpPr>
        <p:spPr bwMode="auto">
          <a:xfrm>
            <a:off x="5039879" y="2050329"/>
            <a:ext cx="1512888" cy="792162"/>
          </a:xfrm>
          <a:prstGeom prst="wedgeRoundRectCallout">
            <a:avLst>
              <a:gd name="adj1" fmla="val -84417"/>
              <a:gd name="adj2" fmla="val 73648"/>
              <a:gd name="adj3" fmla="val 16667"/>
            </a:avLst>
          </a:prstGeom>
          <a:gradFill rotWithShape="1">
            <a:gsLst>
              <a:gs pos="0">
                <a:srgbClr val="CC99FF"/>
              </a:gs>
              <a:gs pos="100000">
                <a:srgbClr val="F4E8FF"/>
              </a:gs>
            </a:gsLst>
            <a:lin ang="5400000" scaled="1"/>
          </a:gradFill>
          <a:ln w="25400">
            <a:solidFill>
              <a:srgbClr val="00CCFF"/>
            </a:solidFill>
            <a:miter lim="800000"/>
            <a:headEnd/>
            <a:tailEnd/>
          </a:ln>
        </p:spPr>
        <p:txBody>
          <a:bodyPr anchor="ctr"/>
          <a:lstStyle>
            <a:lvl1pPr marL="342900" indent="-342900"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zh-CN" altLang="en-US" dirty="0"/>
              <a:t>相关子查询 </a:t>
            </a:r>
          </a:p>
        </p:txBody>
      </p:sp>
      <p:sp>
        <p:nvSpPr>
          <p:cNvPr id="2" name="矩形 1"/>
          <p:cNvSpPr/>
          <p:nvPr/>
        </p:nvSpPr>
        <p:spPr>
          <a:xfrm>
            <a:off x="273628" y="4438839"/>
            <a:ext cx="8022936" cy="2308324"/>
          </a:xfrm>
          <a:prstGeom prst="rect">
            <a:avLst/>
          </a:prstGeom>
        </p:spPr>
        <p:txBody>
          <a:bodyPr wrap="square">
            <a:spAutoFit/>
          </a:bodyPr>
          <a:lstStyle/>
          <a:p>
            <a:pPr>
              <a:lnSpc>
                <a:spcPct val="160000"/>
              </a:lnSpc>
            </a:pPr>
            <a:r>
              <a:rPr lang="zh-CN" altLang="en-US" dirty="0" smtClean="0">
                <a:solidFill>
                  <a:srgbClr val="FF0000"/>
                </a:solidFill>
              </a:rPr>
              <a:t>         相关</a:t>
            </a:r>
            <a:r>
              <a:rPr lang="zh-CN" altLang="en-US" dirty="0">
                <a:solidFill>
                  <a:srgbClr val="FF0000"/>
                </a:solidFill>
              </a:rPr>
              <a:t>子查询：子查询的查询条件依赖于父查询</a:t>
            </a:r>
          </a:p>
          <a:p>
            <a:pPr lvl="1">
              <a:lnSpc>
                <a:spcPct val="160000"/>
              </a:lnSpc>
            </a:pPr>
            <a:r>
              <a:rPr lang="zh-CN" altLang="en-US" dirty="0"/>
              <a:t>首先取外层查询中表的第一个元组，根据它与内层查询相关的属性值处理内层查询，若</a:t>
            </a:r>
            <a:r>
              <a:rPr lang="en-US" altLang="zh-CN" dirty="0"/>
              <a:t>WHERE</a:t>
            </a:r>
            <a:r>
              <a:rPr lang="zh-CN" altLang="en-US" dirty="0"/>
              <a:t>子句返回值为真，则取此元组放入结果表</a:t>
            </a:r>
          </a:p>
          <a:p>
            <a:pPr lvl="1">
              <a:lnSpc>
                <a:spcPct val="160000"/>
              </a:lnSpc>
            </a:pPr>
            <a:r>
              <a:rPr lang="zh-CN" altLang="en-US" dirty="0"/>
              <a:t>然后再取外层表的下一个元组</a:t>
            </a:r>
          </a:p>
          <a:p>
            <a:pPr lvl="1">
              <a:lnSpc>
                <a:spcPct val="160000"/>
              </a:lnSpc>
            </a:pPr>
            <a:r>
              <a:rPr lang="zh-CN" altLang="en-US" dirty="0"/>
              <a:t>重复这一过程，直至外层表全部检查完为止</a:t>
            </a:r>
          </a:p>
        </p:txBody>
      </p:sp>
    </p:spTree>
    <p:extLst>
      <p:ext uri="{BB962C8B-B14F-4D97-AF65-F5344CB8AC3E}">
        <p14:creationId xmlns:p14="http://schemas.microsoft.com/office/powerpoint/2010/main" val="211218807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41988"/>
                                        </p:tgtEl>
                                        <p:attrNameLst>
                                          <p:attrName>style.visibility</p:attrName>
                                        </p:attrNameLst>
                                      </p:cBhvr>
                                      <p:to>
                                        <p:strVal val="visible"/>
                                      </p:to>
                                    </p:set>
                                    <p:animEffect transition="in" filter="slide(fromBottom)">
                                      <p:cBhvr>
                                        <p:cTn id="7" dur="500"/>
                                        <p:tgtEl>
                                          <p:spTgt spid="4198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nimBg="1" autoUpdateAnimBg="0"/>
    </p:bldLst>
  </p:timing>
</p:sld>
</file>

<file path=ppt/slides/slide2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43010" name="Rectangle 1026"/>
          <p:cNvSpPr>
            <a:spLocks noGrp="1" noChangeArrowheads="1"/>
          </p:cNvSpPr>
          <p:nvPr>
            <p:ph type="title" idx="4294967295"/>
          </p:nvPr>
        </p:nvSpPr>
        <p:spPr/>
        <p:txBody>
          <a:bodyPr/>
          <a:lstStyle/>
          <a:p>
            <a:pPr eaLnBrk="1" hangingPunct="1"/>
            <a:r>
              <a:rPr lang="zh-CN" altLang="en-US" sz="3600" smtClean="0"/>
              <a:t>带有比较运算符的子查询（续）</a:t>
            </a:r>
          </a:p>
        </p:txBody>
      </p:sp>
      <p:sp>
        <p:nvSpPr>
          <p:cNvPr id="43011" name="Rectangle 1027"/>
          <p:cNvSpPr>
            <a:spLocks noGrp="1" noChangeArrowheads="1"/>
          </p:cNvSpPr>
          <p:nvPr>
            <p:ph type="body" idx="4294967295"/>
          </p:nvPr>
        </p:nvSpPr>
        <p:spPr>
          <a:xfrm>
            <a:off x="457200" y="1196975"/>
            <a:ext cx="8229600" cy="5040313"/>
          </a:xfrm>
        </p:spPr>
        <p:txBody>
          <a:bodyPr>
            <a:normAutofit fontScale="92500" lnSpcReduction="20000"/>
          </a:bodyPr>
          <a:lstStyle/>
          <a:p>
            <a:pPr eaLnBrk="1" hangingPunct="1">
              <a:lnSpc>
                <a:spcPct val="120000"/>
              </a:lnSpc>
            </a:pPr>
            <a:r>
              <a:rPr lang="zh-CN" altLang="en-US" dirty="0" smtClean="0"/>
              <a:t>可能的执行过程 </a:t>
            </a:r>
          </a:p>
          <a:p>
            <a:pPr lvl="1" eaLnBrk="1" hangingPunct="1">
              <a:lnSpc>
                <a:spcPct val="120000"/>
              </a:lnSpc>
            </a:pPr>
            <a:r>
              <a:rPr lang="zh-CN" altLang="en-US" dirty="0" smtClean="0"/>
              <a:t>从外层查询中取出</a:t>
            </a:r>
            <a:r>
              <a:rPr lang="en-US" altLang="zh-CN" dirty="0" smtClean="0"/>
              <a:t>SC</a:t>
            </a:r>
            <a:r>
              <a:rPr lang="zh-CN" altLang="en-US" dirty="0" smtClean="0"/>
              <a:t>的一个元组</a:t>
            </a:r>
            <a:r>
              <a:rPr lang="en-US" altLang="zh-CN" dirty="0" smtClean="0"/>
              <a:t>x</a:t>
            </a:r>
            <a:r>
              <a:rPr lang="zh-CN" altLang="en-US" dirty="0" smtClean="0"/>
              <a:t>，将元组</a:t>
            </a:r>
            <a:r>
              <a:rPr lang="en-US" altLang="zh-CN" dirty="0" smtClean="0"/>
              <a:t>x</a:t>
            </a:r>
            <a:r>
              <a:rPr lang="zh-CN" altLang="en-US" dirty="0" smtClean="0"/>
              <a:t>的</a:t>
            </a:r>
            <a:r>
              <a:rPr lang="en-US" altLang="zh-CN" dirty="0" err="1" smtClean="0"/>
              <a:t>Sno</a:t>
            </a:r>
            <a:r>
              <a:rPr lang="zh-CN" altLang="en-US" dirty="0" smtClean="0"/>
              <a:t>值（</a:t>
            </a:r>
            <a:r>
              <a:rPr lang="en-US" altLang="zh-CN" dirty="0" smtClean="0"/>
              <a:t>201215121</a:t>
            </a:r>
            <a:r>
              <a:rPr lang="zh-CN" altLang="en-US" dirty="0" smtClean="0"/>
              <a:t>）传送给内层查询。</a:t>
            </a:r>
          </a:p>
          <a:p>
            <a:pPr eaLnBrk="1" hangingPunct="1">
              <a:lnSpc>
                <a:spcPct val="120000"/>
              </a:lnSpc>
              <a:buFont typeface="Wingdings" panose="05000000000000000000" pitchFamily="2" charset="2"/>
              <a:buNone/>
            </a:pPr>
            <a:r>
              <a:rPr lang="zh-CN" altLang="en-US" sz="2400" dirty="0" smtClean="0"/>
              <a:t>       	</a:t>
            </a:r>
            <a:r>
              <a:rPr lang="en-US" altLang="zh-CN" sz="2400" dirty="0" smtClean="0"/>
              <a:t>SELECT AVG</a:t>
            </a:r>
            <a:r>
              <a:rPr lang="zh-CN" altLang="en-US" sz="2400" dirty="0" smtClean="0"/>
              <a:t>(</a:t>
            </a:r>
            <a:r>
              <a:rPr lang="en-US" altLang="zh-CN" sz="2400" dirty="0" smtClean="0"/>
              <a:t>Grade</a:t>
            </a:r>
            <a:r>
              <a:rPr lang="zh-CN" altLang="en-US" sz="2400" dirty="0" smtClean="0"/>
              <a:t>)</a:t>
            </a:r>
          </a:p>
          <a:p>
            <a:pPr eaLnBrk="1" hangingPunct="1">
              <a:lnSpc>
                <a:spcPct val="120000"/>
              </a:lnSpc>
              <a:buFont typeface="Wingdings" panose="05000000000000000000" pitchFamily="2" charset="2"/>
              <a:buNone/>
            </a:pPr>
            <a:r>
              <a:rPr lang="en-US" altLang="zh-CN" sz="2400" dirty="0" smtClean="0"/>
              <a:t>       </a:t>
            </a:r>
            <a:r>
              <a:rPr lang="zh-CN" altLang="en-US" sz="2400" dirty="0" smtClean="0"/>
              <a:t>	</a:t>
            </a:r>
            <a:r>
              <a:rPr lang="en-US" altLang="zh-CN" sz="2400" dirty="0" smtClean="0"/>
              <a:t>FROM SC y</a:t>
            </a:r>
          </a:p>
          <a:p>
            <a:pPr eaLnBrk="1" hangingPunct="1">
              <a:lnSpc>
                <a:spcPct val="120000"/>
              </a:lnSpc>
              <a:buFont typeface="Wingdings" panose="05000000000000000000" pitchFamily="2" charset="2"/>
              <a:buNone/>
            </a:pPr>
            <a:r>
              <a:rPr lang="en-US" altLang="zh-CN" sz="2400" dirty="0" smtClean="0"/>
              <a:t>       </a:t>
            </a:r>
            <a:r>
              <a:rPr lang="zh-CN" altLang="en-US" sz="2400" dirty="0" smtClean="0"/>
              <a:t>	</a:t>
            </a:r>
            <a:r>
              <a:rPr lang="en-US" altLang="zh-CN" sz="2400" dirty="0" smtClean="0"/>
              <a:t>WHERE </a:t>
            </a:r>
            <a:r>
              <a:rPr lang="en-US" altLang="zh-CN" sz="2400" dirty="0" err="1" smtClean="0"/>
              <a:t>y.Sno</a:t>
            </a:r>
            <a:r>
              <a:rPr lang="en-US" altLang="zh-CN" sz="2400" dirty="0" smtClean="0"/>
              <a:t>='201215121‘;</a:t>
            </a:r>
          </a:p>
          <a:p>
            <a:pPr lvl="1">
              <a:lnSpc>
                <a:spcPct val="120000"/>
              </a:lnSpc>
            </a:pPr>
            <a:r>
              <a:rPr lang="zh-CN" altLang="en-US" dirty="0"/>
              <a:t>执行内层查询，得到值</a:t>
            </a:r>
            <a:r>
              <a:rPr lang="en-US" altLang="zh-CN" dirty="0"/>
              <a:t>88</a:t>
            </a:r>
            <a:r>
              <a:rPr lang="zh-CN" altLang="en-US" dirty="0"/>
              <a:t>（近似值），用该值代替内层查询，得到外层查询：</a:t>
            </a:r>
          </a:p>
          <a:p>
            <a:pPr>
              <a:lnSpc>
                <a:spcPct val="120000"/>
              </a:lnSpc>
              <a:buNone/>
            </a:pPr>
            <a:r>
              <a:rPr lang="zh-CN" altLang="en-US" sz="2400" dirty="0"/>
              <a:t>      	 </a:t>
            </a:r>
            <a:r>
              <a:rPr lang="en-US" altLang="zh-CN" sz="2400" dirty="0"/>
              <a:t>SELECT </a:t>
            </a:r>
            <a:r>
              <a:rPr lang="en-US" altLang="zh-CN" sz="2400" dirty="0" err="1"/>
              <a:t>Sno,Cno</a:t>
            </a:r>
            <a:endParaRPr lang="en-US" altLang="zh-CN" sz="2400" dirty="0"/>
          </a:p>
          <a:p>
            <a:pPr>
              <a:lnSpc>
                <a:spcPct val="120000"/>
              </a:lnSpc>
              <a:buNone/>
            </a:pPr>
            <a:r>
              <a:rPr lang="en-US" altLang="zh-CN" sz="2400" dirty="0"/>
              <a:t>      </a:t>
            </a:r>
            <a:r>
              <a:rPr lang="zh-CN" altLang="en-US" sz="2400" dirty="0"/>
              <a:t>	</a:t>
            </a:r>
            <a:r>
              <a:rPr lang="en-US" altLang="zh-CN" sz="2400" dirty="0"/>
              <a:t> FROM     SC x</a:t>
            </a:r>
          </a:p>
          <a:p>
            <a:pPr>
              <a:lnSpc>
                <a:spcPct val="120000"/>
              </a:lnSpc>
              <a:buNone/>
            </a:pPr>
            <a:r>
              <a:rPr lang="en-US" altLang="zh-CN" sz="2400" dirty="0"/>
              <a:t>     </a:t>
            </a:r>
            <a:r>
              <a:rPr lang="zh-CN" altLang="en-US" sz="2400" dirty="0"/>
              <a:t>	</a:t>
            </a:r>
            <a:r>
              <a:rPr lang="en-US" altLang="zh-CN" sz="2400" dirty="0"/>
              <a:t> WHERE  Grade &gt;=88</a:t>
            </a:r>
            <a:r>
              <a:rPr lang="zh-CN" altLang="en-US" sz="2400" dirty="0"/>
              <a:t>; </a:t>
            </a:r>
          </a:p>
          <a:p>
            <a:pPr eaLnBrk="1" hangingPunct="1">
              <a:lnSpc>
                <a:spcPct val="120000"/>
              </a:lnSpc>
              <a:buFont typeface="Wingdings" panose="05000000000000000000" pitchFamily="2" charset="2"/>
              <a:buNone/>
            </a:pPr>
            <a:endParaRPr lang="en-US" altLang="zh-CN" sz="2400" dirty="0" smtClean="0"/>
          </a:p>
        </p:txBody>
      </p:sp>
    </p:spTree>
    <p:extLst>
      <p:ext uri="{BB962C8B-B14F-4D97-AF65-F5344CB8AC3E}">
        <p14:creationId xmlns:p14="http://schemas.microsoft.com/office/powerpoint/2010/main" val="156666086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Rectangle 2"/>
          <p:cNvSpPr>
            <a:spLocks noGrp="1" noChangeArrowheads="1"/>
          </p:cNvSpPr>
          <p:nvPr>
            <p:ph type="title" idx="4294967295"/>
          </p:nvPr>
        </p:nvSpPr>
        <p:spPr>
          <a:xfrm>
            <a:off x="-101600" y="-33338"/>
            <a:ext cx="9353550" cy="1131888"/>
          </a:xfrm>
        </p:spPr>
        <p:txBody>
          <a:bodyPr/>
          <a:lstStyle/>
          <a:p>
            <a:pPr eaLnBrk="1" hangingPunct="1"/>
            <a:r>
              <a:rPr lang="en-US" altLang="zh-CN" sz="3200" dirty="0" smtClean="0"/>
              <a:t>(3)</a:t>
            </a:r>
            <a:r>
              <a:rPr lang="zh-CN" altLang="en-US" sz="3200" dirty="0" smtClean="0"/>
              <a:t>带有</a:t>
            </a:r>
            <a:r>
              <a:rPr lang="en-US" altLang="zh-CN" sz="3200" dirty="0" smtClean="0"/>
              <a:t>ANY</a:t>
            </a:r>
            <a:r>
              <a:rPr lang="zh-CN" altLang="en-US" sz="3200" dirty="0" smtClean="0"/>
              <a:t>（</a:t>
            </a:r>
            <a:r>
              <a:rPr lang="en-US" altLang="zh-CN" sz="3200" dirty="0" smtClean="0"/>
              <a:t>SOME</a:t>
            </a:r>
            <a:r>
              <a:rPr lang="zh-CN" altLang="en-US" sz="3200" dirty="0" smtClean="0"/>
              <a:t>）或</a:t>
            </a:r>
            <a:r>
              <a:rPr lang="en-US" altLang="zh-CN" sz="3200" dirty="0" smtClean="0"/>
              <a:t>ALL</a:t>
            </a:r>
            <a:r>
              <a:rPr lang="zh-CN" altLang="en-US" sz="3200" dirty="0" smtClean="0"/>
              <a:t>谓词的子查询 （续）</a:t>
            </a:r>
          </a:p>
        </p:txBody>
      </p:sp>
      <p:sp>
        <p:nvSpPr>
          <p:cNvPr id="47107" name="Rectangle 3"/>
          <p:cNvSpPr>
            <a:spLocks noGrp="1" noChangeArrowheads="1"/>
          </p:cNvSpPr>
          <p:nvPr>
            <p:ph type="body" idx="4294967295"/>
          </p:nvPr>
        </p:nvSpPr>
        <p:spPr>
          <a:xfrm>
            <a:off x="447964" y="1369002"/>
            <a:ext cx="7999413" cy="5283200"/>
          </a:xfrm>
        </p:spPr>
        <p:txBody>
          <a:bodyPr>
            <a:normAutofit fontScale="70000" lnSpcReduction="20000"/>
          </a:bodyPr>
          <a:lstStyle/>
          <a:p>
            <a:pPr marL="609600" indent="-609600" eaLnBrk="1" hangingPunct="1">
              <a:lnSpc>
                <a:spcPct val="120000"/>
              </a:lnSpc>
              <a:buFont typeface="宋体" panose="02010600030101010101" pitchFamily="2" charset="-122"/>
              <a:buNone/>
            </a:pPr>
            <a:r>
              <a:rPr lang="zh-CN" altLang="en-US" b="1" dirty="0">
                <a:solidFill>
                  <a:srgbClr val="FF0000"/>
                </a:solidFill>
              </a:rPr>
              <a:t>子</a:t>
            </a:r>
            <a:r>
              <a:rPr lang="zh-CN" altLang="en-US" b="1" dirty="0" smtClean="0">
                <a:solidFill>
                  <a:srgbClr val="FF0000"/>
                </a:solidFill>
              </a:rPr>
              <a:t>查询返回多个结果</a:t>
            </a:r>
            <a:endParaRPr lang="en-US" altLang="zh-CN" b="1" dirty="0" smtClean="0">
              <a:solidFill>
                <a:srgbClr val="FF0000"/>
              </a:solidFill>
            </a:endParaRPr>
          </a:p>
          <a:p>
            <a:pPr marL="609600" indent="-609600" eaLnBrk="1" hangingPunct="1">
              <a:lnSpc>
                <a:spcPct val="120000"/>
              </a:lnSpc>
              <a:buFont typeface="宋体" panose="02010600030101010101" pitchFamily="2" charset="-122"/>
              <a:buNone/>
            </a:pPr>
            <a:r>
              <a:rPr lang="zh-CN" altLang="en-US" dirty="0" smtClean="0">
                <a:solidFill>
                  <a:srgbClr val="FF0000"/>
                </a:solidFill>
              </a:rPr>
              <a:t>使用</a:t>
            </a:r>
            <a:r>
              <a:rPr lang="en-US" altLang="zh-CN" dirty="0" smtClean="0">
                <a:solidFill>
                  <a:srgbClr val="FF0000"/>
                </a:solidFill>
              </a:rPr>
              <a:t>ANY</a:t>
            </a:r>
            <a:r>
              <a:rPr lang="zh-CN" altLang="en-US" dirty="0" smtClean="0">
                <a:solidFill>
                  <a:srgbClr val="FF0000"/>
                </a:solidFill>
              </a:rPr>
              <a:t>或</a:t>
            </a:r>
            <a:r>
              <a:rPr lang="en-US" altLang="zh-CN" dirty="0" smtClean="0">
                <a:solidFill>
                  <a:srgbClr val="FF0000"/>
                </a:solidFill>
              </a:rPr>
              <a:t>ALL</a:t>
            </a:r>
            <a:r>
              <a:rPr lang="zh-CN" altLang="en-US" dirty="0" smtClean="0">
                <a:solidFill>
                  <a:srgbClr val="FF0000"/>
                </a:solidFill>
              </a:rPr>
              <a:t>谓词时必须同时使用比较运算</a:t>
            </a:r>
          </a:p>
          <a:p>
            <a:pPr marL="609600" indent="-609600" eaLnBrk="1" hangingPunct="1">
              <a:lnSpc>
                <a:spcPct val="120000"/>
              </a:lnSpc>
              <a:buFont typeface="宋体" panose="02010600030101010101" pitchFamily="2" charset="-122"/>
              <a:buNone/>
            </a:pPr>
            <a:r>
              <a:rPr lang="zh-CN" altLang="en-US" sz="2400" dirty="0" smtClean="0"/>
              <a:t>语义为：</a:t>
            </a:r>
          </a:p>
          <a:p>
            <a:pPr marL="609600" indent="-609600" eaLnBrk="1" hangingPunct="1">
              <a:lnSpc>
                <a:spcPct val="120000"/>
              </a:lnSpc>
              <a:buFont typeface="宋体" panose="02010600030101010101" pitchFamily="2" charset="-122"/>
              <a:buNone/>
            </a:pPr>
            <a:r>
              <a:rPr lang="en-US" altLang="zh-CN" sz="2400" dirty="0" smtClean="0"/>
              <a:t>         &gt; ANY </a:t>
            </a:r>
            <a:r>
              <a:rPr lang="zh-CN" altLang="en-US" sz="2400" dirty="0" smtClean="0"/>
              <a:t>大于子查询结果中的某个值       </a:t>
            </a:r>
          </a:p>
          <a:p>
            <a:pPr marL="990600" lvl="1" indent="-533400">
              <a:lnSpc>
                <a:spcPct val="120000"/>
              </a:lnSpc>
              <a:buFont typeface="宋体" panose="02010600030101010101" pitchFamily="2" charset="-122"/>
              <a:buNone/>
            </a:pPr>
            <a:r>
              <a:rPr lang="en-US" altLang="zh-CN" dirty="0" smtClean="0"/>
              <a:t>&gt; ALL	 </a:t>
            </a:r>
            <a:r>
              <a:rPr lang="zh-CN" altLang="en-US" dirty="0" smtClean="0"/>
              <a:t>大于子查询结果中的所有值</a:t>
            </a:r>
          </a:p>
          <a:p>
            <a:pPr marL="990600" lvl="1" indent="-533400">
              <a:lnSpc>
                <a:spcPct val="120000"/>
              </a:lnSpc>
              <a:buFont typeface="宋体" panose="02010600030101010101" pitchFamily="2" charset="-122"/>
              <a:buNone/>
            </a:pPr>
            <a:r>
              <a:rPr lang="en-US" altLang="zh-CN" dirty="0" smtClean="0"/>
              <a:t>&lt; ANY	 </a:t>
            </a:r>
            <a:r>
              <a:rPr lang="zh-CN" altLang="en-US" dirty="0" smtClean="0"/>
              <a:t>小于子查询结果中的某个值    </a:t>
            </a:r>
          </a:p>
          <a:p>
            <a:pPr marL="990600" lvl="1" indent="-533400">
              <a:lnSpc>
                <a:spcPct val="120000"/>
              </a:lnSpc>
              <a:buFont typeface="宋体" panose="02010600030101010101" pitchFamily="2" charset="-122"/>
              <a:buNone/>
            </a:pPr>
            <a:r>
              <a:rPr lang="en-US" altLang="zh-CN" dirty="0" smtClean="0"/>
              <a:t>&lt; ALL	 </a:t>
            </a:r>
            <a:r>
              <a:rPr lang="zh-CN" altLang="en-US" dirty="0" smtClean="0"/>
              <a:t>小于子查询结果中的所有值</a:t>
            </a:r>
          </a:p>
          <a:p>
            <a:pPr marL="990600" lvl="1" indent="-533400">
              <a:lnSpc>
                <a:spcPct val="120000"/>
              </a:lnSpc>
              <a:buFont typeface="宋体" panose="02010600030101010101" pitchFamily="2" charset="-122"/>
              <a:buNone/>
            </a:pPr>
            <a:r>
              <a:rPr lang="en-US" altLang="zh-CN" dirty="0" smtClean="0"/>
              <a:t>&gt;= ANY </a:t>
            </a:r>
            <a:r>
              <a:rPr lang="zh-CN" altLang="en-US" dirty="0" smtClean="0"/>
              <a:t>大于等于子查询结果中的某个值    </a:t>
            </a:r>
          </a:p>
          <a:p>
            <a:pPr marL="990600" lvl="1" indent="-533400">
              <a:lnSpc>
                <a:spcPct val="120000"/>
              </a:lnSpc>
              <a:buFont typeface="宋体" panose="02010600030101010101" pitchFamily="2" charset="-122"/>
              <a:buNone/>
            </a:pPr>
            <a:r>
              <a:rPr lang="en-US" altLang="zh-CN" dirty="0" smtClean="0"/>
              <a:t>&gt;= ALL </a:t>
            </a:r>
            <a:r>
              <a:rPr lang="zh-CN" altLang="en-US" dirty="0" smtClean="0"/>
              <a:t>大于等于子查询结果中的所有值</a:t>
            </a:r>
            <a:endParaRPr lang="en-US" altLang="zh-CN" dirty="0" smtClean="0"/>
          </a:p>
          <a:p>
            <a:pPr marL="990600" lvl="1" indent="-533400">
              <a:lnSpc>
                <a:spcPct val="120000"/>
              </a:lnSpc>
              <a:buFont typeface="宋体" panose="02010600030101010101" pitchFamily="2" charset="-122"/>
              <a:buNone/>
            </a:pPr>
            <a:r>
              <a:rPr lang="en-US" altLang="zh-CN" dirty="0"/>
              <a:t>&lt;= </a:t>
            </a:r>
            <a:r>
              <a:rPr lang="en-US" altLang="zh-CN" dirty="0" smtClean="0"/>
              <a:t>ANY </a:t>
            </a:r>
            <a:r>
              <a:rPr lang="zh-CN" altLang="en-US" dirty="0" smtClean="0"/>
              <a:t>小于</a:t>
            </a:r>
            <a:r>
              <a:rPr lang="zh-CN" altLang="en-US" dirty="0"/>
              <a:t>等于子查询结果中的某个值    </a:t>
            </a:r>
          </a:p>
          <a:p>
            <a:pPr marL="990600" lvl="1" indent="-533400">
              <a:lnSpc>
                <a:spcPct val="120000"/>
              </a:lnSpc>
              <a:buFont typeface="宋体" panose="02010600030101010101" pitchFamily="2" charset="-122"/>
              <a:buNone/>
            </a:pPr>
            <a:r>
              <a:rPr lang="en-US" altLang="zh-CN" dirty="0"/>
              <a:t>&lt;= </a:t>
            </a:r>
            <a:r>
              <a:rPr lang="en-US" altLang="zh-CN" dirty="0" smtClean="0"/>
              <a:t>ALL </a:t>
            </a:r>
            <a:r>
              <a:rPr lang="zh-CN" altLang="en-US" dirty="0" smtClean="0"/>
              <a:t>小于</a:t>
            </a:r>
            <a:r>
              <a:rPr lang="zh-CN" altLang="en-US" dirty="0"/>
              <a:t>等于子查询结果中的所有值</a:t>
            </a:r>
          </a:p>
          <a:p>
            <a:pPr marL="990600" lvl="1" indent="-533400">
              <a:lnSpc>
                <a:spcPct val="120000"/>
              </a:lnSpc>
              <a:buFont typeface="宋体" panose="02010600030101010101" pitchFamily="2" charset="-122"/>
              <a:buNone/>
            </a:pPr>
            <a:r>
              <a:rPr lang="en-US" altLang="zh-CN" dirty="0"/>
              <a:t>= ANY	</a:t>
            </a:r>
            <a:r>
              <a:rPr lang="en-US" altLang="zh-CN" dirty="0" smtClean="0"/>
              <a:t> </a:t>
            </a:r>
            <a:r>
              <a:rPr lang="zh-CN" altLang="en-US" dirty="0" smtClean="0"/>
              <a:t>等于</a:t>
            </a:r>
            <a:r>
              <a:rPr lang="zh-CN" altLang="en-US" dirty="0"/>
              <a:t>子查询结果中的某个值        </a:t>
            </a:r>
          </a:p>
          <a:p>
            <a:pPr marL="990600" lvl="1" indent="-533400">
              <a:lnSpc>
                <a:spcPct val="120000"/>
              </a:lnSpc>
              <a:buFont typeface="宋体" panose="02010600030101010101" pitchFamily="2" charset="-122"/>
              <a:buNone/>
            </a:pPr>
            <a:r>
              <a:rPr lang="en-US" altLang="zh-CN" dirty="0" smtClean="0"/>
              <a:t>= ALL</a:t>
            </a:r>
            <a:r>
              <a:rPr lang="en-US" altLang="zh-CN" dirty="0"/>
              <a:t>	</a:t>
            </a:r>
            <a:r>
              <a:rPr lang="zh-CN" altLang="en-US" dirty="0"/>
              <a:t>等于子查询结果中的所有值（通常没有实际意义）</a:t>
            </a:r>
          </a:p>
          <a:p>
            <a:pPr marL="990600" lvl="1" indent="-533400">
              <a:lnSpc>
                <a:spcPct val="120000"/>
              </a:lnSpc>
              <a:buFont typeface="宋体" panose="02010600030101010101" pitchFamily="2" charset="-122"/>
              <a:buNone/>
            </a:pPr>
            <a:r>
              <a:rPr lang="en-US" altLang="zh-CN" dirty="0"/>
              <a:t>!=</a:t>
            </a:r>
            <a:r>
              <a:rPr lang="zh-CN" altLang="en-US" dirty="0"/>
              <a:t>（或</a:t>
            </a:r>
            <a:r>
              <a:rPr lang="en-US" altLang="zh-CN" dirty="0"/>
              <a:t>&lt;&gt;</a:t>
            </a:r>
            <a:r>
              <a:rPr lang="zh-CN" altLang="en-US" dirty="0"/>
              <a:t>）</a:t>
            </a:r>
            <a:r>
              <a:rPr lang="en-US" altLang="zh-CN" dirty="0" smtClean="0"/>
              <a:t>ANY </a:t>
            </a:r>
            <a:r>
              <a:rPr lang="zh-CN" altLang="en-US" dirty="0" smtClean="0"/>
              <a:t>不</a:t>
            </a:r>
            <a:r>
              <a:rPr lang="zh-CN" altLang="en-US" dirty="0"/>
              <a:t>等于子查询结果中的某个值</a:t>
            </a:r>
          </a:p>
          <a:p>
            <a:pPr marL="990600" lvl="1" indent="-533400">
              <a:lnSpc>
                <a:spcPct val="120000"/>
              </a:lnSpc>
              <a:buFont typeface="宋体" panose="02010600030101010101" pitchFamily="2" charset="-122"/>
              <a:buNone/>
            </a:pPr>
            <a:r>
              <a:rPr lang="en-US" altLang="zh-CN" dirty="0"/>
              <a:t>!=</a:t>
            </a:r>
            <a:r>
              <a:rPr lang="zh-CN" altLang="en-US" dirty="0"/>
              <a:t>（或</a:t>
            </a:r>
            <a:r>
              <a:rPr lang="en-US" altLang="zh-CN" dirty="0"/>
              <a:t>&lt;&gt;</a:t>
            </a:r>
            <a:r>
              <a:rPr lang="zh-CN" altLang="en-US" dirty="0"/>
              <a:t>）</a:t>
            </a:r>
            <a:r>
              <a:rPr lang="en-US" altLang="zh-CN" dirty="0"/>
              <a:t>ALL	</a:t>
            </a:r>
            <a:r>
              <a:rPr lang="zh-CN" altLang="en-US" dirty="0"/>
              <a:t>不等于子查询结果中的任何一个值</a:t>
            </a:r>
          </a:p>
          <a:p>
            <a:pPr marL="990600" lvl="1" indent="-533400">
              <a:lnSpc>
                <a:spcPct val="120000"/>
              </a:lnSpc>
              <a:buFont typeface="宋体" panose="02010600030101010101" pitchFamily="2" charset="-122"/>
              <a:buNone/>
            </a:pPr>
            <a:endParaRPr lang="en-US" altLang="zh-CN" dirty="0"/>
          </a:p>
          <a:p>
            <a:pPr marL="990600" lvl="1" indent="-533400">
              <a:lnSpc>
                <a:spcPct val="120000"/>
              </a:lnSpc>
              <a:buFont typeface="宋体" panose="02010600030101010101" pitchFamily="2" charset="-122"/>
              <a:buNone/>
            </a:pPr>
            <a:endParaRPr lang="zh-CN" altLang="en-US" dirty="0" smtClean="0"/>
          </a:p>
        </p:txBody>
      </p:sp>
    </p:spTree>
    <p:extLst>
      <p:ext uri="{BB962C8B-B14F-4D97-AF65-F5344CB8AC3E}">
        <p14:creationId xmlns:p14="http://schemas.microsoft.com/office/powerpoint/2010/main" val="348582725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1490" name="Rectangle 2"/>
          <p:cNvSpPr>
            <a:spLocks noGrp="1" noChangeArrowheads="1"/>
          </p:cNvSpPr>
          <p:nvPr>
            <p:ph type="title"/>
          </p:nvPr>
        </p:nvSpPr>
        <p:spPr>
          <a:xfrm>
            <a:off x="347373" y="223838"/>
            <a:ext cx="8263227" cy="609600"/>
          </a:xfrm>
        </p:spPr>
        <p:txBody>
          <a:bodyPr>
            <a:noAutofit/>
          </a:bodyPr>
          <a:lstStyle/>
          <a:p>
            <a:r>
              <a:rPr lang="zh-CN" altLang="en-US" sz="3200" dirty="0"/>
              <a:t>带有</a:t>
            </a:r>
            <a:r>
              <a:rPr lang="en-US" altLang="zh-CN" sz="3200" dirty="0"/>
              <a:t>ANY</a:t>
            </a:r>
            <a:r>
              <a:rPr lang="zh-CN" altLang="en-US" sz="3200" dirty="0"/>
              <a:t>（</a:t>
            </a:r>
            <a:r>
              <a:rPr lang="en-US" altLang="zh-CN" sz="3200" dirty="0"/>
              <a:t>SOME</a:t>
            </a:r>
            <a:r>
              <a:rPr lang="zh-CN" altLang="en-US" sz="3200" dirty="0"/>
              <a:t>）或</a:t>
            </a:r>
            <a:r>
              <a:rPr lang="en-US" altLang="zh-CN" sz="3200" dirty="0"/>
              <a:t>ALL</a:t>
            </a:r>
            <a:r>
              <a:rPr lang="zh-CN" altLang="en-US" sz="3200" dirty="0"/>
              <a:t>谓词的子查询 （续）</a:t>
            </a:r>
            <a:endParaRPr lang="en-US" altLang="zh-CN" sz="3200" dirty="0" smtClean="0">
              <a:ea typeface="宋体" panose="02010600030101010101" pitchFamily="2" charset="-122"/>
            </a:endParaRPr>
          </a:p>
        </p:txBody>
      </p:sp>
      <p:grpSp>
        <p:nvGrpSpPr>
          <p:cNvPr id="191491" name="Group 5"/>
          <p:cNvGrpSpPr>
            <a:grpSpLocks/>
          </p:cNvGrpSpPr>
          <p:nvPr/>
        </p:nvGrpSpPr>
        <p:grpSpPr bwMode="auto">
          <a:xfrm>
            <a:off x="2105025" y="1952625"/>
            <a:ext cx="457200" cy="1066800"/>
            <a:chOff x="2448" y="1296"/>
            <a:chExt cx="288" cy="960"/>
          </a:xfrm>
        </p:grpSpPr>
        <p:sp>
          <p:nvSpPr>
            <p:cNvPr id="191510" name="Rectangle 6"/>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511" name="Rectangle 7"/>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512" name="Rectangle 8"/>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grpSp>
      <p:sp>
        <p:nvSpPr>
          <p:cNvPr id="191492" name="Text Box 9"/>
          <p:cNvSpPr txBox="1">
            <a:spLocks noChangeArrowheads="1"/>
          </p:cNvSpPr>
          <p:nvPr/>
        </p:nvSpPr>
        <p:spPr bwMode="auto">
          <a:xfrm>
            <a:off x="857250" y="2286000"/>
            <a:ext cx="1350963"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493" name="Text Box 10"/>
          <p:cNvSpPr txBox="1">
            <a:spLocks noChangeArrowheads="1"/>
          </p:cNvSpPr>
          <p:nvPr/>
        </p:nvSpPr>
        <p:spPr bwMode="auto">
          <a:xfrm>
            <a:off x="2638425" y="2257425"/>
            <a:ext cx="9144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 = true</a:t>
            </a:r>
          </a:p>
        </p:txBody>
      </p:sp>
      <p:sp>
        <p:nvSpPr>
          <p:cNvPr id="191494" name="Rectangle 13"/>
          <p:cNvSpPr>
            <a:spLocks noChangeArrowheads="1"/>
          </p:cNvSpPr>
          <p:nvPr/>
        </p:nvSpPr>
        <p:spPr bwMode="auto">
          <a:xfrm>
            <a:off x="2105025" y="3171825"/>
            <a:ext cx="457200" cy="381000"/>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495" name="Rectangle 14"/>
          <p:cNvSpPr>
            <a:spLocks noChangeArrowheads="1"/>
          </p:cNvSpPr>
          <p:nvPr/>
        </p:nvSpPr>
        <p:spPr bwMode="auto">
          <a:xfrm>
            <a:off x="2105025" y="3476625"/>
            <a:ext cx="457200" cy="2968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496" name="Rectangle 15"/>
          <p:cNvSpPr>
            <a:spLocks noChangeArrowheads="1"/>
          </p:cNvSpPr>
          <p:nvPr/>
        </p:nvSpPr>
        <p:spPr bwMode="auto">
          <a:xfrm>
            <a:off x="2105025" y="393065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497" name="Text Box 17"/>
          <p:cNvSpPr txBox="1">
            <a:spLocks noChangeArrowheads="1"/>
          </p:cNvSpPr>
          <p:nvPr/>
        </p:nvSpPr>
        <p:spPr bwMode="auto">
          <a:xfrm>
            <a:off x="2638425" y="34163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 = false</a:t>
            </a:r>
          </a:p>
        </p:txBody>
      </p:sp>
      <p:sp>
        <p:nvSpPr>
          <p:cNvPr id="191498" name="Rectangle 19"/>
          <p:cNvSpPr>
            <a:spLocks noChangeArrowheads="1"/>
          </p:cNvSpPr>
          <p:nvPr/>
        </p:nvSpPr>
        <p:spPr bwMode="auto">
          <a:xfrm>
            <a:off x="2105025" y="423545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499" name="Rectangle 20"/>
          <p:cNvSpPr>
            <a:spLocks noChangeArrowheads="1"/>
          </p:cNvSpPr>
          <p:nvPr/>
        </p:nvSpPr>
        <p:spPr bwMode="auto">
          <a:xfrm>
            <a:off x="2105025" y="47720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1500" name="Rectangle 21"/>
          <p:cNvSpPr>
            <a:spLocks noChangeArrowheads="1"/>
          </p:cNvSpPr>
          <p:nvPr/>
        </p:nvSpPr>
        <p:spPr bwMode="auto">
          <a:xfrm>
            <a:off x="2105025" y="5076825"/>
            <a:ext cx="457200" cy="3095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1501" name="Text Box 22"/>
          <p:cNvSpPr txBox="1">
            <a:spLocks noChangeArrowheads="1"/>
          </p:cNvSpPr>
          <p:nvPr/>
        </p:nvSpPr>
        <p:spPr bwMode="auto">
          <a:xfrm>
            <a:off x="809625" y="5000625"/>
            <a:ext cx="14478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some</a:t>
            </a:r>
          </a:p>
        </p:txBody>
      </p:sp>
      <p:sp>
        <p:nvSpPr>
          <p:cNvPr id="191502" name="Text Box 23"/>
          <p:cNvSpPr txBox="1">
            <a:spLocks noChangeArrowheads="1"/>
          </p:cNvSpPr>
          <p:nvPr/>
        </p:nvSpPr>
        <p:spPr bwMode="auto">
          <a:xfrm>
            <a:off x="2638425" y="5000625"/>
            <a:ext cx="25146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 = true (since 0 </a:t>
            </a:r>
            <a:r>
              <a:rPr lang="en-US" altLang="zh-CN" sz="2400" dirty="0">
                <a:latin typeface="Times New Roman" panose="02020603050405020304" pitchFamily="18" charset="0"/>
                <a:ea typeface="宋体" panose="02010600030101010101" pitchFamily="2" charset="-122"/>
                <a:sym typeface="Symbol" panose="05050102010706020507" pitchFamily="18" charset="2"/>
              </a:rPr>
              <a:t> </a:t>
            </a:r>
            <a:r>
              <a:rPr lang="en-US" altLang="zh-CN" sz="1800" dirty="0">
                <a:latin typeface="Arial" panose="020B0604020202020204" pitchFamily="34" charset="0"/>
                <a:ea typeface="宋体" panose="02010600030101010101" pitchFamily="2" charset="-122"/>
                <a:sym typeface="Symbol" panose="05050102010706020507" pitchFamily="18" charset="2"/>
              </a:rPr>
              <a:t>5)</a:t>
            </a:r>
            <a:endParaRPr lang="en-US" altLang="zh-CN" sz="2400" dirty="0">
              <a:latin typeface="Times New Roman" panose="02020603050405020304" pitchFamily="18" charset="0"/>
              <a:ea typeface="宋体" panose="02010600030101010101" pitchFamily="2" charset="-122"/>
              <a:sym typeface="Symbol" panose="05050102010706020507" pitchFamily="18" charset="2"/>
            </a:endParaRPr>
          </a:p>
        </p:txBody>
      </p:sp>
      <p:sp>
        <p:nvSpPr>
          <p:cNvPr id="191503" name="Text Box 24"/>
          <p:cNvSpPr txBox="1">
            <a:spLocks noChangeArrowheads="1"/>
          </p:cNvSpPr>
          <p:nvPr/>
        </p:nvSpPr>
        <p:spPr bwMode="auto">
          <a:xfrm>
            <a:off x="3738563" y="2486025"/>
            <a:ext cx="48768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(read:  5 &lt; some tuple in the relation) </a:t>
            </a:r>
          </a:p>
        </p:txBody>
      </p:sp>
      <p:sp>
        <p:nvSpPr>
          <p:cNvPr id="191504" name="Text Box 25"/>
          <p:cNvSpPr txBox="1">
            <a:spLocks noChangeArrowheads="1"/>
          </p:cNvSpPr>
          <p:nvPr/>
        </p:nvSpPr>
        <p:spPr bwMode="auto">
          <a:xfrm>
            <a:off x="844550" y="3402013"/>
            <a:ext cx="1377950" cy="3667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505" name="Text Box 26"/>
          <p:cNvSpPr txBox="1">
            <a:spLocks noChangeArrowheads="1"/>
          </p:cNvSpPr>
          <p:nvPr/>
        </p:nvSpPr>
        <p:spPr bwMode="auto">
          <a:xfrm>
            <a:off x="2638425" y="415925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dirty="0">
                <a:latin typeface="Arial" panose="020B0604020202020204" pitchFamily="34" charset="0"/>
                <a:ea typeface="宋体" panose="02010600030101010101" pitchFamily="2" charset="-122"/>
              </a:rPr>
              <a:t>) = true</a:t>
            </a:r>
          </a:p>
        </p:txBody>
      </p:sp>
      <p:sp>
        <p:nvSpPr>
          <p:cNvPr id="191506" name="Text Box 27"/>
          <p:cNvSpPr txBox="1">
            <a:spLocks noChangeArrowheads="1"/>
          </p:cNvSpPr>
          <p:nvPr/>
        </p:nvSpPr>
        <p:spPr bwMode="auto">
          <a:xfrm>
            <a:off x="885825" y="4162425"/>
            <a:ext cx="15240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 </a:t>
            </a:r>
            <a:r>
              <a:rPr lang="en-US" altLang="zh-CN" sz="1800" b="1">
                <a:latin typeface="Arial" panose="020B0604020202020204" pitchFamily="34" charset="0"/>
                <a:ea typeface="宋体" panose="02010600030101010101" pitchFamily="2" charset="-122"/>
              </a:rPr>
              <a:t>some</a:t>
            </a:r>
            <a:endParaRPr lang="en-US" altLang="zh-CN" sz="1800">
              <a:latin typeface="Arial" panose="020B0604020202020204" pitchFamily="34" charset="0"/>
              <a:ea typeface="宋体" panose="02010600030101010101" pitchFamily="2" charset="-122"/>
            </a:endParaRPr>
          </a:p>
        </p:txBody>
      </p:sp>
      <p:sp>
        <p:nvSpPr>
          <p:cNvPr id="191507" name="Rectangle 28"/>
          <p:cNvSpPr>
            <a:spLocks noChangeArrowheads="1"/>
          </p:cNvSpPr>
          <p:nvPr/>
        </p:nvSpPr>
        <p:spPr bwMode="auto">
          <a:xfrm>
            <a:off x="738188" y="5472113"/>
            <a:ext cx="6800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some</a:t>
            </a:r>
            <a:r>
              <a:rPr lang="en-US" altLang="zh-CN" sz="1800">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sym typeface="Symbol" panose="05050102010706020507" pitchFamily="18" charset="2"/>
              </a:rPr>
              <a:t> </a:t>
            </a:r>
            <a:r>
              <a:rPr lang="en-US" altLang="zh-CN" sz="1800" b="1">
                <a:latin typeface="Arial" panose="020B0604020202020204" pitchFamily="34" charset="0"/>
                <a:ea typeface="宋体" panose="02010600030101010101" pitchFamily="2" charset="-122"/>
                <a:sym typeface="Symbol" panose="05050102010706020507" pitchFamily="18" charset="2"/>
              </a:rPr>
              <a:t>in</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sym typeface="Symbol" panose="05050102010706020507" pitchFamily="18" charset="2"/>
              </a:rPr>
              <a:t>However, ( </a:t>
            </a:r>
            <a:r>
              <a:rPr lang="en-US" altLang="zh-CN" sz="1800" b="1">
                <a:latin typeface="Arial" panose="020B0604020202020204" pitchFamily="34" charset="0"/>
                <a:ea typeface="宋体" panose="02010600030101010101" pitchFamily="2" charset="-122"/>
                <a:sym typeface="Symbol" panose="05050102010706020507" pitchFamily="18" charset="2"/>
              </a:rPr>
              <a:t>some</a:t>
            </a:r>
            <a:r>
              <a:rPr lang="en-US" altLang="zh-CN" sz="1800">
                <a:latin typeface="Arial" panose="020B0604020202020204" pitchFamily="34" charset="0"/>
                <a:ea typeface="宋体" panose="02010600030101010101" pitchFamily="2" charset="-122"/>
                <a:sym typeface="Symbol" panose="05050102010706020507" pitchFamily="18" charset="2"/>
              </a:rPr>
              <a:t>)  </a:t>
            </a:r>
            <a:r>
              <a:rPr lang="en-US" altLang="zh-CN" sz="1800" b="1">
                <a:latin typeface="Arial" panose="020B0604020202020204" pitchFamily="34" charset="0"/>
                <a:ea typeface="宋体" panose="02010600030101010101" pitchFamily="2" charset="-122"/>
                <a:sym typeface="Symbol" panose="05050102010706020507" pitchFamily="18" charset="2"/>
              </a:rPr>
              <a:t>not in</a:t>
            </a:r>
            <a:endParaRPr lang="en-US" altLang="zh-CN" sz="1800">
              <a:latin typeface="Arial" panose="020B0604020202020204" pitchFamily="34" charset="0"/>
              <a:ea typeface="宋体" panose="02010600030101010101" pitchFamily="2" charset="-122"/>
              <a:sym typeface="Symbol" panose="05050102010706020507" pitchFamily="18" charset="2"/>
            </a:endParaRPr>
          </a:p>
        </p:txBody>
      </p:sp>
      <p:sp>
        <p:nvSpPr>
          <p:cNvPr id="191508" name="Line 29"/>
          <p:cNvSpPr>
            <a:spLocks noChangeShapeType="1"/>
          </p:cNvSpPr>
          <p:nvPr/>
        </p:nvSpPr>
        <p:spPr bwMode="auto">
          <a:xfrm flipH="1">
            <a:off x="2819400" y="5840413"/>
            <a:ext cx="122238" cy="2794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1509" name="内容占位符 24"/>
          <p:cNvSpPr>
            <a:spLocks noGrp="1"/>
          </p:cNvSpPr>
          <p:nvPr>
            <p:ph idx="1"/>
          </p:nvPr>
        </p:nvSpPr>
        <p:spPr>
          <a:xfrm>
            <a:off x="723900" y="1385455"/>
            <a:ext cx="7886700" cy="4629584"/>
          </a:xfrm>
        </p:spPr>
        <p:txBody>
          <a:bodyPr/>
          <a:lstStyle/>
          <a:p>
            <a:r>
              <a:rPr lang="en-US" altLang="zh-CN" dirty="0" smtClean="0">
                <a:ea typeface="宋体" panose="02010600030101010101" pitchFamily="2" charset="-122"/>
              </a:rPr>
              <a:t>Any </a:t>
            </a:r>
            <a:r>
              <a:rPr lang="zh-CN" altLang="en-US" dirty="0" smtClean="0">
                <a:ea typeface="宋体" panose="02010600030101010101" pitchFamily="2" charset="-122"/>
              </a:rPr>
              <a:t>与 </a:t>
            </a:r>
            <a:r>
              <a:rPr lang="en-US" altLang="zh-CN" dirty="0" smtClean="0">
                <a:ea typeface="宋体" panose="02010600030101010101" pitchFamily="2" charset="-122"/>
              </a:rPr>
              <a:t>Some </a:t>
            </a:r>
            <a:r>
              <a:rPr lang="zh-CN" altLang="en-US" dirty="0" smtClean="0">
                <a:ea typeface="宋体" panose="02010600030101010101" pitchFamily="2" charset="-122"/>
              </a:rPr>
              <a:t>等价</a:t>
            </a:r>
          </a:p>
        </p:txBody>
      </p:sp>
    </p:spTree>
    <p:extLst>
      <p:ext uri="{BB962C8B-B14F-4D97-AF65-F5344CB8AC3E}">
        <p14:creationId xmlns:p14="http://schemas.microsoft.com/office/powerpoint/2010/main" val="23209209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1493">
                                            <p:txEl>
                                              <p:pRg st="0" end="0"/>
                                            </p:txEl>
                                          </p:spTgt>
                                        </p:tgtEl>
                                        <p:attrNameLst>
                                          <p:attrName>style.visibility</p:attrName>
                                        </p:attrNameLst>
                                      </p:cBhvr>
                                      <p:to>
                                        <p:strVal val="visible"/>
                                      </p:to>
                                    </p:set>
                                    <p:anim calcmode="lin" valueType="num">
                                      <p:cBhvr additive="base">
                                        <p:cTn id="7" dur="500" fill="hold"/>
                                        <p:tgtEl>
                                          <p:spTgt spid="19149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1493">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1497">
                                            <p:txEl>
                                              <p:pRg st="0" end="0"/>
                                            </p:txEl>
                                          </p:spTgt>
                                        </p:tgtEl>
                                        <p:attrNameLst>
                                          <p:attrName>style.visibility</p:attrName>
                                        </p:attrNameLst>
                                      </p:cBhvr>
                                      <p:to>
                                        <p:strVal val="visible"/>
                                      </p:to>
                                    </p:set>
                                    <p:anim calcmode="lin" valueType="num">
                                      <p:cBhvr additive="base">
                                        <p:cTn id="13" dur="500" fill="hold"/>
                                        <p:tgtEl>
                                          <p:spTgt spid="191497">
                                            <p:txEl>
                                              <p:pRg st="0" end="0"/>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1497">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1505">
                                            <p:txEl>
                                              <p:pRg st="0" end="0"/>
                                            </p:txEl>
                                          </p:spTgt>
                                        </p:tgtEl>
                                        <p:attrNameLst>
                                          <p:attrName>style.visibility</p:attrName>
                                        </p:attrNameLst>
                                      </p:cBhvr>
                                      <p:to>
                                        <p:strVal val="visible"/>
                                      </p:to>
                                    </p:set>
                                    <p:anim calcmode="lin" valueType="num">
                                      <p:cBhvr additive="base">
                                        <p:cTn id="19" dur="500" fill="hold"/>
                                        <p:tgtEl>
                                          <p:spTgt spid="191505">
                                            <p:txEl>
                                              <p:pRg st="0" end="0"/>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1505">
                                            <p:txEl>
                                              <p:pRg st="0" end="0"/>
                                            </p:txEl>
                                          </p:spTgt>
                                        </p:tgtEl>
                                        <p:attrNameLst>
                                          <p:attrName>ppt_y</p:attrName>
                                        </p:attrNameLst>
                                      </p:cBhvr>
                                      <p:tavLst>
                                        <p:tav tm="0">
                                          <p:val>
                                            <p:strVal val="1+#ppt_h/2"/>
                                          </p:val>
                                        </p:tav>
                                        <p:tav tm="100000">
                                          <p:val>
                                            <p:strVal val="#ppt_y"/>
                                          </p:val>
                                        </p:tav>
                                      </p:tavLst>
                                    </p:anim>
                                  </p:childTnLst>
                                </p:cTn>
                              </p:par>
                            </p:childTnLst>
                          </p:cTn>
                        </p:par>
                      </p:childTnLst>
                    </p:cTn>
                  </p:par>
                  <p:par>
                    <p:cTn id="21" fill="hold">
                      <p:stCondLst>
                        <p:cond delay="indefinite"/>
                      </p:stCondLst>
                      <p:childTnLst>
                        <p:par>
                          <p:cTn id="22" fill="hold">
                            <p:stCondLst>
                              <p:cond delay="0"/>
                            </p:stCondLst>
                            <p:childTnLst>
                              <p:par>
                                <p:cTn id="23" presetID="2" presetClass="entr" presetSubtype="4" fill="hold" nodeType="clickEffect">
                                  <p:stCondLst>
                                    <p:cond delay="0"/>
                                  </p:stCondLst>
                                  <p:childTnLst>
                                    <p:set>
                                      <p:cBhvr>
                                        <p:cTn id="24" dur="1" fill="hold">
                                          <p:stCondLst>
                                            <p:cond delay="0"/>
                                          </p:stCondLst>
                                        </p:cTn>
                                        <p:tgtEl>
                                          <p:spTgt spid="191502">
                                            <p:txEl>
                                              <p:pRg st="0" end="0"/>
                                            </p:txEl>
                                          </p:spTgt>
                                        </p:tgtEl>
                                        <p:attrNameLst>
                                          <p:attrName>style.visibility</p:attrName>
                                        </p:attrNameLst>
                                      </p:cBhvr>
                                      <p:to>
                                        <p:strVal val="visible"/>
                                      </p:to>
                                    </p:set>
                                    <p:anim calcmode="lin" valueType="num">
                                      <p:cBhvr additive="base">
                                        <p:cTn id="25" dur="500" fill="hold"/>
                                        <p:tgtEl>
                                          <p:spTgt spid="191502">
                                            <p:txEl>
                                              <p:pRg st="0" end="0"/>
                                            </p:txEl>
                                          </p:spTgt>
                                        </p:tgtEl>
                                        <p:attrNameLst>
                                          <p:attrName>ppt_x</p:attrName>
                                        </p:attrNameLst>
                                      </p:cBhvr>
                                      <p:tavLst>
                                        <p:tav tm="0">
                                          <p:val>
                                            <p:strVal val="#ppt_x"/>
                                          </p:val>
                                        </p:tav>
                                        <p:tav tm="100000">
                                          <p:val>
                                            <p:strVal val="#ppt_x"/>
                                          </p:val>
                                        </p:tav>
                                      </p:tavLst>
                                    </p:anim>
                                    <p:anim calcmode="lin" valueType="num">
                                      <p:cBhvr additive="base">
                                        <p:cTn id="26" dur="500" fill="hold"/>
                                        <p:tgtEl>
                                          <p:spTgt spid="191502">
                                            <p:txEl>
                                              <p:pRg st="0" end="0"/>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62" name="Rectangle 2"/>
          <p:cNvSpPr>
            <a:spLocks noGrp="1" noChangeArrowheads="1"/>
          </p:cNvSpPr>
          <p:nvPr>
            <p:ph type="title"/>
          </p:nvPr>
        </p:nvSpPr>
        <p:spPr>
          <a:xfrm>
            <a:off x="529936" y="-53340"/>
            <a:ext cx="7886700" cy="1325563"/>
          </a:xfrm>
        </p:spPr>
        <p:txBody>
          <a:bodyPr>
            <a:normAutofit/>
          </a:bodyPr>
          <a:lstStyle/>
          <a:p>
            <a:r>
              <a:rPr lang="zh-CN" altLang="en-US" sz="3200" dirty="0"/>
              <a:t>带有</a:t>
            </a:r>
            <a:r>
              <a:rPr lang="en-US" altLang="zh-CN" sz="3200" dirty="0"/>
              <a:t>ANY</a:t>
            </a:r>
            <a:r>
              <a:rPr lang="zh-CN" altLang="en-US" sz="3200" dirty="0"/>
              <a:t>（</a:t>
            </a:r>
            <a:r>
              <a:rPr lang="en-US" altLang="zh-CN" sz="3200" dirty="0"/>
              <a:t>SOME</a:t>
            </a:r>
            <a:r>
              <a:rPr lang="zh-CN" altLang="en-US" sz="3200" dirty="0"/>
              <a:t>）或</a:t>
            </a:r>
            <a:r>
              <a:rPr lang="en-US" altLang="zh-CN" sz="3200" dirty="0"/>
              <a:t>ALL</a:t>
            </a:r>
            <a:r>
              <a:rPr lang="zh-CN" altLang="en-US" sz="3200" dirty="0"/>
              <a:t>谓词的子查询 （续）</a:t>
            </a:r>
            <a:endParaRPr lang="en-US" altLang="zh-CN" sz="3200" dirty="0" smtClean="0">
              <a:ea typeface="宋体" panose="02010600030101010101" pitchFamily="2" charset="-122"/>
            </a:endParaRPr>
          </a:p>
        </p:txBody>
      </p:sp>
      <p:grpSp>
        <p:nvGrpSpPr>
          <p:cNvPr id="194563" name="Group 4"/>
          <p:cNvGrpSpPr>
            <a:grpSpLocks/>
          </p:cNvGrpSpPr>
          <p:nvPr/>
        </p:nvGrpSpPr>
        <p:grpSpPr bwMode="auto">
          <a:xfrm>
            <a:off x="2619375" y="1752600"/>
            <a:ext cx="457200" cy="1066800"/>
            <a:chOff x="2448" y="1296"/>
            <a:chExt cx="288" cy="960"/>
          </a:xfrm>
        </p:grpSpPr>
        <p:sp>
          <p:nvSpPr>
            <p:cNvPr id="194581" name="Rectangle 5"/>
            <p:cNvSpPr>
              <a:spLocks noChangeArrowheads="1"/>
            </p:cNvSpPr>
            <p:nvPr/>
          </p:nvSpPr>
          <p:spPr bwMode="auto">
            <a:xfrm>
              <a:off x="2448" y="1296"/>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0</a:t>
              </a:r>
            </a:p>
          </p:txBody>
        </p:sp>
        <p:sp>
          <p:nvSpPr>
            <p:cNvPr id="194582" name="Rectangle 6"/>
            <p:cNvSpPr>
              <a:spLocks noChangeArrowheads="1"/>
            </p:cNvSpPr>
            <p:nvPr/>
          </p:nvSpPr>
          <p:spPr bwMode="auto">
            <a:xfrm>
              <a:off x="2448" y="1584"/>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4583" name="Rectangle 7"/>
            <p:cNvSpPr>
              <a:spLocks noChangeArrowheads="1"/>
            </p:cNvSpPr>
            <p:nvPr/>
          </p:nvSpPr>
          <p:spPr bwMode="auto">
            <a:xfrm>
              <a:off x="2448" y="1920"/>
              <a:ext cx="288" cy="336"/>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grpSp>
      <p:sp>
        <p:nvSpPr>
          <p:cNvPr id="194564" name="Text Box 8"/>
          <p:cNvSpPr txBox="1">
            <a:spLocks noChangeArrowheads="1"/>
          </p:cNvSpPr>
          <p:nvPr/>
        </p:nvSpPr>
        <p:spPr bwMode="auto">
          <a:xfrm>
            <a:off x="1593850" y="2057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65" name="Text Box 9"/>
          <p:cNvSpPr txBox="1">
            <a:spLocks noChangeArrowheads="1"/>
          </p:cNvSpPr>
          <p:nvPr/>
        </p:nvSpPr>
        <p:spPr bwMode="auto">
          <a:xfrm>
            <a:off x="3152775" y="2057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false</a:t>
            </a:r>
          </a:p>
        </p:txBody>
      </p:sp>
      <p:sp>
        <p:nvSpPr>
          <p:cNvPr id="194566" name="Rectangle 10"/>
          <p:cNvSpPr>
            <a:spLocks noChangeArrowheads="1"/>
          </p:cNvSpPr>
          <p:nvPr/>
        </p:nvSpPr>
        <p:spPr bwMode="auto">
          <a:xfrm>
            <a:off x="2619375" y="2971800"/>
            <a:ext cx="457200" cy="381000"/>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sp>
        <p:nvSpPr>
          <p:cNvPr id="194567" name="Rectangle 11"/>
          <p:cNvSpPr>
            <a:spLocks noChangeArrowheads="1"/>
          </p:cNvSpPr>
          <p:nvPr/>
        </p:nvSpPr>
        <p:spPr bwMode="auto">
          <a:xfrm>
            <a:off x="2619375" y="3276600"/>
            <a:ext cx="457200" cy="2968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10</a:t>
            </a:r>
          </a:p>
        </p:txBody>
      </p:sp>
      <p:sp>
        <p:nvSpPr>
          <p:cNvPr id="194568" name="Rectangle 12"/>
          <p:cNvSpPr>
            <a:spLocks noChangeArrowheads="1"/>
          </p:cNvSpPr>
          <p:nvPr/>
        </p:nvSpPr>
        <p:spPr bwMode="auto">
          <a:xfrm>
            <a:off x="2619375" y="37306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4</a:t>
            </a:r>
          </a:p>
        </p:txBody>
      </p:sp>
      <p:sp>
        <p:nvSpPr>
          <p:cNvPr id="194569" name="Text Box 13"/>
          <p:cNvSpPr txBox="1">
            <a:spLocks noChangeArrowheads="1"/>
          </p:cNvSpPr>
          <p:nvPr/>
        </p:nvSpPr>
        <p:spPr bwMode="auto">
          <a:xfrm>
            <a:off x="3152775" y="321627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a:t>
            </a:r>
          </a:p>
        </p:txBody>
      </p:sp>
      <p:sp>
        <p:nvSpPr>
          <p:cNvPr id="194570" name="Rectangle 14"/>
          <p:cNvSpPr>
            <a:spLocks noChangeArrowheads="1"/>
          </p:cNvSpPr>
          <p:nvPr/>
        </p:nvSpPr>
        <p:spPr bwMode="auto">
          <a:xfrm>
            <a:off x="2619375" y="4035425"/>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5</a:t>
            </a:r>
          </a:p>
        </p:txBody>
      </p:sp>
      <p:sp>
        <p:nvSpPr>
          <p:cNvPr id="194571" name="Rectangle 15"/>
          <p:cNvSpPr>
            <a:spLocks noChangeArrowheads="1"/>
          </p:cNvSpPr>
          <p:nvPr/>
        </p:nvSpPr>
        <p:spPr bwMode="auto">
          <a:xfrm>
            <a:off x="2619375" y="4572000"/>
            <a:ext cx="457200" cy="307975"/>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4</a:t>
            </a:r>
          </a:p>
        </p:txBody>
      </p:sp>
      <p:sp>
        <p:nvSpPr>
          <p:cNvPr id="194572" name="Rectangle 16"/>
          <p:cNvSpPr>
            <a:spLocks noChangeArrowheads="1"/>
          </p:cNvSpPr>
          <p:nvPr/>
        </p:nvSpPr>
        <p:spPr bwMode="auto">
          <a:xfrm>
            <a:off x="2619375" y="4876800"/>
            <a:ext cx="457200" cy="309563"/>
          </a:xfrm>
          <a:prstGeom prst="rect">
            <a:avLst/>
          </a:prstGeom>
          <a:solidFill>
            <a:schemeClr val="bg1"/>
          </a:solidFill>
          <a:ln w="12700">
            <a:solidFill>
              <a:schemeClr val="tx1"/>
            </a:solidFill>
            <a:miter lim="800000"/>
            <a:headEnd/>
            <a:tailEnd/>
          </a:ln>
        </p:spPr>
        <p:txBody>
          <a:bodyPr wrap="none" anchor="ct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algn="ctr" eaLnBrk="1" hangingPunct="1">
              <a:spcBef>
                <a:spcPct val="0"/>
              </a:spcBef>
              <a:buClrTx/>
              <a:buSzTx/>
              <a:buFontTx/>
              <a:buNone/>
            </a:pPr>
            <a:r>
              <a:rPr lang="en-US" altLang="zh-CN" sz="2400">
                <a:latin typeface="Times New Roman" panose="02020603050405020304" pitchFamily="18" charset="0"/>
                <a:ea typeface="宋体" panose="02010600030101010101" pitchFamily="2" charset="-122"/>
              </a:rPr>
              <a:t>6</a:t>
            </a:r>
          </a:p>
        </p:txBody>
      </p:sp>
      <p:sp>
        <p:nvSpPr>
          <p:cNvPr id="194573" name="Text Box 17"/>
          <p:cNvSpPr txBox="1">
            <a:spLocks noChangeArrowheads="1"/>
          </p:cNvSpPr>
          <p:nvPr/>
        </p:nvSpPr>
        <p:spPr bwMode="auto">
          <a:xfrm>
            <a:off x="1704975" y="4800600"/>
            <a:ext cx="16764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all</a:t>
            </a:r>
          </a:p>
        </p:txBody>
      </p:sp>
      <p:sp>
        <p:nvSpPr>
          <p:cNvPr id="194574" name="Text Box 18"/>
          <p:cNvSpPr txBox="1">
            <a:spLocks noChangeArrowheads="1"/>
          </p:cNvSpPr>
          <p:nvPr/>
        </p:nvSpPr>
        <p:spPr bwMode="auto">
          <a:xfrm>
            <a:off x="3163888" y="4786313"/>
            <a:ext cx="4572000" cy="4572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true (since 5 </a:t>
            </a:r>
            <a:r>
              <a:rPr lang="en-US" altLang="zh-CN" sz="2400">
                <a:latin typeface="Times New Roman" panose="02020603050405020304" pitchFamily="18" charset="0"/>
                <a:ea typeface="宋体" panose="02010600030101010101" pitchFamily="2" charset="-122"/>
                <a:sym typeface="Symbol" panose="05050102010706020507" pitchFamily="18" charset="2"/>
              </a:rPr>
              <a:t> </a:t>
            </a:r>
            <a:r>
              <a:rPr lang="en-US" altLang="zh-CN" sz="1800">
                <a:latin typeface="Arial" panose="020B0604020202020204" pitchFamily="34" charset="0"/>
                <a:ea typeface="宋体" panose="02010600030101010101" pitchFamily="2" charset="-122"/>
                <a:sym typeface="Symbol" panose="05050102010706020507" pitchFamily="18" charset="2"/>
              </a:rPr>
              <a:t>4 and 5 </a:t>
            </a:r>
            <a:r>
              <a:rPr lang="en-US" altLang="zh-CN" sz="2400">
                <a:latin typeface="Times New Roman" panose="02020603050405020304" pitchFamily="18"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sym typeface="Symbol" panose="05050102010706020507" pitchFamily="18" charset="2"/>
              </a:rPr>
              <a:t> 6)</a:t>
            </a:r>
            <a:endParaRPr lang="en-US" altLang="zh-CN" sz="2400">
              <a:latin typeface="Times New Roman" panose="02020603050405020304" pitchFamily="18" charset="0"/>
              <a:ea typeface="宋体" panose="02010600030101010101" pitchFamily="2" charset="-122"/>
              <a:sym typeface="Symbol" panose="05050102010706020507" pitchFamily="18" charset="2"/>
            </a:endParaRPr>
          </a:p>
        </p:txBody>
      </p:sp>
      <p:sp>
        <p:nvSpPr>
          <p:cNvPr id="194575" name="Text Box 19"/>
          <p:cNvSpPr txBox="1">
            <a:spLocks noChangeArrowheads="1"/>
          </p:cNvSpPr>
          <p:nvPr/>
        </p:nvSpPr>
        <p:spPr bwMode="auto">
          <a:xfrm>
            <a:off x="1651000" y="322897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&lt;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76" name="Text Box 20"/>
          <p:cNvSpPr txBox="1">
            <a:spLocks noChangeArrowheads="1"/>
          </p:cNvSpPr>
          <p:nvPr/>
        </p:nvSpPr>
        <p:spPr bwMode="auto">
          <a:xfrm>
            <a:off x="3152775" y="3959225"/>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 = false</a:t>
            </a:r>
          </a:p>
        </p:txBody>
      </p:sp>
      <p:sp>
        <p:nvSpPr>
          <p:cNvPr id="194577" name="Text Box 21"/>
          <p:cNvSpPr txBox="1">
            <a:spLocks noChangeArrowheads="1"/>
          </p:cNvSpPr>
          <p:nvPr/>
        </p:nvSpPr>
        <p:spPr bwMode="auto">
          <a:xfrm>
            <a:off x="1704975" y="3962400"/>
            <a:ext cx="121920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50000"/>
              </a:spcBef>
              <a:buClrTx/>
              <a:buSzTx/>
              <a:buFontTx/>
              <a:buNone/>
            </a:pPr>
            <a:r>
              <a:rPr lang="en-US" altLang="zh-CN" sz="1800">
                <a:latin typeface="Arial" panose="020B0604020202020204" pitchFamily="34" charset="0"/>
                <a:ea typeface="宋体" panose="02010600030101010101" pitchFamily="2" charset="-122"/>
              </a:rPr>
              <a:t>(5 = </a:t>
            </a:r>
            <a:r>
              <a:rPr lang="en-US" altLang="zh-CN" sz="1800" b="1">
                <a:latin typeface="Arial" panose="020B0604020202020204" pitchFamily="34" charset="0"/>
                <a:ea typeface="宋体" panose="02010600030101010101" pitchFamily="2" charset="-122"/>
              </a:rPr>
              <a:t>all</a:t>
            </a:r>
            <a:endParaRPr lang="en-US" altLang="zh-CN" sz="1800">
              <a:latin typeface="Arial" panose="020B0604020202020204" pitchFamily="34" charset="0"/>
              <a:ea typeface="宋体" panose="02010600030101010101" pitchFamily="2" charset="-122"/>
            </a:endParaRPr>
          </a:p>
        </p:txBody>
      </p:sp>
      <p:sp>
        <p:nvSpPr>
          <p:cNvPr id="194578" name="Rectangle 22"/>
          <p:cNvSpPr>
            <a:spLocks noChangeArrowheads="1"/>
          </p:cNvSpPr>
          <p:nvPr/>
        </p:nvSpPr>
        <p:spPr bwMode="auto">
          <a:xfrm>
            <a:off x="1238250" y="5257800"/>
            <a:ext cx="6800850" cy="7143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a:solidFill>
                  <a:srgbClr val="000000"/>
                </a:solidFill>
                <a:miter lim="800000"/>
                <a:headEnd/>
                <a:tailEnd/>
              </a14:hiddenLine>
            </a:ext>
          </a:extLst>
        </p:spPr>
        <p:txBody>
          <a:bodyPr lIns="90488" tIns="44450" rIns="90488" bIns="44450"/>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0"/>
              </a:spcBef>
              <a:buClrTx/>
              <a:buSzTx/>
              <a:buFontTx/>
              <a:buNone/>
            </a:pPr>
            <a:r>
              <a:rPr lang="en-US" altLang="zh-CN" sz="1800">
                <a:latin typeface="Arial" panose="020B0604020202020204" pitchFamily="34" charset="0"/>
                <a:ea typeface="宋体" panose="02010600030101010101" pitchFamily="2" charset="-122"/>
              </a:rPr>
              <a:t>(</a:t>
            </a:r>
            <a:r>
              <a:rPr lang="en-US" altLang="zh-CN" sz="1800">
                <a:latin typeface="Arial" panose="020B0604020202020204" pitchFamily="34" charset="0"/>
                <a:ea typeface="宋体" panose="02010600030101010101" pitchFamily="2" charset="-122"/>
                <a:sym typeface="Symbol" panose="05050102010706020507" pitchFamily="18" charset="2"/>
              </a:rPr>
              <a:t></a:t>
            </a:r>
            <a:r>
              <a:rPr lang="en-US" altLang="zh-CN" sz="1800">
                <a:latin typeface="Arial" panose="020B0604020202020204" pitchFamily="34" charset="0"/>
                <a:ea typeface="宋体" panose="02010600030101010101" pitchFamily="2" charset="-122"/>
              </a:rPr>
              <a:t> </a:t>
            </a:r>
            <a:r>
              <a:rPr lang="en-US" altLang="zh-CN" sz="1800" b="1">
                <a:latin typeface="Arial" panose="020B0604020202020204" pitchFamily="34" charset="0"/>
                <a:ea typeface="宋体" panose="02010600030101010101" pitchFamily="2" charset="-122"/>
              </a:rPr>
              <a:t>all</a:t>
            </a:r>
            <a:r>
              <a:rPr lang="en-US" altLang="zh-CN" sz="1800">
                <a:latin typeface="Arial" panose="020B0604020202020204" pitchFamily="34" charset="0"/>
                <a:ea typeface="宋体" panose="02010600030101010101" pitchFamily="2" charset="-122"/>
              </a:rPr>
              <a:t>) </a:t>
            </a:r>
            <a:r>
              <a:rPr lang="en-US" altLang="zh-CN" sz="1800">
                <a:latin typeface="Arial" panose="020B0604020202020204" pitchFamily="34" charset="0"/>
                <a:ea typeface="宋体" panose="02010600030101010101" pitchFamily="2" charset="-122"/>
                <a:sym typeface="Symbol" panose="05050102010706020507" pitchFamily="18" charset="2"/>
              </a:rPr>
              <a:t> </a:t>
            </a:r>
            <a:r>
              <a:rPr lang="en-US" altLang="zh-CN" sz="1800" b="1">
                <a:latin typeface="Arial" panose="020B0604020202020204" pitchFamily="34" charset="0"/>
                <a:ea typeface="宋体" panose="02010600030101010101" pitchFamily="2" charset="-122"/>
                <a:sym typeface="Symbol" panose="05050102010706020507" pitchFamily="18" charset="2"/>
              </a:rPr>
              <a:t>not in</a:t>
            </a:r>
          </a:p>
          <a:p>
            <a:pPr eaLnBrk="1" hangingPunct="1">
              <a:spcBef>
                <a:spcPct val="0"/>
              </a:spcBef>
              <a:buClrTx/>
              <a:buSzTx/>
              <a:buFontTx/>
              <a:buNone/>
            </a:pPr>
            <a:r>
              <a:rPr lang="en-US" altLang="zh-CN" sz="1800">
                <a:latin typeface="Arial" panose="020B0604020202020204" pitchFamily="34" charset="0"/>
                <a:ea typeface="宋体" panose="02010600030101010101" pitchFamily="2" charset="-122"/>
                <a:sym typeface="Symbol" panose="05050102010706020507" pitchFamily="18" charset="2"/>
              </a:rPr>
              <a:t>However, (= </a:t>
            </a:r>
            <a:r>
              <a:rPr lang="en-US" altLang="zh-CN" sz="1800" b="1">
                <a:latin typeface="Arial" panose="020B0604020202020204" pitchFamily="34" charset="0"/>
                <a:ea typeface="宋体" panose="02010600030101010101" pitchFamily="2" charset="-122"/>
                <a:sym typeface="Symbol" panose="05050102010706020507" pitchFamily="18" charset="2"/>
              </a:rPr>
              <a:t>all</a:t>
            </a:r>
            <a:r>
              <a:rPr lang="en-US" altLang="zh-CN" sz="1800">
                <a:latin typeface="Arial" panose="020B0604020202020204" pitchFamily="34" charset="0"/>
                <a:ea typeface="宋体" panose="02010600030101010101" pitchFamily="2" charset="-122"/>
                <a:sym typeface="Symbol" panose="05050102010706020507" pitchFamily="18" charset="2"/>
              </a:rPr>
              <a:t>)  </a:t>
            </a:r>
            <a:r>
              <a:rPr lang="en-US" altLang="zh-CN" sz="1800" b="1">
                <a:latin typeface="Arial" panose="020B0604020202020204" pitchFamily="34" charset="0"/>
                <a:ea typeface="宋体" panose="02010600030101010101" pitchFamily="2" charset="-122"/>
                <a:sym typeface="Symbol" panose="05050102010706020507" pitchFamily="18" charset="2"/>
              </a:rPr>
              <a:t>in</a:t>
            </a:r>
          </a:p>
        </p:txBody>
      </p:sp>
      <p:sp>
        <p:nvSpPr>
          <p:cNvPr id="194579" name="Line 23"/>
          <p:cNvSpPr>
            <a:spLocks noChangeShapeType="1"/>
          </p:cNvSpPr>
          <p:nvPr/>
        </p:nvSpPr>
        <p:spPr bwMode="auto">
          <a:xfrm flipH="1">
            <a:off x="3016250" y="5603875"/>
            <a:ext cx="109538" cy="228600"/>
          </a:xfrm>
          <a:prstGeom prst="line">
            <a:avLst/>
          </a:prstGeom>
          <a:noFill/>
          <a:ln w="12700">
            <a:solidFill>
              <a:schemeClr val="tx1"/>
            </a:solidFill>
            <a:round/>
            <a:headEnd/>
            <a:tailEn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94580" name="内容占位符 23"/>
          <p:cNvSpPr>
            <a:spLocks noGrp="1"/>
          </p:cNvSpPr>
          <p:nvPr>
            <p:ph idx="1"/>
          </p:nvPr>
        </p:nvSpPr>
        <p:spPr/>
        <p:txBody>
          <a:bodyPr/>
          <a:lstStyle/>
          <a:p>
            <a:endParaRPr lang="zh-CN" altLang="en-US" dirty="0" smtClean="0">
              <a:ea typeface="宋体" panose="02010600030101010101" pitchFamily="2" charset="-122"/>
            </a:endParaRPr>
          </a:p>
        </p:txBody>
      </p:sp>
    </p:spTree>
    <p:extLst>
      <p:ext uri="{BB962C8B-B14F-4D97-AF65-F5344CB8AC3E}">
        <p14:creationId xmlns:p14="http://schemas.microsoft.com/office/powerpoint/2010/main" val="3551755009"/>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Rectangle 2"/>
          <p:cNvSpPr>
            <a:spLocks noGrp="1" noChangeArrowheads="1"/>
          </p:cNvSpPr>
          <p:nvPr>
            <p:ph type="title" idx="4294967295"/>
          </p:nvPr>
        </p:nvSpPr>
        <p:spPr>
          <a:xfrm>
            <a:off x="0" y="-33338"/>
            <a:ext cx="9144000"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49155" name="Rectangle 3"/>
          <p:cNvSpPr>
            <a:spLocks noGrp="1" noChangeArrowheads="1"/>
          </p:cNvSpPr>
          <p:nvPr>
            <p:ph type="body" idx="4294967295"/>
          </p:nvPr>
        </p:nvSpPr>
        <p:spPr>
          <a:xfrm>
            <a:off x="714664" y="1488210"/>
            <a:ext cx="7886700" cy="4351338"/>
          </a:xfrm>
        </p:spPr>
        <p:txBody>
          <a:bodyPr/>
          <a:lstStyle/>
          <a:p>
            <a:pPr marL="609600" indent="-609600"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3.58]  </a:t>
            </a:r>
            <a:r>
              <a:rPr lang="zh-CN" altLang="en-US" sz="2400" dirty="0" smtClean="0"/>
              <a:t>查询非计算机科学系中比计算机科学系任意一个学生年龄小的学生姓名和年龄</a:t>
            </a:r>
          </a:p>
          <a:p>
            <a:pPr marL="609600" indent="-609600" eaLnBrk="1" hangingPunct="1">
              <a:lnSpc>
                <a:spcPct val="110000"/>
              </a:lnSpc>
              <a:buFont typeface="宋体" panose="02010600030101010101" pitchFamily="2" charset="-122"/>
              <a:buNone/>
            </a:pPr>
            <a:r>
              <a:rPr lang="zh-CN" altLang="en-US" sz="2400" dirty="0" smtClean="0"/>
              <a:t>    </a:t>
            </a:r>
            <a:r>
              <a:rPr lang="en-US" altLang="zh-CN" sz="2400" dirty="0" smtClean="0"/>
              <a:t>SELECT </a:t>
            </a:r>
            <a:r>
              <a:rPr lang="en-US" altLang="zh-CN" sz="2400" dirty="0" err="1" smtClean="0"/>
              <a:t>Sname</a:t>
            </a:r>
            <a:r>
              <a:rPr lang="zh-CN" altLang="en-US" sz="2400" dirty="0" smtClean="0"/>
              <a:t>,</a:t>
            </a:r>
            <a:r>
              <a:rPr lang="en-US" altLang="zh-CN" sz="2400" dirty="0" smtClean="0"/>
              <a:t>Sage</a:t>
            </a:r>
          </a:p>
          <a:p>
            <a:pPr marL="609600" indent="-609600" eaLnBrk="1" hangingPunct="1">
              <a:lnSpc>
                <a:spcPct val="110000"/>
              </a:lnSpc>
              <a:buFont typeface="宋体" panose="02010600030101010101" pitchFamily="2" charset="-122"/>
              <a:buNone/>
            </a:pPr>
            <a:r>
              <a:rPr lang="en-US" altLang="zh-CN" sz="2400" dirty="0" smtClean="0"/>
              <a:t>    FROM    Student</a:t>
            </a:r>
          </a:p>
          <a:p>
            <a:pPr marL="609600" indent="-609600" eaLnBrk="1" hangingPunct="1">
              <a:lnSpc>
                <a:spcPct val="110000"/>
              </a:lnSpc>
              <a:buFont typeface="宋体" panose="02010600030101010101" pitchFamily="2" charset="-122"/>
              <a:buNone/>
            </a:pPr>
            <a:r>
              <a:rPr lang="en-US" altLang="zh-CN" sz="2400" dirty="0" smtClean="0"/>
              <a:t>    WHERE Sage &lt; </a:t>
            </a:r>
            <a:r>
              <a:rPr lang="en-US" altLang="zh-CN" sz="2400" dirty="0" smtClean="0">
                <a:solidFill>
                  <a:srgbClr val="D75B5B"/>
                </a:solidFill>
              </a:rPr>
              <a:t>ANY</a:t>
            </a:r>
            <a:r>
              <a:rPr lang="en-US" altLang="zh-CN" sz="2400" dirty="0" smtClean="0"/>
              <a:t> </a:t>
            </a:r>
            <a:r>
              <a:rPr lang="zh-CN" altLang="en-US" sz="2400" dirty="0" smtClean="0"/>
              <a:t>(</a:t>
            </a:r>
            <a:r>
              <a:rPr lang="en-US" altLang="zh-CN" sz="2400" dirty="0" smtClean="0"/>
              <a:t>SELECT  Sage</a:t>
            </a:r>
          </a:p>
          <a:p>
            <a:pPr marL="609600" indent="-609600" eaLnBrk="1" hangingPunct="1">
              <a:lnSpc>
                <a:spcPct val="110000"/>
              </a:lnSpc>
              <a:buFont typeface="宋体" panose="02010600030101010101" pitchFamily="2" charset="-122"/>
              <a:buNone/>
            </a:pPr>
            <a:r>
              <a:rPr lang="en-US" altLang="zh-CN" sz="2400" dirty="0" smtClean="0"/>
              <a:t>                                         FROM    Student</a:t>
            </a:r>
          </a:p>
          <a:p>
            <a:pPr marL="609600" indent="-609600" eaLnBrk="1" hangingPunct="1">
              <a:lnSpc>
                <a:spcPct val="110000"/>
              </a:lnSpc>
              <a:buFont typeface="宋体" panose="02010600030101010101" pitchFamily="2" charset="-122"/>
              <a:buNone/>
            </a:pPr>
            <a:r>
              <a:rPr lang="en-US" altLang="zh-CN" sz="2400" dirty="0" smtClean="0"/>
              <a:t>                                         WHERE </a:t>
            </a:r>
            <a:r>
              <a:rPr lang="en-US" altLang="zh-CN" sz="2400" dirty="0" err="1" smtClean="0"/>
              <a:t>Sdept</a:t>
            </a:r>
            <a:r>
              <a:rPr lang="en-US" altLang="zh-CN" sz="2400" dirty="0" smtClean="0"/>
              <a:t>= ' CS '</a:t>
            </a:r>
            <a:r>
              <a:rPr lang="zh-CN" altLang="en-US" sz="2400" dirty="0" smtClean="0"/>
              <a:t>)</a:t>
            </a:r>
          </a:p>
          <a:p>
            <a:pPr marL="609600" indent="-609600" eaLnBrk="1" hangingPunct="1">
              <a:lnSpc>
                <a:spcPct val="110000"/>
              </a:lnSpc>
              <a:buFont typeface="宋体" panose="02010600030101010101" pitchFamily="2" charset="-122"/>
              <a:buNone/>
            </a:pPr>
            <a:r>
              <a:rPr lang="en-US" altLang="zh-CN" sz="2400" dirty="0" smtClean="0"/>
              <a:t>     </a:t>
            </a:r>
            <a:r>
              <a:rPr lang="en-US" altLang="zh-CN" sz="2400" dirty="0" smtClean="0">
                <a:solidFill>
                  <a:srgbClr val="D75B5B"/>
                </a:solidFill>
              </a:rPr>
              <a:t>AND </a:t>
            </a:r>
            <a:r>
              <a:rPr lang="en-US" altLang="zh-CN" sz="2400" dirty="0" err="1" smtClean="0">
                <a:solidFill>
                  <a:srgbClr val="D75B5B"/>
                </a:solidFill>
              </a:rPr>
              <a:t>Sdept</a:t>
            </a:r>
            <a:r>
              <a:rPr lang="en-US" altLang="zh-CN" sz="2400" dirty="0" smtClean="0">
                <a:solidFill>
                  <a:srgbClr val="D75B5B"/>
                </a:solidFill>
              </a:rPr>
              <a:t> &lt;&gt; ‘CS '</a:t>
            </a:r>
            <a:r>
              <a:rPr lang="en-US" altLang="zh-CN" sz="2400" dirty="0" smtClean="0"/>
              <a:t> </a:t>
            </a:r>
            <a:r>
              <a:rPr lang="en-US" altLang="zh-CN" sz="2000" dirty="0" smtClean="0"/>
              <a:t>;           /*</a:t>
            </a:r>
            <a:r>
              <a:rPr lang="zh-CN" altLang="en-US" sz="2000" dirty="0" smtClean="0"/>
              <a:t>父查询块中的条件 *</a:t>
            </a:r>
            <a:r>
              <a:rPr lang="en-US" altLang="zh-CN" sz="2000" dirty="0" smtClean="0"/>
              <a:t>/</a:t>
            </a:r>
          </a:p>
        </p:txBody>
      </p:sp>
    </p:spTree>
    <p:extLst>
      <p:ext uri="{BB962C8B-B14F-4D97-AF65-F5344CB8AC3E}">
        <p14:creationId xmlns:p14="http://schemas.microsoft.com/office/powerpoint/2010/main" val="2347753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9155">
                                            <p:txEl>
                                              <p:pRg st="1" end="1"/>
                                            </p:txEl>
                                          </p:spTgt>
                                        </p:tgtEl>
                                        <p:attrNameLst>
                                          <p:attrName>style.visibility</p:attrName>
                                        </p:attrNameLst>
                                      </p:cBhvr>
                                      <p:to>
                                        <p:strVal val="visible"/>
                                      </p:to>
                                    </p:set>
                                    <p:anim calcmode="lin" valueType="num">
                                      <p:cBhvr additive="base">
                                        <p:cTn id="7" dur="500" fill="hold"/>
                                        <p:tgtEl>
                                          <p:spTgt spid="49155">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49155">
                                            <p:txEl>
                                              <p:pRg st="1" end="1"/>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49155">
                                            <p:txEl>
                                              <p:pRg st="2" end="2"/>
                                            </p:txEl>
                                          </p:spTgt>
                                        </p:tgtEl>
                                        <p:attrNameLst>
                                          <p:attrName>style.visibility</p:attrName>
                                        </p:attrNameLst>
                                      </p:cBhvr>
                                      <p:to>
                                        <p:strVal val="visible"/>
                                      </p:to>
                                    </p:set>
                                    <p:anim calcmode="lin" valueType="num">
                                      <p:cBhvr additive="base">
                                        <p:cTn id="11" dur="500" fill="hold"/>
                                        <p:tgtEl>
                                          <p:spTgt spid="49155">
                                            <p:txEl>
                                              <p:pRg st="2" end="2"/>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49155">
                                            <p:txEl>
                                              <p:pRg st="2" end="2"/>
                                            </p:txEl>
                                          </p:spTgt>
                                        </p:tgtEl>
                                        <p:attrNameLst>
                                          <p:attrName>ppt_y</p:attrName>
                                        </p:attrNameLst>
                                      </p:cBhvr>
                                      <p:tavLst>
                                        <p:tav tm="0">
                                          <p:val>
                                            <p:strVal val="1+#ppt_h/2"/>
                                          </p:val>
                                        </p:tav>
                                        <p:tav tm="100000">
                                          <p:val>
                                            <p:strVal val="#ppt_y"/>
                                          </p:val>
                                        </p:tav>
                                      </p:tavLst>
                                    </p:anim>
                                  </p:childTnLst>
                                </p:cTn>
                              </p:par>
                              <p:par>
                                <p:cTn id="13" presetID="2" presetClass="entr" presetSubtype="4" fill="hold" nodeType="withEffect">
                                  <p:stCondLst>
                                    <p:cond delay="0"/>
                                  </p:stCondLst>
                                  <p:childTnLst>
                                    <p:set>
                                      <p:cBhvr>
                                        <p:cTn id="14" dur="1" fill="hold">
                                          <p:stCondLst>
                                            <p:cond delay="0"/>
                                          </p:stCondLst>
                                        </p:cTn>
                                        <p:tgtEl>
                                          <p:spTgt spid="49155">
                                            <p:txEl>
                                              <p:pRg st="3" end="3"/>
                                            </p:txEl>
                                          </p:spTgt>
                                        </p:tgtEl>
                                        <p:attrNameLst>
                                          <p:attrName>style.visibility</p:attrName>
                                        </p:attrNameLst>
                                      </p:cBhvr>
                                      <p:to>
                                        <p:strVal val="visible"/>
                                      </p:to>
                                    </p:set>
                                    <p:anim calcmode="lin" valueType="num">
                                      <p:cBhvr additive="base">
                                        <p:cTn id="15" dur="500" fill="hold"/>
                                        <p:tgtEl>
                                          <p:spTgt spid="49155">
                                            <p:txEl>
                                              <p:pRg st="3" end="3"/>
                                            </p:txEl>
                                          </p:spTgt>
                                        </p:tgtEl>
                                        <p:attrNameLst>
                                          <p:attrName>ppt_x</p:attrName>
                                        </p:attrNameLst>
                                      </p:cBhvr>
                                      <p:tavLst>
                                        <p:tav tm="0">
                                          <p:val>
                                            <p:strVal val="#ppt_x"/>
                                          </p:val>
                                        </p:tav>
                                        <p:tav tm="100000">
                                          <p:val>
                                            <p:strVal val="#ppt_x"/>
                                          </p:val>
                                        </p:tav>
                                      </p:tavLst>
                                    </p:anim>
                                    <p:anim calcmode="lin" valueType="num">
                                      <p:cBhvr additive="base">
                                        <p:cTn id="16" dur="500" fill="hold"/>
                                        <p:tgtEl>
                                          <p:spTgt spid="49155">
                                            <p:txEl>
                                              <p:pRg st="3" end="3"/>
                                            </p:txEl>
                                          </p:spTgt>
                                        </p:tgtEl>
                                        <p:attrNameLst>
                                          <p:attrName>ppt_y</p:attrName>
                                        </p:attrNameLst>
                                      </p:cBhvr>
                                      <p:tavLst>
                                        <p:tav tm="0">
                                          <p:val>
                                            <p:strVal val="1+#ppt_h/2"/>
                                          </p:val>
                                        </p:tav>
                                        <p:tav tm="100000">
                                          <p:val>
                                            <p:strVal val="#ppt_y"/>
                                          </p:val>
                                        </p:tav>
                                      </p:tavLst>
                                    </p:anim>
                                  </p:childTnLst>
                                </p:cTn>
                              </p:par>
                              <p:par>
                                <p:cTn id="17" presetID="2" presetClass="entr" presetSubtype="4" fill="hold" nodeType="withEffect">
                                  <p:stCondLst>
                                    <p:cond delay="0"/>
                                  </p:stCondLst>
                                  <p:childTnLst>
                                    <p:set>
                                      <p:cBhvr>
                                        <p:cTn id="18" dur="1" fill="hold">
                                          <p:stCondLst>
                                            <p:cond delay="0"/>
                                          </p:stCondLst>
                                        </p:cTn>
                                        <p:tgtEl>
                                          <p:spTgt spid="49155">
                                            <p:txEl>
                                              <p:pRg st="4" end="4"/>
                                            </p:txEl>
                                          </p:spTgt>
                                        </p:tgtEl>
                                        <p:attrNameLst>
                                          <p:attrName>style.visibility</p:attrName>
                                        </p:attrNameLst>
                                      </p:cBhvr>
                                      <p:to>
                                        <p:strVal val="visible"/>
                                      </p:to>
                                    </p:set>
                                    <p:anim calcmode="lin" valueType="num">
                                      <p:cBhvr additive="base">
                                        <p:cTn id="19" dur="500" fill="hold"/>
                                        <p:tgtEl>
                                          <p:spTgt spid="49155">
                                            <p:txEl>
                                              <p:pRg st="4" end="4"/>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49155">
                                            <p:txEl>
                                              <p:pRg st="4" end="4"/>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49155">
                                            <p:txEl>
                                              <p:pRg st="5" end="5"/>
                                            </p:txEl>
                                          </p:spTgt>
                                        </p:tgtEl>
                                        <p:attrNameLst>
                                          <p:attrName>style.visibility</p:attrName>
                                        </p:attrNameLst>
                                      </p:cBhvr>
                                      <p:to>
                                        <p:strVal val="visible"/>
                                      </p:to>
                                    </p:set>
                                    <p:anim calcmode="lin" valueType="num">
                                      <p:cBhvr additive="base">
                                        <p:cTn id="23" dur="500" fill="hold"/>
                                        <p:tgtEl>
                                          <p:spTgt spid="49155">
                                            <p:txEl>
                                              <p:pRg st="5" end="5"/>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49155">
                                            <p:txEl>
                                              <p:pRg st="5" end="5"/>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49155">
                                            <p:txEl>
                                              <p:pRg st="6" end="6"/>
                                            </p:txEl>
                                          </p:spTgt>
                                        </p:tgtEl>
                                        <p:attrNameLst>
                                          <p:attrName>style.visibility</p:attrName>
                                        </p:attrNameLst>
                                      </p:cBhvr>
                                      <p:to>
                                        <p:strVal val="visible"/>
                                      </p:to>
                                    </p:set>
                                    <p:anim calcmode="lin" valueType="num">
                                      <p:cBhvr additive="base">
                                        <p:cTn id="27" dur="500" fill="hold"/>
                                        <p:tgtEl>
                                          <p:spTgt spid="49155">
                                            <p:txEl>
                                              <p:pRg st="6" end="6"/>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49155">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Rectangle 1026"/>
          <p:cNvSpPr>
            <a:spLocks noGrp="1" noChangeArrowheads="1"/>
          </p:cNvSpPr>
          <p:nvPr>
            <p:ph type="title" idx="4294967295"/>
          </p:nvPr>
        </p:nvSpPr>
        <p:spPr>
          <a:xfrm>
            <a:off x="0" y="-33338"/>
            <a:ext cx="9144000"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1203" name="Rectangle 1027"/>
          <p:cNvSpPr>
            <a:spLocks noGrp="1" noChangeArrowheads="1"/>
          </p:cNvSpPr>
          <p:nvPr>
            <p:ph type="body" idx="4294967295"/>
          </p:nvPr>
        </p:nvSpPr>
        <p:spPr>
          <a:xfrm>
            <a:off x="914400" y="1412875"/>
            <a:ext cx="7772400" cy="4572000"/>
          </a:xfrm>
        </p:spPr>
        <p:txBody>
          <a:bodyPr/>
          <a:lstStyle/>
          <a:p>
            <a:pPr marL="609600" indent="-609600" eaLnBrk="1" hangingPunct="1">
              <a:buFont typeface="宋体" panose="02010600030101010101" pitchFamily="2" charset="-122"/>
              <a:buNone/>
            </a:pPr>
            <a:r>
              <a:rPr lang="zh-CN" altLang="en-US" smtClean="0"/>
              <a:t>用聚集函数实现</a:t>
            </a:r>
            <a:r>
              <a:rPr lang="en-US" altLang="zh-CN" smtClean="0"/>
              <a:t>[</a:t>
            </a:r>
            <a:r>
              <a:rPr lang="zh-CN" altLang="en-US" smtClean="0"/>
              <a:t>例 </a:t>
            </a:r>
            <a:r>
              <a:rPr lang="en-US" altLang="zh-CN" smtClean="0"/>
              <a:t>3.58]</a:t>
            </a:r>
            <a:r>
              <a:rPr lang="en-US" altLang="zh-CN" sz="2400" smtClean="0"/>
              <a:t> </a:t>
            </a:r>
          </a:p>
          <a:p>
            <a:pPr marL="609600" indent="-609600" eaLnBrk="1" hangingPunct="1">
              <a:buFont typeface="宋体" panose="02010600030101010101" pitchFamily="2" charset="-122"/>
              <a:buNone/>
            </a:pPr>
            <a:endParaRPr lang="en-US" altLang="zh-CN" sz="2400" smtClean="0"/>
          </a:p>
          <a:p>
            <a:pPr marL="609600" indent="-609600" eaLnBrk="1" hangingPunct="1">
              <a:buFont typeface="宋体" panose="02010600030101010101" pitchFamily="2" charset="-122"/>
              <a:buNone/>
            </a:pPr>
            <a:r>
              <a:rPr lang="en-US" altLang="zh-CN" sz="2400" smtClean="0"/>
              <a:t>     SELECT Sname</a:t>
            </a:r>
            <a:r>
              <a:rPr lang="zh-CN" altLang="en-US" sz="2400" smtClean="0"/>
              <a:t>,</a:t>
            </a:r>
            <a:r>
              <a:rPr lang="en-US" altLang="zh-CN" sz="2400" smtClean="0"/>
              <a:t>Sage</a:t>
            </a:r>
          </a:p>
          <a:p>
            <a:pPr marL="609600" indent="-609600" eaLnBrk="1" hangingPunct="1">
              <a:buFont typeface="宋体" panose="02010600030101010101" pitchFamily="2" charset="-122"/>
              <a:buNone/>
            </a:pPr>
            <a:r>
              <a:rPr lang="en-US" altLang="zh-CN" sz="2400" smtClean="0"/>
              <a:t>     FROM   Student</a:t>
            </a:r>
          </a:p>
          <a:p>
            <a:pPr marL="609600" indent="-609600" eaLnBrk="1" hangingPunct="1">
              <a:buFont typeface="宋体" panose="02010600030101010101" pitchFamily="2" charset="-122"/>
              <a:buNone/>
            </a:pPr>
            <a:r>
              <a:rPr lang="en-US" altLang="zh-CN" sz="2400" smtClean="0"/>
              <a:t>     WHERE Sage &lt; </a:t>
            </a:r>
          </a:p>
          <a:p>
            <a:pPr marL="609600" indent="-609600" eaLnBrk="1" hangingPunct="1">
              <a:buFont typeface="宋体" panose="02010600030101010101" pitchFamily="2" charset="-122"/>
              <a:buNone/>
            </a:pPr>
            <a:r>
              <a:rPr lang="en-US" altLang="zh-CN" sz="2400" smtClean="0"/>
              <a:t>                             </a:t>
            </a:r>
            <a:r>
              <a:rPr lang="zh-CN" altLang="en-US" sz="2400" smtClean="0"/>
              <a:t>(</a:t>
            </a:r>
            <a:r>
              <a:rPr lang="en-US" altLang="zh-CN" sz="2400" smtClean="0"/>
              <a:t>SELECT </a:t>
            </a:r>
            <a:r>
              <a:rPr lang="en-US" altLang="zh-CN" sz="2400" smtClean="0">
                <a:solidFill>
                  <a:srgbClr val="FF3399"/>
                </a:solidFill>
              </a:rPr>
              <a:t>MAX（Sage）</a:t>
            </a:r>
            <a:endParaRPr lang="en-US" altLang="zh-CN" sz="2400" smtClean="0"/>
          </a:p>
          <a:p>
            <a:pPr marL="609600" indent="-609600" eaLnBrk="1" hangingPunct="1">
              <a:buFont typeface="宋体" panose="02010600030101010101" pitchFamily="2" charset="-122"/>
              <a:buNone/>
            </a:pPr>
            <a:r>
              <a:rPr lang="en-US" altLang="zh-CN" sz="2400" smtClean="0"/>
              <a:t>                               FROM Student</a:t>
            </a:r>
          </a:p>
          <a:p>
            <a:pPr marL="609600" indent="-609600" eaLnBrk="1" hangingPunct="1">
              <a:buFont typeface="宋体" panose="02010600030101010101" pitchFamily="2" charset="-122"/>
              <a:buNone/>
            </a:pPr>
            <a:r>
              <a:rPr lang="en-US" altLang="zh-CN" sz="2400" smtClean="0"/>
              <a:t>                               WHERE Sdept= </a:t>
            </a:r>
            <a:r>
              <a:rPr lang="zh-CN" altLang="en-US" sz="2400" smtClean="0"/>
              <a:t>'</a:t>
            </a:r>
            <a:r>
              <a:rPr lang="en-US" altLang="zh-CN" sz="2400" smtClean="0"/>
              <a:t>CS '</a:t>
            </a:r>
            <a:r>
              <a:rPr lang="zh-CN" altLang="en-US" sz="2400" smtClean="0"/>
              <a:t>)</a:t>
            </a:r>
          </a:p>
          <a:p>
            <a:pPr marL="609600" indent="-609600" eaLnBrk="1" hangingPunct="1">
              <a:buFont typeface="宋体" panose="02010600030101010101" pitchFamily="2" charset="-122"/>
              <a:buNone/>
            </a:pPr>
            <a:r>
              <a:rPr lang="en-US" altLang="zh-CN" sz="2400" smtClean="0"/>
              <a:t>       AND Sdept &lt;&gt; ' CS </a:t>
            </a:r>
            <a:r>
              <a:rPr lang="zh-CN" altLang="en-US" sz="2400" smtClean="0"/>
              <a:t>'</a:t>
            </a:r>
            <a:r>
              <a:rPr lang="en-US" altLang="zh-CN" sz="2400" smtClean="0"/>
              <a:t>;</a:t>
            </a:r>
          </a:p>
        </p:txBody>
      </p:sp>
    </p:spTree>
    <p:extLst>
      <p:ext uri="{BB962C8B-B14F-4D97-AF65-F5344CB8AC3E}">
        <p14:creationId xmlns:p14="http://schemas.microsoft.com/office/powerpoint/2010/main" val="1425794932"/>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Rectangle 2"/>
          <p:cNvSpPr>
            <a:spLocks noGrp="1" noChangeArrowheads="1"/>
          </p:cNvSpPr>
          <p:nvPr>
            <p:ph type="title" idx="4294967295"/>
          </p:nvPr>
        </p:nvSpPr>
        <p:spPr>
          <a:xfrm>
            <a:off x="-28575" y="-33338"/>
            <a:ext cx="9209088"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2227" name="Rectangle 3"/>
          <p:cNvSpPr>
            <a:spLocks noGrp="1" noChangeArrowheads="1"/>
          </p:cNvSpPr>
          <p:nvPr>
            <p:ph type="body" idx="4294967295"/>
          </p:nvPr>
        </p:nvSpPr>
        <p:spPr>
          <a:xfrm>
            <a:off x="611188" y="1292514"/>
            <a:ext cx="7772400" cy="5283200"/>
          </a:xfrm>
        </p:spPr>
        <p:txBody>
          <a:bodyPr/>
          <a:lstStyle/>
          <a:p>
            <a:pPr marL="609600" indent="-609600"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3.59]  </a:t>
            </a:r>
            <a:r>
              <a:rPr lang="zh-CN" altLang="en-US" sz="2400" dirty="0" smtClean="0"/>
              <a:t>查询非计算机科学系中比计算机科学系</a:t>
            </a:r>
            <a:r>
              <a:rPr lang="zh-CN" altLang="en-US" sz="2400" dirty="0" smtClean="0">
                <a:solidFill>
                  <a:srgbClr val="FF00FF"/>
                </a:solidFill>
              </a:rPr>
              <a:t>所有</a:t>
            </a:r>
            <a:r>
              <a:rPr lang="zh-CN" altLang="en-US" sz="2400" dirty="0" smtClean="0"/>
              <a:t>学生年龄都小的学生姓名及年龄。</a:t>
            </a:r>
          </a:p>
          <a:p>
            <a:pPr marL="609600" indent="-609600" eaLnBrk="1" hangingPunct="1">
              <a:buFont typeface="宋体" panose="02010600030101010101" pitchFamily="2" charset="-122"/>
              <a:buNone/>
            </a:pPr>
            <a:endParaRPr lang="zh-CN" altLang="en-US" sz="2400" dirty="0" smtClean="0"/>
          </a:p>
          <a:p>
            <a:pPr marL="990600" lvl="1" indent="-533400">
              <a:buFont typeface="宋体" panose="02010600030101010101" pitchFamily="2" charset="-122"/>
              <a:buNone/>
            </a:pPr>
            <a:r>
              <a:rPr lang="zh-CN" altLang="en-US" dirty="0" smtClean="0"/>
              <a:t>方法一：用</a:t>
            </a:r>
            <a:r>
              <a:rPr lang="en-US" altLang="zh-CN" dirty="0" smtClean="0"/>
              <a:t>ALL</a:t>
            </a:r>
            <a:r>
              <a:rPr lang="zh-CN" altLang="en-US" dirty="0" smtClean="0"/>
              <a:t>谓词</a:t>
            </a:r>
          </a:p>
          <a:p>
            <a:pPr marL="990600" lvl="1" indent="-533400">
              <a:buFont typeface="宋体" panose="02010600030101010101" pitchFamily="2" charset="-122"/>
              <a:buNone/>
            </a:pPr>
            <a:r>
              <a:rPr lang="zh-CN" altLang="en-US" sz="2000" dirty="0" smtClean="0"/>
              <a:t>   </a:t>
            </a:r>
            <a:r>
              <a:rPr lang="zh-CN" altLang="en-US" dirty="0" smtClean="0"/>
              <a:t> </a:t>
            </a:r>
            <a:r>
              <a:rPr lang="en-US" altLang="zh-CN" dirty="0" smtClean="0"/>
              <a:t>SELECT </a:t>
            </a:r>
            <a:r>
              <a:rPr lang="en-US" altLang="zh-CN" dirty="0" err="1" smtClean="0"/>
              <a:t>Sname</a:t>
            </a:r>
            <a:r>
              <a:rPr lang="zh-CN" altLang="en-US" dirty="0" smtClean="0"/>
              <a:t>,</a:t>
            </a:r>
            <a:r>
              <a:rPr lang="en-US" altLang="zh-CN" dirty="0" smtClean="0"/>
              <a:t>Sage</a:t>
            </a:r>
          </a:p>
          <a:p>
            <a:pPr marL="990600" lvl="1" indent="-533400">
              <a:buFont typeface="宋体" panose="02010600030101010101" pitchFamily="2" charset="-122"/>
              <a:buNone/>
            </a:pPr>
            <a:r>
              <a:rPr lang="en-US" altLang="zh-CN" dirty="0" smtClean="0"/>
              <a:t>    FROM Student</a:t>
            </a:r>
          </a:p>
          <a:p>
            <a:pPr marL="990600" lvl="1" indent="-533400">
              <a:buFont typeface="宋体" panose="02010600030101010101" pitchFamily="2" charset="-122"/>
              <a:buNone/>
            </a:pPr>
            <a:r>
              <a:rPr lang="en-US" altLang="zh-CN" dirty="0" smtClean="0"/>
              <a:t>    WHERE Sage &lt; </a:t>
            </a:r>
            <a:r>
              <a:rPr lang="en-US" altLang="zh-CN" dirty="0" smtClean="0">
                <a:solidFill>
                  <a:srgbClr val="FF0000"/>
                </a:solidFill>
              </a:rPr>
              <a:t>ALL</a:t>
            </a:r>
          </a:p>
          <a:p>
            <a:pPr marL="990600" lvl="1" indent="-533400">
              <a:buFont typeface="宋体" panose="02010600030101010101" pitchFamily="2" charset="-122"/>
              <a:buNone/>
            </a:pPr>
            <a:r>
              <a:rPr lang="en-US" altLang="zh-CN" dirty="0" smtClean="0"/>
              <a:t>                           </a:t>
            </a:r>
            <a:r>
              <a:rPr lang="zh-CN" altLang="en-US" dirty="0" smtClean="0"/>
              <a:t>(</a:t>
            </a:r>
            <a:r>
              <a:rPr lang="en-US" altLang="zh-CN" dirty="0" smtClean="0"/>
              <a:t>SELECT Sage</a:t>
            </a:r>
          </a:p>
          <a:p>
            <a:pPr marL="990600" lvl="1" indent="-533400">
              <a:buFont typeface="宋体" panose="02010600030101010101" pitchFamily="2" charset="-122"/>
              <a:buNone/>
            </a:pPr>
            <a:r>
              <a:rPr lang="en-US" altLang="zh-CN" dirty="0" smtClean="0"/>
              <a:t>                            FROM Student</a:t>
            </a:r>
          </a:p>
          <a:p>
            <a:pPr marL="990600" lvl="1" indent="-533400">
              <a:buFont typeface="宋体" panose="02010600030101010101" pitchFamily="2" charset="-122"/>
              <a:buNone/>
            </a:pPr>
            <a:r>
              <a:rPr lang="en-US" altLang="zh-CN" dirty="0" smtClean="0"/>
              <a:t>                            WHERE </a:t>
            </a:r>
            <a:r>
              <a:rPr lang="en-US" altLang="zh-CN" dirty="0" err="1" smtClean="0"/>
              <a:t>Sdept</a:t>
            </a:r>
            <a:r>
              <a:rPr lang="en-US" altLang="zh-CN" dirty="0" smtClean="0"/>
              <a:t>= ' CS '</a:t>
            </a:r>
            <a:r>
              <a:rPr lang="zh-CN" altLang="en-US" dirty="0" smtClean="0"/>
              <a:t>)</a:t>
            </a:r>
            <a:endParaRPr lang="zh-CN" altLang="en-US" sz="2800" dirty="0" smtClean="0"/>
          </a:p>
          <a:p>
            <a:pPr marL="990600" lvl="1" indent="-533400">
              <a:buFont typeface="宋体" panose="02010600030101010101" pitchFamily="2" charset="-122"/>
              <a:buNone/>
            </a:pPr>
            <a:r>
              <a:rPr lang="en-US" altLang="zh-CN" dirty="0" smtClean="0"/>
              <a:t>      AND </a:t>
            </a:r>
            <a:r>
              <a:rPr lang="en-US" altLang="zh-CN" dirty="0" err="1" smtClean="0"/>
              <a:t>Sdept</a:t>
            </a:r>
            <a:r>
              <a:rPr lang="en-US" altLang="zh-CN" dirty="0" smtClean="0"/>
              <a:t> &lt;&gt; ' CS ’;</a:t>
            </a:r>
          </a:p>
        </p:txBody>
      </p:sp>
    </p:spTree>
    <p:extLst>
      <p:ext uri="{BB962C8B-B14F-4D97-AF65-F5344CB8AC3E}">
        <p14:creationId xmlns:p14="http://schemas.microsoft.com/office/powerpoint/2010/main" val="73717809"/>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Grp="1" noChangeArrowheads="1"/>
          </p:cNvSpPr>
          <p:nvPr>
            <p:ph type="title" idx="4294967295"/>
          </p:nvPr>
        </p:nvSpPr>
        <p:spPr>
          <a:xfrm>
            <a:off x="0" y="-33338"/>
            <a:ext cx="9180513" cy="1131888"/>
          </a:xfrm>
        </p:spPr>
        <p:txBody>
          <a:bodyPr/>
          <a:lstStyle/>
          <a:p>
            <a:pPr eaLnBrk="1" hangingPunct="1"/>
            <a:r>
              <a:rPr lang="zh-CN" altLang="en-US" sz="3200" smtClean="0"/>
              <a:t>带有</a:t>
            </a:r>
            <a:r>
              <a:rPr lang="en-US" altLang="zh-CN" sz="3200" smtClean="0"/>
              <a:t>ANY</a:t>
            </a:r>
            <a:r>
              <a:rPr lang="zh-CN" altLang="en-US" sz="3200" smtClean="0"/>
              <a:t>（</a:t>
            </a:r>
            <a:r>
              <a:rPr lang="en-US" altLang="zh-CN" sz="3200" smtClean="0"/>
              <a:t>SOME</a:t>
            </a:r>
            <a:r>
              <a:rPr lang="zh-CN" altLang="en-US" sz="3200" smtClean="0"/>
              <a:t>）或</a:t>
            </a:r>
            <a:r>
              <a:rPr lang="en-US" altLang="zh-CN" sz="3200" smtClean="0"/>
              <a:t>ALL</a:t>
            </a:r>
            <a:r>
              <a:rPr lang="zh-CN" altLang="en-US" sz="3200" smtClean="0"/>
              <a:t>谓词的子查询 （续）</a:t>
            </a:r>
          </a:p>
        </p:txBody>
      </p:sp>
      <p:sp>
        <p:nvSpPr>
          <p:cNvPr id="53251" name="Rectangle 3"/>
          <p:cNvSpPr>
            <a:spLocks noGrp="1" noChangeArrowheads="1"/>
          </p:cNvSpPr>
          <p:nvPr>
            <p:ph type="body" idx="4294967295"/>
          </p:nvPr>
        </p:nvSpPr>
        <p:spPr>
          <a:xfrm>
            <a:off x="611188" y="1098550"/>
            <a:ext cx="7772400" cy="4572000"/>
          </a:xfrm>
        </p:spPr>
        <p:txBody>
          <a:bodyPr/>
          <a:lstStyle/>
          <a:p>
            <a:pPr marL="609600" indent="-609600" eaLnBrk="1" hangingPunct="1">
              <a:lnSpc>
                <a:spcPct val="120000"/>
              </a:lnSpc>
              <a:buFont typeface="宋体" panose="02010600030101010101" pitchFamily="2" charset="-122"/>
              <a:buNone/>
            </a:pPr>
            <a:r>
              <a:rPr lang="en-US" altLang="zh-CN" sz="2400" smtClean="0"/>
              <a:t>       </a:t>
            </a:r>
            <a:r>
              <a:rPr lang="zh-CN" altLang="en-US" sz="2400" smtClean="0"/>
              <a:t>方法二：用聚集函数</a:t>
            </a:r>
          </a:p>
          <a:p>
            <a:pPr marL="609600" indent="-609600" eaLnBrk="1" hangingPunct="1">
              <a:lnSpc>
                <a:spcPct val="120000"/>
              </a:lnSpc>
              <a:buFont typeface="宋体" panose="02010600030101010101" pitchFamily="2" charset="-122"/>
              <a:buNone/>
            </a:pPr>
            <a:r>
              <a:rPr lang="zh-CN" altLang="en-US" sz="2400" smtClean="0"/>
              <a:t>        </a:t>
            </a:r>
            <a:r>
              <a:rPr lang="en-US" altLang="zh-CN" sz="2400" smtClean="0"/>
              <a:t>SELECT Sname</a:t>
            </a:r>
            <a:r>
              <a:rPr lang="zh-CN" altLang="en-US" sz="2400" smtClean="0"/>
              <a:t>,</a:t>
            </a:r>
            <a:r>
              <a:rPr lang="en-US" altLang="zh-CN" sz="2400" smtClean="0"/>
              <a:t>Sage</a:t>
            </a:r>
          </a:p>
          <a:p>
            <a:pPr marL="609600" indent="-609600" eaLnBrk="1" hangingPunct="1">
              <a:lnSpc>
                <a:spcPct val="120000"/>
              </a:lnSpc>
              <a:buFont typeface="宋体" panose="02010600030101010101" pitchFamily="2" charset="-122"/>
              <a:buNone/>
            </a:pPr>
            <a:r>
              <a:rPr lang="en-US" altLang="zh-CN" sz="2400" smtClean="0"/>
              <a:t>        FROM Student</a:t>
            </a:r>
          </a:p>
          <a:p>
            <a:pPr marL="609600" indent="-609600" eaLnBrk="1" hangingPunct="1">
              <a:lnSpc>
                <a:spcPct val="120000"/>
              </a:lnSpc>
              <a:buFont typeface="宋体" panose="02010600030101010101" pitchFamily="2" charset="-122"/>
              <a:buNone/>
            </a:pPr>
            <a:r>
              <a:rPr lang="en-US" altLang="zh-CN" sz="2400" smtClean="0"/>
              <a:t>        WHERE Sage &lt; </a:t>
            </a:r>
          </a:p>
          <a:p>
            <a:pPr marL="609600" indent="-609600" eaLnBrk="1" hangingPunct="1">
              <a:lnSpc>
                <a:spcPct val="120000"/>
              </a:lnSpc>
              <a:buFont typeface="宋体" panose="02010600030101010101" pitchFamily="2" charset="-122"/>
              <a:buNone/>
            </a:pPr>
            <a:r>
              <a:rPr lang="en-US" altLang="zh-CN" sz="2400" smtClean="0"/>
              <a:t>                               </a:t>
            </a:r>
            <a:r>
              <a:rPr lang="zh-CN" altLang="en-US" sz="2400" smtClean="0"/>
              <a:t>(</a:t>
            </a:r>
            <a:r>
              <a:rPr lang="en-US" altLang="zh-CN" sz="2400" smtClean="0"/>
              <a:t>SELECT </a:t>
            </a:r>
            <a:r>
              <a:rPr lang="en-US" altLang="zh-CN" sz="2400" smtClean="0">
                <a:solidFill>
                  <a:srgbClr val="FF3399"/>
                </a:solidFill>
              </a:rPr>
              <a:t>MIN</a:t>
            </a:r>
            <a:r>
              <a:rPr lang="zh-CN" altLang="en-US" sz="2400" smtClean="0">
                <a:solidFill>
                  <a:srgbClr val="FF3399"/>
                </a:solidFill>
              </a:rPr>
              <a:t>(</a:t>
            </a:r>
            <a:r>
              <a:rPr lang="en-US" altLang="zh-CN" sz="2400" smtClean="0">
                <a:solidFill>
                  <a:srgbClr val="FF3399"/>
                </a:solidFill>
              </a:rPr>
              <a:t>Sage</a:t>
            </a:r>
            <a:r>
              <a:rPr lang="zh-CN" altLang="en-US" sz="2400" smtClean="0">
                <a:solidFill>
                  <a:srgbClr val="FF3399"/>
                </a:solidFill>
              </a:rPr>
              <a:t>)</a:t>
            </a:r>
          </a:p>
          <a:p>
            <a:pPr marL="609600" indent="-609600" eaLnBrk="1" hangingPunct="1">
              <a:lnSpc>
                <a:spcPct val="120000"/>
              </a:lnSpc>
              <a:buFont typeface="宋体" panose="02010600030101010101" pitchFamily="2" charset="-122"/>
              <a:buNone/>
            </a:pPr>
            <a:r>
              <a:rPr lang="en-US" altLang="zh-CN" sz="2400" smtClean="0"/>
              <a:t>                                FROM Student</a:t>
            </a:r>
          </a:p>
          <a:p>
            <a:pPr marL="609600" indent="-609600" eaLnBrk="1" hangingPunct="1">
              <a:lnSpc>
                <a:spcPct val="120000"/>
              </a:lnSpc>
              <a:buFont typeface="宋体" panose="02010600030101010101" pitchFamily="2" charset="-122"/>
              <a:buNone/>
            </a:pPr>
            <a:r>
              <a:rPr lang="en-US" altLang="zh-CN" sz="2400" smtClean="0"/>
              <a:t>                                WHERE Sdept= ' CS '</a:t>
            </a:r>
            <a:r>
              <a:rPr lang="zh-CN" altLang="en-US" sz="2400" smtClean="0"/>
              <a:t>)</a:t>
            </a:r>
          </a:p>
          <a:p>
            <a:pPr marL="609600" indent="-609600" eaLnBrk="1" hangingPunct="1">
              <a:lnSpc>
                <a:spcPct val="120000"/>
              </a:lnSpc>
              <a:buFont typeface="宋体" panose="02010600030101010101" pitchFamily="2" charset="-122"/>
              <a:buNone/>
            </a:pPr>
            <a:r>
              <a:rPr lang="en-US" altLang="zh-CN" sz="2400" smtClean="0"/>
              <a:t>          AND Sdept &lt;&gt;' CS </a:t>
            </a:r>
            <a:r>
              <a:rPr lang="zh-CN" altLang="en-US" sz="2400" smtClean="0"/>
              <a:t>'</a:t>
            </a:r>
            <a:r>
              <a:rPr lang="en-US" altLang="zh-CN" sz="2400" smtClean="0"/>
              <a:t>;</a:t>
            </a:r>
          </a:p>
        </p:txBody>
      </p:sp>
    </p:spTree>
    <p:extLst>
      <p:ext uri="{BB962C8B-B14F-4D97-AF65-F5344CB8AC3E}">
        <p14:creationId xmlns:p14="http://schemas.microsoft.com/office/powerpoint/2010/main" val="3534959840"/>
      </p:ext>
    </p:extLst>
  </p:cSld>
  <p:clrMapOvr>
    <a:masterClrMapping/>
  </p:clrMapOvr>
  <p:timing>
    <p:tnLst>
      <p:par>
        <p:cTn id="1" dur="indefinite" restart="never" nodeType="tmRoot"/>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idx="4294967295"/>
          </p:nvPr>
        </p:nvSpPr>
        <p:spPr>
          <a:xfrm>
            <a:off x="-28575" y="-33338"/>
            <a:ext cx="9209088" cy="1131888"/>
          </a:xfrm>
        </p:spPr>
        <p:txBody>
          <a:bodyPr/>
          <a:lstStyle/>
          <a:p>
            <a:pPr eaLnBrk="1" hangingPunct="1"/>
            <a:r>
              <a:rPr lang="zh-CN" altLang="en-US" sz="3200" dirty="0" smtClean="0"/>
              <a:t>带有</a:t>
            </a:r>
            <a:r>
              <a:rPr lang="en-US" altLang="zh-CN" sz="3200" dirty="0" smtClean="0"/>
              <a:t>ANY</a:t>
            </a:r>
            <a:r>
              <a:rPr lang="zh-CN" altLang="en-US" sz="3200" dirty="0" smtClean="0"/>
              <a:t>（</a:t>
            </a:r>
            <a:r>
              <a:rPr lang="en-US" altLang="zh-CN" sz="3200" dirty="0" smtClean="0"/>
              <a:t>SOME</a:t>
            </a:r>
            <a:r>
              <a:rPr lang="zh-CN" altLang="en-US" sz="3200" dirty="0" smtClean="0"/>
              <a:t>）或</a:t>
            </a:r>
            <a:r>
              <a:rPr lang="en-US" altLang="zh-CN" sz="3200" dirty="0" smtClean="0"/>
              <a:t>ALL</a:t>
            </a:r>
            <a:r>
              <a:rPr lang="zh-CN" altLang="en-US" sz="3200" dirty="0" smtClean="0"/>
              <a:t>谓词的子查询 （续）</a:t>
            </a:r>
          </a:p>
        </p:txBody>
      </p:sp>
      <p:sp>
        <p:nvSpPr>
          <p:cNvPr id="54275" name="Rectangle 3"/>
          <p:cNvSpPr>
            <a:spLocks noGrp="1" noChangeArrowheads="1"/>
          </p:cNvSpPr>
          <p:nvPr>
            <p:ph type="body" idx="4294967295"/>
          </p:nvPr>
        </p:nvSpPr>
        <p:spPr>
          <a:xfrm>
            <a:off x="-28575" y="1385888"/>
            <a:ext cx="9209088" cy="890587"/>
          </a:xfrm>
        </p:spPr>
        <p:txBody>
          <a:bodyPr/>
          <a:lstStyle/>
          <a:p>
            <a:pPr marL="609600" indent="-609600" eaLnBrk="1" hangingPunct="1">
              <a:buFont typeface="宋体" panose="02010600030101010101" pitchFamily="2" charset="-122"/>
              <a:buNone/>
            </a:pPr>
            <a:r>
              <a:rPr lang="zh-CN" altLang="en-US" sz="2400" smtClean="0"/>
              <a:t>	表</a:t>
            </a:r>
            <a:r>
              <a:rPr lang="en-US" altLang="zh-CN" sz="2400" smtClean="0"/>
              <a:t>3.7 ANY</a:t>
            </a:r>
            <a:r>
              <a:rPr lang="zh-CN" altLang="en-US" sz="2400" smtClean="0"/>
              <a:t>（或</a:t>
            </a:r>
            <a:r>
              <a:rPr lang="en-US" altLang="zh-CN" sz="2400" smtClean="0"/>
              <a:t>SOME</a:t>
            </a:r>
            <a:r>
              <a:rPr lang="zh-CN" altLang="en-US" sz="2400" smtClean="0"/>
              <a:t>），</a:t>
            </a:r>
            <a:r>
              <a:rPr lang="en-US" altLang="zh-CN" sz="2400" smtClean="0"/>
              <a:t>ALL</a:t>
            </a:r>
            <a:r>
              <a:rPr lang="zh-CN" altLang="en-US" sz="2400" smtClean="0"/>
              <a:t>谓词与聚集函数、</a:t>
            </a:r>
            <a:r>
              <a:rPr lang="en-US" altLang="zh-CN" sz="2400" smtClean="0"/>
              <a:t>IN</a:t>
            </a:r>
            <a:r>
              <a:rPr lang="zh-CN" altLang="en-US" sz="2400" smtClean="0"/>
              <a:t>谓词的等价转换关系 </a:t>
            </a:r>
          </a:p>
        </p:txBody>
      </p:sp>
      <p:grpSp>
        <p:nvGrpSpPr>
          <p:cNvPr id="54276" name="Group 4"/>
          <p:cNvGrpSpPr>
            <a:grpSpLocks/>
          </p:cNvGrpSpPr>
          <p:nvPr/>
        </p:nvGrpSpPr>
        <p:grpSpPr bwMode="auto">
          <a:xfrm>
            <a:off x="520700" y="2589213"/>
            <a:ext cx="8299450" cy="2057400"/>
            <a:chOff x="0" y="0"/>
            <a:chExt cx="4065" cy="1302"/>
          </a:xfrm>
        </p:grpSpPr>
        <p:grpSp>
          <p:nvGrpSpPr>
            <p:cNvPr id="54277" name="Group 5"/>
            <p:cNvGrpSpPr>
              <a:grpSpLocks/>
            </p:cNvGrpSpPr>
            <p:nvPr/>
          </p:nvGrpSpPr>
          <p:grpSpPr bwMode="auto">
            <a:xfrm>
              <a:off x="3" y="3"/>
              <a:ext cx="4059" cy="1296"/>
              <a:chOff x="0" y="0"/>
              <a:chExt cx="4059" cy="1296"/>
            </a:xfrm>
          </p:grpSpPr>
          <p:grpSp>
            <p:nvGrpSpPr>
              <p:cNvPr id="54279" name="Group 6"/>
              <p:cNvGrpSpPr>
                <a:grpSpLocks/>
              </p:cNvGrpSpPr>
              <p:nvPr/>
            </p:nvGrpSpPr>
            <p:grpSpPr bwMode="auto">
              <a:xfrm>
                <a:off x="0" y="0"/>
                <a:ext cx="493" cy="432"/>
                <a:chOff x="0" y="0"/>
                <a:chExt cx="493" cy="432"/>
              </a:xfrm>
            </p:grpSpPr>
            <p:sp>
              <p:nvSpPr>
                <p:cNvPr id="54340" name="Rectangle 7"/>
                <p:cNvSpPr>
                  <a:spLocks noChangeArrowheads="1"/>
                </p:cNvSpPr>
                <p:nvPr/>
              </p:nvSpPr>
              <p:spPr bwMode="auto">
                <a:xfrm>
                  <a:off x="44" y="0"/>
                  <a:ext cx="406" cy="37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900"/>
                    <a:t> </a:t>
                  </a:r>
                </a:p>
                <a:p>
                  <a:endParaRPr lang="en-US" altLang="zh-CN" sz="2400"/>
                </a:p>
              </p:txBody>
            </p:sp>
            <p:sp>
              <p:nvSpPr>
                <p:cNvPr id="54341" name="Rectangle 8"/>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0" name="Group 9"/>
              <p:cNvGrpSpPr>
                <a:grpSpLocks/>
              </p:cNvGrpSpPr>
              <p:nvPr/>
            </p:nvGrpSpPr>
            <p:grpSpPr bwMode="auto">
              <a:xfrm>
                <a:off x="493" y="0"/>
                <a:ext cx="396" cy="432"/>
                <a:chOff x="0" y="0"/>
                <a:chExt cx="396" cy="432"/>
              </a:xfrm>
            </p:grpSpPr>
            <p:sp>
              <p:nvSpPr>
                <p:cNvPr id="54338" name="Rectangle 10"/>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p>
              </p:txBody>
            </p:sp>
            <p:sp>
              <p:nvSpPr>
                <p:cNvPr id="54339" name="Rectangle 11"/>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1" name="Group 12"/>
              <p:cNvGrpSpPr>
                <a:grpSpLocks/>
              </p:cNvGrpSpPr>
              <p:nvPr/>
            </p:nvGrpSpPr>
            <p:grpSpPr bwMode="auto">
              <a:xfrm>
                <a:off x="889" y="0"/>
                <a:ext cx="656" cy="432"/>
                <a:chOff x="0" y="0"/>
                <a:chExt cx="656" cy="432"/>
              </a:xfrm>
            </p:grpSpPr>
            <p:sp>
              <p:nvSpPr>
                <p:cNvPr id="54336" name="Rectangle 13"/>
                <p:cNvSpPr>
                  <a:spLocks noChangeArrowheads="1"/>
                </p:cNvSpPr>
                <p:nvPr/>
              </p:nvSpPr>
              <p:spPr bwMode="auto">
                <a:xfrm>
                  <a:off x="45"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r>
                    <a:rPr lang="en-US" altLang="zh-CN" sz="2000" b="1"/>
                    <a:t>&lt;&gt;</a:t>
                  </a:r>
                  <a:r>
                    <a:rPr lang="zh-CN" altLang="en-US" sz="2000" b="1"/>
                    <a:t>或</a:t>
                  </a:r>
                  <a:r>
                    <a:rPr lang="en-US" altLang="zh-CN" sz="2000" b="1"/>
                    <a:t>!=</a:t>
                  </a:r>
                </a:p>
              </p:txBody>
            </p:sp>
            <p:sp>
              <p:nvSpPr>
                <p:cNvPr id="54337" name="Rectangle 14"/>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2" name="Group 15"/>
              <p:cNvGrpSpPr>
                <a:grpSpLocks/>
              </p:cNvGrpSpPr>
              <p:nvPr/>
            </p:nvGrpSpPr>
            <p:grpSpPr bwMode="auto">
              <a:xfrm>
                <a:off x="1545" y="0"/>
                <a:ext cx="617" cy="432"/>
                <a:chOff x="0" y="0"/>
                <a:chExt cx="617" cy="432"/>
              </a:xfrm>
            </p:grpSpPr>
            <p:sp>
              <p:nvSpPr>
                <p:cNvPr id="54334" name="Rectangle 16"/>
                <p:cNvSpPr>
                  <a:spLocks noChangeArrowheads="1"/>
                </p:cNvSpPr>
                <p:nvPr/>
              </p:nvSpPr>
              <p:spPr bwMode="auto">
                <a:xfrm>
                  <a:off x="43" y="0"/>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   &lt;</a:t>
                  </a:r>
                </a:p>
              </p:txBody>
            </p:sp>
            <p:sp>
              <p:nvSpPr>
                <p:cNvPr id="54335" name="Rectangle 17"/>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3" name="Group 18"/>
              <p:cNvGrpSpPr>
                <a:grpSpLocks/>
              </p:cNvGrpSpPr>
              <p:nvPr/>
            </p:nvGrpSpPr>
            <p:grpSpPr bwMode="auto">
              <a:xfrm>
                <a:off x="2162" y="0"/>
                <a:ext cx="655" cy="432"/>
                <a:chOff x="0" y="0"/>
                <a:chExt cx="655" cy="432"/>
              </a:xfrm>
            </p:grpSpPr>
            <p:sp>
              <p:nvSpPr>
                <p:cNvPr id="54332" name="Rectangle 19"/>
                <p:cNvSpPr>
                  <a:spLocks noChangeArrowheads="1"/>
                </p:cNvSpPr>
                <p:nvPr/>
              </p:nvSpPr>
              <p:spPr bwMode="auto">
                <a:xfrm>
                  <a:off x="43" y="0"/>
                  <a:ext cx="569"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&lt;=</a:t>
                  </a:r>
                </a:p>
              </p:txBody>
            </p:sp>
            <p:sp>
              <p:nvSpPr>
                <p:cNvPr id="54333" name="Rectangle 20"/>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4" name="Group 21"/>
              <p:cNvGrpSpPr>
                <a:grpSpLocks/>
              </p:cNvGrpSpPr>
              <p:nvPr/>
            </p:nvGrpSpPr>
            <p:grpSpPr bwMode="auto">
              <a:xfrm>
                <a:off x="2817" y="0"/>
                <a:ext cx="587" cy="432"/>
                <a:chOff x="0" y="0"/>
                <a:chExt cx="587" cy="432"/>
              </a:xfrm>
            </p:grpSpPr>
            <p:sp>
              <p:nvSpPr>
                <p:cNvPr id="54330" name="Rectangle 22"/>
                <p:cNvSpPr>
                  <a:spLocks noChangeArrowheads="1"/>
                </p:cNvSpPr>
                <p:nvPr/>
              </p:nvSpPr>
              <p:spPr bwMode="auto">
                <a:xfrm>
                  <a:off x="43" y="0"/>
                  <a:ext cx="501"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&gt;</a:t>
                  </a:r>
                </a:p>
              </p:txBody>
            </p:sp>
            <p:sp>
              <p:nvSpPr>
                <p:cNvPr id="54331" name="Rectangle 23"/>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5" name="Group 24"/>
              <p:cNvGrpSpPr>
                <a:grpSpLocks/>
              </p:cNvGrpSpPr>
              <p:nvPr/>
            </p:nvGrpSpPr>
            <p:grpSpPr bwMode="auto">
              <a:xfrm>
                <a:off x="3404" y="0"/>
                <a:ext cx="655" cy="432"/>
                <a:chOff x="0" y="0"/>
                <a:chExt cx="655" cy="432"/>
              </a:xfrm>
            </p:grpSpPr>
            <p:sp>
              <p:nvSpPr>
                <p:cNvPr id="54328" name="Rectangle 25"/>
                <p:cNvSpPr>
                  <a:spLocks noChangeArrowheads="1"/>
                </p:cNvSpPr>
                <p:nvPr/>
              </p:nvSpPr>
              <p:spPr bwMode="auto">
                <a:xfrm>
                  <a:off x="43" y="0"/>
                  <a:ext cx="568"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1pPr>
                  <a:lvl2pPr marL="742950" indent="-28575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2pPr>
                  <a:lvl3pPr marL="11430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3pPr>
                  <a:lvl4pPr marL="16002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4pPr>
                  <a:lvl5pPr marL="2057400" indent="-228600" eaLnBrk="0" hangingPunct="0">
                    <a:tabLst>
                      <a:tab pos="266700" algn="r"/>
                      <a:tab pos="5292725" algn="r"/>
                    </a:tabLst>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tabLst>
                      <a:tab pos="266700" algn="r"/>
                      <a:tab pos="5292725" algn="r"/>
                    </a:tabLst>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&gt;=</a:t>
                  </a:r>
                </a:p>
              </p:txBody>
            </p:sp>
            <p:sp>
              <p:nvSpPr>
                <p:cNvPr id="54329" name="Rectangle 26"/>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6" name="Group 27"/>
              <p:cNvGrpSpPr>
                <a:grpSpLocks/>
              </p:cNvGrpSpPr>
              <p:nvPr/>
            </p:nvGrpSpPr>
            <p:grpSpPr bwMode="auto">
              <a:xfrm>
                <a:off x="0" y="432"/>
                <a:ext cx="493" cy="432"/>
                <a:chOff x="0" y="0"/>
                <a:chExt cx="493" cy="432"/>
              </a:xfrm>
            </p:grpSpPr>
            <p:sp>
              <p:nvSpPr>
                <p:cNvPr id="54326" name="Rectangle 28"/>
                <p:cNvSpPr>
                  <a:spLocks noChangeArrowheads="1"/>
                </p:cNvSpPr>
                <p:nvPr/>
              </p:nvSpPr>
              <p:spPr bwMode="auto">
                <a:xfrm>
                  <a:off x="44" y="2"/>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ANY</a:t>
                  </a:r>
                </a:p>
              </p:txBody>
            </p:sp>
            <p:sp>
              <p:nvSpPr>
                <p:cNvPr id="54327" name="Rectangle 29"/>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7" name="Group 30"/>
              <p:cNvGrpSpPr>
                <a:grpSpLocks/>
              </p:cNvGrpSpPr>
              <p:nvPr/>
            </p:nvGrpSpPr>
            <p:grpSpPr bwMode="auto">
              <a:xfrm>
                <a:off x="493" y="432"/>
                <a:ext cx="396" cy="432"/>
                <a:chOff x="0" y="0"/>
                <a:chExt cx="396" cy="432"/>
              </a:xfrm>
            </p:grpSpPr>
            <p:sp>
              <p:nvSpPr>
                <p:cNvPr id="54324" name="Rectangle 31"/>
                <p:cNvSpPr>
                  <a:spLocks noChangeArrowheads="1"/>
                </p:cNvSpPr>
                <p:nvPr/>
              </p:nvSpPr>
              <p:spPr bwMode="auto">
                <a:xfrm>
                  <a:off x="43" y="2"/>
                  <a:ext cx="31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 IN</a:t>
                  </a:r>
                </a:p>
              </p:txBody>
            </p:sp>
            <p:sp>
              <p:nvSpPr>
                <p:cNvPr id="54325" name="Rectangle 32"/>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8" name="Group 33"/>
              <p:cNvGrpSpPr>
                <a:grpSpLocks/>
              </p:cNvGrpSpPr>
              <p:nvPr/>
            </p:nvGrpSpPr>
            <p:grpSpPr bwMode="auto">
              <a:xfrm>
                <a:off x="889" y="432"/>
                <a:ext cx="656" cy="432"/>
                <a:chOff x="0" y="0"/>
                <a:chExt cx="656" cy="432"/>
              </a:xfrm>
            </p:grpSpPr>
            <p:sp>
              <p:nvSpPr>
                <p:cNvPr id="54322" name="Rectangle 34"/>
                <p:cNvSpPr>
                  <a:spLocks noChangeArrowheads="1"/>
                </p:cNvSpPr>
                <p:nvPr/>
              </p:nvSpPr>
              <p:spPr bwMode="auto">
                <a:xfrm>
                  <a:off x="45"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a:t>
                  </a:r>
                </a:p>
              </p:txBody>
            </p:sp>
            <p:sp>
              <p:nvSpPr>
                <p:cNvPr id="54323" name="Rectangle 35"/>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89" name="Group 36"/>
              <p:cNvGrpSpPr>
                <a:grpSpLocks/>
              </p:cNvGrpSpPr>
              <p:nvPr/>
            </p:nvGrpSpPr>
            <p:grpSpPr bwMode="auto">
              <a:xfrm>
                <a:off x="1545" y="432"/>
                <a:ext cx="617" cy="432"/>
                <a:chOff x="0" y="0"/>
                <a:chExt cx="617" cy="432"/>
              </a:xfrm>
            </p:grpSpPr>
            <p:sp>
              <p:nvSpPr>
                <p:cNvPr id="54320" name="Rectangle 37"/>
                <p:cNvSpPr>
                  <a:spLocks noChangeArrowheads="1"/>
                </p:cNvSpPr>
                <p:nvPr/>
              </p:nvSpPr>
              <p:spPr bwMode="auto">
                <a:xfrm>
                  <a:off x="43" y="2"/>
                  <a:ext cx="530"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000" b="1"/>
                    <a:t>&lt;MAX</a:t>
                  </a:r>
                </a:p>
              </p:txBody>
            </p:sp>
            <p:sp>
              <p:nvSpPr>
                <p:cNvPr id="54321" name="Rectangle 38"/>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0" name="Group 39"/>
              <p:cNvGrpSpPr>
                <a:grpSpLocks/>
              </p:cNvGrpSpPr>
              <p:nvPr/>
            </p:nvGrpSpPr>
            <p:grpSpPr bwMode="auto">
              <a:xfrm>
                <a:off x="2162" y="432"/>
                <a:ext cx="655" cy="432"/>
                <a:chOff x="0" y="0"/>
                <a:chExt cx="655" cy="432"/>
              </a:xfrm>
            </p:grpSpPr>
            <p:sp>
              <p:nvSpPr>
                <p:cNvPr id="54318" name="Rectangle 40"/>
                <p:cNvSpPr>
                  <a:spLocks noChangeArrowheads="1"/>
                </p:cNvSpPr>
                <p:nvPr/>
              </p:nvSpPr>
              <p:spPr bwMode="auto">
                <a:xfrm>
                  <a:off x="43" y="2"/>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&lt;=MAX</a:t>
                  </a:r>
                </a:p>
              </p:txBody>
            </p:sp>
            <p:sp>
              <p:nvSpPr>
                <p:cNvPr id="54319" name="Rectangle 41"/>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1" name="Group 42"/>
              <p:cNvGrpSpPr>
                <a:grpSpLocks/>
              </p:cNvGrpSpPr>
              <p:nvPr/>
            </p:nvGrpSpPr>
            <p:grpSpPr bwMode="auto">
              <a:xfrm>
                <a:off x="2817" y="432"/>
                <a:ext cx="587" cy="432"/>
                <a:chOff x="0" y="0"/>
                <a:chExt cx="587" cy="432"/>
              </a:xfrm>
            </p:grpSpPr>
            <p:sp>
              <p:nvSpPr>
                <p:cNvPr id="54316" name="Rectangle 43"/>
                <p:cNvSpPr>
                  <a:spLocks noChangeArrowheads="1"/>
                </p:cNvSpPr>
                <p:nvPr/>
              </p:nvSpPr>
              <p:spPr bwMode="auto">
                <a:xfrm>
                  <a:off x="43" y="2"/>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&gt;MIN</a:t>
                  </a:r>
                </a:p>
              </p:txBody>
            </p:sp>
            <p:sp>
              <p:nvSpPr>
                <p:cNvPr id="54317" name="Rectangle 44"/>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2" name="Group 45"/>
              <p:cNvGrpSpPr>
                <a:grpSpLocks/>
              </p:cNvGrpSpPr>
              <p:nvPr/>
            </p:nvGrpSpPr>
            <p:grpSpPr bwMode="auto">
              <a:xfrm>
                <a:off x="3404" y="432"/>
                <a:ext cx="655" cy="432"/>
                <a:chOff x="0" y="0"/>
                <a:chExt cx="655" cy="432"/>
              </a:xfrm>
            </p:grpSpPr>
            <p:sp>
              <p:nvSpPr>
                <p:cNvPr id="54314" name="Rectangle 46"/>
                <p:cNvSpPr>
                  <a:spLocks noChangeArrowheads="1"/>
                </p:cNvSpPr>
                <p:nvPr/>
              </p:nvSpPr>
              <p:spPr bwMode="auto">
                <a:xfrm>
                  <a:off x="43" y="2"/>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 MIN</a:t>
                  </a:r>
                </a:p>
              </p:txBody>
            </p:sp>
            <p:sp>
              <p:nvSpPr>
                <p:cNvPr id="54315" name="Rectangle 47"/>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3" name="Group 48"/>
              <p:cNvGrpSpPr>
                <a:grpSpLocks/>
              </p:cNvGrpSpPr>
              <p:nvPr/>
            </p:nvGrpSpPr>
            <p:grpSpPr bwMode="auto">
              <a:xfrm>
                <a:off x="0" y="864"/>
                <a:ext cx="493" cy="432"/>
                <a:chOff x="0" y="0"/>
                <a:chExt cx="493" cy="432"/>
              </a:xfrm>
            </p:grpSpPr>
            <p:sp>
              <p:nvSpPr>
                <p:cNvPr id="54312" name="Rectangle 49"/>
                <p:cNvSpPr>
                  <a:spLocks noChangeArrowheads="1"/>
                </p:cNvSpPr>
                <p:nvPr/>
              </p:nvSpPr>
              <p:spPr bwMode="auto">
                <a:xfrm>
                  <a:off x="44" y="0"/>
                  <a:ext cx="406"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ALL</a:t>
                  </a:r>
                </a:p>
              </p:txBody>
            </p:sp>
            <p:sp>
              <p:nvSpPr>
                <p:cNvPr id="54313" name="Rectangle 50"/>
                <p:cNvSpPr>
                  <a:spLocks noChangeArrowheads="1"/>
                </p:cNvSpPr>
                <p:nvPr/>
              </p:nvSpPr>
              <p:spPr bwMode="auto">
                <a:xfrm>
                  <a:off x="0" y="0"/>
                  <a:ext cx="493"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4" name="Group 51"/>
              <p:cNvGrpSpPr>
                <a:grpSpLocks/>
              </p:cNvGrpSpPr>
              <p:nvPr/>
            </p:nvGrpSpPr>
            <p:grpSpPr bwMode="auto">
              <a:xfrm>
                <a:off x="493" y="864"/>
                <a:ext cx="396" cy="432"/>
                <a:chOff x="0" y="0"/>
                <a:chExt cx="396" cy="432"/>
              </a:xfrm>
            </p:grpSpPr>
            <p:sp>
              <p:nvSpPr>
                <p:cNvPr id="54310" name="Rectangle 52"/>
                <p:cNvSpPr>
                  <a:spLocks noChangeArrowheads="1"/>
                </p:cNvSpPr>
                <p:nvPr/>
              </p:nvSpPr>
              <p:spPr bwMode="auto">
                <a:xfrm>
                  <a:off x="43" y="0"/>
                  <a:ext cx="31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400" b="1"/>
                    <a:t>  --</a:t>
                  </a:r>
                </a:p>
              </p:txBody>
            </p:sp>
            <p:sp>
              <p:nvSpPr>
                <p:cNvPr id="54311" name="Rectangle 53"/>
                <p:cNvSpPr>
                  <a:spLocks noChangeArrowheads="1"/>
                </p:cNvSpPr>
                <p:nvPr/>
              </p:nvSpPr>
              <p:spPr bwMode="auto">
                <a:xfrm>
                  <a:off x="0" y="0"/>
                  <a:ext cx="39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5" name="Group 54"/>
              <p:cNvGrpSpPr>
                <a:grpSpLocks/>
              </p:cNvGrpSpPr>
              <p:nvPr/>
            </p:nvGrpSpPr>
            <p:grpSpPr bwMode="auto">
              <a:xfrm>
                <a:off x="889" y="864"/>
                <a:ext cx="656" cy="432"/>
                <a:chOff x="0" y="0"/>
                <a:chExt cx="656" cy="432"/>
              </a:xfrm>
            </p:grpSpPr>
            <p:sp>
              <p:nvSpPr>
                <p:cNvPr id="54308" name="Rectangle 55"/>
                <p:cNvSpPr>
                  <a:spLocks noChangeArrowheads="1"/>
                </p:cNvSpPr>
                <p:nvPr/>
              </p:nvSpPr>
              <p:spPr bwMode="auto">
                <a:xfrm>
                  <a:off x="45" y="0"/>
                  <a:ext cx="568"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 </a:t>
                  </a:r>
                  <a:r>
                    <a:rPr lang="en-US" altLang="zh-CN" b="1"/>
                    <a:t>NOT IN</a:t>
                  </a:r>
                </a:p>
              </p:txBody>
            </p:sp>
            <p:sp>
              <p:nvSpPr>
                <p:cNvPr id="54309" name="Rectangle 56"/>
                <p:cNvSpPr>
                  <a:spLocks noChangeArrowheads="1"/>
                </p:cNvSpPr>
                <p:nvPr/>
              </p:nvSpPr>
              <p:spPr bwMode="auto">
                <a:xfrm>
                  <a:off x="0" y="0"/>
                  <a:ext cx="656"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6" name="Group 57"/>
              <p:cNvGrpSpPr>
                <a:grpSpLocks/>
              </p:cNvGrpSpPr>
              <p:nvPr/>
            </p:nvGrpSpPr>
            <p:grpSpPr bwMode="auto">
              <a:xfrm>
                <a:off x="1545" y="864"/>
                <a:ext cx="617" cy="432"/>
                <a:chOff x="0" y="0"/>
                <a:chExt cx="617" cy="432"/>
              </a:xfrm>
            </p:grpSpPr>
            <p:sp>
              <p:nvSpPr>
                <p:cNvPr id="54306" name="Rectangle 58"/>
                <p:cNvSpPr>
                  <a:spLocks noChangeArrowheads="1"/>
                </p:cNvSpPr>
                <p:nvPr/>
              </p:nvSpPr>
              <p:spPr bwMode="auto">
                <a:xfrm>
                  <a:off x="43" y="0"/>
                  <a:ext cx="530" cy="2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1500" b="1"/>
                    <a:t> </a:t>
                  </a:r>
                  <a:r>
                    <a:rPr lang="en-US" altLang="zh-CN" sz="2400" b="1"/>
                    <a:t>&lt;</a:t>
                  </a:r>
                  <a:r>
                    <a:rPr lang="en-US" altLang="zh-CN" sz="2000" b="1"/>
                    <a:t>MIN</a:t>
                  </a:r>
                </a:p>
              </p:txBody>
            </p:sp>
            <p:sp>
              <p:nvSpPr>
                <p:cNvPr id="54307" name="Rectangle 59"/>
                <p:cNvSpPr>
                  <a:spLocks noChangeArrowheads="1"/>
                </p:cNvSpPr>
                <p:nvPr/>
              </p:nvSpPr>
              <p:spPr bwMode="auto">
                <a:xfrm>
                  <a:off x="0" y="0"/>
                  <a:ext cx="61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7" name="Group 60"/>
              <p:cNvGrpSpPr>
                <a:grpSpLocks/>
              </p:cNvGrpSpPr>
              <p:nvPr/>
            </p:nvGrpSpPr>
            <p:grpSpPr bwMode="auto">
              <a:xfrm>
                <a:off x="2162" y="864"/>
                <a:ext cx="655" cy="432"/>
                <a:chOff x="0" y="0"/>
                <a:chExt cx="655" cy="432"/>
              </a:xfrm>
            </p:grpSpPr>
            <p:sp>
              <p:nvSpPr>
                <p:cNvPr id="54304" name="Rectangle 61"/>
                <p:cNvSpPr>
                  <a:spLocks noChangeArrowheads="1"/>
                </p:cNvSpPr>
                <p:nvPr/>
              </p:nvSpPr>
              <p:spPr bwMode="auto">
                <a:xfrm>
                  <a:off x="43" y="0"/>
                  <a:ext cx="569"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&lt;= MIN</a:t>
                  </a:r>
                </a:p>
              </p:txBody>
            </p:sp>
            <p:sp>
              <p:nvSpPr>
                <p:cNvPr id="54305" name="Rectangle 62"/>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8" name="Group 63"/>
              <p:cNvGrpSpPr>
                <a:grpSpLocks/>
              </p:cNvGrpSpPr>
              <p:nvPr/>
            </p:nvGrpSpPr>
            <p:grpSpPr bwMode="auto">
              <a:xfrm>
                <a:off x="2817" y="864"/>
                <a:ext cx="587" cy="432"/>
                <a:chOff x="0" y="0"/>
                <a:chExt cx="587" cy="432"/>
              </a:xfrm>
            </p:grpSpPr>
            <p:sp>
              <p:nvSpPr>
                <p:cNvPr id="54302" name="Rectangle 64"/>
                <p:cNvSpPr>
                  <a:spLocks noChangeArrowheads="1"/>
                </p:cNvSpPr>
                <p:nvPr/>
              </p:nvSpPr>
              <p:spPr bwMode="auto">
                <a:xfrm>
                  <a:off x="43" y="0"/>
                  <a:ext cx="501" cy="25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sz="2000" b="1"/>
                    <a:t>&gt;MAX</a:t>
                  </a:r>
                </a:p>
              </p:txBody>
            </p:sp>
            <p:sp>
              <p:nvSpPr>
                <p:cNvPr id="54303" name="Rectangle 65"/>
                <p:cNvSpPr>
                  <a:spLocks noChangeArrowheads="1"/>
                </p:cNvSpPr>
                <p:nvPr/>
              </p:nvSpPr>
              <p:spPr bwMode="auto">
                <a:xfrm>
                  <a:off x="0" y="0"/>
                  <a:ext cx="587"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nvGrpSpPr>
              <p:cNvPr id="54299" name="Group 66"/>
              <p:cNvGrpSpPr>
                <a:grpSpLocks/>
              </p:cNvGrpSpPr>
              <p:nvPr/>
            </p:nvGrpSpPr>
            <p:grpSpPr bwMode="auto">
              <a:xfrm>
                <a:off x="3404" y="864"/>
                <a:ext cx="655" cy="432"/>
                <a:chOff x="0" y="0"/>
                <a:chExt cx="655" cy="432"/>
              </a:xfrm>
            </p:grpSpPr>
            <p:sp>
              <p:nvSpPr>
                <p:cNvPr id="54300" name="Rectangle 67"/>
                <p:cNvSpPr>
                  <a:spLocks noChangeArrowheads="1"/>
                </p:cNvSpPr>
                <p:nvPr/>
              </p:nvSpPr>
              <p:spPr bwMode="auto">
                <a:xfrm>
                  <a:off x="43" y="0"/>
                  <a:ext cx="568" cy="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r>
                    <a:rPr lang="en-US" altLang="zh-CN" b="1"/>
                    <a:t>&gt;= MAX</a:t>
                  </a:r>
                </a:p>
              </p:txBody>
            </p:sp>
            <p:sp>
              <p:nvSpPr>
                <p:cNvPr id="54301" name="Rectangle 68"/>
                <p:cNvSpPr>
                  <a:spLocks noChangeArrowheads="1"/>
                </p:cNvSpPr>
                <p:nvPr/>
              </p:nvSpPr>
              <p:spPr bwMode="auto">
                <a:xfrm>
                  <a:off x="0" y="0"/>
                  <a:ext cx="655" cy="432"/>
                </a:xfrm>
                <a:prstGeom prst="rect">
                  <a:avLst/>
                </a:prstGeom>
                <a:noFill/>
                <a:ln w="7">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grpSp>
        <p:sp>
          <p:nvSpPr>
            <p:cNvPr id="54278" name="Rectangle 69"/>
            <p:cNvSpPr>
              <a:spLocks noChangeArrowheads="1"/>
            </p:cNvSpPr>
            <p:nvPr/>
          </p:nvSpPr>
          <p:spPr bwMode="auto">
            <a:xfrm>
              <a:off x="0" y="0"/>
              <a:ext cx="4065" cy="1302"/>
            </a:xfrm>
            <a:prstGeom prst="rect">
              <a:avLst/>
            </a:prstGeom>
            <a:noFill/>
            <a:ln w="11112">
              <a:solidFill>
                <a:srgbClr val="A0A0A0"/>
              </a:solidFill>
              <a:miter lim="800000"/>
              <a:headEnd/>
              <a:tailEnd/>
            </a:ln>
            <a:extLst>
              <a:ext uri="{909E8E84-426E-40DD-AFC4-6F175D3DCCD1}">
                <a14:hiddenFill xmlns:a14="http://schemas.microsoft.com/office/drawing/2010/main">
                  <a:solidFill>
                    <a:srgbClr val="FFFFFF"/>
                  </a:solidFill>
                </a14:hiddenFill>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buFont typeface="Arial" panose="020B0604020202020204" pitchFamily="34" charset="0"/>
                <a:defRPr>
                  <a:solidFill>
                    <a:schemeClr val="tx1"/>
                  </a:solidFill>
                  <a:latin typeface="Arial" panose="020B0604020202020204" pitchFamily="34" charset="0"/>
                  <a:ea typeface="宋体" panose="02010600030101010101" pitchFamily="2" charset="-122"/>
                </a:defRPr>
              </a:lvl9pPr>
            </a:lstStyle>
            <a:p>
              <a:pPr eaLnBrk="1" hangingPunct="1"/>
              <a:endParaRPr lang="zh-CN" altLang="en-US"/>
            </a:p>
          </p:txBody>
        </p:sp>
      </p:grpSp>
    </p:spTree>
    <p:extLst>
      <p:ext uri="{BB962C8B-B14F-4D97-AF65-F5344CB8AC3E}">
        <p14:creationId xmlns:p14="http://schemas.microsoft.com/office/powerpoint/2010/main" val="1927498015"/>
      </p:ext>
    </p:extLst>
  </p:cSld>
  <p:clrMapOvr>
    <a:masterClrMapping/>
  </p:clrMapOvr>
  <p:timing>
    <p:tnLst>
      <p:par>
        <p:cTn id="1" dur="indefinite" restart="never" nodeType="tmRoot"/>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Rectangle 2"/>
          <p:cNvSpPr>
            <a:spLocks noGrp="1" noChangeArrowheads="1"/>
          </p:cNvSpPr>
          <p:nvPr>
            <p:ph type="title" idx="4294967295"/>
          </p:nvPr>
        </p:nvSpPr>
        <p:spPr/>
        <p:txBody>
          <a:bodyPr/>
          <a:lstStyle/>
          <a:p>
            <a:pPr eaLnBrk="1" hangingPunct="1"/>
            <a:r>
              <a:rPr lang="en-US" altLang="zh-CN" sz="3600" dirty="0" smtClean="0"/>
              <a:t>(4)</a:t>
            </a:r>
            <a:r>
              <a:rPr lang="zh-CN" altLang="en-US" sz="3600" dirty="0" smtClean="0"/>
              <a:t>带有</a:t>
            </a:r>
            <a:r>
              <a:rPr lang="en-US" altLang="zh-CN" sz="3600" dirty="0" smtClean="0"/>
              <a:t>EXISTS</a:t>
            </a:r>
            <a:r>
              <a:rPr lang="zh-CN" altLang="en-US" sz="3600" dirty="0" smtClean="0"/>
              <a:t>谓词的子查询</a:t>
            </a:r>
          </a:p>
        </p:txBody>
      </p:sp>
      <p:sp>
        <p:nvSpPr>
          <p:cNvPr id="56323" name="Rectangle 3"/>
          <p:cNvSpPr>
            <a:spLocks noGrp="1" noChangeArrowheads="1"/>
          </p:cNvSpPr>
          <p:nvPr>
            <p:ph type="body" idx="4294967295"/>
          </p:nvPr>
        </p:nvSpPr>
        <p:spPr>
          <a:xfrm>
            <a:off x="252413" y="1098550"/>
            <a:ext cx="8640762" cy="4851400"/>
          </a:xfrm>
        </p:spPr>
        <p:txBody>
          <a:bodyPr>
            <a:normAutofit fontScale="92500" lnSpcReduction="10000"/>
          </a:bodyPr>
          <a:lstStyle/>
          <a:p>
            <a:pPr eaLnBrk="1" hangingPunct="1">
              <a:lnSpc>
                <a:spcPct val="120000"/>
              </a:lnSpc>
            </a:pPr>
            <a:r>
              <a:rPr lang="en-US" altLang="zh-CN" dirty="0" smtClean="0"/>
              <a:t> EXISTS</a:t>
            </a:r>
            <a:r>
              <a:rPr lang="zh-CN" altLang="en-US" dirty="0" smtClean="0"/>
              <a:t>谓词</a:t>
            </a:r>
          </a:p>
          <a:p>
            <a:pPr lvl="1">
              <a:lnSpc>
                <a:spcPct val="120000"/>
              </a:lnSpc>
              <a:buSzPct val="75000"/>
            </a:pPr>
            <a:r>
              <a:rPr lang="zh-CN" altLang="en-US" dirty="0" smtClean="0"/>
              <a:t>带有</a:t>
            </a:r>
            <a:r>
              <a:rPr lang="en-US" altLang="zh-CN" dirty="0" smtClean="0"/>
              <a:t>EXISTS</a:t>
            </a:r>
            <a:r>
              <a:rPr lang="zh-CN" altLang="en-US" dirty="0" smtClean="0"/>
              <a:t>谓词的子查询不返回任何数据，只产生逻辑真值“</a:t>
            </a:r>
            <a:r>
              <a:rPr lang="en-US" altLang="zh-CN" dirty="0" smtClean="0"/>
              <a:t>true”</a:t>
            </a:r>
            <a:r>
              <a:rPr lang="zh-CN" altLang="en-US" dirty="0" smtClean="0"/>
              <a:t>或逻辑假值“</a:t>
            </a:r>
            <a:r>
              <a:rPr lang="en-US" altLang="zh-CN" dirty="0" smtClean="0"/>
              <a:t>false”</a:t>
            </a:r>
            <a:r>
              <a:rPr lang="zh-CN" altLang="en-US" dirty="0" smtClean="0"/>
              <a:t>。</a:t>
            </a:r>
          </a:p>
          <a:p>
            <a:pPr lvl="2">
              <a:lnSpc>
                <a:spcPct val="120000"/>
              </a:lnSpc>
              <a:buSzPct val="87000"/>
              <a:buFont typeface="Wingdings" panose="05000000000000000000" pitchFamily="2" charset="2"/>
              <a:buChar char="l"/>
            </a:pPr>
            <a:r>
              <a:rPr lang="zh-CN" altLang="en-US" sz="2200" dirty="0" smtClean="0"/>
              <a:t>若内层查询结果非空，则外层的</a:t>
            </a:r>
            <a:r>
              <a:rPr lang="en-US" altLang="zh-CN" sz="2200" dirty="0" smtClean="0"/>
              <a:t>WHERE</a:t>
            </a:r>
            <a:r>
              <a:rPr lang="zh-CN" altLang="en-US" sz="2200" dirty="0" smtClean="0"/>
              <a:t>子句返回真值</a:t>
            </a:r>
          </a:p>
          <a:p>
            <a:pPr lvl="2">
              <a:lnSpc>
                <a:spcPct val="120000"/>
              </a:lnSpc>
              <a:buSzPct val="87000"/>
              <a:buFont typeface="Wingdings" panose="05000000000000000000" pitchFamily="2" charset="2"/>
              <a:buChar char="l"/>
            </a:pPr>
            <a:r>
              <a:rPr lang="zh-CN" altLang="en-US" sz="2200" dirty="0" smtClean="0"/>
              <a:t>若内层查询结果为空，则外层的</a:t>
            </a:r>
            <a:r>
              <a:rPr lang="en-US" altLang="zh-CN" sz="2200" dirty="0" smtClean="0"/>
              <a:t>WHERE</a:t>
            </a:r>
            <a:r>
              <a:rPr lang="zh-CN" altLang="en-US" sz="2200" dirty="0" smtClean="0"/>
              <a:t>子句返回假值</a:t>
            </a:r>
          </a:p>
          <a:p>
            <a:pPr>
              <a:lnSpc>
                <a:spcPct val="120000"/>
              </a:lnSpc>
            </a:pPr>
            <a:r>
              <a:rPr lang="en-US" altLang="zh-CN" dirty="0"/>
              <a:t>NOT EXISTS</a:t>
            </a:r>
            <a:r>
              <a:rPr lang="zh-CN" altLang="en-US" dirty="0"/>
              <a:t>谓词</a:t>
            </a:r>
          </a:p>
          <a:p>
            <a:pPr lvl="1">
              <a:lnSpc>
                <a:spcPct val="150000"/>
              </a:lnSpc>
            </a:pPr>
            <a:r>
              <a:rPr lang="zh-CN" altLang="en-US" dirty="0"/>
              <a:t>若内层查询结果非空，则外层的</a:t>
            </a:r>
            <a:r>
              <a:rPr lang="en-US" altLang="zh-CN" dirty="0"/>
              <a:t>WHERE</a:t>
            </a:r>
            <a:r>
              <a:rPr lang="zh-CN" altLang="en-US" dirty="0"/>
              <a:t>子句返回假值</a:t>
            </a:r>
          </a:p>
          <a:p>
            <a:pPr lvl="1">
              <a:lnSpc>
                <a:spcPct val="150000"/>
              </a:lnSpc>
            </a:pPr>
            <a:r>
              <a:rPr lang="zh-CN" altLang="en-US" dirty="0"/>
              <a:t>若内层查询结果为空，则外层的</a:t>
            </a:r>
            <a:r>
              <a:rPr lang="en-US" altLang="zh-CN" dirty="0"/>
              <a:t>WHERE</a:t>
            </a:r>
            <a:r>
              <a:rPr lang="zh-CN" altLang="en-US" dirty="0"/>
              <a:t>子句返回</a:t>
            </a:r>
            <a:r>
              <a:rPr lang="zh-CN" altLang="en-US" dirty="0" smtClean="0"/>
              <a:t>真值</a:t>
            </a:r>
            <a:endParaRPr lang="en-US" altLang="zh-CN" dirty="0" smtClean="0"/>
          </a:p>
          <a:p>
            <a:pPr marL="457200" lvl="1" indent="0">
              <a:lnSpc>
                <a:spcPct val="150000"/>
              </a:lnSpc>
              <a:buNone/>
            </a:pPr>
            <a:endParaRPr lang="en-US" altLang="zh-CN" dirty="0" smtClean="0"/>
          </a:p>
          <a:p>
            <a:pPr marL="457200" lvl="1" indent="0">
              <a:lnSpc>
                <a:spcPct val="150000"/>
              </a:lnSpc>
              <a:buNone/>
            </a:pPr>
            <a:r>
              <a:rPr lang="zh-CN" altLang="en-US" dirty="0" smtClean="0">
                <a:solidFill>
                  <a:srgbClr val="FF0000"/>
                </a:solidFill>
              </a:rPr>
              <a:t>一般为相关查询</a:t>
            </a:r>
            <a:endParaRPr lang="zh-CN" altLang="en-US" dirty="0">
              <a:solidFill>
                <a:srgbClr val="FF0000"/>
              </a:solidFill>
            </a:endParaRPr>
          </a:p>
        </p:txBody>
      </p:sp>
    </p:spTree>
    <p:extLst>
      <p:ext uri="{BB962C8B-B14F-4D97-AF65-F5344CB8AC3E}">
        <p14:creationId xmlns:p14="http://schemas.microsoft.com/office/powerpoint/2010/main" val="2603398975"/>
      </p:ext>
    </p:extLst>
  </p:cSld>
  <p:clrMapOvr>
    <a:masterClrMapping/>
  </p:clrMapOvr>
  <p:timing>
    <p:tnLst>
      <p:par>
        <p:cTn id="1" dur="indefinite" restart="never" nodeType="tmRoot"/>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58371" name="Rectangle 3"/>
          <p:cNvSpPr>
            <a:spLocks noGrp="1" noChangeArrowheads="1"/>
          </p:cNvSpPr>
          <p:nvPr>
            <p:ph type="body" idx="4294967295"/>
          </p:nvPr>
        </p:nvSpPr>
        <p:spPr>
          <a:xfrm>
            <a:off x="174625" y="1252826"/>
            <a:ext cx="8435975" cy="6434137"/>
          </a:xfrm>
        </p:spPr>
        <p:txBody>
          <a:bodyPr/>
          <a:lstStyle/>
          <a:p>
            <a:pPr eaLnBrk="1" hangingPunct="1">
              <a:buFont typeface="宋体" panose="02010600030101010101" pitchFamily="2" charset="-122"/>
              <a:buNone/>
            </a:pPr>
            <a:r>
              <a:rPr lang="en-US" altLang="zh-CN" sz="2400" dirty="0" smtClean="0"/>
              <a:t>[</a:t>
            </a:r>
            <a:r>
              <a:rPr lang="zh-CN" altLang="en-US" sz="2400" dirty="0" smtClean="0"/>
              <a:t>例 </a:t>
            </a:r>
            <a:r>
              <a:rPr lang="en-US" altLang="zh-CN" sz="2400" dirty="0" smtClean="0"/>
              <a:t>3.60]</a:t>
            </a:r>
            <a:r>
              <a:rPr lang="zh-CN" altLang="en-US" sz="2400" dirty="0" smtClean="0"/>
              <a:t>查询所有选修了</a:t>
            </a:r>
            <a:r>
              <a:rPr lang="en-US" altLang="zh-CN" sz="2400" dirty="0" smtClean="0"/>
              <a:t>1</a:t>
            </a:r>
            <a:r>
              <a:rPr lang="zh-CN" altLang="en-US" sz="2400" dirty="0" smtClean="0"/>
              <a:t>号课程的学生姓名。</a:t>
            </a:r>
          </a:p>
          <a:p>
            <a:pPr eaLnBrk="1" hangingPunct="1">
              <a:buFont typeface="宋体" panose="02010600030101010101" pitchFamily="2" charset="-122"/>
              <a:buNone/>
            </a:pPr>
            <a:r>
              <a:rPr lang="zh-CN" altLang="en-US" sz="2400" dirty="0" smtClean="0"/>
              <a:t> 思路分析：</a:t>
            </a:r>
          </a:p>
          <a:p>
            <a:pPr lvl="1"/>
            <a:r>
              <a:rPr lang="zh-CN" altLang="en-US" sz="2200" dirty="0" smtClean="0"/>
              <a:t>本查询涉及</a:t>
            </a:r>
            <a:r>
              <a:rPr lang="en-US" altLang="zh-CN" sz="2200" dirty="0" smtClean="0"/>
              <a:t>Student</a:t>
            </a:r>
            <a:r>
              <a:rPr lang="zh-CN" altLang="en-US" sz="2200" dirty="0" smtClean="0"/>
              <a:t>和</a:t>
            </a:r>
            <a:r>
              <a:rPr lang="en-US" altLang="zh-CN" sz="2200" dirty="0" smtClean="0"/>
              <a:t>SC</a:t>
            </a:r>
            <a:r>
              <a:rPr lang="zh-CN" altLang="en-US" sz="2200" dirty="0" smtClean="0"/>
              <a:t>关系</a:t>
            </a:r>
          </a:p>
          <a:p>
            <a:pPr lvl="1"/>
            <a:r>
              <a:rPr lang="zh-CN" altLang="en-US" sz="2200" dirty="0" smtClean="0"/>
              <a:t>在</a:t>
            </a:r>
            <a:r>
              <a:rPr lang="en-US" altLang="zh-CN" sz="2200" dirty="0" smtClean="0"/>
              <a:t>Student</a:t>
            </a:r>
            <a:r>
              <a:rPr lang="zh-CN" altLang="en-US" sz="2200" dirty="0" smtClean="0"/>
              <a:t>中依次取每个元组的</a:t>
            </a:r>
            <a:r>
              <a:rPr lang="en-US" altLang="zh-CN" sz="2200" dirty="0" err="1" smtClean="0"/>
              <a:t>Sno</a:t>
            </a:r>
            <a:r>
              <a:rPr lang="zh-CN" altLang="en-US" sz="2200" dirty="0" smtClean="0"/>
              <a:t>值，用此值去检查</a:t>
            </a:r>
            <a:r>
              <a:rPr lang="en-US" altLang="zh-CN" sz="2200" dirty="0" smtClean="0"/>
              <a:t>SC</a:t>
            </a:r>
            <a:r>
              <a:rPr lang="zh-CN" altLang="en-US" sz="2200" dirty="0" smtClean="0"/>
              <a:t>表</a:t>
            </a:r>
          </a:p>
          <a:p>
            <a:pPr lvl="1"/>
            <a:r>
              <a:rPr lang="zh-CN" altLang="en-US" sz="2200" dirty="0" smtClean="0"/>
              <a:t>若</a:t>
            </a:r>
            <a:r>
              <a:rPr lang="en-US" altLang="zh-CN" sz="2200" dirty="0" smtClean="0"/>
              <a:t>SC</a:t>
            </a:r>
            <a:r>
              <a:rPr lang="zh-CN" altLang="en-US" sz="2200" dirty="0" smtClean="0"/>
              <a:t>中存在这样的元组，其</a:t>
            </a:r>
            <a:r>
              <a:rPr lang="en-US" altLang="zh-CN" sz="2200" dirty="0" err="1" smtClean="0"/>
              <a:t>Sno</a:t>
            </a:r>
            <a:r>
              <a:rPr lang="zh-CN" altLang="en-US" sz="2200" dirty="0" smtClean="0"/>
              <a:t>值等于此</a:t>
            </a:r>
            <a:r>
              <a:rPr lang="en-US" altLang="zh-CN" sz="2200" dirty="0" err="1" smtClean="0"/>
              <a:t>Student.Sno</a:t>
            </a:r>
            <a:r>
              <a:rPr lang="zh-CN" altLang="en-US" sz="2200" dirty="0" smtClean="0"/>
              <a:t>值，并且其</a:t>
            </a:r>
            <a:r>
              <a:rPr lang="en-US" altLang="zh-CN" sz="2200" dirty="0" err="1" smtClean="0"/>
              <a:t>Cno</a:t>
            </a:r>
            <a:r>
              <a:rPr lang="en-US" altLang="zh-CN" sz="2200" dirty="0" smtClean="0"/>
              <a:t>= ‘1’</a:t>
            </a:r>
            <a:r>
              <a:rPr lang="zh-CN" altLang="en-US" sz="2200" dirty="0" smtClean="0"/>
              <a:t>，则取此</a:t>
            </a:r>
            <a:r>
              <a:rPr lang="en-US" altLang="zh-CN" sz="2200" dirty="0" err="1" smtClean="0"/>
              <a:t>Student.Sname</a:t>
            </a:r>
            <a:r>
              <a:rPr lang="zh-CN" altLang="en-US" sz="2200" dirty="0" smtClean="0"/>
              <a:t>送入结果表</a:t>
            </a:r>
            <a:endParaRPr lang="en-US" altLang="zh-CN" sz="2200" dirty="0" smtClean="0"/>
          </a:p>
          <a:p>
            <a:pPr eaLnBrk="1" hangingPunct="1">
              <a:buFont typeface="Wingdings" panose="05000000000000000000" pitchFamily="2" charset="2"/>
              <a:buNone/>
            </a:pPr>
            <a:r>
              <a:rPr lang="zh-CN" altLang="en-US" sz="2000" dirty="0" smtClean="0"/>
              <a:t>    </a:t>
            </a:r>
            <a:endParaRPr lang="en-US" altLang="zh-CN" sz="2000" dirty="0" smtClean="0"/>
          </a:p>
          <a:p>
            <a:pPr eaLnBrk="1" hangingPunct="1">
              <a:buFont typeface="Wingdings" panose="05000000000000000000" pitchFamily="2" charset="2"/>
              <a:buNone/>
            </a:pPr>
            <a:r>
              <a:rPr lang="en-US" altLang="zh-CN" sz="2000" dirty="0" smtClean="0"/>
              <a:t>   </a:t>
            </a:r>
            <a:r>
              <a:rPr lang="zh-CN" altLang="en-US" sz="2000" dirty="0" smtClean="0"/>
              <a:t> </a:t>
            </a:r>
            <a:r>
              <a:rPr lang="en-US" altLang="zh-CN" sz="2400" dirty="0" smtClean="0"/>
              <a:t> SELECT </a:t>
            </a:r>
            <a:r>
              <a:rPr lang="en-US" altLang="zh-CN" sz="2400" dirty="0" err="1" smtClean="0"/>
              <a:t>Sname</a:t>
            </a:r>
            <a:endParaRPr lang="en-US" altLang="zh-CN" sz="2400" dirty="0" smtClean="0"/>
          </a:p>
          <a:p>
            <a:pPr eaLnBrk="1" hangingPunct="1">
              <a:buFont typeface="Wingdings" panose="05000000000000000000" pitchFamily="2" charset="2"/>
              <a:buNone/>
            </a:pPr>
            <a:r>
              <a:rPr lang="en-US" altLang="zh-CN" sz="2400" dirty="0" smtClean="0"/>
              <a:t>     FROM</a:t>
            </a:r>
            <a:r>
              <a:rPr lang="en-US" altLang="zh-CN" sz="2400" dirty="0" smtClean="0">
                <a:solidFill>
                  <a:srgbClr val="FF00FF"/>
                </a:solidFill>
              </a:rPr>
              <a:t> Student</a:t>
            </a:r>
            <a:endParaRPr lang="en-US" altLang="zh-CN" dirty="0" smtClean="0">
              <a:solidFill>
                <a:srgbClr val="FF00FF"/>
              </a:solidFill>
            </a:endParaRPr>
          </a:p>
          <a:p>
            <a:pPr eaLnBrk="1" hangingPunct="1">
              <a:buFont typeface="Wingdings" panose="05000000000000000000" pitchFamily="2" charset="2"/>
              <a:buNone/>
            </a:pPr>
            <a:r>
              <a:rPr lang="en-US" altLang="zh-CN" sz="2400" dirty="0" smtClean="0"/>
              <a:t>     WHERE EXISTS</a:t>
            </a:r>
          </a:p>
          <a:p>
            <a:pPr eaLnBrk="1" hangingPunct="1">
              <a:buFont typeface="Wingdings" panose="05000000000000000000" pitchFamily="2" charset="2"/>
              <a:buNone/>
            </a:pPr>
            <a:r>
              <a:rPr lang="en-US" altLang="zh-CN" sz="2400" dirty="0" smtClean="0"/>
              <a:t>                   </a:t>
            </a:r>
            <a:r>
              <a:rPr lang="zh-CN" altLang="en-US" sz="2400" dirty="0" smtClean="0"/>
              <a:t>(</a:t>
            </a:r>
            <a:r>
              <a:rPr lang="en-US" altLang="zh-CN" sz="2400" dirty="0" smtClean="0"/>
              <a:t>SELECT </a:t>
            </a:r>
            <a:r>
              <a:rPr lang="en-US" altLang="zh-CN" sz="2400" dirty="0" smtClean="0">
                <a:solidFill>
                  <a:srgbClr val="FF00FF"/>
                </a:solidFill>
              </a:rPr>
              <a:t>*</a:t>
            </a:r>
          </a:p>
          <a:p>
            <a:pPr eaLnBrk="1" hangingPunct="1">
              <a:buFont typeface="Wingdings" panose="05000000000000000000" pitchFamily="2" charset="2"/>
              <a:buNone/>
            </a:pPr>
            <a:r>
              <a:rPr lang="en-US" altLang="zh-CN" sz="2400" dirty="0" smtClean="0"/>
              <a:t>                    FROM SC</a:t>
            </a:r>
          </a:p>
          <a:p>
            <a:pPr eaLnBrk="1" hangingPunct="1">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a:t>
            </a:r>
            <a:r>
              <a:rPr lang="en-US" altLang="zh-CN" sz="2400" dirty="0" err="1" smtClean="0">
                <a:solidFill>
                  <a:srgbClr val="FF00FF"/>
                </a:solidFill>
              </a:rPr>
              <a:t>Student.Sno</a:t>
            </a:r>
            <a:r>
              <a:rPr lang="en-US" altLang="zh-CN" sz="2400" dirty="0" smtClean="0"/>
              <a:t> AND </a:t>
            </a:r>
            <a:r>
              <a:rPr lang="en-US" altLang="zh-CN" sz="2400" dirty="0" err="1" smtClean="0"/>
              <a:t>Cno</a:t>
            </a:r>
            <a:r>
              <a:rPr lang="en-US" altLang="zh-CN" sz="2400" dirty="0" smtClean="0"/>
              <a:t>= ' 1 '</a:t>
            </a:r>
            <a:r>
              <a:rPr lang="zh-CN" altLang="en-US" sz="2400" dirty="0" smtClean="0"/>
              <a:t>);</a:t>
            </a:r>
          </a:p>
          <a:p>
            <a:pPr eaLnBrk="1" hangingPunct="1">
              <a:buFont typeface="Wingdings" panose="05000000000000000000" pitchFamily="2" charset="2"/>
              <a:buNone/>
            </a:pPr>
            <a:r>
              <a:rPr lang="zh-CN" altLang="en-US" sz="2000" dirty="0" smtClean="0">
                <a:latin typeface="宋体" panose="02010600030101010101" pitchFamily="2" charset="-122"/>
              </a:rPr>
              <a:t>  </a:t>
            </a:r>
            <a:endParaRPr lang="zh-CN" altLang="en-US" sz="2000" dirty="0" smtClean="0"/>
          </a:p>
        </p:txBody>
      </p:sp>
      <p:sp>
        <p:nvSpPr>
          <p:cNvPr id="2" name="矩形 1"/>
          <p:cNvSpPr/>
          <p:nvPr/>
        </p:nvSpPr>
        <p:spPr>
          <a:xfrm>
            <a:off x="3957781" y="3992664"/>
            <a:ext cx="4572000" cy="1477328"/>
          </a:xfrm>
          <a:prstGeom prst="rect">
            <a:avLst/>
          </a:prstGeom>
        </p:spPr>
        <p:txBody>
          <a:bodyPr>
            <a:spAutoFit/>
          </a:bodyPr>
          <a:lstStyle/>
          <a:p>
            <a:pPr>
              <a:buFont typeface="Wingdings" panose="05000000000000000000" pitchFamily="2" charset="2"/>
              <a:buNone/>
            </a:pPr>
            <a:r>
              <a:rPr lang="en-US" altLang="zh-CN" dirty="0"/>
              <a:t>Using of </a:t>
            </a:r>
            <a:r>
              <a:rPr lang="en-US" altLang="zh-CN" dirty="0" smtClean="0"/>
              <a:t>Joining </a:t>
            </a:r>
            <a:r>
              <a:rPr lang="en-US" altLang="zh-CN" dirty="0"/>
              <a:t>table:</a:t>
            </a:r>
          </a:p>
          <a:p>
            <a:pPr lvl="1">
              <a:buFont typeface="Wingdings" panose="05000000000000000000" pitchFamily="2" charset="2"/>
              <a:buNone/>
            </a:pPr>
            <a:r>
              <a:rPr lang="en-US" altLang="zh-CN" dirty="0">
                <a:latin typeface="宋体" panose="02010600030101010101" pitchFamily="2" charset="-122"/>
              </a:rPr>
              <a:t>SELECT </a:t>
            </a:r>
            <a:r>
              <a:rPr lang="en-US" altLang="zh-CN" dirty="0" err="1">
                <a:latin typeface="宋体" panose="02010600030101010101" pitchFamily="2" charset="-122"/>
              </a:rPr>
              <a:t>Sname</a:t>
            </a:r>
            <a:endParaRPr lang="en-US" altLang="zh-CN" dirty="0">
              <a:latin typeface="宋体" panose="02010600030101010101" pitchFamily="2" charset="-122"/>
            </a:endParaRPr>
          </a:p>
          <a:p>
            <a:pPr lvl="1">
              <a:buFont typeface="Wingdings" panose="05000000000000000000" pitchFamily="2" charset="2"/>
              <a:buNone/>
            </a:pPr>
            <a:r>
              <a:rPr lang="en-US" altLang="zh-CN" dirty="0">
                <a:latin typeface="宋体" panose="02010600030101010101" pitchFamily="2" charset="-122"/>
              </a:rPr>
              <a:t>FROM Student, SC</a:t>
            </a:r>
          </a:p>
          <a:p>
            <a:pPr lvl="1">
              <a:buFont typeface="Wingdings" panose="05000000000000000000" pitchFamily="2" charset="2"/>
              <a:buNone/>
            </a:pPr>
            <a:r>
              <a:rPr lang="en-US" altLang="zh-CN" dirty="0">
                <a:latin typeface="宋体" panose="02010600030101010101" pitchFamily="2" charset="-122"/>
              </a:rPr>
              <a:t>WHERE </a:t>
            </a:r>
            <a:r>
              <a:rPr lang="en-US" altLang="zh-CN" dirty="0" err="1">
                <a:latin typeface="宋体" panose="02010600030101010101" pitchFamily="2" charset="-122"/>
              </a:rPr>
              <a:t>Student.Sno</a:t>
            </a:r>
            <a:r>
              <a:rPr lang="en-US" altLang="zh-CN" dirty="0">
                <a:latin typeface="宋体" panose="02010600030101010101" pitchFamily="2" charset="-122"/>
              </a:rPr>
              <a:t>=</a:t>
            </a:r>
            <a:r>
              <a:rPr lang="en-US" altLang="zh-CN" dirty="0" err="1">
                <a:latin typeface="宋体" panose="02010600030101010101" pitchFamily="2" charset="-122"/>
              </a:rPr>
              <a:t>SC.Sno</a:t>
            </a:r>
            <a:r>
              <a:rPr lang="en-US" altLang="zh-CN" dirty="0">
                <a:latin typeface="宋体" panose="02010600030101010101" pitchFamily="2" charset="-122"/>
              </a:rPr>
              <a:t> AND </a:t>
            </a:r>
          </a:p>
          <a:p>
            <a:pPr lvl="1">
              <a:buFont typeface="Wingdings" panose="05000000000000000000" pitchFamily="2" charset="2"/>
              <a:buNone/>
            </a:pPr>
            <a:r>
              <a:rPr lang="en-US" altLang="zh-CN" dirty="0">
                <a:latin typeface="宋体" panose="02010600030101010101" pitchFamily="2" charset="-122"/>
              </a:rPr>
              <a:t>			</a:t>
            </a:r>
            <a:r>
              <a:rPr lang="en-US" altLang="zh-CN" dirty="0" err="1">
                <a:latin typeface="宋体" panose="02010600030101010101" pitchFamily="2" charset="-122"/>
              </a:rPr>
              <a:t>SC.Cno</a:t>
            </a:r>
            <a:r>
              <a:rPr lang="en-US" altLang="zh-CN" dirty="0">
                <a:latin typeface="宋体" panose="02010600030101010101" pitchFamily="2" charset="-122"/>
              </a:rPr>
              <a:t>= '1';</a:t>
            </a:r>
            <a:endParaRPr lang="en-US" altLang="zh-CN" sz="2400" dirty="0">
              <a:latin typeface="宋体" panose="02010600030101010101" pitchFamily="2" charset="-122"/>
            </a:endParaRPr>
          </a:p>
        </p:txBody>
      </p:sp>
    </p:spTree>
    <p:extLst>
      <p:ext uri="{BB962C8B-B14F-4D97-AF65-F5344CB8AC3E}">
        <p14:creationId xmlns:p14="http://schemas.microsoft.com/office/powerpoint/2010/main" val="38028110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58371">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58371">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58371">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58371">
                                            <p:txEl>
                                              <p:pRg st="9" end="9"/>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58371">
                                            <p:txEl>
                                              <p:pRg st="10" end="10"/>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58371">
                                            <p:txEl>
                                              <p:pRg st="11" end="11"/>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58371">
                                            <p:txEl>
                                              <p:pRg st="12" end="1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39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59395" name="Rectangle 3"/>
          <p:cNvSpPr>
            <a:spLocks noGrp="1" noChangeArrowheads="1"/>
          </p:cNvSpPr>
          <p:nvPr>
            <p:ph type="body" idx="4294967295"/>
          </p:nvPr>
        </p:nvSpPr>
        <p:spPr>
          <a:xfrm>
            <a:off x="457200" y="1196975"/>
            <a:ext cx="8137525" cy="4114800"/>
          </a:xfrm>
        </p:spPr>
        <p:txBody>
          <a:bodyPr/>
          <a:lstStyle/>
          <a:p>
            <a:pPr algn="just" eaLnBrk="1" hangingPunct="1">
              <a:lnSpc>
                <a:spcPct val="110000"/>
              </a:lnSpc>
              <a:buFont typeface="Wingdings" panose="05000000000000000000" pitchFamily="2" charset="2"/>
              <a:buNone/>
            </a:pPr>
            <a:r>
              <a:rPr lang="en-US" altLang="zh-CN" sz="2400" dirty="0" smtClean="0"/>
              <a:t>[</a:t>
            </a:r>
            <a:r>
              <a:rPr lang="zh-CN" altLang="en-US" sz="2400" dirty="0" smtClean="0">
                <a:ea typeface="黑体" panose="02010609060101010101" pitchFamily="49" charset="-122"/>
              </a:rPr>
              <a:t>例 </a:t>
            </a:r>
            <a:r>
              <a:rPr lang="en-US" altLang="zh-CN" sz="2400" dirty="0" smtClean="0">
                <a:ea typeface="黑体" panose="02010609060101010101" pitchFamily="49" charset="-122"/>
              </a:rPr>
              <a:t>3.61]  </a:t>
            </a:r>
            <a:r>
              <a:rPr lang="zh-CN" altLang="en-US" sz="2400" dirty="0" smtClean="0"/>
              <a:t>查询没有选修</a:t>
            </a:r>
            <a:r>
              <a:rPr lang="en-US" altLang="zh-CN" sz="2400" dirty="0" smtClean="0">
                <a:latin typeface="宋体" panose="02010600030101010101" pitchFamily="2" charset="-122"/>
              </a:rPr>
              <a:t>1</a:t>
            </a:r>
            <a:r>
              <a:rPr lang="zh-CN" altLang="en-US" sz="2400" dirty="0" smtClean="0"/>
              <a:t>号课程的学生姓名。</a:t>
            </a:r>
            <a:endParaRPr lang="zh-CN" altLang="en-US" sz="2400" dirty="0" smtClean="0">
              <a:latin typeface="宋体" panose="02010600030101010101" pitchFamily="2" charset="-122"/>
            </a:endParaRPr>
          </a:p>
          <a:p>
            <a:pPr algn="just" eaLnBrk="1" hangingPunct="1">
              <a:lnSpc>
                <a:spcPct val="110000"/>
              </a:lnSpc>
              <a:buFont typeface="Wingdings" panose="05000000000000000000" pitchFamily="2" charset="2"/>
              <a:buNone/>
            </a:pPr>
            <a:r>
              <a:rPr lang="zh-CN" altLang="en-US" sz="2400" dirty="0" smtClean="0"/>
              <a:t>     </a:t>
            </a:r>
            <a:r>
              <a:rPr lang="en-US" altLang="zh-CN" sz="2400" dirty="0" smtClean="0"/>
              <a:t>SELECT </a:t>
            </a:r>
            <a:r>
              <a:rPr lang="en-US" altLang="zh-CN" sz="2400" dirty="0" err="1" smtClean="0"/>
              <a:t>Sname</a:t>
            </a:r>
            <a:endParaRPr lang="en-US" altLang="zh-CN" sz="2400" dirty="0" smtClean="0"/>
          </a:p>
          <a:p>
            <a:pPr algn="just" eaLnBrk="1" hangingPunct="1">
              <a:lnSpc>
                <a:spcPct val="110000"/>
              </a:lnSpc>
              <a:buFont typeface="Wingdings" panose="05000000000000000000" pitchFamily="2" charset="2"/>
              <a:buNone/>
            </a:pPr>
            <a:r>
              <a:rPr lang="en-US" altLang="zh-CN" sz="2400" dirty="0" smtClean="0"/>
              <a:t>     FROM     </a:t>
            </a:r>
            <a:r>
              <a:rPr lang="en-US" altLang="zh-CN" sz="2400" dirty="0" smtClean="0">
                <a:solidFill>
                  <a:srgbClr val="FF00FF"/>
                </a:solidFill>
              </a:rPr>
              <a:t>Student</a:t>
            </a:r>
          </a:p>
          <a:p>
            <a:pPr algn="just" eaLnBrk="1" hangingPunct="1">
              <a:lnSpc>
                <a:spcPct val="110000"/>
              </a:lnSpc>
              <a:buFont typeface="Wingdings" panose="05000000000000000000" pitchFamily="2" charset="2"/>
              <a:buNone/>
            </a:pPr>
            <a:r>
              <a:rPr lang="en-US" altLang="zh-CN" sz="2400" dirty="0" smtClean="0"/>
              <a:t>     WHERE NOT EXISTS</a:t>
            </a:r>
          </a:p>
          <a:p>
            <a:pPr algn="just" eaLnBrk="1" hangingPunct="1">
              <a:lnSpc>
                <a:spcPct val="110000"/>
              </a:lnSpc>
              <a:buFont typeface="Wingdings" panose="05000000000000000000" pitchFamily="2" charset="2"/>
              <a:buNone/>
            </a:pPr>
            <a:r>
              <a:rPr lang="en-US" altLang="zh-CN" sz="2400" dirty="0" smtClean="0"/>
              <a:t>                   </a:t>
            </a:r>
            <a:r>
              <a:rPr lang="zh-CN" altLang="en-US" sz="2400" dirty="0" smtClean="0"/>
              <a:t>(</a:t>
            </a:r>
            <a:r>
              <a:rPr lang="en-US" altLang="zh-CN" sz="2400" dirty="0" smtClean="0"/>
              <a:t>SELECT *</a:t>
            </a:r>
          </a:p>
          <a:p>
            <a:pPr algn="just" eaLnBrk="1" hangingPunct="1">
              <a:lnSpc>
                <a:spcPct val="110000"/>
              </a:lnSpc>
              <a:buFont typeface="Wingdings" panose="05000000000000000000" pitchFamily="2" charset="2"/>
              <a:buNone/>
            </a:pPr>
            <a:r>
              <a:rPr lang="en-US" altLang="zh-CN" sz="2400" dirty="0" smtClean="0"/>
              <a:t>                    FROM SC</a:t>
            </a:r>
          </a:p>
          <a:p>
            <a:pPr eaLnBrk="1" hangingPunct="1">
              <a:lnSpc>
                <a:spcPct val="110000"/>
              </a:lnSpc>
              <a:buFont typeface="Wingdings" panose="05000000000000000000" pitchFamily="2" charset="2"/>
              <a:buNone/>
            </a:pPr>
            <a:r>
              <a:rPr lang="en-US" altLang="zh-CN" sz="2400" dirty="0" smtClean="0"/>
              <a:t>                    WHERE </a:t>
            </a:r>
            <a:r>
              <a:rPr lang="en-US" altLang="zh-CN" sz="2400" dirty="0" err="1" smtClean="0"/>
              <a:t>Sno</a:t>
            </a:r>
            <a:r>
              <a:rPr lang="en-US" altLang="zh-CN" sz="2400" dirty="0" smtClean="0"/>
              <a:t> = </a:t>
            </a:r>
            <a:r>
              <a:rPr lang="en-US" altLang="zh-CN" sz="2400" dirty="0" err="1" smtClean="0">
                <a:solidFill>
                  <a:srgbClr val="FF00FF"/>
                </a:solidFill>
              </a:rPr>
              <a:t>Student.</a:t>
            </a:r>
            <a:r>
              <a:rPr lang="en-US" altLang="zh-CN" sz="2400" dirty="0" err="1" smtClean="0"/>
              <a:t>Sno</a:t>
            </a:r>
            <a:r>
              <a:rPr lang="en-US" altLang="zh-CN" sz="2400" dirty="0" smtClean="0"/>
              <a:t> AND </a:t>
            </a:r>
            <a:r>
              <a:rPr lang="en-US" altLang="zh-CN" sz="2400" dirty="0" err="1" smtClean="0"/>
              <a:t>Cno</a:t>
            </a:r>
            <a:r>
              <a:rPr lang="en-US" altLang="zh-CN" sz="2400" dirty="0" smtClean="0"/>
              <a:t>='1'</a:t>
            </a:r>
            <a:r>
              <a:rPr lang="zh-CN" altLang="en-US" sz="2400" dirty="0" smtClean="0"/>
              <a:t>);</a:t>
            </a:r>
          </a:p>
        </p:txBody>
      </p:sp>
    </p:spTree>
    <p:extLst>
      <p:ext uri="{BB962C8B-B14F-4D97-AF65-F5344CB8AC3E}">
        <p14:creationId xmlns:p14="http://schemas.microsoft.com/office/powerpoint/2010/main" val="1919503540"/>
      </p:ext>
    </p:extLst>
  </p:cSld>
  <p:clrMapOvr>
    <a:masterClrMapping/>
  </p:clrMapOvr>
  <p:timing>
    <p:tnLst>
      <p:par>
        <p:cTn id="1" dur="indefinite" restart="never" nodeType="tmRoot"/>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60419" name="Rectangle 3"/>
          <p:cNvSpPr>
            <a:spLocks noGrp="1" noChangeArrowheads="1"/>
          </p:cNvSpPr>
          <p:nvPr>
            <p:ph type="body" idx="4294967295"/>
          </p:nvPr>
        </p:nvSpPr>
        <p:spPr>
          <a:xfrm>
            <a:off x="250825" y="1412731"/>
            <a:ext cx="8435975" cy="5283200"/>
          </a:xfrm>
        </p:spPr>
        <p:txBody>
          <a:bodyPr/>
          <a:lstStyle/>
          <a:p>
            <a:pPr eaLnBrk="1" hangingPunct="1"/>
            <a:r>
              <a:rPr lang="en-US" altLang="zh-CN" dirty="0" smtClean="0">
                <a:latin typeface="宋体" panose="02010600030101010101" pitchFamily="2" charset="-122"/>
              </a:rPr>
              <a:t> </a:t>
            </a:r>
            <a:r>
              <a:rPr lang="zh-CN" altLang="en-US" dirty="0" smtClean="0"/>
              <a:t>不同形式的查询间的替换</a:t>
            </a:r>
          </a:p>
          <a:p>
            <a:pPr lvl="1" eaLnBrk="1" hangingPunct="1"/>
            <a:r>
              <a:rPr lang="zh-CN" altLang="en-US" dirty="0" smtClean="0"/>
              <a:t>一些带</a:t>
            </a:r>
            <a:r>
              <a:rPr lang="en-US" altLang="zh-CN" dirty="0" smtClean="0"/>
              <a:t>EXISTS</a:t>
            </a:r>
            <a:r>
              <a:rPr lang="zh-CN" altLang="en-US" dirty="0" smtClean="0"/>
              <a:t>或</a:t>
            </a:r>
            <a:r>
              <a:rPr lang="en-US" altLang="zh-CN" dirty="0" smtClean="0"/>
              <a:t>NOT EXISTS</a:t>
            </a:r>
            <a:r>
              <a:rPr lang="zh-CN" altLang="en-US" dirty="0" smtClean="0"/>
              <a:t>谓词的子查询不能被其他形式的子查询等价替换</a:t>
            </a:r>
          </a:p>
          <a:p>
            <a:pPr lvl="1" eaLnBrk="1" hangingPunct="1"/>
            <a:r>
              <a:rPr lang="zh-CN" altLang="en-US" dirty="0" smtClean="0"/>
              <a:t>所有带</a:t>
            </a:r>
            <a:r>
              <a:rPr lang="en-US" altLang="zh-CN" dirty="0" smtClean="0"/>
              <a:t>IN</a:t>
            </a:r>
            <a:r>
              <a:rPr lang="zh-CN" altLang="en-US" dirty="0" smtClean="0"/>
              <a:t>谓词、比较运算符、</a:t>
            </a:r>
            <a:r>
              <a:rPr lang="en-US" altLang="zh-CN" dirty="0" smtClean="0"/>
              <a:t>ANY</a:t>
            </a:r>
            <a:r>
              <a:rPr lang="zh-CN" altLang="en-US" dirty="0" smtClean="0"/>
              <a:t>和</a:t>
            </a:r>
            <a:r>
              <a:rPr lang="en-US" altLang="zh-CN" dirty="0" smtClean="0"/>
              <a:t>ALL</a:t>
            </a:r>
            <a:r>
              <a:rPr lang="zh-CN" altLang="en-US" dirty="0" smtClean="0"/>
              <a:t>谓词的子查询都能用带</a:t>
            </a:r>
            <a:r>
              <a:rPr lang="en-US" altLang="zh-CN" dirty="0" smtClean="0"/>
              <a:t>EXISTS</a:t>
            </a:r>
            <a:r>
              <a:rPr lang="zh-CN" altLang="en-US" dirty="0" smtClean="0"/>
              <a:t>谓词的子查询等价替换</a:t>
            </a:r>
          </a:p>
          <a:p>
            <a:pPr lvl="1" eaLnBrk="1" hangingPunct="1">
              <a:buSzPct val="75000"/>
            </a:pPr>
            <a:endParaRPr lang="zh-CN" altLang="en-US" dirty="0" smtClean="0"/>
          </a:p>
          <a:p>
            <a:pPr marL="0" indent="0" eaLnBrk="1" hangingPunct="1">
              <a:buNone/>
            </a:pPr>
            <a:endParaRPr lang="en-US" altLang="zh-CN" sz="1600" dirty="0" smtClean="0">
              <a:latin typeface="宋体" panose="02010600030101010101" pitchFamily="2" charset="-122"/>
            </a:endParaRPr>
          </a:p>
        </p:txBody>
      </p:sp>
    </p:spTree>
    <p:extLst>
      <p:ext uri="{BB962C8B-B14F-4D97-AF65-F5344CB8AC3E}">
        <p14:creationId xmlns:p14="http://schemas.microsoft.com/office/powerpoint/2010/main" val="259608170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谓词的子查询（续）</a:t>
            </a:r>
          </a:p>
        </p:txBody>
      </p:sp>
      <p:sp>
        <p:nvSpPr>
          <p:cNvPr id="61443" name="Rectangle 3"/>
          <p:cNvSpPr>
            <a:spLocks noGrp="1" noChangeArrowheads="1"/>
          </p:cNvSpPr>
          <p:nvPr>
            <p:ph type="body" idx="4294967295"/>
          </p:nvPr>
        </p:nvSpPr>
        <p:spPr/>
        <p:txBody>
          <a:bodyPr>
            <a:normAutofit lnSpcReduction="10000"/>
          </a:bodyPr>
          <a:lstStyle/>
          <a:p>
            <a:pPr eaLnBrk="1" hangingPunct="1">
              <a:buFont typeface="Wingdings" panose="05000000000000000000" pitchFamily="2" charset="2"/>
              <a:buNone/>
            </a:pPr>
            <a:r>
              <a:rPr lang="en-US" altLang="zh-CN" sz="2400" dirty="0" smtClean="0"/>
              <a:t>[</a:t>
            </a:r>
            <a:r>
              <a:rPr lang="zh-CN" altLang="en-US" sz="2400" dirty="0" smtClean="0"/>
              <a:t>例 </a:t>
            </a:r>
            <a:r>
              <a:rPr lang="en-US" altLang="zh-CN" sz="2400" dirty="0" smtClean="0"/>
              <a:t>3.55]</a:t>
            </a:r>
            <a:r>
              <a:rPr lang="zh-CN" altLang="en-US" sz="2400" dirty="0" smtClean="0"/>
              <a:t>查询与“刘晨”在同一个系学习的学生。</a:t>
            </a:r>
          </a:p>
          <a:p>
            <a:pPr eaLnBrk="1" hangingPunct="1">
              <a:buFont typeface="Wingdings" panose="05000000000000000000" pitchFamily="2" charset="2"/>
              <a:buNone/>
            </a:pPr>
            <a:r>
              <a:rPr lang="zh-CN" altLang="en-US" sz="2400" dirty="0" smtClean="0"/>
              <a:t>    可以用带</a:t>
            </a:r>
            <a:r>
              <a:rPr lang="en-US" altLang="zh-CN" sz="2400" dirty="0" smtClean="0"/>
              <a:t>EXISTS</a:t>
            </a:r>
            <a:r>
              <a:rPr lang="zh-CN" altLang="en-US" sz="2400" dirty="0" smtClean="0"/>
              <a:t>谓词的子查询替换：</a:t>
            </a:r>
          </a:p>
          <a:p>
            <a:pPr eaLnBrk="1" hangingPunct="1">
              <a:buFont typeface="Wingdings" panose="05000000000000000000" pitchFamily="2" charset="2"/>
              <a:buNone/>
            </a:pPr>
            <a:r>
              <a:rPr lang="zh-CN" altLang="en-US" sz="2400" dirty="0" smtClean="0"/>
              <a:t>    </a:t>
            </a:r>
            <a:endParaRPr lang="en-US" altLang="zh-CN" sz="2400" dirty="0" smtClean="0"/>
          </a:p>
          <a:p>
            <a:pPr eaLnBrk="1" hangingPunct="1">
              <a:buFont typeface="Wingdings" panose="05000000000000000000" pitchFamily="2" charset="2"/>
              <a:buNone/>
            </a:pPr>
            <a:r>
              <a:rPr lang="zh-CN" altLang="en-US" sz="2400" dirty="0" smtClean="0"/>
              <a:t> </a:t>
            </a:r>
            <a:r>
              <a:rPr lang="en-US" altLang="zh-CN" sz="2400" dirty="0" smtClean="0"/>
              <a:t>SELECT </a:t>
            </a:r>
            <a:r>
              <a:rPr lang="en-US" altLang="zh-CN" sz="2400" dirty="0" err="1" smtClean="0"/>
              <a:t>Sno</a:t>
            </a:r>
            <a:r>
              <a:rPr lang="zh-CN" altLang="en-US" sz="2400" dirty="0" smtClean="0"/>
              <a:t>,</a:t>
            </a:r>
            <a:r>
              <a:rPr lang="en-US" altLang="zh-CN" sz="2400" dirty="0" err="1" smtClean="0"/>
              <a:t>Sname</a:t>
            </a:r>
            <a:r>
              <a:rPr lang="zh-CN" altLang="en-US" sz="2400" dirty="0" smtClean="0"/>
              <a:t>,</a:t>
            </a:r>
            <a:r>
              <a:rPr lang="en-US" altLang="zh-CN" sz="2400" dirty="0" err="1" smtClean="0"/>
              <a:t>Sdept</a:t>
            </a:r>
            <a:endParaRPr lang="en-US" altLang="zh-CN" sz="2400" dirty="0" smtClean="0"/>
          </a:p>
          <a:p>
            <a:pPr eaLnBrk="1" hangingPunct="1">
              <a:buFont typeface="Wingdings" panose="05000000000000000000" pitchFamily="2" charset="2"/>
              <a:buNone/>
            </a:pPr>
            <a:r>
              <a:rPr lang="en-US" altLang="zh-CN" sz="2400" dirty="0" smtClean="0"/>
              <a:t>     FROM Student S1</a:t>
            </a:r>
          </a:p>
          <a:p>
            <a:pPr eaLnBrk="1" hangingPunct="1">
              <a:buFont typeface="Wingdings" panose="05000000000000000000" pitchFamily="2" charset="2"/>
              <a:buNone/>
            </a:pPr>
            <a:r>
              <a:rPr lang="en-US" altLang="zh-CN" sz="2400" dirty="0" smtClean="0"/>
              <a:t>      WHERE EXISTS</a:t>
            </a:r>
          </a:p>
          <a:p>
            <a:pPr eaLnBrk="1" hangingPunct="1">
              <a:buFont typeface="Wingdings" panose="05000000000000000000" pitchFamily="2" charset="2"/>
              <a:buNone/>
            </a:pPr>
            <a:r>
              <a:rPr lang="en-US" altLang="zh-CN" sz="2400" dirty="0" smtClean="0"/>
              <a:t>             </a:t>
            </a:r>
            <a:r>
              <a:rPr lang="zh-CN" altLang="en-US" sz="2400" dirty="0" smtClean="0"/>
              <a:t>　   (</a:t>
            </a:r>
            <a:r>
              <a:rPr lang="en-US" altLang="zh-CN" sz="2400" dirty="0" smtClean="0"/>
              <a:t>SELECT *</a:t>
            </a:r>
          </a:p>
          <a:p>
            <a:pPr eaLnBrk="1" hangingPunct="1">
              <a:buFont typeface="Wingdings" panose="05000000000000000000" pitchFamily="2" charset="2"/>
              <a:buNone/>
            </a:pPr>
            <a:r>
              <a:rPr lang="en-US" altLang="zh-CN" sz="2400" dirty="0" smtClean="0"/>
              <a:t>                     FROM Student S2</a:t>
            </a:r>
          </a:p>
          <a:p>
            <a:pPr eaLnBrk="1" hangingPunct="1">
              <a:buFont typeface="Wingdings" panose="05000000000000000000" pitchFamily="2" charset="2"/>
              <a:buNone/>
            </a:pPr>
            <a:r>
              <a:rPr lang="en-US" altLang="zh-CN" sz="2400" dirty="0" smtClean="0"/>
              <a:t>                     WHERE S2.Sdept = S1.Sdept AND</a:t>
            </a:r>
          </a:p>
          <a:p>
            <a:pPr eaLnBrk="1" hangingPunct="1">
              <a:buFont typeface="Wingdings" panose="05000000000000000000" pitchFamily="2" charset="2"/>
              <a:buNone/>
            </a:pPr>
            <a:r>
              <a:rPr lang="en-US" altLang="zh-CN" sz="2400" dirty="0" smtClean="0"/>
              <a:t>                                   S2.Sname = </a:t>
            </a:r>
            <a:r>
              <a:rPr lang="zh-CN" altLang="en-US" sz="2400" dirty="0" smtClean="0"/>
              <a:t>'刘晨');</a:t>
            </a:r>
          </a:p>
        </p:txBody>
      </p:sp>
    </p:spTree>
    <p:extLst>
      <p:ext uri="{BB962C8B-B14F-4D97-AF65-F5344CB8AC3E}">
        <p14:creationId xmlns:p14="http://schemas.microsoft.com/office/powerpoint/2010/main" val="2277841084"/>
      </p:ext>
    </p:extLst>
  </p:cSld>
  <p:clrMapOvr>
    <a:masterClrMapping/>
  </p:clrMapOvr>
  <p:timing>
    <p:tnLst>
      <p:par>
        <p:cTn id="1" dur="indefinite" restart="never" nodeType="tmRoot"/>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Rectangle 2"/>
          <p:cNvSpPr>
            <a:spLocks noGrp="1" noChangeArrowheads="1"/>
          </p:cNvSpPr>
          <p:nvPr>
            <p:ph type="title" idx="4294967295"/>
          </p:nvPr>
        </p:nvSpPr>
        <p:spPr/>
        <p:txBody>
          <a:bodyPr/>
          <a:lstStyle/>
          <a:p>
            <a:pPr eaLnBrk="1" hangingPunct="1"/>
            <a:r>
              <a:rPr lang="zh-CN" altLang="en-US" sz="3600" smtClean="0"/>
              <a:t>带有</a:t>
            </a:r>
            <a:r>
              <a:rPr lang="en-US" altLang="zh-CN" sz="3600" smtClean="0"/>
              <a:t>EXISTS</a:t>
            </a:r>
            <a:r>
              <a:rPr lang="zh-CN" altLang="en-US" sz="3600" smtClean="0"/>
              <a:t>谓词的子查询</a:t>
            </a:r>
            <a:r>
              <a:rPr lang="en-US" altLang="zh-CN" sz="3600" smtClean="0"/>
              <a:t>（</a:t>
            </a:r>
            <a:r>
              <a:rPr lang="zh-CN" altLang="en-US" sz="3600" smtClean="0"/>
              <a:t>续</a:t>
            </a:r>
            <a:r>
              <a:rPr lang="en-US" altLang="zh-CN" sz="3600" smtClean="0"/>
              <a:t>）</a:t>
            </a:r>
          </a:p>
        </p:txBody>
      </p:sp>
      <p:sp>
        <p:nvSpPr>
          <p:cNvPr id="64515" name="Rectangle 3"/>
          <p:cNvSpPr>
            <a:spLocks noGrp="1" noChangeArrowheads="1"/>
          </p:cNvSpPr>
          <p:nvPr>
            <p:ph type="body" idx="4294967295"/>
          </p:nvPr>
        </p:nvSpPr>
        <p:spPr/>
        <p:txBody>
          <a:bodyPr>
            <a:normAutofit/>
          </a:bodyPr>
          <a:lstStyle/>
          <a:p>
            <a:pPr eaLnBrk="1" hangingPunct="1">
              <a:lnSpc>
                <a:spcPct val="110000"/>
              </a:lnSpc>
              <a:buFont typeface="Wingdings" panose="05000000000000000000" pitchFamily="2" charset="2"/>
              <a:buNone/>
            </a:pPr>
            <a:r>
              <a:rPr lang="en-US" altLang="zh-CN" sz="2400" dirty="0" smtClean="0"/>
              <a:t> [</a:t>
            </a:r>
            <a:r>
              <a:rPr lang="zh-CN" altLang="en-US" sz="2400" dirty="0" smtClean="0"/>
              <a:t>例 </a:t>
            </a:r>
            <a:r>
              <a:rPr lang="en-US" altLang="zh-CN" sz="2400" dirty="0" smtClean="0"/>
              <a:t>3.63]</a:t>
            </a:r>
            <a:r>
              <a:rPr lang="zh-CN" altLang="en-US" sz="2400" dirty="0" smtClean="0"/>
              <a:t>查询至少选修了学生</a:t>
            </a:r>
            <a:r>
              <a:rPr lang="en-US" altLang="zh-CN" sz="2400" dirty="0" smtClean="0"/>
              <a:t>201215122</a:t>
            </a:r>
            <a:r>
              <a:rPr lang="zh-CN" altLang="en-US" sz="2400" dirty="0" smtClean="0"/>
              <a:t>选修的全部课程的学生号码。</a:t>
            </a:r>
          </a:p>
          <a:p>
            <a:pPr eaLnBrk="1" hangingPunct="1">
              <a:lnSpc>
                <a:spcPct val="110000"/>
              </a:lnSpc>
              <a:buFont typeface="Wingdings" panose="05000000000000000000" pitchFamily="2" charset="2"/>
              <a:buNone/>
            </a:pPr>
            <a:endParaRPr lang="zh-CN" altLang="en-US" sz="2400" dirty="0" smtClean="0"/>
          </a:p>
          <a:p>
            <a:pPr eaLnBrk="1" hangingPunct="1">
              <a:lnSpc>
                <a:spcPct val="110000"/>
              </a:lnSpc>
              <a:buFont typeface="Wingdings" panose="05000000000000000000" pitchFamily="2" charset="2"/>
              <a:buNone/>
            </a:pPr>
            <a:r>
              <a:rPr lang="zh-CN" altLang="en-US" sz="2400" dirty="0" smtClean="0"/>
              <a:t>解题思路：</a:t>
            </a:r>
          </a:p>
          <a:p>
            <a:pPr eaLnBrk="1" hangingPunct="1">
              <a:lnSpc>
                <a:spcPct val="110000"/>
              </a:lnSpc>
              <a:buFont typeface="Wingdings" panose="05000000000000000000" pitchFamily="2" charset="2"/>
              <a:buChar char="n"/>
            </a:pPr>
            <a:r>
              <a:rPr lang="zh-CN" altLang="en-US" sz="2400" dirty="0" smtClean="0"/>
              <a:t>用逻辑蕴涵表达：查询学号为</a:t>
            </a:r>
            <a:r>
              <a:rPr lang="en-US" altLang="zh-CN" sz="2400" dirty="0" smtClean="0"/>
              <a:t>x</a:t>
            </a:r>
            <a:r>
              <a:rPr lang="zh-CN" altLang="en-US" sz="2400" dirty="0" smtClean="0"/>
              <a:t>的学生，对所有的课程</a:t>
            </a:r>
            <a:r>
              <a:rPr lang="en-US" altLang="zh-CN" sz="2400" dirty="0" smtClean="0"/>
              <a:t>y</a:t>
            </a:r>
            <a:r>
              <a:rPr lang="zh-CN" altLang="en-US" sz="2400" dirty="0" smtClean="0"/>
              <a:t>，只要</a:t>
            </a:r>
            <a:r>
              <a:rPr lang="en-US" altLang="zh-CN" sz="2400" dirty="0" smtClean="0"/>
              <a:t>201215122</a:t>
            </a:r>
            <a:r>
              <a:rPr lang="zh-CN" altLang="en-US" sz="2400" dirty="0" smtClean="0"/>
              <a:t>学生选修了课程</a:t>
            </a:r>
            <a:r>
              <a:rPr lang="en-US" altLang="zh-CN" sz="2400" dirty="0" smtClean="0"/>
              <a:t>y</a:t>
            </a:r>
            <a:r>
              <a:rPr lang="zh-CN" altLang="en-US" sz="2400" dirty="0" smtClean="0"/>
              <a:t>，则</a:t>
            </a:r>
            <a:r>
              <a:rPr lang="en-US" altLang="zh-CN" sz="2400" dirty="0" smtClean="0"/>
              <a:t>x</a:t>
            </a:r>
            <a:r>
              <a:rPr lang="zh-CN" altLang="en-US" sz="2400" dirty="0" smtClean="0"/>
              <a:t>也选修了</a:t>
            </a:r>
            <a:r>
              <a:rPr lang="en-US" altLang="zh-CN" sz="2400" dirty="0" smtClean="0"/>
              <a:t>y</a:t>
            </a:r>
            <a:r>
              <a:rPr lang="zh-CN" altLang="en-US" sz="2400" dirty="0" smtClean="0"/>
              <a:t>。</a:t>
            </a:r>
            <a:endParaRPr lang="en-US" altLang="zh-CN" sz="2400" dirty="0" smtClean="0"/>
          </a:p>
          <a:p>
            <a:pPr eaLnBrk="1" hangingPunct="1">
              <a:lnSpc>
                <a:spcPct val="110000"/>
              </a:lnSpc>
              <a:buFont typeface="Wingdings" panose="05000000000000000000" pitchFamily="2" charset="2"/>
              <a:buChar char="n"/>
            </a:pPr>
            <a:endParaRPr lang="en-US" altLang="zh-CN" sz="2400" dirty="0"/>
          </a:p>
          <a:p>
            <a:pPr>
              <a:lnSpc>
                <a:spcPct val="110000"/>
              </a:lnSpc>
              <a:buFont typeface="Wingdings" panose="05000000000000000000" pitchFamily="2" charset="2"/>
              <a:buChar char="n"/>
            </a:pPr>
            <a:r>
              <a:rPr lang="zh-CN" altLang="en-US" sz="2400" dirty="0" smtClean="0"/>
              <a:t>转换为：选取</a:t>
            </a:r>
            <a:r>
              <a:rPr lang="en-US" altLang="zh-CN" sz="2400" dirty="0" smtClean="0"/>
              <a:t>x</a:t>
            </a:r>
            <a:r>
              <a:rPr lang="zh-CN" altLang="en-US" sz="2400" dirty="0" smtClean="0"/>
              <a:t>， 满足不存在这样的课程</a:t>
            </a:r>
            <a:r>
              <a:rPr lang="en-US" altLang="zh-CN" sz="2400" dirty="0" smtClean="0"/>
              <a:t>y</a:t>
            </a:r>
            <a:r>
              <a:rPr lang="zh-CN" altLang="en-US" sz="2400" dirty="0" smtClean="0"/>
              <a:t>，学生</a:t>
            </a:r>
            <a:r>
              <a:rPr lang="en-US" altLang="zh-CN" sz="2400" dirty="0" smtClean="0"/>
              <a:t>201215122</a:t>
            </a:r>
            <a:r>
              <a:rPr lang="zh-CN" altLang="en-US" sz="2400" dirty="0" smtClean="0"/>
              <a:t>选修了</a:t>
            </a:r>
            <a:r>
              <a:rPr lang="en-US" altLang="zh-CN" sz="2400" dirty="0" smtClean="0"/>
              <a:t>y</a:t>
            </a:r>
            <a:r>
              <a:rPr lang="zh-CN" altLang="en-US" sz="2400" dirty="0" smtClean="0"/>
              <a:t>，而学生</a:t>
            </a:r>
            <a:r>
              <a:rPr lang="en-US" altLang="zh-CN" sz="2400" dirty="0" smtClean="0"/>
              <a:t>x</a:t>
            </a:r>
            <a:r>
              <a:rPr lang="zh-CN" altLang="en-US" sz="2400" dirty="0" smtClean="0"/>
              <a:t>没有选。</a:t>
            </a:r>
          </a:p>
        </p:txBody>
      </p:sp>
    </p:spTree>
    <p:extLst>
      <p:ext uri="{BB962C8B-B14F-4D97-AF65-F5344CB8AC3E}">
        <p14:creationId xmlns:p14="http://schemas.microsoft.com/office/powerpoint/2010/main" val="42668937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pPr eaLnBrk="1" hangingPunct="1"/>
            <a:r>
              <a:rPr lang="zh-CN" altLang="en-US" sz="3600" dirty="0" smtClean="0"/>
              <a:t>带有</a:t>
            </a:r>
            <a:r>
              <a:rPr lang="en-US" altLang="zh-CN" sz="3600" dirty="0" smtClean="0"/>
              <a:t>EXISTS</a:t>
            </a:r>
            <a:r>
              <a:rPr lang="zh-CN" altLang="en-US" sz="3600" dirty="0" smtClean="0"/>
              <a:t>谓词的子查询</a:t>
            </a:r>
            <a:r>
              <a:rPr lang="en-US" altLang="zh-CN" sz="3600" dirty="0" smtClean="0"/>
              <a:t>（</a:t>
            </a:r>
            <a:r>
              <a:rPr lang="zh-CN" altLang="en-US" sz="3600" dirty="0" smtClean="0"/>
              <a:t>续</a:t>
            </a:r>
            <a:r>
              <a:rPr lang="en-US" altLang="zh-CN" sz="3600" dirty="0" smtClean="0"/>
              <a:t>）</a:t>
            </a:r>
            <a:r>
              <a:rPr lang="zh-CN" altLang="en-US" sz="4400" dirty="0" smtClean="0">
                <a:cs typeface="Times New Roman" panose="02020603050405020304" pitchFamily="18" charset="0"/>
              </a:rPr>
              <a:t> </a:t>
            </a:r>
          </a:p>
        </p:txBody>
      </p:sp>
      <p:sp>
        <p:nvSpPr>
          <p:cNvPr id="66563" name="Rectangle 3"/>
          <p:cNvSpPr>
            <a:spLocks noGrp="1" noChangeArrowheads="1"/>
          </p:cNvSpPr>
          <p:nvPr>
            <p:ph type="body" idx="4294967295"/>
          </p:nvPr>
        </p:nvSpPr>
        <p:spPr>
          <a:xfrm>
            <a:off x="602642" y="1302673"/>
            <a:ext cx="8455900" cy="4994275"/>
          </a:xfrm>
        </p:spPr>
        <p:txBody>
          <a:bodyPr>
            <a:normAutofit lnSpcReduction="10000"/>
          </a:bodyPr>
          <a:lstStyle/>
          <a:p>
            <a:pPr algn="just" eaLnBrk="1" hangingPunct="1">
              <a:buFont typeface="Wingdings" panose="05000000000000000000" pitchFamily="2" charset="2"/>
              <a:buChar char="n"/>
            </a:pPr>
            <a:r>
              <a:rPr lang="zh-CN" altLang="en-US" sz="2400" dirty="0" smtClean="0"/>
              <a:t>用</a:t>
            </a:r>
            <a:r>
              <a:rPr lang="en-US" altLang="zh-CN" sz="2400" dirty="0" smtClean="0"/>
              <a:t>NOT EXISTS</a:t>
            </a:r>
            <a:r>
              <a:rPr lang="zh-CN" altLang="en-US" sz="2400" dirty="0" smtClean="0"/>
              <a:t>谓词表示： </a:t>
            </a:r>
            <a:r>
              <a:rPr lang="zh-CN" altLang="en-US" sz="2200" dirty="0" smtClean="0"/>
              <a:t>    </a:t>
            </a:r>
          </a:p>
          <a:p>
            <a:pPr algn="just" eaLnBrk="1" hangingPunct="1">
              <a:buSzPct val="50000"/>
              <a:buFont typeface="宋体" panose="02010600030101010101" pitchFamily="2" charset="-122"/>
              <a:buNone/>
            </a:pPr>
            <a:r>
              <a:rPr lang="zh-CN" altLang="en-US" sz="2200" dirty="0" smtClean="0"/>
              <a:t>       </a:t>
            </a:r>
            <a:r>
              <a:rPr lang="en-US" altLang="zh-CN" sz="2200" dirty="0" smtClean="0"/>
              <a:t>SELECT DISTINCT </a:t>
            </a:r>
            <a:r>
              <a:rPr lang="en-US" altLang="zh-CN" sz="2200" dirty="0" err="1" smtClean="0"/>
              <a:t>Sno</a:t>
            </a:r>
            <a:endParaRPr lang="en-US" altLang="zh-CN" sz="2200" dirty="0" smtClean="0"/>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FF3399"/>
                </a:solidFill>
              </a:rPr>
              <a:t>SCX</a:t>
            </a:r>
            <a:endParaRPr lang="en-US" altLang="zh-CN" sz="2200" dirty="0" smtClean="0"/>
          </a:p>
          <a:p>
            <a:pPr algn="just" eaLnBrk="1" hangingPunct="1">
              <a:buSzPct val="50000"/>
              <a:buFont typeface="宋体" panose="02010600030101010101" pitchFamily="2" charset="-122"/>
              <a:buNone/>
            </a:pPr>
            <a:r>
              <a:rPr lang="en-US" altLang="zh-CN" sz="2200" dirty="0" smtClean="0"/>
              <a:t>       WHERE NOT EXISTS                                                       </a:t>
            </a:r>
            <a:r>
              <a:rPr lang="zh-CN" altLang="en-US" sz="2200" dirty="0" smtClean="0">
                <a:solidFill>
                  <a:srgbClr val="FF0000"/>
                </a:solidFill>
              </a:rPr>
              <a:t>不存在</a:t>
            </a:r>
            <a:endParaRPr lang="en-US" altLang="zh-CN" sz="2200" dirty="0" smtClean="0">
              <a:solidFill>
                <a:srgbClr val="FF0000"/>
              </a:solidFill>
            </a:endParaRP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0099FF"/>
                </a:solidFill>
              </a:rPr>
              <a:t>SCY</a:t>
            </a:r>
            <a:endParaRPr lang="en-US" altLang="zh-CN" sz="2200" dirty="0" smtClean="0"/>
          </a:p>
          <a:p>
            <a:pPr algn="just" eaLnBrk="1" hangingPunct="1">
              <a:buSzPct val="50000"/>
              <a:buFont typeface="宋体" panose="02010600030101010101" pitchFamily="2" charset="-122"/>
              <a:buNone/>
            </a:pPr>
            <a:r>
              <a:rPr lang="en-US" altLang="zh-CN" sz="2200" dirty="0" smtClean="0"/>
              <a:t>                      WHERE </a:t>
            </a:r>
            <a:r>
              <a:rPr lang="en-US" altLang="zh-CN" sz="2200" dirty="0" err="1" smtClean="0"/>
              <a:t>SCY.Sno</a:t>
            </a:r>
            <a:r>
              <a:rPr lang="en-US" altLang="zh-CN" sz="2200" dirty="0" smtClean="0"/>
              <a:t> = ' 201215122 '  AND</a:t>
            </a:r>
          </a:p>
          <a:p>
            <a:pPr algn="just" eaLnBrk="1" hangingPunct="1">
              <a:buSzPct val="50000"/>
              <a:buFont typeface="宋体" panose="02010600030101010101" pitchFamily="2" charset="-122"/>
              <a:buNone/>
            </a:pPr>
            <a:r>
              <a:rPr lang="en-US" altLang="zh-CN" sz="2200" dirty="0" smtClean="0"/>
              <a:t>                                    NOT EXISTS</a:t>
            </a: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SCZ</a:t>
            </a:r>
          </a:p>
          <a:p>
            <a:pPr algn="just" eaLnBrk="1" hangingPunct="1">
              <a:buSzPct val="50000"/>
              <a:buFont typeface="宋体" panose="02010600030101010101" pitchFamily="2" charset="-122"/>
              <a:buNone/>
            </a:pPr>
            <a:r>
              <a:rPr lang="en-US" altLang="zh-CN" sz="2200" dirty="0" smtClean="0"/>
              <a:t>                                     WHERE </a:t>
            </a:r>
            <a:r>
              <a:rPr lang="en-US" altLang="zh-CN" sz="2200" dirty="0" err="1" smtClean="0"/>
              <a:t>SCZ.Sno</a:t>
            </a:r>
            <a:r>
              <a:rPr lang="en-US" altLang="zh-CN" sz="2200" dirty="0" smtClean="0"/>
              <a:t>=</a:t>
            </a:r>
            <a:r>
              <a:rPr lang="en-US" altLang="zh-CN" sz="2200" dirty="0" err="1" smtClean="0">
                <a:solidFill>
                  <a:srgbClr val="FF3399"/>
                </a:solidFill>
              </a:rPr>
              <a:t>SCX</a:t>
            </a:r>
            <a:r>
              <a:rPr lang="en-US" altLang="zh-CN" sz="2200" dirty="0" err="1" smtClean="0"/>
              <a:t>.Sno</a:t>
            </a:r>
            <a:r>
              <a:rPr lang="en-US" altLang="zh-CN" sz="2200" dirty="0" smtClean="0"/>
              <a:t> AND</a:t>
            </a:r>
          </a:p>
          <a:p>
            <a:pPr eaLnBrk="1" hangingPunct="1">
              <a:buSzPct val="50000"/>
              <a:buFont typeface="宋体" panose="02010600030101010101" pitchFamily="2" charset="-122"/>
              <a:buNone/>
            </a:pPr>
            <a:r>
              <a:rPr lang="en-US" altLang="zh-CN" sz="2200" dirty="0" smtClean="0"/>
              <a:t>                                                   </a:t>
            </a:r>
            <a:r>
              <a:rPr lang="en-US" altLang="zh-CN" sz="2200" dirty="0" err="1" smtClean="0"/>
              <a:t>SCZ.Cno</a:t>
            </a:r>
            <a:r>
              <a:rPr lang="en-US" altLang="zh-CN" sz="2200" dirty="0" smtClean="0"/>
              <a:t>=</a:t>
            </a:r>
            <a:r>
              <a:rPr lang="en-US" altLang="zh-CN" sz="2200" dirty="0" err="1" smtClean="0">
                <a:solidFill>
                  <a:srgbClr val="0099FF"/>
                </a:solidFill>
              </a:rPr>
              <a:t>SCY</a:t>
            </a:r>
            <a:r>
              <a:rPr lang="en-US" altLang="zh-CN" sz="2200" dirty="0" err="1" smtClean="0"/>
              <a:t>.Cno</a:t>
            </a:r>
            <a:r>
              <a:rPr lang="zh-CN" altLang="en-US" sz="2200" dirty="0" smtClean="0"/>
              <a:t>));</a:t>
            </a:r>
          </a:p>
        </p:txBody>
      </p:sp>
      <p:sp>
        <p:nvSpPr>
          <p:cNvPr id="2" name="矩形 1"/>
          <p:cNvSpPr/>
          <p:nvPr/>
        </p:nvSpPr>
        <p:spPr>
          <a:xfrm>
            <a:off x="6551348" y="3688715"/>
            <a:ext cx="2507194" cy="1754326"/>
          </a:xfrm>
          <a:prstGeom prst="rect">
            <a:avLst/>
          </a:prstGeom>
        </p:spPr>
        <p:txBody>
          <a:bodyPr wrap="square">
            <a:spAutoFit/>
          </a:bodyPr>
          <a:lstStyle/>
          <a:p>
            <a:r>
              <a:rPr lang="zh-CN" altLang="en-US" dirty="0">
                <a:solidFill>
                  <a:srgbClr val="FF0000"/>
                </a:solidFill>
              </a:rPr>
              <a:t>学生</a:t>
            </a:r>
            <a:r>
              <a:rPr lang="en-US" altLang="zh-CN" dirty="0">
                <a:solidFill>
                  <a:srgbClr val="FF0000"/>
                </a:solidFill>
              </a:rPr>
              <a:t>201215122</a:t>
            </a:r>
            <a:r>
              <a:rPr lang="zh-CN" altLang="en-US" dirty="0">
                <a:solidFill>
                  <a:srgbClr val="FF0000"/>
                </a:solidFill>
              </a:rPr>
              <a:t>选修了</a:t>
            </a:r>
            <a:r>
              <a:rPr lang="en-US" altLang="zh-CN" dirty="0" smtClean="0">
                <a:solidFill>
                  <a:srgbClr val="FF0000"/>
                </a:solidFill>
              </a:rPr>
              <a:t>y</a:t>
            </a:r>
          </a:p>
          <a:p>
            <a:r>
              <a:rPr lang="zh-CN" altLang="en-US" dirty="0" smtClean="0">
                <a:solidFill>
                  <a:srgbClr val="FF0000"/>
                </a:solidFill>
              </a:rPr>
              <a:t>，</a:t>
            </a:r>
            <a:endParaRPr lang="en-US" altLang="zh-CN" dirty="0" smtClean="0">
              <a:solidFill>
                <a:srgbClr val="FF0000"/>
              </a:solidFill>
            </a:endParaRPr>
          </a:p>
          <a:p>
            <a:endParaRPr lang="en-US" altLang="zh-CN" dirty="0">
              <a:solidFill>
                <a:srgbClr val="FF0000"/>
              </a:solidFill>
            </a:endParaRPr>
          </a:p>
          <a:p>
            <a:r>
              <a:rPr lang="zh-CN" altLang="en-US" dirty="0" smtClean="0">
                <a:solidFill>
                  <a:srgbClr val="FF0000"/>
                </a:solidFill>
              </a:rPr>
              <a:t>而</a:t>
            </a:r>
            <a:r>
              <a:rPr lang="zh-CN" altLang="en-US" dirty="0">
                <a:solidFill>
                  <a:srgbClr val="FF0000"/>
                </a:solidFill>
              </a:rPr>
              <a:t>学生</a:t>
            </a:r>
            <a:r>
              <a:rPr lang="en-US" altLang="zh-CN" dirty="0">
                <a:solidFill>
                  <a:srgbClr val="FF0000"/>
                </a:solidFill>
              </a:rPr>
              <a:t>x</a:t>
            </a:r>
            <a:r>
              <a:rPr lang="zh-CN" altLang="en-US" dirty="0">
                <a:solidFill>
                  <a:srgbClr val="FF0000"/>
                </a:solidFill>
              </a:rPr>
              <a:t>没有</a:t>
            </a:r>
            <a:r>
              <a:rPr lang="zh-CN" altLang="en-US" dirty="0" smtClean="0">
                <a:solidFill>
                  <a:srgbClr val="FF0000"/>
                </a:solidFill>
              </a:rPr>
              <a:t>选  </a:t>
            </a:r>
          </a:p>
          <a:p>
            <a:r>
              <a:rPr lang="en-US" altLang="zh-CN" dirty="0" smtClean="0">
                <a:solidFill>
                  <a:srgbClr val="FF0000"/>
                </a:solidFill>
              </a:rPr>
              <a:t>(</a:t>
            </a:r>
            <a:r>
              <a:rPr lang="zh-CN" altLang="en-US" dirty="0" smtClean="0">
                <a:solidFill>
                  <a:srgbClr val="FF0000"/>
                </a:solidFill>
              </a:rPr>
              <a:t>转换为：不存在选修了所有</a:t>
            </a:r>
            <a:r>
              <a:rPr lang="en-US" altLang="zh-CN" dirty="0" smtClean="0">
                <a:solidFill>
                  <a:srgbClr val="FF0000"/>
                </a:solidFill>
              </a:rPr>
              <a:t>y)</a:t>
            </a:r>
            <a:endParaRPr lang="zh-CN" altLang="en-US" dirty="0">
              <a:solidFill>
                <a:srgbClr val="FF0000"/>
              </a:solidFill>
            </a:endParaRPr>
          </a:p>
        </p:txBody>
      </p:sp>
    </p:spTree>
    <p:extLst>
      <p:ext uri="{BB962C8B-B14F-4D97-AF65-F5344CB8AC3E}">
        <p14:creationId xmlns:p14="http://schemas.microsoft.com/office/powerpoint/2010/main" val="2512353659"/>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pPr eaLnBrk="1" hangingPunct="1"/>
            <a:r>
              <a:rPr lang="zh-CN" altLang="en-US" sz="3600" dirty="0" smtClean="0"/>
              <a:t>带有</a:t>
            </a:r>
            <a:r>
              <a:rPr lang="en-US" altLang="zh-CN" sz="3600" dirty="0" smtClean="0"/>
              <a:t>EXISTS</a:t>
            </a:r>
            <a:r>
              <a:rPr lang="zh-CN" altLang="en-US" sz="3600" dirty="0" smtClean="0"/>
              <a:t>谓词的子查询</a:t>
            </a:r>
            <a:r>
              <a:rPr lang="en-US" altLang="zh-CN" sz="3600" dirty="0" smtClean="0"/>
              <a:t>（</a:t>
            </a:r>
            <a:r>
              <a:rPr lang="zh-CN" altLang="en-US" sz="3600" dirty="0" smtClean="0"/>
              <a:t>续</a:t>
            </a:r>
            <a:r>
              <a:rPr lang="en-US" altLang="zh-CN" sz="3600" dirty="0" smtClean="0"/>
              <a:t>）</a:t>
            </a:r>
            <a:r>
              <a:rPr lang="zh-CN" altLang="en-US" sz="4400" dirty="0" smtClean="0">
                <a:cs typeface="Times New Roman" panose="02020603050405020304" pitchFamily="18" charset="0"/>
              </a:rPr>
              <a:t> </a:t>
            </a:r>
          </a:p>
        </p:txBody>
      </p:sp>
      <p:sp>
        <p:nvSpPr>
          <p:cNvPr id="66563" name="Rectangle 3"/>
          <p:cNvSpPr>
            <a:spLocks noGrp="1" noChangeArrowheads="1"/>
          </p:cNvSpPr>
          <p:nvPr>
            <p:ph type="body" idx="4294967295"/>
          </p:nvPr>
        </p:nvSpPr>
        <p:spPr>
          <a:xfrm>
            <a:off x="602642" y="1302673"/>
            <a:ext cx="8455900" cy="4994275"/>
          </a:xfrm>
        </p:spPr>
        <p:txBody>
          <a:bodyPr>
            <a:normAutofit/>
          </a:bodyPr>
          <a:lstStyle/>
          <a:p>
            <a:pPr algn="just" eaLnBrk="1" hangingPunct="1">
              <a:buFont typeface="Wingdings" panose="05000000000000000000" pitchFamily="2" charset="2"/>
              <a:buChar char="n"/>
            </a:pPr>
            <a:r>
              <a:rPr lang="zh-CN" altLang="en-US" sz="2400" dirty="0" smtClean="0"/>
              <a:t>用</a:t>
            </a:r>
            <a:r>
              <a:rPr lang="en-US" altLang="zh-CN" sz="2400" dirty="0" smtClean="0"/>
              <a:t>NOT EXISTS</a:t>
            </a:r>
            <a:r>
              <a:rPr lang="zh-CN" altLang="en-US" sz="2400" dirty="0" smtClean="0"/>
              <a:t>谓词表示： </a:t>
            </a:r>
            <a:r>
              <a:rPr lang="zh-CN" altLang="en-US" sz="2200" dirty="0" smtClean="0"/>
              <a:t>    </a:t>
            </a:r>
          </a:p>
          <a:p>
            <a:pPr algn="just" eaLnBrk="1" hangingPunct="1">
              <a:buSzPct val="50000"/>
              <a:buFont typeface="宋体" panose="02010600030101010101" pitchFamily="2" charset="-122"/>
              <a:buNone/>
            </a:pPr>
            <a:r>
              <a:rPr lang="zh-CN" altLang="en-US" sz="2200" dirty="0" smtClean="0"/>
              <a:t>       </a:t>
            </a:r>
            <a:r>
              <a:rPr lang="en-US" altLang="zh-CN" sz="2200" dirty="0" smtClean="0"/>
              <a:t>SELECT DISTINCT </a:t>
            </a:r>
            <a:r>
              <a:rPr lang="en-US" altLang="zh-CN" sz="2200" dirty="0" err="1" smtClean="0"/>
              <a:t>Sno</a:t>
            </a:r>
            <a:endParaRPr lang="en-US" altLang="zh-CN" sz="2200" dirty="0" smtClean="0"/>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FF3399"/>
                </a:solidFill>
              </a:rPr>
              <a:t>SCX</a:t>
            </a:r>
            <a:endParaRPr lang="en-US" altLang="zh-CN" sz="2200" dirty="0" smtClean="0"/>
          </a:p>
          <a:p>
            <a:pPr algn="just" eaLnBrk="1" hangingPunct="1">
              <a:buSzPct val="50000"/>
              <a:buFont typeface="宋体" panose="02010600030101010101" pitchFamily="2" charset="-122"/>
              <a:buNone/>
            </a:pPr>
            <a:r>
              <a:rPr lang="en-US" altLang="zh-CN" sz="2200" dirty="0" smtClean="0"/>
              <a:t>       WHERE NOT EXISTS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0099FF"/>
                </a:solidFill>
              </a:rPr>
              <a:t>SCY</a:t>
            </a:r>
            <a:endParaRPr lang="en-US" altLang="zh-CN" sz="2200" dirty="0" smtClean="0"/>
          </a:p>
          <a:p>
            <a:pPr algn="just" eaLnBrk="1" hangingPunct="1">
              <a:buSzPct val="50000"/>
              <a:buFont typeface="宋体" panose="02010600030101010101" pitchFamily="2" charset="-122"/>
              <a:buNone/>
            </a:pPr>
            <a:r>
              <a:rPr lang="en-US" altLang="zh-CN" sz="2200" dirty="0" smtClean="0"/>
              <a:t>                      </a:t>
            </a:r>
            <a:r>
              <a:rPr lang="en-US" altLang="zh-CN" sz="2200" dirty="0" smtClean="0"/>
              <a:t>WHERE </a:t>
            </a:r>
            <a:r>
              <a:rPr lang="en-US" altLang="zh-CN" sz="2200" dirty="0" err="1" smtClean="0"/>
              <a:t>SCY.Sno</a:t>
            </a:r>
            <a:r>
              <a:rPr lang="en-US" altLang="zh-CN" sz="2200" dirty="0" smtClean="0"/>
              <a:t> = ' 201215122 '  AND</a:t>
            </a:r>
          </a:p>
          <a:p>
            <a:pPr algn="just" eaLnBrk="1" hangingPunct="1">
              <a:buSzPct val="50000"/>
              <a:buFont typeface="宋体" panose="02010600030101010101" pitchFamily="2" charset="-122"/>
              <a:buNone/>
            </a:pPr>
            <a:r>
              <a:rPr lang="en-US" altLang="zh-CN" sz="2200" dirty="0" smtClean="0"/>
              <a:t>                                    NOT EXISTS</a:t>
            </a: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SCZ</a:t>
            </a:r>
          </a:p>
          <a:p>
            <a:pPr algn="just" eaLnBrk="1" hangingPunct="1">
              <a:buSzPct val="50000"/>
              <a:buFont typeface="宋体" panose="02010600030101010101" pitchFamily="2" charset="-122"/>
              <a:buNone/>
            </a:pPr>
            <a:r>
              <a:rPr lang="en-US" altLang="zh-CN" sz="2200" dirty="0" smtClean="0"/>
              <a:t>                                     WHERE </a:t>
            </a:r>
            <a:r>
              <a:rPr lang="en-US" altLang="zh-CN" sz="2200" dirty="0" err="1" smtClean="0"/>
              <a:t>SCZ.Sno</a:t>
            </a:r>
            <a:r>
              <a:rPr lang="en-US" altLang="zh-CN" sz="2200" dirty="0" smtClean="0"/>
              <a:t>=</a:t>
            </a:r>
            <a:r>
              <a:rPr lang="en-US" altLang="zh-CN" sz="2200" dirty="0" err="1" smtClean="0">
                <a:solidFill>
                  <a:srgbClr val="FF3399"/>
                </a:solidFill>
              </a:rPr>
              <a:t>SCX</a:t>
            </a:r>
            <a:r>
              <a:rPr lang="en-US" altLang="zh-CN" sz="2200" dirty="0" err="1" smtClean="0"/>
              <a:t>.Sno</a:t>
            </a:r>
            <a:r>
              <a:rPr lang="en-US" altLang="zh-CN" sz="2200" dirty="0" smtClean="0"/>
              <a:t> AND</a:t>
            </a:r>
          </a:p>
          <a:p>
            <a:pPr eaLnBrk="1" hangingPunct="1">
              <a:buSzPct val="50000"/>
              <a:buFont typeface="宋体" panose="02010600030101010101" pitchFamily="2" charset="-122"/>
              <a:buNone/>
            </a:pPr>
            <a:r>
              <a:rPr lang="en-US" altLang="zh-CN" sz="2200" dirty="0" smtClean="0"/>
              <a:t>                                                   </a:t>
            </a:r>
            <a:r>
              <a:rPr lang="en-US" altLang="zh-CN" sz="2200" dirty="0" err="1" smtClean="0"/>
              <a:t>SCZ.Cno</a:t>
            </a:r>
            <a:r>
              <a:rPr lang="en-US" altLang="zh-CN" sz="2200" dirty="0" smtClean="0"/>
              <a:t>=</a:t>
            </a:r>
            <a:r>
              <a:rPr lang="en-US" altLang="zh-CN" sz="2200" dirty="0" err="1" smtClean="0">
                <a:solidFill>
                  <a:srgbClr val="0099FF"/>
                </a:solidFill>
              </a:rPr>
              <a:t>SCY</a:t>
            </a:r>
            <a:r>
              <a:rPr lang="en-US" altLang="zh-CN" sz="2200" dirty="0" err="1" smtClean="0"/>
              <a:t>.Cno</a:t>
            </a:r>
            <a:r>
              <a:rPr lang="zh-CN" altLang="en-US" sz="2200" dirty="0" smtClean="0"/>
              <a:t>));</a:t>
            </a:r>
          </a:p>
        </p:txBody>
      </p:sp>
      <p:sp>
        <p:nvSpPr>
          <p:cNvPr id="2" name="矩形 1"/>
          <p:cNvSpPr/>
          <p:nvPr/>
        </p:nvSpPr>
        <p:spPr>
          <a:xfrm>
            <a:off x="6636806" y="2122172"/>
            <a:ext cx="2507194" cy="2031325"/>
          </a:xfrm>
          <a:prstGeom prst="rect">
            <a:avLst/>
          </a:prstGeom>
        </p:spPr>
        <p:txBody>
          <a:bodyPr wrap="square">
            <a:spAutoFit/>
          </a:bodyPr>
          <a:lstStyle/>
          <a:p>
            <a:r>
              <a:rPr lang="en-US" altLang="zh-CN" dirty="0" err="1" smtClean="0">
                <a:solidFill>
                  <a:srgbClr val="FF3399"/>
                </a:solidFill>
              </a:rPr>
              <a:t>SCX</a:t>
            </a:r>
            <a:r>
              <a:rPr lang="en-US" altLang="zh-CN" dirty="0" err="1" smtClean="0"/>
              <a:t>.Sno</a:t>
            </a:r>
            <a:r>
              <a:rPr lang="en-US" altLang="zh-CN" dirty="0" smtClean="0"/>
              <a:t>=</a:t>
            </a:r>
            <a:r>
              <a:rPr lang="en-US" altLang="zh-CN" b="1" dirty="0" smtClean="0">
                <a:latin typeface="Arial" panose="020B0604020202020204" pitchFamily="34" charset="0"/>
              </a:rPr>
              <a:t>201215121</a:t>
            </a:r>
          </a:p>
          <a:p>
            <a:endParaRPr lang="en-US" altLang="zh-CN" dirty="0" smtClean="0">
              <a:solidFill>
                <a:srgbClr val="0099FF"/>
              </a:solidFill>
            </a:endParaRPr>
          </a:p>
          <a:p>
            <a:endParaRPr lang="en-US" altLang="zh-CN" dirty="0">
              <a:solidFill>
                <a:srgbClr val="0099FF"/>
              </a:solidFill>
            </a:endParaRPr>
          </a:p>
          <a:p>
            <a:endParaRPr lang="en-US" altLang="zh-CN" dirty="0" smtClean="0">
              <a:solidFill>
                <a:srgbClr val="0099FF"/>
              </a:solidFill>
            </a:endParaRPr>
          </a:p>
          <a:p>
            <a:endParaRPr lang="en-US" altLang="zh-CN" dirty="0">
              <a:solidFill>
                <a:srgbClr val="0099FF"/>
              </a:solidFill>
            </a:endParaRPr>
          </a:p>
          <a:p>
            <a:r>
              <a:rPr lang="en-US" altLang="zh-CN" dirty="0" err="1" smtClean="0">
                <a:solidFill>
                  <a:srgbClr val="0099FF"/>
                </a:solidFill>
              </a:rPr>
              <a:t>SCY</a:t>
            </a:r>
            <a:r>
              <a:rPr lang="en-US" altLang="zh-CN" dirty="0" err="1" smtClean="0"/>
              <a:t>.Cno</a:t>
            </a:r>
            <a:r>
              <a:rPr lang="en-US" altLang="zh-CN" dirty="0" smtClean="0"/>
              <a:t>=2 or  3</a:t>
            </a:r>
            <a:endParaRPr lang="en-US" altLang="zh-CN" b="1" dirty="0">
              <a:latin typeface="Arial" panose="020B0604020202020204" pitchFamily="34" charset="0"/>
            </a:endParaRPr>
          </a:p>
          <a:p>
            <a:endParaRPr lang="zh-CN" altLang="en-US" dirty="0">
              <a:solidFill>
                <a:srgbClr val="FF0000"/>
              </a:solidFill>
            </a:endParaRPr>
          </a:p>
        </p:txBody>
      </p:sp>
      <p:graphicFrame>
        <p:nvGraphicFramePr>
          <p:cNvPr id="5" name="Group 384"/>
          <p:cNvGraphicFramePr>
            <a:graphicFrameLocks/>
          </p:cNvGraphicFramePr>
          <p:nvPr>
            <p:extLst>
              <p:ext uri="{D42A27DB-BD31-4B8C-83A1-F6EECF244321}">
                <p14:modId xmlns:p14="http://schemas.microsoft.com/office/powerpoint/2010/main" val="726188834"/>
              </p:ext>
            </p:extLst>
          </p:nvPr>
        </p:nvGraphicFramePr>
        <p:xfrm>
          <a:off x="0" y="4178808"/>
          <a:ext cx="2790387" cy="2561076"/>
        </p:xfrm>
        <a:graphic>
          <a:graphicData uri="http://schemas.openxmlformats.org/drawingml/2006/table">
            <a:tbl>
              <a:tblPr/>
              <a:tblGrid>
                <a:gridCol w="1427214">
                  <a:extLst>
                    <a:ext uri="{9D8B030D-6E8A-4147-A177-3AD203B41FA5}">
                      <a16:colId xmlns:a16="http://schemas.microsoft.com/office/drawing/2014/main" xmlns="" val="20000"/>
                    </a:ext>
                  </a:extLst>
                </a:gridCol>
                <a:gridCol w="654139">
                  <a:extLst>
                    <a:ext uri="{9D8B030D-6E8A-4147-A177-3AD203B41FA5}">
                      <a16:colId xmlns:a16="http://schemas.microsoft.com/office/drawing/2014/main" xmlns="" val="20001"/>
                    </a:ext>
                  </a:extLst>
                </a:gridCol>
                <a:gridCol w="709034">
                  <a:extLst>
                    <a:ext uri="{9D8B030D-6E8A-4147-A177-3AD203B41FA5}">
                      <a16:colId xmlns:a16="http://schemas.microsoft.com/office/drawing/2014/main" xmlns="" val="20002"/>
                    </a:ext>
                  </a:extLst>
                </a:gridCol>
              </a:tblGrid>
              <a:tr h="84442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015034827"/>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Rectangle 2"/>
          <p:cNvSpPr>
            <a:spLocks noGrp="1" noChangeArrowheads="1"/>
          </p:cNvSpPr>
          <p:nvPr>
            <p:ph type="title" idx="4294967295"/>
          </p:nvPr>
        </p:nvSpPr>
        <p:spPr/>
        <p:txBody>
          <a:bodyPr/>
          <a:lstStyle/>
          <a:p>
            <a:pPr eaLnBrk="1" hangingPunct="1"/>
            <a:r>
              <a:rPr lang="zh-CN" altLang="en-US" sz="3600" dirty="0" smtClean="0"/>
              <a:t>带有</a:t>
            </a:r>
            <a:r>
              <a:rPr lang="en-US" altLang="zh-CN" sz="3600" dirty="0" smtClean="0"/>
              <a:t>EXISTS</a:t>
            </a:r>
            <a:r>
              <a:rPr lang="zh-CN" altLang="en-US" sz="3600" dirty="0" smtClean="0"/>
              <a:t>谓词的子查询</a:t>
            </a:r>
            <a:r>
              <a:rPr lang="en-US" altLang="zh-CN" sz="3600" dirty="0" smtClean="0"/>
              <a:t>（</a:t>
            </a:r>
            <a:r>
              <a:rPr lang="zh-CN" altLang="en-US" sz="3600" dirty="0" smtClean="0"/>
              <a:t>续</a:t>
            </a:r>
            <a:r>
              <a:rPr lang="en-US" altLang="zh-CN" sz="3600" dirty="0" smtClean="0"/>
              <a:t>）</a:t>
            </a:r>
            <a:r>
              <a:rPr lang="zh-CN" altLang="en-US" sz="4400" dirty="0" smtClean="0">
                <a:cs typeface="Times New Roman" panose="02020603050405020304" pitchFamily="18" charset="0"/>
              </a:rPr>
              <a:t> </a:t>
            </a:r>
          </a:p>
        </p:txBody>
      </p:sp>
      <p:sp>
        <p:nvSpPr>
          <p:cNvPr id="66563" name="Rectangle 3"/>
          <p:cNvSpPr>
            <a:spLocks noGrp="1" noChangeArrowheads="1"/>
          </p:cNvSpPr>
          <p:nvPr>
            <p:ph type="body" idx="4294967295"/>
          </p:nvPr>
        </p:nvSpPr>
        <p:spPr>
          <a:xfrm>
            <a:off x="602642" y="1302673"/>
            <a:ext cx="8455900" cy="4994275"/>
          </a:xfrm>
        </p:spPr>
        <p:txBody>
          <a:bodyPr>
            <a:normAutofit/>
          </a:bodyPr>
          <a:lstStyle/>
          <a:p>
            <a:pPr algn="just" eaLnBrk="1" hangingPunct="1">
              <a:buFont typeface="Wingdings" panose="05000000000000000000" pitchFamily="2" charset="2"/>
              <a:buChar char="n"/>
            </a:pPr>
            <a:r>
              <a:rPr lang="zh-CN" altLang="en-US" sz="2400" dirty="0" smtClean="0"/>
              <a:t>用</a:t>
            </a:r>
            <a:r>
              <a:rPr lang="en-US" altLang="zh-CN" sz="2400" dirty="0" smtClean="0"/>
              <a:t>NOT EXISTS</a:t>
            </a:r>
            <a:r>
              <a:rPr lang="zh-CN" altLang="en-US" sz="2400" dirty="0" smtClean="0"/>
              <a:t>谓词表示： </a:t>
            </a:r>
            <a:r>
              <a:rPr lang="zh-CN" altLang="en-US" sz="2200" dirty="0" smtClean="0"/>
              <a:t>    </a:t>
            </a:r>
          </a:p>
          <a:p>
            <a:pPr algn="just" eaLnBrk="1" hangingPunct="1">
              <a:buSzPct val="50000"/>
              <a:buFont typeface="宋体" panose="02010600030101010101" pitchFamily="2" charset="-122"/>
              <a:buNone/>
            </a:pPr>
            <a:r>
              <a:rPr lang="zh-CN" altLang="en-US" sz="2200" dirty="0" smtClean="0"/>
              <a:t>       </a:t>
            </a:r>
            <a:r>
              <a:rPr lang="en-US" altLang="zh-CN" sz="2200" dirty="0" smtClean="0"/>
              <a:t>SELECT DISTINCT </a:t>
            </a:r>
            <a:r>
              <a:rPr lang="en-US" altLang="zh-CN" sz="2200" dirty="0" err="1" smtClean="0"/>
              <a:t>Sno</a:t>
            </a:r>
            <a:endParaRPr lang="en-US" altLang="zh-CN" sz="2200" dirty="0" smtClean="0"/>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FF3399"/>
                </a:solidFill>
              </a:rPr>
              <a:t>SCX</a:t>
            </a:r>
            <a:endParaRPr lang="en-US" altLang="zh-CN" sz="2200" dirty="0" smtClean="0"/>
          </a:p>
          <a:p>
            <a:pPr algn="just" eaLnBrk="1" hangingPunct="1">
              <a:buSzPct val="50000"/>
              <a:buFont typeface="宋体" panose="02010600030101010101" pitchFamily="2" charset="-122"/>
              <a:buNone/>
            </a:pPr>
            <a:r>
              <a:rPr lang="en-US" altLang="zh-CN" sz="2200" dirty="0" smtClean="0"/>
              <a:t>       WHERE NOT EXISTS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a:t>
            </a:r>
            <a:r>
              <a:rPr lang="en-US" altLang="zh-CN" sz="2200" dirty="0" smtClean="0">
                <a:solidFill>
                  <a:srgbClr val="0099FF"/>
                </a:solidFill>
              </a:rPr>
              <a:t>SCY</a:t>
            </a:r>
            <a:endParaRPr lang="en-US" altLang="zh-CN" sz="2200" dirty="0" smtClean="0"/>
          </a:p>
          <a:p>
            <a:pPr algn="just" eaLnBrk="1" hangingPunct="1">
              <a:buSzPct val="50000"/>
              <a:buFont typeface="宋体" panose="02010600030101010101" pitchFamily="2" charset="-122"/>
              <a:buNone/>
            </a:pPr>
            <a:r>
              <a:rPr lang="en-US" altLang="zh-CN" sz="2200" dirty="0" smtClean="0"/>
              <a:t>                      </a:t>
            </a:r>
            <a:r>
              <a:rPr lang="en-US" altLang="zh-CN" sz="2200" dirty="0" smtClean="0"/>
              <a:t>WHERE </a:t>
            </a:r>
            <a:r>
              <a:rPr lang="en-US" altLang="zh-CN" sz="2200" dirty="0" err="1" smtClean="0"/>
              <a:t>SCY.Sno</a:t>
            </a:r>
            <a:r>
              <a:rPr lang="en-US" altLang="zh-CN" sz="2200" dirty="0" smtClean="0"/>
              <a:t> = ' 201215122 '  AND</a:t>
            </a:r>
          </a:p>
          <a:p>
            <a:pPr algn="just" eaLnBrk="1" hangingPunct="1">
              <a:buSzPct val="50000"/>
              <a:buFont typeface="宋体" panose="02010600030101010101" pitchFamily="2" charset="-122"/>
              <a:buNone/>
            </a:pPr>
            <a:r>
              <a:rPr lang="en-US" altLang="zh-CN" sz="2200" dirty="0" smtClean="0"/>
              <a:t>                                    NOT EXISTS</a:t>
            </a:r>
          </a:p>
          <a:p>
            <a:pPr algn="just" eaLnBrk="1" hangingPunct="1">
              <a:buSzPct val="50000"/>
              <a:buFont typeface="宋体" panose="02010600030101010101" pitchFamily="2" charset="-122"/>
              <a:buNone/>
            </a:pPr>
            <a:r>
              <a:rPr lang="en-US" altLang="zh-CN" sz="2200" dirty="0" smtClean="0"/>
              <a:t>                                    </a:t>
            </a:r>
            <a:r>
              <a:rPr lang="zh-CN" altLang="en-US" sz="2200" dirty="0" smtClean="0"/>
              <a:t>(</a:t>
            </a:r>
            <a:r>
              <a:rPr lang="en-US" altLang="zh-CN" sz="2200" dirty="0" smtClean="0"/>
              <a:t>SELECT *</a:t>
            </a:r>
          </a:p>
          <a:p>
            <a:pPr algn="just" eaLnBrk="1" hangingPunct="1">
              <a:buSzPct val="50000"/>
              <a:buFont typeface="宋体" panose="02010600030101010101" pitchFamily="2" charset="-122"/>
              <a:buNone/>
            </a:pPr>
            <a:r>
              <a:rPr lang="en-US" altLang="zh-CN" sz="2200" dirty="0" smtClean="0"/>
              <a:t>                                     FROM SC SCZ</a:t>
            </a:r>
          </a:p>
          <a:p>
            <a:pPr algn="just" eaLnBrk="1" hangingPunct="1">
              <a:buSzPct val="50000"/>
              <a:buFont typeface="宋体" panose="02010600030101010101" pitchFamily="2" charset="-122"/>
              <a:buNone/>
            </a:pPr>
            <a:r>
              <a:rPr lang="en-US" altLang="zh-CN" sz="2200" dirty="0" smtClean="0"/>
              <a:t>                                     WHERE </a:t>
            </a:r>
            <a:r>
              <a:rPr lang="en-US" altLang="zh-CN" sz="2200" dirty="0" err="1" smtClean="0"/>
              <a:t>SCZ.Sno</a:t>
            </a:r>
            <a:r>
              <a:rPr lang="en-US" altLang="zh-CN" sz="2200" dirty="0" smtClean="0"/>
              <a:t>=</a:t>
            </a:r>
            <a:r>
              <a:rPr lang="en-US" altLang="zh-CN" sz="2200" dirty="0" err="1" smtClean="0">
                <a:solidFill>
                  <a:srgbClr val="FF3399"/>
                </a:solidFill>
              </a:rPr>
              <a:t>SCX</a:t>
            </a:r>
            <a:r>
              <a:rPr lang="en-US" altLang="zh-CN" sz="2200" dirty="0" err="1" smtClean="0"/>
              <a:t>.Sno</a:t>
            </a:r>
            <a:r>
              <a:rPr lang="en-US" altLang="zh-CN" sz="2200" dirty="0" smtClean="0"/>
              <a:t> AND</a:t>
            </a:r>
          </a:p>
          <a:p>
            <a:pPr eaLnBrk="1" hangingPunct="1">
              <a:buSzPct val="50000"/>
              <a:buFont typeface="宋体" panose="02010600030101010101" pitchFamily="2" charset="-122"/>
              <a:buNone/>
            </a:pPr>
            <a:r>
              <a:rPr lang="en-US" altLang="zh-CN" sz="2200" dirty="0" smtClean="0"/>
              <a:t>                                                   </a:t>
            </a:r>
            <a:r>
              <a:rPr lang="en-US" altLang="zh-CN" sz="2200" dirty="0" err="1" smtClean="0"/>
              <a:t>SCZ.Cno</a:t>
            </a:r>
            <a:r>
              <a:rPr lang="en-US" altLang="zh-CN" sz="2200" dirty="0" smtClean="0"/>
              <a:t>=</a:t>
            </a:r>
            <a:r>
              <a:rPr lang="en-US" altLang="zh-CN" sz="2200" dirty="0" err="1" smtClean="0">
                <a:solidFill>
                  <a:srgbClr val="0099FF"/>
                </a:solidFill>
              </a:rPr>
              <a:t>SCY</a:t>
            </a:r>
            <a:r>
              <a:rPr lang="en-US" altLang="zh-CN" sz="2200" dirty="0" err="1" smtClean="0"/>
              <a:t>.Cno</a:t>
            </a:r>
            <a:r>
              <a:rPr lang="zh-CN" altLang="en-US" sz="2200" dirty="0" smtClean="0"/>
              <a:t>));</a:t>
            </a:r>
          </a:p>
        </p:txBody>
      </p:sp>
      <p:sp>
        <p:nvSpPr>
          <p:cNvPr id="2" name="矩形 1"/>
          <p:cNvSpPr/>
          <p:nvPr/>
        </p:nvSpPr>
        <p:spPr>
          <a:xfrm>
            <a:off x="6636806" y="2122172"/>
            <a:ext cx="2507194" cy="2031325"/>
          </a:xfrm>
          <a:prstGeom prst="rect">
            <a:avLst/>
          </a:prstGeom>
        </p:spPr>
        <p:txBody>
          <a:bodyPr wrap="square">
            <a:spAutoFit/>
          </a:bodyPr>
          <a:lstStyle/>
          <a:p>
            <a:r>
              <a:rPr lang="en-US" altLang="zh-CN" dirty="0" err="1" smtClean="0">
                <a:solidFill>
                  <a:srgbClr val="FF3399"/>
                </a:solidFill>
              </a:rPr>
              <a:t>SCX</a:t>
            </a:r>
            <a:r>
              <a:rPr lang="en-US" altLang="zh-CN" dirty="0" err="1" smtClean="0"/>
              <a:t>.Sno</a:t>
            </a:r>
            <a:r>
              <a:rPr lang="en-US" altLang="zh-CN" dirty="0" smtClean="0"/>
              <a:t>=</a:t>
            </a:r>
            <a:r>
              <a:rPr lang="en-US" altLang="zh-CN" b="1" dirty="0" smtClean="0">
                <a:latin typeface="Arial" panose="020B0604020202020204" pitchFamily="34" charset="0"/>
              </a:rPr>
              <a:t>201215121</a:t>
            </a:r>
          </a:p>
          <a:p>
            <a:endParaRPr lang="en-US" altLang="zh-CN" dirty="0" smtClean="0">
              <a:solidFill>
                <a:srgbClr val="0099FF"/>
              </a:solidFill>
            </a:endParaRPr>
          </a:p>
          <a:p>
            <a:endParaRPr lang="en-US" altLang="zh-CN" dirty="0">
              <a:solidFill>
                <a:srgbClr val="0099FF"/>
              </a:solidFill>
            </a:endParaRPr>
          </a:p>
          <a:p>
            <a:endParaRPr lang="en-US" altLang="zh-CN" dirty="0" smtClean="0">
              <a:solidFill>
                <a:srgbClr val="0099FF"/>
              </a:solidFill>
            </a:endParaRPr>
          </a:p>
          <a:p>
            <a:endParaRPr lang="en-US" altLang="zh-CN" dirty="0">
              <a:solidFill>
                <a:srgbClr val="0099FF"/>
              </a:solidFill>
            </a:endParaRPr>
          </a:p>
          <a:p>
            <a:r>
              <a:rPr lang="en-US" altLang="zh-CN" dirty="0" err="1" smtClean="0">
                <a:solidFill>
                  <a:srgbClr val="0099FF"/>
                </a:solidFill>
              </a:rPr>
              <a:t>SCY</a:t>
            </a:r>
            <a:r>
              <a:rPr lang="en-US" altLang="zh-CN" dirty="0" err="1" smtClean="0"/>
              <a:t>.Cno</a:t>
            </a:r>
            <a:r>
              <a:rPr lang="en-US" altLang="zh-CN" dirty="0" smtClean="0"/>
              <a:t>=2 or  </a:t>
            </a:r>
            <a:r>
              <a:rPr lang="en-US" altLang="zh-CN" dirty="0" smtClean="0">
                <a:solidFill>
                  <a:srgbClr val="FF0000"/>
                </a:solidFill>
              </a:rPr>
              <a:t>4</a:t>
            </a:r>
            <a:endParaRPr lang="en-US" altLang="zh-CN" b="1" dirty="0">
              <a:solidFill>
                <a:srgbClr val="FF0000"/>
              </a:solidFill>
              <a:latin typeface="Arial" panose="020B0604020202020204" pitchFamily="34" charset="0"/>
            </a:endParaRPr>
          </a:p>
          <a:p>
            <a:endParaRPr lang="zh-CN" altLang="en-US" dirty="0">
              <a:solidFill>
                <a:srgbClr val="FF0000"/>
              </a:solidFill>
            </a:endParaRPr>
          </a:p>
        </p:txBody>
      </p:sp>
      <p:graphicFrame>
        <p:nvGraphicFramePr>
          <p:cNvPr id="5" name="Group 384"/>
          <p:cNvGraphicFramePr>
            <a:graphicFrameLocks/>
          </p:cNvGraphicFramePr>
          <p:nvPr>
            <p:extLst>
              <p:ext uri="{D42A27DB-BD31-4B8C-83A1-F6EECF244321}">
                <p14:modId xmlns:p14="http://schemas.microsoft.com/office/powerpoint/2010/main" val="4073601609"/>
              </p:ext>
            </p:extLst>
          </p:nvPr>
        </p:nvGraphicFramePr>
        <p:xfrm>
          <a:off x="0" y="4178808"/>
          <a:ext cx="2790387" cy="2561076"/>
        </p:xfrm>
        <a:graphic>
          <a:graphicData uri="http://schemas.openxmlformats.org/drawingml/2006/table">
            <a:tbl>
              <a:tblPr/>
              <a:tblGrid>
                <a:gridCol w="1427214">
                  <a:extLst>
                    <a:ext uri="{9D8B030D-6E8A-4147-A177-3AD203B41FA5}">
                      <a16:colId xmlns:a16="http://schemas.microsoft.com/office/drawing/2014/main" xmlns="" val="20000"/>
                    </a:ext>
                  </a:extLst>
                </a:gridCol>
                <a:gridCol w="654139">
                  <a:extLst>
                    <a:ext uri="{9D8B030D-6E8A-4147-A177-3AD203B41FA5}">
                      <a16:colId xmlns:a16="http://schemas.microsoft.com/office/drawing/2014/main" xmlns="" val="20001"/>
                    </a:ext>
                  </a:extLst>
                </a:gridCol>
                <a:gridCol w="709034">
                  <a:extLst>
                    <a:ext uri="{9D8B030D-6E8A-4147-A177-3AD203B41FA5}">
                      <a16:colId xmlns:a16="http://schemas.microsoft.com/office/drawing/2014/main" xmlns="" val="20002"/>
                    </a:ext>
                  </a:extLst>
                </a:gridCol>
              </a:tblGrid>
              <a:tr h="844425">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学号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Sno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课程号</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err="1" smtClean="0">
                          <a:ln>
                            <a:noFill/>
                          </a:ln>
                          <a:solidFill>
                            <a:schemeClr val="tx1"/>
                          </a:solidFill>
                          <a:effectLst/>
                          <a:latin typeface="Arial" panose="020B0604020202020204" pitchFamily="34" charset="0"/>
                          <a:ea typeface="宋体" panose="02010600030101010101" pitchFamily="2" charset="-122"/>
                        </a:rPr>
                        <a:t>Cno</a:t>
                      </a:r>
                      <a:endPar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zh-CN" altLang="en-US"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成绩</a:t>
                      </a:r>
                    </a:p>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Grade</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0"/>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92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1"/>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smtClean="0">
                          <a:ln>
                            <a:noFill/>
                          </a:ln>
                          <a:solidFill>
                            <a:schemeClr val="tx1"/>
                          </a:solidFill>
                          <a:effectLst/>
                          <a:latin typeface="Arial" panose="020B0604020202020204" pitchFamily="34" charset="0"/>
                          <a:ea typeface="宋体" panose="02010600030101010101" pitchFamily="2" charset="-122"/>
                        </a:rPr>
                        <a:t>85</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2"/>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201215121</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3</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88</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3"/>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90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4"/>
                  </a:ext>
                </a:extLst>
              </a:tr>
              <a:tr h="326062">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201215122</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rPr>
                        <a:t>4</a:t>
                      </a:r>
                      <a:endParaRPr kumimoji="0" lang="en-US" altLang="zh-CN" sz="1600" b="1" i="0" u="none" strike="noStrike" cap="none" normalizeH="0" baseline="0" dirty="0" smtClean="0">
                        <a:ln>
                          <a:noFill/>
                        </a:ln>
                        <a:solidFill>
                          <a:srgbClr val="FF0000"/>
                        </a:solidFill>
                        <a:effectLst/>
                        <a:latin typeface="Arial" panose="020B0604020202020204" pitchFamily="34" charset="0"/>
                        <a:ea typeface="宋体" panose="02010600030101010101" pitchFamily="2" charset="-122"/>
                      </a:endParaRP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lvl1pPr eaLnBrk="0" hangingPunct="0">
                        <a:spcBef>
                          <a:spcPct val="20000"/>
                        </a:spcBef>
                        <a:buSzPct val="100000"/>
                        <a:buFont typeface="Wingdings" panose="05000000000000000000" pitchFamily="2" charset="2"/>
                        <a:defRPr sz="2400" b="1">
                          <a:solidFill>
                            <a:schemeClr val="tx1"/>
                          </a:solidFill>
                          <a:latin typeface="Arial" panose="020B0604020202020204" pitchFamily="34" charset="0"/>
                          <a:ea typeface="宋体" panose="02010600030101010101" pitchFamily="2" charset="-122"/>
                        </a:defRPr>
                      </a:lvl1pPr>
                      <a:lvl2pPr marL="742950" indent="-285750" eaLnBrk="0" hangingPunct="0">
                        <a:spcBef>
                          <a:spcPct val="20000"/>
                        </a:spcBef>
                        <a:buSzPct val="100000"/>
                        <a:buFont typeface="Wingdings" panose="05000000000000000000" pitchFamily="2" charset="2"/>
                        <a:defRPr sz="2000" b="1">
                          <a:solidFill>
                            <a:schemeClr val="tx1"/>
                          </a:solidFill>
                          <a:latin typeface="Arial" panose="020B0604020202020204" pitchFamily="34" charset="0"/>
                          <a:ea typeface="宋体" panose="02010600030101010101" pitchFamily="2" charset="-122"/>
                        </a:defRPr>
                      </a:lvl2pPr>
                      <a:lvl3pPr marL="1143000" indent="-228600" eaLnBrk="0" hangingPunct="0">
                        <a:spcBef>
                          <a:spcPct val="20000"/>
                        </a:spcBef>
                        <a:defRPr b="1">
                          <a:solidFill>
                            <a:schemeClr val="tx1"/>
                          </a:solidFill>
                          <a:latin typeface="Arial" panose="020B0604020202020204" pitchFamily="34" charset="0"/>
                          <a:ea typeface="宋体" panose="02010600030101010101" pitchFamily="2" charset="-122"/>
                        </a:defRPr>
                      </a:lvl3pPr>
                      <a:lvl4pPr marL="1600200" indent="-228600" eaLnBrk="0" hangingPunct="0">
                        <a:spcBef>
                          <a:spcPct val="20000"/>
                        </a:spcBef>
                        <a:defRPr b="1">
                          <a:solidFill>
                            <a:schemeClr val="tx1"/>
                          </a:solidFill>
                          <a:latin typeface="Arial" panose="020B0604020202020204" pitchFamily="34" charset="0"/>
                          <a:ea typeface="宋体" panose="02010600030101010101" pitchFamily="2" charset="-122"/>
                        </a:defRPr>
                      </a:lvl4pPr>
                      <a:lvl5pPr marL="2057400" indent="-228600" eaLnBrk="0" hangingPunct="0">
                        <a:spcBef>
                          <a:spcPct val="20000"/>
                        </a:spcBef>
                        <a:defRPr b="1">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20000"/>
                        </a:spcBef>
                        <a:spcAft>
                          <a:spcPct val="0"/>
                        </a:spcAft>
                        <a:buFont typeface="Arial" panose="020B0604020202020204" pitchFamily="34" charset="0"/>
                        <a:defRPr b="1">
                          <a:solidFill>
                            <a:schemeClr val="tx1"/>
                          </a:solidFill>
                          <a:latin typeface="Arial" panose="020B0604020202020204" pitchFamily="34" charset="0"/>
                          <a:ea typeface="宋体" panose="02010600030101010101" pitchFamily="2" charset="-122"/>
                        </a:defRPr>
                      </a:lvl9pPr>
                    </a:lstStyle>
                    <a:p>
                      <a:pPr marL="0" marR="0" lvl="0" indent="0" algn="ctr" defTabSz="914400" rtl="0" eaLnBrk="1" fontAlgn="base" latinLnBrk="0" hangingPunct="1">
                        <a:lnSpc>
                          <a:spcPct val="100000"/>
                        </a:lnSpc>
                        <a:spcBef>
                          <a:spcPct val="20000"/>
                        </a:spcBef>
                        <a:spcAft>
                          <a:spcPct val="0"/>
                        </a:spcAft>
                        <a:buClr>
                          <a:schemeClr val="hlink"/>
                        </a:buClr>
                        <a:buSzTx/>
                        <a:buFont typeface="Wingdings" panose="05000000000000000000" pitchFamily="2" charset="2"/>
                        <a:buNone/>
                        <a:tabLst/>
                      </a:pPr>
                      <a:r>
                        <a:rPr kumimoji="0" lang="en-US" altLang="zh-CN" sz="1600" b="1" i="0" u="none" strike="noStrike" cap="none" normalizeH="0" baseline="0" dirty="0" smtClean="0">
                          <a:ln>
                            <a:noFill/>
                          </a:ln>
                          <a:solidFill>
                            <a:schemeClr val="tx1"/>
                          </a:solidFill>
                          <a:effectLst/>
                          <a:latin typeface="Arial" panose="020B0604020202020204" pitchFamily="34" charset="0"/>
                          <a:ea typeface="宋体" panose="02010600030101010101" pitchFamily="2" charset="-122"/>
                        </a:rPr>
                        <a:t>80</a:t>
                      </a:r>
                    </a:p>
                  </a:txBody>
                  <a:tcPr marL="90000" marR="90000" marT="46799" marB="46799"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xmlns="" val="10005"/>
                  </a:ext>
                </a:extLst>
              </a:tr>
            </a:tbl>
          </a:graphicData>
        </a:graphic>
      </p:graphicFrame>
    </p:spTree>
    <p:extLst>
      <p:ext uri="{BB962C8B-B14F-4D97-AF65-F5344CB8AC3E}">
        <p14:creationId xmlns:p14="http://schemas.microsoft.com/office/powerpoint/2010/main" val="10170182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Grp="1" noChangeArrowheads="1"/>
          </p:cNvSpPr>
          <p:nvPr>
            <p:ph type="title" idx="4294967295"/>
          </p:nvPr>
        </p:nvSpPr>
        <p:spPr/>
        <p:txBody>
          <a:bodyPr/>
          <a:lstStyle/>
          <a:p>
            <a:pPr eaLnBrk="1" hangingPunct="1"/>
            <a:r>
              <a:rPr lang="en-US" altLang="zh-CN" sz="3600" dirty="0" smtClean="0"/>
              <a:t>3. </a:t>
            </a:r>
            <a:r>
              <a:rPr lang="zh-CN" altLang="en-US" sz="3600" dirty="0" smtClean="0"/>
              <a:t>插入元组</a:t>
            </a:r>
          </a:p>
        </p:txBody>
      </p:sp>
      <p:sp>
        <p:nvSpPr>
          <p:cNvPr id="6147" name="Rectangle 3"/>
          <p:cNvSpPr>
            <a:spLocks noGrp="1" noChangeArrowheads="1"/>
          </p:cNvSpPr>
          <p:nvPr>
            <p:ph type="body" idx="4294967295"/>
          </p:nvPr>
        </p:nvSpPr>
        <p:spPr>
          <a:xfrm>
            <a:off x="457200" y="1125538"/>
            <a:ext cx="8229600" cy="4854575"/>
          </a:xfrm>
        </p:spPr>
        <p:txBody>
          <a:bodyPr>
            <a:normAutofit fontScale="85000" lnSpcReduction="20000"/>
          </a:bodyPr>
          <a:lstStyle/>
          <a:p>
            <a:pPr marL="609600" indent="-609600" eaLnBrk="1" hangingPunct="1">
              <a:lnSpc>
                <a:spcPct val="130000"/>
              </a:lnSpc>
            </a:pPr>
            <a:r>
              <a:rPr lang="zh-CN" altLang="en-US" dirty="0" smtClean="0"/>
              <a:t>语句格式</a:t>
            </a:r>
          </a:p>
          <a:p>
            <a:pPr marL="609600" indent="-609600" eaLnBrk="1" hangingPunct="1">
              <a:lnSpc>
                <a:spcPct val="130000"/>
              </a:lnSpc>
              <a:buFont typeface="Wingdings" panose="05000000000000000000" pitchFamily="2" charset="2"/>
              <a:buNone/>
            </a:pPr>
            <a:r>
              <a:rPr lang="zh-CN" altLang="en-US" sz="2400" dirty="0" smtClean="0"/>
              <a:t>	</a:t>
            </a:r>
            <a:r>
              <a:rPr lang="en-US" altLang="zh-CN" sz="2400" dirty="0" smtClean="0"/>
              <a:t>INSERT</a:t>
            </a:r>
          </a:p>
          <a:p>
            <a:pPr marL="609600" indent="-609600" eaLnBrk="1" hangingPunct="1">
              <a:lnSpc>
                <a:spcPct val="130000"/>
              </a:lnSpc>
              <a:buFont typeface="Wingdings" panose="05000000000000000000" pitchFamily="2" charset="2"/>
              <a:buNone/>
            </a:pPr>
            <a:r>
              <a:rPr lang="en-US" altLang="zh-CN" sz="2400" dirty="0" smtClean="0"/>
              <a:t>	INTO &lt;</a:t>
            </a:r>
            <a:r>
              <a:rPr lang="zh-CN" altLang="en-US" sz="2400" dirty="0" smtClean="0"/>
              <a:t>表名</a:t>
            </a:r>
            <a:r>
              <a:rPr lang="en-US" altLang="zh-CN" sz="2400" dirty="0" smtClean="0"/>
              <a:t>&gt; [</a:t>
            </a:r>
            <a:r>
              <a:rPr lang="zh-CN" altLang="en-US" sz="2400" dirty="0" smtClean="0"/>
              <a:t>(</a:t>
            </a:r>
            <a:r>
              <a:rPr lang="en-US" altLang="zh-CN" sz="2400" dirty="0" smtClean="0"/>
              <a:t>&lt;</a:t>
            </a:r>
            <a:r>
              <a:rPr lang="zh-CN" altLang="en-US" sz="2400" dirty="0" smtClean="0"/>
              <a:t>属性列</a:t>
            </a:r>
            <a:r>
              <a:rPr lang="en-US" altLang="zh-CN" sz="2400" dirty="0" smtClean="0"/>
              <a:t>1&gt;[</a:t>
            </a:r>
            <a:r>
              <a:rPr lang="zh-CN" altLang="en-US" sz="2400" dirty="0" smtClean="0"/>
              <a:t>,</a:t>
            </a:r>
            <a:r>
              <a:rPr lang="en-US" altLang="zh-CN" sz="2400" dirty="0" smtClean="0"/>
              <a:t>&lt;</a:t>
            </a:r>
            <a:r>
              <a:rPr lang="zh-CN" altLang="en-US" sz="2400" dirty="0" smtClean="0"/>
              <a:t>属性列</a:t>
            </a:r>
            <a:r>
              <a:rPr lang="en-US" altLang="zh-CN" sz="2400" dirty="0" smtClean="0"/>
              <a:t>2 &gt;…</a:t>
            </a:r>
            <a:r>
              <a:rPr lang="zh-CN" altLang="en-US" sz="2400" dirty="0" smtClean="0"/>
              <a:t>)</a:t>
            </a:r>
            <a:r>
              <a:rPr lang="en-US" altLang="zh-CN" sz="2400" dirty="0" smtClean="0"/>
              <a:t>]</a:t>
            </a:r>
          </a:p>
          <a:p>
            <a:pPr marL="609600" indent="-609600" eaLnBrk="1" hangingPunct="1">
              <a:lnSpc>
                <a:spcPct val="130000"/>
              </a:lnSpc>
              <a:buFont typeface="Wingdings" panose="05000000000000000000" pitchFamily="2" charset="2"/>
              <a:buNone/>
            </a:pPr>
            <a:r>
              <a:rPr lang="en-US" altLang="zh-CN" sz="2400" dirty="0" smtClean="0"/>
              <a:t>	VALUES </a:t>
            </a:r>
            <a:r>
              <a:rPr lang="zh-CN" altLang="en-US" sz="2400" dirty="0" smtClean="0"/>
              <a:t>(</a:t>
            </a:r>
            <a:r>
              <a:rPr lang="en-US" altLang="zh-CN" sz="2400" dirty="0" smtClean="0"/>
              <a:t>&lt;</a:t>
            </a:r>
            <a:r>
              <a:rPr lang="zh-CN" altLang="en-US" sz="2400" dirty="0" smtClean="0"/>
              <a:t>常量</a:t>
            </a:r>
            <a:r>
              <a:rPr lang="en-US" altLang="zh-CN" sz="2400" dirty="0" smtClean="0"/>
              <a:t>1&gt; [</a:t>
            </a:r>
            <a:r>
              <a:rPr lang="zh-CN" altLang="en-US" sz="2400" dirty="0" smtClean="0"/>
              <a:t>,</a:t>
            </a:r>
            <a:r>
              <a:rPr lang="en-US" altLang="zh-CN" sz="2400" dirty="0" smtClean="0"/>
              <a:t>&lt;</a:t>
            </a:r>
            <a:r>
              <a:rPr lang="zh-CN" altLang="en-US" sz="2400" dirty="0" smtClean="0"/>
              <a:t>常量</a:t>
            </a:r>
            <a:r>
              <a:rPr lang="en-US" altLang="zh-CN" sz="2400" dirty="0" smtClean="0"/>
              <a:t>2&gt;]… </a:t>
            </a:r>
            <a:r>
              <a:rPr lang="zh-CN" altLang="en-US" sz="2400" dirty="0" smtClean="0"/>
              <a:t>)</a:t>
            </a:r>
            <a:r>
              <a:rPr lang="en-US" altLang="zh-CN" sz="2400" dirty="0" smtClean="0"/>
              <a:t>;</a:t>
            </a:r>
          </a:p>
          <a:p>
            <a:pPr marL="609600" indent="-609600" eaLnBrk="1" hangingPunct="1">
              <a:lnSpc>
                <a:spcPct val="130000"/>
              </a:lnSpc>
              <a:buFont typeface="Wingdings" panose="05000000000000000000" pitchFamily="2" charset="2"/>
              <a:buNone/>
            </a:pPr>
            <a:endParaRPr lang="en-US" altLang="zh-CN" sz="2400" dirty="0" smtClean="0"/>
          </a:p>
          <a:p>
            <a:pPr>
              <a:lnSpc>
                <a:spcPct val="120000"/>
              </a:lnSpc>
              <a:buNone/>
            </a:pPr>
            <a:r>
              <a:rPr lang="en-US" altLang="zh-CN" dirty="0"/>
              <a:t>[</a:t>
            </a:r>
            <a:r>
              <a:rPr lang="zh-CN" altLang="en-US" dirty="0"/>
              <a:t>例</a:t>
            </a:r>
            <a:r>
              <a:rPr lang="en-US" altLang="zh-CN" dirty="0"/>
              <a:t>3.69]</a:t>
            </a:r>
            <a:r>
              <a:rPr lang="zh-CN" altLang="en-US" dirty="0"/>
              <a:t>将一个新学生元组</a:t>
            </a:r>
            <a:r>
              <a:rPr lang="en-US" altLang="zh-CN" dirty="0"/>
              <a:t>（</a:t>
            </a:r>
            <a:r>
              <a:rPr lang="zh-CN" altLang="en-US" dirty="0"/>
              <a:t>学号：</a:t>
            </a:r>
            <a:r>
              <a:rPr lang="en-US" altLang="zh-CN" dirty="0"/>
              <a:t>201215128</a:t>
            </a:r>
            <a:r>
              <a:rPr lang="zh-CN" altLang="en-US" dirty="0"/>
              <a:t>;姓名：陈冬;性别：男;所在系：</a:t>
            </a:r>
            <a:r>
              <a:rPr lang="en-US" altLang="zh-CN" dirty="0"/>
              <a:t>IS</a:t>
            </a:r>
            <a:r>
              <a:rPr lang="zh-CN" altLang="en-US" dirty="0"/>
              <a:t>;年龄：</a:t>
            </a:r>
            <a:r>
              <a:rPr lang="en-US" altLang="zh-CN" dirty="0"/>
              <a:t>18</a:t>
            </a:r>
            <a:r>
              <a:rPr lang="zh-CN" altLang="en-US" dirty="0"/>
              <a:t>岁</a:t>
            </a:r>
            <a:r>
              <a:rPr lang="en-US" altLang="zh-CN" dirty="0"/>
              <a:t>）</a:t>
            </a:r>
            <a:r>
              <a:rPr lang="zh-CN" altLang="en-US" dirty="0"/>
              <a:t>插入到</a:t>
            </a:r>
            <a:r>
              <a:rPr lang="en-US" altLang="zh-CN" dirty="0"/>
              <a:t>Student</a:t>
            </a:r>
            <a:r>
              <a:rPr lang="zh-CN" altLang="en-US" dirty="0"/>
              <a:t>表中。</a:t>
            </a:r>
          </a:p>
          <a:p>
            <a:pPr>
              <a:buNone/>
            </a:pPr>
            <a:endParaRPr lang="zh-CN" altLang="en-US" dirty="0"/>
          </a:p>
          <a:p>
            <a:pPr>
              <a:buNone/>
            </a:pPr>
            <a:r>
              <a:rPr lang="zh-CN" altLang="en-US" dirty="0"/>
              <a:t>    </a:t>
            </a:r>
            <a:r>
              <a:rPr lang="en-US" altLang="zh-CN" dirty="0"/>
              <a:t>INSERT</a:t>
            </a:r>
          </a:p>
          <a:p>
            <a:pPr>
              <a:buNone/>
            </a:pPr>
            <a:r>
              <a:rPr lang="en-US" altLang="zh-CN" dirty="0"/>
              <a:t>    INTO  Student </a:t>
            </a:r>
            <a:r>
              <a:rPr lang="zh-CN" altLang="en-US" dirty="0"/>
              <a:t>(</a:t>
            </a:r>
            <a:r>
              <a:rPr lang="en-US" altLang="zh-CN" dirty="0" err="1"/>
              <a:t>Sno</a:t>
            </a:r>
            <a:r>
              <a:rPr lang="zh-CN" altLang="en-US" dirty="0"/>
              <a:t>,</a:t>
            </a:r>
            <a:r>
              <a:rPr lang="en-US" altLang="zh-CN" dirty="0" err="1"/>
              <a:t>Sname</a:t>
            </a:r>
            <a:r>
              <a:rPr lang="zh-CN" altLang="en-US" dirty="0"/>
              <a:t>,</a:t>
            </a:r>
            <a:r>
              <a:rPr lang="en-US" altLang="zh-CN" dirty="0" err="1"/>
              <a:t>Ssex</a:t>
            </a:r>
            <a:r>
              <a:rPr lang="zh-CN" altLang="en-US" dirty="0"/>
              <a:t>,</a:t>
            </a:r>
            <a:r>
              <a:rPr lang="en-US" altLang="zh-CN" dirty="0" err="1"/>
              <a:t>Sdept</a:t>
            </a:r>
            <a:r>
              <a:rPr lang="zh-CN" altLang="en-US" dirty="0"/>
              <a:t>,</a:t>
            </a:r>
            <a:r>
              <a:rPr lang="en-US" altLang="zh-CN" dirty="0"/>
              <a:t>Sage</a:t>
            </a:r>
            <a:r>
              <a:rPr lang="zh-CN" altLang="en-US" dirty="0"/>
              <a:t>)</a:t>
            </a:r>
          </a:p>
          <a:p>
            <a:pPr>
              <a:buNone/>
            </a:pPr>
            <a:r>
              <a:rPr lang="en-US" altLang="zh-CN" dirty="0"/>
              <a:t>    VALUES </a:t>
            </a:r>
            <a:r>
              <a:rPr lang="zh-CN" altLang="en-US" dirty="0"/>
              <a:t>(</a:t>
            </a:r>
            <a:r>
              <a:rPr lang="en-US" altLang="zh-CN" dirty="0"/>
              <a:t>'201215128'</a:t>
            </a:r>
            <a:r>
              <a:rPr lang="zh-CN" altLang="en-US" dirty="0"/>
              <a:t>,</a:t>
            </a:r>
            <a:r>
              <a:rPr lang="en-US" altLang="zh-CN" dirty="0"/>
              <a:t>'</a:t>
            </a:r>
            <a:r>
              <a:rPr lang="zh-CN" altLang="en-US" dirty="0"/>
              <a:t>陈冬</a:t>
            </a:r>
            <a:r>
              <a:rPr lang="en-US" altLang="zh-CN" dirty="0"/>
              <a:t>'</a:t>
            </a:r>
            <a:r>
              <a:rPr lang="zh-CN" altLang="en-US" dirty="0"/>
              <a:t>,</a:t>
            </a:r>
            <a:r>
              <a:rPr lang="en-US" altLang="zh-CN" dirty="0"/>
              <a:t>'</a:t>
            </a:r>
            <a:r>
              <a:rPr lang="zh-CN" altLang="en-US" dirty="0"/>
              <a:t>男</a:t>
            </a:r>
            <a:r>
              <a:rPr lang="en-US" altLang="zh-CN" dirty="0"/>
              <a:t>'</a:t>
            </a:r>
            <a:r>
              <a:rPr lang="zh-CN" altLang="en-US" dirty="0"/>
              <a:t>,</a:t>
            </a:r>
            <a:r>
              <a:rPr lang="en-US" altLang="zh-CN" dirty="0"/>
              <a:t>'IS'</a:t>
            </a:r>
            <a:r>
              <a:rPr lang="zh-CN" altLang="en-US" dirty="0"/>
              <a:t>,</a:t>
            </a:r>
            <a:r>
              <a:rPr lang="en-US" altLang="zh-CN" dirty="0"/>
              <a:t>18</a:t>
            </a:r>
            <a:r>
              <a:rPr lang="zh-CN" altLang="en-US" dirty="0"/>
              <a:t>);</a:t>
            </a:r>
          </a:p>
          <a:p>
            <a:pPr marL="609600" indent="-609600" eaLnBrk="1" hangingPunct="1">
              <a:lnSpc>
                <a:spcPct val="130000"/>
              </a:lnSpc>
              <a:buFont typeface="Wingdings" panose="05000000000000000000" pitchFamily="2" charset="2"/>
              <a:buNone/>
            </a:pPr>
            <a:endParaRPr lang="en-US" altLang="zh-CN" dirty="0" smtClean="0"/>
          </a:p>
          <a:p>
            <a:pPr marL="990600" lvl="1" indent="-533400">
              <a:buFont typeface="Wingdings" panose="05000000000000000000" pitchFamily="2" charset="2"/>
              <a:buNone/>
            </a:pPr>
            <a:endParaRPr lang="en-US" altLang="zh-CN" dirty="0" smtClean="0"/>
          </a:p>
        </p:txBody>
      </p:sp>
    </p:spTree>
    <p:extLst>
      <p:ext uri="{BB962C8B-B14F-4D97-AF65-F5344CB8AC3E}">
        <p14:creationId xmlns:p14="http://schemas.microsoft.com/office/powerpoint/2010/main" val="1303855527"/>
      </p:ext>
    </p:extLst>
  </p:cSld>
  <p:clrMapOvr>
    <a:masterClrMapping/>
  </p:clrMapOvr>
  <p:timing>
    <p:tnLst>
      <p:par>
        <p:cTn id="1" dur="indefinite" restart="never" nodeType="tmRoot"/>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242" name="Rectangle 2"/>
          <p:cNvSpPr>
            <a:spLocks noGrp="1" noChangeArrowheads="1"/>
          </p:cNvSpPr>
          <p:nvPr>
            <p:ph type="title" idx="4294967295"/>
          </p:nvPr>
        </p:nvSpPr>
        <p:spPr/>
        <p:txBody>
          <a:bodyPr/>
          <a:lstStyle/>
          <a:p>
            <a:pPr eaLnBrk="1" hangingPunct="1"/>
            <a:r>
              <a:rPr lang="zh-CN" altLang="en-US" sz="3600" smtClean="0"/>
              <a:t>插入元组（续）</a:t>
            </a:r>
          </a:p>
        </p:txBody>
      </p:sp>
      <p:sp>
        <p:nvSpPr>
          <p:cNvPr id="10243" name="Rectangle 3"/>
          <p:cNvSpPr>
            <a:spLocks noGrp="1" noChangeArrowheads="1"/>
          </p:cNvSpPr>
          <p:nvPr>
            <p:ph type="body" idx="4294967295"/>
          </p:nvPr>
        </p:nvSpPr>
        <p:spPr/>
        <p:txBody>
          <a:bodyPr>
            <a:normAutofit lnSpcReduction="10000"/>
          </a:bodyPr>
          <a:lstStyle/>
          <a:p>
            <a:pPr eaLnBrk="1" hangingPunct="1">
              <a:buFont typeface="Wingdings" panose="05000000000000000000" pitchFamily="2" charset="2"/>
              <a:buNone/>
            </a:pPr>
            <a:r>
              <a:rPr lang="en-US" altLang="zh-CN" sz="2400" dirty="0" smtClean="0"/>
              <a:t>[</a:t>
            </a:r>
            <a:r>
              <a:rPr lang="zh-CN" altLang="en-US" sz="2400" dirty="0" smtClean="0"/>
              <a:t>例</a:t>
            </a:r>
            <a:r>
              <a:rPr lang="en-US" altLang="zh-CN" sz="2400" dirty="0" smtClean="0"/>
              <a:t>3.71] </a:t>
            </a:r>
            <a:r>
              <a:rPr lang="zh-CN" altLang="en-US" sz="2400" dirty="0" smtClean="0"/>
              <a:t>插入一条选课记录</a:t>
            </a:r>
            <a:r>
              <a:rPr lang="en-US" altLang="zh-CN" sz="2400" dirty="0" smtClean="0"/>
              <a:t>（ '200215128'</a:t>
            </a:r>
            <a:r>
              <a:rPr lang="zh-CN" altLang="en-US" sz="2400" dirty="0" smtClean="0"/>
              <a:t>,</a:t>
            </a:r>
            <a:r>
              <a:rPr lang="en-US" altLang="zh-CN" sz="2400" dirty="0" smtClean="0"/>
              <a:t>'1 '）</a:t>
            </a:r>
            <a:r>
              <a:rPr lang="zh-CN" altLang="en-US" sz="2400" dirty="0" smtClean="0"/>
              <a:t>。</a:t>
            </a:r>
          </a:p>
          <a:p>
            <a:pPr eaLnBrk="1" hangingPunct="1">
              <a:buFont typeface="Wingdings" panose="05000000000000000000" pitchFamily="2" charset="2"/>
              <a:buNone/>
            </a:pPr>
            <a:r>
              <a:rPr lang="zh-CN" altLang="en-US" sz="2400" dirty="0" smtClean="0"/>
              <a:t>    </a:t>
            </a:r>
            <a:r>
              <a:rPr lang="en-US" altLang="zh-CN" sz="2400" dirty="0" smtClean="0"/>
              <a:t>INSERT</a:t>
            </a:r>
          </a:p>
          <a:p>
            <a:pPr eaLnBrk="1" hangingPunct="1">
              <a:buFont typeface="Wingdings" panose="05000000000000000000" pitchFamily="2" charset="2"/>
              <a:buNone/>
            </a:pPr>
            <a:r>
              <a:rPr lang="en-US" altLang="zh-CN" sz="2400" dirty="0" smtClean="0"/>
              <a:t>    INTO SC</a:t>
            </a:r>
            <a:r>
              <a:rPr lang="zh-CN" altLang="en-US" sz="2400" dirty="0" smtClean="0"/>
              <a:t>(</a:t>
            </a:r>
            <a:r>
              <a:rPr lang="en-US" altLang="zh-CN" sz="2400" dirty="0" err="1" smtClean="0"/>
              <a:t>Sno</a:t>
            </a:r>
            <a:r>
              <a:rPr lang="zh-CN" altLang="en-US" sz="2400" dirty="0" smtClean="0"/>
              <a:t>,</a:t>
            </a:r>
            <a:r>
              <a:rPr lang="en-US" altLang="zh-CN" sz="2400" dirty="0" err="1" smtClean="0"/>
              <a:t>Cno</a:t>
            </a:r>
            <a:r>
              <a:rPr lang="zh-CN" altLang="en-US" sz="2400" dirty="0" smtClean="0"/>
              <a:t>)</a:t>
            </a:r>
          </a:p>
          <a:p>
            <a:pPr eaLnBrk="1" hangingPunct="1">
              <a:buFont typeface="Wingdings" panose="05000000000000000000" pitchFamily="2" charset="2"/>
              <a:buNone/>
            </a:pPr>
            <a:r>
              <a:rPr lang="en-US" altLang="zh-CN" sz="2400" dirty="0" smtClean="0"/>
              <a:t>    VALUES </a:t>
            </a:r>
            <a:r>
              <a:rPr lang="zh-CN" altLang="en-US" sz="2400" dirty="0" smtClean="0"/>
              <a:t>('</a:t>
            </a:r>
            <a:r>
              <a:rPr lang="en-US" altLang="zh-CN" sz="2400" dirty="0" smtClean="0"/>
              <a:t>201215128 </a:t>
            </a:r>
            <a:r>
              <a:rPr lang="zh-CN" altLang="en-US" sz="2400" dirty="0" smtClean="0"/>
              <a:t>',' </a:t>
            </a:r>
            <a:r>
              <a:rPr lang="en-US" altLang="zh-CN" sz="2400" dirty="0" smtClean="0"/>
              <a:t>1 </a:t>
            </a:r>
            <a:r>
              <a:rPr lang="zh-CN" altLang="en-US" sz="2400" dirty="0" smtClean="0"/>
              <a:t>');</a:t>
            </a:r>
          </a:p>
          <a:p>
            <a:pPr eaLnBrk="1" hangingPunct="1">
              <a:buFont typeface="Wingdings" panose="05000000000000000000" pitchFamily="2" charset="2"/>
              <a:buNone/>
            </a:pPr>
            <a:r>
              <a:rPr lang="zh-CN" altLang="en-US" sz="2400" dirty="0" smtClean="0"/>
              <a:t>   关系数据库管理系统将在新插入记录的</a:t>
            </a:r>
            <a:r>
              <a:rPr lang="en-US" altLang="zh-CN" sz="2400" dirty="0" smtClean="0"/>
              <a:t>Grade</a:t>
            </a:r>
            <a:r>
              <a:rPr lang="zh-CN" altLang="en-US" sz="2400" dirty="0" smtClean="0"/>
              <a:t>列上自动地</a:t>
            </a:r>
            <a:endParaRPr lang="en-US" altLang="zh-CN" sz="2400" dirty="0" smtClean="0"/>
          </a:p>
          <a:p>
            <a:pPr eaLnBrk="1" hangingPunct="1">
              <a:buFont typeface="Wingdings" panose="05000000000000000000" pitchFamily="2" charset="2"/>
              <a:buNone/>
            </a:pPr>
            <a:r>
              <a:rPr lang="en-US" altLang="zh-CN" sz="2400" dirty="0" smtClean="0"/>
              <a:t>   </a:t>
            </a:r>
            <a:r>
              <a:rPr lang="zh-CN" altLang="en-US" sz="2400" dirty="0" smtClean="0"/>
              <a:t>赋空值。</a:t>
            </a:r>
          </a:p>
          <a:p>
            <a:pPr eaLnBrk="1" hangingPunct="1">
              <a:buFont typeface="Wingdings" panose="05000000000000000000" pitchFamily="2" charset="2"/>
              <a:buNone/>
            </a:pPr>
            <a:r>
              <a:rPr lang="zh-CN" altLang="en-US" sz="2400" dirty="0" smtClean="0"/>
              <a:t>   或者：</a:t>
            </a:r>
          </a:p>
          <a:p>
            <a:pPr eaLnBrk="1" hangingPunct="1">
              <a:buFont typeface="Wingdings" panose="05000000000000000000" pitchFamily="2" charset="2"/>
              <a:buNone/>
            </a:pPr>
            <a:r>
              <a:rPr lang="zh-CN" altLang="en-US" sz="2400" dirty="0" smtClean="0"/>
              <a:t>    </a:t>
            </a:r>
            <a:r>
              <a:rPr lang="en-US" altLang="zh-CN" sz="2400" dirty="0" smtClean="0"/>
              <a:t>INSERT</a:t>
            </a:r>
          </a:p>
          <a:p>
            <a:pPr eaLnBrk="1" hangingPunct="1">
              <a:buFont typeface="Wingdings" panose="05000000000000000000" pitchFamily="2" charset="2"/>
              <a:buNone/>
            </a:pPr>
            <a:r>
              <a:rPr lang="en-US" altLang="zh-CN" sz="2400" dirty="0" smtClean="0"/>
              <a:t>    INTO SC</a:t>
            </a:r>
          </a:p>
          <a:p>
            <a:pPr eaLnBrk="1" hangingPunct="1">
              <a:buFont typeface="Wingdings" panose="05000000000000000000" pitchFamily="2" charset="2"/>
              <a:buNone/>
            </a:pPr>
            <a:r>
              <a:rPr lang="en-US" altLang="zh-CN" sz="2400" dirty="0" smtClean="0"/>
              <a:t>    VALUES </a:t>
            </a:r>
            <a:r>
              <a:rPr lang="zh-CN" altLang="en-US" sz="2400" dirty="0" smtClean="0"/>
              <a:t>(</a:t>
            </a:r>
            <a:r>
              <a:rPr lang="en-US" altLang="zh-CN" sz="2400" dirty="0" smtClean="0"/>
              <a:t>' 201215128 '</a:t>
            </a:r>
            <a:r>
              <a:rPr lang="zh-CN" altLang="en-US" sz="2400" dirty="0" smtClean="0"/>
              <a:t>,</a:t>
            </a:r>
            <a:r>
              <a:rPr lang="en-US" altLang="zh-CN" sz="2400" dirty="0" smtClean="0"/>
              <a:t>' 1 '</a:t>
            </a:r>
            <a:r>
              <a:rPr lang="zh-CN" altLang="en-US" sz="2400" dirty="0" smtClean="0"/>
              <a:t>,</a:t>
            </a:r>
            <a:r>
              <a:rPr lang="en-US" altLang="zh-CN" sz="2400" dirty="0" smtClean="0"/>
              <a:t>NULL</a:t>
            </a:r>
            <a:r>
              <a:rPr lang="zh-CN" altLang="en-US" sz="2400" dirty="0" smtClean="0"/>
              <a:t>);</a:t>
            </a:r>
          </a:p>
        </p:txBody>
      </p:sp>
    </p:spTree>
    <p:extLst>
      <p:ext uri="{BB962C8B-B14F-4D97-AF65-F5344CB8AC3E}">
        <p14:creationId xmlns:p14="http://schemas.microsoft.com/office/powerpoint/2010/main" val="670973948"/>
      </p:ext>
    </p:extLst>
  </p:cSld>
  <p:clrMapOvr>
    <a:masterClrMapping/>
  </p:clrMapOvr>
  <p:timing>
    <p:tnLst>
      <p:par>
        <p:cTn id="1" dur="indefinite" restart="never" nodeType="tmRoot"/>
      </p:par>
    </p:tn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idx="4294967295"/>
          </p:nvPr>
        </p:nvSpPr>
        <p:spPr/>
        <p:txBody>
          <a:bodyPr/>
          <a:lstStyle/>
          <a:p>
            <a:pPr eaLnBrk="1" hangingPunct="1"/>
            <a:r>
              <a:rPr lang="zh-CN" altLang="en-US" sz="3600" dirty="0" smtClean="0"/>
              <a:t>插入子查询结果</a:t>
            </a:r>
          </a:p>
        </p:txBody>
      </p:sp>
      <p:sp>
        <p:nvSpPr>
          <p:cNvPr id="13315" name="Rectangle 3"/>
          <p:cNvSpPr>
            <a:spLocks noGrp="1" noChangeArrowheads="1"/>
          </p:cNvSpPr>
          <p:nvPr>
            <p:ph type="body" idx="4294967295"/>
          </p:nvPr>
        </p:nvSpPr>
        <p:spPr>
          <a:xfrm>
            <a:off x="250825" y="1325563"/>
            <a:ext cx="8893175" cy="5499100"/>
          </a:xfrm>
        </p:spPr>
        <p:txBody>
          <a:bodyPr>
            <a:normAutofit lnSpcReduction="10000"/>
          </a:bodyPr>
          <a:lstStyle/>
          <a:p>
            <a:pPr eaLnBrk="1" hangingPunct="1">
              <a:lnSpc>
                <a:spcPct val="120000"/>
              </a:lnSpc>
              <a:spcBef>
                <a:spcPct val="0"/>
              </a:spcBef>
              <a:buFont typeface="Wingdings" panose="05000000000000000000" pitchFamily="2" charset="2"/>
              <a:buNone/>
            </a:pPr>
            <a:r>
              <a:rPr lang="en-US" altLang="zh-CN" sz="2400" dirty="0" smtClean="0"/>
              <a:t>[</a:t>
            </a:r>
            <a:r>
              <a:rPr lang="zh-CN" altLang="en-US" sz="2400" dirty="0" smtClean="0"/>
              <a:t>例</a:t>
            </a:r>
            <a:r>
              <a:rPr lang="en-US" altLang="zh-CN" sz="2400" dirty="0" smtClean="0"/>
              <a:t>3.72]  </a:t>
            </a:r>
            <a:r>
              <a:rPr lang="zh-CN" altLang="en-US" sz="2400" dirty="0" smtClean="0"/>
              <a:t>对每一个系，求学生的平均年龄，并把结果存入数据库</a:t>
            </a:r>
            <a:endParaRPr lang="en-US" altLang="zh-CN" sz="2400" dirty="0" smtClean="0"/>
          </a:p>
          <a:p>
            <a:pPr eaLnBrk="1" hangingPunct="1">
              <a:lnSpc>
                <a:spcPct val="120000"/>
              </a:lnSpc>
              <a:spcBef>
                <a:spcPct val="0"/>
              </a:spcBef>
              <a:buFont typeface="Wingdings" panose="05000000000000000000" pitchFamily="2" charset="2"/>
              <a:buNone/>
            </a:pPr>
            <a:r>
              <a:rPr lang="zh-CN" altLang="en-US" sz="2400" dirty="0" smtClean="0"/>
              <a:t>第一步：建表</a:t>
            </a:r>
          </a:p>
          <a:p>
            <a:pPr eaLnBrk="1" hangingPunct="1">
              <a:lnSpc>
                <a:spcPct val="120000"/>
              </a:lnSpc>
              <a:spcBef>
                <a:spcPct val="0"/>
              </a:spcBef>
              <a:buFont typeface="Wingdings" panose="05000000000000000000" pitchFamily="2" charset="2"/>
              <a:buNone/>
            </a:pPr>
            <a:r>
              <a:rPr lang="zh-CN" altLang="en-US" sz="2200" dirty="0" smtClean="0"/>
              <a:t>     </a:t>
            </a:r>
            <a:r>
              <a:rPr lang="zh-CN" altLang="en-US" sz="2400" dirty="0" smtClean="0"/>
              <a:t> </a:t>
            </a:r>
            <a:r>
              <a:rPr lang="en-US" altLang="zh-CN" sz="2400" dirty="0" smtClean="0"/>
              <a:t>CREATE  TABLE  </a:t>
            </a:r>
            <a:r>
              <a:rPr lang="en-US" altLang="zh-CN" sz="2400" dirty="0" err="1" smtClean="0"/>
              <a:t>Dept_age</a:t>
            </a:r>
            <a:endParaRPr lang="en-US" altLang="zh-CN" sz="2400" dirty="0" smtClean="0"/>
          </a:p>
          <a:p>
            <a:pPr eaLnBrk="1" hangingPunct="1">
              <a:lnSpc>
                <a:spcPct val="120000"/>
              </a:lnSpc>
              <a:spcBef>
                <a:spcPct val="0"/>
              </a:spcBef>
              <a:buFont typeface="Wingdings" panose="05000000000000000000" pitchFamily="2" charset="2"/>
              <a:buNone/>
            </a:pPr>
            <a:r>
              <a:rPr lang="en-US" altLang="zh-CN" sz="2400" dirty="0" smtClean="0"/>
              <a:t>          </a:t>
            </a:r>
            <a:r>
              <a:rPr lang="zh-CN" altLang="en-US" sz="2400" dirty="0" smtClean="0"/>
              <a:t>( </a:t>
            </a:r>
            <a:r>
              <a:rPr lang="en-US" altLang="zh-CN" sz="2400" dirty="0" err="1" smtClean="0"/>
              <a:t>Sdept</a:t>
            </a:r>
            <a:r>
              <a:rPr lang="en-US" altLang="zh-CN" sz="2400" dirty="0" smtClean="0"/>
              <a:t>     CHAR</a:t>
            </a:r>
            <a:r>
              <a:rPr lang="zh-CN" altLang="en-US" sz="2400" dirty="0" smtClean="0"/>
              <a:t>(</a:t>
            </a:r>
            <a:r>
              <a:rPr lang="en-US" altLang="zh-CN" sz="2400" dirty="0" smtClean="0"/>
              <a:t>15</a:t>
            </a:r>
            <a:r>
              <a:rPr lang="zh-CN" altLang="en-US" sz="2400" dirty="0" smtClean="0"/>
              <a:t>)</a:t>
            </a:r>
            <a:r>
              <a:rPr lang="en-US" altLang="zh-CN" sz="2400" dirty="0" smtClean="0"/>
              <a:t>                     </a:t>
            </a:r>
            <a:r>
              <a:rPr lang="en-US" altLang="zh-CN" sz="2200" dirty="0" smtClean="0"/>
              <a:t>/*</a:t>
            </a:r>
            <a:r>
              <a:rPr lang="zh-CN" altLang="en-US" sz="2200" dirty="0" smtClean="0"/>
              <a:t>系名*</a:t>
            </a:r>
            <a:r>
              <a:rPr lang="en-US" altLang="zh-CN" sz="2200" dirty="0" smtClean="0"/>
              <a:t>/</a:t>
            </a:r>
          </a:p>
          <a:p>
            <a:pPr eaLnBrk="1" hangingPunct="1">
              <a:lnSpc>
                <a:spcPct val="120000"/>
              </a:lnSpc>
              <a:spcBef>
                <a:spcPct val="0"/>
              </a:spcBef>
              <a:buFont typeface="Wingdings" panose="05000000000000000000" pitchFamily="2" charset="2"/>
              <a:buNone/>
            </a:pPr>
            <a:r>
              <a:rPr lang="en-US" altLang="zh-CN" sz="2400" dirty="0" smtClean="0"/>
              <a:t>            </a:t>
            </a:r>
            <a:r>
              <a:rPr lang="en-US" altLang="zh-CN" sz="2400" dirty="0" err="1" smtClean="0"/>
              <a:t>Avg_age</a:t>
            </a:r>
            <a:r>
              <a:rPr lang="en-US" altLang="zh-CN" sz="2400" dirty="0" smtClean="0"/>
              <a:t> SMALLINT</a:t>
            </a:r>
            <a:r>
              <a:rPr lang="zh-CN" altLang="en-US" sz="2400" dirty="0" smtClean="0"/>
              <a:t>);</a:t>
            </a:r>
            <a:r>
              <a:rPr lang="zh-CN" altLang="en-US" sz="2200" dirty="0" smtClean="0"/>
              <a:t>          	</a:t>
            </a:r>
            <a:r>
              <a:rPr lang="en-US" altLang="zh-CN" sz="2200" dirty="0" smtClean="0"/>
              <a:t>/*</a:t>
            </a:r>
            <a:r>
              <a:rPr lang="zh-CN" altLang="en-US" sz="2200" dirty="0" smtClean="0"/>
              <a:t>学生平均年龄*</a:t>
            </a:r>
            <a:r>
              <a:rPr lang="en-US" altLang="zh-CN" sz="2200" dirty="0" smtClean="0"/>
              <a:t>/</a:t>
            </a:r>
          </a:p>
          <a:p>
            <a:pPr eaLnBrk="1" hangingPunct="1">
              <a:lnSpc>
                <a:spcPct val="120000"/>
              </a:lnSpc>
              <a:spcBef>
                <a:spcPct val="0"/>
              </a:spcBef>
              <a:buFont typeface="Wingdings" panose="05000000000000000000" pitchFamily="2" charset="2"/>
              <a:buNone/>
            </a:pPr>
            <a:r>
              <a:rPr lang="zh-CN" altLang="en-US" sz="2400" dirty="0" smtClean="0"/>
              <a:t>第二步：插入数据</a:t>
            </a:r>
          </a:p>
          <a:p>
            <a:pPr eaLnBrk="1" hangingPunct="1">
              <a:lnSpc>
                <a:spcPct val="120000"/>
              </a:lnSpc>
              <a:spcBef>
                <a:spcPct val="0"/>
              </a:spcBef>
              <a:buFont typeface="Wingdings" panose="05000000000000000000" pitchFamily="2" charset="2"/>
              <a:buNone/>
            </a:pPr>
            <a:r>
              <a:rPr lang="zh-CN" altLang="en-US" sz="2200" dirty="0" smtClean="0"/>
              <a:t>       </a:t>
            </a:r>
            <a:r>
              <a:rPr lang="zh-CN" altLang="en-US" sz="2400" dirty="0" smtClean="0"/>
              <a:t> </a:t>
            </a:r>
            <a:r>
              <a:rPr lang="en-US" altLang="zh-CN" sz="2400" dirty="0" smtClean="0"/>
              <a:t>INSERT</a:t>
            </a:r>
          </a:p>
          <a:p>
            <a:pPr eaLnBrk="1" hangingPunct="1">
              <a:lnSpc>
                <a:spcPct val="120000"/>
              </a:lnSpc>
              <a:spcBef>
                <a:spcPct val="0"/>
              </a:spcBef>
              <a:buFont typeface="Wingdings" panose="05000000000000000000" pitchFamily="2" charset="2"/>
              <a:buNone/>
            </a:pPr>
            <a:r>
              <a:rPr lang="en-US" altLang="zh-CN" sz="2400" dirty="0" smtClean="0"/>
              <a:t>       INTO  </a:t>
            </a:r>
            <a:r>
              <a:rPr lang="en-US" altLang="zh-CN" sz="2400" dirty="0" err="1" smtClean="0"/>
              <a:t>Dept_age</a:t>
            </a:r>
            <a:r>
              <a:rPr lang="zh-CN" altLang="en-US" sz="2400" dirty="0" smtClean="0"/>
              <a:t>(</a:t>
            </a:r>
            <a:r>
              <a:rPr lang="en-US" altLang="zh-CN" sz="2400" dirty="0" err="1" smtClean="0"/>
              <a:t>Sdept</a:t>
            </a:r>
            <a:r>
              <a:rPr lang="zh-CN" altLang="en-US" sz="2400" dirty="0" smtClean="0"/>
              <a:t>,</a:t>
            </a:r>
            <a:r>
              <a:rPr lang="en-US" altLang="zh-CN" sz="2400" dirty="0" err="1" smtClean="0"/>
              <a:t>Avg_age</a:t>
            </a:r>
            <a:r>
              <a:rPr lang="zh-CN" altLang="en-US" sz="2400" dirty="0" smtClean="0"/>
              <a:t>)</a:t>
            </a:r>
          </a:p>
          <a:p>
            <a:pPr eaLnBrk="1" hangingPunct="1">
              <a:lnSpc>
                <a:spcPct val="120000"/>
              </a:lnSpc>
              <a:spcBef>
                <a:spcPct val="0"/>
              </a:spcBef>
              <a:buFont typeface="Wingdings" panose="05000000000000000000" pitchFamily="2" charset="2"/>
              <a:buNone/>
            </a:pPr>
            <a:r>
              <a:rPr lang="en-US" altLang="zh-CN" sz="2400" dirty="0" smtClean="0"/>
              <a:t>              SELECT  </a:t>
            </a:r>
            <a:r>
              <a:rPr lang="en-US" altLang="zh-CN" sz="2400" dirty="0" err="1" smtClean="0"/>
              <a:t>Sdept</a:t>
            </a:r>
            <a:r>
              <a:rPr lang="zh-CN" altLang="en-US" sz="2400" dirty="0" smtClean="0"/>
              <a:t>，</a:t>
            </a:r>
            <a:r>
              <a:rPr lang="en-US" altLang="zh-CN" sz="2400" dirty="0" smtClean="0"/>
              <a:t>AVG</a:t>
            </a:r>
            <a:r>
              <a:rPr lang="zh-CN" altLang="en-US" sz="2400" dirty="0" smtClean="0"/>
              <a:t>(</a:t>
            </a:r>
            <a:r>
              <a:rPr lang="en-US" altLang="zh-CN" sz="2400" dirty="0" smtClean="0"/>
              <a:t>Sage</a:t>
            </a:r>
            <a:r>
              <a:rPr lang="zh-CN" altLang="en-US" sz="2400" dirty="0" smtClean="0"/>
              <a:t>)</a:t>
            </a:r>
          </a:p>
          <a:p>
            <a:pPr eaLnBrk="1" hangingPunct="1">
              <a:lnSpc>
                <a:spcPct val="120000"/>
              </a:lnSpc>
              <a:spcBef>
                <a:spcPct val="0"/>
              </a:spcBef>
              <a:buFont typeface="Wingdings" panose="05000000000000000000" pitchFamily="2" charset="2"/>
              <a:buNone/>
            </a:pPr>
            <a:r>
              <a:rPr lang="en-US" altLang="zh-CN" sz="2400" dirty="0" smtClean="0"/>
              <a:t>              FROM     Student</a:t>
            </a:r>
          </a:p>
          <a:p>
            <a:pPr eaLnBrk="1" hangingPunct="1">
              <a:lnSpc>
                <a:spcPct val="120000"/>
              </a:lnSpc>
              <a:spcBef>
                <a:spcPct val="0"/>
              </a:spcBef>
              <a:buFont typeface="Wingdings" panose="05000000000000000000" pitchFamily="2" charset="2"/>
              <a:buNone/>
            </a:pPr>
            <a:r>
              <a:rPr lang="en-US" altLang="zh-CN" sz="2400" dirty="0" smtClean="0"/>
              <a:t>              GROUP BY </a:t>
            </a:r>
            <a:r>
              <a:rPr lang="en-US" altLang="zh-CN" sz="2400" dirty="0" err="1" smtClean="0"/>
              <a:t>Sdept</a:t>
            </a:r>
            <a:r>
              <a:rPr lang="zh-CN" altLang="en-US" sz="2400" dirty="0" smtClean="0"/>
              <a:t>;</a:t>
            </a:r>
          </a:p>
          <a:p>
            <a:pPr eaLnBrk="1" hangingPunct="1">
              <a:lnSpc>
                <a:spcPct val="80000"/>
              </a:lnSpc>
              <a:buFont typeface="Wingdings" panose="05000000000000000000" pitchFamily="2" charset="2"/>
              <a:buNone/>
            </a:pPr>
            <a:endParaRPr lang="en-US" altLang="zh-CN" sz="2400" dirty="0" smtClean="0"/>
          </a:p>
          <a:p>
            <a:pPr eaLnBrk="1" hangingPunct="1">
              <a:lnSpc>
                <a:spcPct val="80000"/>
              </a:lnSpc>
              <a:buFont typeface="Wingdings" panose="05000000000000000000" pitchFamily="2" charset="2"/>
              <a:buNone/>
            </a:pPr>
            <a:r>
              <a:rPr lang="en-US" altLang="zh-CN" sz="2400" dirty="0" smtClean="0"/>
              <a:t>                                         </a:t>
            </a:r>
          </a:p>
        </p:txBody>
      </p:sp>
    </p:spTree>
    <p:extLst>
      <p:ext uri="{BB962C8B-B14F-4D97-AF65-F5344CB8AC3E}">
        <p14:creationId xmlns:p14="http://schemas.microsoft.com/office/powerpoint/2010/main" val="92701020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Rectangle 2"/>
          <p:cNvSpPr>
            <a:spLocks noGrp="1" noChangeArrowheads="1"/>
          </p:cNvSpPr>
          <p:nvPr>
            <p:ph type="title" idx="4294967295"/>
          </p:nvPr>
        </p:nvSpPr>
        <p:spPr/>
        <p:txBody>
          <a:bodyPr/>
          <a:lstStyle/>
          <a:p>
            <a:pPr eaLnBrk="1" hangingPunct="1"/>
            <a:r>
              <a:rPr lang="en-US" altLang="zh-CN" sz="3600" dirty="0" smtClean="0"/>
              <a:t>4  </a:t>
            </a:r>
            <a:r>
              <a:rPr lang="zh-CN" altLang="en-US" sz="3600" dirty="0" smtClean="0"/>
              <a:t>修改数据</a:t>
            </a:r>
          </a:p>
        </p:txBody>
      </p:sp>
      <p:sp>
        <p:nvSpPr>
          <p:cNvPr id="16387" name="Rectangle 3"/>
          <p:cNvSpPr>
            <a:spLocks noGrp="1" noChangeArrowheads="1"/>
          </p:cNvSpPr>
          <p:nvPr>
            <p:ph type="body" idx="4294967295"/>
          </p:nvPr>
        </p:nvSpPr>
        <p:spPr>
          <a:xfrm>
            <a:off x="611188" y="1268413"/>
            <a:ext cx="8153400" cy="4114800"/>
          </a:xfrm>
        </p:spPr>
        <p:txBody>
          <a:bodyPr>
            <a:normAutofit fontScale="92500" lnSpcReduction="10000"/>
          </a:bodyPr>
          <a:lstStyle/>
          <a:p>
            <a:pPr eaLnBrk="1" hangingPunct="1">
              <a:lnSpc>
                <a:spcPct val="90000"/>
              </a:lnSpc>
            </a:pPr>
            <a:r>
              <a:rPr lang="zh-CN" altLang="en-US" dirty="0" smtClean="0"/>
              <a:t>语句格式</a:t>
            </a:r>
          </a:p>
          <a:p>
            <a:pPr eaLnBrk="1" hangingPunct="1">
              <a:lnSpc>
                <a:spcPct val="90000"/>
              </a:lnSpc>
              <a:buFont typeface="Wingdings" panose="05000000000000000000" pitchFamily="2" charset="2"/>
              <a:buNone/>
            </a:pPr>
            <a:r>
              <a:rPr lang="zh-CN" altLang="en-US" dirty="0" smtClean="0"/>
              <a:t>   </a:t>
            </a:r>
            <a:r>
              <a:rPr lang="en-US" altLang="zh-CN" sz="2400" dirty="0" smtClean="0"/>
              <a:t>UPDATE  &lt;</a:t>
            </a:r>
            <a:r>
              <a:rPr lang="zh-CN" altLang="en-US" sz="2400" dirty="0" smtClean="0"/>
              <a:t>表名</a:t>
            </a:r>
            <a:r>
              <a:rPr lang="en-US" altLang="zh-CN" sz="2400" dirty="0" smtClean="0"/>
              <a:t>&gt;</a:t>
            </a:r>
          </a:p>
          <a:p>
            <a:pPr eaLnBrk="1" hangingPunct="1">
              <a:lnSpc>
                <a:spcPct val="90000"/>
              </a:lnSpc>
              <a:buFont typeface="Wingdings" panose="05000000000000000000" pitchFamily="2" charset="2"/>
              <a:buNone/>
            </a:pPr>
            <a:r>
              <a:rPr lang="en-US" altLang="zh-CN" sz="2400" dirty="0" smtClean="0"/>
              <a:t>    SET  &lt;</a:t>
            </a:r>
            <a:r>
              <a:rPr lang="zh-CN" altLang="en-US" sz="2400" dirty="0" smtClean="0"/>
              <a:t>列名</a:t>
            </a:r>
            <a:r>
              <a:rPr lang="en-US" altLang="zh-CN" sz="2400" dirty="0" smtClean="0"/>
              <a:t>&gt;=&lt;</a:t>
            </a:r>
            <a:r>
              <a:rPr lang="zh-CN" altLang="en-US" sz="2400" dirty="0" smtClean="0"/>
              <a:t>表达式</a:t>
            </a:r>
            <a:r>
              <a:rPr lang="en-US" altLang="zh-CN" sz="2400" dirty="0" smtClean="0"/>
              <a:t>&gt;[,&lt;</a:t>
            </a:r>
            <a:r>
              <a:rPr lang="zh-CN" altLang="en-US" sz="2400" dirty="0" smtClean="0"/>
              <a:t>列名</a:t>
            </a:r>
            <a:r>
              <a:rPr lang="en-US" altLang="zh-CN" sz="2400" dirty="0" smtClean="0"/>
              <a:t>&gt;=&lt;</a:t>
            </a:r>
            <a:r>
              <a:rPr lang="zh-CN" altLang="en-US" sz="2400" dirty="0" smtClean="0"/>
              <a:t>表达式</a:t>
            </a:r>
            <a:r>
              <a:rPr lang="en-US" altLang="zh-CN" sz="2400" dirty="0" smtClean="0"/>
              <a:t>&gt;]…</a:t>
            </a:r>
          </a:p>
          <a:p>
            <a:pPr eaLnBrk="1" hangingPunct="1">
              <a:lnSpc>
                <a:spcPct val="90000"/>
              </a:lnSpc>
              <a:buFont typeface="Wingdings" panose="05000000000000000000" pitchFamily="2" charset="2"/>
              <a:buNone/>
            </a:pPr>
            <a:r>
              <a:rPr lang="en-US" altLang="zh-CN" sz="2400" dirty="0" smtClean="0"/>
              <a:t>    [WHERE &lt;</a:t>
            </a:r>
            <a:r>
              <a:rPr lang="zh-CN" altLang="en-US" sz="2400" dirty="0" smtClean="0"/>
              <a:t>条件</a:t>
            </a:r>
            <a:r>
              <a:rPr lang="en-US" altLang="zh-CN" sz="2400" dirty="0" smtClean="0"/>
              <a:t>&gt;]</a:t>
            </a:r>
            <a:r>
              <a:rPr lang="zh-CN" altLang="en-US" sz="2400" dirty="0" smtClean="0"/>
              <a:t>;</a:t>
            </a:r>
            <a:endParaRPr lang="en-US" altLang="zh-CN" sz="2400" dirty="0" smtClean="0"/>
          </a:p>
          <a:p>
            <a:pPr algn="just">
              <a:lnSpc>
                <a:spcPct val="150000"/>
              </a:lnSpc>
              <a:buNone/>
            </a:pPr>
            <a:r>
              <a:rPr lang="en-US" altLang="zh-CN" sz="2400" dirty="0"/>
              <a:t>[</a:t>
            </a:r>
            <a:r>
              <a:rPr lang="zh-CN" altLang="en-US" sz="2400" dirty="0">
                <a:ea typeface="黑体" panose="02010609060101010101" pitchFamily="49" charset="-122"/>
              </a:rPr>
              <a:t>例</a:t>
            </a:r>
            <a:r>
              <a:rPr lang="en-US" altLang="zh-CN" sz="2400" dirty="0"/>
              <a:t>3.73]  </a:t>
            </a:r>
            <a:r>
              <a:rPr lang="zh-CN" altLang="en-US" sz="2400" dirty="0"/>
              <a:t>将学生</a:t>
            </a:r>
            <a:r>
              <a:rPr lang="en-US" altLang="zh-CN" sz="2400" dirty="0"/>
              <a:t>201215121</a:t>
            </a:r>
            <a:r>
              <a:rPr lang="zh-CN" altLang="en-US" sz="2400" dirty="0"/>
              <a:t>的年龄改为</a:t>
            </a:r>
            <a:r>
              <a:rPr lang="en-US" altLang="zh-CN" sz="2400" dirty="0"/>
              <a:t>22</a:t>
            </a:r>
            <a:r>
              <a:rPr lang="zh-CN" altLang="en-US" sz="2400" dirty="0"/>
              <a:t>岁</a:t>
            </a:r>
          </a:p>
          <a:p>
            <a:pPr algn="just">
              <a:lnSpc>
                <a:spcPct val="150000"/>
              </a:lnSpc>
              <a:buNone/>
            </a:pPr>
            <a:r>
              <a:rPr lang="zh-CN" altLang="en-US" sz="2400" dirty="0" smtClean="0"/>
              <a:t>         </a:t>
            </a:r>
            <a:r>
              <a:rPr lang="en-US" altLang="zh-CN" sz="2400" dirty="0"/>
              <a:t>UPDATE  Student</a:t>
            </a:r>
          </a:p>
          <a:p>
            <a:pPr algn="just">
              <a:lnSpc>
                <a:spcPct val="150000"/>
              </a:lnSpc>
              <a:buNone/>
            </a:pPr>
            <a:r>
              <a:rPr lang="en-US" altLang="zh-CN" sz="2400" dirty="0"/>
              <a:t>         SET Sage=22</a:t>
            </a:r>
          </a:p>
          <a:p>
            <a:pPr algn="just">
              <a:lnSpc>
                <a:spcPct val="150000"/>
              </a:lnSpc>
              <a:buNone/>
            </a:pPr>
            <a:r>
              <a:rPr lang="en-US" altLang="zh-CN" sz="2400" dirty="0"/>
              <a:t>         WHERE  </a:t>
            </a:r>
            <a:r>
              <a:rPr lang="en-US" altLang="zh-CN" sz="2400" dirty="0" err="1"/>
              <a:t>Sno</a:t>
            </a:r>
            <a:r>
              <a:rPr lang="en-US" altLang="zh-CN" sz="2400" dirty="0"/>
              <a:t>=' 201215121 '</a:t>
            </a:r>
            <a:r>
              <a:rPr lang="zh-CN" altLang="en-US" sz="2400" dirty="0"/>
              <a:t>; </a:t>
            </a:r>
          </a:p>
          <a:p>
            <a:pPr eaLnBrk="1" hangingPunct="1">
              <a:lnSpc>
                <a:spcPct val="90000"/>
              </a:lnSpc>
              <a:buFont typeface="Wingdings" panose="05000000000000000000" pitchFamily="2" charset="2"/>
              <a:buNone/>
            </a:pPr>
            <a:endParaRPr lang="zh-CN" altLang="en-US" sz="2400" dirty="0" smtClean="0"/>
          </a:p>
          <a:p>
            <a:pPr lvl="1">
              <a:lnSpc>
                <a:spcPct val="90000"/>
              </a:lnSpc>
              <a:buFont typeface="Wingdings" panose="05000000000000000000" pitchFamily="2" charset="2"/>
              <a:buNone/>
            </a:pPr>
            <a:endParaRPr lang="zh-CN" altLang="en-US" dirty="0" smtClean="0"/>
          </a:p>
        </p:txBody>
      </p:sp>
    </p:spTree>
    <p:extLst>
      <p:ext uri="{BB962C8B-B14F-4D97-AF65-F5344CB8AC3E}">
        <p14:creationId xmlns:p14="http://schemas.microsoft.com/office/powerpoint/2010/main" val="766774163"/>
      </p:ext>
    </p:extLst>
  </p:cSld>
  <p:clrMapOvr>
    <a:masterClrMapping/>
  </p:clrMapOvr>
  <p:timing>
    <p:tnLst>
      <p:par>
        <p:cTn id="1" dur="indefinite" restart="never" nodeType="tmRoot"/>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34" name="标题 1"/>
          <p:cNvSpPr>
            <a:spLocks noGrp="1"/>
          </p:cNvSpPr>
          <p:nvPr>
            <p:ph type="title"/>
          </p:nvPr>
        </p:nvSpPr>
        <p:spPr/>
        <p:txBody>
          <a:bodyPr/>
          <a:lstStyle/>
          <a:p>
            <a:r>
              <a:rPr lang="en-US" altLang="zh-CN" smtClean="0"/>
              <a:t>CON…</a:t>
            </a:r>
            <a:endParaRPr lang="zh-CN" altLang="en-US" smtClean="0"/>
          </a:p>
        </p:txBody>
      </p:sp>
      <p:sp>
        <p:nvSpPr>
          <p:cNvPr id="197635" name="内容占位符 2"/>
          <p:cNvSpPr>
            <a:spLocks noGrp="1"/>
          </p:cNvSpPr>
          <p:nvPr>
            <p:ph idx="1"/>
          </p:nvPr>
        </p:nvSpPr>
        <p:spPr/>
        <p:txBody>
          <a:bodyPr/>
          <a:lstStyle/>
          <a:p>
            <a:pPr>
              <a:tabLst>
                <a:tab pos="2336800" algn="l"/>
              </a:tabLst>
            </a:pPr>
            <a:r>
              <a:rPr lang="en-US" altLang="zh-CN" dirty="0" smtClean="0">
                <a:ea typeface="宋体" panose="02010600030101010101" pitchFamily="2" charset="-122"/>
              </a:rPr>
              <a:t>Increase all students with GPA over 3.5 by 6%, all other students receive 5%.</a:t>
            </a:r>
          </a:p>
          <a:p>
            <a:pPr lvl="1">
              <a:buFont typeface="Monotype Sorts" pitchFamily="2" charset="2"/>
              <a:buNone/>
              <a:tabLst>
                <a:tab pos="2336800" algn="l"/>
              </a:tabLst>
            </a:pPr>
            <a:r>
              <a:rPr lang="en-US" altLang="zh-CN" dirty="0" smtClean="0">
                <a:ea typeface="宋体" panose="02010600030101010101" pitchFamily="2" charset="-122"/>
              </a:rPr>
              <a:t>		</a:t>
            </a:r>
            <a:r>
              <a:rPr lang="en-US" altLang="zh-CN" b="1" dirty="0" smtClean="0">
                <a:ea typeface="宋体" panose="02010600030101010101" pitchFamily="2" charset="-122"/>
              </a:rPr>
              <a:t>update</a:t>
            </a:r>
            <a:r>
              <a:rPr lang="en-US" altLang="zh-CN" i="1" dirty="0" smtClean="0">
                <a:ea typeface="宋体" panose="02010600030101010101" pitchFamily="2" charset="-122"/>
              </a:rPr>
              <a:t> student</a:t>
            </a:r>
            <a:br>
              <a:rPr lang="en-US" altLang="zh-CN" i="1" dirty="0" smtClean="0">
                <a:ea typeface="宋体" panose="02010600030101010101" pitchFamily="2" charset="-122"/>
              </a:rPr>
            </a:br>
            <a:r>
              <a:rPr lang="en-US" altLang="zh-CN" i="1" dirty="0" smtClean="0">
                <a:ea typeface="宋体" panose="02010600030101010101" pitchFamily="2" charset="-122"/>
              </a:rPr>
              <a:t>	</a:t>
            </a:r>
            <a:r>
              <a:rPr lang="en-US" altLang="zh-CN" b="1" dirty="0" smtClean="0">
                <a:ea typeface="宋体" panose="02010600030101010101" pitchFamily="2" charset="-122"/>
              </a:rPr>
              <a:t>set </a:t>
            </a:r>
            <a:r>
              <a:rPr lang="en-US" altLang="zh-CN" i="1" dirty="0" err="1" smtClean="0">
                <a:ea typeface="宋体" panose="02010600030101010101" pitchFamily="2" charset="-122"/>
              </a:rPr>
              <a:t>gpa</a:t>
            </a:r>
            <a:r>
              <a:rPr lang="en-US" altLang="zh-CN" i="1" dirty="0" smtClean="0">
                <a:ea typeface="宋体" panose="02010600030101010101" pitchFamily="2" charset="-122"/>
              </a:rPr>
              <a:t>= </a:t>
            </a:r>
            <a:r>
              <a:rPr lang="en-US" altLang="zh-CN" i="1" dirty="0" err="1" smtClean="0">
                <a:ea typeface="宋体" panose="02010600030101010101" pitchFamily="2" charset="-122"/>
              </a:rPr>
              <a:t>gpa</a:t>
            </a:r>
            <a:r>
              <a:rPr lang="en-US" altLang="zh-CN" dirty="0" smtClean="0">
                <a:ea typeface="宋体" panose="02010600030101010101" pitchFamily="2" charset="-122"/>
                <a:sym typeface="Symbol" panose="05050102010706020507" pitchFamily="18" charset="2"/>
              </a:rPr>
              <a:t> 1.06</a:t>
            </a:r>
            <a:br>
              <a:rPr lang="en-US" altLang="zh-CN" dirty="0" smtClean="0">
                <a:ea typeface="宋体" panose="02010600030101010101" pitchFamily="2" charset="-122"/>
                <a:sym typeface="Symbol" panose="05050102010706020507" pitchFamily="18" charset="2"/>
              </a:rPr>
            </a:br>
            <a:r>
              <a:rPr lang="en-US" altLang="zh-CN" dirty="0" smtClean="0">
                <a:ea typeface="宋体" panose="02010600030101010101" pitchFamily="2" charset="-122"/>
                <a:sym typeface="Symbol" panose="05050102010706020507" pitchFamily="18" charset="2"/>
              </a:rPr>
              <a:t>	</a:t>
            </a:r>
            <a:r>
              <a:rPr lang="en-US" altLang="zh-CN" b="1" dirty="0" smtClean="0">
                <a:ea typeface="宋体" panose="02010600030101010101" pitchFamily="2" charset="-122"/>
                <a:sym typeface="Symbol" panose="05050102010706020507" pitchFamily="18" charset="2"/>
              </a:rPr>
              <a:t>where </a:t>
            </a:r>
            <a:r>
              <a:rPr lang="en-US" altLang="zh-CN" i="1" dirty="0" err="1" smtClean="0">
                <a:ea typeface="宋体" panose="02010600030101010101" pitchFamily="2" charset="-122"/>
                <a:sym typeface="Symbol" panose="05050102010706020507" pitchFamily="18" charset="2"/>
              </a:rPr>
              <a:t>gpa</a:t>
            </a:r>
            <a:r>
              <a:rPr lang="en-US" altLang="zh-CN" dirty="0" smtClean="0">
                <a:ea typeface="宋体" panose="02010600030101010101" pitchFamily="2" charset="-122"/>
                <a:sym typeface="Symbol" panose="05050102010706020507" pitchFamily="18" charset="2"/>
              </a:rPr>
              <a:t>&gt; 3.5</a:t>
            </a:r>
          </a:p>
          <a:p>
            <a:pPr lvl="1">
              <a:buFont typeface="Monotype Sorts" pitchFamily="2" charset="2"/>
              <a:buNone/>
              <a:tabLst>
                <a:tab pos="2336800" algn="l"/>
              </a:tabLst>
            </a:pPr>
            <a:endParaRPr lang="en-US" altLang="zh-CN" dirty="0" smtClean="0">
              <a:ea typeface="宋体" panose="02010600030101010101" pitchFamily="2" charset="-122"/>
              <a:sym typeface="Symbol" panose="05050102010706020507" pitchFamily="18" charset="2"/>
            </a:endParaRPr>
          </a:p>
          <a:p>
            <a:pPr lvl="1">
              <a:buFont typeface="Monotype Sorts" pitchFamily="2" charset="2"/>
              <a:buNone/>
              <a:tabLst>
                <a:tab pos="2336800" algn="l"/>
              </a:tabLst>
            </a:pPr>
            <a:r>
              <a:rPr lang="en-US" altLang="zh-CN" dirty="0" smtClean="0">
                <a:ea typeface="宋体" panose="02010600030101010101" pitchFamily="2" charset="-122"/>
                <a:sym typeface="Symbol" panose="05050102010706020507" pitchFamily="18" charset="2"/>
              </a:rPr>
              <a:t>		</a:t>
            </a:r>
            <a:r>
              <a:rPr lang="en-US" altLang="zh-CN" b="1" dirty="0" smtClean="0">
                <a:ea typeface="宋体" panose="02010600030101010101" pitchFamily="2" charset="-122"/>
                <a:sym typeface="Symbol" panose="05050102010706020507" pitchFamily="18" charset="2"/>
              </a:rPr>
              <a:t>update </a:t>
            </a:r>
            <a:r>
              <a:rPr lang="en-US" altLang="zh-CN" i="1" dirty="0" smtClean="0">
                <a:ea typeface="宋体" panose="02010600030101010101" pitchFamily="2" charset="-122"/>
                <a:sym typeface="Symbol" panose="05050102010706020507" pitchFamily="18" charset="2"/>
              </a:rPr>
              <a:t>student</a:t>
            </a:r>
            <a:br>
              <a:rPr lang="en-US" altLang="zh-CN" i="1" dirty="0" smtClean="0">
                <a:ea typeface="宋体" panose="02010600030101010101" pitchFamily="2" charset="-122"/>
                <a:sym typeface="Symbol" panose="05050102010706020507" pitchFamily="18" charset="2"/>
              </a:rPr>
            </a:br>
            <a:r>
              <a:rPr lang="en-US" altLang="zh-CN" i="1" dirty="0" smtClean="0">
                <a:ea typeface="宋体" panose="02010600030101010101" pitchFamily="2" charset="-122"/>
                <a:sym typeface="Symbol" panose="05050102010706020507" pitchFamily="18" charset="2"/>
              </a:rPr>
              <a:t>	</a:t>
            </a:r>
            <a:r>
              <a:rPr lang="en-US" altLang="zh-CN" b="1" dirty="0" smtClean="0">
                <a:ea typeface="宋体" panose="02010600030101010101" pitchFamily="2" charset="-122"/>
                <a:sym typeface="Symbol" panose="05050102010706020507" pitchFamily="18" charset="2"/>
              </a:rPr>
              <a:t>set</a:t>
            </a:r>
            <a:r>
              <a:rPr lang="en-US" altLang="zh-CN" i="1" dirty="0" smtClean="0">
                <a:ea typeface="宋体" panose="02010600030101010101" pitchFamily="2" charset="-122"/>
                <a:sym typeface="Symbol" panose="05050102010706020507" pitchFamily="18" charset="2"/>
              </a:rPr>
              <a:t> </a:t>
            </a:r>
            <a:r>
              <a:rPr lang="en-US" altLang="zh-CN" i="1" dirty="0" err="1" smtClean="0">
                <a:ea typeface="宋体" panose="02010600030101010101" pitchFamily="2" charset="-122"/>
              </a:rPr>
              <a:t>gpa</a:t>
            </a:r>
            <a:r>
              <a:rPr lang="en-US" altLang="zh-CN" i="1" dirty="0" smtClean="0">
                <a:ea typeface="宋体" panose="02010600030101010101" pitchFamily="2" charset="-122"/>
              </a:rPr>
              <a:t> </a:t>
            </a:r>
            <a:r>
              <a:rPr lang="en-US" altLang="zh-CN" i="1" dirty="0" smtClean="0">
                <a:ea typeface="宋体" panose="02010600030101010101" pitchFamily="2" charset="-122"/>
                <a:sym typeface="Symbol" panose="05050102010706020507" pitchFamily="18" charset="2"/>
              </a:rPr>
              <a:t>= </a:t>
            </a:r>
            <a:r>
              <a:rPr lang="en-US" altLang="zh-CN" i="1" dirty="0" err="1" smtClean="0">
                <a:ea typeface="宋体" panose="02010600030101010101" pitchFamily="2" charset="-122"/>
              </a:rPr>
              <a:t>gpa</a:t>
            </a:r>
            <a:r>
              <a:rPr lang="en-US" altLang="zh-CN" i="1" dirty="0" smtClean="0">
                <a:ea typeface="宋体" panose="02010600030101010101" pitchFamily="2" charset="-122"/>
              </a:rPr>
              <a:t> </a:t>
            </a:r>
            <a:r>
              <a:rPr lang="en-US" altLang="zh-CN" dirty="0" smtClean="0">
                <a:ea typeface="宋体" panose="02010600030101010101" pitchFamily="2" charset="-122"/>
                <a:sym typeface="Symbol" panose="05050102010706020507" pitchFamily="18" charset="2"/>
              </a:rPr>
              <a:t> 1.05</a:t>
            </a:r>
            <a:br>
              <a:rPr lang="en-US" altLang="zh-CN" dirty="0" smtClean="0">
                <a:ea typeface="宋体" panose="02010600030101010101" pitchFamily="2" charset="-122"/>
                <a:sym typeface="Symbol" panose="05050102010706020507" pitchFamily="18" charset="2"/>
              </a:rPr>
            </a:br>
            <a:r>
              <a:rPr lang="en-US" altLang="zh-CN" dirty="0" smtClean="0">
                <a:ea typeface="宋体" panose="02010600030101010101" pitchFamily="2" charset="-122"/>
                <a:sym typeface="Symbol" panose="05050102010706020507" pitchFamily="18" charset="2"/>
              </a:rPr>
              <a:t>	</a:t>
            </a:r>
            <a:r>
              <a:rPr lang="en-US" altLang="zh-CN" b="1" dirty="0" smtClean="0">
                <a:ea typeface="宋体" panose="02010600030101010101" pitchFamily="2" charset="-122"/>
                <a:sym typeface="Symbol" panose="05050102010706020507" pitchFamily="18" charset="2"/>
              </a:rPr>
              <a:t>where </a:t>
            </a:r>
            <a:r>
              <a:rPr lang="en-US" altLang="zh-CN" i="1" dirty="0" err="1" smtClean="0">
                <a:ea typeface="宋体" panose="02010600030101010101" pitchFamily="2" charset="-122"/>
              </a:rPr>
              <a:t>gpa</a:t>
            </a:r>
            <a:r>
              <a:rPr lang="en-US" altLang="zh-CN" i="1" dirty="0" smtClean="0">
                <a:ea typeface="宋体" panose="02010600030101010101" pitchFamily="2" charset="-122"/>
              </a:rPr>
              <a:t> </a:t>
            </a:r>
            <a:r>
              <a:rPr lang="en-US" altLang="zh-CN" dirty="0" smtClean="0">
                <a:ea typeface="宋体" panose="02010600030101010101" pitchFamily="2" charset="-122"/>
                <a:sym typeface="Symbol" panose="05050102010706020507" pitchFamily="18" charset="2"/>
              </a:rPr>
              <a:t> 3.5</a:t>
            </a:r>
          </a:p>
          <a:p>
            <a:pPr>
              <a:buFont typeface="Wingdings" panose="05000000000000000000" pitchFamily="2" charset="2"/>
              <a:buNone/>
              <a:tabLst>
                <a:tab pos="2336800" algn="l"/>
              </a:tabLst>
            </a:pPr>
            <a:endParaRPr lang="zh-CN" altLang="en-US" dirty="0" smtClean="0">
              <a:ea typeface="宋体" panose="02010600030101010101" pitchFamily="2" charset="-122"/>
            </a:endParaRPr>
          </a:p>
        </p:txBody>
      </p:sp>
    </p:spTree>
    <p:extLst>
      <p:ext uri="{BB962C8B-B14F-4D97-AF65-F5344CB8AC3E}">
        <p14:creationId xmlns:p14="http://schemas.microsoft.com/office/powerpoint/2010/main" val="2333225342"/>
      </p:ext>
    </p:extLst>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97635">
                                            <p:txEl>
                                              <p:pRg st="1" end="1"/>
                                            </p:txEl>
                                          </p:spTgt>
                                        </p:tgtEl>
                                        <p:attrNameLst>
                                          <p:attrName>style.visibility</p:attrName>
                                        </p:attrNameLst>
                                      </p:cBhvr>
                                      <p:to>
                                        <p:strVal val="visible"/>
                                      </p:to>
                                    </p:set>
                                    <p:animEffect transition="in" filter="blinds(horizontal)">
                                      <p:cBhvr>
                                        <p:cTn id="7" dur="500"/>
                                        <p:tgtEl>
                                          <p:spTgt spid="197635">
                                            <p:txEl>
                                              <p:pRg st="1" end="1"/>
                                            </p:txEl>
                                          </p:spTgt>
                                        </p:tgtEl>
                                      </p:cBhvr>
                                    </p:animEffect>
                                  </p:childTnLst>
                                </p:cTn>
                              </p:par>
                              <p:par>
                                <p:cTn id="8" presetID="3" presetClass="entr" presetSubtype="10" fill="hold" nodeType="withEffect">
                                  <p:stCondLst>
                                    <p:cond delay="0"/>
                                  </p:stCondLst>
                                  <p:childTnLst>
                                    <p:set>
                                      <p:cBhvr>
                                        <p:cTn id="9" dur="1" fill="hold">
                                          <p:stCondLst>
                                            <p:cond delay="0"/>
                                          </p:stCondLst>
                                        </p:cTn>
                                        <p:tgtEl>
                                          <p:spTgt spid="197635">
                                            <p:txEl>
                                              <p:pRg st="3" end="3"/>
                                            </p:txEl>
                                          </p:spTgt>
                                        </p:tgtEl>
                                        <p:attrNameLst>
                                          <p:attrName>style.visibility</p:attrName>
                                        </p:attrNameLst>
                                      </p:cBhvr>
                                      <p:to>
                                        <p:strVal val="visible"/>
                                      </p:to>
                                    </p:set>
                                    <p:animEffect transition="in" filter="blinds(horizontal)">
                                      <p:cBhvr>
                                        <p:cTn id="10" dur="500"/>
                                        <p:tgtEl>
                                          <p:spTgt spid="197635">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idx="4294967295"/>
          </p:nvPr>
        </p:nvSpPr>
        <p:spPr/>
        <p:txBody>
          <a:bodyPr/>
          <a:lstStyle/>
          <a:p>
            <a:pPr eaLnBrk="1" hangingPunct="1"/>
            <a:r>
              <a:rPr lang="en-US" altLang="zh-CN" sz="3600" dirty="0" smtClean="0">
                <a:ea typeface="黑体" panose="02010609060101010101" pitchFamily="49" charset="-122"/>
              </a:rPr>
              <a:t>5.  </a:t>
            </a:r>
            <a:r>
              <a:rPr lang="zh-CN" altLang="en-US" sz="3600" dirty="0" smtClean="0"/>
              <a:t>删除数据</a:t>
            </a:r>
          </a:p>
        </p:txBody>
      </p:sp>
      <p:sp>
        <p:nvSpPr>
          <p:cNvPr id="23555" name="Rectangle 3"/>
          <p:cNvSpPr>
            <a:spLocks noGrp="1" noChangeArrowheads="1"/>
          </p:cNvSpPr>
          <p:nvPr>
            <p:ph type="body" idx="4294967295"/>
          </p:nvPr>
        </p:nvSpPr>
        <p:spPr>
          <a:xfrm>
            <a:off x="698500" y="1098550"/>
            <a:ext cx="7772400" cy="5137150"/>
          </a:xfrm>
        </p:spPr>
        <p:txBody>
          <a:bodyPr>
            <a:normAutofit/>
          </a:bodyPr>
          <a:lstStyle/>
          <a:p>
            <a:pPr algn="just" eaLnBrk="1" hangingPunct="1">
              <a:lnSpc>
                <a:spcPct val="110000"/>
              </a:lnSpc>
            </a:pPr>
            <a:r>
              <a:rPr lang="zh-CN" altLang="en-US" dirty="0" smtClean="0"/>
              <a:t>语句格式</a:t>
            </a:r>
          </a:p>
          <a:p>
            <a:pPr algn="just" eaLnBrk="1" hangingPunct="1">
              <a:lnSpc>
                <a:spcPct val="110000"/>
              </a:lnSpc>
              <a:buFont typeface="Wingdings" panose="05000000000000000000" pitchFamily="2" charset="2"/>
              <a:buNone/>
            </a:pPr>
            <a:r>
              <a:rPr lang="zh-CN" altLang="en-US" sz="1800" dirty="0" smtClean="0"/>
              <a:t>     </a:t>
            </a:r>
            <a:r>
              <a:rPr lang="zh-CN" altLang="en-US" sz="2400" dirty="0" smtClean="0"/>
              <a:t>   </a:t>
            </a:r>
            <a:r>
              <a:rPr lang="en-US" altLang="zh-CN" sz="2400" dirty="0" smtClean="0"/>
              <a:t>DELETE</a:t>
            </a:r>
          </a:p>
          <a:p>
            <a:pPr algn="just" eaLnBrk="1" hangingPunct="1">
              <a:lnSpc>
                <a:spcPct val="110000"/>
              </a:lnSpc>
              <a:buFont typeface="Wingdings" panose="05000000000000000000" pitchFamily="2" charset="2"/>
              <a:buNone/>
            </a:pPr>
            <a:r>
              <a:rPr lang="en-US" altLang="zh-CN" sz="2400" dirty="0" smtClean="0"/>
              <a:t>       FROM     &lt;</a:t>
            </a:r>
            <a:r>
              <a:rPr lang="zh-CN" altLang="en-US" sz="2400" dirty="0" smtClean="0"/>
              <a:t>表名</a:t>
            </a:r>
            <a:r>
              <a:rPr lang="en-US" altLang="zh-CN" sz="2400" dirty="0" smtClean="0"/>
              <a:t>&gt;</a:t>
            </a:r>
          </a:p>
          <a:p>
            <a:pPr algn="just" eaLnBrk="1" hangingPunct="1">
              <a:lnSpc>
                <a:spcPct val="110000"/>
              </a:lnSpc>
              <a:buFont typeface="Wingdings" panose="05000000000000000000" pitchFamily="2" charset="2"/>
              <a:buNone/>
            </a:pPr>
            <a:r>
              <a:rPr lang="en-US" altLang="zh-CN" sz="2400" dirty="0" smtClean="0"/>
              <a:t>       [WHERE &lt;</a:t>
            </a:r>
            <a:r>
              <a:rPr lang="zh-CN" altLang="en-US" sz="2400" dirty="0" smtClean="0"/>
              <a:t>条件</a:t>
            </a:r>
            <a:r>
              <a:rPr lang="en-US" altLang="zh-CN" sz="2400" dirty="0" smtClean="0"/>
              <a:t>&gt;]</a:t>
            </a:r>
            <a:r>
              <a:rPr lang="zh-CN" altLang="en-US" sz="2400" dirty="0" smtClean="0"/>
              <a:t>;</a:t>
            </a:r>
            <a:endParaRPr lang="en-US" altLang="zh-CN" sz="2400" dirty="0" smtClean="0"/>
          </a:p>
          <a:p>
            <a:pPr>
              <a:buNone/>
            </a:pPr>
            <a:r>
              <a:rPr lang="en-US" altLang="zh-CN" sz="2400" dirty="0"/>
              <a:t> [</a:t>
            </a:r>
            <a:r>
              <a:rPr lang="zh-CN" altLang="en-US" sz="2400" dirty="0"/>
              <a:t>例</a:t>
            </a:r>
            <a:r>
              <a:rPr lang="en-US" altLang="zh-CN" sz="2400" dirty="0"/>
              <a:t>3.76]  </a:t>
            </a:r>
            <a:r>
              <a:rPr lang="zh-CN" altLang="en-US" sz="2400" dirty="0"/>
              <a:t>删除学号为</a:t>
            </a:r>
            <a:r>
              <a:rPr lang="en-US" altLang="zh-CN" sz="2400" dirty="0"/>
              <a:t>201215128</a:t>
            </a:r>
            <a:r>
              <a:rPr lang="zh-CN" altLang="en-US" sz="2400" dirty="0"/>
              <a:t>的学生记录。</a:t>
            </a:r>
          </a:p>
          <a:p>
            <a:pPr>
              <a:lnSpc>
                <a:spcPct val="130000"/>
              </a:lnSpc>
              <a:buNone/>
            </a:pPr>
            <a:r>
              <a:rPr lang="zh-CN" altLang="en-US" sz="2400" dirty="0"/>
              <a:t>        </a:t>
            </a:r>
            <a:r>
              <a:rPr lang="en-US" altLang="zh-CN" sz="2400" dirty="0"/>
              <a:t>DELETE</a:t>
            </a:r>
          </a:p>
          <a:p>
            <a:pPr>
              <a:lnSpc>
                <a:spcPct val="130000"/>
              </a:lnSpc>
              <a:buNone/>
            </a:pPr>
            <a:r>
              <a:rPr lang="en-US" altLang="zh-CN" sz="2400" dirty="0"/>
              <a:t>         FROM Student</a:t>
            </a:r>
          </a:p>
          <a:p>
            <a:pPr>
              <a:lnSpc>
                <a:spcPct val="130000"/>
              </a:lnSpc>
              <a:buNone/>
            </a:pPr>
            <a:r>
              <a:rPr lang="en-US" altLang="zh-CN" sz="2400" dirty="0"/>
              <a:t>         WHERE </a:t>
            </a:r>
            <a:r>
              <a:rPr lang="en-US" altLang="zh-CN" sz="2400" dirty="0" err="1"/>
              <a:t>Sno</a:t>
            </a:r>
            <a:r>
              <a:rPr lang="en-US" altLang="zh-CN" sz="2400" dirty="0"/>
              <a:t>= 201215128 '</a:t>
            </a:r>
            <a:r>
              <a:rPr lang="zh-CN" altLang="en-US" sz="2400" dirty="0"/>
              <a:t>;</a:t>
            </a:r>
            <a:endParaRPr lang="zh-CN" altLang="en-US" sz="2400" dirty="0" smtClean="0"/>
          </a:p>
        </p:txBody>
      </p:sp>
    </p:spTree>
    <p:extLst>
      <p:ext uri="{BB962C8B-B14F-4D97-AF65-F5344CB8AC3E}">
        <p14:creationId xmlns:p14="http://schemas.microsoft.com/office/powerpoint/2010/main" val="3022688237"/>
      </p:ext>
    </p:extLst>
  </p:cSld>
  <p:clrMapOvr>
    <a:masterClrMapping/>
  </p:clrMapOvr>
  <p:timing>
    <p:tnLst>
      <p:par>
        <p:cTn id="1" dur="indefinite" restart="never" nodeType="tmRoot"/>
      </p:par>
    </p:tn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0" name="Rectangle 2"/>
          <p:cNvSpPr>
            <a:spLocks noGrp="1" noChangeArrowheads="1"/>
          </p:cNvSpPr>
          <p:nvPr>
            <p:ph type="title" idx="4294967295"/>
          </p:nvPr>
        </p:nvSpPr>
        <p:spPr/>
        <p:txBody>
          <a:bodyPr/>
          <a:lstStyle/>
          <a:p>
            <a:pPr eaLnBrk="1" hangingPunct="1"/>
            <a:r>
              <a:rPr lang="zh-CN" altLang="en-US" sz="3600" dirty="0" smtClean="0"/>
              <a:t>带子查询的删除语句</a:t>
            </a:r>
          </a:p>
        </p:txBody>
      </p:sp>
      <p:sp>
        <p:nvSpPr>
          <p:cNvPr id="27651" name="Rectangle 3"/>
          <p:cNvSpPr>
            <a:spLocks noGrp="1" noChangeArrowheads="1"/>
          </p:cNvSpPr>
          <p:nvPr>
            <p:ph type="body" idx="4294967295"/>
          </p:nvPr>
        </p:nvSpPr>
        <p:spPr/>
        <p:txBody>
          <a:bodyPr/>
          <a:lstStyle/>
          <a:p>
            <a:pPr eaLnBrk="1" hangingPunct="1">
              <a:buFont typeface="Wingdings" panose="05000000000000000000" pitchFamily="2" charset="2"/>
              <a:buNone/>
            </a:pPr>
            <a:r>
              <a:rPr lang="en-US" altLang="zh-CN" sz="2400" smtClean="0"/>
              <a:t>    [</a:t>
            </a:r>
            <a:r>
              <a:rPr lang="zh-CN" altLang="en-US" sz="2400" smtClean="0"/>
              <a:t>例</a:t>
            </a:r>
            <a:r>
              <a:rPr lang="en-US" altLang="zh-CN" sz="2400" smtClean="0"/>
              <a:t>3.78]  </a:t>
            </a:r>
            <a:r>
              <a:rPr lang="zh-CN" altLang="en-US" sz="2400" smtClean="0"/>
              <a:t>删除计算机科学系所有学生的选课记录。</a:t>
            </a:r>
          </a:p>
          <a:p>
            <a:pPr>
              <a:buFont typeface="Wingdings" panose="05000000000000000000" pitchFamily="2" charset="2"/>
              <a:buNone/>
            </a:pPr>
            <a:r>
              <a:rPr lang="en-US" altLang="zh-CN" sz="2400" smtClean="0"/>
              <a:t>		DELETE</a:t>
            </a:r>
            <a:endParaRPr lang="zh-CN" altLang="en-US" sz="2400" smtClean="0"/>
          </a:p>
          <a:p>
            <a:pPr>
              <a:buFont typeface="Wingdings" panose="05000000000000000000" pitchFamily="2" charset="2"/>
              <a:buNone/>
            </a:pPr>
            <a:r>
              <a:rPr lang="en-US" altLang="zh-CN" sz="2400" smtClean="0"/>
              <a:t>		FROM  SC</a:t>
            </a:r>
            <a:endParaRPr lang="zh-CN" altLang="en-US" sz="2400" smtClean="0"/>
          </a:p>
          <a:p>
            <a:pPr>
              <a:buFont typeface="Wingdings" panose="05000000000000000000" pitchFamily="2" charset="2"/>
              <a:buNone/>
            </a:pPr>
            <a:r>
              <a:rPr lang="en-US" altLang="zh-CN" sz="2400" smtClean="0"/>
              <a:t>		WHERE  Sno  IN</a:t>
            </a:r>
            <a:endParaRPr lang="zh-CN" altLang="en-US" sz="2400" smtClean="0"/>
          </a:p>
          <a:p>
            <a:pPr>
              <a:buFont typeface="Wingdings" panose="05000000000000000000" pitchFamily="2" charset="2"/>
              <a:buNone/>
            </a:pPr>
            <a:r>
              <a:rPr lang="en-US" altLang="zh-CN" sz="2400" smtClean="0"/>
              <a:t>			</a:t>
            </a:r>
            <a:r>
              <a:rPr lang="zh-CN" altLang="en-US" sz="2400" smtClean="0"/>
              <a:t>(</a:t>
            </a:r>
            <a:r>
              <a:rPr lang="en-US" altLang="zh-CN" sz="2400" smtClean="0"/>
              <a:t>SELETE  Sno</a:t>
            </a:r>
            <a:endParaRPr lang="zh-CN" altLang="en-US" sz="2400" smtClean="0"/>
          </a:p>
          <a:p>
            <a:pPr>
              <a:buFont typeface="Wingdings" panose="05000000000000000000" pitchFamily="2" charset="2"/>
              <a:buNone/>
            </a:pPr>
            <a:r>
              <a:rPr lang="en-US" altLang="zh-CN" sz="2400" smtClean="0"/>
              <a:t>		            FROM   Student</a:t>
            </a:r>
            <a:endParaRPr lang="zh-CN" altLang="en-US" sz="2400" smtClean="0"/>
          </a:p>
          <a:p>
            <a:pPr>
              <a:buFont typeface="Wingdings" panose="05000000000000000000" pitchFamily="2" charset="2"/>
              <a:buNone/>
            </a:pPr>
            <a:r>
              <a:rPr lang="en-US" altLang="zh-CN" sz="2400" smtClean="0"/>
              <a:t>		            WHERE  Sdept= 'CS'</a:t>
            </a:r>
            <a:r>
              <a:rPr lang="zh-CN" altLang="en-US" sz="2400" smtClean="0"/>
              <a:t>)</a:t>
            </a:r>
            <a:r>
              <a:rPr lang="en-US" altLang="zh-CN" sz="2400" smtClean="0"/>
              <a:t> </a:t>
            </a:r>
            <a:r>
              <a:rPr lang="zh-CN" altLang="en-US" sz="2400" smtClean="0"/>
              <a:t>;</a:t>
            </a:r>
          </a:p>
          <a:p>
            <a:pPr eaLnBrk="1" hangingPunct="1">
              <a:buFont typeface="Wingdings" panose="05000000000000000000" pitchFamily="2" charset="2"/>
              <a:buNone/>
            </a:pPr>
            <a:endParaRPr lang="zh-CN" altLang="en-US" sz="2400" smtClean="0"/>
          </a:p>
        </p:txBody>
      </p:sp>
    </p:spTree>
    <p:extLst>
      <p:ext uri="{BB962C8B-B14F-4D97-AF65-F5344CB8AC3E}">
        <p14:creationId xmlns:p14="http://schemas.microsoft.com/office/powerpoint/2010/main" val="1287415645"/>
      </p:ext>
    </p:extLst>
  </p:cSld>
  <p:clrMapOvr>
    <a:masterClrMapping/>
  </p:clrMapOvr>
  <p:timing>
    <p:tnLst>
      <p:par>
        <p:cTn id="1" dur="indefinite" restart="never" nodeType="tmRoot"/>
      </p:par>
    </p:tnLst>
  </p:timing>
</p:sld>
</file>

<file path=ppt/slides/slide5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25282" name="Rectangle 2"/>
          <p:cNvSpPr>
            <a:spLocks noGrp="1" noChangeArrowheads="1"/>
          </p:cNvSpPr>
          <p:nvPr>
            <p:ph type="title"/>
          </p:nvPr>
        </p:nvSpPr>
        <p:spPr/>
        <p:txBody>
          <a:bodyPr/>
          <a:lstStyle/>
          <a:p>
            <a:r>
              <a:rPr lang="en-US" altLang="zh-CN" smtClean="0">
                <a:ea typeface="宋体" panose="02010600030101010101" pitchFamily="2" charset="-122"/>
              </a:rPr>
              <a:t>CON…</a:t>
            </a:r>
          </a:p>
        </p:txBody>
      </p:sp>
      <p:sp>
        <p:nvSpPr>
          <p:cNvPr id="225283" name="Rectangle 3"/>
          <p:cNvSpPr>
            <a:spLocks noGrp="1" noChangeArrowheads="1"/>
          </p:cNvSpPr>
          <p:nvPr>
            <p:ph type="body" idx="1"/>
          </p:nvPr>
        </p:nvSpPr>
        <p:spPr>
          <a:xfrm>
            <a:off x="500063" y="1608880"/>
            <a:ext cx="7661275" cy="1268412"/>
          </a:xfrm>
        </p:spPr>
        <p:txBody>
          <a:bodyPr/>
          <a:lstStyle/>
          <a:p>
            <a:pPr>
              <a:tabLst>
                <a:tab pos="1370013" algn="l"/>
                <a:tab pos="3140075" algn="l"/>
              </a:tabLst>
            </a:pPr>
            <a:r>
              <a:rPr lang="en-US" altLang="zh-CN" dirty="0" smtClean="0">
                <a:ea typeface="宋体" panose="02010600030101010101" pitchFamily="2" charset="-122"/>
              </a:rPr>
              <a:t>Delete the record of all students with </a:t>
            </a:r>
            <a:r>
              <a:rPr lang="en-US" altLang="zh-CN" dirty="0" err="1" smtClean="0">
                <a:ea typeface="宋体" panose="02010600030101010101" pitchFamily="2" charset="-122"/>
              </a:rPr>
              <a:t>gpa</a:t>
            </a:r>
            <a:r>
              <a:rPr lang="en-US" altLang="zh-CN" dirty="0" smtClean="0">
                <a:ea typeface="宋体" panose="02010600030101010101" pitchFamily="2" charset="-122"/>
              </a:rPr>
              <a:t> below the average at the school.</a:t>
            </a:r>
          </a:p>
        </p:txBody>
      </p:sp>
      <p:sp>
        <p:nvSpPr>
          <p:cNvPr id="74756" name="Text Box 4"/>
          <p:cNvSpPr txBox="1">
            <a:spLocks noChangeArrowheads="1"/>
          </p:cNvSpPr>
          <p:nvPr/>
        </p:nvSpPr>
        <p:spPr bwMode="auto">
          <a:xfrm>
            <a:off x="785813" y="2786063"/>
            <a:ext cx="7415212" cy="9540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42950" indent="-2857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eaLnBrk="1" hangingPunct="1">
              <a:spcBef>
                <a:spcPct val="35000"/>
              </a:spcBef>
              <a:buClr>
                <a:schemeClr val="tx2"/>
              </a:buClr>
              <a:buSzPct val="90000"/>
              <a:buFont typeface="Monotype Sorts" pitchFamily="2" charset="2"/>
              <a:buNone/>
            </a:pPr>
            <a:r>
              <a:rPr kumimoji="1" lang="en-US" altLang="zh-CN" sz="1800" b="1">
                <a:latin typeface="Arial" panose="020B0604020202020204" pitchFamily="34" charset="0"/>
                <a:ea typeface="宋体" panose="02010600030101010101" pitchFamily="2" charset="-122"/>
              </a:rPr>
              <a:t>      delete from </a:t>
            </a:r>
            <a:r>
              <a:rPr kumimoji="1" lang="en-US" altLang="zh-CN" sz="2000" i="1">
                <a:latin typeface="Arial" panose="020B0604020202020204" pitchFamily="34" charset="0"/>
                <a:ea typeface="宋体" panose="02010600030101010101" pitchFamily="2" charset="-122"/>
              </a:rPr>
              <a:t>student</a:t>
            </a:r>
            <a:r>
              <a:rPr kumimoji="1" lang="en-US" altLang="zh-CN" sz="1800" i="1">
                <a:latin typeface="Arial" panose="020B0604020202020204" pitchFamily="34" charset="0"/>
                <a:ea typeface="宋体" panose="02010600030101010101" pitchFamily="2" charset="-122"/>
              </a:rPr>
              <a:t/>
            </a:r>
            <a:br>
              <a:rPr kumimoji="1" lang="en-US" altLang="zh-CN" sz="1800" i="1">
                <a:latin typeface="Arial" panose="020B0604020202020204" pitchFamily="34" charset="0"/>
                <a:ea typeface="宋体" panose="02010600030101010101" pitchFamily="2" charset="-122"/>
              </a:rPr>
            </a:br>
            <a:r>
              <a:rPr kumimoji="1" lang="en-US" altLang="zh-CN" sz="1800" i="1">
                <a:latin typeface="Arial" panose="020B0604020202020204" pitchFamily="34" charset="0"/>
                <a:ea typeface="宋体" panose="02010600030101010101" pitchFamily="2" charset="-122"/>
              </a:rPr>
              <a:t>                 </a:t>
            </a:r>
            <a:r>
              <a:rPr kumimoji="1" lang="en-US" altLang="zh-CN" sz="1800" b="1">
                <a:latin typeface="Arial" panose="020B0604020202020204" pitchFamily="34" charset="0"/>
                <a:ea typeface="宋体" panose="02010600030101010101" pitchFamily="2" charset="-122"/>
              </a:rPr>
              <a:t>where </a:t>
            </a:r>
            <a:r>
              <a:rPr kumimoji="1" lang="en-US" altLang="zh-CN" sz="1800" i="1">
                <a:latin typeface="Arial" panose="020B0604020202020204" pitchFamily="34" charset="0"/>
                <a:ea typeface="宋体" panose="02010600030101010101" pitchFamily="2" charset="-122"/>
              </a:rPr>
              <a:t>gpa</a:t>
            </a:r>
            <a:r>
              <a:rPr kumimoji="1" lang="en-US" altLang="zh-CN" sz="1800">
                <a:latin typeface="Arial" panose="020B0604020202020204" pitchFamily="34" charset="0"/>
                <a:ea typeface="宋体" panose="02010600030101010101" pitchFamily="2" charset="-122"/>
              </a:rPr>
              <a:t>&lt; (</a:t>
            </a:r>
            <a:r>
              <a:rPr kumimoji="1" lang="en-US" altLang="zh-CN" sz="1800" b="1">
                <a:latin typeface="Arial" panose="020B0604020202020204" pitchFamily="34" charset="0"/>
                <a:ea typeface="宋体" panose="02010600030101010101" pitchFamily="2" charset="-122"/>
              </a:rPr>
              <a:t>select avg </a:t>
            </a:r>
            <a:r>
              <a:rPr kumimoji="1" lang="en-US" altLang="zh-CN" sz="1800">
                <a:latin typeface="Arial" panose="020B0604020202020204" pitchFamily="34" charset="0"/>
                <a:ea typeface="宋体" panose="02010600030101010101" pitchFamily="2" charset="-122"/>
              </a:rPr>
              <a:t>(</a:t>
            </a:r>
            <a:r>
              <a:rPr kumimoji="1" lang="en-US" altLang="zh-CN" sz="1800" i="1">
                <a:latin typeface="Arial" panose="020B0604020202020204" pitchFamily="34" charset="0"/>
                <a:ea typeface="宋体" panose="02010600030101010101" pitchFamily="2" charset="-122"/>
              </a:rPr>
              <a:t>gpa</a:t>
            </a:r>
            <a:r>
              <a:rPr kumimoji="1" lang="en-US" altLang="zh-CN" sz="1800">
                <a:latin typeface="Arial" panose="020B0604020202020204" pitchFamily="34" charset="0"/>
                <a:ea typeface="宋体" panose="02010600030101010101" pitchFamily="2" charset="-122"/>
              </a:rPr>
              <a:t>)</a:t>
            </a:r>
            <a:r>
              <a:rPr kumimoji="1" lang="en-US" altLang="zh-CN" sz="1800" i="1">
                <a:latin typeface="Arial" panose="020B0604020202020204" pitchFamily="34" charset="0"/>
                <a:ea typeface="宋体" panose="02010600030101010101" pitchFamily="2" charset="-122"/>
              </a:rPr>
              <a:t/>
            </a:r>
            <a:br>
              <a:rPr kumimoji="1" lang="en-US" altLang="zh-CN" sz="1800" i="1">
                <a:latin typeface="Arial" panose="020B0604020202020204" pitchFamily="34" charset="0"/>
                <a:ea typeface="宋体" panose="02010600030101010101" pitchFamily="2" charset="-122"/>
              </a:rPr>
            </a:br>
            <a:r>
              <a:rPr kumimoji="1" lang="en-US" altLang="zh-CN" sz="1800" i="1">
                <a:latin typeface="Arial" panose="020B0604020202020204" pitchFamily="34" charset="0"/>
                <a:ea typeface="宋体" panose="02010600030101010101" pitchFamily="2" charset="-122"/>
              </a:rPr>
              <a:t>	                                  </a:t>
            </a:r>
            <a:r>
              <a:rPr kumimoji="1" lang="en-US" altLang="zh-CN" sz="1800" b="1">
                <a:latin typeface="Arial" panose="020B0604020202020204" pitchFamily="34" charset="0"/>
                <a:ea typeface="宋体" panose="02010600030101010101" pitchFamily="2" charset="-122"/>
              </a:rPr>
              <a:t>from </a:t>
            </a:r>
            <a:r>
              <a:rPr kumimoji="1" lang="en-US" altLang="zh-CN" sz="1800" i="1">
                <a:latin typeface="Arial" panose="020B0604020202020204" pitchFamily="34" charset="0"/>
                <a:ea typeface="宋体" panose="02010600030101010101" pitchFamily="2" charset="-122"/>
              </a:rPr>
              <a:t>student</a:t>
            </a:r>
            <a:r>
              <a:rPr kumimoji="1" lang="en-US" altLang="zh-CN" sz="1800">
                <a:latin typeface="Arial" panose="020B0604020202020204" pitchFamily="34" charset="0"/>
                <a:ea typeface="宋体" panose="02010600030101010101" pitchFamily="2" charset="-122"/>
              </a:rPr>
              <a:t>)</a:t>
            </a:r>
          </a:p>
        </p:txBody>
      </p:sp>
      <p:sp>
        <p:nvSpPr>
          <p:cNvPr id="74757" name="Text Box 5"/>
          <p:cNvSpPr txBox="1">
            <a:spLocks noChangeArrowheads="1"/>
          </p:cNvSpPr>
          <p:nvPr/>
        </p:nvSpPr>
        <p:spPr bwMode="auto">
          <a:xfrm>
            <a:off x="500063" y="3929063"/>
            <a:ext cx="8140700" cy="22621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342900" indent="-342900">
              <a:spcBef>
                <a:spcPct val="20000"/>
              </a:spcBef>
              <a:buClr>
                <a:schemeClr val="bg2"/>
              </a:buClr>
              <a:buSzPct val="75000"/>
              <a:buFont typeface="Wingdings" panose="05000000000000000000" pitchFamily="2" charset="2"/>
              <a:buChar char="n"/>
              <a:defRPr sz="2800">
                <a:solidFill>
                  <a:schemeClr val="tx1"/>
                </a:solidFill>
                <a:latin typeface="Verdana" panose="020B0604030504040204" pitchFamily="34" charset="0"/>
              </a:defRPr>
            </a:lvl1pPr>
            <a:lvl2pPr marL="793750" indent="-336550">
              <a:spcBef>
                <a:spcPct val="20000"/>
              </a:spcBef>
              <a:buClr>
                <a:schemeClr val="accent2"/>
              </a:buClr>
              <a:buSzPct val="80000"/>
              <a:buFont typeface="Wingdings" panose="05000000000000000000" pitchFamily="2" charset="2"/>
              <a:buChar char="¨"/>
              <a:defRPr sz="2800">
                <a:solidFill>
                  <a:schemeClr val="tx1"/>
                </a:solidFill>
                <a:latin typeface="Arial" panose="020B0604020202020204" pitchFamily="34" charset="0"/>
              </a:defRPr>
            </a:lvl2pPr>
            <a:lvl3pPr marL="1143000" indent="-228600">
              <a:spcBef>
                <a:spcPct val="20000"/>
              </a:spcBef>
              <a:buClr>
                <a:schemeClr val="bg2"/>
              </a:buClr>
              <a:buSzPct val="65000"/>
              <a:buFont typeface="Wingdings" panose="05000000000000000000" pitchFamily="2" charset="2"/>
              <a:buChar char="n"/>
              <a:defRPr sz="2400">
                <a:solidFill>
                  <a:schemeClr val="tx1"/>
                </a:solidFill>
                <a:latin typeface="Arial" panose="020B0604020202020204" pitchFamily="34" charset="0"/>
              </a:defRPr>
            </a:lvl3pPr>
            <a:lvl4pPr marL="1600200" indent="-228600">
              <a:spcBef>
                <a:spcPct val="20000"/>
              </a:spcBef>
              <a:buClr>
                <a:schemeClr val="accent2"/>
              </a:buClr>
              <a:buSzPct val="70000"/>
              <a:buFont typeface="Wingdings" panose="05000000000000000000" pitchFamily="2" charset="2"/>
              <a:buChar char="¨"/>
              <a:defRPr sz="2000">
                <a:solidFill>
                  <a:schemeClr val="tx1"/>
                </a:solidFill>
                <a:latin typeface="Arial" panose="020B0604020202020204" pitchFamily="34" charset="0"/>
              </a:defRPr>
            </a:lvl4pPr>
            <a:lvl5pPr marL="2057400" indent="-228600">
              <a:spcBef>
                <a:spcPct val="20000"/>
              </a:spcBef>
              <a:buClr>
                <a:schemeClr val="bg2"/>
              </a:buClr>
              <a:buFont typeface="Wingdings" panose="05000000000000000000" pitchFamily="2" charset="2"/>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lr>
                <a:schemeClr val="bg2"/>
              </a:buClr>
              <a:buFont typeface="Wingdings" panose="05000000000000000000" pitchFamily="2" charset="2"/>
              <a:buChar char="§"/>
              <a:defRPr sz="2000">
                <a:solidFill>
                  <a:schemeClr val="tx1"/>
                </a:solidFill>
                <a:latin typeface="Arial" panose="020B0604020202020204" pitchFamily="34" charset="0"/>
              </a:defRPr>
            </a:lvl9pPr>
          </a:lstStyle>
          <a:p>
            <a:pPr lvl="1" eaLnBrk="1" hangingPunct="1">
              <a:spcBef>
                <a:spcPct val="35000"/>
              </a:spcBef>
              <a:buClr>
                <a:schemeClr val="hlink"/>
              </a:buClr>
              <a:buFont typeface="Monotype Sorts" pitchFamily="2" charset="2"/>
              <a:buChar char="l"/>
            </a:pPr>
            <a:r>
              <a:rPr kumimoji="1" lang="en-US" altLang="zh-CN" sz="2000">
                <a:ea typeface="宋体" panose="02010600030101010101" pitchFamily="2" charset="-122"/>
              </a:rPr>
              <a:t>Problem:  as we delete tuples from student, the average gpa changes</a:t>
            </a:r>
          </a:p>
          <a:p>
            <a:pPr lvl="1" eaLnBrk="1" hangingPunct="1">
              <a:spcBef>
                <a:spcPct val="35000"/>
              </a:spcBef>
              <a:buClr>
                <a:schemeClr val="hlink"/>
              </a:buClr>
              <a:buFont typeface="Monotype Sorts" pitchFamily="2" charset="2"/>
              <a:buChar char="l"/>
            </a:pPr>
            <a:r>
              <a:rPr kumimoji="1" lang="en-US" altLang="zh-CN" sz="2000">
                <a:ea typeface="宋体" panose="02010600030101010101" pitchFamily="2" charset="-122"/>
              </a:rPr>
              <a:t>Solution used in SQL:</a:t>
            </a:r>
          </a:p>
          <a:p>
            <a:pPr lvl="1" eaLnBrk="1" hangingPunct="1">
              <a:spcBef>
                <a:spcPct val="35000"/>
              </a:spcBef>
              <a:buClr>
                <a:srgbClr val="CC6600"/>
              </a:buClr>
              <a:buSzPct val="105000"/>
              <a:buFont typeface="Monotype Sorts" pitchFamily="2" charset="2"/>
              <a:buNone/>
            </a:pPr>
            <a:r>
              <a:rPr kumimoji="1" lang="en-US" altLang="zh-CN" sz="2000">
                <a:ea typeface="宋体" panose="02010600030101010101" pitchFamily="2" charset="-122"/>
              </a:rPr>
              <a:t>       1.   First, compute </a:t>
            </a:r>
            <a:r>
              <a:rPr kumimoji="1" lang="en-US" altLang="zh-CN" sz="2000" b="1">
                <a:ea typeface="宋体" panose="02010600030101010101" pitchFamily="2" charset="-122"/>
              </a:rPr>
              <a:t>avg</a:t>
            </a:r>
            <a:r>
              <a:rPr kumimoji="1" lang="en-US" altLang="zh-CN" sz="2000">
                <a:ea typeface="宋体" panose="02010600030101010101" pitchFamily="2" charset="-122"/>
              </a:rPr>
              <a:t> gpa and find all tuples to delete</a:t>
            </a:r>
          </a:p>
          <a:p>
            <a:pPr lvl="1" eaLnBrk="1" hangingPunct="1">
              <a:spcBef>
                <a:spcPct val="35000"/>
              </a:spcBef>
              <a:buClr>
                <a:srgbClr val="CC6600"/>
              </a:buClr>
              <a:buSzPct val="105000"/>
              <a:buFont typeface="Monotype Sorts" pitchFamily="2" charset="2"/>
              <a:buNone/>
            </a:pPr>
            <a:r>
              <a:rPr kumimoji="1" lang="en-US" altLang="zh-CN" sz="2000">
                <a:ea typeface="宋体" panose="02010600030101010101" pitchFamily="2" charset="-122"/>
              </a:rPr>
              <a:t>       2.   Next, delete all tuples found above (without recomputing </a:t>
            </a:r>
            <a:r>
              <a:rPr kumimoji="1" lang="en-US" altLang="zh-CN" sz="2000" b="1">
                <a:ea typeface="宋体" panose="02010600030101010101" pitchFamily="2" charset="-122"/>
              </a:rPr>
              <a:t>avg</a:t>
            </a:r>
            <a:r>
              <a:rPr kumimoji="1" lang="en-US" altLang="zh-CN" sz="2000">
                <a:ea typeface="宋体" panose="02010600030101010101" pitchFamily="2" charset="-122"/>
              </a:rPr>
              <a:t> or  retesting the tuples)</a:t>
            </a:r>
            <a:endParaRPr lang="en-US" altLang="zh-CN" sz="2000">
              <a:latin typeface="Times New Roman" panose="02020603050405020304" pitchFamily="18" charset="0"/>
              <a:ea typeface="宋体" panose="02010600030101010101" pitchFamily="2" charset="-122"/>
            </a:endParaRPr>
          </a:p>
        </p:txBody>
      </p:sp>
    </p:spTree>
    <p:extLst>
      <p:ext uri="{BB962C8B-B14F-4D97-AF65-F5344CB8AC3E}">
        <p14:creationId xmlns:p14="http://schemas.microsoft.com/office/powerpoint/2010/main" val="4019336899"/>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4756"/>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1" presetClass="entr" presetSubtype="0" fill="hold" grpId="0" nodeType="clickEffect">
                                  <p:stCondLst>
                                    <p:cond delay="0"/>
                                  </p:stCondLst>
                                  <p:childTnLst>
                                    <p:set>
                                      <p:cBhvr>
                                        <p:cTn id="10" dur="1" fill="hold">
                                          <p:stCondLst>
                                            <p:cond delay="499"/>
                                          </p:stCondLst>
                                        </p:cTn>
                                        <p:tgtEl>
                                          <p:spTgt spid="7475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4756" grpId="0" autoUpdateAnimBg="0"/>
      <p:bldP spid="74757" grpId="0" autoUpdateAnimBg="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p:cNvSpPr>
            <a:spLocks noGrp="1"/>
          </p:cNvSpPr>
          <p:nvPr>
            <p:ph type="title"/>
          </p:nvPr>
        </p:nvSpPr>
        <p:spPr/>
        <p:txBody>
          <a:bodyPr/>
          <a:lstStyle/>
          <a:p>
            <a:r>
              <a:rPr lang="zh-CN" altLang="en-US" dirty="0" smtClean="0"/>
              <a:t>实验说明</a:t>
            </a:r>
          </a:p>
        </p:txBody>
      </p:sp>
      <p:sp>
        <p:nvSpPr>
          <p:cNvPr id="174083" name="内容占位符 2"/>
          <p:cNvSpPr>
            <a:spLocks noGrp="1"/>
          </p:cNvSpPr>
          <p:nvPr>
            <p:ph idx="1"/>
          </p:nvPr>
        </p:nvSpPr>
        <p:spPr>
          <a:xfrm>
            <a:off x="723900" y="1663701"/>
            <a:ext cx="7886700" cy="4782366"/>
          </a:xfrm>
        </p:spPr>
        <p:txBody>
          <a:bodyPr>
            <a:normAutofit lnSpcReduction="10000"/>
          </a:bodyPr>
          <a:lstStyle/>
          <a:p>
            <a:r>
              <a:rPr lang="en-US" altLang="zh-CN" sz="2000" b="1" dirty="0" smtClean="0"/>
              <a:t>EXERCISES 3 FUNCTIONS</a:t>
            </a:r>
          </a:p>
          <a:p>
            <a:endParaRPr lang="en-US" altLang="zh-CN" sz="2000" b="1" dirty="0"/>
          </a:p>
          <a:p>
            <a:r>
              <a:rPr lang="en-US" altLang="zh-CN" sz="2000" dirty="0" smtClean="0"/>
              <a:t>5</a:t>
            </a:r>
            <a:r>
              <a:rPr lang="en-US" altLang="zh-CN" sz="2000" dirty="0"/>
              <a:t>	Count the number of people in department 30 who receive a salary and the number of people who receive a commission (single statement).</a:t>
            </a:r>
            <a:endParaRPr lang="zh-CN" altLang="zh-CN" sz="2000" dirty="0"/>
          </a:p>
          <a:p>
            <a:r>
              <a:rPr lang="en-US" altLang="zh-CN" sz="2000" dirty="0"/>
              <a:t> </a:t>
            </a:r>
            <a:r>
              <a:rPr lang="en-US" altLang="zh-CN" sz="2000" dirty="0" smtClean="0"/>
              <a:t>6</a:t>
            </a:r>
            <a:r>
              <a:rPr lang="en-US" altLang="zh-CN" sz="2000" dirty="0"/>
              <a:t>	List the average commission of employees who receive a commission, and the average commission of all employees (assume employees who do not receive a commission attract zero commission)</a:t>
            </a:r>
            <a:endParaRPr lang="zh-CN" altLang="zh-CN" sz="2000" dirty="0"/>
          </a:p>
          <a:p>
            <a:endParaRPr lang="en-US" altLang="zh-CN" sz="2000" b="1" dirty="0" smtClean="0"/>
          </a:p>
          <a:p>
            <a:r>
              <a:rPr lang="zh-CN" altLang="en-US" sz="2000" b="1" dirty="0" smtClean="0"/>
              <a:t>用</a:t>
            </a:r>
            <a:r>
              <a:rPr lang="en-US" altLang="zh-CN" sz="2000" b="1" dirty="0" smtClean="0"/>
              <a:t>count </a:t>
            </a:r>
            <a:r>
              <a:rPr lang="zh-CN" altLang="en-US" sz="2000" b="1" dirty="0" smtClean="0"/>
              <a:t>会自动忽略 </a:t>
            </a:r>
            <a:r>
              <a:rPr lang="en-US" altLang="zh-CN" sz="2000" b="1" dirty="0" smtClean="0"/>
              <a:t>Null </a:t>
            </a:r>
            <a:r>
              <a:rPr lang="zh-CN" altLang="en-US" sz="2000" b="1" dirty="0" smtClean="0"/>
              <a:t>值，</a:t>
            </a:r>
            <a:endParaRPr lang="en-US" altLang="zh-CN" sz="2000" b="1" dirty="0" smtClean="0"/>
          </a:p>
          <a:p>
            <a:r>
              <a:rPr lang="zh-CN" altLang="en-US" sz="2000" b="1" dirty="0" smtClean="0"/>
              <a:t>如果你的</a:t>
            </a:r>
            <a:r>
              <a:rPr lang="en-US" altLang="zh-CN" sz="2000" b="1" dirty="0" smtClean="0"/>
              <a:t>null</a:t>
            </a:r>
            <a:r>
              <a:rPr lang="zh-CN" altLang="en-US" sz="2000" b="1" dirty="0" smtClean="0"/>
              <a:t>值未被忽略，取值有问题</a:t>
            </a:r>
            <a:endParaRPr lang="en-US" altLang="zh-CN" sz="2000" b="1" dirty="0" smtClean="0"/>
          </a:p>
          <a:p>
            <a:r>
              <a:rPr lang="en-US" altLang="zh-CN" sz="2000" dirty="0" smtClean="0"/>
              <a:t> null </a:t>
            </a:r>
            <a:r>
              <a:rPr lang="zh-CN" altLang="en-US" sz="2000" dirty="0" smtClean="0"/>
              <a:t>转 </a:t>
            </a:r>
            <a:r>
              <a:rPr lang="en-US" altLang="zh-CN" sz="2000" dirty="0" smtClean="0"/>
              <a:t>0 </a:t>
            </a:r>
            <a:r>
              <a:rPr lang="zh-CN" altLang="en-US" sz="2000" dirty="0" smtClean="0"/>
              <a:t>不需要改变表格内容，采用函数进行转换，使用 </a:t>
            </a:r>
            <a:r>
              <a:rPr lang="en-US" altLang="zh-CN" sz="2000" dirty="0" err="1" smtClean="0"/>
              <a:t>IFNull</a:t>
            </a:r>
            <a:r>
              <a:rPr lang="en-US" altLang="zh-CN" sz="2000" dirty="0" smtClean="0"/>
              <a:t> </a:t>
            </a:r>
            <a:r>
              <a:rPr lang="zh-CN" altLang="en-US" sz="2000" dirty="0" smtClean="0"/>
              <a:t>函数，</a:t>
            </a:r>
            <a:r>
              <a:rPr lang="en-US" altLang="zh-CN" sz="2000" dirty="0"/>
              <a:t>IFNULL(expr1,expr2</a:t>
            </a:r>
            <a:r>
              <a:rPr lang="en-US" altLang="zh-CN" sz="2000" dirty="0" smtClean="0"/>
              <a:t>)</a:t>
            </a:r>
            <a:r>
              <a:rPr lang="zh-CN" altLang="en-US" sz="2000" dirty="0" smtClean="0"/>
              <a:t>， 如果</a:t>
            </a:r>
            <a:r>
              <a:rPr lang="en-US" altLang="zh-CN" sz="2000" dirty="0"/>
              <a:t>expr1</a:t>
            </a:r>
            <a:r>
              <a:rPr lang="zh-CN" altLang="en-US" sz="2000" dirty="0"/>
              <a:t>不是</a:t>
            </a:r>
            <a:r>
              <a:rPr lang="en-US" altLang="zh-CN" sz="2000" dirty="0"/>
              <a:t>NULL</a:t>
            </a:r>
            <a:r>
              <a:rPr lang="zh-CN" altLang="en-US" sz="2000" dirty="0"/>
              <a:t>，</a:t>
            </a:r>
            <a:r>
              <a:rPr lang="en-US" altLang="zh-CN" sz="2000" dirty="0"/>
              <a:t>IFNULL()</a:t>
            </a:r>
            <a:r>
              <a:rPr lang="zh-CN" altLang="en-US" sz="2000" dirty="0"/>
              <a:t>返回</a:t>
            </a:r>
            <a:r>
              <a:rPr lang="en-US" altLang="zh-CN" sz="2000" dirty="0"/>
              <a:t>expr1</a:t>
            </a:r>
            <a:r>
              <a:rPr lang="zh-CN" altLang="en-US" sz="2000" dirty="0"/>
              <a:t>，否则它返回</a:t>
            </a:r>
            <a:r>
              <a:rPr lang="en-US" altLang="zh-CN" sz="2000" dirty="0"/>
              <a:t>expr2</a:t>
            </a:r>
            <a:endParaRPr lang="zh-CN" altLang="zh-CN" sz="2000" dirty="0"/>
          </a:p>
        </p:txBody>
      </p:sp>
    </p:spTree>
    <p:extLst>
      <p:ext uri="{BB962C8B-B14F-4D97-AF65-F5344CB8AC3E}">
        <p14:creationId xmlns:p14="http://schemas.microsoft.com/office/powerpoint/2010/main" val="1356827507"/>
      </p:ext>
    </p:extLst>
  </p:cSld>
  <p:clrMapOvr>
    <a:masterClrMapping/>
  </p:clrMapOvr>
  <p:timing>
    <p:tnLst>
      <p:par>
        <p:cTn id="1" dur="indefinite" restart="never" nodeType="tmRoot"/>
      </p:par>
    </p:tn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p:cNvSpPr>
            <a:spLocks noGrp="1"/>
          </p:cNvSpPr>
          <p:nvPr>
            <p:ph type="title"/>
          </p:nvPr>
        </p:nvSpPr>
        <p:spPr/>
        <p:txBody>
          <a:bodyPr/>
          <a:lstStyle/>
          <a:p>
            <a:r>
              <a:rPr lang="zh-CN" altLang="en-US" dirty="0" smtClean="0"/>
              <a:t>实验说明</a:t>
            </a:r>
          </a:p>
        </p:txBody>
      </p:sp>
      <p:sp>
        <p:nvSpPr>
          <p:cNvPr id="174083" name="内容占位符 2"/>
          <p:cNvSpPr>
            <a:spLocks noGrp="1"/>
          </p:cNvSpPr>
          <p:nvPr>
            <p:ph idx="1"/>
          </p:nvPr>
        </p:nvSpPr>
        <p:spPr>
          <a:xfrm>
            <a:off x="723900" y="1663701"/>
            <a:ext cx="7886700" cy="4782366"/>
          </a:xfrm>
        </p:spPr>
        <p:txBody>
          <a:bodyPr>
            <a:normAutofit/>
          </a:bodyPr>
          <a:lstStyle/>
          <a:p>
            <a:r>
              <a:rPr lang="en-US" altLang="zh-CN" sz="2000" b="1" dirty="0" smtClean="0"/>
              <a:t>EXERCISES 3 FUNCTIONS</a:t>
            </a:r>
          </a:p>
          <a:p>
            <a:endParaRPr lang="en-US" altLang="zh-CN" sz="2000" b="1" dirty="0"/>
          </a:p>
          <a:p>
            <a:r>
              <a:rPr lang="en-US" altLang="zh-CN" sz="2000" dirty="0"/>
              <a:t>8	Compute the daily and hourly salary for employees in department 30, round to the nearest penny. Assume there are 22 working days in a month and 8 working hours in a day.</a:t>
            </a:r>
            <a:endParaRPr lang="zh-CN" altLang="zh-CN" sz="2000" dirty="0"/>
          </a:p>
          <a:p>
            <a:r>
              <a:rPr lang="en-US" altLang="zh-CN" sz="2000" dirty="0"/>
              <a:t> </a:t>
            </a:r>
            <a:endParaRPr lang="en-US" altLang="zh-CN" sz="2000" dirty="0" smtClean="0"/>
          </a:p>
          <a:p>
            <a:r>
              <a:rPr lang="en-US" altLang="zh-CN" sz="2000" dirty="0" smtClean="0"/>
              <a:t>1</a:t>
            </a:r>
            <a:r>
              <a:rPr lang="en-US" altLang="zh-CN" sz="2000" dirty="0"/>
              <a:t> dollar =100 </a:t>
            </a:r>
            <a:r>
              <a:rPr lang="en-US" altLang="zh-CN" sz="2000" dirty="0" smtClean="0"/>
              <a:t>pennies</a:t>
            </a:r>
            <a:r>
              <a:rPr lang="zh-CN" altLang="en-US" sz="2000" dirty="0" smtClean="0"/>
              <a:t>，也就是保留</a:t>
            </a:r>
            <a:r>
              <a:rPr lang="en-US" altLang="zh-CN" sz="2000" dirty="0" smtClean="0"/>
              <a:t>2</a:t>
            </a:r>
            <a:r>
              <a:rPr lang="zh-CN" altLang="en-US" sz="2000" dirty="0" smtClean="0"/>
              <a:t>位小数</a:t>
            </a:r>
            <a:endParaRPr lang="zh-CN" altLang="zh-CN" sz="2000" dirty="0"/>
          </a:p>
        </p:txBody>
      </p:sp>
    </p:spTree>
    <p:extLst>
      <p:ext uri="{BB962C8B-B14F-4D97-AF65-F5344CB8AC3E}">
        <p14:creationId xmlns:p14="http://schemas.microsoft.com/office/powerpoint/2010/main" val="3638445658"/>
      </p:ext>
    </p:extLst>
  </p:cSld>
  <p:clrMapOvr>
    <a:masterClrMapping/>
  </p:clrMapOvr>
  <p:timing>
    <p:tnLst>
      <p:par>
        <p:cTn id="1" dur="indefinite" restart="never" nodeType="tmRoot"/>
      </p:par>
    </p:tn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p:cNvSpPr>
            <a:spLocks noGrp="1"/>
          </p:cNvSpPr>
          <p:nvPr>
            <p:ph type="title"/>
          </p:nvPr>
        </p:nvSpPr>
        <p:spPr/>
        <p:txBody>
          <a:bodyPr/>
          <a:lstStyle/>
          <a:p>
            <a:r>
              <a:rPr lang="zh-CN" altLang="en-US" dirty="0" smtClean="0"/>
              <a:t>实验说明</a:t>
            </a:r>
          </a:p>
        </p:txBody>
      </p:sp>
      <p:sp>
        <p:nvSpPr>
          <p:cNvPr id="174083" name="内容占位符 2"/>
          <p:cNvSpPr>
            <a:spLocks noGrp="1"/>
          </p:cNvSpPr>
          <p:nvPr>
            <p:ph idx="1"/>
          </p:nvPr>
        </p:nvSpPr>
        <p:spPr>
          <a:xfrm>
            <a:off x="723900" y="1663701"/>
            <a:ext cx="7886700" cy="4782366"/>
          </a:xfrm>
        </p:spPr>
        <p:txBody>
          <a:bodyPr>
            <a:normAutofit/>
          </a:bodyPr>
          <a:lstStyle/>
          <a:p>
            <a:r>
              <a:rPr lang="en-US" altLang="zh-CN" sz="2000" b="1" dirty="0" smtClean="0"/>
              <a:t>EXERCISES 4 FUNCTIONS</a:t>
            </a:r>
          </a:p>
          <a:p>
            <a:endParaRPr lang="en-US" altLang="zh-CN" sz="2000" b="1" dirty="0"/>
          </a:p>
          <a:p>
            <a:r>
              <a:rPr lang="en-US" altLang="zh-CN" sz="2000" dirty="0" smtClean="0"/>
              <a:t>MySQL </a:t>
            </a:r>
            <a:r>
              <a:rPr lang="zh-CN" altLang="en-US" sz="2000" dirty="0" smtClean="0"/>
              <a:t>日期函数</a:t>
            </a:r>
            <a:endParaRPr lang="en-US" altLang="zh-CN" sz="2000" dirty="0" smtClean="0"/>
          </a:p>
          <a:p>
            <a:r>
              <a:rPr lang="en-US" altLang="zh-CN" sz="2000" dirty="0" smtClean="0"/>
              <a:t> </a:t>
            </a:r>
            <a:r>
              <a:rPr lang="en-US" altLang="zh-CN" sz="2000" dirty="0" smtClean="0">
                <a:hlinkClick r:id="rId2"/>
              </a:rPr>
              <a:t>MySQL</a:t>
            </a:r>
            <a:r>
              <a:rPr lang="zh-CN" altLang="en-US" sz="2000" dirty="0">
                <a:hlinkClick r:id="rId2"/>
              </a:rPr>
              <a:t>日期函数与日期转换格式化函数</a:t>
            </a:r>
            <a:r>
              <a:rPr lang="zh-CN" altLang="en-US" sz="2000" dirty="0" smtClean="0">
                <a:hlinkClick r:id="rId2"/>
              </a:rPr>
              <a:t>大全</a:t>
            </a:r>
            <a:endParaRPr lang="en-US" altLang="zh-CN" sz="2000" dirty="0"/>
          </a:p>
          <a:p>
            <a:endParaRPr lang="en-US" altLang="zh-CN" sz="2000" b="1" dirty="0" smtClean="0"/>
          </a:p>
          <a:p>
            <a:r>
              <a:rPr lang="en-US" altLang="zh-CN" sz="2000" b="1" dirty="0" err="1" smtClean="0"/>
              <a:t>To_char</a:t>
            </a:r>
            <a:r>
              <a:rPr lang="en-US" altLang="zh-CN" sz="2000" b="1" dirty="0" smtClean="0"/>
              <a:t> </a:t>
            </a:r>
            <a:r>
              <a:rPr lang="zh-CN" altLang="en-US" sz="2000" b="1" dirty="0" smtClean="0"/>
              <a:t>可以用</a:t>
            </a:r>
            <a:r>
              <a:rPr lang="en-US" altLang="zh-CN" sz="2000" dirty="0" smtClean="0"/>
              <a:t>DATE_FORMAT </a:t>
            </a:r>
            <a:r>
              <a:rPr lang="zh-CN" altLang="en-US" sz="2000" dirty="0"/>
              <a:t>代替</a:t>
            </a:r>
            <a:endParaRPr lang="en-US" altLang="zh-CN" sz="2000" b="1" dirty="0" smtClean="0"/>
          </a:p>
          <a:p>
            <a:endParaRPr lang="en-US" altLang="zh-CN" sz="2000" b="1" dirty="0" smtClean="0"/>
          </a:p>
          <a:p>
            <a:r>
              <a:rPr lang="en-US" altLang="zh-CN" sz="2000" dirty="0" smtClean="0"/>
              <a:t>3. Which </a:t>
            </a:r>
            <a:r>
              <a:rPr lang="en-US" altLang="zh-CN" sz="2000" dirty="0"/>
              <a:t>employees were hired in April?</a:t>
            </a:r>
            <a:endParaRPr lang="zh-CN" altLang="zh-CN" sz="2000" dirty="0"/>
          </a:p>
          <a:p>
            <a:pPr>
              <a:lnSpc>
                <a:spcPct val="100000"/>
              </a:lnSpc>
            </a:pPr>
            <a:r>
              <a:rPr lang="en-US" altLang="zh-CN" sz="2000" b="1" dirty="0" smtClean="0"/>
              <a:t> MONTH(date)</a:t>
            </a:r>
            <a:r>
              <a:rPr lang="zh-CN" altLang="en-US" sz="2000" b="1" dirty="0" smtClean="0"/>
              <a:t>，</a:t>
            </a:r>
            <a:r>
              <a:rPr lang="zh-CN" altLang="zh-CN" sz="2000" dirty="0">
                <a:solidFill>
                  <a:srgbClr val="4F4F4F"/>
                </a:solidFill>
                <a:latin typeface="Arial Unicode MS" panose="020B0604020202020204" pitchFamily="34" charset="-122"/>
              </a:rPr>
              <a:t>表示返回date是当年的第几月，1月就返回1，... ,12月就返回12</a:t>
            </a:r>
            <a:r>
              <a:rPr lang="zh-CN" altLang="zh-CN" sz="800" dirty="0"/>
              <a:t> </a:t>
            </a:r>
            <a:endParaRPr lang="zh-CN" altLang="zh-CN" sz="3200" dirty="0">
              <a:latin typeface="Arial" panose="020B0604020202020204" pitchFamily="34" charset="0"/>
            </a:endParaRPr>
          </a:p>
          <a:p>
            <a:endParaRPr lang="zh-CN" altLang="zh-CN" sz="2000" dirty="0"/>
          </a:p>
        </p:txBody>
      </p:sp>
    </p:spTree>
    <p:extLst>
      <p:ext uri="{BB962C8B-B14F-4D97-AF65-F5344CB8AC3E}">
        <p14:creationId xmlns:p14="http://schemas.microsoft.com/office/powerpoint/2010/main" val="2112485187"/>
      </p:ext>
    </p:extLst>
  </p:cSld>
  <p:clrMapOvr>
    <a:masterClrMapping/>
  </p:clrMapOvr>
  <p:timing>
    <p:tnLst>
      <p:par>
        <p:cTn id="1" dur="indefinite" restart="never" nodeType="tmRoot"/>
      </p:par>
    </p:tn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082" name="标题 1"/>
          <p:cNvSpPr>
            <a:spLocks noGrp="1"/>
          </p:cNvSpPr>
          <p:nvPr>
            <p:ph type="title"/>
          </p:nvPr>
        </p:nvSpPr>
        <p:spPr/>
        <p:txBody>
          <a:bodyPr/>
          <a:lstStyle/>
          <a:p>
            <a:r>
              <a:rPr lang="zh-CN" altLang="en-US" dirty="0" smtClean="0"/>
              <a:t>实验说明</a:t>
            </a:r>
          </a:p>
        </p:txBody>
      </p:sp>
      <p:sp>
        <p:nvSpPr>
          <p:cNvPr id="174083" name="内容占位符 2"/>
          <p:cNvSpPr>
            <a:spLocks noGrp="1"/>
          </p:cNvSpPr>
          <p:nvPr>
            <p:ph idx="1"/>
          </p:nvPr>
        </p:nvSpPr>
        <p:spPr>
          <a:xfrm>
            <a:off x="723900" y="1663701"/>
            <a:ext cx="7886700" cy="4782366"/>
          </a:xfrm>
        </p:spPr>
        <p:txBody>
          <a:bodyPr>
            <a:normAutofit/>
          </a:bodyPr>
          <a:lstStyle/>
          <a:p>
            <a:r>
              <a:rPr lang="en-US" altLang="zh-CN" sz="2000" b="1" dirty="0" smtClean="0"/>
              <a:t>EXERCISES 4 FUNCTIONS</a:t>
            </a:r>
          </a:p>
          <a:p>
            <a:endParaRPr lang="en-US" altLang="zh-CN" sz="2000" b="1" dirty="0" smtClean="0"/>
          </a:p>
          <a:p>
            <a:r>
              <a:rPr lang="en-US" altLang="zh-CN" sz="2000" dirty="0" err="1"/>
              <a:t>last_day</a:t>
            </a:r>
            <a:r>
              <a:rPr lang="zh-CN" altLang="en-US" sz="2000" dirty="0"/>
              <a:t>求一个日期所在月的最后一天</a:t>
            </a:r>
            <a:endParaRPr lang="en-US" altLang="zh-CN" sz="2000" dirty="0"/>
          </a:p>
          <a:p>
            <a:endParaRPr lang="en-US" altLang="zh-CN" sz="2000" b="1" dirty="0" smtClean="0"/>
          </a:p>
          <a:p>
            <a:r>
              <a:rPr lang="en-US" altLang="zh-CN" sz="2000" dirty="0"/>
              <a:t>6	Show the weekday of the first day of the month in which each employee was hired. (plus their names</a:t>
            </a:r>
            <a:r>
              <a:rPr lang="en-US" altLang="zh-CN" sz="2000" dirty="0" smtClean="0"/>
              <a:t>)  </a:t>
            </a:r>
            <a:r>
              <a:rPr lang="zh-CN" altLang="en-US" sz="2000" dirty="0" smtClean="0"/>
              <a:t>（雇用月的第一天是周几）</a:t>
            </a:r>
            <a:endParaRPr lang="zh-CN" altLang="zh-CN" sz="2000" dirty="0"/>
          </a:p>
          <a:p>
            <a:r>
              <a:rPr lang="en-US" altLang="zh-CN" sz="2000" dirty="0"/>
              <a:t> </a:t>
            </a:r>
            <a:r>
              <a:rPr lang="zh-CN" altLang="zh-CN" sz="2000" dirty="0" smtClean="0"/>
              <a:t>这里</a:t>
            </a:r>
            <a:r>
              <a:rPr lang="zh-CN" altLang="zh-CN" sz="2000" dirty="0"/>
              <a:t>需要用到</a:t>
            </a:r>
            <a:r>
              <a:rPr lang="en-US" altLang="zh-CN" sz="2000" dirty="0"/>
              <a:t>DATE_ADD(HIREDATE, INTERVAL -1 month)</a:t>
            </a:r>
            <a:r>
              <a:rPr lang="zh-CN" altLang="zh-CN" sz="2000" dirty="0"/>
              <a:t>，求出上个月的这一天，并且用</a:t>
            </a:r>
            <a:r>
              <a:rPr lang="en-US" altLang="zh-CN" sz="2000" dirty="0"/>
              <a:t>LAST_DAY</a:t>
            </a:r>
            <a:r>
              <a:rPr lang="zh-CN" altLang="zh-CN" sz="2000" dirty="0"/>
              <a:t>求出上个月的最后一天，然后再加一天便是下个月的第一天。</a:t>
            </a:r>
          </a:p>
          <a:p>
            <a:endParaRPr lang="zh-CN" altLang="zh-CN" sz="2000" dirty="0"/>
          </a:p>
          <a:p>
            <a:endParaRPr lang="en-US" altLang="zh-CN" sz="2000" b="1" dirty="0"/>
          </a:p>
        </p:txBody>
      </p:sp>
    </p:spTree>
    <p:extLst>
      <p:ext uri="{BB962C8B-B14F-4D97-AF65-F5344CB8AC3E}">
        <p14:creationId xmlns:p14="http://schemas.microsoft.com/office/powerpoint/2010/main" val="1226317621"/>
      </p:ext>
    </p:extLst>
  </p:cSld>
  <p:clrMapOvr>
    <a:masterClrMapping/>
  </p:clrMapOvr>
  <p:timing>
    <p:tnLst>
      <p:par>
        <p:cTn id="1" dur="indefinite" restart="never" nodeType="tmRoot"/>
      </p:par>
    </p:tn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6130" name="标题 1"/>
          <p:cNvSpPr>
            <a:spLocks noGrp="1"/>
          </p:cNvSpPr>
          <p:nvPr>
            <p:ph type="title"/>
          </p:nvPr>
        </p:nvSpPr>
        <p:spPr/>
        <p:txBody>
          <a:bodyPr/>
          <a:lstStyle/>
          <a:p>
            <a:r>
              <a:rPr lang="zh-CN" altLang="en-US" dirty="0" smtClean="0"/>
              <a:t>实验解释</a:t>
            </a:r>
          </a:p>
        </p:txBody>
      </p:sp>
      <p:sp>
        <p:nvSpPr>
          <p:cNvPr id="176131" name="内容占位符 2"/>
          <p:cNvSpPr>
            <a:spLocks noGrp="1"/>
          </p:cNvSpPr>
          <p:nvPr>
            <p:ph idx="1"/>
          </p:nvPr>
        </p:nvSpPr>
        <p:spPr>
          <a:xfrm>
            <a:off x="723900" y="1663701"/>
            <a:ext cx="7886700" cy="5126398"/>
          </a:xfrm>
        </p:spPr>
        <p:txBody>
          <a:bodyPr>
            <a:normAutofit fontScale="70000" lnSpcReduction="20000"/>
          </a:bodyPr>
          <a:lstStyle/>
          <a:p>
            <a:r>
              <a:rPr lang="en-US" altLang="zh-CN" dirty="0"/>
              <a:t> 7	Show details of employee </a:t>
            </a:r>
            <a:r>
              <a:rPr lang="en-US" altLang="zh-CN" dirty="0" err="1"/>
              <a:t>hiredates</a:t>
            </a:r>
            <a:r>
              <a:rPr lang="en-US" altLang="zh-CN" dirty="0"/>
              <a:t> and the date of their first payday. (Paydays occur on the last Friday of each month) (plus their names) </a:t>
            </a:r>
            <a:r>
              <a:rPr lang="zh-CN" altLang="en-US" dirty="0"/>
              <a:t>（第一个发工资的日期，发工资日期为每个月的最后一个周五</a:t>
            </a:r>
            <a:r>
              <a:rPr lang="zh-CN" altLang="en-US" dirty="0" smtClean="0"/>
              <a:t>）</a:t>
            </a:r>
            <a:endParaRPr lang="en-US" altLang="zh-CN" dirty="0" smtClean="0"/>
          </a:p>
          <a:p>
            <a:endParaRPr lang="en-US" altLang="zh-CN" dirty="0"/>
          </a:p>
          <a:p>
            <a:endParaRPr lang="en-US" altLang="zh-CN" dirty="0" smtClean="0"/>
          </a:p>
          <a:p>
            <a:endParaRPr lang="en-US" altLang="zh-CN" dirty="0" smtClean="0"/>
          </a:p>
          <a:p>
            <a:endParaRPr lang="en-US" altLang="zh-CN" dirty="0"/>
          </a:p>
          <a:p>
            <a:pPr>
              <a:lnSpc>
                <a:spcPct val="120000"/>
              </a:lnSpc>
            </a:pPr>
            <a:r>
              <a:rPr lang="en-US" altLang="zh-CN" b="1" dirty="0"/>
              <a:t>WEEKDAY(date</a:t>
            </a:r>
            <a:r>
              <a:rPr lang="en-US" altLang="zh-CN" b="1" dirty="0" smtClean="0"/>
              <a:t>)</a:t>
            </a:r>
            <a:r>
              <a:rPr lang="zh-CN" altLang="en-US" b="1" dirty="0" smtClean="0"/>
              <a:t>，</a:t>
            </a:r>
            <a:r>
              <a:rPr lang="zh-CN" altLang="zh-CN" dirty="0">
                <a:latin typeface="Arial Unicode MS" panose="020B0604020202020204" pitchFamily="34" charset="-122"/>
              </a:rPr>
              <a:t>表示返回date是在一周中的序号</a:t>
            </a:r>
            <a:r>
              <a:rPr lang="zh-CN" altLang="zh-CN" dirty="0" smtClean="0">
                <a:latin typeface="Arial Unicode MS" panose="020B0604020202020204" pitchFamily="34" charset="-122"/>
              </a:rPr>
              <a:t>，并且</a:t>
            </a:r>
            <a:r>
              <a:rPr lang="zh-CN" altLang="zh-CN" dirty="0">
                <a:latin typeface="Arial Unicode MS" panose="020B0604020202020204" pitchFamily="34" charset="-122"/>
              </a:rPr>
              <a:t>以0开始计数，所以，记住：0=星期一，1=星期二， ... 5=星期六)</a:t>
            </a:r>
            <a:r>
              <a:rPr lang="zh-CN" altLang="zh-CN" sz="800" dirty="0"/>
              <a:t> </a:t>
            </a:r>
            <a:endParaRPr lang="en-US" altLang="zh-CN" sz="800" dirty="0" smtClean="0"/>
          </a:p>
          <a:p>
            <a:pPr>
              <a:lnSpc>
                <a:spcPct val="120000"/>
              </a:lnSpc>
            </a:pPr>
            <a:r>
              <a:rPr lang="zh-CN" altLang="en-US" sz="2600" dirty="0" smtClean="0">
                <a:latin typeface="Arial" panose="020B0604020202020204" pitchFamily="34" charset="0"/>
              </a:rPr>
              <a:t>思路，求出第一个月的最后一天是周几，然后分情况前推最后一个周五，</a:t>
            </a:r>
            <a:endParaRPr lang="en-US" altLang="zh-CN" sz="2600" dirty="0" smtClean="0">
              <a:latin typeface="Arial" panose="020B0604020202020204" pitchFamily="34" charset="0"/>
            </a:endParaRPr>
          </a:p>
          <a:p>
            <a:pPr>
              <a:lnSpc>
                <a:spcPct val="120000"/>
              </a:lnSpc>
            </a:pPr>
            <a:r>
              <a:rPr lang="zh-CN" altLang="en-US" sz="2600" dirty="0" smtClean="0">
                <a:latin typeface="Arial" panose="020B0604020202020204" pitchFamily="34" charset="0"/>
              </a:rPr>
              <a:t>最后一天是大于周五的情况，</a:t>
            </a:r>
            <a:r>
              <a:rPr lang="en-US" altLang="zh-CN" sz="2600" dirty="0" smtClean="0"/>
              <a:t>4-weekday(</a:t>
            </a:r>
            <a:r>
              <a:rPr lang="en-US" altLang="zh-CN" sz="2600" b="1" dirty="0" smtClean="0"/>
              <a:t>LAST_DAY</a:t>
            </a:r>
            <a:r>
              <a:rPr lang="en-US" altLang="zh-CN" sz="2600" dirty="0" smtClean="0"/>
              <a:t>(HIREDATE</a:t>
            </a:r>
            <a:r>
              <a:rPr lang="en-US" altLang="zh-CN" sz="2600" dirty="0"/>
              <a:t>))</a:t>
            </a:r>
            <a:endParaRPr lang="zh-CN" altLang="zh-CN" sz="2600" dirty="0">
              <a:latin typeface="Arial" panose="020B0604020202020204" pitchFamily="34" charset="0"/>
            </a:endParaRPr>
          </a:p>
          <a:p>
            <a:pPr>
              <a:lnSpc>
                <a:spcPct val="120000"/>
              </a:lnSpc>
            </a:pPr>
            <a:r>
              <a:rPr lang="zh-CN" altLang="en-US" sz="2600" dirty="0">
                <a:latin typeface="Arial" panose="020B0604020202020204" pitchFamily="34" charset="0"/>
              </a:rPr>
              <a:t>最后一天</a:t>
            </a:r>
            <a:r>
              <a:rPr lang="zh-CN" altLang="en-US" sz="2600" dirty="0" smtClean="0">
                <a:latin typeface="Arial" panose="020B0604020202020204" pitchFamily="34" charset="0"/>
              </a:rPr>
              <a:t>是不大于</a:t>
            </a:r>
            <a:r>
              <a:rPr lang="zh-CN" altLang="en-US" sz="2600" dirty="0">
                <a:latin typeface="Arial" panose="020B0604020202020204" pitchFamily="34" charset="0"/>
              </a:rPr>
              <a:t>周五的</a:t>
            </a:r>
            <a:r>
              <a:rPr lang="zh-CN" altLang="en-US" sz="2600" dirty="0" smtClean="0">
                <a:latin typeface="Arial" panose="020B0604020202020204" pitchFamily="34" charset="0"/>
              </a:rPr>
              <a:t>情况，</a:t>
            </a:r>
            <a:r>
              <a:rPr lang="en-US" altLang="zh-CN" sz="2600" dirty="0"/>
              <a:t> -7+4-weekday(</a:t>
            </a:r>
            <a:r>
              <a:rPr lang="en-US" altLang="zh-CN" sz="2600" b="1" dirty="0"/>
              <a:t>LAST_DAY</a:t>
            </a:r>
            <a:r>
              <a:rPr lang="en-US" altLang="zh-CN" sz="2600" dirty="0"/>
              <a:t>(HIREDATE))</a:t>
            </a:r>
          </a:p>
        </p:txBody>
      </p:sp>
      <p:sp>
        <p:nvSpPr>
          <p:cNvPr id="2" name="矩形 1"/>
          <p:cNvSpPr/>
          <p:nvPr/>
        </p:nvSpPr>
        <p:spPr>
          <a:xfrm>
            <a:off x="1602508" y="3420983"/>
            <a:ext cx="5297055" cy="646331"/>
          </a:xfrm>
          <a:prstGeom prst="rect">
            <a:avLst/>
          </a:prstGeom>
        </p:spPr>
        <p:txBody>
          <a:bodyPr wrap="square">
            <a:spAutoFit/>
          </a:bodyPr>
          <a:lstStyle/>
          <a:p>
            <a:r>
              <a:rPr lang="zh-CN" altLang="en-US" dirty="0"/>
              <a:t>select ename, hiredate, next_day(last_day(hiredate)-7, 'FRIDAY') "Pay Day" from emp;</a:t>
            </a:r>
          </a:p>
        </p:txBody>
      </p:sp>
      <p:sp>
        <p:nvSpPr>
          <p:cNvPr id="3" name="矩形 2"/>
          <p:cNvSpPr/>
          <p:nvPr/>
        </p:nvSpPr>
        <p:spPr>
          <a:xfrm>
            <a:off x="1602508" y="2782914"/>
            <a:ext cx="6710219" cy="923330"/>
          </a:xfrm>
          <a:prstGeom prst="rect">
            <a:avLst/>
          </a:prstGeom>
        </p:spPr>
        <p:txBody>
          <a:bodyPr wrap="square">
            <a:spAutoFit/>
          </a:bodyPr>
          <a:lstStyle/>
          <a:p>
            <a:r>
              <a:rPr lang="zh-CN" altLang="en-US" dirty="0"/>
              <a:t>select ename, hiredate,  next_day(last_day(next_day(hiredate, </a:t>
            </a:r>
            <a:r>
              <a:rPr lang="zh-CN" altLang="en-US" dirty="0" smtClean="0"/>
              <a:t>'FRIDAY'))-</a:t>
            </a:r>
            <a:r>
              <a:rPr lang="zh-CN" altLang="en-US" dirty="0"/>
              <a:t>7, </a:t>
            </a:r>
            <a:r>
              <a:rPr lang="zh-CN" altLang="en-US" dirty="0" smtClean="0"/>
              <a:t>'FRIDAY') "Pay </a:t>
            </a:r>
            <a:r>
              <a:rPr lang="zh-CN" altLang="en-US" dirty="0"/>
              <a:t>Day" from emp;</a:t>
            </a:r>
          </a:p>
          <a:p>
            <a:endParaRPr lang="zh-CN" altLang="en-US" dirty="0"/>
          </a:p>
        </p:txBody>
      </p:sp>
    </p:spTree>
    <p:extLst>
      <p:ext uri="{BB962C8B-B14F-4D97-AF65-F5344CB8AC3E}">
        <p14:creationId xmlns:p14="http://schemas.microsoft.com/office/powerpoint/2010/main" val="38544772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additive="base">
                                        <p:cTn id="7" dur="500" fill="hold"/>
                                        <p:tgtEl>
                                          <p:spTgt spid="2"/>
                                        </p:tgtEl>
                                        <p:attrNameLst>
                                          <p:attrName>ppt_x</p:attrName>
                                        </p:attrNameLst>
                                      </p:cBhvr>
                                      <p:tavLst>
                                        <p:tav tm="0">
                                          <p:val>
                                            <p:strVal val="#ppt_x"/>
                                          </p:val>
                                        </p:tav>
                                        <p:tav tm="100000">
                                          <p:val>
                                            <p:strVal val="#ppt_x"/>
                                          </p:val>
                                        </p:tav>
                                      </p:tavLst>
                                    </p:anim>
                                    <p:anim calcmode="lin" valueType="num">
                                      <p:cBhvr additive="base">
                                        <p:cTn id="8" dur="500" fill="hold"/>
                                        <p:tgtEl>
                                          <p:spTgt spid="2"/>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grpId="0" nodeType="clickEffect">
                                  <p:stCondLst>
                                    <p:cond delay="0"/>
                                  </p:stCondLst>
                                  <p:childTnLst>
                                    <p:set>
                                      <p:cBhvr>
                                        <p:cTn id="12" dur="1" fill="hold">
                                          <p:stCondLst>
                                            <p:cond delay="0"/>
                                          </p:stCondLst>
                                        </p:cTn>
                                        <p:tgtEl>
                                          <p:spTgt spid="3"/>
                                        </p:tgtEl>
                                        <p:attrNameLst>
                                          <p:attrName>style.visibility</p:attrName>
                                        </p:attrNameLst>
                                      </p:cBhvr>
                                      <p:to>
                                        <p:strVal val="visible"/>
                                      </p:to>
                                    </p:set>
                                    <p:anim calcmode="lin" valueType="num">
                                      <p:cBhvr additive="base">
                                        <p:cTn id="13" dur="500" fill="hold"/>
                                        <p:tgtEl>
                                          <p:spTgt spid="3"/>
                                        </p:tgtEl>
                                        <p:attrNameLst>
                                          <p:attrName>ppt_x</p:attrName>
                                        </p:attrNameLst>
                                      </p:cBhvr>
                                      <p:tavLst>
                                        <p:tav tm="0">
                                          <p:val>
                                            <p:strVal val="#ppt_x"/>
                                          </p:val>
                                        </p:tav>
                                        <p:tav tm="100000">
                                          <p:val>
                                            <p:strVal val="#ppt_x"/>
                                          </p:val>
                                        </p:tav>
                                      </p:tavLst>
                                    </p:anim>
                                    <p:anim calcmode="lin" valueType="num">
                                      <p:cBhvr additive="base">
                                        <p:cTn id="14"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p:bldLst>
  </p:timing>
</p:sld>
</file>

<file path=ppt/theme/theme1.xml><?xml version="1.0" encoding="utf-8"?>
<a:theme xmlns:a="http://schemas.openxmlformats.org/drawingml/2006/main" name="Office 主题">
  <a:themeElements>
    <a:clrScheme name="Office 主题">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主题">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主题">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1984</TotalTime>
  <Words>3458</Words>
  <Application>Microsoft Office PowerPoint</Application>
  <PresentationFormat>全屏显示(4:3)</PresentationFormat>
  <Paragraphs>937</Paragraphs>
  <Slides>57</Slides>
  <Notes>10</Notes>
  <HiddenSlides>2</HiddenSlides>
  <MMClips>0</MMClips>
  <ScaleCrop>false</ScaleCrop>
  <HeadingPairs>
    <vt:vector size="8" baseType="variant">
      <vt:variant>
        <vt:lpstr>已用的字体</vt:lpstr>
      </vt:variant>
      <vt:variant>
        <vt:i4>11</vt:i4>
      </vt:variant>
      <vt:variant>
        <vt:lpstr>主题</vt:lpstr>
      </vt:variant>
      <vt:variant>
        <vt:i4>1</vt:i4>
      </vt:variant>
      <vt:variant>
        <vt:lpstr>嵌入 OLE 服务器</vt:lpstr>
      </vt:variant>
      <vt:variant>
        <vt:i4>1</vt:i4>
      </vt:variant>
      <vt:variant>
        <vt:lpstr>幻灯片标题</vt:lpstr>
      </vt:variant>
      <vt:variant>
        <vt:i4>57</vt:i4>
      </vt:variant>
    </vt:vector>
  </HeadingPairs>
  <TitlesOfParts>
    <vt:vector size="70" baseType="lpstr">
      <vt:lpstr>Arial Unicode MS</vt:lpstr>
      <vt:lpstr>Monotype Sorts</vt:lpstr>
      <vt:lpstr>黑体</vt:lpstr>
      <vt:lpstr>宋体</vt:lpstr>
      <vt:lpstr>Arial</vt:lpstr>
      <vt:lpstr>Calibri</vt:lpstr>
      <vt:lpstr>Calibri Light</vt:lpstr>
      <vt:lpstr>Courier New</vt:lpstr>
      <vt:lpstr>Symbol</vt:lpstr>
      <vt:lpstr>Times New Roman</vt:lpstr>
      <vt:lpstr>Wingdings</vt:lpstr>
      <vt:lpstr>Office 主题</vt:lpstr>
      <vt:lpstr>文档</vt:lpstr>
      <vt:lpstr>关系数据库标准语言SQL </vt:lpstr>
      <vt:lpstr>第三章  关系数据库标准语言SQL</vt:lpstr>
      <vt:lpstr>1. 连接查询 </vt:lpstr>
      <vt:lpstr>连接查询（续）</vt:lpstr>
      <vt:lpstr>（1） 等值与非等值连接查询 </vt:lpstr>
      <vt:lpstr>等值与非等值连接查询（续）</vt:lpstr>
      <vt:lpstr>等值与非等值连接查询（续）</vt:lpstr>
      <vt:lpstr>等值与非等值连接查询（续）</vt:lpstr>
      <vt:lpstr>等值与非等值连接查询（续）</vt:lpstr>
      <vt:lpstr>(2) 自身连接 </vt:lpstr>
      <vt:lpstr>自身连接（续）</vt:lpstr>
      <vt:lpstr>(3) 外连接</vt:lpstr>
      <vt:lpstr>例子</vt:lpstr>
      <vt:lpstr>示例</vt:lpstr>
      <vt:lpstr>练习</vt:lpstr>
      <vt:lpstr>练习</vt:lpstr>
      <vt:lpstr>(4) 多表连接</vt:lpstr>
      <vt:lpstr>多表连接</vt:lpstr>
      <vt:lpstr>2.嵌套查询</vt:lpstr>
      <vt:lpstr>2.  嵌套查询</vt:lpstr>
      <vt:lpstr>数据表示例</vt:lpstr>
      <vt:lpstr>(1). 带有IN谓词的子查询</vt:lpstr>
      <vt:lpstr>带有IN谓词的子查询（续）</vt:lpstr>
      <vt:lpstr>带有IN谓词的子查询（续）</vt:lpstr>
      <vt:lpstr>(2). 带有比较运算符的子查询</vt:lpstr>
      <vt:lpstr>带有比较运算符的子查询（续）</vt:lpstr>
      <vt:lpstr>带有比较运算符的子查询（续）</vt:lpstr>
      <vt:lpstr>(3)带有ANY（SOME）或ALL谓词的子查询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带有ANY（SOME）或ALL谓词的子查询 （续）</vt:lpstr>
      <vt:lpstr>(4)带有EXISTS谓词的子查询</vt:lpstr>
      <vt:lpstr>带有EXISTS谓词的子查询（续）</vt:lpstr>
      <vt:lpstr>带有EXISTS谓词的子查询（续）</vt:lpstr>
      <vt:lpstr>带有EXISTS谓词的子查询（续）</vt:lpstr>
      <vt:lpstr>带有EXISTS谓词的子查询（续）</vt:lpstr>
      <vt:lpstr>带有EXISTS谓词的子查询（续）</vt:lpstr>
      <vt:lpstr>带有EXISTS谓词的子查询（续） </vt:lpstr>
      <vt:lpstr>带有EXISTS谓词的子查询（续） </vt:lpstr>
      <vt:lpstr>带有EXISTS谓词的子查询（续） </vt:lpstr>
      <vt:lpstr>3. 插入元组</vt:lpstr>
      <vt:lpstr>插入元组（续）</vt:lpstr>
      <vt:lpstr>插入子查询结果</vt:lpstr>
      <vt:lpstr>4  修改数据</vt:lpstr>
      <vt:lpstr>CON…</vt:lpstr>
      <vt:lpstr>5.  删除数据</vt:lpstr>
      <vt:lpstr>带子查询的删除语句</vt:lpstr>
      <vt:lpstr>CON…</vt:lpstr>
      <vt:lpstr>实验说明</vt:lpstr>
      <vt:lpstr>实验说明</vt:lpstr>
      <vt:lpstr>实验说明</vt:lpstr>
      <vt:lpstr>实验说明</vt:lpstr>
      <vt:lpstr>实验解释</vt:lpstr>
    </vt:vector>
  </TitlesOfParts>
  <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DELL</dc:creator>
  <cp:lastModifiedBy>DELL</cp:lastModifiedBy>
  <cp:revision>478</cp:revision>
  <dcterms:created xsi:type="dcterms:W3CDTF">2020-09-13T01:44:02Z</dcterms:created>
  <dcterms:modified xsi:type="dcterms:W3CDTF">2025-09-26T06:22:08Z</dcterms:modified>
</cp:coreProperties>
</file>