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76"/>
  </p:notesMasterIdLst>
  <p:handoutMasterIdLst>
    <p:handoutMasterId r:id="rId77"/>
  </p:handoutMasterIdLst>
  <p:sldIdLst>
    <p:sldId id="256" r:id="rId2"/>
    <p:sldId id="698" r:id="rId3"/>
    <p:sldId id="575" r:id="rId4"/>
    <p:sldId id="581" r:id="rId5"/>
    <p:sldId id="584" r:id="rId6"/>
    <p:sldId id="588" r:id="rId7"/>
    <p:sldId id="578" r:id="rId8"/>
    <p:sldId id="592" r:id="rId9"/>
    <p:sldId id="593" r:id="rId10"/>
    <p:sldId id="608" r:id="rId11"/>
    <p:sldId id="609" r:id="rId12"/>
    <p:sldId id="598" r:id="rId13"/>
    <p:sldId id="600" r:id="rId14"/>
    <p:sldId id="602" r:id="rId15"/>
    <p:sldId id="650" r:id="rId16"/>
    <p:sldId id="621" r:id="rId17"/>
    <p:sldId id="623" r:id="rId18"/>
    <p:sldId id="624" r:id="rId19"/>
    <p:sldId id="626" r:id="rId20"/>
    <p:sldId id="628" r:id="rId21"/>
    <p:sldId id="651" r:id="rId22"/>
    <p:sldId id="652" r:id="rId23"/>
    <p:sldId id="634" r:id="rId24"/>
    <p:sldId id="635" r:id="rId25"/>
    <p:sldId id="637" r:id="rId26"/>
    <p:sldId id="638" r:id="rId27"/>
    <p:sldId id="639" r:id="rId28"/>
    <p:sldId id="640" r:id="rId29"/>
    <p:sldId id="641" r:id="rId30"/>
    <p:sldId id="642" r:id="rId31"/>
    <p:sldId id="643" r:id="rId32"/>
    <p:sldId id="644" r:id="rId33"/>
    <p:sldId id="700" r:id="rId34"/>
    <p:sldId id="701" r:id="rId35"/>
    <p:sldId id="702" r:id="rId36"/>
    <p:sldId id="703" r:id="rId37"/>
    <p:sldId id="704" r:id="rId38"/>
    <p:sldId id="653" r:id="rId39"/>
    <p:sldId id="654" r:id="rId40"/>
    <p:sldId id="655" r:id="rId41"/>
    <p:sldId id="656" r:id="rId42"/>
    <p:sldId id="657" r:id="rId43"/>
    <p:sldId id="658" r:id="rId44"/>
    <p:sldId id="659" r:id="rId45"/>
    <p:sldId id="660" r:id="rId46"/>
    <p:sldId id="706" r:id="rId47"/>
    <p:sldId id="662" r:id="rId48"/>
    <p:sldId id="663" r:id="rId49"/>
    <p:sldId id="699" r:id="rId50"/>
    <p:sldId id="665" r:id="rId51"/>
    <p:sldId id="666" r:id="rId52"/>
    <p:sldId id="667" r:id="rId53"/>
    <p:sldId id="668" r:id="rId54"/>
    <p:sldId id="669" r:id="rId55"/>
    <p:sldId id="673" r:id="rId56"/>
    <p:sldId id="674" r:id="rId57"/>
    <p:sldId id="677" r:id="rId58"/>
    <p:sldId id="678" r:id="rId59"/>
    <p:sldId id="679" r:id="rId60"/>
    <p:sldId id="680" r:id="rId61"/>
    <p:sldId id="681" r:id="rId62"/>
    <p:sldId id="682" r:id="rId63"/>
    <p:sldId id="683" r:id="rId64"/>
    <p:sldId id="685" r:id="rId65"/>
    <p:sldId id="687" r:id="rId66"/>
    <p:sldId id="689" r:id="rId67"/>
    <p:sldId id="690" r:id="rId68"/>
    <p:sldId id="691" r:id="rId69"/>
    <p:sldId id="692" r:id="rId70"/>
    <p:sldId id="693" r:id="rId71"/>
    <p:sldId id="695" r:id="rId72"/>
    <p:sldId id="696" r:id="rId73"/>
    <p:sldId id="697" r:id="rId74"/>
    <p:sldId id="705" r:id="rId75"/>
  </p:sldIdLst>
  <p:sldSz cx="9144000" cy="6858000" type="screen4x3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1514" autoAdjust="0"/>
  </p:normalViewPr>
  <p:slideViewPr>
    <p:cSldViewPr snapToGrid="0">
      <p:cViewPr varScale="1">
        <p:scale>
          <a:sx n="117" d="100"/>
          <a:sy n="117" d="100"/>
        </p:scale>
        <p:origin x="282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1A9A8-C18D-484C-B828-6040E470E756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BC43F-A4E1-4EA4-B1DA-8AFDE111F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712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14743-55CB-4535-BFA3-9EBD9B1C88C9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58177-CB7F-483B-8710-93D2E5EA7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39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William_Ward_Armstrong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655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034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515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180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089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4297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solidFill>
                  <a:schemeClr val="accent1"/>
                </a:solidFill>
                <a:ea typeface="+mn-ea"/>
              </a:rPr>
              <a:t>Theorem</a:t>
            </a:r>
            <a:r>
              <a:rPr lang="en-US" altLang="zh-CN" dirty="0" smtClean="0">
                <a:ea typeface="+mn-ea"/>
              </a:rPr>
              <a:t>: Armstrong's Axioms are </a:t>
            </a:r>
            <a:r>
              <a:rPr lang="en-US" altLang="zh-CN" dirty="0" smtClean="0">
                <a:solidFill>
                  <a:schemeClr val="accent1"/>
                </a:solidFill>
                <a:ea typeface="+mn-ea"/>
              </a:rPr>
              <a:t>sound</a:t>
            </a:r>
            <a:r>
              <a:rPr lang="en-US" altLang="zh-CN" dirty="0" smtClean="0">
                <a:ea typeface="+mn-ea"/>
              </a:rPr>
              <a:t> and </a:t>
            </a:r>
            <a:r>
              <a:rPr lang="en-US" altLang="zh-CN" dirty="0" smtClean="0">
                <a:solidFill>
                  <a:schemeClr val="accent1"/>
                </a:solidFill>
                <a:ea typeface="+mn-ea"/>
              </a:rPr>
              <a:t>complete</a:t>
            </a:r>
            <a:r>
              <a:rPr lang="en-US" altLang="zh-CN" dirty="0" smtClean="0">
                <a:ea typeface="+mn-ea"/>
              </a:rPr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solidFill>
                  <a:schemeClr val="accent1"/>
                </a:solidFill>
                <a:ea typeface="+mn-ea"/>
              </a:rPr>
              <a:t>Sound</a:t>
            </a:r>
            <a:r>
              <a:rPr lang="en-US" altLang="zh-CN" dirty="0" smtClean="0">
                <a:ea typeface="+mn-ea"/>
              </a:rPr>
              <a:t> --- no incorrect FD can be generated from F using Armstrong's Axioms.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solidFill>
                  <a:schemeClr val="accent1"/>
                </a:solidFill>
                <a:ea typeface="+mn-ea"/>
              </a:rPr>
              <a:t>Complete</a:t>
            </a:r>
            <a:r>
              <a:rPr lang="en-US" altLang="zh-CN" dirty="0" smtClean="0">
                <a:ea typeface="+mn-ea"/>
              </a:rPr>
              <a:t> --- Given a set of FDs F, all FDs in F</a:t>
            </a:r>
            <a:r>
              <a:rPr lang="en-US" altLang="zh-CN" baseline="30000" dirty="0" smtClean="0">
                <a:ea typeface="+mn-ea"/>
              </a:rPr>
              <a:t>+</a:t>
            </a:r>
            <a:r>
              <a:rPr lang="en-US" altLang="zh-CN" dirty="0" smtClean="0">
                <a:ea typeface="+mn-ea"/>
              </a:rPr>
              <a:t> can be generated using Armstrong's Axioms.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were developed by 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William Ward Armstrong"/>
              </a:rPr>
              <a:t>William W. Armstrong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his 1974 paper</a:t>
            </a:r>
            <a:endParaRPr lang="en-US" altLang="zh-CN" dirty="0" smtClean="0">
              <a:ea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927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236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651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5365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099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337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《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喜羊羊与灰太狼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》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共播出作品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季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3081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集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581600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9284171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12289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4059765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4589475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4778901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042835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7698752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125469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7879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9939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0017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3645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7233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273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zh-CN" dirty="0" smtClean="0"/>
              <a:t>数据库系统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086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72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23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61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78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20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788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24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34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42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43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8155F3-2BE1-443D-A0E7-E8943C1CF8B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958096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A483B6-DE45-46AE-BE8C-8A03A534F65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685922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933A2C-7C06-40B9-9429-D6D969A013E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123945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4304CD-C4E9-4E55-95E1-462B523FCB3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330645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B68941-AEB0-410D-ACF5-85E085122B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419346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45B209-EADF-4AFA-BAF3-A7E64F9F723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447780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E478A5-F597-4FD4-9395-F8159E79F42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223950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86EF07-9856-45AF-B66D-855503DA294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8282755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7ABBE2-B91A-4772-A4DF-1C358F25F03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6422830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B220D2-8959-48FE-BB27-DE3969B63EB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4419600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9146D2-9265-46BF-A4AD-36E5F18D84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167477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72D832-ED1B-4C16-9AF7-7B464536D0D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962671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8FD378-B11B-4F13-8A70-71E62CE3131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150532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DAABAB-3043-4BFF-B9B7-FB335E578E9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6152562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538645-2989-4EEF-B1C7-59764E8575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1767449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640917-9884-4E33-97CF-3CA46DA962B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6524144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9BDB-2F1A-4169-9FEC-77D91C572BB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5569424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B060D9-F5F1-4FEC-A6AE-0066F7C44FA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3217166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D42D80-57CD-4763-81F9-9D7B7DD5099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455078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1EB93B-028C-4330-AFEA-EAA3D8B3D27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9652691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F0E433-9162-4CFD-9083-A6C326F3F55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0242269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1399C6-A9CB-4FDD-A023-FCFD353FA73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5299872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8C6FF9-3C2B-48B7-BDCC-6FCD2249B2C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9318476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3C4773-691E-47CD-8BE9-86C8FBAC86F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7764219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557A92-78D8-4D5E-B598-23E4E5B73C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527529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3A4694-AE90-44CA-AA8F-89C10D05BD5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4697043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725A3D-E971-465D-AA19-4934264613A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6420954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A8305-01F4-400A-A138-1B11A9D516B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6484203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4AB01C-4E32-4B5A-8B83-75C0089F93B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6274459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0CC042-469C-4594-94A4-912623A4493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9769022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9CF73-56BF-40E6-B565-E53FD9FADEB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4263229"/>
      </p:ext>
    </p:extLst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39D30-A044-4BFC-9BCF-79E793682EB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6423257"/>
      </p:ext>
    </p:extLst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E6CD13-85A3-490A-821D-1FCBD46598C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3547201"/>
      </p:ext>
    </p:extLst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47365A-04FF-4B65-8C98-BFDA0EFF66E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2111981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E706DE-43CF-45B1-B649-14BE407FCC3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6915104"/>
      </p:ext>
    </p:extLst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D57A5-7AC7-4904-9DFF-8A236568438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8330097"/>
      </p:ext>
    </p:extLst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34585B-86DC-4402-BF9D-8C9C0909782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6837501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0B137-C981-4B36-99E8-5441B01643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2899215"/>
      </p:ext>
    </p:extLst>
  </p:cSld>
  <p:clrMapOvr>
    <a:masterClrMapping/>
  </p:clrMapOvr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4043B4-67BF-47CA-B1EB-EC2E9594A10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3256535"/>
      </p:ext>
    </p:extLst>
  </p:cSld>
  <p:clrMapOvr>
    <a:masterClrMapping/>
  </p:clrMapOvr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61B6CF-73FB-42DD-81A9-1811B347550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8988672"/>
      </p:ext>
    </p:extLst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61B535-F44E-40D1-94E8-F0AD4487A3B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0935994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FDDA1A-F38D-4E9D-83CC-72C5B2C2587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0868057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FC22AF-FF8E-4917-BE81-C99B9D6E941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9861161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A8C659-A281-45E4-98FE-B5426447CD0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0532095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6002E1-20DD-41A1-ADF4-8435633160F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2274254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933" y="137706"/>
            <a:ext cx="7344946" cy="84631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7331" y="1652461"/>
            <a:ext cx="4324594" cy="44065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39214" y="1652461"/>
            <a:ext cx="4324594" cy="213442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39214" y="3924594"/>
            <a:ext cx="4324594" cy="213442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53988" y="6248400"/>
            <a:ext cx="1905000" cy="457200"/>
          </a:xfrm>
          <a:prstGeom prst="rect">
            <a:avLst/>
          </a:prstGeom>
        </p:spPr>
        <p:txBody>
          <a:bodyPr vert="horz" wrap="square" lIns="82479" tIns="41239" rIns="82479" bIns="41239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57538" y="6248400"/>
            <a:ext cx="2894012" cy="457200"/>
          </a:xfrm>
          <a:prstGeom prst="rect">
            <a:avLst/>
          </a:prstGeom>
        </p:spPr>
        <p:txBody>
          <a:bodyPr vert="horz" wrap="square" lIns="82479" tIns="41239" rIns="82479" bIns="41239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7070725" y="6221413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6783E2F-C430-4571-ADB7-89C90A9719A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0037283"/>
      </p:ext>
    </p:extLst>
  </p:cSld>
  <p:clrMapOvr>
    <a:masterClrMapping/>
  </p:clrMapOvr>
  <p:transition spd="med">
    <p:split orient="vert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AA0E3B-1909-4327-BACB-88220587126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2134794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CEFB24-D566-4816-AA28-AF03883BEB3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2282858"/>
      </p:ext>
    </p:extLst>
  </p:cSld>
  <p:clrMapOvr>
    <a:masterClrMapping/>
  </p:clrMapOvr>
  <p:hf sldNum="0"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E97B6A-D3B4-47B8-9349-2C394D2DAEC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092154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C01D06-28F7-4A88-87B1-25E02354EDF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5730022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 smtClean="0"/>
              <a:t>单击此处编辑母版文本样式</a:t>
            </a:r>
          </a:p>
          <a:p>
            <a:pPr lvl="3"/>
            <a:r>
              <a:rPr lang="zh-CN" altLang="en-US" dirty="0" smtClean="0"/>
              <a:t>第二级</a:t>
            </a:r>
          </a:p>
          <a:p>
            <a:pPr lvl="4"/>
            <a:r>
              <a:rPr lang="zh-CN" altLang="en-US" dirty="0" smtClean="0"/>
              <a:t>第三级</a:t>
            </a:r>
          </a:p>
          <a:p>
            <a:pPr lvl="5"/>
            <a:r>
              <a:rPr lang="zh-CN" altLang="en-US" dirty="0" smtClean="0"/>
              <a:t>第四级</a:t>
            </a:r>
          </a:p>
          <a:p>
            <a:pPr lvl="6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1C853E-A095-46D3-B51B-A457380D97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524080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image" Target="../media/image1.jp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4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390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900" y="166370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zh-CN" dirty="0" smtClean="0"/>
              <a:t>数据库系统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9821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3" r:id="rId12"/>
    <p:sldLayoutId id="2147483734" r:id="rId13"/>
    <p:sldLayoutId id="2147483745" r:id="rId14"/>
    <p:sldLayoutId id="2147483747" r:id="rId15"/>
    <p:sldLayoutId id="2147483748" r:id="rId16"/>
    <p:sldLayoutId id="2147483750" r:id="rId17"/>
    <p:sldLayoutId id="2147483752" r:id="rId18"/>
    <p:sldLayoutId id="2147483758" r:id="rId19"/>
    <p:sldLayoutId id="2147483760" r:id="rId20"/>
    <p:sldLayoutId id="2147483761" r:id="rId21"/>
    <p:sldLayoutId id="2147483762" r:id="rId22"/>
    <p:sldLayoutId id="2147483763" r:id="rId23"/>
    <p:sldLayoutId id="2147483764" r:id="rId24"/>
    <p:sldLayoutId id="2147483765" r:id="rId25"/>
    <p:sldLayoutId id="2147483766" r:id="rId26"/>
    <p:sldLayoutId id="2147483767" r:id="rId27"/>
    <p:sldLayoutId id="2147483768" r:id="rId28"/>
    <p:sldLayoutId id="2147483769" r:id="rId29"/>
    <p:sldLayoutId id="2147483770" r:id="rId30"/>
    <p:sldLayoutId id="2147483771" r:id="rId31"/>
    <p:sldLayoutId id="2147483772" r:id="rId32"/>
    <p:sldLayoutId id="2147483773" r:id="rId33"/>
    <p:sldLayoutId id="2147483774" r:id="rId34"/>
    <p:sldLayoutId id="2147483776" r:id="rId35"/>
    <p:sldLayoutId id="2147483777" r:id="rId36"/>
    <p:sldLayoutId id="2147483779" r:id="rId37"/>
    <p:sldLayoutId id="2147483780" r:id="rId38"/>
    <p:sldLayoutId id="2147483781" r:id="rId39"/>
    <p:sldLayoutId id="2147483782" r:id="rId40"/>
    <p:sldLayoutId id="2147483783" r:id="rId41"/>
    <p:sldLayoutId id="2147483789" r:id="rId42"/>
    <p:sldLayoutId id="2147483790" r:id="rId43"/>
    <p:sldLayoutId id="2147483791" r:id="rId44"/>
    <p:sldLayoutId id="2147483792" r:id="rId45"/>
    <p:sldLayoutId id="2147483793" r:id="rId46"/>
    <p:sldLayoutId id="2147483794" r:id="rId47"/>
    <p:sldLayoutId id="2147483795" r:id="rId48"/>
    <p:sldLayoutId id="2147483797" r:id="rId49"/>
    <p:sldLayoutId id="2147483799" r:id="rId50"/>
    <p:sldLayoutId id="2147483801" r:id="rId51"/>
    <p:sldLayoutId id="2147483802" r:id="rId52"/>
    <p:sldLayoutId id="2147483803" r:id="rId53"/>
    <p:sldLayoutId id="2147483804" r:id="rId54"/>
    <p:sldLayoutId id="2147483805" r:id="rId55"/>
    <p:sldLayoutId id="2147483807" r:id="rId56"/>
    <p:sldLayoutId id="2147483808" r:id="rId57"/>
    <p:sldLayoutId id="2147483809" r:id="rId58"/>
    <p:sldLayoutId id="2147483810" r:id="rId59"/>
    <p:sldLayoutId id="2147483811" r:id="rId60"/>
    <p:sldLayoutId id="2147483812" r:id="rId61"/>
    <p:sldLayoutId id="2147483813" r:id="rId6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w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9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4.w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5.wmf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6377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关系</a:t>
            </a:r>
            <a:r>
              <a:rPr lang="zh-CN" altLang="en-US" dirty="0" smtClean="0"/>
              <a:t>数据理论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 smtClean="0"/>
              <a:t>1- </a:t>
            </a:r>
            <a:r>
              <a:rPr lang="zh-CN" altLang="en-US" dirty="0" smtClean="0"/>
              <a:t>数据依赖</a:t>
            </a:r>
            <a:r>
              <a:rPr lang="en-US" altLang="zh-CN" dirty="0" smtClean="0"/>
              <a:t> </a:t>
            </a:r>
            <a:endParaRPr lang="zh-CN" altLang="en-US" sz="44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/>
              <a:t>授课教师：张小燕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 smtClean="0"/>
              <a:t>邮箱：</a:t>
            </a:r>
            <a:r>
              <a:rPr lang="en-US" altLang="zh-CN" dirty="0" smtClean="0"/>
              <a:t>xyzhang15@szu.edu.cn</a:t>
            </a:r>
          </a:p>
          <a:p>
            <a:pPr>
              <a:lnSpc>
                <a:spcPct val="110000"/>
              </a:lnSpc>
            </a:pPr>
            <a:r>
              <a:rPr lang="zh-CN" altLang="en-US" dirty="0" smtClean="0"/>
              <a:t>深圳大学 计算机与软件学院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24279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5219700" y="6381750"/>
            <a:ext cx="3600450" cy="32067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charset="-122"/>
              </a:rPr>
              <a:t>目录</a:t>
            </a:r>
            <a:endParaRPr lang="zh-CN" altLang="en-US" dirty="0">
              <a:ea typeface="宋体" charset="-122"/>
            </a:endParaRPr>
          </a:p>
        </p:txBody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677987"/>
            <a:ext cx="7886700" cy="4351338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altLang="zh-CN" sz="2200" dirty="0" smtClean="0">
                <a:ea typeface="宋体" charset="-122"/>
              </a:rPr>
              <a:t>1 </a:t>
            </a:r>
            <a:r>
              <a:rPr lang="zh-CN" altLang="en-US" sz="2200" dirty="0" smtClean="0">
                <a:ea typeface="宋体" charset="-122"/>
              </a:rPr>
              <a:t>问题的提出        </a:t>
            </a:r>
            <a:r>
              <a:rPr lang="zh-CN" altLang="en-US" sz="2200" dirty="0" smtClean="0">
                <a:solidFill>
                  <a:srgbClr val="FF0000"/>
                </a:solidFill>
                <a:ea typeface="宋体" charset="-122"/>
              </a:rPr>
              <a:t>（</a:t>
            </a:r>
            <a:r>
              <a:rPr lang="zh-CN" altLang="en-US" sz="2200" dirty="0">
                <a:solidFill>
                  <a:srgbClr val="FF0000"/>
                </a:solidFill>
                <a:ea typeface="宋体" charset="-122"/>
              </a:rPr>
              <a:t>对应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6.1</a:t>
            </a:r>
            <a:r>
              <a:rPr lang="zh-CN" altLang="en-US" sz="2200" dirty="0">
                <a:solidFill>
                  <a:srgbClr val="FF0000"/>
                </a:solidFill>
                <a:ea typeface="宋体" charset="-122"/>
              </a:rPr>
              <a:t>节）</a:t>
            </a:r>
            <a:endParaRPr lang="en-US" altLang="zh-CN" sz="2200" dirty="0">
              <a:solidFill>
                <a:srgbClr val="FF0000"/>
              </a:solidFill>
              <a:ea typeface="宋体" charset="-122"/>
            </a:endParaRPr>
          </a:p>
          <a:p>
            <a:pPr algn="just">
              <a:lnSpc>
                <a:spcPct val="170000"/>
              </a:lnSpc>
            </a:pPr>
            <a:r>
              <a:rPr lang="en-US" altLang="zh-CN" sz="2200" dirty="0" smtClean="0">
                <a:ea typeface="宋体" charset="-122"/>
              </a:rPr>
              <a:t>2 </a:t>
            </a:r>
            <a:r>
              <a:rPr lang="zh-CN" altLang="en-US" sz="2200" dirty="0" smtClean="0">
                <a:ea typeface="宋体" charset="-122"/>
              </a:rPr>
              <a:t>数据依赖             </a:t>
            </a:r>
            <a:r>
              <a:rPr lang="zh-CN" altLang="en-US" sz="2200" dirty="0">
                <a:solidFill>
                  <a:srgbClr val="FF0000"/>
                </a:solidFill>
                <a:ea typeface="宋体" charset="-122"/>
              </a:rPr>
              <a:t>（对应</a:t>
            </a:r>
            <a:r>
              <a:rPr lang="en-US" altLang="zh-CN" sz="2200" dirty="0" smtClean="0">
                <a:solidFill>
                  <a:srgbClr val="FF0000"/>
                </a:solidFill>
                <a:ea typeface="宋体" charset="-122"/>
              </a:rPr>
              <a:t>6.2.1</a:t>
            </a:r>
            <a:r>
              <a:rPr lang="zh-CN" altLang="en-US" sz="2200" dirty="0" smtClean="0">
                <a:solidFill>
                  <a:srgbClr val="FF0000"/>
                </a:solidFill>
                <a:ea typeface="宋体" charset="-122"/>
              </a:rPr>
              <a:t>节）</a:t>
            </a:r>
            <a:endParaRPr lang="en-US" altLang="zh-CN" sz="2200" dirty="0" smtClean="0">
              <a:ea typeface="宋体" charset="-122"/>
            </a:endParaRPr>
          </a:p>
          <a:p>
            <a:pPr algn="just">
              <a:lnSpc>
                <a:spcPct val="170000"/>
              </a:lnSpc>
            </a:pPr>
            <a:r>
              <a:rPr lang="en-US" altLang="zh-CN" sz="2200" dirty="0" smtClean="0">
                <a:ea typeface="宋体" charset="-122"/>
              </a:rPr>
              <a:t>3 </a:t>
            </a:r>
            <a:r>
              <a:rPr lang="zh-CN" altLang="en-US" sz="2200" dirty="0" smtClean="0">
                <a:ea typeface="宋体" charset="-122"/>
              </a:rPr>
              <a:t>确定函数依赖    </a:t>
            </a:r>
            <a:r>
              <a:rPr lang="zh-CN" altLang="en-US" sz="2200" dirty="0" smtClean="0">
                <a:solidFill>
                  <a:srgbClr val="FF0000"/>
                </a:solidFill>
                <a:ea typeface="宋体" charset="-122"/>
              </a:rPr>
              <a:t>（对应</a:t>
            </a:r>
            <a:r>
              <a:rPr lang="en-US" altLang="zh-CN" sz="2200" dirty="0" smtClean="0">
                <a:solidFill>
                  <a:srgbClr val="FF0000"/>
                </a:solidFill>
                <a:ea typeface="宋体" charset="-122"/>
              </a:rPr>
              <a:t>6.3</a:t>
            </a:r>
            <a:r>
              <a:rPr lang="zh-CN" altLang="en-US" sz="2200" dirty="0" smtClean="0">
                <a:solidFill>
                  <a:srgbClr val="FF0000"/>
                </a:solidFill>
                <a:ea typeface="宋体" charset="-122"/>
              </a:rPr>
              <a:t>节）</a:t>
            </a:r>
            <a:endParaRPr lang="en-US" altLang="zh-CN" sz="2200" dirty="0" smtClean="0">
              <a:solidFill>
                <a:srgbClr val="FF0000"/>
              </a:solidFill>
              <a:ea typeface="宋体" charset="-122"/>
            </a:endParaRPr>
          </a:p>
          <a:p>
            <a:pPr lvl="1" algn="just">
              <a:lnSpc>
                <a:spcPct val="170000"/>
              </a:lnSpc>
            </a:pPr>
            <a:r>
              <a:rPr lang="zh-CN" altLang="en-US" sz="1800" dirty="0"/>
              <a:t>计算</a:t>
            </a:r>
            <a:r>
              <a:rPr lang="en-US" altLang="zh-CN" sz="1800" dirty="0"/>
              <a:t>F</a:t>
            </a:r>
            <a:r>
              <a:rPr lang="en-US" altLang="zh-CN" sz="1800" baseline="30000" dirty="0" smtClean="0"/>
              <a:t>+</a:t>
            </a:r>
            <a:r>
              <a:rPr lang="zh-CN" altLang="en-US" sz="1800" dirty="0" smtClean="0">
                <a:ea typeface="宋体" charset="-122"/>
              </a:rPr>
              <a:t>和</a:t>
            </a:r>
            <a:r>
              <a:rPr lang="en-US" altLang="zh-CN" sz="1800" dirty="0" smtClean="0"/>
              <a:t>X</a:t>
            </a:r>
            <a:r>
              <a:rPr lang="en-US" altLang="zh-CN" sz="1800" baseline="30000" dirty="0" smtClean="0"/>
              <a:t>+                </a:t>
            </a:r>
            <a:r>
              <a:rPr lang="zh-CN" altLang="en-US" sz="1800" dirty="0" smtClean="0">
                <a:solidFill>
                  <a:srgbClr val="FF0000"/>
                </a:solidFill>
                <a:ea typeface="宋体" charset="-122"/>
              </a:rPr>
              <a:t>（</a:t>
            </a:r>
            <a:r>
              <a:rPr lang="en-US" altLang="zh-CN" sz="1800" dirty="0" smtClean="0">
                <a:solidFill>
                  <a:srgbClr val="FF0000"/>
                </a:solidFill>
                <a:ea typeface="宋体" charset="-122"/>
              </a:rPr>
              <a:t>6.3</a:t>
            </a:r>
            <a:r>
              <a:rPr lang="zh-CN" altLang="en-US" sz="1800" dirty="0">
                <a:solidFill>
                  <a:srgbClr val="FF0000"/>
                </a:solidFill>
                <a:ea typeface="宋体" charset="-122"/>
              </a:rPr>
              <a:t>节定义</a:t>
            </a:r>
            <a:r>
              <a:rPr lang="en-US" altLang="zh-CN" sz="1800" dirty="0">
                <a:solidFill>
                  <a:srgbClr val="FF0000"/>
                </a:solidFill>
                <a:ea typeface="宋体" charset="-122"/>
              </a:rPr>
              <a:t>6.12</a:t>
            </a:r>
            <a:r>
              <a:rPr lang="zh-CN" altLang="en-US" sz="1800" dirty="0">
                <a:solidFill>
                  <a:srgbClr val="FF0000"/>
                </a:solidFill>
                <a:ea typeface="宋体" charset="-122"/>
              </a:rPr>
              <a:t>， 算法</a:t>
            </a:r>
            <a:r>
              <a:rPr lang="en-US" altLang="zh-CN" sz="1800" dirty="0">
                <a:solidFill>
                  <a:srgbClr val="FF0000"/>
                </a:solidFill>
                <a:ea typeface="宋体" charset="-122"/>
              </a:rPr>
              <a:t>6.1</a:t>
            </a:r>
            <a:r>
              <a:rPr lang="zh-CN" altLang="en-US" sz="1800" dirty="0">
                <a:solidFill>
                  <a:srgbClr val="FF0000"/>
                </a:solidFill>
                <a:ea typeface="宋体" charset="-122"/>
              </a:rPr>
              <a:t>）</a:t>
            </a:r>
            <a:endParaRPr lang="en-US" altLang="zh-CN" sz="1800" dirty="0">
              <a:solidFill>
                <a:srgbClr val="FF0000"/>
              </a:solidFill>
              <a:ea typeface="宋体" charset="-122"/>
            </a:endParaRPr>
          </a:p>
          <a:p>
            <a:pPr algn="just">
              <a:lnSpc>
                <a:spcPct val="170000"/>
              </a:lnSpc>
            </a:pPr>
            <a:r>
              <a:rPr lang="en-US" altLang="zh-CN" sz="2200" dirty="0" smtClean="0">
                <a:ea typeface="宋体" charset="-122"/>
              </a:rPr>
              <a:t>4 </a:t>
            </a:r>
            <a:r>
              <a:rPr lang="zh-CN" altLang="en-US" sz="2200" dirty="0" smtClean="0">
                <a:ea typeface="宋体" charset="-122"/>
              </a:rPr>
              <a:t>确定</a:t>
            </a:r>
            <a:r>
              <a:rPr lang="zh-CN" altLang="en-US" sz="2200" dirty="0">
                <a:ea typeface="宋体" charset="-122"/>
              </a:rPr>
              <a:t>候选</a:t>
            </a:r>
            <a:r>
              <a:rPr lang="zh-CN" altLang="en-US" sz="2200" dirty="0" smtClean="0">
                <a:ea typeface="宋体" charset="-122"/>
              </a:rPr>
              <a:t>码         </a:t>
            </a:r>
            <a:r>
              <a:rPr lang="zh-CN" altLang="en-US" sz="2200" dirty="0" smtClean="0">
                <a:solidFill>
                  <a:srgbClr val="FF0000"/>
                </a:solidFill>
                <a:ea typeface="宋体" charset="-122"/>
              </a:rPr>
              <a:t>（对应</a:t>
            </a:r>
            <a:r>
              <a:rPr lang="en-US" altLang="zh-CN" sz="2200" dirty="0" smtClean="0">
                <a:solidFill>
                  <a:srgbClr val="FF0000"/>
                </a:solidFill>
                <a:ea typeface="宋体" charset="-122"/>
              </a:rPr>
              <a:t>6.2.2</a:t>
            </a:r>
            <a:r>
              <a:rPr lang="zh-CN" altLang="en-US" sz="2200" dirty="0" smtClean="0">
                <a:solidFill>
                  <a:srgbClr val="FF0000"/>
                </a:solidFill>
                <a:ea typeface="宋体" charset="-122"/>
              </a:rPr>
              <a:t>节）</a:t>
            </a:r>
            <a:endParaRPr lang="en-US" altLang="zh-CN" sz="2200" dirty="0">
              <a:ea typeface="宋体" charset="-122"/>
            </a:endParaRPr>
          </a:p>
          <a:p>
            <a:pPr algn="just">
              <a:lnSpc>
                <a:spcPct val="170000"/>
              </a:lnSpc>
            </a:pPr>
            <a:r>
              <a:rPr lang="en-US" altLang="zh-CN" sz="2200" dirty="0" smtClean="0">
                <a:ea typeface="宋体" charset="-122"/>
              </a:rPr>
              <a:t>5 </a:t>
            </a:r>
            <a:r>
              <a:rPr lang="zh-CN" altLang="en-US" sz="2200" dirty="0" smtClean="0">
                <a:ea typeface="宋体" charset="-122"/>
              </a:rPr>
              <a:t>模式分解             </a:t>
            </a:r>
            <a:r>
              <a:rPr lang="zh-CN" altLang="en-US" sz="2200" dirty="0" smtClean="0">
                <a:solidFill>
                  <a:srgbClr val="FF0000"/>
                </a:solidFill>
                <a:ea typeface="宋体" charset="-122"/>
              </a:rPr>
              <a:t>（</a:t>
            </a:r>
            <a:r>
              <a:rPr lang="en-US" altLang="zh-CN" sz="2200" dirty="0" smtClean="0">
                <a:solidFill>
                  <a:srgbClr val="FF0000"/>
                </a:solidFill>
                <a:ea typeface="宋体" charset="-122"/>
              </a:rPr>
              <a:t>6.4.1</a:t>
            </a:r>
            <a:r>
              <a:rPr lang="zh-CN" altLang="en-US" sz="2200" dirty="0" smtClean="0">
                <a:solidFill>
                  <a:srgbClr val="FF0000"/>
                </a:solidFill>
                <a:ea typeface="宋体" charset="-122"/>
              </a:rPr>
              <a:t>和</a:t>
            </a:r>
            <a:r>
              <a:rPr lang="en-US" altLang="zh-CN" sz="2200" dirty="0" smtClean="0">
                <a:solidFill>
                  <a:srgbClr val="FF0000"/>
                </a:solidFill>
                <a:ea typeface="宋体" charset="-122"/>
              </a:rPr>
              <a:t>6.4.2</a:t>
            </a:r>
            <a:r>
              <a:rPr lang="zh-CN" altLang="en-US" sz="2200" dirty="0" smtClean="0">
                <a:solidFill>
                  <a:srgbClr val="FF0000"/>
                </a:solidFill>
                <a:ea typeface="宋体" charset="-122"/>
              </a:rPr>
              <a:t>节）</a:t>
            </a:r>
            <a:endParaRPr lang="en-US" altLang="zh-CN" sz="2200" dirty="0">
              <a:solidFill>
                <a:srgbClr val="FF0000"/>
              </a:solidFill>
              <a:ea typeface="宋体" charset="-122"/>
            </a:endParaRPr>
          </a:p>
          <a:p>
            <a:pPr algn="just">
              <a:lnSpc>
                <a:spcPct val="170000"/>
              </a:lnSpc>
              <a:buNone/>
            </a:pPr>
            <a:endParaRPr lang="en-US" altLang="zh-CN" sz="2800" dirty="0" smtClean="0">
              <a:ea typeface="宋体" charset="-122"/>
            </a:endParaRPr>
          </a:p>
          <a:p>
            <a:pPr algn="just">
              <a:lnSpc>
                <a:spcPct val="170000"/>
              </a:lnSpc>
              <a:buFont typeface="Wingdings" pitchFamily="2" charset="2"/>
              <a:buNone/>
            </a:pPr>
            <a:endParaRPr lang="zh-CN" altLang="en-US" sz="2800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599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5219700" y="6381750"/>
            <a:ext cx="3600450" cy="32067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charset="-122"/>
              </a:rPr>
              <a:t>1 </a:t>
            </a:r>
            <a:r>
              <a:rPr lang="zh-CN" altLang="en-US" dirty="0">
                <a:ea typeface="宋体" charset="-122"/>
              </a:rPr>
              <a:t>问题的提出</a:t>
            </a:r>
          </a:p>
        </p:txBody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367" y="2764368"/>
            <a:ext cx="7886700" cy="4351338"/>
          </a:xfrm>
        </p:spPr>
        <p:txBody>
          <a:bodyPr/>
          <a:lstStyle/>
          <a:p>
            <a:pPr algn="just">
              <a:lnSpc>
                <a:spcPct val="170000"/>
              </a:lnSpc>
              <a:buFont typeface="Wingdings" pitchFamily="2" charset="2"/>
              <a:buNone/>
            </a:pPr>
            <a:endParaRPr lang="en-US" altLang="zh-CN" sz="2400" dirty="0" smtClean="0">
              <a:ea typeface="宋体" charset="-122"/>
            </a:endParaRPr>
          </a:p>
          <a:p>
            <a:pPr algn="just">
              <a:lnSpc>
                <a:spcPct val="170000"/>
              </a:lnSpc>
              <a:buFont typeface="Wingdings" pitchFamily="2" charset="2"/>
              <a:buNone/>
            </a:pPr>
            <a:endParaRPr lang="en-US" altLang="zh-CN" sz="2400" dirty="0">
              <a:ea typeface="宋体" charset="-122"/>
            </a:endParaRPr>
          </a:p>
          <a:p>
            <a:pPr algn="just">
              <a:lnSpc>
                <a:spcPct val="170000"/>
              </a:lnSpc>
              <a:buFont typeface="Wingdings" pitchFamily="2" charset="2"/>
              <a:buNone/>
            </a:pPr>
            <a:r>
              <a:rPr lang="zh-CN" altLang="en-US" sz="2400" dirty="0" smtClean="0">
                <a:ea typeface="宋体" charset="-122"/>
              </a:rPr>
              <a:t>关系数据库</a:t>
            </a:r>
            <a:r>
              <a:rPr lang="zh-CN" altLang="en-US" sz="2400" dirty="0">
                <a:ea typeface="宋体" charset="-122"/>
              </a:rPr>
              <a:t>逻辑设计</a:t>
            </a:r>
          </a:p>
          <a:p>
            <a:pPr lvl="1" algn="just">
              <a:lnSpc>
                <a:spcPct val="170000"/>
              </a:lnSpc>
            </a:pPr>
            <a:r>
              <a:rPr lang="zh-CN" altLang="en-US" dirty="0">
                <a:ea typeface="宋体" charset="-122"/>
              </a:rPr>
              <a:t>针对具体问题，如何构造一个适合于它的数据模式</a:t>
            </a:r>
          </a:p>
          <a:p>
            <a:pPr lvl="1" algn="just">
              <a:lnSpc>
                <a:spcPct val="170000"/>
              </a:lnSpc>
            </a:pPr>
            <a:r>
              <a:rPr lang="zh-CN" altLang="en-US" dirty="0">
                <a:ea typeface="宋体" charset="-122"/>
              </a:rPr>
              <a:t>数据库逻辑设计的工具──关系数据库的规范化理论</a:t>
            </a:r>
            <a:endParaRPr lang="zh-CN" altLang="en-US" sz="2800" dirty="0">
              <a:ea typeface="宋体" charset="-122"/>
            </a:endParaRPr>
          </a:p>
        </p:txBody>
      </p:sp>
      <p:pic>
        <p:nvPicPr>
          <p:cNvPr id="2050" name="Picture 2" descr="https://timgsa.baidu.com/timg?image&amp;quality=80&amp;size=b9999_10000&amp;sec=1604311715547&amp;di=8136afa12b2c7118065636dd24c5c8d6&amp;imgtype=0&amp;src=http%3A%2F%2Fimg1.zhuzhai.com%2Fcommon%2F2018%2F08%2F02%2F5b62608f2cb9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295" y="1408271"/>
            <a:ext cx="2817854" cy="2111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ss0.bdstatic.com/70cFuHSh_Q1YnxGkpoWK1HF6hhy/it/u=3365695775,42916673&amp;fm=26&amp;gp=0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85"/>
          <a:stretch/>
        </p:blipFill>
        <p:spPr bwMode="auto">
          <a:xfrm>
            <a:off x="5405215" y="1339029"/>
            <a:ext cx="2482099" cy="2181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890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95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95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95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endParaRPr lang="zh-CN" altLang="zh-CN" sz="1000" b="1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smtClean="0">
                <a:sym typeface="微软雅黑" pitchFamily="34" charset="-122"/>
              </a:rPr>
              <a:t> </a:t>
            </a:r>
            <a:r>
              <a:rPr lang="zh-CN" altLang="en-US" sz="3600" smtClean="0">
                <a:sym typeface="微软雅黑" pitchFamily="34" charset="-122"/>
              </a:rPr>
              <a:t>问题的提出（续）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98550"/>
            <a:ext cx="8229600" cy="5095875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zh-CN" dirty="0" smtClean="0">
                <a:sym typeface="Calibri" pitchFamily="34" charset="0"/>
              </a:rPr>
              <a:t>[</a:t>
            </a:r>
            <a:r>
              <a:rPr lang="zh-CN" altLang="en-US" dirty="0" smtClean="0">
                <a:sym typeface="Calibri" pitchFamily="34" charset="0"/>
              </a:rPr>
              <a:t>例</a:t>
            </a:r>
            <a:r>
              <a:rPr lang="en-US" altLang="zh-CN" dirty="0" smtClean="0">
                <a:sym typeface="Calibri" pitchFamily="34" charset="0"/>
              </a:rPr>
              <a:t>6.1] </a:t>
            </a:r>
            <a:r>
              <a:rPr lang="zh-CN" altLang="en-US" dirty="0" smtClean="0">
                <a:sym typeface="Calibri" pitchFamily="34" charset="0"/>
              </a:rPr>
              <a:t>建立一个描述学校教务的数据库。</a:t>
            </a:r>
            <a:br>
              <a:rPr lang="zh-CN" altLang="en-US" dirty="0" smtClean="0">
                <a:sym typeface="Calibri" pitchFamily="34" charset="0"/>
              </a:rPr>
            </a:br>
            <a:r>
              <a:rPr lang="zh-CN" altLang="en-US" dirty="0" smtClean="0">
                <a:sym typeface="Calibri" pitchFamily="34" charset="0"/>
              </a:rPr>
              <a:t>涉及的对象包括：	</a:t>
            </a: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 smtClean="0">
                <a:sym typeface="Calibri" pitchFamily="34" charset="0"/>
              </a:rPr>
              <a:t>学生的学号（</a:t>
            </a:r>
            <a:r>
              <a:rPr lang="en-US" altLang="zh-CN" dirty="0" err="1" smtClean="0">
                <a:sym typeface="Calibri" pitchFamily="34" charset="0"/>
              </a:rPr>
              <a:t>Sno</a:t>
            </a:r>
            <a:r>
              <a:rPr lang="zh-CN" altLang="en-US" dirty="0" smtClean="0">
                <a:sym typeface="Calibri" pitchFamily="34" charset="0"/>
              </a:rPr>
              <a:t>）</a:t>
            </a: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 smtClean="0">
                <a:sym typeface="Calibri" pitchFamily="34" charset="0"/>
              </a:rPr>
              <a:t>所在系（</a:t>
            </a:r>
            <a:r>
              <a:rPr lang="en-US" altLang="zh-CN" dirty="0" err="1" smtClean="0">
                <a:sym typeface="Calibri" pitchFamily="34" charset="0"/>
              </a:rPr>
              <a:t>Sdept</a:t>
            </a:r>
            <a:r>
              <a:rPr lang="zh-CN" altLang="en-US" dirty="0" smtClean="0">
                <a:sym typeface="Calibri" pitchFamily="34" charset="0"/>
              </a:rPr>
              <a:t>）</a:t>
            </a: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 smtClean="0">
                <a:sym typeface="Calibri" pitchFamily="34" charset="0"/>
              </a:rPr>
              <a:t>系主任姓名（</a:t>
            </a:r>
            <a:r>
              <a:rPr lang="en-US" altLang="zh-CN" dirty="0" err="1" smtClean="0">
                <a:sym typeface="Calibri" pitchFamily="34" charset="0"/>
              </a:rPr>
              <a:t>Mname</a:t>
            </a:r>
            <a:r>
              <a:rPr lang="zh-CN" altLang="en-US" dirty="0" smtClean="0">
                <a:sym typeface="Calibri" pitchFamily="34" charset="0"/>
              </a:rPr>
              <a:t>）</a:t>
            </a: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 smtClean="0">
                <a:sym typeface="Calibri" pitchFamily="34" charset="0"/>
              </a:rPr>
              <a:t>课程号（</a:t>
            </a:r>
            <a:r>
              <a:rPr lang="en-US" altLang="zh-CN" dirty="0" err="1" smtClean="0">
                <a:sym typeface="Calibri" pitchFamily="34" charset="0"/>
              </a:rPr>
              <a:t>Cno</a:t>
            </a:r>
            <a:r>
              <a:rPr lang="zh-CN" altLang="en-US" dirty="0" smtClean="0">
                <a:sym typeface="Calibri" pitchFamily="34" charset="0"/>
              </a:rPr>
              <a:t>）</a:t>
            </a: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 smtClean="0">
                <a:sym typeface="Calibri" pitchFamily="34" charset="0"/>
              </a:rPr>
              <a:t>成绩（</a:t>
            </a:r>
            <a:r>
              <a:rPr lang="en-US" altLang="zh-CN" dirty="0" smtClean="0">
                <a:sym typeface="Calibri" pitchFamily="34" charset="0"/>
              </a:rPr>
              <a:t>Grade</a:t>
            </a:r>
            <a:r>
              <a:rPr lang="zh-CN" altLang="en-US" dirty="0" smtClean="0">
                <a:sym typeface="Calibri" pitchFamily="34" charset="0"/>
              </a:rPr>
              <a:t>）</a:t>
            </a:r>
            <a:endParaRPr lang="en-US" altLang="zh-CN" dirty="0" smtClean="0">
              <a:sym typeface="Calibri" pitchFamily="34" charset="0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ym typeface="Calibri" pitchFamily="34" charset="0"/>
              </a:rPr>
              <a:t>假设学校教务的数据库模式用一个单一的关系模式</a:t>
            </a:r>
            <a:r>
              <a:rPr lang="en-US" altLang="zh-CN" dirty="0">
                <a:sym typeface="Calibri" pitchFamily="34" charset="0"/>
              </a:rPr>
              <a:t>Student</a:t>
            </a:r>
            <a:r>
              <a:rPr lang="zh-CN" altLang="en-US" dirty="0">
                <a:sym typeface="Calibri" pitchFamily="34" charset="0"/>
              </a:rPr>
              <a:t>来表示，则该关系模式的属性集合为：</a:t>
            </a:r>
            <a:endParaRPr lang="en-US" altLang="zh-CN" dirty="0">
              <a:sym typeface="Calibri" pitchFamily="34" charset="0"/>
            </a:endParaRPr>
          </a:p>
          <a:p>
            <a:pPr marL="742950" lvl="1" indent="-285750" algn="l">
              <a:lnSpc>
                <a:spcPct val="150000"/>
              </a:lnSpc>
            </a:pPr>
            <a:r>
              <a:rPr lang="zh-CN" altLang="en-US" dirty="0">
                <a:sym typeface="Calibri" pitchFamily="34" charset="0"/>
              </a:rPr>
              <a:t>   </a:t>
            </a:r>
            <a:r>
              <a:rPr lang="en-US" altLang="zh-CN" dirty="0">
                <a:sym typeface="Calibri" pitchFamily="34" charset="0"/>
              </a:rPr>
              <a:t> U </a:t>
            </a:r>
            <a:r>
              <a:rPr lang="zh-CN" altLang="en-US" dirty="0">
                <a:sym typeface="Calibri" pitchFamily="34" charset="0"/>
              </a:rPr>
              <a:t>＝{</a:t>
            </a:r>
            <a:r>
              <a:rPr lang="en-US" altLang="zh-CN" dirty="0" err="1">
                <a:sym typeface="Calibri" pitchFamily="34" charset="0"/>
              </a:rPr>
              <a:t>Sno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en-US" altLang="zh-CN" dirty="0" err="1">
                <a:sym typeface="Calibri" pitchFamily="34" charset="0"/>
              </a:rPr>
              <a:t>Sdept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en-US" altLang="zh-CN" dirty="0" err="1">
                <a:sym typeface="Calibri" pitchFamily="34" charset="0"/>
              </a:rPr>
              <a:t>Mname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en-US" altLang="zh-CN" dirty="0" err="1">
                <a:sym typeface="Calibri" pitchFamily="34" charset="0"/>
              </a:rPr>
              <a:t>Cno</a:t>
            </a:r>
            <a:r>
              <a:rPr lang="en-US" altLang="zh-CN" dirty="0">
                <a:sym typeface="Calibri" pitchFamily="34" charset="0"/>
              </a:rPr>
              <a:t>, Grade</a:t>
            </a:r>
            <a:r>
              <a:rPr lang="zh-CN" altLang="en-US" dirty="0">
                <a:sym typeface="Calibri" pitchFamily="34" charset="0"/>
              </a:rPr>
              <a:t>}  </a:t>
            </a:r>
            <a:endParaRPr lang="en-US" altLang="zh-CN" dirty="0">
              <a:sym typeface="Calibri" pitchFamily="34" charset="0"/>
            </a:endParaRP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n"/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2836777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"/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r>
              <a:rPr lang="zh-CN" altLang="en-US" sz="1400" b="1">
                <a:solidFill>
                  <a:srgbClr val="95373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*</a:t>
            </a:r>
            <a:endParaRPr lang="zh-CN" altLang="en-US">
              <a:solidFill>
                <a:srgbClr val="000000"/>
              </a:solidFill>
              <a:sym typeface="Arial" pitchFamily="34" charset="0"/>
            </a:endParaRPr>
          </a:p>
        </p:txBody>
      </p:sp>
      <p:sp>
        <p:nvSpPr>
          <p:cNvPr id="15363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endParaRPr lang="zh-CN" altLang="zh-CN" sz="1000" b="1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15364" name="Rectangle 102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sz="3600" dirty="0" smtClean="0">
                <a:sym typeface="微软雅黑" pitchFamily="34" charset="-122"/>
              </a:rPr>
              <a:t>问题的提出（续）</a:t>
            </a:r>
          </a:p>
        </p:txBody>
      </p:sp>
      <p:sp>
        <p:nvSpPr>
          <p:cNvPr id="15365" name="Rectangle 1027"/>
          <p:cNvSpPr>
            <a:spLocks noGrp="1" noChangeArrowheads="1"/>
          </p:cNvSpPr>
          <p:nvPr>
            <p:ph idx="1"/>
          </p:nvPr>
        </p:nvSpPr>
        <p:spPr>
          <a:xfrm>
            <a:off x="457200" y="1098550"/>
            <a:ext cx="8229600" cy="5697904"/>
          </a:xfrm>
        </p:spPr>
        <p:txBody>
          <a:bodyPr>
            <a:normAutofit fontScale="85000" lnSpcReduction="20000"/>
          </a:bodyPr>
          <a:lstStyle/>
          <a:p>
            <a:pPr marL="342900" indent="-342900" algn="l">
              <a:lnSpc>
                <a:spcPct val="150000"/>
              </a:lnSpc>
            </a:pPr>
            <a:r>
              <a:rPr lang="zh-CN" altLang="en-US" dirty="0" smtClean="0">
                <a:sym typeface="Calibri" pitchFamily="34" charset="0"/>
              </a:rPr>
              <a:t>关系模式</a:t>
            </a:r>
            <a:r>
              <a:rPr lang="en-US" altLang="zh-CN" dirty="0" smtClean="0">
                <a:sym typeface="Calibri" pitchFamily="34" charset="0"/>
              </a:rPr>
              <a:t>Student&lt;U, F&gt;</a:t>
            </a:r>
            <a:r>
              <a:rPr lang="zh-CN" altLang="en-US" dirty="0" smtClean="0">
                <a:sym typeface="Calibri" pitchFamily="34" charset="0"/>
              </a:rPr>
              <a:t>中存在的问题：</a:t>
            </a:r>
            <a:endParaRPr lang="en-US" altLang="zh-CN" dirty="0" smtClean="0">
              <a:sym typeface="Calibri" pitchFamily="34" charset="0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zh-CN" altLang="en-US" dirty="0" smtClean="0">
                <a:sym typeface="Calibri" pitchFamily="34" charset="0"/>
              </a:rPr>
              <a:t>（</a:t>
            </a:r>
            <a:r>
              <a:rPr lang="en-US" altLang="zh-CN" dirty="0" smtClean="0">
                <a:sym typeface="Calibri" pitchFamily="34" charset="0"/>
              </a:rPr>
              <a:t>1</a:t>
            </a:r>
            <a:r>
              <a:rPr lang="zh-CN" altLang="en-US" dirty="0" smtClean="0">
                <a:sym typeface="Calibri" pitchFamily="34" charset="0"/>
              </a:rPr>
              <a:t>）数据冗余</a:t>
            </a: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 smtClean="0">
                <a:sym typeface="Calibri" pitchFamily="34" charset="0"/>
              </a:rPr>
              <a:t>浪费大量的存储空间</a:t>
            </a:r>
            <a:endParaRPr lang="en-US" dirty="0" smtClean="0">
              <a:sym typeface="Calibri" pitchFamily="34" charset="0"/>
            </a:endParaRPr>
          </a:p>
          <a:p>
            <a:pPr marL="1200150" lvl="2" indent="-285750" algn="l">
              <a:lnSpc>
                <a:spcPct val="150000"/>
              </a:lnSpc>
              <a:buSzPct val="87000"/>
              <a:buFont typeface="Wingdings" pitchFamily="2" charset="2"/>
              <a:buChar char="l"/>
            </a:pPr>
            <a:r>
              <a:rPr lang="zh-CN" altLang="en-US" dirty="0" smtClean="0">
                <a:sym typeface="Calibri" pitchFamily="34" charset="0"/>
              </a:rPr>
              <a:t>每一个系主任的姓名重复出现</a:t>
            </a:r>
            <a:endParaRPr lang="en-US" altLang="zh-CN" dirty="0">
              <a:sym typeface="Calibri" pitchFamily="34" charset="0"/>
            </a:endParaRPr>
          </a:p>
          <a:p>
            <a:pPr algn="l">
              <a:lnSpc>
                <a:spcPct val="150000"/>
              </a:lnSpc>
              <a:buSzPct val="87000"/>
            </a:pPr>
            <a:r>
              <a:rPr lang="zh-CN" altLang="en-US" dirty="0" smtClean="0">
                <a:sym typeface="Calibri" pitchFamily="34" charset="0"/>
              </a:rPr>
              <a:t>（</a:t>
            </a:r>
            <a:r>
              <a:rPr lang="en-US" altLang="zh-CN" dirty="0" smtClean="0">
                <a:sym typeface="Calibri" pitchFamily="34" charset="0"/>
              </a:rPr>
              <a:t>2</a:t>
            </a:r>
            <a:r>
              <a:rPr lang="zh-CN" altLang="en-US" dirty="0">
                <a:sym typeface="Calibri" pitchFamily="34" charset="0"/>
              </a:rPr>
              <a:t>）更新异常（</a:t>
            </a:r>
            <a:r>
              <a:rPr lang="en-US" altLang="zh-CN" dirty="0">
                <a:sym typeface="Calibri" pitchFamily="34" charset="0"/>
              </a:rPr>
              <a:t>Update Anomalies</a:t>
            </a:r>
            <a:r>
              <a:rPr lang="zh-CN" altLang="en-US" dirty="0">
                <a:sym typeface="Calibri" pitchFamily="34" charset="0"/>
              </a:rPr>
              <a:t>）</a:t>
            </a: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>
                <a:sym typeface="Calibri" pitchFamily="34" charset="0"/>
              </a:rPr>
              <a:t>数据冗余 </a:t>
            </a:r>
            <a:r>
              <a:rPr lang="zh-CN" altLang="en-US" dirty="0">
                <a:sym typeface="Monotype Sorts" pitchFamily="2" charset="2"/>
              </a:rPr>
              <a:t>，</a:t>
            </a:r>
            <a:r>
              <a:rPr lang="zh-CN" altLang="en-US" dirty="0">
                <a:sym typeface="Calibri" pitchFamily="34" charset="0"/>
              </a:rPr>
              <a:t>更新数据时，维护数据完整性代价大。</a:t>
            </a:r>
            <a:endParaRPr lang="en-US" altLang="zh-CN" dirty="0">
              <a:sym typeface="Calibri" pitchFamily="34" charset="0"/>
            </a:endParaRPr>
          </a:p>
          <a:p>
            <a:pPr marL="1200150" lvl="2" indent="-285750" algn="l">
              <a:lnSpc>
                <a:spcPct val="150000"/>
              </a:lnSpc>
              <a:buSzPct val="87000"/>
              <a:buFont typeface="Wingdings" pitchFamily="2" charset="2"/>
              <a:buChar char="l"/>
            </a:pPr>
            <a:r>
              <a:rPr lang="zh-CN" altLang="en-US" dirty="0">
                <a:sym typeface="Calibri" pitchFamily="34" charset="0"/>
              </a:rPr>
              <a:t>某系更换系主任后，必须修改与该系学生有关的每一个元组</a:t>
            </a:r>
            <a:r>
              <a:rPr lang="zh-CN" altLang="en-US" dirty="0" smtClean="0">
                <a:sym typeface="Calibri" pitchFamily="34" charset="0"/>
              </a:rPr>
              <a:t>。</a:t>
            </a:r>
            <a:endParaRPr lang="en-US" altLang="zh-CN" dirty="0" smtClean="0">
              <a:sym typeface="Calibri" pitchFamily="34" charset="0"/>
            </a:endParaRPr>
          </a:p>
          <a:p>
            <a:pPr marL="342900" indent="-342900" algn="l"/>
            <a:r>
              <a:rPr lang="zh-CN" altLang="en-US" dirty="0">
                <a:sym typeface="Calibri" pitchFamily="34" charset="0"/>
              </a:rPr>
              <a:t>（</a:t>
            </a:r>
            <a:r>
              <a:rPr lang="en-US" altLang="zh-CN" dirty="0">
                <a:sym typeface="Calibri" pitchFamily="34" charset="0"/>
              </a:rPr>
              <a:t>3</a:t>
            </a:r>
            <a:r>
              <a:rPr lang="zh-CN" altLang="en-US" dirty="0">
                <a:sym typeface="Calibri" pitchFamily="34" charset="0"/>
              </a:rPr>
              <a:t>）插入异常（</a:t>
            </a:r>
            <a:r>
              <a:rPr lang="en-US" altLang="zh-CN" dirty="0">
                <a:sym typeface="Calibri" pitchFamily="34" charset="0"/>
              </a:rPr>
              <a:t>Insertion Anomalies</a:t>
            </a:r>
            <a:r>
              <a:rPr lang="zh-CN" altLang="en-US" dirty="0">
                <a:sym typeface="Calibri" pitchFamily="34" charset="0"/>
              </a:rPr>
              <a:t>）</a:t>
            </a: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>
                <a:sym typeface="Calibri" pitchFamily="34" charset="0"/>
              </a:rPr>
              <a:t>如果一个系刚成立，尚无学生，则无法把这个系及其系主任的信息存入数据库</a:t>
            </a:r>
            <a:r>
              <a:rPr lang="zh-CN" altLang="en-US" dirty="0" smtClean="0">
                <a:sym typeface="Calibri" pitchFamily="34" charset="0"/>
              </a:rPr>
              <a:t>。</a:t>
            </a:r>
            <a:endParaRPr lang="en-US" altLang="zh-CN" dirty="0">
              <a:sym typeface="Calibri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dirty="0" smtClean="0">
                <a:sym typeface="Calibri" pitchFamily="34" charset="0"/>
              </a:rPr>
              <a:t>（</a:t>
            </a:r>
            <a:r>
              <a:rPr lang="en-US" altLang="zh-CN" dirty="0">
                <a:sym typeface="Calibri" pitchFamily="34" charset="0"/>
              </a:rPr>
              <a:t>4</a:t>
            </a:r>
            <a:r>
              <a:rPr lang="zh-CN" altLang="en-US" dirty="0">
                <a:sym typeface="Calibri" pitchFamily="34" charset="0"/>
              </a:rPr>
              <a:t>）删除异常（</a:t>
            </a:r>
            <a:r>
              <a:rPr lang="en-US" altLang="zh-CN" dirty="0">
                <a:sym typeface="Calibri" pitchFamily="34" charset="0"/>
              </a:rPr>
              <a:t>Deletion Anomalies</a:t>
            </a:r>
            <a:r>
              <a:rPr lang="zh-CN" altLang="en-US" dirty="0">
                <a:sym typeface="Calibri" pitchFamily="34" charset="0"/>
              </a:rPr>
              <a:t>）</a:t>
            </a: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100" dirty="0">
                <a:sym typeface="Calibri" pitchFamily="34" charset="0"/>
              </a:rPr>
              <a:t>如果某个系的学生全部毕业了， 则在删除该系学生信息的同时，把这个系及其系主任的信息也丢掉了</a:t>
            </a:r>
            <a:r>
              <a:rPr lang="zh-CN" altLang="en-US" sz="2100" dirty="0" smtClean="0">
                <a:sym typeface="Calibri" pitchFamily="34" charset="0"/>
              </a:rPr>
              <a:t>。</a:t>
            </a:r>
            <a:endParaRPr lang="zh-CN" altLang="en-US" dirty="0">
              <a:sym typeface="Calibri" pitchFamily="34" charset="0"/>
            </a:endParaRPr>
          </a:p>
          <a:p>
            <a:pPr marL="1200150" lvl="2" indent="-285750" algn="l">
              <a:lnSpc>
                <a:spcPct val="150000"/>
              </a:lnSpc>
              <a:buSzPct val="87000"/>
              <a:buFont typeface="Wingdings" pitchFamily="2" charset="2"/>
              <a:buChar char="l"/>
            </a:pPr>
            <a:endParaRPr lang="zh-CN" altLang="en-US" dirty="0" smtClean="0">
              <a:sym typeface="Calibri" pitchFamily="34" charset="0"/>
            </a:endParaRPr>
          </a:p>
          <a:p>
            <a:pPr marL="1200150" lvl="2" indent="-285750" algn="l">
              <a:lnSpc>
                <a:spcPct val="150000"/>
              </a:lnSpc>
              <a:buSzPct val="87000"/>
              <a:buFont typeface="Wingdings" pitchFamily="2" charset="2"/>
              <a:buChar char="l"/>
            </a:pPr>
            <a:endParaRPr lang="en-US" altLang="zh-CN" dirty="0" smtClean="0">
              <a:sym typeface="Calibri" pitchFamily="34" charset="0"/>
            </a:endParaRPr>
          </a:p>
          <a:p>
            <a:pPr marL="342900" indent="-342900" algn="l">
              <a:buFont typeface="Wingdings" pitchFamily="2" charset="2"/>
              <a:buChar char="v"/>
            </a:pPr>
            <a:endParaRPr lang="zh-CN" altLang="en-US" dirty="0" smtClean="0">
              <a:sym typeface="Calibri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16" r="4297" b="10513"/>
          <a:stretch/>
        </p:blipFill>
        <p:spPr>
          <a:xfrm>
            <a:off x="4685568" y="0"/>
            <a:ext cx="4487740" cy="311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516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3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3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3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3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3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3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3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3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3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3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endParaRPr lang="zh-CN" altLang="zh-CN" sz="1000" b="1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19460" name="Rectangle 102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sz="3600" dirty="0" smtClean="0">
                <a:sym typeface="微软雅黑" pitchFamily="34" charset="-122"/>
              </a:rPr>
              <a:t>问题的提出（续）</a:t>
            </a:r>
          </a:p>
        </p:txBody>
      </p:sp>
      <p:sp>
        <p:nvSpPr>
          <p:cNvPr id="19461" name="Rectangle 1027"/>
          <p:cNvSpPr>
            <a:spLocks noGrp="1" noChangeArrowheads="1"/>
          </p:cNvSpPr>
          <p:nvPr>
            <p:ph idx="1"/>
          </p:nvPr>
        </p:nvSpPr>
        <p:spPr>
          <a:xfrm>
            <a:off x="314325" y="1076325"/>
            <a:ext cx="8723313" cy="5448300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zh-CN" altLang="en-US" dirty="0" smtClean="0">
                <a:sym typeface="Calibri" pitchFamily="34" charset="0"/>
              </a:rPr>
              <a:t>结论</a:t>
            </a:r>
            <a:endParaRPr lang="en-US" sz="3200" dirty="0" smtClean="0">
              <a:sym typeface="Calibri" pitchFamily="34" charset="0"/>
            </a:endParaRPr>
          </a:p>
          <a:p>
            <a:pPr marL="742950" lvl="1" indent="-28575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n"/>
            </a:pPr>
            <a:r>
              <a:rPr lang="en-US" altLang="zh-CN" dirty="0" smtClean="0">
                <a:sym typeface="Calibri" pitchFamily="34" charset="0"/>
              </a:rPr>
              <a:t>Student</a:t>
            </a:r>
            <a:r>
              <a:rPr lang="zh-CN" altLang="en-US" dirty="0" smtClean="0">
                <a:sym typeface="Calibri" pitchFamily="34" charset="0"/>
              </a:rPr>
              <a:t>关系模式不是一个好的模式。</a:t>
            </a:r>
            <a:endParaRPr lang="zh-CN" altLang="en-US" sz="2800" dirty="0" smtClean="0">
              <a:sym typeface="Calibri" pitchFamily="34" charset="0"/>
            </a:endParaRPr>
          </a:p>
          <a:p>
            <a:pPr marL="742950" lvl="1" indent="-28575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n"/>
            </a:pPr>
            <a:r>
              <a:rPr lang="zh-CN" altLang="en-US" dirty="0" smtClean="0">
                <a:sym typeface="Calibri" pitchFamily="34" charset="0"/>
              </a:rPr>
              <a:t>一个</a:t>
            </a:r>
            <a:r>
              <a:rPr lang="zh-CN" altLang="en-US" dirty="0" smtClean="0">
                <a:sym typeface="宋体" pitchFamily="2" charset="-122"/>
              </a:rPr>
              <a:t>“</a:t>
            </a:r>
            <a:r>
              <a:rPr lang="zh-CN" altLang="en-US" dirty="0" smtClean="0">
                <a:sym typeface="Calibri" pitchFamily="34" charset="0"/>
              </a:rPr>
              <a:t>好</a:t>
            </a:r>
            <a:r>
              <a:rPr lang="zh-CN" altLang="en-US" dirty="0" smtClean="0">
                <a:sym typeface="宋体" pitchFamily="2" charset="-122"/>
              </a:rPr>
              <a:t>”</a:t>
            </a:r>
            <a:r>
              <a:rPr lang="zh-CN" altLang="en-US" dirty="0" smtClean="0">
                <a:sym typeface="Calibri" pitchFamily="34" charset="0"/>
              </a:rPr>
              <a:t>的模式应当不会发生插入异常、删除异常和更新异常，数据冗余应尽可能少。</a:t>
            </a:r>
            <a:endParaRPr lang="en-US" sz="2800" dirty="0" smtClean="0">
              <a:sym typeface="Calibri" pitchFamily="34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zh-CN" altLang="en-US" dirty="0" smtClean="0">
                <a:sym typeface="Calibri" pitchFamily="34" charset="0"/>
              </a:rPr>
              <a:t>原因</a:t>
            </a:r>
            <a:endParaRPr lang="en-US" sz="3200" dirty="0" smtClean="0">
              <a:sym typeface="Calibri" pitchFamily="34" charset="0"/>
            </a:endParaRPr>
          </a:p>
          <a:p>
            <a:pPr marL="742950" lvl="1" indent="-28575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n"/>
            </a:pPr>
            <a:r>
              <a:rPr lang="zh-CN" altLang="en-US" dirty="0" smtClean="0">
                <a:sym typeface="Calibri" pitchFamily="34" charset="0"/>
              </a:rPr>
              <a:t>由存在于模式中的某些数据依赖引起的。</a:t>
            </a:r>
            <a:endParaRPr lang="en-US" altLang="zh-CN" dirty="0" smtClean="0">
              <a:sym typeface="Calibri" pitchFamily="34" charset="0"/>
            </a:endParaRPr>
          </a:p>
          <a:p>
            <a:pPr marL="742950" lvl="1" indent="-28575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n"/>
            </a:pPr>
            <a:endParaRPr lang="en-US" altLang="zh-CN" sz="2800" dirty="0">
              <a:sym typeface="Calibri" pitchFamily="34" charset="0"/>
            </a:endParaRPr>
          </a:p>
          <a:p>
            <a:pPr marL="742950" lvl="1" indent="-28575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n"/>
            </a:pPr>
            <a:endParaRPr lang="zh-CN" altLang="en-US" sz="2800" dirty="0" smtClean="0">
              <a:sym typeface="Calibri" pitchFamily="34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zh-CN" altLang="en-US" dirty="0" smtClean="0">
                <a:sym typeface="Calibri" pitchFamily="34" charset="0"/>
              </a:rPr>
              <a:t>解决方法</a:t>
            </a:r>
            <a:endParaRPr lang="en-US" sz="3200" dirty="0" smtClean="0">
              <a:sym typeface="Calibri" pitchFamily="34" charset="0"/>
            </a:endParaRPr>
          </a:p>
          <a:p>
            <a:pPr marL="742950" lvl="1" indent="-28575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n"/>
            </a:pPr>
            <a:r>
              <a:rPr lang="zh-CN" altLang="en-US" dirty="0" smtClean="0">
                <a:sym typeface="Calibri" pitchFamily="34" charset="0"/>
              </a:rPr>
              <a:t>用规范化理论改造关系模式来消除其中不合适的数据依赖</a:t>
            </a:r>
          </a:p>
        </p:txBody>
      </p: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2034137" y="4158761"/>
            <a:ext cx="5788269" cy="1615506"/>
            <a:chOff x="0" y="0"/>
            <a:chExt cx="5580" cy="2028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3600" cy="10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buClr>
                  <a:schemeClr val="accent1"/>
                </a:buClr>
                <a:buSzPct val="90000"/>
                <a:buFont typeface="Monotype Sorts" pitchFamily="2" charset="2"/>
                <a:buNone/>
              </a:pPr>
              <a:endParaRPr lang="zh-CN" altLang="zh-CN" sz="2800" b="1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endParaRPr>
            </a:p>
          </p:txBody>
        </p:sp>
        <p:sp>
          <p:nvSpPr>
            <p:cNvPr id="8" name="Text Box 6"/>
            <p:cNvSpPr>
              <a:spLocks noChangeArrowheads="1"/>
            </p:cNvSpPr>
            <p:nvPr/>
          </p:nvSpPr>
          <p:spPr bwMode="auto">
            <a:xfrm>
              <a:off x="360" y="312"/>
              <a:ext cx="108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>
                <a:buClr>
                  <a:schemeClr val="accent1"/>
                </a:buClr>
                <a:buSzPct val="90000"/>
                <a:buFont typeface="Monotype Sorts" pitchFamily="2" charset="2"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rPr>
                <a:t> Sno</a:t>
              </a:r>
              <a:endParaRPr lang="zh-CN" altLang="en-US"/>
            </a:p>
          </p:txBody>
        </p:sp>
        <p:sp>
          <p:nvSpPr>
            <p:cNvPr id="9" name="Text Box 7"/>
            <p:cNvSpPr>
              <a:spLocks noChangeArrowheads="1"/>
            </p:cNvSpPr>
            <p:nvPr/>
          </p:nvSpPr>
          <p:spPr bwMode="auto">
            <a:xfrm>
              <a:off x="1980" y="312"/>
              <a:ext cx="126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>
                <a:buClr>
                  <a:schemeClr val="accent1"/>
                </a:buClr>
                <a:buSzPct val="90000"/>
                <a:buFont typeface="Monotype Sorts" pitchFamily="2" charset="2"/>
                <a:buNone/>
              </a:pPr>
              <a:r>
                <a:rPr lang="en-US" altLang="zh-CN" sz="2400" b="1" dirty="0" err="1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rPr>
                <a:t>Cno</a:t>
              </a:r>
              <a:endParaRPr lang="en-US" altLang="zh-CN" sz="2000" b="1" dirty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endParaRPr>
            </a:p>
          </p:txBody>
        </p:sp>
        <p:sp>
          <p:nvSpPr>
            <p:cNvPr id="10" name="Text Box 8"/>
            <p:cNvSpPr>
              <a:spLocks noChangeArrowheads="1"/>
            </p:cNvSpPr>
            <p:nvPr/>
          </p:nvSpPr>
          <p:spPr bwMode="auto">
            <a:xfrm>
              <a:off x="360" y="1560"/>
              <a:ext cx="108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>
                <a:buClr>
                  <a:schemeClr val="accent1"/>
                </a:buClr>
                <a:buSzPct val="90000"/>
                <a:buFont typeface="Monotype Sorts" pitchFamily="2" charset="2"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rPr>
                <a:t>Sdept</a:t>
              </a:r>
              <a:endParaRPr lang="en-US" altLang="zh-CN" sz="2000" b="1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endParaRPr>
            </a:p>
          </p:txBody>
        </p:sp>
        <p:sp>
          <p:nvSpPr>
            <p:cNvPr id="11" name="Text Box 9"/>
            <p:cNvSpPr>
              <a:spLocks noChangeArrowheads="1"/>
            </p:cNvSpPr>
            <p:nvPr/>
          </p:nvSpPr>
          <p:spPr bwMode="auto">
            <a:xfrm>
              <a:off x="1980" y="1560"/>
              <a:ext cx="126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>
                <a:buClr>
                  <a:schemeClr val="accent1"/>
                </a:buClr>
                <a:buSzPct val="90000"/>
                <a:buFont typeface="Monotype Sorts" pitchFamily="2" charset="2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rPr>
                <a:t>M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rPr>
                <a:t>nam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rPr>
                <a:t>e</a:t>
              </a:r>
              <a:endParaRPr lang="zh-CN" alt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900" y="780"/>
              <a:ext cx="1" cy="7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1437" y="1716"/>
              <a:ext cx="540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Box 12"/>
            <p:cNvSpPr>
              <a:spLocks noChangeArrowheads="1"/>
            </p:cNvSpPr>
            <p:nvPr/>
          </p:nvSpPr>
          <p:spPr bwMode="auto">
            <a:xfrm>
              <a:off x="4320" y="312"/>
              <a:ext cx="126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>
                <a:buClr>
                  <a:schemeClr val="accent1"/>
                </a:buClr>
                <a:buSzPct val="90000"/>
                <a:buFont typeface="Monotype Sorts" pitchFamily="2" charset="2"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rPr>
                <a:t>Grade</a:t>
              </a:r>
              <a:endParaRPr lang="en-US" altLang="zh-CN" sz="2800" b="1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endParaRPr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600" y="468"/>
              <a:ext cx="720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72680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3"/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r>
              <a:rPr lang="zh-CN" altLang="en-US" sz="1400" b="1">
                <a:solidFill>
                  <a:srgbClr val="95373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*</a:t>
            </a:r>
            <a:endParaRPr lang="zh-CN" altLang="en-US">
              <a:solidFill>
                <a:srgbClr val="000000"/>
              </a:solidFill>
              <a:sym typeface="Arial" pitchFamily="34" charset="0"/>
            </a:endParaRPr>
          </a:p>
        </p:txBody>
      </p:sp>
      <p:sp>
        <p:nvSpPr>
          <p:cNvPr id="9219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endParaRPr lang="zh-CN" altLang="zh-CN" sz="1000" b="1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sz="3600" dirty="0" smtClean="0">
                <a:sym typeface="微软雅黑" pitchFamily="34" charset="-122"/>
              </a:rPr>
              <a:t>问题的提出（续）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82663"/>
            <a:ext cx="8372475" cy="5256212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dirty="0" smtClean="0">
                <a:sym typeface="Calibri" pitchFamily="34" charset="0"/>
              </a:rPr>
              <a:t>数据依赖</a:t>
            </a:r>
            <a:endParaRPr lang="en-US" dirty="0" smtClean="0">
              <a:sym typeface="Calibri" pitchFamily="34" charset="0"/>
            </a:endParaRPr>
          </a:p>
          <a:p>
            <a:pPr marL="800100" lvl="1" indent="-34290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 smtClean="0">
                <a:sym typeface="Calibri" pitchFamily="34" charset="0"/>
              </a:rPr>
              <a:t>是一个关系内部属性与属性之间的一种约束关系</a:t>
            </a:r>
            <a:endParaRPr lang="en-US" dirty="0" smtClean="0">
              <a:sym typeface="Calibri" pitchFamily="34" charset="0"/>
            </a:endParaRPr>
          </a:p>
          <a:p>
            <a:pPr marL="1200150" lvl="2" indent="-285750" algn="l">
              <a:lnSpc>
                <a:spcPct val="150000"/>
              </a:lnSpc>
              <a:buSzPct val="87000"/>
              <a:buFont typeface="Wingdings" pitchFamily="2" charset="2"/>
              <a:buChar char="l"/>
            </a:pPr>
            <a:r>
              <a:rPr lang="zh-CN" altLang="en-US" dirty="0" smtClean="0">
                <a:sym typeface="Calibri" pitchFamily="34" charset="0"/>
              </a:rPr>
              <a:t>通过属性间值的相等与否体现出来的数据间相互联系</a:t>
            </a:r>
            <a:endParaRPr lang="en-US" sz="2600" dirty="0" smtClean="0">
              <a:sym typeface="Calibri" pitchFamily="34" charset="0"/>
            </a:endParaRPr>
          </a:p>
          <a:p>
            <a:pPr marL="800100" lvl="1" indent="-34290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 smtClean="0">
                <a:sym typeface="Calibri" pitchFamily="34" charset="0"/>
              </a:rPr>
              <a:t>是现实世界属性间相互联系的抽象</a:t>
            </a:r>
            <a:endParaRPr lang="en-US" sz="2800" dirty="0" smtClean="0">
              <a:sym typeface="Calibri" pitchFamily="34" charset="0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dirty="0">
                <a:sym typeface="Calibri" pitchFamily="34" charset="0"/>
              </a:rPr>
              <a:t>数据依赖的主要类型</a:t>
            </a:r>
          </a:p>
          <a:p>
            <a:pPr marL="627063" lvl="1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>
                <a:sym typeface="Calibri" pitchFamily="34" charset="0"/>
              </a:rPr>
              <a:t>函数依赖（</a:t>
            </a:r>
            <a:r>
              <a:rPr lang="en-US" altLang="zh-CN" dirty="0">
                <a:sym typeface="Calibri" pitchFamily="34" charset="0"/>
              </a:rPr>
              <a:t>Functional Dependency</a:t>
            </a:r>
            <a:r>
              <a:rPr lang="zh-CN" altLang="en-US" dirty="0">
                <a:sym typeface="Calibri" pitchFamily="34" charset="0"/>
              </a:rPr>
              <a:t>，简记为</a:t>
            </a:r>
            <a:r>
              <a:rPr lang="en-US" altLang="zh-CN" dirty="0">
                <a:sym typeface="Calibri" pitchFamily="34" charset="0"/>
              </a:rPr>
              <a:t>FD</a:t>
            </a:r>
            <a:r>
              <a:rPr lang="zh-CN" altLang="en-US" dirty="0" smtClean="0">
                <a:sym typeface="Calibri" pitchFamily="34" charset="0"/>
              </a:rPr>
              <a:t>）</a:t>
            </a:r>
            <a:endParaRPr lang="en-US" altLang="zh-CN" dirty="0" smtClean="0">
              <a:sym typeface="Calibri" pitchFamily="34" charset="0"/>
            </a:endParaRPr>
          </a:p>
          <a:p>
            <a:pPr marL="1200150" lvl="2" indent="-285750" algn="l">
              <a:lnSpc>
                <a:spcPct val="150000"/>
              </a:lnSpc>
              <a:buSzPct val="87000"/>
              <a:buFont typeface="Wingdings" pitchFamily="2" charset="2"/>
              <a:buChar char="l"/>
            </a:pPr>
            <a:r>
              <a:rPr lang="zh-CN" altLang="en-US" dirty="0">
                <a:sym typeface="Calibri" pitchFamily="34" charset="0"/>
              </a:rPr>
              <a:t>消除函数依赖的理论：</a:t>
            </a:r>
            <a:r>
              <a:rPr lang="en-US" altLang="zh-CN" dirty="0">
                <a:sym typeface="Calibri" pitchFamily="34" charset="0"/>
              </a:rPr>
              <a:t>1NF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dirty="0">
                <a:sym typeface="Calibri" pitchFamily="34" charset="0"/>
              </a:rPr>
              <a:t>2NF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dirty="0">
                <a:sym typeface="Calibri" pitchFamily="34" charset="0"/>
              </a:rPr>
              <a:t>3NF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dirty="0">
                <a:sym typeface="Calibri" pitchFamily="34" charset="0"/>
              </a:rPr>
              <a:t>BCNF</a:t>
            </a:r>
            <a:endParaRPr lang="zh-CN" altLang="en-US" dirty="0">
              <a:sym typeface="Calibri" pitchFamily="34" charset="0"/>
            </a:endParaRPr>
          </a:p>
          <a:p>
            <a:pPr marL="627063" lvl="1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>
                <a:sym typeface="Calibri" pitchFamily="34" charset="0"/>
              </a:rPr>
              <a:t>多值依赖（</a:t>
            </a:r>
            <a:r>
              <a:rPr lang="en-US" altLang="zh-CN" dirty="0">
                <a:sym typeface="Calibri" pitchFamily="34" charset="0"/>
              </a:rPr>
              <a:t>Multi-Valued Dependency</a:t>
            </a:r>
            <a:r>
              <a:rPr lang="zh-CN" altLang="en-US" dirty="0">
                <a:sym typeface="Calibri" pitchFamily="34" charset="0"/>
              </a:rPr>
              <a:t>，简记为</a:t>
            </a:r>
            <a:r>
              <a:rPr lang="en-US" altLang="zh-CN" dirty="0">
                <a:sym typeface="Calibri" pitchFamily="34" charset="0"/>
              </a:rPr>
              <a:t>MVD</a:t>
            </a:r>
            <a:r>
              <a:rPr lang="zh-CN" altLang="en-US" dirty="0" smtClean="0">
                <a:sym typeface="Calibri" pitchFamily="34" charset="0"/>
              </a:rPr>
              <a:t>）</a:t>
            </a:r>
            <a:endParaRPr lang="en-US" altLang="zh-CN" dirty="0" smtClean="0">
              <a:sym typeface="Calibri" pitchFamily="34" charset="0"/>
            </a:endParaRPr>
          </a:p>
          <a:p>
            <a:pPr marL="1200150" lvl="2" indent="-285750" algn="l">
              <a:lnSpc>
                <a:spcPct val="150000"/>
              </a:lnSpc>
              <a:buSzPct val="87000"/>
              <a:buFont typeface="Wingdings" pitchFamily="2" charset="2"/>
              <a:buChar char="l"/>
            </a:pPr>
            <a:r>
              <a:rPr lang="zh-CN" altLang="en-US" dirty="0" smtClean="0">
                <a:sym typeface="Calibri" pitchFamily="34" charset="0"/>
              </a:rPr>
              <a:t>消除多值依赖</a:t>
            </a:r>
            <a:r>
              <a:rPr lang="zh-CN" altLang="en-US" dirty="0">
                <a:sym typeface="Calibri" pitchFamily="34" charset="0"/>
              </a:rPr>
              <a:t>的理论</a:t>
            </a:r>
            <a:r>
              <a:rPr lang="zh-CN" altLang="en-US" dirty="0" smtClean="0">
                <a:sym typeface="Calibri" pitchFamily="34" charset="0"/>
              </a:rPr>
              <a:t>：</a:t>
            </a:r>
            <a:r>
              <a:rPr lang="en-US" altLang="zh-CN" dirty="0" smtClean="0">
                <a:sym typeface="Calibri" pitchFamily="34" charset="0"/>
              </a:rPr>
              <a:t>4NF</a:t>
            </a:r>
            <a:endParaRPr lang="zh-CN" altLang="en-US" dirty="0">
              <a:sym typeface="Calibri" pitchFamily="34" charset="0"/>
            </a:endParaRPr>
          </a:p>
          <a:p>
            <a:pPr marL="627063" lvl="1" algn="l">
              <a:lnSpc>
                <a:spcPct val="150000"/>
              </a:lnSpc>
              <a:buFont typeface="Wingdings" pitchFamily="2" charset="2"/>
              <a:buChar char="n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67520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3600" dirty="0" smtClean="0">
                <a:sym typeface="Calibri" pitchFamily="34" charset="0"/>
              </a:rPr>
              <a:t>2 </a:t>
            </a:r>
            <a:r>
              <a:rPr lang="zh-CN" altLang="en-US" sz="3600" dirty="0" smtClean="0">
                <a:sym typeface="Calibri" pitchFamily="34" charset="0"/>
              </a:rPr>
              <a:t>数据依赖</a:t>
            </a:r>
          </a:p>
        </p:txBody>
      </p:sp>
      <p:sp>
        <p:nvSpPr>
          <p:cNvPr id="23555" name="文本占位符 4"/>
          <p:cNvSpPr>
            <a:spLocks noGrp="1" noChangeArrowheads="1"/>
          </p:cNvSpPr>
          <p:nvPr>
            <p:ph idx="1"/>
          </p:nvPr>
        </p:nvSpPr>
        <p:spPr>
          <a:xfrm>
            <a:off x="723900" y="1154642"/>
            <a:ext cx="7859713" cy="5213350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</a:pPr>
            <a:r>
              <a:rPr lang="zh-CN" altLang="en-US" dirty="0" smtClean="0">
                <a:sym typeface="Calibri" pitchFamily="34" charset="0"/>
              </a:rPr>
              <a:t>（</a:t>
            </a:r>
            <a:r>
              <a:rPr lang="en-US" altLang="zh-CN" dirty="0" smtClean="0">
                <a:sym typeface="Calibri" pitchFamily="34" charset="0"/>
              </a:rPr>
              <a:t>1</a:t>
            </a:r>
            <a:r>
              <a:rPr lang="zh-CN" altLang="en-US" dirty="0" smtClean="0">
                <a:sym typeface="Calibri" pitchFamily="34" charset="0"/>
              </a:rPr>
              <a:t>）函数依赖</a:t>
            </a:r>
            <a:endParaRPr lang="en-US" dirty="0" smtClean="0">
              <a:sym typeface="Calibri" pitchFamily="34" charset="0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zh-CN" altLang="en-US" dirty="0" smtClean="0">
                <a:sym typeface="微软雅黑" pitchFamily="34" charset="-122"/>
              </a:rPr>
              <a:t>（</a:t>
            </a:r>
            <a:r>
              <a:rPr lang="en-US" altLang="zh-CN" dirty="0" smtClean="0">
                <a:sym typeface="微软雅黑" pitchFamily="34" charset="-122"/>
              </a:rPr>
              <a:t>2</a:t>
            </a:r>
            <a:r>
              <a:rPr lang="zh-CN" altLang="en-US" dirty="0" smtClean="0">
                <a:sym typeface="微软雅黑" pitchFamily="34" charset="-122"/>
              </a:rPr>
              <a:t>）平凡函数依赖与非平凡函数依赖</a:t>
            </a:r>
            <a:endParaRPr lang="en-US" dirty="0" smtClean="0">
              <a:sym typeface="微软雅黑" pitchFamily="3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zh-CN" altLang="en-US" dirty="0" smtClean="0">
                <a:sym typeface="微软雅黑" pitchFamily="34" charset="-122"/>
              </a:rPr>
              <a:t>（</a:t>
            </a:r>
            <a:r>
              <a:rPr lang="en-US" altLang="zh-CN" dirty="0" smtClean="0">
                <a:sym typeface="微软雅黑" pitchFamily="34" charset="-122"/>
              </a:rPr>
              <a:t>3</a:t>
            </a:r>
            <a:r>
              <a:rPr lang="zh-CN" altLang="en-US" dirty="0" smtClean="0">
                <a:sym typeface="微软雅黑" pitchFamily="34" charset="-122"/>
              </a:rPr>
              <a:t>）完全函数依赖与部分函数依赖</a:t>
            </a:r>
            <a:endParaRPr lang="en-US" dirty="0" smtClean="0">
              <a:sym typeface="微软雅黑" pitchFamily="3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zh-CN" altLang="en-US" dirty="0" smtClean="0">
                <a:sym typeface="微软雅黑" pitchFamily="34" charset="-122"/>
              </a:rPr>
              <a:t>（</a:t>
            </a:r>
            <a:r>
              <a:rPr lang="en-US" altLang="zh-CN" dirty="0" smtClean="0">
                <a:sym typeface="微软雅黑" pitchFamily="34" charset="-122"/>
              </a:rPr>
              <a:t>4</a:t>
            </a:r>
            <a:r>
              <a:rPr lang="zh-CN" altLang="en-US" dirty="0" smtClean="0">
                <a:sym typeface="微软雅黑" pitchFamily="34" charset="-122"/>
              </a:rPr>
              <a:t>）传递函数依赖</a:t>
            </a:r>
            <a:endParaRPr lang="en-US" dirty="0" smtClean="0">
              <a:sym typeface="Calibri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itchFamily="2" charset="2"/>
              <a:buChar char="v"/>
            </a:pPr>
            <a:endParaRPr lang="zh-CN" altLang="en-US" dirty="0" smtClean="0">
              <a:solidFill>
                <a:srgbClr val="00B050"/>
              </a:solidFill>
              <a:sym typeface="Calibri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itchFamily="2" charset="2"/>
              <a:buChar char="v"/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0593366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endParaRPr lang="zh-CN" altLang="zh-CN" sz="1000" b="1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dirty="0" smtClean="0">
                <a:sym typeface="微软雅黑" pitchFamily="34" charset="-122"/>
              </a:rPr>
              <a:t>（</a:t>
            </a:r>
            <a:r>
              <a:rPr lang="en-US" altLang="zh-CN" sz="3600" dirty="0" smtClean="0">
                <a:sym typeface="微软雅黑" pitchFamily="34" charset="-122"/>
              </a:rPr>
              <a:t>1</a:t>
            </a:r>
            <a:r>
              <a:rPr lang="zh-CN" altLang="en-US" sz="3600" dirty="0" smtClean="0">
                <a:sym typeface="微软雅黑" pitchFamily="34" charset="-122"/>
              </a:rPr>
              <a:t>）函数依赖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98550"/>
            <a:ext cx="8229600" cy="5095875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buFont typeface="Wingdings" pitchFamily="2" charset="2"/>
              <a:buChar char="v"/>
            </a:pPr>
            <a:r>
              <a:rPr lang="zh-CN" altLang="en-US" dirty="0" smtClean="0">
                <a:sym typeface="Calibri" pitchFamily="34" charset="0"/>
              </a:rPr>
              <a:t>定义</a:t>
            </a:r>
            <a:r>
              <a:rPr lang="en-US" altLang="zh-CN" dirty="0" smtClean="0">
                <a:sym typeface="Calibri" pitchFamily="34" charset="0"/>
              </a:rPr>
              <a:t>1  </a:t>
            </a:r>
            <a:r>
              <a:rPr lang="zh-CN" altLang="en-US" dirty="0" smtClean="0">
                <a:sym typeface="Calibri" pitchFamily="34" charset="0"/>
              </a:rPr>
              <a:t>设</a:t>
            </a:r>
            <a:r>
              <a:rPr lang="en-US" altLang="zh-CN" i="1" dirty="0" smtClean="0">
                <a:sym typeface="Calibri" pitchFamily="34" charset="0"/>
              </a:rPr>
              <a:t>R(U)</a:t>
            </a:r>
            <a:r>
              <a:rPr lang="zh-CN" altLang="en-US" dirty="0" smtClean="0">
                <a:sym typeface="Calibri" pitchFamily="34" charset="0"/>
              </a:rPr>
              <a:t>是一个属性集</a:t>
            </a:r>
            <a:r>
              <a:rPr lang="en-US" altLang="zh-CN" i="1" dirty="0" smtClean="0">
                <a:sym typeface="Calibri" pitchFamily="34" charset="0"/>
              </a:rPr>
              <a:t>U</a:t>
            </a:r>
            <a:r>
              <a:rPr lang="zh-CN" altLang="en-US" dirty="0" smtClean="0">
                <a:sym typeface="Calibri" pitchFamily="34" charset="0"/>
              </a:rPr>
              <a:t>上的关系模式，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zh-CN" altLang="en-US" dirty="0" smtClean="0">
                <a:sym typeface="Calibri" pitchFamily="34" charset="0"/>
              </a:rPr>
              <a:t>和</a:t>
            </a:r>
            <a:r>
              <a:rPr lang="en-US" altLang="zh-CN" i="1" dirty="0" smtClean="0">
                <a:sym typeface="Calibri" pitchFamily="34" charset="0"/>
              </a:rPr>
              <a:t>Y</a:t>
            </a:r>
            <a:r>
              <a:rPr lang="zh-CN" altLang="en-US" dirty="0" smtClean="0">
                <a:sym typeface="Calibri" pitchFamily="34" charset="0"/>
              </a:rPr>
              <a:t>是</a:t>
            </a:r>
            <a:r>
              <a:rPr lang="en-US" altLang="zh-CN" i="1" dirty="0" smtClean="0">
                <a:sym typeface="Calibri" pitchFamily="34" charset="0"/>
              </a:rPr>
              <a:t>U</a:t>
            </a:r>
            <a:r>
              <a:rPr lang="zh-CN" altLang="en-US" dirty="0" smtClean="0">
                <a:sym typeface="Calibri" pitchFamily="34" charset="0"/>
              </a:rPr>
              <a:t>的子集。若对于</a:t>
            </a:r>
            <a:r>
              <a:rPr lang="en-US" altLang="zh-CN" i="1" dirty="0" smtClean="0">
                <a:sym typeface="Calibri" pitchFamily="34" charset="0"/>
              </a:rPr>
              <a:t>R(U)</a:t>
            </a:r>
            <a:r>
              <a:rPr lang="zh-CN" altLang="en-US" dirty="0" smtClean="0">
                <a:sym typeface="Calibri" pitchFamily="34" charset="0"/>
              </a:rPr>
              <a:t>的任意一个可能的关系</a:t>
            </a:r>
            <a:r>
              <a:rPr lang="en-US" altLang="zh-CN" i="1" dirty="0" smtClean="0">
                <a:sym typeface="Calibri" pitchFamily="34" charset="0"/>
              </a:rPr>
              <a:t>r</a:t>
            </a:r>
            <a:r>
              <a:rPr lang="zh-CN" altLang="en-US" dirty="0" smtClean="0">
                <a:sym typeface="Calibri" pitchFamily="34" charset="0"/>
              </a:rPr>
              <a:t>，</a:t>
            </a:r>
            <a:r>
              <a:rPr lang="en-US" altLang="zh-CN" i="1" dirty="0" smtClean="0">
                <a:sym typeface="Calibri" pitchFamily="34" charset="0"/>
              </a:rPr>
              <a:t>r</a:t>
            </a:r>
            <a:r>
              <a:rPr lang="zh-CN" altLang="en-US" dirty="0" smtClean="0">
                <a:sym typeface="Calibri" pitchFamily="34" charset="0"/>
              </a:rPr>
              <a:t> 中不可能存在两个元组在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zh-CN" altLang="en-US" dirty="0" smtClean="0">
                <a:sym typeface="Calibri" pitchFamily="34" charset="0"/>
              </a:rPr>
              <a:t>上的属性值相等， 而在</a:t>
            </a:r>
            <a:r>
              <a:rPr lang="en-US" altLang="zh-CN" i="1" dirty="0" smtClean="0">
                <a:sym typeface="Calibri" pitchFamily="34" charset="0"/>
              </a:rPr>
              <a:t>Y</a:t>
            </a:r>
            <a:r>
              <a:rPr lang="zh-CN" altLang="en-US" dirty="0" smtClean="0">
                <a:sym typeface="Calibri" pitchFamily="34" charset="0"/>
              </a:rPr>
              <a:t>上的属性值不等， 则称“</a:t>
            </a:r>
            <a:r>
              <a:rPr lang="en-US" altLang="zh-CN" i="1" dirty="0" smtClean="0">
                <a:solidFill>
                  <a:srgbClr val="FF00FF"/>
                </a:solidFill>
                <a:sym typeface="Calibri" pitchFamily="34" charset="0"/>
              </a:rPr>
              <a:t>X</a:t>
            </a:r>
            <a:r>
              <a:rPr lang="zh-CN" altLang="en-US" dirty="0" smtClean="0">
                <a:solidFill>
                  <a:srgbClr val="FF00FF"/>
                </a:solidFill>
                <a:sym typeface="Calibri" pitchFamily="34" charset="0"/>
              </a:rPr>
              <a:t>函数确定</a:t>
            </a:r>
            <a:r>
              <a:rPr lang="en-US" altLang="zh-CN" i="1" dirty="0" smtClean="0">
                <a:solidFill>
                  <a:srgbClr val="FF00FF"/>
                </a:solidFill>
                <a:sym typeface="Calibri" pitchFamily="34" charset="0"/>
              </a:rPr>
              <a:t>Y </a:t>
            </a:r>
            <a:r>
              <a:rPr lang="en-US" altLang="zh-CN" dirty="0" smtClean="0">
                <a:sym typeface="Calibri" pitchFamily="34" charset="0"/>
              </a:rPr>
              <a:t>”</a:t>
            </a:r>
            <a:r>
              <a:rPr lang="zh-CN" altLang="en-US" dirty="0" smtClean="0">
                <a:sym typeface="Calibri" pitchFamily="34" charset="0"/>
              </a:rPr>
              <a:t>或“</a:t>
            </a:r>
            <a:r>
              <a:rPr lang="en-US" altLang="zh-CN" i="1" dirty="0" smtClean="0">
                <a:solidFill>
                  <a:srgbClr val="FF00FF"/>
                </a:solidFill>
                <a:sym typeface="Calibri" pitchFamily="34" charset="0"/>
              </a:rPr>
              <a:t>Y</a:t>
            </a:r>
            <a:r>
              <a:rPr lang="zh-CN" altLang="en-US" dirty="0" smtClean="0">
                <a:solidFill>
                  <a:srgbClr val="FF00FF"/>
                </a:solidFill>
                <a:sym typeface="Calibri" pitchFamily="34" charset="0"/>
              </a:rPr>
              <a:t>函数依赖于</a:t>
            </a:r>
            <a:r>
              <a:rPr lang="en-US" altLang="zh-CN" i="1" dirty="0" smtClean="0">
                <a:solidFill>
                  <a:srgbClr val="FF00FF"/>
                </a:solidFill>
                <a:sym typeface="Calibri" pitchFamily="34" charset="0"/>
              </a:rPr>
              <a:t>X </a:t>
            </a:r>
            <a:r>
              <a:rPr lang="en-US" altLang="zh-CN" dirty="0" smtClean="0">
                <a:sym typeface="Calibri" pitchFamily="34" charset="0"/>
              </a:rPr>
              <a:t>”</a:t>
            </a:r>
            <a:r>
              <a:rPr lang="zh-CN" altLang="en-US" dirty="0" smtClean="0">
                <a:sym typeface="Calibri" pitchFamily="34" charset="0"/>
              </a:rPr>
              <a:t>，记作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en-US" altLang="zh-CN" dirty="0" smtClean="0">
                <a:sym typeface="Calibri" pitchFamily="34" charset="0"/>
              </a:rPr>
              <a:t>→</a:t>
            </a:r>
            <a:r>
              <a:rPr lang="en-US" altLang="zh-CN" i="1" dirty="0" smtClean="0">
                <a:sym typeface="Calibri" pitchFamily="34" charset="0"/>
              </a:rPr>
              <a:t>Y</a:t>
            </a:r>
            <a:r>
              <a:rPr lang="zh-CN" altLang="en-US" dirty="0" smtClean="0">
                <a:sym typeface="Calibri" pitchFamily="34" charset="0"/>
              </a:rPr>
              <a:t>。</a:t>
            </a:r>
            <a:endParaRPr lang="en-US" altLang="zh-CN" dirty="0" smtClean="0">
              <a:sym typeface="Calibri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itchFamily="2" charset="2"/>
              <a:buChar char="v"/>
            </a:pPr>
            <a:r>
              <a:rPr lang="en-US" altLang="zh-CN" dirty="0" smtClean="0"/>
              <a:t>         </a:t>
            </a:r>
            <a:r>
              <a:rPr lang="en-US" altLang="zh-CN" dirty="0"/>
              <a:t>t1[X] = t2[X</a:t>
            </a:r>
            <a:r>
              <a:rPr lang="en-US" altLang="zh-CN" dirty="0" smtClean="0"/>
              <a:t>]              </a:t>
            </a:r>
            <a:r>
              <a:rPr lang="en-US" altLang="zh-CN" dirty="0"/>
              <a:t>t1[Y] = t2[Y].</a:t>
            </a:r>
            <a:r>
              <a:rPr lang="en-US" altLang="zh-CN" b="1" dirty="0"/>
              <a:t> </a:t>
            </a:r>
            <a:endParaRPr lang="en-US" altLang="zh-CN" b="1" dirty="0" smtClean="0"/>
          </a:p>
          <a:p>
            <a:pPr algn="l">
              <a:lnSpc>
                <a:spcPct val="120000"/>
              </a:lnSpc>
            </a:pPr>
            <a:r>
              <a:rPr lang="en-US" altLang="zh-CN" b="1" dirty="0" smtClean="0"/>
              <a:t> </a:t>
            </a:r>
            <a:endParaRPr lang="en-US" altLang="zh-CN" b="1" dirty="0"/>
          </a:p>
          <a:p>
            <a:pPr marL="342900" indent="-342900" algn="l">
              <a:lnSpc>
                <a:spcPct val="120000"/>
              </a:lnSpc>
              <a:buFont typeface="Wingdings" pitchFamily="2" charset="2"/>
              <a:buChar char="v"/>
            </a:pPr>
            <a:r>
              <a:rPr lang="zh-CN" altLang="en-US" dirty="0" smtClean="0"/>
              <a:t>符号</a:t>
            </a:r>
            <a:r>
              <a:rPr lang="en-US" altLang="zh-CN" dirty="0" smtClean="0"/>
              <a:t>:</a:t>
            </a:r>
            <a:endParaRPr lang="en-US" altLang="zh-CN" dirty="0"/>
          </a:p>
          <a:p>
            <a:pPr algn="l"/>
            <a:r>
              <a:rPr lang="en-US" altLang="zh-CN" dirty="0" smtClean="0"/>
              <a:t>            X </a:t>
            </a:r>
            <a:r>
              <a:rPr lang="en-US" altLang="zh-CN" dirty="0">
                <a:sym typeface="Symbol" panose="05050102010706020507" pitchFamily="18" charset="2"/>
              </a:rPr>
              <a:t></a:t>
            </a:r>
            <a:r>
              <a:rPr lang="en-US" altLang="zh-CN" dirty="0"/>
              <a:t> R </a:t>
            </a:r>
            <a:r>
              <a:rPr lang="en-US" altLang="zh-CN" dirty="0" smtClean="0"/>
              <a:t>            </a:t>
            </a:r>
            <a:r>
              <a:rPr lang="zh-CN" altLang="en-US" dirty="0" smtClean="0"/>
              <a:t>表示</a:t>
            </a:r>
            <a:r>
              <a:rPr lang="en-US" altLang="zh-CN" dirty="0" smtClean="0"/>
              <a:t>X </a:t>
            </a:r>
            <a:r>
              <a:rPr lang="zh-CN" altLang="en-US" dirty="0" smtClean="0"/>
              <a:t>是模式</a:t>
            </a:r>
            <a:r>
              <a:rPr lang="en-US" altLang="zh-CN" dirty="0" smtClean="0"/>
              <a:t>R</a:t>
            </a:r>
            <a:r>
              <a:rPr lang="zh-CN" altLang="en-US" dirty="0" smtClean="0"/>
              <a:t>属性的子集</a:t>
            </a:r>
            <a:r>
              <a:rPr lang="en-US" altLang="zh-CN" dirty="0" smtClean="0"/>
              <a:t>.</a:t>
            </a:r>
          </a:p>
          <a:p>
            <a:pPr algn="l"/>
            <a:r>
              <a:rPr lang="en-US" altLang="zh-CN" dirty="0" smtClean="0"/>
              <a:t>            X              Y     </a:t>
            </a:r>
            <a:r>
              <a:rPr lang="zh-CN" altLang="en-US" dirty="0" smtClean="0"/>
              <a:t>表示</a:t>
            </a:r>
            <a:r>
              <a:rPr lang="en-US" altLang="zh-CN" i="1" dirty="0" smtClean="0">
                <a:solidFill>
                  <a:srgbClr val="FF00FF"/>
                </a:solidFill>
                <a:sym typeface="Calibri" pitchFamily="34" charset="0"/>
              </a:rPr>
              <a:t>X</a:t>
            </a:r>
            <a:r>
              <a:rPr lang="zh-CN" altLang="en-US" dirty="0">
                <a:solidFill>
                  <a:srgbClr val="FF00FF"/>
                </a:solidFill>
                <a:sym typeface="Calibri" pitchFamily="34" charset="0"/>
              </a:rPr>
              <a:t>函数确定</a:t>
            </a:r>
            <a:r>
              <a:rPr lang="en-US" altLang="zh-CN" i="1" dirty="0">
                <a:solidFill>
                  <a:srgbClr val="FF00FF"/>
                </a:solidFill>
                <a:sym typeface="Calibri" pitchFamily="34" charset="0"/>
              </a:rPr>
              <a:t>Y </a:t>
            </a:r>
            <a:r>
              <a:rPr lang="en-US" altLang="zh-CN" dirty="0" smtClean="0"/>
              <a:t>.</a:t>
            </a:r>
            <a:r>
              <a:rPr lang="en-US" altLang="zh-CN" sz="3200" b="1" dirty="0" smtClean="0"/>
              <a:t> </a:t>
            </a:r>
            <a:endParaRPr lang="en-US" altLang="zh-CN" b="1" dirty="0"/>
          </a:p>
          <a:p>
            <a:pPr marL="342900" indent="-342900" algn="l">
              <a:lnSpc>
                <a:spcPct val="120000"/>
              </a:lnSpc>
              <a:buFont typeface="Wingdings" pitchFamily="2" charset="2"/>
              <a:buChar char="v"/>
            </a:pPr>
            <a:endParaRPr lang="en-US" dirty="0" smtClean="0">
              <a:sym typeface="Calibri" pitchFamily="34" charset="0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endParaRPr lang="zh-CN" altLang="en-US" dirty="0" smtClean="0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126316" y="3214159"/>
            <a:ext cx="762000" cy="87841"/>
          </a:xfrm>
          <a:prstGeom prst="rightArrow">
            <a:avLst>
              <a:gd name="adj1" fmla="val 50000"/>
              <a:gd name="adj2" fmla="val 125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1687512" y="5414963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5214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dirty="0">
                <a:sym typeface="微软雅黑" pitchFamily="34" charset="-122"/>
              </a:rPr>
              <a:t>（</a:t>
            </a:r>
            <a:r>
              <a:rPr lang="en-US" altLang="zh-CN" dirty="0">
                <a:sym typeface="微软雅黑" pitchFamily="34" charset="-122"/>
              </a:rPr>
              <a:t>1</a:t>
            </a:r>
            <a:r>
              <a:rPr lang="zh-CN" altLang="en-US" dirty="0">
                <a:sym typeface="微软雅黑" pitchFamily="34" charset="-122"/>
              </a:rPr>
              <a:t>）函数依赖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grpSp>
        <p:nvGrpSpPr>
          <p:cNvPr id="11267" name="Group 24"/>
          <p:cNvGrpSpPr>
            <a:grpSpLocks/>
          </p:cNvGrpSpPr>
          <p:nvPr/>
        </p:nvGrpSpPr>
        <p:grpSpPr bwMode="auto">
          <a:xfrm>
            <a:off x="4479924" y="2108200"/>
            <a:ext cx="536575" cy="25400"/>
            <a:chOff x="3742" y="1616"/>
            <a:chExt cx="338" cy="16"/>
          </a:xfrm>
        </p:grpSpPr>
        <p:sp>
          <p:nvSpPr>
            <p:cNvPr id="11294" name="Line 13"/>
            <p:cNvSpPr>
              <a:spLocks noChangeShapeType="1"/>
            </p:cNvSpPr>
            <p:nvPr/>
          </p:nvSpPr>
          <p:spPr bwMode="auto">
            <a:xfrm>
              <a:off x="3744" y="16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5" name="Line 20"/>
            <p:cNvSpPr>
              <a:spLocks noChangeShapeType="1"/>
            </p:cNvSpPr>
            <p:nvPr/>
          </p:nvSpPr>
          <p:spPr bwMode="auto">
            <a:xfrm>
              <a:off x="3742" y="161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268" name="Group 25"/>
          <p:cNvGrpSpPr>
            <a:grpSpLocks/>
          </p:cNvGrpSpPr>
          <p:nvPr/>
        </p:nvGrpSpPr>
        <p:grpSpPr bwMode="auto">
          <a:xfrm>
            <a:off x="4462991" y="2608263"/>
            <a:ext cx="536575" cy="25400"/>
            <a:chOff x="3742" y="1616"/>
            <a:chExt cx="338" cy="16"/>
          </a:xfrm>
        </p:grpSpPr>
        <p:sp>
          <p:nvSpPr>
            <p:cNvPr id="11292" name="Line 26"/>
            <p:cNvSpPr>
              <a:spLocks noChangeShapeType="1"/>
            </p:cNvSpPr>
            <p:nvPr/>
          </p:nvSpPr>
          <p:spPr bwMode="auto">
            <a:xfrm>
              <a:off x="3744" y="16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3" name="Line 27"/>
            <p:cNvSpPr>
              <a:spLocks noChangeShapeType="1"/>
            </p:cNvSpPr>
            <p:nvPr/>
          </p:nvSpPr>
          <p:spPr bwMode="auto">
            <a:xfrm>
              <a:off x="3742" y="161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269" name="Group 28"/>
          <p:cNvGrpSpPr>
            <a:grpSpLocks/>
          </p:cNvGrpSpPr>
          <p:nvPr/>
        </p:nvGrpSpPr>
        <p:grpSpPr bwMode="auto">
          <a:xfrm>
            <a:off x="4430182" y="3133726"/>
            <a:ext cx="536575" cy="25400"/>
            <a:chOff x="3742" y="1616"/>
            <a:chExt cx="338" cy="16"/>
          </a:xfrm>
        </p:grpSpPr>
        <p:sp>
          <p:nvSpPr>
            <p:cNvPr id="11290" name="Line 29"/>
            <p:cNvSpPr>
              <a:spLocks noChangeShapeType="1"/>
            </p:cNvSpPr>
            <p:nvPr/>
          </p:nvSpPr>
          <p:spPr bwMode="auto">
            <a:xfrm>
              <a:off x="3744" y="16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1" name="Line 30"/>
            <p:cNvSpPr>
              <a:spLocks noChangeShapeType="1"/>
            </p:cNvSpPr>
            <p:nvPr/>
          </p:nvSpPr>
          <p:spPr bwMode="auto">
            <a:xfrm>
              <a:off x="3742" y="161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270" name="Group 31"/>
          <p:cNvGrpSpPr>
            <a:grpSpLocks/>
          </p:cNvGrpSpPr>
          <p:nvPr/>
        </p:nvGrpSpPr>
        <p:grpSpPr bwMode="auto">
          <a:xfrm>
            <a:off x="4459816" y="3669771"/>
            <a:ext cx="536575" cy="25400"/>
            <a:chOff x="3742" y="1616"/>
            <a:chExt cx="338" cy="16"/>
          </a:xfrm>
        </p:grpSpPr>
        <p:sp>
          <p:nvSpPr>
            <p:cNvPr id="11288" name="Line 32"/>
            <p:cNvSpPr>
              <a:spLocks noChangeShapeType="1"/>
            </p:cNvSpPr>
            <p:nvPr/>
          </p:nvSpPr>
          <p:spPr bwMode="auto">
            <a:xfrm>
              <a:off x="3744" y="16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9" name="Line 33"/>
            <p:cNvSpPr>
              <a:spLocks noChangeShapeType="1"/>
            </p:cNvSpPr>
            <p:nvPr/>
          </p:nvSpPr>
          <p:spPr bwMode="auto">
            <a:xfrm>
              <a:off x="3742" y="161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271" name="Group 34"/>
          <p:cNvGrpSpPr>
            <a:grpSpLocks/>
          </p:cNvGrpSpPr>
          <p:nvPr/>
        </p:nvGrpSpPr>
        <p:grpSpPr bwMode="auto">
          <a:xfrm>
            <a:off x="4427007" y="4182534"/>
            <a:ext cx="536575" cy="25400"/>
            <a:chOff x="3742" y="1616"/>
            <a:chExt cx="338" cy="16"/>
          </a:xfrm>
        </p:grpSpPr>
        <p:sp>
          <p:nvSpPr>
            <p:cNvPr id="11286" name="Line 35"/>
            <p:cNvSpPr>
              <a:spLocks noChangeShapeType="1"/>
            </p:cNvSpPr>
            <p:nvPr/>
          </p:nvSpPr>
          <p:spPr bwMode="auto">
            <a:xfrm>
              <a:off x="3744" y="16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7" name="Line 36"/>
            <p:cNvSpPr>
              <a:spLocks noChangeShapeType="1"/>
            </p:cNvSpPr>
            <p:nvPr/>
          </p:nvSpPr>
          <p:spPr bwMode="auto">
            <a:xfrm>
              <a:off x="3742" y="161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272" name="Group 37"/>
          <p:cNvGrpSpPr>
            <a:grpSpLocks/>
          </p:cNvGrpSpPr>
          <p:nvPr/>
        </p:nvGrpSpPr>
        <p:grpSpPr bwMode="auto">
          <a:xfrm>
            <a:off x="4479924" y="4657197"/>
            <a:ext cx="536575" cy="25400"/>
            <a:chOff x="3742" y="1616"/>
            <a:chExt cx="338" cy="16"/>
          </a:xfrm>
        </p:grpSpPr>
        <p:sp>
          <p:nvSpPr>
            <p:cNvPr id="11284" name="Line 38"/>
            <p:cNvSpPr>
              <a:spLocks noChangeShapeType="1"/>
            </p:cNvSpPr>
            <p:nvPr/>
          </p:nvSpPr>
          <p:spPr bwMode="auto">
            <a:xfrm>
              <a:off x="3744" y="16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5" name="Line 39"/>
            <p:cNvSpPr>
              <a:spLocks noChangeShapeType="1"/>
            </p:cNvSpPr>
            <p:nvPr/>
          </p:nvSpPr>
          <p:spPr bwMode="auto">
            <a:xfrm>
              <a:off x="3742" y="161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274" name="Rectangle 46"/>
          <p:cNvSpPr>
            <a:spLocks noGrp="1" noChangeArrowheads="1"/>
          </p:cNvSpPr>
          <p:nvPr>
            <p:ph type="body" idx="1"/>
          </p:nvPr>
        </p:nvSpPr>
        <p:spPr>
          <a:xfrm>
            <a:off x="298449" y="1405467"/>
            <a:ext cx="8229600" cy="4876800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Example:                       which is true?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A    B       C       D              A         B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a1   b1    c1    d1             A         C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a1   b2    c1    d2             C         A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a2   b2    c2    d2             A         D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a2   b3    c2    d3             B         D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a3   b3    c2    d4            AB       D</a:t>
            </a:r>
          </a:p>
        </p:txBody>
      </p:sp>
      <p:grpSp>
        <p:nvGrpSpPr>
          <p:cNvPr id="11273" name="Group 45"/>
          <p:cNvGrpSpPr>
            <a:grpSpLocks/>
          </p:cNvGrpSpPr>
          <p:nvPr/>
        </p:nvGrpSpPr>
        <p:grpSpPr bwMode="auto">
          <a:xfrm>
            <a:off x="533400" y="1844676"/>
            <a:ext cx="2937933" cy="3053292"/>
            <a:chOff x="528" y="1488"/>
            <a:chExt cx="1968" cy="2400"/>
          </a:xfrm>
        </p:grpSpPr>
        <p:sp>
          <p:nvSpPr>
            <p:cNvPr id="11275" name="Rectangle 4"/>
            <p:cNvSpPr>
              <a:spLocks noChangeArrowheads="1"/>
            </p:cNvSpPr>
            <p:nvPr/>
          </p:nvSpPr>
          <p:spPr bwMode="auto">
            <a:xfrm>
              <a:off x="528" y="1488"/>
              <a:ext cx="1968" cy="2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276" name="Line 5"/>
            <p:cNvSpPr>
              <a:spLocks noChangeShapeType="1"/>
            </p:cNvSpPr>
            <p:nvPr/>
          </p:nvSpPr>
          <p:spPr bwMode="auto">
            <a:xfrm>
              <a:off x="528" y="1824"/>
              <a:ext cx="19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7" name="Line 6"/>
            <p:cNvSpPr>
              <a:spLocks noChangeShapeType="1"/>
            </p:cNvSpPr>
            <p:nvPr/>
          </p:nvSpPr>
          <p:spPr bwMode="auto">
            <a:xfrm>
              <a:off x="528" y="2256"/>
              <a:ext cx="19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8" name="Line 7"/>
            <p:cNvSpPr>
              <a:spLocks noChangeShapeType="1"/>
            </p:cNvSpPr>
            <p:nvPr/>
          </p:nvSpPr>
          <p:spPr bwMode="auto">
            <a:xfrm>
              <a:off x="528" y="2688"/>
              <a:ext cx="19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9" name="Line 8"/>
            <p:cNvSpPr>
              <a:spLocks noChangeShapeType="1"/>
            </p:cNvSpPr>
            <p:nvPr/>
          </p:nvSpPr>
          <p:spPr bwMode="auto">
            <a:xfrm>
              <a:off x="528" y="3072"/>
              <a:ext cx="19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0" name="Line 9"/>
            <p:cNvSpPr>
              <a:spLocks noChangeShapeType="1"/>
            </p:cNvSpPr>
            <p:nvPr/>
          </p:nvSpPr>
          <p:spPr bwMode="auto">
            <a:xfrm>
              <a:off x="528" y="3504"/>
              <a:ext cx="19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1" name="Line 10"/>
            <p:cNvSpPr>
              <a:spLocks noChangeShapeType="1"/>
            </p:cNvSpPr>
            <p:nvPr/>
          </p:nvSpPr>
          <p:spPr bwMode="auto">
            <a:xfrm>
              <a:off x="960" y="1488"/>
              <a:ext cx="1" cy="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2" name="Line 11"/>
            <p:cNvSpPr>
              <a:spLocks noChangeShapeType="1"/>
            </p:cNvSpPr>
            <p:nvPr/>
          </p:nvSpPr>
          <p:spPr bwMode="auto">
            <a:xfrm>
              <a:off x="1536" y="1488"/>
              <a:ext cx="1" cy="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3" name="Line 12"/>
            <p:cNvSpPr>
              <a:spLocks noChangeShapeType="1"/>
            </p:cNvSpPr>
            <p:nvPr/>
          </p:nvSpPr>
          <p:spPr bwMode="auto">
            <a:xfrm>
              <a:off x="2016" y="1488"/>
              <a:ext cx="1" cy="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6031439" y="2455321"/>
            <a:ext cx="485518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Yes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5985672" y="4580455"/>
            <a:ext cx="485518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Yes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902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页脚占位符 4"/>
          <p:cNvSpPr txBox="1">
            <a:spLocks noGrp="1"/>
          </p:cNvSpPr>
          <p:nvPr/>
        </p:nvSpPr>
        <p:spPr bwMode="auto">
          <a:xfrm>
            <a:off x="3132138" y="6376988"/>
            <a:ext cx="3086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sz="1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An Introduction to Database System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smtClean="0">
                <a:ea typeface="宋体" panose="02010600030101010101" pitchFamily="2" charset="-122"/>
              </a:rPr>
              <a:t>CON…</a:t>
            </a:r>
            <a:endParaRPr lang="zh-CN" altLang="en-US" sz="3600" smtClean="0">
              <a:ea typeface="宋体" panose="02010600030101010101" pitchFamily="2" charset="-122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905000"/>
            <a:ext cx="7772400" cy="4548188"/>
          </a:xfrm>
        </p:spPr>
        <p:txBody>
          <a:bodyPr/>
          <a:lstStyle/>
          <a:p>
            <a:pPr lvl="1">
              <a:lnSpc>
                <a:spcPct val="160000"/>
              </a:lnSpc>
            </a:pPr>
            <a:r>
              <a:rPr lang="zh-CN" altLang="en-US" i="1" dirty="0"/>
              <a:t>若</a:t>
            </a:r>
            <a:r>
              <a:rPr lang="en-US" altLang="zh-CN" i="1" dirty="0" smtClean="0">
                <a:ea typeface="宋体" panose="02010600030101010101" pitchFamily="2" charset="-122"/>
              </a:rPr>
              <a:t>X</a:t>
            </a:r>
            <a:r>
              <a:rPr lang="en-US" altLang="zh-CN" dirty="0" smtClean="0">
                <a:ea typeface="宋体" panose="02010600030101010101" pitchFamily="2" charset="-122"/>
              </a:rPr>
              <a:t>→</a:t>
            </a:r>
            <a:r>
              <a:rPr lang="en-US" altLang="zh-CN" i="1" dirty="0" smtClean="0">
                <a:ea typeface="宋体" panose="02010600030101010101" pitchFamily="2" charset="-122"/>
              </a:rPr>
              <a:t>Y</a:t>
            </a:r>
            <a:r>
              <a:rPr lang="zh-CN" altLang="en-US" dirty="0" smtClean="0">
                <a:ea typeface="宋体" panose="02010600030101010101" pitchFamily="2" charset="-122"/>
              </a:rPr>
              <a:t>，</a:t>
            </a:r>
            <a:r>
              <a:rPr lang="en-US" altLang="zh-CN" dirty="0" smtClean="0">
                <a:ea typeface="宋体" panose="02010600030101010101" pitchFamily="2" charset="-122"/>
              </a:rPr>
              <a:t>X </a:t>
            </a:r>
            <a:r>
              <a:rPr lang="zh-CN" altLang="en-US" dirty="0" smtClean="0">
                <a:ea typeface="宋体" panose="02010600030101010101" pitchFamily="2" charset="-122"/>
              </a:rPr>
              <a:t>是决定因素</a:t>
            </a:r>
            <a:r>
              <a:rPr lang="en-US" altLang="zh-CN" dirty="0" smtClean="0">
                <a:ea typeface="宋体" panose="02010600030101010101" pitchFamily="2" charset="-122"/>
              </a:rPr>
              <a:t>.</a:t>
            </a:r>
            <a:endParaRPr lang="zh-CN" altLang="en-US" dirty="0" smtClean="0">
              <a:ea typeface="宋体" panose="02010600030101010101" pitchFamily="2" charset="-122"/>
            </a:endParaRPr>
          </a:p>
          <a:p>
            <a:pPr lvl="1">
              <a:lnSpc>
                <a:spcPct val="160000"/>
              </a:lnSpc>
            </a:pPr>
            <a:r>
              <a:rPr lang="zh-CN" altLang="en-US" i="1" dirty="0"/>
              <a:t>若</a:t>
            </a:r>
            <a:r>
              <a:rPr lang="en-US" altLang="zh-CN" i="1" dirty="0"/>
              <a:t>X→Y</a:t>
            </a:r>
            <a:r>
              <a:rPr lang="zh-CN" altLang="en-US" i="1" dirty="0"/>
              <a:t>，并且</a:t>
            </a:r>
            <a:r>
              <a:rPr lang="en-US" altLang="zh-CN" i="1" dirty="0"/>
              <a:t>Y→X, </a:t>
            </a:r>
            <a:r>
              <a:rPr lang="zh-CN" altLang="en-US" i="1" dirty="0"/>
              <a:t>则记为</a:t>
            </a:r>
            <a:r>
              <a:rPr lang="en-US" altLang="zh-CN" i="1" dirty="0"/>
              <a:t>X←→Y</a:t>
            </a:r>
            <a:r>
              <a:rPr lang="zh-CN" altLang="en-US" i="1" dirty="0"/>
              <a:t>。</a:t>
            </a:r>
          </a:p>
          <a:p>
            <a:pPr lvl="1">
              <a:lnSpc>
                <a:spcPct val="160000"/>
              </a:lnSpc>
            </a:pPr>
            <a:r>
              <a:rPr lang="zh-CN" altLang="en-US" i="1" dirty="0"/>
              <a:t>若</a:t>
            </a:r>
            <a:r>
              <a:rPr lang="en-US" altLang="zh-CN" i="1" dirty="0"/>
              <a:t>Y</a:t>
            </a:r>
            <a:r>
              <a:rPr lang="zh-CN" altLang="en-US" i="1" dirty="0"/>
              <a:t>不函数依赖于</a:t>
            </a:r>
            <a:r>
              <a:rPr lang="en-US" altLang="zh-CN" i="1" dirty="0"/>
              <a:t>X, </a:t>
            </a:r>
            <a:r>
              <a:rPr lang="zh-CN" altLang="en-US" i="1" dirty="0"/>
              <a:t>则记为</a:t>
            </a:r>
            <a:r>
              <a:rPr lang="en-US" altLang="zh-CN" i="1" dirty="0"/>
              <a:t>X→Y</a:t>
            </a:r>
            <a:r>
              <a:rPr lang="zh-CN" altLang="en-US" i="1" dirty="0"/>
              <a:t>。</a:t>
            </a:r>
          </a:p>
        </p:txBody>
      </p:sp>
      <p:sp>
        <p:nvSpPr>
          <p:cNvPr id="12293" name="Line 6"/>
          <p:cNvSpPr>
            <a:spLocks noChangeShapeType="1"/>
          </p:cNvSpPr>
          <p:nvPr/>
        </p:nvSpPr>
        <p:spPr bwMode="auto">
          <a:xfrm>
            <a:off x="5032904" y="3441964"/>
            <a:ext cx="144462" cy="288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AutoShape 81"/>
          <p:cNvSpPr>
            <a:spLocks/>
          </p:cNvSpPr>
          <p:nvPr/>
        </p:nvSpPr>
        <p:spPr bwMode="auto">
          <a:xfrm>
            <a:off x="790046" y="4682332"/>
            <a:ext cx="7920037" cy="936625"/>
          </a:xfrm>
          <a:prstGeom prst="borderCallout1">
            <a:avLst>
              <a:gd name="adj1" fmla="val 87500"/>
              <a:gd name="adj2" fmla="val -991"/>
              <a:gd name="adj3" fmla="val -345657"/>
              <a:gd name="adj4" fmla="val -991"/>
            </a:avLst>
          </a:prstGeom>
          <a:gradFill rotWithShape="1">
            <a:gsLst>
              <a:gs pos="0">
                <a:srgbClr val="A8A8E2"/>
              </a:gs>
              <a:gs pos="34999">
                <a:srgbClr val="C3C3EA"/>
              </a:gs>
              <a:gs pos="100000">
                <a:srgbClr val="E6E6F8"/>
              </a:gs>
            </a:gsLst>
            <a:lin ang="5400000" scaled="1"/>
          </a:gradFill>
          <a:ln w="9525">
            <a:solidFill>
              <a:srgbClr val="2D2D8A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/>
          <a:p>
            <a:pPr>
              <a:buClr>
                <a:schemeClr val="accent1"/>
              </a:buClr>
              <a:buSzPct val="90000"/>
              <a:buFont typeface="Monotype Sorts" pitchFamily="2" charset="2"/>
              <a:buNone/>
            </a:pPr>
            <a:r>
              <a:rPr lang="zh-CN" altLang="en-US" sz="2400" b="1">
                <a:latin typeface="Times New Roman" pitchFamily="18" charset="0"/>
              </a:rPr>
              <a:t>函数依赖不是指关系模式</a:t>
            </a:r>
            <a:r>
              <a:rPr lang="en-US" altLang="zh-CN" sz="2400" b="1">
                <a:latin typeface="Times New Roman" pitchFamily="18" charset="0"/>
              </a:rPr>
              <a:t>R</a:t>
            </a:r>
            <a:r>
              <a:rPr lang="zh-CN" altLang="en-US" sz="2400" b="1">
                <a:latin typeface="Times New Roman" pitchFamily="18" charset="0"/>
              </a:rPr>
              <a:t>的某个或某些关系实例满足的约束条件，而是指</a:t>
            </a:r>
            <a:r>
              <a:rPr lang="en-US" altLang="zh-CN" sz="2400" b="1">
                <a:latin typeface="Times New Roman" pitchFamily="18" charset="0"/>
              </a:rPr>
              <a:t>R</a:t>
            </a:r>
            <a:r>
              <a:rPr lang="zh-CN" altLang="en-US" sz="2400" b="1">
                <a:latin typeface="Times New Roman" pitchFamily="18" charset="0"/>
              </a:rPr>
              <a:t>的所有关系实例均要满足的约束条件。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301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Box 3"/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r>
              <a:rPr lang="zh-CN" altLang="en-US" sz="1400" b="1">
                <a:solidFill>
                  <a:srgbClr val="95373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*</a:t>
            </a:r>
            <a:endParaRPr lang="zh-CN" altLang="en-US">
              <a:solidFill>
                <a:srgbClr val="000000"/>
              </a:solidFill>
              <a:sym typeface="Arial" pitchFamily="34" charset="0"/>
            </a:endParaRPr>
          </a:p>
        </p:txBody>
      </p:sp>
      <p:sp>
        <p:nvSpPr>
          <p:cNvPr id="29699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endParaRPr lang="zh-CN" altLang="zh-CN" sz="1000" b="1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" y="-28575"/>
            <a:ext cx="9107488" cy="1127125"/>
          </a:xfrm>
        </p:spPr>
        <p:txBody>
          <a:bodyPr/>
          <a:lstStyle/>
          <a:p>
            <a:r>
              <a:rPr lang="zh-CN" altLang="en-US" sz="3600" dirty="0" smtClean="0">
                <a:sym typeface="微软雅黑" pitchFamily="34" charset="-122"/>
              </a:rPr>
              <a:t>（</a:t>
            </a:r>
            <a:r>
              <a:rPr lang="en-US" altLang="zh-CN" sz="3600" dirty="0" smtClean="0">
                <a:sym typeface="微软雅黑" pitchFamily="34" charset="-122"/>
              </a:rPr>
              <a:t>2</a:t>
            </a:r>
            <a:r>
              <a:rPr lang="zh-CN" altLang="en-US" sz="3600" dirty="0" smtClean="0">
                <a:sym typeface="微软雅黑" pitchFamily="34" charset="-122"/>
              </a:rPr>
              <a:t>）平凡函数依赖与非平凡函数依赖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idx="1"/>
          </p:nvPr>
        </p:nvSpPr>
        <p:spPr>
          <a:xfrm>
            <a:off x="457199" y="1339850"/>
            <a:ext cx="8949268" cy="4854575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en-US" altLang="zh-CN" dirty="0" smtClean="0">
                <a:sym typeface="Calibri" pitchFamily="34" charset="0"/>
              </a:rPr>
              <a:t>→</a:t>
            </a:r>
            <a:r>
              <a:rPr lang="en-US" altLang="zh-CN" i="1" dirty="0" smtClean="0">
                <a:sym typeface="Calibri" pitchFamily="34" charset="0"/>
              </a:rPr>
              <a:t>Y</a:t>
            </a:r>
            <a:r>
              <a:rPr lang="zh-CN" altLang="en-US" dirty="0" smtClean="0">
                <a:sym typeface="Calibri" pitchFamily="34" charset="0"/>
              </a:rPr>
              <a:t>，但</a:t>
            </a:r>
            <a:r>
              <a:rPr lang="en-US" altLang="zh-CN" i="1" dirty="0" smtClean="0">
                <a:sym typeface="Calibri" pitchFamily="34" charset="0"/>
              </a:rPr>
              <a:t>Y</a:t>
            </a:r>
            <a:r>
              <a:rPr lang="en-US" altLang="zh-CN" dirty="0" smtClean="0">
                <a:sym typeface="Calibri" pitchFamily="34" charset="0"/>
              </a:rPr>
              <a:t>⊈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zh-CN" altLang="en-US" dirty="0" smtClean="0">
                <a:sym typeface="Calibri" pitchFamily="34" charset="0"/>
              </a:rPr>
              <a:t>则称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en-US" altLang="zh-CN" dirty="0" smtClean="0">
                <a:sym typeface="Calibri" pitchFamily="34" charset="0"/>
              </a:rPr>
              <a:t>→</a:t>
            </a:r>
            <a:r>
              <a:rPr lang="en-US" altLang="zh-CN" i="1" dirty="0" smtClean="0">
                <a:sym typeface="Calibri" pitchFamily="34" charset="0"/>
              </a:rPr>
              <a:t>Y</a:t>
            </a:r>
            <a:r>
              <a:rPr lang="zh-CN" altLang="en-US" dirty="0" smtClean="0">
                <a:sym typeface="Calibri" pitchFamily="34" charset="0"/>
              </a:rPr>
              <a:t>是</a:t>
            </a:r>
            <a:r>
              <a:rPr lang="zh-CN" altLang="en-US" dirty="0" smtClean="0">
                <a:solidFill>
                  <a:srgbClr val="FF00FF"/>
                </a:solidFill>
                <a:sym typeface="Calibri" pitchFamily="34" charset="0"/>
              </a:rPr>
              <a:t>非</a:t>
            </a:r>
            <a:r>
              <a:rPr lang="zh-CN" altLang="en-US" dirty="0">
                <a:solidFill>
                  <a:srgbClr val="FF00FF"/>
                </a:solidFill>
                <a:sym typeface="Calibri" pitchFamily="34" charset="0"/>
              </a:rPr>
              <a:t>平凡的函数依赖（</a:t>
            </a:r>
            <a:r>
              <a:rPr lang="en-US" altLang="zh-CN" dirty="0">
                <a:solidFill>
                  <a:srgbClr val="FF00FF"/>
                </a:solidFill>
                <a:sym typeface="Calibri" pitchFamily="34" charset="0"/>
              </a:rPr>
              <a:t> NON-Trivial </a:t>
            </a:r>
            <a:r>
              <a:rPr lang="en-US" altLang="zh-CN" dirty="0" smtClean="0">
                <a:solidFill>
                  <a:srgbClr val="FF00FF"/>
                </a:solidFill>
                <a:sym typeface="Calibri" pitchFamily="34" charset="0"/>
              </a:rPr>
              <a:t> FD</a:t>
            </a:r>
            <a:r>
              <a:rPr lang="zh-CN" altLang="en-US" dirty="0" smtClean="0">
                <a:solidFill>
                  <a:srgbClr val="FF00FF"/>
                </a:solidFill>
                <a:sym typeface="Calibri" pitchFamily="34" charset="0"/>
              </a:rPr>
              <a:t>） </a:t>
            </a:r>
            <a:r>
              <a:rPr lang="zh-CN" altLang="en-US" dirty="0" smtClean="0">
                <a:sym typeface="Calibri" pitchFamily="34" charset="0"/>
              </a:rPr>
              <a:t>。</a:t>
            </a: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en-US" altLang="zh-CN" dirty="0" smtClean="0">
                <a:sym typeface="Calibri" pitchFamily="34" charset="0"/>
              </a:rPr>
              <a:t>→</a:t>
            </a:r>
            <a:r>
              <a:rPr lang="en-US" altLang="zh-CN" i="1" dirty="0" smtClean="0">
                <a:sym typeface="Calibri" pitchFamily="34" charset="0"/>
              </a:rPr>
              <a:t>Y</a:t>
            </a:r>
            <a:r>
              <a:rPr lang="zh-CN" altLang="en-US" dirty="0" smtClean="0">
                <a:sym typeface="Calibri" pitchFamily="34" charset="0"/>
              </a:rPr>
              <a:t>，但</a:t>
            </a:r>
            <a:r>
              <a:rPr lang="en-US" altLang="zh-CN" i="1" dirty="0" smtClean="0">
                <a:sym typeface="Calibri" pitchFamily="34" charset="0"/>
              </a:rPr>
              <a:t>Y</a:t>
            </a:r>
            <a:r>
              <a:rPr lang="en-US" altLang="zh-CN" dirty="0" smtClean="0">
                <a:sym typeface="Calibri" pitchFamily="34" charset="0"/>
              </a:rPr>
              <a:t>⊆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en-US" altLang="zh-CN" dirty="0" smtClean="0">
                <a:sym typeface="Calibri" pitchFamily="34" charset="0"/>
              </a:rPr>
              <a:t> </a:t>
            </a:r>
            <a:r>
              <a:rPr lang="zh-CN" altLang="en-US" dirty="0" smtClean="0">
                <a:sym typeface="Calibri" pitchFamily="34" charset="0"/>
              </a:rPr>
              <a:t>则称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en-US" altLang="zh-CN" dirty="0" smtClean="0">
                <a:sym typeface="Calibri" pitchFamily="34" charset="0"/>
              </a:rPr>
              <a:t>→</a:t>
            </a:r>
            <a:r>
              <a:rPr lang="en-US" altLang="zh-CN" i="1" dirty="0" smtClean="0">
                <a:sym typeface="Calibri" pitchFamily="34" charset="0"/>
              </a:rPr>
              <a:t>Y</a:t>
            </a:r>
            <a:r>
              <a:rPr lang="zh-CN" altLang="en-US" dirty="0" smtClean="0">
                <a:sym typeface="Calibri" pitchFamily="34" charset="0"/>
              </a:rPr>
              <a:t>是</a:t>
            </a:r>
            <a:r>
              <a:rPr lang="zh-CN" altLang="en-US" dirty="0">
                <a:solidFill>
                  <a:srgbClr val="FF00FF"/>
                </a:solidFill>
                <a:sym typeface="Calibri" pitchFamily="34" charset="0"/>
              </a:rPr>
              <a:t>平凡的函数依赖（</a:t>
            </a:r>
            <a:r>
              <a:rPr lang="en-US" altLang="zh-CN" dirty="0">
                <a:solidFill>
                  <a:srgbClr val="FF00FF"/>
                </a:solidFill>
                <a:sym typeface="Calibri" pitchFamily="34" charset="0"/>
              </a:rPr>
              <a:t> Trivial </a:t>
            </a:r>
            <a:r>
              <a:rPr lang="en-US" altLang="zh-CN" dirty="0" smtClean="0">
                <a:solidFill>
                  <a:srgbClr val="FF00FF"/>
                </a:solidFill>
                <a:sym typeface="Calibri" pitchFamily="34" charset="0"/>
              </a:rPr>
              <a:t>FD</a:t>
            </a:r>
            <a:r>
              <a:rPr lang="zh-CN" altLang="en-US" dirty="0" smtClean="0">
                <a:solidFill>
                  <a:srgbClr val="FF00FF"/>
                </a:solidFill>
                <a:sym typeface="Calibri" pitchFamily="34" charset="0"/>
              </a:rPr>
              <a:t>） </a:t>
            </a:r>
            <a:r>
              <a:rPr lang="zh-CN" altLang="en-US" dirty="0" smtClean="0">
                <a:sym typeface="Calibri" pitchFamily="34" charset="0"/>
              </a:rPr>
              <a:t>。</a:t>
            </a:r>
          </a:p>
          <a:p>
            <a:pPr marL="742950" lvl="1" indent="-285750" algn="l">
              <a:buFont typeface="Wingdings" pitchFamily="2" charset="2"/>
              <a:buChar char="n"/>
            </a:pPr>
            <a:endParaRPr lang="zh-CN" altLang="en-US" dirty="0" smtClean="0">
              <a:sym typeface="Calibri" pitchFamily="34" charset="0"/>
            </a:endParaRPr>
          </a:p>
        </p:txBody>
      </p:sp>
      <p:sp>
        <p:nvSpPr>
          <p:cNvPr id="29702" name="文本框 3"/>
          <p:cNvSpPr>
            <a:spLocks noChangeArrowheads="1"/>
          </p:cNvSpPr>
          <p:nvPr/>
        </p:nvSpPr>
        <p:spPr bwMode="auto">
          <a:xfrm>
            <a:off x="311150" y="5310188"/>
            <a:ext cx="7777163" cy="1200150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5400000" scaled="1"/>
            <a:tileRect/>
          </a:gradFill>
          <a:ln w="19050">
            <a:solidFill>
              <a:srgbClr val="00B05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r>
              <a:rPr lang="zh-CN" altLang="en-US" sz="2400" b="1" dirty="0">
                <a:solidFill>
                  <a:srgbClr val="000000"/>
                </a:solidFill>
                <a:latin typeface="宋体" pitchFamily="2" charset="-122"/>
                <a:sym typeface="宋体" pitchFamily="2" charset="-122"/>
              </a:rPr>
              <a:t>对于任一关系模式，平凡函数依赖都是必然成立的，它不反映新的语义。</a:t>
            </a:r>
            <a:endParaRPr lang="en-US" sz="2400" b="1" dirty="0">
              <a:solidFill>
                <a:srgbClr val="000000"/>
              </a:solidFill>
              <a:latin typeface="宋体" pitchFamily="2" charset="-122"/>
              <a:sym typeface="宋体" pitchFamily="2" charset="-122"/>
            </a:endParaRPr>
          </a:p>
          <a:p>
            <a:pPr>
              <a:buSzPct val="100000"/>
            </a:pPr>
            <a:r>
              <a:rPr lang="zh-CN" altLang="en-US" sz="2400" b="1" dirty="0">
                <a:solidFill>
                  <a:srgbClr val="000000"/>
                </a:solidFill>
                <a:latin typeface="宋体" pitchFamily="2" charset="-122"/>
                <a:sym typeface="宋体" pitchFamily="2" charset="-122"/>
              </a:rPr>
              <a:t>若不特别声明， 我们总是讨论非平凡函数依赖。</a:t>
            </a:r>
            <a:endParaRPr lang="zh-CN" altLang="en-US" dirty="0">
              <a:solidFill>
                <a:srgbClr val="000000"/>
              </a:solidFill>
              <a:sym typeface="Arial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86000" y="2801136"/>
            <a:ext cx="4572000" cy="12557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1950" indent="-361950">
              <a:lnSpc>
                <a:spcPct val="140000"/>
              </a:lnSpc>
              <a:tabLst>
                <a:tab pos="361950" algn="l"/>
              </a:tabLst>
            </a:pPr>
            <a:r>
              <a:rPr lang="en-US" altLang="zh-CN" dirty="0">
                <a:solidFill>
                  <a:srgbClr val="FF00FF"/>
                </a:solidFill>
              </a:rPr>
              <a:t>NON-Trivial FD</a:t>
            </a:r>
            <a:r>
              <a:rPr lang="zh-CN" altLang="en-US" dirty="0"/>
              <a:t>： </a:t>
            </a:r>
            <a:r>
              <a:rPr lang="en-US" altLang="zh-CN" dirty="0"/>
              <a:t>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) →</a:t>
            </a:r>
            <a:r>
              <a:rPr lang="en-US" altLang="zh-CN" baseline="46000" dirty="0"/>
              <a:t> </a:t>
            </a:r>
            <a:r>
              <a:rPr lang="en-US" altLang="zh-CN" dirty="0"/>
              <a:t>Grade</a:t>
            </a:r>
          </a:p>
          <a:p>
            <a:pPr marL="361950" indent="-361950">
              <a:lnSpc>
                <a:spcPct val="140000"/>
              </a:lnSpc>
              <a:tabLst>
                <a:tab pos="361950" algn="l"/>
              </a:tabLst>
            </a:pPr>
            <a:r>
              <a:rPr lang="en-US" altLang="zh-CN" dirty="0" smtClean="0">
                <a:solidFill>
                  <a:srgbClr val="FF00FF"/>
                </a:solidFill>
              </a:rPr>
              <a:t>         Trivial </a:t>
            </a:r>
            <a:r>
              <a:rPr lang="en-US" altLang="zh-CN" dirty="0">
                <a:solidFill>
                  <a:srgbClr val="FF00FF"/>
                </a:solidFill>
              </a:rPr>
              <a:t>FD </a:t>
            </a:r>
            <a:r>
              <a:rPr lang="zh-CN" altLang="en-US" dirty="0" smtClean="0"/>
              <a:t>： </a:t>
            </a:r>
            <a:r>
              <a:rPr lang="en-US" altLang="zh-CN" dirty="0"/>
              <a:t>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) →</a:t>
            </a:r>
            <a:r>
              <a:rPr lang="en-US" altLang="zh-CN" baseline="46000" dirty="0"/>
              <a:t> </a:t>
            </a:r>
            <a:r>
              <a:rPr lang="en-US" altLang="zh-CN" dirty="0" err="1"/>
              <a:t>Sno</a:t>
            </a:r>
            <a:r>
              <a:rPr lang="en-US" altLang="zh-CN" dirty="0"/>
              <a:t> </a:t>
            </a:r>
          </a:p>
          <a:p>
            <a:pPr marL="361950" indent="-361950">
              <a:lnSpc>
                <a:spcPct val="140000"/>
              </a:lnSpc>
              <a:tabLst>
                <a:tab pos="361950" algn="l"/>
              </a:tabLst>
            </a:pPr>
            <a:r>
              <a:rPr lang="en-US" altLang="zh-CN" dirty="0"/>
              <a:t>                             </a:t>
            </a:r>
            <a:r>
              <a:rPr lang="en-US" altLang="zh-CN" dirty="0" smtClean="0"/>
              <a:t>   </a:t>
            </a:r>
            <a:r>
              <a:rPr lang="en-US" altLang="zh-CN" dirty="0"/>
              <a:t>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) → </a:t>
            </a:r>
            <a:r>
              <a:rPr lang="en-US" altLang="zh-CN" dirty="0" err="1"/>
              <a:t>Cno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238932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 bldLvl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3"/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r>
              <a:rPr lang="zh-CN" altLang="en-US" sz="1400" b="1">
                <a:solidFill>
                  <a:srgbClr val="95373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*</a:t>
            </a:r>
            <a:endParaRPr lang="zh-CN" altLang="en-US">
              <a:solidFill>
                <a:srgbClr val="000000"/>
              </a:solidFill>
              <a:sym typeface="Arial" pitchFamily="34" charset="0"/>
            </a:endParaRPr>
          </a:p>
        </p:txBody>
      </p:sp>
      <p:sp>
        <p:nvSpPr>
          <p:cNvPr id="31747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endParaRPr lang="zh-CN" altLang="zh-CN" sz="1000" b="1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dirty="0" smtClean="0">
                <a:sym typeface="微软雅黑" pitchFamily="34" charset="-122"/>
              </a:rPr>
              <a:t>（</a:t>
            </a:r>
            <a:r>
              <a:rPr lang="en-US" altLang="zh-CN" sz="3600" dirty="0" smtClean="0">
                <a:sym typeface="微软雅黑" pitchFamily="34" charset="-122"/>
              </a:rPr>
              <a:t>3</a:t>
            </a:r>
            <a:r>
              <a:rPr lang="zh-CN" altLang="en-US" sz="3600" dirty="0" smtClean="0">
                <a:sym typeface="微软雅黑" pitchFamily="34" charset="-122"/>
              </a:rPr>
              <a:t>）完全函数依赖与部分函数依赖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39850"/>
            <a:ext cx="8229600" cy="4854575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dirty="0" smtClean="0">
                <a:sym typeface="Calibri" pitchFamily="34" charset="0"/>
              </a:rPr>
              <a:t>定义</a:t>
            </a:r>
            <a:r>
              <a:rPr lang="en-US" altLang="zh-CN" dirty="0" smtClean="0">
                <a:sym typeface="Calibri" pitchFamily="34" charset="0"/>
              </a:rPr>
              <a:t>2  </a:t>
            </a:r>
            <a:r>
              <a:rPr lang="zh-CN" altLang="en-US" dirty="0" smtClean="0">
                <a:sym typeface="Calibri" pitchFamily="34" charset="0"/>
              </a:rPr>
              <a:t>在</a:t>
            </a:r>
            <a:r>
              <a:rPr lang="en-US" altLang="zh-CN" i="1" dirty="0" smtClean="0">
                <a:sym typeface="Calibri" pitchFamily="34" charset="0"/>
              </a:rPr>
              <a:t>R(U)</a:t>
            </a:r>
            <a:r>
              <a:rPr lang="zh-CN" altLang="en-US" dirty="0" smtClean="0">
                <a:sym typeface="Calibri" pitchFamily="34" charset="0"/>
              </a:rPr>
              <a:t>中，如果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en-US" altLang="zh-CN" dirty="0" smtClean="0">
                <a:sym typeface="Calibri" pitchFamily="34" charset="0"/>
              </a:rPr>
              <a:t>→</a:t>
            </a:r>
            <a:r>
              <a:rPr lang="en-US" altLang="zh-CN" i="1" dirty="0" smtClean="0">
                <a:sym typeface="Calibri" pitchFamily="34" charset="0"/>
              </a:rPr>
              <a:t>Y</a:t>
            </a:r>
            <a:r>
              <a:rPr lang="zh-CN" altLang="en-US" dirty="0" smtClean="0">
                <a:sym typeface="Calibri" pitchFamily="34" charset="0"/>
              </a:rPr>
              <a:t>，并且对于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zh-CN" altLang="en-US" dirty="0" smtClean="0">
                <a:sym typeface="Calibri" pitchFamily="34" charset="0"/>
              </a:rPr>
              <a:t>的任何一个真子集</a:t>
            </a:r>
            <a:r>
              <a:rPr lang="en-US" altLang="zh-CN" i="1" dirty="0" smtClean="0">
                <a:sym typeface="Calibri" pitchFamily="34" charset="0"/>
              </a:rPr>
              <a:t>X’</a:t>
            </a:r>
            <a:r>
              <a:rPr lang="zh-CN" altLang="en-US" dirty="0" smtClean="0">
                <a:sym typeface="Calibri" pitchFamily="34" charset="0"/>
              </a:rPr>
              <a:t>, 都有 </a:t>
            </a:r>
            <a:r>
              <a:rPr lang="en-US" altLang="zh-CN" i="1" dirty="0" smtClean="0">
                <a:sym typeface="Calibri" pitchFamily="34" charset="0"/>
              </a:rPr>
              <a:t>X’ </a:t>
            </a:r>
            <a:r>
              <a:rPr lang="en-US" altLang="zh-CN" dirty="0" smtClean="0">
                <a:sym typeface="Calibri" pitchFamily="34" charset="0"/>
              </a:rPr>
              <a:t>↛</a:t>
            </a:r>
            <a:r>
              <a:rPr lang="en-US" altLang="zh-CN" i="1" dirty="0" smtClean="0">
                <a:sym typeface="Calibri" pitchFamily="34" charset="0"/>
              </a:rPr>
              <a:t> Y</a:t>
            </a:r>
            <a:r>
              <a:rPr lang="en-US" altLang="zh-CN" dirty="0" smtClean="0">
                <a:sym typeface="Calibri" pitchFamily="34" charset="0"/>
              </a:rPr>
              <a:t>, </a:t>
            </a:r>
            <a:r>
              <a:rPr lang="zh-CN" altLang="en-US" dirty="0" smtClean="0">
                <a:sym typeface="Calibri" pitchFamily="34" charset="0"/>
              </a:rPr>
              <a:t>则称</a:t>
            </a:r>
            <a:r>
              <a:rPr lang="en-US" altLang="zh-CN" i="1" dirty="0" smtClean="0">
                <a:sym typeface="Calibri" pitchFamily="34" charset="0"/>
              </a:rPr>
              <a:t>Y</a:t>
            </a:r>
            <a:r>
              <a:rPr lang="zh-CN" altLang="en-US" dirty="0" smtClean="0">
                <a:sym typeface="Calibri" pitchFamily="34" charset="0"/>
              </a:rPr>
              <a:t>对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zh-CN" altLang="en-US" dirty="0" smtClean="0">
                <a:solidFill>
                  <a:srgbClr val="FF00FF"/>
                </a:solidFill>
                <a:sym typeface="Calibri" pitchFamily="34" charset="0"/>
              </a:rPr>
              <a:t>完全函数依赖</a:t>
            </a:r>
            <a:r>
              <a:rPr lang="zh-CN" altLang="en-US" dirty="0" smtClean="0">
                <a:sym typeface="Calibri" pitchFamily="34" charset="0"/>
              </a:rPr>
              <a:t>，记作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en-US" altLang="zh-CN" dirty="0" smtClean="0">
                <a:sym typeface="Calibri" pitchFamily="34" charset="0"/>
              </a:rPr>
              <a:t> →</a:t>
            </a:r>
            <a:r>
              <a:rPr lang="zh-CN" altLang="en-US" dirty="0" smtClean="0">
                <a:sym typeface="Calibri" pitchFamily="34" charset="0"/>
              </a:rPr>
              <a:t> </a:t>
            </a:r>
            <a:r>
              <a:rPr lang="en-US" altLang="zh-CN" i="1" dirty="0" smtClean="0">
                <a:sym typeface="Calibri" pitchFamily="34" charset="0"/>
              </a:rPr>
              <a:t>Y</a:t>
            </a:r>
            <a:r>
              <a:rPr lang="zh-CN" altLang="en-US" dirty="0" smtClean="0">
                <a:sym typeface="Calibri" pitchFamily="34" charset="0"/>
              </a:rPr>
              <a:t>。</a:t>
            </a:r>
            <a:endParaRPr lang="en-US" dirty="0" smtClean="0">
              <a:sym typeface="Calibri" pitchFamily="34" charset="0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dirty="0" smtClean="0">
                <a:sym typeface="Calibri" pitchFamily="34" charset="0"/>
              </a:rPr>
              <a:t>若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en-US" altLang="zh-CN" dirty="0" smtClean="0">
                <a:sym typeface="Calibri" pitchFamily="34" charset="0"/>
              </a:rPr>
              <a:t>→</a:t>
            </a:r>
            <a:r>
              <a:rPr lang="en-US" altLang="zh-CN" i="1" dirty="0" smtClean="0">
                <a:sym typeface="Calibri" pitchFamily="34" charset="0"/>
              </a:rPr>
              <a:t>Y</a:t>
            </a:r>
            <a:r>
              <a:rPr lang="zh-CN" altLang="en-US" dirty="0" smtClean="0">
                <a:sym typeface="Calibri" pitchFamily="34" charset="0"/>
              </a:rPr>
              <a:t>，但</a:t>
            </a:r>
            <a:r>
              <a:rPr lang="en-US" altLang="zh-CN" i="1" dirty="0" smtClean="0">
                <a:sym typeface="Calibri" pitchFamily="34" charset="0"/>
              </a:rPr>
              <a:t>Y</a:t>
            </a:r>
            <a:r>
              <a:rPr lang="zh-CN" altLang="en-US" dirty="0" smtClean="0">
                <a:sym typeface="Calibri" pitchFamily="34" charset="0"/>
              </a:rPr>
              <a:t>不完全函数依赖于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zh-CN" altLang="en-US" dirty="0" smtClean="0">
                <a:sym typeface="Calibri" pitchFamily="34" charset="0"/>
              </a:rPr>
              <a:t>，则称</a:t>
            </a:r>
            <a:r>
              <a:rPr lang="en-US" altLang="zh-CN" i="1" dirty="0" smtClean="0">
                <a:sym typeface="Calibri" pitchFamily="34" charset="0"/>
              </a:rPr>
              <a:t>Y</a:t>
            </a:r>
            <a:r>
              <a:rPr lang="zh-CN" altLang="en-US" dirty="0" smtClean="0">
                <a:sym typeface="Calibri" pitchFamily="34" charset="0"/>
              </a:rPr>
              <a:t>对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zh-CN" altLang="en-US" dirty="0" smtClean="0">
                <a:solidFill>
                  <a:srgbClr val="FF00FF"/>
                </a:solidFill>
                <a:sym typeface="Calibri" pitchFamily="34" charset="0"/>
              </a:rPr>
              <a:t>部分函数依赖</a:t>
            </a:r>
            <a:r>
              <a:rPr lang="zh-CN" altLang="en-US" dirty="0" smtClean="0">
                <a:sym typeface="Calibri" pitchFamily="34" charset="0"/>
              </a:rPr>
              <a:t>，记作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en-US" altLang="zh-CN" dirty="0" smtClean="0">
                <a:sym typeface="Calibri" pitchFamily="34" charset="0"/>
              </a:rPr>
              <a:t> → </a:t>
            </a:r>
            <a:r>
              <a:rPr lang="en-US" altLang="zh-CN" i="1" dirty="0" smtClean="0">
                <a:sym typeface="Calibri" pitchFamily="34" charset="0"/>
              </a:rPr>
              <a:t>Y</a:t>
            </a:r>
          </a:p>
          <a:p>
            <a:pPr lvl="1"/>
            <a:r>
              <a:rPr lang="en-US" altLang="zh-CN" sz="2400" dirty="0">
                <a:cs typeface="Times New Roman" panose="02020603050405020304" pitchFamily="18" charset="0"/>
              </a:rPr>
              <a:t>{CNO, CNAME} </a:t>
            </a:r>
            <a:r>
              <a:rPr lang="en-US" altLang="zh-CN" sz="2400" dirty="0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cs typeface="Times New Roman" panose="02020603050405020304" pitchFamily="18" charset="0"/>
              </a:rPr>
              <a:t> CLOCATION </a:t>
            </a:r>
            <a:endParaRPr lang="en-US" altLang="zh-CN" sz="2400" dirty="0" smtClean="0">
              <a:cs typeface="Times New Roman" panose="02020603050405020304" pitchFamily="18" charset="0"/>
            </a:endParaRPr>
          </a:p>
          <a:p>
            <a:pPr lvl="1"/>
            <a:endParaRPr lang="en-US" altLang="zh-CN" sz="2400" dirty="0"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 smtClean="0">
                <a:cs typeface="Times New Roman" panose="02020603050405020304" pitchFamily="18" charset="0"/>
              </a:rPr>
              <a:t>CNO </a:t>
            </a:r>
            <a:r>
              <a:rPr lang="en-US" altLang="zh-CN" sz="2400" dirty="0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cs typeface="Times New Roman" panose="02020603050405020304" pitchFamily="18" charset="0"/>
              </a:rPr>
              <a:t>CLOCATION</a:t>
            </a:r>
          </a:p>
          <a:p>
            <a:pPr lvl="1"/>
            <a:endParaRPr lang="en-US" altLang="zh-CN" sz="2400" dirty="0" smtClean="0"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endParaRPr lang="en-US" altLang="zh-CN" i="1" dirty="0" smtClean="0">
              <a:sym typeface="Calibri" pitchFamily="34" charset="0"/>
            </a:endParaRPr>
          </a:p>
        </p:txBody>
      </p:sp>
      <p:sp>
        <p:nvSpPr>
          <p:cNvPr id="31750" name="文本框 4"/>
          <p:cNvSpPr>
            <a:spLocks noChangeArrowheads="1"/>
          </p:cNvSpPr>
          <p:nvPr/>
        </p:nvSpPr>
        <p:spPr bwMode="auto">
          <a:xfrm>
            <a:off x="7011459" y="1894947"/>
            <a:ext cx="3385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SzPct val="100000"/>
            </a:pPr>
            <a:r>
              <a:rPr lang="en-US" altLang="zh-CN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rPr>
              <a:t>F</a:t>
            </a:r>
          </a:p>
        </p:txBody>
      </p:sp>
      <p:sp>
        <p:nvSpPr>
          <p:cNvPr id="31751" name="文本框 10"/>
          <p:cNvSpPr>
            <a:spLocks noChangeArrowheads="1"/>
          </p:cNvSpPr>
          <p:nvPr/>
        </p:nvSpPr>
        <p:spPr bwMode="auto">
          <a:xfrm>
            <a:off x="1692804" y="3114146"/>
            <a:ext cx="3238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rPr>
              <a:t>P</a:t>
            </a:r>
          </a:p>
        </p:txBody>
      </p:sp>
      <p:sp>
        <p:nvSpPr>
          <p:cNvPr id="8" name="文本框 4"/>
          <p:cNvSpPr>
            <a:spLocks noChangeArrowheads="1"/>
          </p:cNvSpPr>
          <p:nvPr/>
        </p:nvSpPr>
        <p:spPr bwMode="auto">
          <a:xfrm>
            <a:off x="4233446" y="4375680"/>
            <a:ext cx="3385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SzPct val="100000"/>
            </a:pPr>
            <a:r>
              <a:rPr lang="en-US" altLang="zh-CN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rPr>
              <a:t>F</a:t>
            </a:r>
          </a:p>
        </p:txBody>
      </p:sp>
      <p:sp>
        <p:nvSpPr>
          <p:cNvPr id="9" name="文本框 10"/>
          <p:cNvSpPr>
            <a:spLocks noChangeArrowheads="1"/>
          </p:cNvSpPr>
          <p:nvPr/>
        </p:nvSpPr>
        <p:spPr bwMode="auto">
          <a:xfrm>
            <a:off x="4840816" y="3567112"/>
            <a:ext cx="3238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40335873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Box 3"/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r>
              <a:rPr lang="zh-CN" altLang="en-US" sz="1400" b="1">
                <a:solidFill>
                  <a:srgbClr val="95373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*</a:t>
            </a:r>
            <a:endParaRPr lang="zh-CN" altLang="en-US">
              <a:solidFill>
                <a:srgbClr val="000000"/>
              </a:solidFill>
              <a:sym typeface="Arial" pitchFamily="34" charset="0"/>
            </a:endParaRPr>
          </a:p>
        </p:txBody>
      </p:sp>
      <p:sp>
        <p:nvSpPr>
          <p:cNvPr id="33795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endParaRPr lang="zh-CN" altLang="zh-CN" sz="1000" b="1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 smtClean="0">
                <a:sym typeface="微软雅黑" pitchFamily="34" charset="-122"/>
              </a:rPr>
              <a:t>(4)</a:t>
            </a:r>
            <a:r>
              <a:rPr lang="zh-CN" altLang="en-US" sz="3600" dirty="0" smtClean="0">
                <a:sym typeface="微软雅黑" pitchFamily="34" charset="-122"/>
              </a:rPr>
              <a:t> 传递函数依赖</a:t>
            </a:r>
            <a:endParaRPr lang="zh-CN" altLang="en-US" sz="3600" dirty="0" smtClean="0"/>
          </a:p>
        </p:txBody>
      </p:sp>
      <p:sp>
        <p:nvSpPr>
          <p:cNvPr id="3379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81075"/>
            <a:ext cx="8229600" cy="5616575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dirty="0" smtClean="0">
                <a:sym typeface="Calibri" pitchFamily="34" charset="0"/>
              </a:rPr>
              <a:t>定义</a:t>
            </a:r>
            <a:r>
              <a:rPr lang="en-US" altLang="zh-CN" dirty="0" smtClean="0">
                <a:sym typeface="Calibri" pitchFamily="34" charset="0"/>
              </a:rPr>
              <a:t>3  </a:t>
            </a:r>
            <a:r>
              <a:rPr lang="zh-CN" altLang="en-US" dirty="0" smtClean="0">
                <a:sym typeface="Calibri" pitchFamily="34" charset="0"/>
              </a:rPr>
              <a:t>在</a:t>
            </a:r>
            <a:r>
              <a:rPr lang="en-US" altLang="zh-CN" i="1" dirty="0" smtClean="0">
                <a:sym typeface="Calibri" pitchFamily="34" charset="0"/>
              </a:rPr>
              <a:t>R(U)</a:t>
            </a:r>
            <a:r>
              <a:rPr lang="zh-CN" altLang="en-US" dirty="0" smtClean="0">
                <a:sym typeface="Calibri" pitchFamily="34" charset="0"/>
              </a:rPr>
              <a:t>中，如果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en-US" altLang="zh-CN" dirty="0" smtClean="0">
                <a:sym typeface="Calibri" pitchFamily="34" charset="0"/>
              </a:rPr>
              <a:t>→</a:t>
            </a:r>
            <a:r>
              <a:rPr lang="en-US" altLang="zh-CN" i="1" dirty="0" smtClean="0">
                <a:sym typeface="Calibri" pitchFamily="34" charset="0"/>
              </a:rPr>
              <a:t>Y</a:t>
            </a:r>
            <a:r>
              <a:rPr lang="en-US" altLang="zh-CN" dirty="0" smtClean="0">
                <a:sym typeface="Calibri" pitchFamily="34" charset="0"/>
              </a:rPr>
              <a:t>(</a:t>
            </a:r>
            <a:r>
              <a:rPr lang="en-US" altLang="zh-CN" i="1" dirty="0" smtClean="0">
                <a:sym typeface="Calibri" pitchFamily="34" charset="0"/>
              </a:rPr>
              <a:t>Y</a:t>
            </a:r>
            <a:r>
              <a:rPr lang="en-US" altLang="zh-CN" dirty="0" smtClean="0">
                <a:sym typeface="Calibri" pitchFamily="34" charset="0"/>
              </a:rPr>
              <a:t>⊈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en-US" altLang="zh-CN" dirty="0" smtClean="0">
                <a:sym typeface="Calibri" pitchFamily="34" charset="0"/>
              </a:rPr>
              <a:t>)</a:t>
            </a:r>
            <a:r>
              <a:rPr lang="zh-CN" altLang="en-US" dirty="0" smtClean="0">
                <a:sym typeface="Calibri" pitchFamily="34" charset="0"/>
              </a:rPr>
              <a:t>，</a:t>
            </a:r>
            <a:r>
              <a:rPr lang="en-US" altLang="zh-CN" i="1" dirty="0" smtClean="0">
                <a:solidFill>
                  <a:srgbClr val="FF0000"/>
                </a:solidFill>
                <a:sym typeface="Calibri" pitchFamily="34" charset="0"/>
              </a:rPr>
              <a:t>Y</a:t>
            </a:r>
            <a:r>
              <a:rPr lang="en-US" altLang="zh-CN" dirty="0" smtClean="0">
                <a:solidFill>
                  <a:srgbClr val="FF0000"/>
                </a:solidFill>
                <a:sym typeface="Calibri" pitchFamily="34" charset="0"/>
              </a:rPr>
              <a:t>↛</a:t>
            </a:r>
            <a:r>
              <a:rPr lang="en-US" altLang="zh-CN" i="1" dirty="0" smtClean="0">
                <a:solidFill>
                  <a:srgbClr val="FF0000"/>
                </a:solidFill>
                <a:sym typeface="Calibri" pitchFamily="34" charset="0"/>
              </a:rPr>
              <a:t>X</a:t>
            </a:r>
            <a:r>
              <a:rPr lang="zh-CN" altLang="en-US" dirty="0" smtClean="0">
                <a:sym typeface="Calibri" pitchFamily="34" charset="0"/>
              </a:rPr>
              <a:t>，</a:t>
            </a:r>
            <a:r>
              <a:rPr lang="en-US" altLang="zh-CN" i="1" dirty="0" smtClean="0">
                <a:sym typeface="Calibri" pitchFamily="34" charset="0"/>
              </a:rPr>
              <a:t>Y</a:t>
            </a:r>
            <a:r>
              <a:rPr lang="en-US" altLang="zh-CN" dirty="0" smtClean="0">
                <a:sym typeface="Calibri" pitchFamily="34" charset="0"/>
              </a:rPr>
              <a:t>→</a:t>
            </a:r>
            <a:r>
              <a:rPr lang="en-US" altLang="zh-CN" i="1" dirty="0" smtClean="0">
                <a:sym typeface="Calibri" pitchFamily="34" charset="0"/>
              </a:rPr>
              <a:t>Z</a:t>
            </a:r>
            <a:r>
              <a:rPr lang="zh-CN" altLang="en-US" dirty="0" smtClean="0">
                <a:sym typeface="Calibri" pitchFamily="34" charset="0"/>
              </a:rPr>
              <a:t>，</a:t>
            </a:r>
            <a:r>
              <a:rPr lang="en-US" altLang="zh-CN" i="1" dirty="0" smtClean="0">
                <a:sym typeface="Calibri" pitchFamily="34" charset="0"/>
              </a:rPr>
              <a:t>Z</a:t>
            </a:r>
            <a:r>
              <a:rPr lang="en-US" altLang="zh-CN" dirty="0" smtClean="0">
                <a:sym typeface="Calibri" pitchFamily="34" charset="0"/>
              </a:rPr>
              <a:t>⊈</a:t>
            </a:r>
            <a:r>
              <a:rPr lang="en-US" altLang="zh-CN" i="1" dirty="0" smtClean="0">
                <a:sym typeface="Calibri" pitchFamily="34" charset="0"/>
              </a:rPr>
              <a:t>Y</a:t>
            </a:r>
            <a:r>
              <a:rPr lang="en-US" altLang="zh-CN" dirty="0" smtClean="0">
                <a:sym typeface="Calibri" pitchFamily="34" charset="0"/>
              </a:rPr>
              <a:t>, </a:t>
            </a:r>
            <a:r>
              <a:rPr lang="zh-CN" altLang="en-US" dirty="0" smtClean="0">
                <a:sym typeface="Calibri" pitchFamily="34" charset="0"/>
              </a:rPr>
              <a:t>则称</a:t>
            </a:r>
            <a:r>
              <a:rPr lang="en-US" altLang="zh-CN" i="1" dirty="0" smtClean="0">
                <a:sym typeface="Calibri" pitchFamily="34" charset="0"/>
              </a:rPr>
              <a:t>Z</a:t>
            </a:r>
            <a:r>
              <a:rPr lang="zh-CN" altLang="en-US" dirty="0" smtClean="0">
                <a:sym typeface="Calibri" pitchFamily="34" charset="0"/>
              </a:rPr>
              <a:t>对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zh-CN" altLang="en-US" dirty="0" smtClean="0">
                <a:solidFill>
                  <a:srgbClr val="FF00FF"/>
                </a:solidFill>
                <a:sym typeface="Calibri" pitchFamily="34" charset="0"/>
              </a:rPr>
              <a:t>传递函数依赖</a:t>
            </a:r>
            <a:r>
              <a:rPr lang="en-US" altLang="zh-CN" dirty="0" smtClean="0">
                <a:sym typeface="Calibri" pitchFamily="34" charset="0"/>
              </a:rPr>
              <a:t>(transitive functional dependency)</a:t>
            </a:r>
            <a:r>
              <a:rPr lang="zh-CN" altLang="en-US" dirty="0" smtClean="0">
                <a:sym typeface="Calibri" pitchFamily="34" charset="0"/>
              </a:rPr>
              <a:t>。记为：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en-US" altLang="zh-CN" dirty="0" smtClean="0">
                <a:sym typeface="Calibri" pitchFamily="34" charset="0"/>
              </a:rPr>
              <a:t> → </a:t>
            </a:r>
            <a:r>
              <a:rPr lang="en-US" altLang="zh-CN" i="1" dirty="0" smtClean="0">
                <a:sym typeface="Calibri" pitchFamily="34" charset="0"/>
              </a:rPr>
              <a:t>Z</a:t>
            </a:r>
            <a:r>
              <a:rPr lang="zh-CN" altLang="en-US" dirty="0" smtClean="0">
                <a:sym typeface="Calibri" pitchFamily="34" charset="0"/>
              </a:rPr>
              <a:t>。</a:t>
            </a:r>
            <a:endParaRPr lang="zh-CN" altLang="en-US" sz="3200" dirty="0" smtClean="0">
              <a:sym typeface="Calibri" pitchFamily="34" charset="0"/>
            </a:endParaRPr>
          </a:p>
          <a:p>
            <a:pPr marL="742950" lvl="1" indent="-285750" algn="l"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dirty="0" smtClean="0">
                <a:sym typeface="Times New Roman" pitchFamily="18" charset="0"/>
              </a:rPr>
              <a:t>注</a:t>
            </a:r>
            <a:r>
              <a:rPr lang="en-US" altLang="zh-CN" dirty="0" smtClean="0">
                <a:sym typeface="Times New Roman" pitchFamily="18" charset="0"/>
              </a:rPr>
              <a:t>: </a:t>
            </a:r>
            <a:r>
              <a:rPr lang="zh-CN" altLang="en-US" dirty="0" smtClean="0">
                <a:sym typeface="Times New Roman" pitchFamily="18" charset="0"/>
              </a:rPr>
              <a:t>如果</a:t>
            </a:r>
            <a:r>
              <a:rPr lang="en-US" altLang="zh-CN" i="1" dirty="0" smtClean="0">
                <a:sym typeface="Times New Roman" pitchFamily="18" charset="0"/>
              </a:rPr>
              <a:t>Y</a:t>
            </a:r>
            <a:r>
              <a:rPr lang="en-US" altLang="zh-CN" dirty="0" smtClean="0">
                <a:sym typeface="Times New Roman" pitchFamily="18" charset="0"/>
              </a:rPr>
              <a:t>→</a:t>
            </a:r>
            <a:r>
              <a:rPr lang="en-US" altLang="zh-CN" i="1" dirty="0" smtClean="0">
                <a:sym typeface="Times New Roman" pitchFamily="18" charset="0"/>
              </a:rPr>
              <a:t>X</a:t>
            </a:r>
            <a:r>
              <a:rPr lang="en-US" altLang="zh-CN" dirty="0" smtClean="0">
                <a:sym typeface="Times New Roman" pitchFamily="18" charset="0"/>
              </a:rPr>
              <a:t>, </a:t>
            </a:r>
            <a:r>
              <a:rPr lang="zh-CN" altLang="en-US" dirty="0" smtClean="0">
                <a:sym typeface="Times New Roman" pitchFamily="18" charset="0"/>
              </a:rPr>
              <a:t>即</a:t>
            </a:r>
            <a:r>
              <a:rPr lang="en-US" altLang="zh-CN" i="1" dirty="0" smtClean="0">
                <a:sym typeface="Times New Roman" pitchFamily="18" charset="0"/>
              </a:rPr>
              <a:t>X</a:t>
            </a:r>
            <a:r>
              <a:rPr lang="en-US" altLang="zh-CN" dirty="0" smtClean="0">
                <a:sym typeface="Times New Roman" pitchFamily="18" charset="0"/>
              </a:rPr>
              <a:t>←→</a:t>
            </a:r>
            <a:r>
              <a:rPr lang="en-US" altLang="zh-CN" i="1" dirty="0" smtClean="0">
                <a:sym typeface="Times New Roman" pitchFamily="18" charset="0"/>
              </a:rPr>
              <a:t>Y</a:t>
            </a:r>
            <a:r>
              <a:rPr lang="zh-CN" altLang="en-US" dirty="0" smtClean="0">
                <a:sym typeface="Times New Roman" pitchFamily="18" charset="0"/>
              </a:rPr>
              <a:t>，则</a:t>
            </a:r>
            <a:r>
              <a:rPr lang="en-US" altLang="zh-CN" i="1" dirty="0" smtClean="0">
                <a:sym typeface="Times New Roman" pitchFamily="18" charset="0"/>
              </a:rPr>
              <a:t>Z</a:t>
            </a:r>
            <a:r>
              <a:rPr lang="zh-CN" altLang="en-US" dirty="0" smtClean="0">
                <a:sym typeface="Times New Roman" pitchFamily="18" charset="0"/>
              </a:rPr>
              <a:t>直接依赖于</a:t>
            </a:r>
            <a:r>
              <a:rPr lang="en-US" altLang="zh-CN" i="1" dirty="0" smtClean="0">
                <a:sym typeface="Times New Roman" pitchFamily="18" charset="0"/>
              </a:rPr>
              <a:t>X</a:t>
            </a:r>
            <a:r>
              <a:rPr lang="zh-CN" altLang="en-US" dirty="0" smtClean="0">
                <a:sym typeface="Times New Roman" pitchFamily="18" charset="0"/>
              </a:rPr>
              <a:t>，而不是传递函数依赖。</a:t>
            </a:r>
            <a:endParaRPr lang="zh-CN" altLang="en-US" sz="2800" dirty="0" smtClean="0">
              <a:sym typeface="Times New Roman" pitchFamily="18" charset="0"/>
            </a:endParaRPr>
          </a:p>
          <a:p>
            <a:pPr marL="742950" lvl="1" indent="-285750" algn="l">
              <a:lnSpc>
                <a:spcPct val="120000"/>
              </a:lnSpc>
              <a:buFont typeface="Wingdings" pitchFamily="2" charset="2"/>
              <a:buChar char="n"/>
            </a:pPr>
            <a:r>
              <a:rPr lang="en-US" altLang="zh-CN" dirty="0" smtClean="0">
                <a:sym typeface="Times New Roman" pitchFamily="18" charset="0"/>
              </a:rPr>
              <a:t>[</a:t>
            </a:r>
            <a:r>
              <a:rPr lang="zh-CN" altLang="en-US" dirty="0" smtClean="0">
                <a:sym typeface="Times New Roman" pitchFamily="18" charset="0"/>
              </a:rPr>
              <a:t>例</a:t>
            </a:r>
            <a:r>
              <a:rPr lang="en-US" altLang="zh-CN" dirty="0" smtClean="0">
                <a:sym typeface="Times New Roman" pitchFamily="18" charset="0"/>
              </a:rPr>
              <a:t>] </a:t>
            </a:r>
            <a:r>
              <a:rPr lang="zh-CN" altLang="en-US" dirty="0" smtClean="0">
                <a:sym typeface="Times New Roman" pitchFamily="18" charset="0"/>
              </a:rPr>
              <a:t>在关系</a:t>
            </a:r>
            <a:r>
              <a:rPr lang="en-US" altLang="zh-CN" dirty="0" smtClean="0">
                <a:sym typeface="Times New Roman" pitchFamily="18" charset="0"/>
              </a:rPr>
              <a:t>Std(</a:t>
            </a:r>
            <a:r>
              <a:rPr lang="en-US" altLang="zh-CN" dirty="0" err="1" smtClean="0">
                <a:sym typeface="Times New Roman" pitchFamily="18" charset="0"/>
              </a:rPr>
              <a:t>Sno</a:t>
            </a:r>
            <a:r>
              <a:rPr lang="en-US" altLang="zh-CN" dirty="0" smtClean="0">
                <a:sym typeface="Times New Roman" pitchFamily="18" charset="0"/>
              </a:rPr>
              <a:t>, </a:t>
            </a:r>
            <a:r>
              <a:rPr lang="en-US" altLang="zh-CN" dirty="0" err="1" smtClean="0">
                <a:sym typeface="Times New Roman" pitchFamily="18" charset="0"/>
              </a:rPr>
              <a:t>Sdept</a:t>
            </a:r>
            <a:r>
              <a:rPr lang="en-US" altLang="zh-CN" dirty="0" smtClean="0">
                <a:sym typeface="Times New Roman" pitchFamily="18" charset="0"/>
              </a:rPr>
              <a:t>, </a:t>
            </a:r>
            <a:r>
              <a:rPr lang="en-US" altLang="zh-CN" dirty="0" err="1" smtClean="0">
                <a:sym typeface="Times New Roman" pitchFamily="18" charset="0"/>
              </a:rPr>
              <a:t>Mname</a:t>
            </a:r>
            <a:r>
              <a:rPr lang="en-US" altLang="zh-CN" dirty="0" smtClean="0">
                <a:sym typeface="Times New Roman" pitchFamily="18" charset="0"/>
              </a:rPr>
              <a:t>)</a:t>
            </a:r>
            <a:r>
              <a:rPr lang="zh-CN" altLang="en-US" dirty="0" smtClean="0">
                <a:sym typeface="Times New Roman" pitchFamily="18" charset="0"/>
              </a:rPr>
              <a:t>中，有：</a:t>
            </a:r>
            <a:endParaRPr lang="zh-CN" altLang="en-US" sz="2800" dirty="0" smtClean="0">
              <a:sym typeface="Times New Roman" pitchFamily="18" charset="0"/>
            </a:endParaRPr>
          </a:p>
          <a:p>
            <a:pPr marL="1143000" lvl="2" indent="-228600" algn="l">
              <a:lnSpc>
                <a:spcPct val="120000"/>
              </a:lnSpc>
              <a:buSzPct val="87000"/>
            </a:pPr>
            <a:r>
              <a:rPr lang="en-US" altLang="zh-CN" dirty="0" err="1" smtClean="0">
                <a:sym typeface="Times New Roman" pitchFamily="18" charset="0"/>
              </a:rPr>
              <a:t>Sno</a:t>
            </a:r>
            <a:r>
              <a:rPr lang="en-US" altLang="zh-CN" dirty="0" smtClean="0">
                <a:sym typeface="Times New Roman" pitchFamily="18" charset="0"/>
              </a:rPr>
              <a:t> → </a:t>
            </a:r>
            <a:r>
              <a:rPr lang="en-US" altLang="zh-CN" dirty="0" err="1" smtClean="0">
                <a:sym typeface="Times New Roman" pitchFamily="18" charset="0"/>
              </a:rPr>
              <a:t>Sdept</a:t>
            </a:r>
            <a:r>
              <a:rPr lang="zh-CN" altLang="en-US" dirty="0" smtClean="0">
                <a:sym typeface="Times New Roman" pitchFamily="18" charset="0"/>
              </a:rPr>
              <a:t>，</a:t>
            </a:r>
            <a:r>
              <a:rPr lang="en-US" altLang="zh-CN" dirty="0" err="1" smtClean="0">
                <a:sym typeface="Times New Roman" pitchFamily="18" charset="0"/>
              </a:rPr>
              <a:t>Sdept</a:t>
            </a:r>
            <a:r>
              <a:rPr lang="en-US" altLang="zh-CN" dirty="0" smtClean="0">
                <a:sym typeface="Times New Roman" pitchFamily="18" charset="0"/>
              </a:rPr>
              <a:t> → </a:t>
            </a:r>
            <a:r>
              <a:rPr lang="en-US" altLang="zh-CN" dirty="0" err="1" smtClean="0">
                <a:sym typeface="Times New Roman" pitchFamily="18" charset="0"/>
              </a:rPr>
              <a:t>Mname</a:t>
            </a:r>
            <a:r>
              <a:rPr lang="zh-CN" altLang="en-US" dirty="0" smtClean="0">
                <a:sym typeface="Times New Roman" pitchFamily="18" charset="0"/>
              </a:rPr>
              <a:t>，</a:t>
            </a:r>
            <a:endParaRPr lang="en-US" altLang="zh-CN" dirty="0" smtClean="0">
              <a:sym typeface="Times New Roman" pitchFamily="18" charset="0"/>
            </a:endParaRPr>
          </a:p>
          <a:p>
            <a:pPr marL="1143000" lvl="2" indent="-228600" algn="l">
              <a:lnSpc>
                <a:spcPct val="120000"/>
              </a:lnSpc>
              <a:buSzPct val="87000"/>
            </a:pPr>
            <a:r>
              <a:rPr lang="en-US" altLang="zh-CN" dirty="0" err="1" smtClean="0">
                <a:sym typeface="Times New Roman" pitchFamily="18" charset="0"/>
              </a:rPr>
              <a:t>Mname</a:t>
            </a:r>
            <a:r>
              <a:rPr lang="zh-CN" altLang="en-US" dirty="0" smtClean="0">
                <a:sym typeface="Times New Roman" pitchFamily="18" charset="0"/>
              </a:rPr>
              <a:t>传递函数依赖于</a:t>
            </a:r>
            <a:r>
              <a:rPr lang="en-US" altLang="zh-CN" dirty="0" err="1" smtClean="0">
                <a:sym typeface="Times New Roman" pitchFamily="18" charset="0"/>
              </a:rPr>
              <a:t>Sno</a:t>
            </a:r>
            <a:endParaRPr lang="zh-CN" altLang="en-US" dirty="0" smtClean="0"/>
          </a:p>
        </p:txBody>
      </p:sp>
      <p:sp>
        <p:nvSpPr>
          <p:cNvPr id="33798" name="文本框 3"/>
          <p:cNvSpPr>
            <a:spLocks noChangeArrowheads="1"/>
          </p:cNvSpPr>
          <p:nvPr/>
        </p:nvSpPr>
        <p:spPr bwMode="auto">
          <a:xfrm>
            <a:off x="992452" y="2064808"/>
            <a:ext cx="588963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SzPct val="100000"/>
            </a:pPr>
            <a:r>
              <a:rPr lang="zh-CN" altLang="en-US" sz="1600" b="1" dirty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传递</a:t>
            </a:r>
          </a:p>
        </p:txBody>
      </p:sp>
    </p:spTree>
    <p:extLst>
      <p:ext uri="{BB962C8B-B14F-4D97-AF65-F5344CB8AC3E}">
        <p14:creationId xmlns:p14="http://schemas.microsoft.com/office/powerpoint/2010/main" val="29531733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1143000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3 </a:t>
            </a:r>
            <a:r>
              <a:rPr lang="zh-CN" altLang="en-US" dirty="0" smtClean="0">
                <a:ea typeface="宋体" panose="02010600030101010101" pitchFamily="2" charset="-122"/>
              </a:rPr>
              <a:t>如何确定函数依赖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76475"/>
            <a:ext cx="8229600" cy="4276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如何设计一个高质量的数据库？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减少冗余</a:t>
            </a:r>
            <a:r>
              <a:rPr lang="en-US" altLang="zh-CN" dirty="0" smtClean="0">
                <a:ea typeface="宋体" panose="02010600030101010101" pitchFamily="2" charset="-122"/>
              </a:rPr>
              <a:t>!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去除异常</a:t>
            </a:r>
            <a:r>
              <a:rPr lang="zh-CN" altLang="en-US" dirty="0">
                <a:ea typeface="宋体" panose="02010600030101010101" pitchFamily="2" charset="-122"/>
              </a:rPr>
              <a:t>！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分解</a:t>
            </a:r>
            <a:r>
              <a:rPr lang="en-US" altLang="zh-CN" dirty="0" smtClean="0">
                <a:ea typeface="宋体" panose="02010600030101010101" pitchFamily="2" charset="-122"/>
              </a:rPr>
              <a:t>!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如何分解</a:t>
            </a:r>
            <a:r>
              <a:rPr lang="en-US" altLang="zh-CN" dirty="0" smtClean="0">
                <a:ea typeface="宋体" panose="02010600030101010101" pitchFamily="2" charset="-122"/>
              </a:rPr>
              <a:t>?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首先：确定数据依赖 （</a:t>
            </a:r>
            <a:r>
              <a:rPr lang="en-US" altLang="zh-CN" dirty="0">
                <a:solidFill>
                  <a:srgbClr val="FF0000"/>
                </a:solidFill>
              </a:rPr>
              <a:t>Identify Functional Dependency</a:t>
            </a:r>
            <a:r>
              <a:rPr lang="zh-CN" altLang="en-US" dirty="0" smtClean="0">
                <a:solidFill>
                  <a:srgbClr val="FF0000"/>
                </a:solidFill>
              </a:rPr>
              <a:t>）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>
              <a:buNone/>
            </a:pPr>
            <a:endParaRPr lang="en-US" altLang="zh-CN" dirty="0" smtClean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如何</a:t>
            </a:r>
            <a:r>
              <a:rPr lang="zh-CN" altLang="en-US" dirty="0">
                <a:solidFill>
                  <a:srgbClr val="FF0000"/>
                </a:solidFill>
              </a:rPr>
              <a:t>确定主键（主码）</a:t>
            </a:r>
            <a:r>
              <a:rPr lang="en-US" altLang="zh-CN" dirty="0">
                <a:solidFill>
                  <a:srgbClr val="FF0000"/>
                </a:solidFill>
              </a:rPr>
              <a:t>?</a:t>
            </a:r>
          </a:p>
          <a:p>
            <a:pPr lvl="1">
              <a:buNone/>
            </a:pPr>
            <a:endParaRPr lang="en-US" altLang="zh-CN" b="1" dirty="0" smtClean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3286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0350"/>
            <a:ext cx="9540875" cy="1008063"/>
          </a:xfrm>
        </p:spPr>
        <p:txBody>
          <a:bodyPr/>
          <a:lstStyle/>
          <a:p>
            <a:r>
              <a:rPr lang="zh-CN" altLang="en-US" dirty="0" smtClean="0"/>
              <a:t>确定函数依赖</a:t>
            </a:r>
            <a:r>
              <a:rPr lang="en-US" altLang="zh-CN" dirty="0" smtClean="0">
                <a:ea typeface="宋体" panose="02010600030101010101" pitchFamily="2" charset="-122"/>
              </a:rPr>
              <a:t>(1) 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8667" y="1382183"/>
            <a:ext cx="8156575" cy="4051300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>
                <a:solidFill>
                  <a:srgbClr val="FF00FF"/>
                </a:solidFill>
                <a:sym typeface="Calibri" pitchFamily="34" charset="0"/>
              </a:rPr>
              <a:t>平凡的函数依赖</a:t>
            </a:r>
            <a:r>
              <a:rPr lang="en-US" altLang="zh-CN" dirty="0" smtClean="0">
                <a:ea typeface="宋体" panose="02010600030101010101" pitchFamily="2" charset="-122"/>
              </a:rPr>
              <a:t>: if Y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dirty="0" smtClean="0">
                <a:ea typeface="宋体" panose="02010600030101010101" pitchFamily="2" charset="-122"/>
                <a:sym typeface="Math B" pitchFamily="2" charset="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</a:rPr>
              <a:t>X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dirty="0" smtClean="0">
                <a:ea typeface="宋体" panose="02010600030101010101" pitchFamily="2" charset="-122"/>
              </a:rPr>
              <a:t> R, then X          Y. </a:t>
            </a:r>
          </a:p>
          <a:p>
            <a:endParaRPr lang="en-US" altLang="zh-CN" dirty="0" smtClean="0">
              <a:solidFill>
                <a:schemeClr val="accent1"/>
              </a:solidFill>
              <a:ea typeface="宋体" panose="02010600030101010101" pitchFamily="2" charset="-122"/>
            </a:endParaRPr>
          </a:p>
          <a:p>
            <a:r>
              <a:rPr lang="en-US" altLang="zh-CN" dirty="0" smtClean="0">
                <a:ea typeface="宋体" panose="02010600030101010101" pitchFamily="2" charset="-122"/>
              </a:rPr>
              <a:t>If X is a candidate key </a:t>
            </a:r>
            <a:r>
              <a:rPr lang="zh-CN" altLang="en-US" dirty="0" smtClean="0">
                <a:ea typeface="宋体" panose="02010600030101010101" pitchFamily="2" charset="-122"/>
              </a:rPr>
              <a:t>（码）</a:t>
            </a:r>
            <a:r>
              <a:rPr lang="en-US" altLang="zh-CN" dirty="0" smtClean="0">
                <a:ea typeface="宋体" panose="02010600030101010101" pitchFamily="2" charset="-122"/>
              </a:rPr>
              <a:t>of R and Y is any subset of R, </a:t>
            </a:r>
          </a:p>
          <a:p>
            <a:pPr marL="0" indent="0"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then X           Y is in R.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chemeClr val="accent1"/>
                </a:solidFill>
              </a:rPr>
              <a:t>基于约束规定的依赖</a:t>
            </a:r>
            <a:r>
              <a:rPr lang="en-US" altLang="zh-CN" dirty="0"/>
              <a:t>. </a:t>
            </a:r>
          </a:p>
          <a:p>
            <a:pPr>
              <a:buNone/>
            </a:pPr>
            <a:r>
              <a:rPr lang="en-US" altLang="zh-CN" dirty="0"/>
              <a:t>   Employees(SSN, Name, </a:t>
            </a:r>
            <a:r>
              <a:rPr lang="en-US" altLang="zh-CN" dirty="0" err="1"/>
              <a:t>Years_of_emp</a:t>
            </a:r>
            <a:r>
              <a:rPr lang="en-US" altLang="zh-CN" dirty="0"/>
              <a:t>, Salary, Bonus)</a:t>
            </a:r>
          </a:p>
          <a:p>
            <a:pPr>
              <a:buNone/>
            </a:pPr>
            <a:r>
              <a:rPr lang="zh-CN" altLang="en-US" dirty="0">
                <a:solidFill>
                  <a:schemeClr val="accent1"/>
                </a:solidFill>
              </a:rPr>
              <a:t>规定</a:t>
            </a:r>
            <a:r>
              <a:rPr lang="en-US" altLang="zh-CN" dirty="0"/>
              <a:t>: Employees hired the same year have the same salary. </a:t>
            </a:r>
          </a:p>
          <a:p>
            <a:pPr>
              <a:buNone/>
            </a:pPr>
            <a:r>
              <a:rPr lang="zh-CN" altLang="en-US" dirty="0"/>
              <a:t>依赖关系</a:t>
            </a:r>
            <a:r>
              <a:rPr lang="en-US" altLang="zh-CN" dirty="0"/>
              <a:t>: </a:t>
            </a:r>
          </a:p>
          <a:p>
            <a:pPr>
              <a:buNone/>
            </a:pPr>
            <a:r>
              <a:rPr lang="en-US" altLang="zh-CN" dirty="0"/>
              <a:t>     </a:t>
            </a:r>
            <a:r>
              <a:rPr lang="en-US" altLang="zh-CN" dirty="0" err="1" smtClean="0"/>
              <a:t>Years_of_emp</a:t>
            </a:r>
            <a:r>
              <a:rPr lang="en-US" altLang="zh-CN" dirty="0" smtClean="0"/>
              <a:t>           </a:t>
            </a:r>
            <a:r>
              <a:rPr lang="en-US" altLang="zh-CN" dirty="0"/>
              <a:t>Salary </a:t>
            </a:r>
          </a:p>
          <a:p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27652" name="Line 4"/>
          <p:cNvSpPr>
            <a:spLocks noChangeShapeType="1"/>
          </p:cNvSpPr>
          <p:nvPr/>
        </p:nvSpPr>
        <p:spPr bwMode="auto">
          <a:xfrm>
            <a:off x="5378547" y="152823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4" name="Line 6"/>
          <p:cNvSpPr>
            <a:spLocks noChangeShapeType="1"/>
          </p:cNvSpPr>
          <p:nvPr/>
        </p:nvSpPr>
        <p:spPr bwMode="auto">
          <a:xfrm>
            <a:off x="2600708" y="4988432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1593242" y="268906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51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838200"/>
          </a:xfrm>
        </p:spPr>
        <p:txBody>
          <a:bodyPr/>
          <a:lstStyle/>
          <a:p>
            <a:r>
              <a:rPr lang="zh-CN" altLang="en-US" sz="4000" dirty="0" smtClean="0"/>
              <a:t>确定函数依赖</a:t>
            </a:r>
            <a:r>
              <a:rPr lang="en-US" altLang="zh-CN" sz="4000" dirty="0" smtClean="0">
                <a:ea typeface="宋体" panose="02010600030101010101" pitchFamily="2" charset="-122"/>
              </a:rPr>
              <a:t>(2)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00188"/>
            <a:ext cx="8686800" cy="5182714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>
                <a:ea typeface="宋体" panose="02010600030101010101" pitchFamily="2" charset="-122"/>
              </a:rPr>
              <a:t>分析属性间的语义关系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</a:rPr>
              <a:t>      Addresses(City, Street, </a:t>
            </a:r>
            <a:r>
              <a:rPr lang="en-US" altLang="zh-CN" dirty="0" err="1" smtClean="0">
                <a:ea typeface="宋体" panose="02010600030101010101" pitchFamily="2" charset="-122"/>
              </a:rPr>
              <a:t>Zipcode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</a:t>
            </a:r>
            <a:r>
              <a:rPr lang="en-US" altLang="zh-CN" dirty="0" err="1" smtClean="0">
                <a:ea typeface="宋体" panose="02010600030101010101" pitchFamily="2" charset="-122"/>
              </a:rPr>
              <a:t>Zipcode</a:t>
            </a:r>
            <a:r>
              <a:rPr lang="en-US" altLang="zh-CN" dirty="0" smtClean="0">
                <a:ea typeface="宋体" panose="02010600030101010101" pitchFamily="2" charset="-122"/>
              </a:rPr>
              <a:t>          City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zh-CN" altLang="en-US" dirty="0" smtClean="0">
                <a:solidFill>
                  <a:schemeClr val="accent1"/>
                </a:solidFill>
                <a:ea typeface="宋体" panose="02010600030101010101" pitchFamily="2" charset="-122"/>
              </a:rPr>
              <a:t>从已知的数据依赖推导出新的依赖</a:t>
            </a:r>
            <a:endParaRPr lang="en-US" altLang="zh-CN" dirty="0" smtClean="0">
              <a:solidFill>
                <a:schemeClr val="accent1"/>
              </a:solidFill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Let R(A, B, C),   F = {A        B, B        C}.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A         C can be derived from F. </a:t>
            </a:r>
          </a:p>
          <a:p>
            <a:pPr>
              <a:buNone/>
            </a:pPr>
            <a:r>
              <a:rPr lang="en-US" altLang="zh-CN" i="1" dirty="0" smtClean="0">
                <a:sym typeface="Calibri" pitchFamily="34" charset="0"/>
              </a:rPr>
              <a:t>    </a:t>
            </a:r>
            <a:r>
              <a:rPr lang="en-US" altLang="zh-CN" i="1" dirty="0" smtClean="0">
                <a:solidFill>
                  <a:srgbClr val="FF0000"/>
                </a:solidFill>
                <a:sym typeface="Calibri" pitchFamily="34" charset="0"/>
              </a:rPr>
              <a:t>A</a:t>
            </a:r>
            <a:r>
              <a:rPr lang="en-US" altLang="zh-CN" dirty="0" smtClean="0">
                <a:solidFill>
                  <a:srgbClr val="FF0000"/>
                </a:solidFill>
                <a:sym typeface="Calibri" pitchFamily="34" charset="0"/>
              </a:rPr>
              <a:t>→C</a:t>
            </a:r>
            <a:r>
              <a:rPr lang="en-US" altLang="zh-CN" i="1" dirty="0" smtClean="0">
                <a:solidFill>
                  <a:srgbClr val="FF0000"/>
                </a:solidFill>
                <a:sym typeface="Calibri" pitchFamily="34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sym typeface="Calibri" pitchFamily="34" charset="0"/>
              </a:rPr>
              <a:t>为</a:t>
            </a:r>
            <a:r>
              <a:rPr lang="en-US" altLang="zh-CN" i="1" dirty="0">
                <a:solidFill>
                  <a:srgbClr val="FF0000"/>
                </a:solidFill>
                <a:sym typeface="Calibri" pitchFamily="34" charset="0"/>
              </a:rPr>
              <a:t>F</a:t>
            </a:r>
            <a:r>
              <a:rPr lang="zh-CN" altLang="en-US" dirty="0">
                <a:solidFill>
                  <a:srgbClr val="FF0000"/>
                </a:solidFill>
                <a:sym typeface="Calibri" pitchFamily="34" charset="0"/>
              </a:rPr>
              <a:t>所</a:t>
            </a:r>
            <a:r>
              <a:rPr lang="zh-CN" altLang="en-US" dirty="0" smtClean="0">
                <a:solidFill>
                  <a:srgbClr val="FF0000"/>
                </a:solidFill>
                <a:sym typeface="Calibri" pitchFamily="34" charset="0"/>
              </a:rPr>
              <a:t>蕴涵</a:t>
            </a:r>
            <a:endParaRPr lang="en-US" altLang="zh-CN" dirty="0" smtClean="0">
              <a:solidFill>
                <a:srgbClr val="FF0000"/>
              </a:solidFill>
              <a:sym typeface="Calibri" pitchFamily="34" charset="0"/>
            </a:endParaRPr>
          </a:p>
          <a:p>
            <a:pPr>
              <a:buNone/>
            </a:pPr>
            <a:endParaRPr lang="en-US" altLang="zh-CN" dirty="0">
              <a:ea typeface="宋体" panose="02010600030101010101" pitchFamily="2" charset="-122"/>
              <a:sym typeface="Calibri" pitchFamily="34" charset="0"/>
            </a:endParaRPr>
          </a:p>
          <a:p>
            <a:pPr>
              <a:buNone/>
            </a:pPr>
            <a:r>
              <a:rPr lang="zh-CN" altLang="en-US" b="1" dirty="0" smtClean="0">
                <a:solidFill>
                  <a:srgbClr val="FF0000"/>
                </a:solidFill>
                <a:ea typeface="宋体" panose="02010600030101010101" pitchFamily="2" charset="-122"/>
                <a:sym typeface="Calibri" pitchFamily="34" charset="0"/>
              </a:rPr>
              <a:t>基于</a:t>
            </a:r>
            <a:r>
              <a:rPr lang="en-US" altLang="zh-CN" b="1" dirty="0" smtClean="0">
                <a:solidFill>
                  <a:srgbClr val="FF0000"/>
                </a:solidFill>
                <a:ea typeface="宋体" panose="02010600030101010101" pitchFamily="2" charset="-122"/>
                <a:sym typeface="Calibri" pitchFamily="34" charset="0"/>
              </a:rPr>
              <a:t>F</a:t>
            </a:r>
            <a:r>
              <a:rPr lang="zh-CN" altLang="en-US" b="1" dirty="0" smtClean="0">
                <a:solidFill>
                  <a:srgbClr val="FF0000"/>
                </a:solidFill>
                <a:ea typeface="宋体" panose="02010600030101010101" pitchFamily="2" charset="-122"/>
                <a:sym typeface="Calibri" pitchFamily="34" charset="0"/>
              </a:rPr>
              <a:t>所蕴含的关系，可以确定所有的函数依赖，可以确定码。</a:t>
            </a:r>
            <a:endParaRPr lang="en-US" altLang="zh-CN" b="1" dirty="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9700" name="Line 4"/>
          <p:cNvSpPr>
            <a:spLocks noChangeShapeType="1"/>
          </p:cNvSpPr>
          <p:nvPr/>
        </p:nvSpPr>
        <p:spPr bwMode="auto">
          <a:xfrm>
            <a:off x="2535879" y="2620152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3" name="Line 7"/>
          <p:cNvSpPr>
            <a:spLocks noChangeShapeType="1"/>
          </p:cNvSpPr>
          <p:nvPr/>
        </p:nvSpPr>
        <p:spPr bwMode="auto">
          <a:xfrm>
            <a:off x="3571132" y="402699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4" name="Line 8"/>
          <p:cNvSpPr>
            <a:spLocks noChangeShapeType="1"/>
          </p:cNvSpPr>
          <p:nvPr/>
        </p:nvSpPr>
        <p:spPr bwMode="auto">
          <a:xfrm>
            <a:off x="1188419" y="445288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5" name="Line 9"/>
          <p:cNvSpPr>
            <a:spLocks noChangeShapeType="1"/>
          </p:cNvSpPr>
          <p:nvPr/>
        </p:nvSpPr>
        <p:spPr bwMode="auto">
          <a:xfrm>
            <a:off x="4756836" y="402699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78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75684"/>
            <a:ext cx="9144000" cy="1143000"/>
          </a:xfrm>
        </p:spPr>
        <p:txBody>
          <a:bodyPr/>
          <a:lstStyle/>
          <a:p>
            <a:r>
              <a:rPr lang="zh-CN" altLang="en-US" sz="4000" dirty="0" smtClean="0"/>
              <a:t>确定函数依赖</a:t>
            </a:r>
            <a:r>
              <a:rPr lang="en-US" altLang="zh-CN" sz="4000" dirty="0" smtClean="0">
                <a:ea typeface="宋体" panose="02010600030101010101" pitchFamily="2" charset="-122"/>
              </a:rPr>
              <a:t>(3)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4650" y="1612371"/>
            <a:ext cx="8229600" cy="4576762"/>
          </a:xfrm>
        </p:spPr>
        <p:txBody>
          <a:bodyPr>
            <a:normAutofit/>
          </a:bodyPr>
          <a:lstStyle/>
          <a:p>
            <a:r>
              <a:rPr lang="zh-CN" altLang="en-US" dirty="0">
                <a:ea typeface="宋体" panose="02010600030101010101" pitchFamily="2" charset="-122"/>
                <a:sym typeface="Calibri" pitchFamily="34" charset="0"/>
              </a:rPr>
              <a:t>在关系模式</a:t>
            </a:r>
            <a:r>
              <a:rPr lang="en-US" altLang="zh-CN" dirty="0">
                <a:ea typeface="宋体" panose="02010600030101010101" pitchFamily="2" charset="-122"/>
                <a:sym typeface="Calibri" pitchFamily="34" charset="0"/>
              </a:rPr>
              <a:t>R&lt;U</a:t>
            </a:r>
            <a:r>
              <a:rPr lang="zh-CN" altLang="en-US" dirty="0">
                <a:ea typeface="宋体" panose="02010600030101010101" pitchFamily="2" charset="-122"/>
                <a:sym typeface="Calibri" pitchFamily="34" charset="0"/>
              </a:rPr>
              <a:t>,</a:t>
            </a:r>
            <a:r>
              <a:rPr lang="en-US" altLang="zh-CN" dirty="0">
                <a:ea typeface="宋体" panose="02010600030101010101" pitchFamily="2" charset="-122"/>
                <a:sym typeface="Calibri" pitchFamily="34" charset="0"/>
              </a:rPr>
              <a:t>F&gt;</a:t>
            </a:r>
            <a:r>
              <a:rPr lang="zh-CN" altLang="en-US" dirty="0">
                <a:ea typeface="宋体" panose="02010600030101010101" pitchFamily="2" charset="-122"/>
                <a:sym typeface="Calibri" pitchFamily="34" charset="0"/>
              </a:rPr>
              <a:t>中为</a:t>
            </a:r>
            <a:r>
              <a:rPr lang="en-US" altLang="zh-CN" dirty="0">
                <a:ea typeface="宋体" panose="02010600030101010101" pitchFamily="2" charset="-122"/>
                <a:sym typeface="Calibri" pitchFamily="34" charset="0"/>
              </a:rPr>
              <a:t>F</a:t>
            </a:r>
            <a:r>
              <a:rPr lang="zh-CN" altLang="en-US" dirty="0">
                <a:ea typeface="宋体" panose="02010600030101010101" pitchFamily="2" charset="-122"/>
                <a:sym typeface="Calibri" pitchFamily="34" charset="0"/>
              </a:rPr>
              <a:t>所逻辑蕴涵的函数依赖的全体叫作</a:t>
            </a:r>
            <a:r>
              <a:rPr lang="en-US" altLang="zh-CN" dirty="0">
                <a:ea typeface="宋体" panose="02010600030101010101" pitchFamily="2" charset="-122"/>
                <a:sym typeface="Calibri" pitchFamily="34" charset="0"/>
              </a:rPr>
              <a:t>F</a:t>
            </a:r>
            <a:r>
              <a:rPr lang="zh-CN" altLang="en-US" dirty="0">
                <a:ea typeface="宋体" panose="02010600030101010101" pitchFamily="2" charset="-122"/>
                <a:sym typeface="Calibri" pitchFamily="34" charset="0"/>
              </a:rPr>
              <a:t>的</a:t>
            </a:r>
            <a:r>
              <a:rPr lang="zh-CN" altLang="en-US" dirty="0" smtClean="0">
                <a:solidFill>
                  <a:srgbClr val="FF0000"/>
                </a:solidFill>
                <a:ea typeface="宋体" panose="02010600030101010101" pitchFamily="2" charset="-122"/>
                <a:sym typeface="Calibri" pitchFamily="34" charset="0"/>
              </a:rPr>
              <a:t>闭包（</a:t>
            </a:r>
            <a:r>
              <a:rPr lang="en-US" altLang="zh-CN" dirty="0" smtClean="0">
                <a:solidFill>
                  <a:srgbClr val="FF0000"/>
                </a:solidFill>
                <a:ea typeface="宋体" panose="02010600030101010101" pitchFamily="2" charset="-122"/>
                <a:sym typeface="Calibri" pitchFamily="34" charset="0"/>
              </a:rPr>
              <a:t>closure</a:t>
            </a:r>
            <a:r>
              <a:rPr lang="zh-CN" altLang="en-US" dirty="0" smtClean="0">
                <a:solidFill>
                  <a:srgbClr val="FF0000"/>
                </a:solidFill>
                <a:ea typeface="宋体" panose="02010600030101010101" pitchFamily="2" charset="-122"/>
                <a:sym typeface="Calibri" pitchFamily="34" charset="0"/>
              </a:rPr>
              <a:t>），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  <a:sym typeface="Calibri" pitchFamily="34" charset="0"/>
              </a:rPr>
              <a:t>记</a:t>
            </a:r>
            <a:r>
              <a:rPr lang="zh-CN" altLang="en-US" dirty="0" smtClean="0">
                <a:solidFill>
                  <a:srgbClr val="FF0000"/>
                </a:solidFill>
                <a:ea typeface="宋体" panose="02010600030101010101" pitchFamily="2" charset="-122"/>
                <a:sym typeface="Calibri" pitchFamily="34" charset="0"/>
              </a:rPr>
              <a:t>为</a:t>
            </a:r>
            <a:r>
              <a:rPr lang="en-US" altLang="zh-CN" i="1" dirty="0">
                <a:solidFill>
                  <a:srgbClr val="FF0000"/>
                </a:solidFill>
                <a:sym typeface="Calibri" pitchFamily="34" charset="0"/>
              </a:rPr>
              <a:t>F</a:t>
            </a:r>
            <a:r>
              <a:rPr lang="en-US" altLang="zh-CN" baseline="30000" dirty="0">
                <a:solidFill>
                  <a:srgbClr val="FF0000"/>
                </a:solidFill>
                <a:sym typeface="Calibri" pitchFamily="34" charset="0"/>
              </a:rPr>
              <a:t> + </a:t>
            </a:r>
            <a:r>
              <a:rPr lang="zh-CN" altLang="en-US" dirty="0" smtClean="0">
                <a:ea typeface="宋体" panose="02010600030101010101" pitchFamily="2" charset="-122"/>
                <a:sym typeface="Calibri" pitchFamily="34" charset="0"/>
              </a:rPr>
              <a:t>。</a:t>
            </a:r>
            <a:endParaRPr lang="en-US" altLang="zh-CN" dirty="0" smtClean="0">
              <a:ea typeface="宋体" panose="02010600030101010101" pitchFamily="2" charset="-122"/>
              <a:sym typeface="Calibri" pitchFamily="34" charset="0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74650" y="2565400"/>
            <a:ext cx="86868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>
                <a:ea typeface="宋体" panose="02010600030101010101" pitchFamily="2" charset="-122"/>
              </a:rPr>
              <a:t>A BIG F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may be derived from a small F.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Example: For R(A, B, C) and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       F = {A        B,  B         C}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F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= { A         B,  B          C,  A         C,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  A        </a:t>
            </a:r>
            <a:r>
              <a:rPr lang="en-US" altLang="zh-CN" dirty="0" err="1" smtClean="0">
                <a:ea typeface="宋体" panose="02010600030101010101" pitchFamily="2" charset="-122"/>
              </a:rPr>
              <a:t>A</a:t>
            </a:r>
            <a:r>
              <a:rPr lang="en-US" altLang="zh-CN" dirty="0" smtClean="0">
                <a:ea typeface="宋体" panose="02010600030101010101" pitchFamily="2" charset="-122"/>
              </a:rPr>
              <a:t>,  B         </a:t>
            </a:r>
            <a:r>
              <a:rPr lang="en-US" altLang="zh-CN" dirty="0" err="1" smtClean="0">
                <a:ea typeface="宋体" panose="02010600030101010101" pitchFamily="2" charset="-122"/>
              </a:rPr>
              <a:t>B</a:t>
            </a:r>
            <a:r>
              <a:rPr lang="en-US" altLang="zh-CN" dirty="0" smtClean="0">
                <a:ea typeface="宋体" panose="02010600030101010101" pitchFamily="2" charset="-122"/>
              </a:rPr>
              <a:t>,  C         </a:t>
            </a:r>
            <a:r>
              <a:rPr lang="en-US" altLang="zh-CN" dirty="0" err="1" smtClean="0">
                <a:ea typeface="宋体" panose="02010600030101010101" pitchFamily="2" charset="-122"/>
              </a:rPr>
              <a:t>C</a:t>
            </a:r>
            <a:r>
              <a:rPr lang="en-US" altLang="zh-CN" dirty="0" smtClean="0">
                <a:ea typeface="宋体" panose="02010600030101010101" pitchFamily="2" charset="-122"/>
              </a:rPr>
              <a:t>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 AB       </a:t>
            </a:r>
            <a:r>
              <a:rPr lang="en-US" altLang="zh-CN" dirty="0" err="1" smtClean="0">
                <a:ea typeface="宋体" panose="02010600030101010101" pitchFamily="2" charset="-122"/>
              </a:rPr>
              <a:t>AB</a:t>
            </a:r>
            <a:r>
              <a:rPr lang="en-US" altLang="zh-CN" dirty="0" smtClean="0">
                <a:ea typeface="宋体" panose="02010600030101010101" pitchFamily="2" charset="-122"/>
              </a:rPr>
              <a:t>,  AB        A, AB        B, ... } </a:t>
            </a:r>
          </a:p>
          <a:p>
            <a:pPr>
              <a:buNone/>
            </a:pPr>
            <a:endParaRPr lang="en-US" altLang="zh-CN" i="1" dirty="0" smtClean="0">
              <a:solidFill>
                <a:srgbClr val="FF0000"/>
              </a:solidFill>
              <a:sym typeface="Calibri" pitchFamily="34" charset="0"/>
            </a:endParaRPr>
          </a:p>
          <a:p>
            <a:pPr>
              <a:buNone/>
            </a:pPr>
            <a:r>
              <a:rPr lang="en-US" altLang="zh-CN" i="1" dirty="0">
                <a:solidFill>
                  <a:srgbClr val="FF0000"/>
                </a:solidFill>
                <a:sym typeface="Calibri" pitchFamily="34" charset="0"/>
              </a:rPr>
              <a:t> </a:t>
            </a:r>
            <a:r>
              <a:rPr lang="en-US" altLang="zh-CN" i="1" dirty="0" smtClean="0">
                <a:solidFill>
                  <a:srgbClr val="FF0000"/>
                </a:solidFill>
                <a:sym typeface="Calibri" pitchFamily="34" charset="0"/>
              </a:rPr>
              <a:t> F</a:t>
            </a:r>
            <a:r>
              <a:rPr lang="en-US" altLang="zh-CN" baseline="30000" dirty="0" smtClean="0">
                <a:solidFill>
                  <a:srgbClr val="FF0000"/>
                </a:solidFill>
                <a:sym typeface="Calibri" pitchFamily="34" charset="0"/>
              </a:rPr>
              <a:t> </a:t>
            </a:r>
            <a:r>
              <a:rPr lang="en-US" altLang="zh-CN" baseline="30000" dirty="0">
                <a:solidFill>
                  <a:srgbClr val="FF0000"/>
                </a:solidFill>
                <a:sym typeface="Calibri" pitchFamily="34" charset="0"/>
              </a:rPr>
              <a:t>+</a:t>
            </a:r>
            <a:r>
              <a:rPr lang="zh-CN" altLang="en-US" dirty="0" smtClean="0">
                <a:solidFill>
                  <a:srgbClr val="FF0000"/>
                </a:solidFill>
                <a:ea typeface="宋体" panose="02010600030101010101" pitchFamily="2" charset="-122"/>
              </a:rPr>
              <a:t>是个很大的集合，如何推理？</a:t>
            </a:r>
            <a:r>
              <a:rPr lang="en-US" altLang="zh-CN" dirty="0" smtClean="0">
                <a:solidFill>
                  <a:srgbClr val="FF0000"/>
                </a:solidFill>
                <a:ea typeface="宋体" panose="02010600030101010101" pitchFamily="2" charset="-122"/>
              </a:rPr>
              <a:t>Armstrong</a:t>
            </a:r>
            <a:r>
              <a:rPr lang="zh-CN" altLang="en-US" dirty="0" smtClean="0">
                <a:solidFill>
                  <a:srgbClr val="FF0000"/>
                </a:solidFill>
                <a:ea typeface="宋体" panose="02010600030101010101" pitchFamily="2" charset="-122"/>
              </a:rPr>
              <a:t>公理</a:t>
            </a:r>
            <a:endParaRPr lang="en-US" altLang="zh-CN" dirty="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4003675" y="382640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2736850" y="382640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1581679" y="4306359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3041650" y="4326852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3346450" y="534299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1751013" y="534299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3001433" y="486198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4379383" y="486198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1648355" y="486198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4379383" y="4313239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4834996" y="534299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50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计算</a:t>
            </a:r>
            <a:r>
              <a:rPr lang="en-US" altLang="zh-CN" dirty="0" smtClean="0">
                <a:ea typeface="宋体" panose="02010600030101010101" pitchFamily="2" charset="-122"/>
              </a:rPr>
              <a:t>F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(1)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6101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>
                <a:sym typeface="Calibri" pitchFamily="34" charset="0"/>
              </a:rPr>
              <a:t>Armstrong</a:t>
            </a:r>
            <a:r>
              <a:rPr lang="zh-CN" altLang="en-US" dirty="0">
                <a:sym typeface="Calibri" pitchFamily="34" charset="0"/>
              </a:rPr>
              <a:t>公理系统</a:t>
            </a:r>
            <a:r>
              <a:rPr lang="en-US" altLang="zh-CN" dirty="0" smtClean="0">
                <a:ea typeface="宋体" panose="02010600030101010101" pitchFamily="2" charset="-122"/>
              </a:rPr>
              <a:t>(1974): </a:t>
            </a: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sym typeface="Calibri" pitchFamily="34" charset="0"/>
              </a:rPr>
              <a:t>A</a:t>
            </a:r>
            <a:r>
              <a:rPr lang="zh-CN" altLang="en-US" dirty="0">
                <a:sym typeface="Calibri" pitchFamily="34" charset="0"/>
              </a:rPr>
              <a:t>1 自反律（</a:t>
            </a:r>
            <a:r>
              <a:rPr lang="en-US" altLang="zh-CN" dirty="0">
                <a:sym typeface="Calibri" pitchFamily="34" charset="0"/>
              </a:rPr>
              <a:t>reflexivity</a:t>
            </a:r>
            <a:r>
              <a:rPr lang="zh-CN" altLang="en-US" dirty="0">
                <a:sym typeface="Calibri" pitchFamily="34" charset="0"/>
              </a:rPr>
              <a:t> </a:t>
            </a:r>
            <a:r>
              <a:rPr lang="en-US" altLang="zh-CN" dirty="0">
                <a:sym typeface="Calibri" pitchFamily="34" charset="0"/>
              </a:rPr>
              <a:t>rule</a:t>
            </a:r>
            <a:r>
              <a:rPr lang="zh-CN" altLang="en-US" dirty="0">
                <a:sym typeface="Calibri" pitchFamily="34" charset="0"/>
              </a:rPr>
              <a:t>）：若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i="1" dirty="0">
                <a:sym typeface="Calibri" pitchFamily="34" charset="0"/>
              </a:rPr>
              <a:t>U</a:t>
            </a:r>
            <a:r>
              <a:rPr lang="zh-CN" altLang="en-US" dirty="0">
                <a:sym typeface="Calibri" pitchFamily="34" charset="0"/>
              </a:rPr>
              <a:t>，则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 →</a:t>
            </a:r>
            <a:r>
              <a:rPr lang="en-US" altLang="zh-CN" i="1" dirty="0">
                <a:sym typeface="Calibri" pitchFamily="34" charset="0"/>
              </a:rPr>
              <a:t>Y </a:t>
            </a:r>
            <a:r>
              <a:rPr lang="zh-CN" altLang="en-US" dirty="0">
                <a:sym typeface="Calibri" pitchFamily="34" charset="0"/>
              </a:rPr>
              <a:t>为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所蕴涵。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sym typeface="Calibri" pitchFamily="34" charset="0"/>
              </a:rPr>
              <a:t>A2</a:t>
            </a:r>
            <a:r>
              <a:rPr lang="zh-CN" altLang="en-US" dirty="0">
                <a:sym typeface="Calibri" pitchFamily="34" charset="0"/>
              </a:rPr>
              <a:t> 增广律（</a:t>
            </a:r>
            <a:r>
              <a:rPr lang="en-US" altLang="zh-CN" dirty="0">
                <a:sym typeface="Calibri" pitchFamily="34" charset="0"/>
              </a:rPr>
              <a:t>augmentation</a:t>
            </a:r>
            <a:r>
              <a:rPr lang="zh-CN" altLang="en-US" dirty="0">
                <a:sym typeface="Calibri" pitchFamily="34" charset="0"/>
              </a:rPr>
              <a:t> </a:t>
            </a:r>
            <a:r>
              <a:rPr lang="en-US" altLang="zh-CN" dirty="0">
                <a:sym typeface="Calibri" pitchFamily="34" charset="0"/>
              </a:rPr>
              <a:t>rule</a:t>
            </a:r>
            <a:r>
              <a:rPr lang="zh-CN" altLang="en-US" dirty="0">
                <a:sym typeface="Calibri" pitchFamily="34" charset="0"/>
              </a:rPr>
              <a:t>）：若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为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所蕴涵，且</a:t>
            </a:r>
            <a:r>
              <a:rPr lang="en-US" altLang="zh-CN" i="1" dirty="0">
                <a:sym typeface="Calibri" pitchFamily="34" charset="0"/>
              </a:rPr>
              <a:t>Z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i="1" dirty="0">
                <a:sym typeface="Calibri" pitchFamily="34" charset="0"/>
              </a:rPr>
              <a:t>U</a:t>
            </a:r>
            <a:r>
              <a:rPr lang="zh-CN" altLang="en-US" dirty="0">
                <a:sym typeface="Calibri" pitchFamily="34" charset="0"/>
              </a:rPr>
              <a:t>，则</a:t>
            </a:r>
            <a:r>
              <a:rPr lang="en-US" altLang="zh-CN" i="1" dirty="0">
                <a:sym typeface="Calibri" pitchFamily="34" charset="0"/>
              </a:rPr>
              <a:t>XZ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YZ </a:t>
            </a:r>
            <a:r>
              <a:rPr lang="zh-CN" altLang="en-US" dirty="0">
                <a:sym typeface="Calibri" pitchFamily="34" charset="0"/>
              </a:rPr>
              <a:t>为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所蕴涵</a:t>
            </a:r>
            <a:r>
              <a:rPr lang="zh-CN" altLang="en-US" dirty="0" smtClean="0">
                <a:sym typeface="Calibri" pitchFamily="34" charset="0"/>
              </a:rPr>
              <a:t>。</a:t>
            </a:r>
            <a:endParaRPr lang="en-US" altLang="zh-CN" dirty="0" smtClean="0">
              <a:sym typeface="Calibri" pitchFamily="34" charset="0"/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</a:pPr>
            <a:endParaRPr lang="zh-CN" altLang="en-US" dirty="0">
              <a:sym typeface="Calibri" pitchFamily="34" charset="0"/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sym typeface="Calibri" pitchFamily="34" charset="0"/>
              </a:rPr>
              <a:t>A3</a:t>
            </a:r>
            <a:r>
              <a:rPr lang="zh-CN" altLang="en-US" dirty="0">
                <a:sym typeface="Calibri" pitchFamily="34" charset="0"/>
              </a:rPr>
              <a:t> 传递律（</a:t>
            </a:r>
            <a:r>
              <a:rPr lang="en-US" altLang="zh-CN" dirty="0">
                <a:sym typeface="Calibri" pitchFamily="34" charset="0"/>
              </a:rPr>
              <a:t>transitivity</a:t>
            </a:r>
            <a:r>
              <a:rPr lang="zh-CN" altLang="en-US" dirty="0">
                <a:sym typeface="Calibri" pitchFamily="34" charset="0"/>
              </a:rPr>
              <a:t> </a:t>
            </a:r>
            <a:r>
              <a:rPr lang="en-US" altLang="zh-CN" dirty="0">
                <a:sym typeface="Calibri" pitchFamily="34" charset="0"/>
              </a:rPr>
              <a:t>rule</a:t>
            </a:r>
            <a:r>
              <a:rPr lang="zh-CN" altLang="en-US" dirty="0">
                <a:sym typeface="Calibri" pitchFamily="34" charset="0"/>
              </a:rPr>
              <a:t>）：若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及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Z</a:t>
            </a:r>
            <a:r>
              <a:rPr lang="zh-CN" altLang="en-US" dirty="0">
                <a:sym typeface="Calibri" pitchFamily="34" charset="0"/>
              </a:rPr>
              <a:t>为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所蕴涵，则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Z </a:t>
            </a:r>
            <a:r>
              <a:rPr lang="zh-CN" altLang="en-US" dirty="0">
                <a:sym typeface="Calibri" pitchFamily="34" charset="0"/>
              </a:rPr>
              <a:t>为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所蕴涵</a:t>
            </a:r>
            <a:r>
              <a:rPr lang="zh-CN" altLang="en-US" dirty="0" smtClean="0">
                <a:sym typeface="Calibri" pitchFamily="34" charset="0"/>
              </a:rPr>
              <a:t>。</a:t>
            </a:r>
            <a:endParaRPr lang="zh-CN" altLang="en-US" dirty="0"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386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00113"/>
          </a:xfrm>
        </p:spPr>
        <p:txBody>
          <a:bodyPr/>
          <a:lstStyle/>
          <a:p>
            <a:r>
              <a:rPr lang="zh-CN" altLang="en-US" dirty="0"/>
              <a:t>计算</a:t>
            </a:r>
            <a:r>
              <a:rPr lang="en-US" altLang="zh-CN" dirty="0" smtClean="0">
                <a:ea typeface="宋体" panose="02010600030101010101" pitchFamily="2" charset="-122"/>
              </a:rPr>
              <a:t>F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(2) 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799"/>
            <a:ext cx="8382000" cy="5274013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25000"/>
              </a:lnSpc>
              <a:buFont typeface="Wingdings" pitchFamily="2" charset="2"/>
              <a:buChar char="v"/>
            </a:pPr>
            <a:r>
              <a:rPr lang="zh-CN" altLang="en-US" dirty="0" smtClean="0">
                <a:sym typeface="Calibri" pitchFamily="34" charset="0"/>
              </a:rPr>
              <a:t>根据</a:t>
            </a:r>
            <a:r>
              <a:rPr lang="en-US" altLang="zh-CN" dirty="0">
                <a:sym typeface="Calibri" pitchFamily="34" charset="0"/>
              </a:rPr>
              <a:t>Armstrong</a:t>
            </a:r>
            <a:r>
              <a:rPr lang="zh-CN" altLang="en-US" dirty="0">
                <a:sym typeface="Calibri" pitchFamily="34" charset="0"/>
              </a:rPr>
              <a:t>公理系统</a:t>
            </a:r>
            <a:r>
              <a:rPr lang="zh-CN" altLang="en-US" dirty="0" smtClean="0">
                <a:sym typeface="Calibri" pitchFamily="34" charset="0"/>
              </a:rPr>
              <a:t>三</a:t>
            </a:r>
            <a:r>
              <a:rPr lang="zh-CN" altLang="en-US" dirty="0">
                <a:sym typeface="Calibri" pitchFamily="34" charset="0"/>
              </a:rPr>
              <a:t>条推理规则可以得到下面三条推理规则：</a:t>
            </a:r>
            <a:endParaRPr lang="zh-CN" altLang="en-US" sz="3200" dirty="0">
              <a:sym typeface="Calibri" pitchFamily="34" charset="0"/>
            </a:endParaRPr>
          </a:p>
          <a:p>
            <a:pPr marL="742950" lvl="1" indent="-285750">
              <a:lnSpc>
                <a:spcPct val="125000"/>
              </a:lnSpc>
            </a:pPr>
            <a:r>
              <a:rPr lang="zh-CN" altLang="en-US" dirty="0">
                <a:sym typeface="Calibri" pitchFamily="34" charset="0"/>
              </a:rPr>
              <a:t> 合并规则（</a:t>
            </a:r>
            <a:r>
              <a:rPr lang="en-US" altLang="zh-CN" dirty="0">
                <a:sym typeface="Calibri" pitchFamily="34" charset="0"/>
              </a:rPr>
              <a:t>union rule</a:t>
            </a:r>
            <a:r>
              <a:rPr lang="zh-CN" altLang="en-US" dirty="0">
                <a:sym typeface="Calibri" pitchFamily="34" charset="0"/>
              </a:rPr>
              <a:t>）：</a:t>
            </a:r>
            <a:endParaRPr lang="en-US" altLang="zh-CN" dirty="0">
              <a:sym typeface="Calibri" pitchFamily="34" charset="0"/>
            </a:endParaRPr>
          </a:p>
          <a:p>
            <a:pPr marL="914400" lvl="2" indent="0">
              <a:lnSpc>
                <a:spcPct val="125000"/>
              </a:lnSpc>
              <a:buNone/>
            </a:pPr>
            <a:r>
              <a:rPr lang="zh-CN" altLang="en-US" dirty="0">
                <a:sym typeface="Calibri" pitchFamily="34" charset="0"/>
              </a:rPr>
              <a:t>由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Z</a:t>
            </a:r>
            <a:r>
              <a:rPr lang="zh-CN" altLang="en-US" dirty="0">
                <a:sym typeface="Calibri" pitchFamily="34" charset="0"/>
              </a:rPr>
              <a:t>，有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YZ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zh-CN" altLang="en-US" sz="2600" dirty="0">
              <a:sym typeface="Calibri" pitchFamily="34" charset="0"/>
            </a:endParaRPr>
          </a:p>
          <a:p>
            <a:pPr marL="742950" lvl="1" indent="-285750">
              <a:lnSpc>
                <a:spcPct val="125000"/>
              </a:lnSpc>
            </a:pPr>
            <a:r>
              <a:rPr lang="zh-CN" altLang="en-US" dirty="0">
                <a:sym typeface="Calibri" pitchFamily="34" charset="0"/>
              </a:rPr>
              <a:t> 伪传递规则（</a:t>
            </a:r>
            <a:r>
              <a:rPr lang="en-US" altLang="zh-CN" dirty="0">
                <a:sym typeface="Calibri" pitchFamily="34" charset="0"/>
              </a:rPr>
              <a:t>pseudo transitivity rule</a:t>
            </a:r>
            <a:r>
              <a:rPr lang="zh-CN" altLang="en-US" dirty="0">
                <a:sym typeface="Calibri" pitchFamily="34" charset="0"/>
              </a:rPr>
              <a:t>）：</a:t>
            </a:r>
            <a:endParaRPr lang="en-US" altLang="zh-CN" dirty="0">
              <a:sym typeface="Calibri" pitchFamily="34" charset="0"/>
            </a:endParaRPr>
          </a:p>
          <a:p>
            <a:pPr marL="457200" lvl="1" indent="0">
              <a:lnSpc>
                <a:spcPct val="125000"/>
              </a:lnSpc>
              <a:buNone/>
            </a:pPr>
            <a:r>
              <a:rPr lang="en-US" altLang="zh-CN" dirty="0" smtClean="0">
                <a:sym typeface="Calibri" pitchFamily="34" charset="0"/>
              </a:rPr>
              <a:t>      </a:t>
            </a:r>
            <a:r>
              <a:rPr lang="zh-CN" altLang="en-US" dirty="0" smtClean="0">
                <a:sym typeface="Calibri" pitchFamily="34" charset="0"/>
              </a:rPr>
              <a:t>由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i="1" dirty="0">
                <a:sym typeface="Calibri" pitchFamily="34" charset="0"/>
              </a:rPr>
              <a:t>WY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Z</a:t>
            </a:r>
            <a:r>
              <a:rPr lang="zh-CN" altLang="en-US" dirty="0">
                <a:sym typeface="Calibri" pitchFamily="34" charset="0"/>
              </a:rPr>
              <a:t>，有</a:t>
            </a:r>
            <a:r>
              <a:rPr lang="en-US" altLang="zh-CN" i="1" dirty="0">
                <a:sym typeface="Calibri" pitchFamily="34" charset="0"/>
              </a:rPr>
              <a:t>XW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Z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zh-CN" altLang="en-US" sz="2800" dirty="0">
              <a:sym typeface="Calibri" pitchFamily="34" charset="0"/>
            </a:endParaRPr>
          </a:p>
          <a:p>
            <a:pPr marL="742950" lvl="1" indent="-285750">
              <a:lnSpc>
                <a:spcPct val="125000"/>
              </a:lnSpc>
            </a:pPr>
            <a:r>
              <a:rPr lang="zh-CN" altLang="en-US" dirty="0">
                <a:sym typeface="Calibri" pitchFamily="34" charset="0"/>
              </a:rPr>
              <a:t> 分解规则（</a:t>
            </a:r>
            <a:r>
              <a:rPr lang="en-US" altLang="zh-CN" dirty="0">
                <a:sym typeface="Calibri" pitchFamily="34" charset="0"/>
              </a:rPr>
              <a:t>decomposition rule</a:t>
            </a:r>
            <a:r>
              <a:rPr lang="zh-CN" altLang="en-US" dirty="0">
                <a:sym typeface="Calibri" pitchFamily="34" charset="0"/>
              </a:rPr>
              <a:t>）：</a:t>
            </a:r>
            <a:endParaRPr lang="en-US" altLang="zh-CN" dirty="0">
              <a:sym typeface="Calibri" pitchFamily="34" charset="0"/>
            </a:endParaRPr>
          </a:p>
          <a:p>
            <a:pPr marL="457200" lvl="1" indent="0">
              <a:lnSpc>
                <a:spcPct val="125000"/>
              </a:lnSpc>
              <a:buNone/>
            </a:pPr>
            <a:r>
              <a:rPr lang="zh-CN" altLang="en-US" dirty="0" smtClean="0">
                <a:sym typeface="Calibri" pitchFamily="34" charset="0"/>
              </a:rPr>
              <a:t>      由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及</a:t>
            </a:r>
            <a:r>
              <a:rPr lang="en-US" altLang="zh-CN" i="1" dirty="0">
                <a:sym typeface="Calibri" pitchFamily="34" charset="0"/>
              </a:rPr>
              <a:t>Z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，有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Z</a:t>
            </a:r>
            <a:r>
              <a:rPr lang="zh-CN" altLang="en-US" dirty="0" smtClean="0">
                <a:sym typeface="Calibri" pitchFamily="34" charset="0"/>
              </a:rPr>
              <a:t>。</a:t>
            </a:r>
            <a:endParaRPr lang="en-US" altLang="zh-CN" dirty="0" smtClean="0">
              <a:sym typeface="Calibri" pitchFamily="34" charset="0"/>
            </a:endParaRPr>
          </a:p>
          <a:p>
            <a:pPr marL="457200" lvl="1" indent="0">
              <a:lnSpc>
                <a:spcPct val="125000"/>
              </a:lnSpc>
              <a:buNone/>
            </a:pPr>
            <a:endParaRPr lang="en-US" altLang="zh-CN" dirty="0" smtClean="0">
              <a:sym typeface="Calibri" pitchFamily="34" charset="0"/>
            </a:endParaRPr>
          </a:p>
          <a:p>
            <a:pPr marL="457200" lvl="1" indent="0">
              <a:lnSpc>
                <a:spcPct val="125000"/>
              </a:lnSpc>
              <a:buNone/>
            </a:pPr>
            <a:r>
              <a:rPr lang="en-US" altLang="zh-CN" sz="2800" dirty="0">
                <a:solidFill>
                  <a:srgbClr val="FF0000"/>
                </a:solidFill>
                <a:sym typeface="Calibri" pitchFamily="34" charset="0"/>
              </a:rPr>
              <a:t>Armstrong</a:t>
            </a:r>
            <a:r>
              <a:rPr lang="zh-CN" altLang="en-US" sz="2800" dirty="0">
                <a:solidFill>
                  <a:srgbClr val="FF0000"/>
                </a:solidFill>
                <a:sym typeface="Calibri" pitchFamily="34" charset="0"/>
              </a:rPr>
              <a:t>公理</a:t>
            </a:r>
            <a:r>
              <a:rPr lang="zh-CN" altLang="en-US" sz="2800" dirty="0" smtClean="0">
                <a:solidFill>
                  <a:srgbClr val="FF0000"/>
                </a:solidFill>
                <a:sym typeface="Calibri" pitchFamily="34" charset="0"/>
              </a:rPr>
              <a:t>系统是有效的、完备的</a:t>
            </a:r>
            <a:endParaRPr lang="zh-CN" altLang="en-US" sz="2800" dirty="0">
              <a:solidFill>
                <a:srgbClr val="FF0000"/>
              </a:solidFill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01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Box 3"/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400" b="1">
                <a:solidFill>
                  <a:srgbClr val="95373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*</a:t>
            </a:r>
            <a:endParaRPr lang="zh-CN" altLang="en-US"/>
          </a:p>
        </p:txBody>
      </p:sp>
      <p:sp>
        <p:nvSpPr>
          <p:cNvPr id="97283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zh-CN" sz="1000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9728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30163"/>
            <a:ext cx="8229600" cy="1128713"/>
          </a:xfrm>
        </p:spPr>
        <p:txBody>
          <a:bodyPr/>
          <a:lstStyle/>
          <a:p>
            <a:r>
              <a:rPr lang="zh-CN" altLang="en-US" sz="3600" dirty="0"/>
              <a:t>属性的</a:t>
            </a:r>
            <a:r>
              <a:rPr lang="zh-CN" altLang="en-US" sz="3600" dirty="0" smtClean="0"/>
              <a:t>闭包</a:t>
            </a:r>
            <a:endParaRPr lang="zh-CN" altLang="en-US" sz="3600" dirty="0" smtClean="0">
              <a:sym typeface="微软雅黑" pitchFamily="34" charset="-122"/>
            </a:endParaRPr>
          </a:p>
        </p:txBody>
      </p:sp>
      <p:sp>
        <p:nvSpPr>
          <p:cNvPr id="9728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1339850"/>
            <a:ext cx="8435280" cy="48545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ym typeface="Calibri" pitchFamily="34" charset="0"/>
              </a:rPr>
              <a:t>在关系模式</a:t>
            </a:r>
            <a:r>
              <a:rPr lang="en-US" altLang="zh-CN" i="1" dirty="0" smtClean="0">
                <a:sym typeface="Calibri" pitchFamily="34" charset="0"/>
              </a:rPr>
              <a:t>R</a:t>
            </a:r>
            <a:r>
              <a:rPr lang="en-US" altLang="zh-CN" dirty="0" smtClean="0">
                <a:sym typeface="Calibri" pitchFamily="34" charset="0"/>
              </a:rPr>
              <a:t>&lt;</a:t>
            </a:r>
            <a:r>
              <a:rPr lang="en-US" altLang="zh-CN" i="1" dirty="0" smtClean="0">
                <a:sym typeface="Calibri" pitchFamily="34" charset="0"/>
              </a:rPr>
              <a:t>U</a:t>
            </a:r>
            <a:r>
              <a:rPr lang="zh-CN" altLang="en-US" dirty="0" smtClean="0">
                <a:sym typeface="Calibri" pitchFamily="34" charset="0"/>
              </a:rPr>
              <a:t>,</a:t>
            </a:r>
            <a:r>
              <a:rPr lang="en-US" altLang="zh-CN" i="1" dirty="0" smtClean="0">
                <a:sym typeface="Calibri" pitchFamily="34" charset="0"/>
              </a:rPr>
              <a:t>F</a:t>
            </a:r>
            <a:r>
              <a:rPr lang="en-US" altLang="zh-CN" dirty="0" smtClean="0">
                <a:sym typeface="Calibri" pitchFamily="34" charset="0"/>
              </a:rPr>
              <a:t>&gt;</a:t>
            </a:r>
            <a:r>
              <a:rPr lang="zh-CN" altLang="en-US" dirty="0" smtClean="0">
                <a:sym typeface="Calibri" pitchFamily="34" charset="0"/>
              </a:rPr>
              <a:t>中为</a:t>
            </a:r>
            <a:r>
              <a:rPr lang="en-US" altLang="zh-CN" i="1" dirty="0" smtClean="0">
                <a:sym typeface="Calibri" pitchFamily="34" charset="0"/>
              </a:rPr>
              <a:t>F</a:t>
            </a:r>
            <a:r>
              <a:rPr lang="zh-CN" altLang="en-US" dirty="0" smtClean="0">
                <a:sym typeface="Calibri" pitchFamily="34" charset="0"/>
              </a:rPr>
              <a:t>所逻辑蕴涵的函数依赖的全体叫作</a:t>
            </a:r>
            <a:r>
              <a:rPr lang="en-US" altLang="zh-CN" i="1" dirty="0" smtClean="0">
                <a:sym typeface="Calibri" pitchFamily="34" charset="0"/>
              </a:rPr>
              <a:t>F</a:t>
            </a:r>
            <a:r>
              <a:rPr lang="zh-CN" altLang="en-US" dirty="0" smtClean="0">
                <a:sym typeface="Calibri" pitchFamily="34" charset="0"/>
              </a:rPr>
              <a:t>的闭包，记为</a:t>
            </a:r>
            <a:r>
              <a:rPr lang="en-US" altLang="zh-CN" i="1" dirty="0" smtClean="0">
                <a:sym typeface="Calibri" pitchFamily="34" charset="0"/>
              </a:rPr>
              <a:t>F</a:t>
            </a:r>
            <a:r>
              <a:rPr lang="en-US" altLang="zh-CN" baseline="30000" dirty="0" smtClean="0">
                <a:sym typeface="Calibri" pitchFamily="34" charset="0"/>
              </a:rPr>
              <a:t> +</a:t>
            </a:r>
            <a:r>
              <a:rPr lang="zh-CN" altLang="en-US" dirty="0" smtClean="0">
                <a:sym typeface="Calibri" pitchFamily="34" charset="0"/>
              </a:rPr>
              <a:t>。</a:t>
            </a:r>
          </a:p>
          <a:p>
            <a:pPr>
              <a:lnSpc>
                <a:spcPct val="150000"/>
              </a:lnSpc>
            </a:pPr>
            <a:endParaRPr lang="zh-CN" altLang="en-US" dirty="0" smtClean="0">
              <a:sym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sym typeface="Calibri" pitchFamily="34" charset="0"/>
              </a:rPr>
              <a:t>设</a:t>
            </a:r>
            <a:r>
              <a:rPr lang="en-US" altLang="zh-CN" i="1" dirty="0" smtClean="0">
                <a:sym typeface="Calibri" pitchFamily="34" charset="0"/>
              </a:rPr>
              <a:t>F</a:t>
            </a:r>
            <a:r>
              <a:rPr lang="zh-CN" altLang="en-US" dirty="0" smtClean="0">
                <a:sym typeface="Calibri" pitchFamily="34" charset="0"/>
              </a:rPr>
              <a:t>为属性集</a:t>
            </a:r>
            <a:r>
              <a:rPr lang="en-US" altLang="zh-CN" i="1" dirty="0" smtClean="0">
                <a:sym typeface="Calibri" pitchFamily="34" charset="0"/>
              </a:rPr>
              <a:t>U</a:t>
            </a:r>
            <a:r>
              <a:rPr lang="zh-CN" altLang="en-US" dirty="0" smtClean="0">
                <a:sym typeface="Calibri" pitchFamily="34" charset="0"/>
              </a:rPr>
              <a:t>上的一组函数依赖，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zh-CN" altLang="en-US" i="1" dirty="0" smtClean="0">
                <a:sym typeface="Calibri" pitchFamily="34" charset="0"/>
              </a:rPr>
              <a:t>、</a:t>
            </a:r>
            <a:r>
              <a:rPr lang="en-US" altLang="zh-CN" i="1" dirty="0" smtClean="0">
                <a:sym typeface="Calibri" pitchFamily="34" charset="0"/>
              </a:rPr>
              <a:t>Y</a:t>
            </a:r>
            <a:r>
              <a:rPr lang="en-US" altLang="zh-CN" dirty="0" smtClean="0">
                <a:sym typeface="Calibri" pitchFamily="34" charset="0"/>
              </a:rPr>
              <a:t> </a:t>
            </a:r>
            <a:r>
              <a:rPr lang="en-US" altLang="zh-CN" dirty="0" smtClean="0">
                <a:sym typeface="Symbol" pitchFamily="18" charset="2"/>
              </a:rPr>
              <a:t></a:t>
            </a:r>
            <a:r>
              <a:rPr lang="en-US" altLang="zh-CN" i="1" dirty="0" smtClean="0">
                <a:sym typeface="Calibri" pitchFamily="34" charset="0"/>
              </a:rPr>
              <a:t>U</a:t>
            </a:r>
            <a:r>
              <a:rPr lang="zh-CN" altLang="en-US" dirty="0" smtClean="0">
                <a:sym typeface="Calibri" pitchFamily="34" charset="0"/>
              </a:rPr>
              <a:t>， 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en-US" altLang="zh-CN" i="1" baseline="-25000" dirty="0" smtClean="0">
                <a:sym typeface="Calibri" pitchFamily="34" charset="0"/>
              </a:rPr>
              <a:t>F</a:t>
            </a:r>
            <a:r>
              <a:rPr lang="en-US" altLang="zh-CN" baseline="38000" dirty="0" smtClean="0">
                <a:sym typeface="Calibri" pitchFamily="34" charset="0"/>
              </a:rPr>
              <a:t>+</a:t>
            </a:r>
            <a:r>
              <a:rPr lang="en-US" altLang="zh-CN" dirty="0" smtClean="0">
                <a:sym typeface="Calibri" pitchFamily="34" charset="0"/>
              </a:rPr>
              <a:t>={ </a:t>
            </a:r>
            <a:r>
              <a:rPr lang="en-US" altLang="zh-CN" i="1" dirty="0" smtClean="0">
                <a:sym typeface="Calibri" pitchFamily="34" charset="0"/>
              </a:rPr>
              <a:t>A</a:t>
            </a:r>
            <a:r>
              <a:rPr lang="en-US" altLang="zh-CN" dirty="0" smtClean="0">
                <a:sym typeface="Calibri" pitchFamily="34" charset="0"/>
              </a:rPr>
              <a:t>|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en-US" altLang="zh-CN" dirty="0" smtClean="0">
                <a:sym typeface="Calibri" pitchFamily="34" charset="0"/>
              </a:rPr>
              <a:t>→</a:t>
            </a:r>
            <a:r>
              <a:rPr lang="en-US" altLang="zh-CN" i="1" dirty="0" smtClean="0">
                <a:sym typeface="Calibri" pitchFamily="34" charset="0"/>
              </a:rPr>
              <a:t>A</a:t>
            </a:r>
            <a:r>
              <a:rPr lang="zh-CN" altLang="en-US" dirty="0" smtClean="0">
                <a:sym typeface="Calibri" pitchFamily="34" charset="0"/>
              </a:rPr>
              <a:t>能由</a:t>
            </a:r>
            <a:r>
              <a:rPr lang="en-US" altLang="zh-CN" i="1" dirty="0" smtClean="0">
                <a:sym typeface="Calibri" pitchFamily="34" charset="0"/>
              </a:rPr>
              <a:t>F</a:t>
            </a:r>
            <a:r>
              <a:rPr lang="zh-CN" altLang="en-US" dirty="0" smtClean="0">
                <a:sym typeface="Calibri" pitchFamily="34" charset="0"/>
              </a:rPr>
              <a:t>根据</a:t>
            </a:r>
            <a:r>
              <a:rPr lang="en-US" altLang="zh-CN" dirty="0" smtClean="0">
                <a:sym typeface="Calibri" pitchFamily="34" charset="0"/>
              </a:rPr>
              <a:t>Armstrong</a:t>
            </a:r>
            <a:r>
              <a:rPr lang="zh-CN" altLang="en-US" dirty="0" smtClean="0">
                <a:sym typeface="Calibri" pitchFamily="34" charset="0"/>
              </a:rPr>
              <a:t>公理导出</a:t>
            </a:r>
            <a:r>
              <a:rPr lang="en-US" altLang="zh-CN" dirty="0" smtClean="0">
                <a:sym typeface="Calibri" pitchFamily="34" charset="0"/>
              </a:rPr>
              <a:t>}</a:t>
            </a:r>
            <a:r>
              <a:rPr lang="zh-CN" altLang="en-US" dirty="0" smtClean="0">
                <a:sym typeface="Calibri" pitchFamily="34" charset="0"/>
              </a:rPr>
              <a:t>，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en-US" altLang="zh-CN" i="1" baseline="-25000" dirty="0" smtClean="0">
                <a:sym typeface="Calibri" pitchFamily="34" charset="0"/>
              </a:rPr>
              <a:t>F</a:t>
            </a:r>
            <a:r>
              <a:rPr lang="en-US" altLang="zh-CN" baseline="38000" dirty="0" smtClean="0">
                <a:sym typeface="Calibri" pitchFamily="34" charset="0"/>
              </a:rPr>
              <a:t>+</a:t>
            </a:r>
            <a:r>
              <a:rPr lang="zh-CN" altLang="en-US" dirty="0" smtClean="0">
                <a:sym typeface="Calibri" pitchFamily="34" charset="0"/>
              </a:rPr>
              <a:t>称为</a:t>
            </a:r>
            <a:r>
              <a:rPr lang="zh-CN" altLang="en-US" b="1" dirty="0" smtClean="0">
                <a:sym typeface="Calibri" pitchFamily="34" charset="0"/>
              </a:rPr>
              <a:t>属性集</a:t>
            </a:r>
            <a:r>
              <a:rPr lang="en-US" altLang="zh-CN" b="1" i="1" dirty="0" smtClean="0">
                <a:sym typeface="Calibri" pitchFamily="34" charset="0"/>
              </a:rPr>
              <a:t>X</a:t>
            </a:r>
            <a:r>
              <a:rPr lang="zh-CN" altLang="en-US" b="1" dirty="0" smtClean="0">
                <a:sym typeface="Calibri" pitchFamily="34" charset="0"/>
              </a:rPr>
              <a:t>关于函数依赖集</a:t>
            </a:r>
            <a:r>
              <a:rPr lang="en-US" altLang="zh-CN" b="1" i="1" dirty="0" smtClean="0">
                <a:sym typeface="Calibri" pitchFamily="34" charset="0"/>
              </a:rPr>
              <a:t>F</a:t>
            </a:r>
            <a:r>
              <a:rPr lang="zh-CN" altLang="en-US" b="1" dirty="0" smtClean="0">
                <a:sym typeface="Calibri" pitchFamily="34" charset="0"/>
              </a:rPr>
              <a:t>的闭包</a:t>
            </a:r>
            <a:r>
              <a:rPr lang="zh-CN" altLang="en-US" dirty="0" smtClean="0">
                <a:sym typeface="Calibri" pitchFamily="34" charset="0"/>
              </a:rPr>
              <a:t>。</a:t>
            </a:r>
            <a:endParaRPr lang="zh-CN" altLang="en-US" dirty="0" smtClean="0"/>
          </a:p>
        </p:txBody>
      </p:sp>
      <p:sp>
        <p:nvSpPr>
          <p:cNvPr id="2" name="矩形 1"/>
          <p:cNvSpPr/>
          <p:nvPr/>
        </p:nvSpPr>
        <p:spPr>
          <a:xfrm>
            <a:off x="2779426" y="5640401"/>
            <a:ext cx="2645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 X</a:t>
            </a:r>
            <a:r>
              <a:rPr lang="en-US" altLang="zh-CN" baseline="30000" dirty="0"/>
              <a:t>+</a:t>
            </a:r>
            <a:r>
              <a:rPr lang="en-US" altLang="zh-CN" dirty="0"/>
              <a:t> = { A | X     </a:t>
            </a:r>
            <a:r>
              <a:rPr lang="en-US" altLang="zh-CN" dirty="0" smtClean="0"/>
              <a:t>       </a:t>
            </a:r>
            <a:r>
              <a:rPr lang="en-US" altLang="zh-CN" dirty="0"/>
              <a:t>A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F</a:t>
            </a:r>
            <a:r>
              <a:rPr lang="en-US" altLang="zh-CN" baseline="30000" dirty="0"/>
              <a:t>+</a:t>
            </a:r>
            <a:r>
              <a:rPr lang="en-US" altLang="zh-CN" dirty="0"/>
              <a:t> } </a:t>
            </a:r>
            <a:endParaRPr lang="zh-CN" altLang="en-US" dirty="0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3931180" y="584835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848512" y="6141006"/>
            <a:ext cx="45322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1"/>
                </a:solidFill>
              </a:rPr>
              <a:t>Theorem</a:t>
            </a:r>
            <a:r>
              <a:rPr lang="en-US" altLang="zh-CN" dirty="0"/>
              <a:t>: X      </a:t>
            </a:r>
            <a:r>
              <a:rPr lang="en-US" altLang="zh-CN" dirty="0" smtClean="0"/>
              <a:t>        </a:t>
            </a:r>
            <a:r>
              <a:rPr lang="en-US" altLang="zh-CN" dirty="0"/>
              <a:t>Y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F</a:t>
            </a:r>
            <a:r>
              <a:rPr lang="en-US" altLang="zh-CN" baseline="30000" dirty="0"/>
              <a:t>+</a:t>
            </a:r>
            <a:r>
              <a:rPr lang="en-US" altLang="zh-CN" dirty="0"/>
              <a:t> if and only if Y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X</a:t>
            </a:r>
            <a:r>
              <a:rPr lang="en-US" altLang="zh-CN" baseline="30000" dirty="0"/>
              <a:t>+</a:t>
            </a:r>
            <a:r>
              <a:rPr lang="en-US" altLang="zh-CN" dirty="0"/>
              <a:t>. </a:t>
            </a:r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2090738" y="634895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34541" y="3186430"/>
            <a:ext cx="29722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dirty="0">
                <a:solidFill>
                  <a:srgbClr val="FF0000"/>
                </a:solidFill>
              </a:rPr>
              <a:t>求（</a:t>
            </a:r>
            <a:r>
              <a:rPr lang="en-US" altLang="zh-CN" i="1" dirty="0">
                <a:solidFill>
                  <a:srgbClr val="FF0000"/>
                </a:solidFill>
              </a:rPr>
              <a:t>X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en-US" altLang="zh-CN" i="1" baseline="-25000" dirty="0">
                <a:solidFill>
                  <a:srgbClr val="FF0000"/>
                </a:solidFill>
              </a:rPr>
              <a:t>F</a:t>
            </a:r>
            <a:r>
              <a:rPr lang="en-US" altLang="zh-CN" i="1" baseline="30000" dirty="0">
                <a:solidFill>
                  <a:srgbClr val="FF0000"/>
                </a:solidFill>
              </a:rPr>
              <a:t>+</a:t>
            </a: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zh-CN" altLang="en-US" dirty="0">
                <a:solidFill>
                  <a:srgbClr val="FF0000"/>
                </a:solidFill>
              </a:rPr>
              <a:t>的作用？  确定码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4402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Box 3"/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400" b="1">
                <a:solidFill>
                  <a:srgbClr val="95373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*</a:t>
            </a:r>
            <a:endParaRPr lang="zh-CN" altLang="en-US"/>
          </a:p>
        </p:txBody>
      </p:sp>
      <p:sp>
        <p:nvSpPr>
          <p:cNvPr id="99331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zh-CN" sz="1000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9933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30163"/>
            <a:ext cx="8229600" cy="1128713"/>
          </a:xfrm>
        </p:spPr>
        <p:txBody>
          <a:bodyPr/>
          <a:lstStyle/>
          <a:p>
            <a:r>
              <a:rPr lang="zh-CN" altLang="en-US" sz="3600" dirty="0"/>
              <a:t>计算</a:t>
            </a:r>
            <a:r>
              <a:rPr lang="en-US" altLang="zh-CN" sz="3600" dirty="0"/>
              <a:t>X</a:t>
            </a:r>
            <a:r>
              <a:rPr lang="en-US" altLang="zh-CN" sz="3600" baseline="30000" dirty="0"/>
              <a:t>+  </a:t>
            </a:r>
            <a:r>
              <a:rPr lang="en-US" altLang="zh-CN" sz="3600" dirty="0"/>
              <a:t>(1)</a:t>
            </a:r>
            <a:r>
              <a:rPr lang="en-US" altLang="zh-CN" sz="2800" b="1" baseline="30000" dirty="0"/>
              <a:t> </a:t>
            </a:r>
            <a:r>
              <a:rPr lang="zh-CN" altLang="en-US" sz="4000" b="1" baseline="30000" dirty="0">
                <a:solidFill>
                  <a:srgbClr val="FF0000"/>
                </a:solidFill>
              </a:rPr>
              <a:t>重要</a:t>
            </a:r>
            <a:endParaRPr lang="zh-CN" altLang="en-US" sz="4800" dirty="0" smtClean="0">
              <a:solidFill>
                <a:srgbClr val="FF0000"/>
              </a:solidFill>
              <a:sym typeface="微软雅黑" pitchFamily="34" charset="-122"/>
            </a:endParaRPr>
          </a:p>
        </p:txBody>
      </p:sp>
      <p:sp>
        <p:nvSpPr>
          <p:cNvPr id="9933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1098550"/>
            <a:ext cx="8229600" cy="509587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ym typeface="Calibri" pitchFamily="34" charset="0"/>
              </a:rPr>
              <a:t>求闭包的算法 （算法</a:t>
            </a:r>
            <a:r>
              <a:rPr lang="en-US" altLang="zh-CN" dirty="0" smtClean="0">
                <a:sym typeface="Calibri" pitchFamily="34" charset="0"/>
              </a:rPr>
              <a:t>6.1</a:t>
            </a:r>
            <a:r>
              <a:rPr lang="zh-CN" altLang="en-US" dirty="0" smtClean="0">
                <a:sym typeface="Calibri" pitchFamily="34" charset="0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sym typeface="Calibri" pitchFamily="34" charset="0"/>
              </a:rPr>
              <a:t>求属性集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zh-CN" altLang="en-US" dirty="0" smtClean="0">
                <a:sym typeface="Calibri" pitchFamily="34" charset="0"/>
              </a:rPr>
              <a:t>（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en-US" altLang="zh-CN" dirty="0" smtClean="0">
                <a:sym typeface="Calibri" pitchFamily="34" charset="0"/>
              </a:rPr>
              <a:t> </a:t>
            </a:r>
            <a:r>
              <a:rPr lang="en-US" altLang="zh-CN" dirty="0" smtClean="0">
                <a:sym typeface="Symbol" pitchFamily="18" charset="2"/>
              </a:rPr>
              <a:t></a:t>
            </a:r>
            <a:r>
              <a:rPr lang="en-US" altLang="zh-CN" dirty="0" smtClean="0">
                <a:sym typeface="Calibri" pitchFamily="34" charset="0"/>
              </a:rPr>
              <a:t> </a:t>
            </a:r>
            <a:r>
              <a:rPr lang="en-US" altLang="zh-CN" i="1" dirty="0" smtClean="0">
                <a:sym typeface="Calibri" pitchFamily="34" charset="0"/>
              </a:rPr>
              <a:t>U</a:t>
            </a:r>
            <a:r>
              <a:rPr lang="zh-CN" altLang="en-US" dirty="0" smtClean="0">
                <a:sym typeface="Calibri" pitchFamily="34" charset="0"/>
              </a:rPr>
              <a:t>）关于</a:t>
            </a:r>
            <a:r>
              <a:rPr lang="en-US" altLang="zh-CN" i="1" dirty="0" smtClean="0">
                <a:sym typeface="Calibri" pitchFamily="34" charset="0"/>
              </a:rPr>
              <a:t>U</a:t>
            </a:r>
            <a:r>
              <a:rPr lang="zh-CN" altLang="en-US" dirty="0" smtClean="0">
                <a:sym typeface="Calibri" pitchFamily="34" charset="0"/>
              </a:rPr>
              <a:t>上的函数依赖集</a:t>
            </a:r>
            <a:r>
              <a:rPr lang="en-US" altLang="zh-CN" i="1" dirty="0" smtClean="0">
                <a:sym typeface="Calibri" pitchFamily="34" charset="0"/>
              </a:rPr>
              <a:t>F</a:t>
            </a:r>
            <a:r>
              <a:rPr lang="zh-CN" altLang="en-US" dirty="0" smtClean="0">
                <a:sym typeface="Calibri" pitchFamily="34" charset="0"/>
              </a:rPr>
              <a:t>的闭包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en-US" altLang="zh-CN" i="1" baseline="-25000" dirty="0" smtClean="0">
                <a:sym typeface="Calibri" pitchFamily="34" charset="0"/>
              </a:rPr>
              <a:t>F</a:t>
            </a:r>
            <a:r>
              <a:rPr lang="en-US" altLang="zh-CN" sz="3200" baseline="30000" dirty="0" smtClean="0">
                <a:sym typeface="Calibri" pitchFamily="34" charset="0"/>
              </a:rPr>
              <a:t>+</a:t>
            </a:r>
            <a:r>
              <a:rPr lang="en-US" altLang="zh-CN" dirty="0" smtClean="0">
                <a:sym typeface="Calibri" pitchFamily="34" charset="0"/>
              </a:rPr>
              <a:t> </a:t>
            </a:r>
            <a:r>
              <a:rPr lang="zh-CN" altLang="en-US" dirty="0" smtClean="0">
                <a:sym typeface="Calibri" pitchFamily="34" charset="0"/>
              </a:rPr>
              <a:t>         </a:t>
            </a:r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>
                <a:solidFill>
                  <a:srgbClr val="FF0000"/>
                </a:solidFill>
                <a:sym typeface="Calibri" pitchFamily="34" charset="0"/>
              </a:rPr>
              <a:t>初始化</a:t>
            </a:r>
            <a:r>
              <a:rPr lang="zh-CN" altLang="en-US" dirty="0" smtClean="0">
                <a:sym typeface="Calibri" pitchFamily="34" charset="0"/>
              </a:rPr>
              <a:t>：令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baseline="30000" dirty="0">
                <a:sym typeface="Calibri" pitchFamily="34" charset="0"/>
              </a:rPr>
              <a:t>0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i="1" dirty="0" err="1" smtClean="0">
                <a:sym typeface="Calibri" pitchFamily="34" charset="0"/>
              </a:rPr>
              <a:t>i</a:t>
            </a:r>
            <a:r>
              <a:rPr lang="en-US" altLang="zh-CN" dirty="0" smtClean="0">
                <a:sym typeface="Calibri" pitchFamily="34" charset="0"/>
              </a:rPr>
              <a:t>=0</a:t>
            </a:r>
            <a:endParaRPr lang="en-US" altLang="zh-CN" dirty="0">
              <a:sym typeface="Calibri" pitchFamily="34" charset="0"/>
            </a:endParaRPr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>
                <a:solidFill>
                  <a:srgbClr val="FF0000"/>
                </a:solidFill>
                <a:sym typeface="Calibri" pitchFamily="34" charset="0"/>
              </a:rPr>
              <a:t>求</a:t>
            </a:r>
            <a:r>
              <a:rPr lang="en-US" altLang="zh-CN" i="1" dirty="0" smtClean="0">
                <a:solidFill>
                  <a:srgbClr val="FF0000"/>
                </a:solidFill>
                <a:sym typeface="Calibri" pitchFamily="34" charset="0"/>
              </a:rPr>
              <a:t>B</a:t>
            </a:r>
            <a:r>
              <a:rPr lang="zh-CN" altLang="en-US" dirty="0" smtClean="0">
                <a:sym typeface="Calibri" pitchFamily="34" charset="0"/>
              </a:rPr>
              <a:t>：</a:t>
            </a:r>
            <a:r>
              <a:rPr lang="zh-CN" altLang="en-US" b="1" dirty="0" smtClean="0">
                <a:sym typeface="Times New Roman" pitchFamily="18" charset="0"/>
              </a:rPr>
              <a:t>对</a:t>
            </a:r>
            <a:r>
              <a:rPr lang="en-US" altLang="zh-CN" b="1" i="1" dirty="0">
                <a:sym typeface="Times New Roman" pitchFamily="18" charset="0"/>
              </a:rPr>
              <a:t>X</a:t>
            </a:r>
            <a:r>
              <a:rPr lang="en-US" altLang="zh-CN" b="1" i="1" baseline="60000" dirty="0">
                <a:sym typeface="Times New Roman" pitchFamily="18" charset="0"/>
              </a:rPr>
              <a:t>(</a:t>
            </a:r>
            <a:r>
              <a:rPr lang="en-US" altLang="zh-CN" b="1" i="1" baseline="60000" dirty="0" err="1">
                <a:sym typeface="Times New Roman" pitchFamily="18" charset="0"/>
              </a:rPr>
              <a:t>i</a:t>
            </a:r>
            <a:r>
              <a:rPr lang="en-US" altLang="zh-CN" b="1" baseline="60000" dirty="0">
                <a:sym typeface="Times New Roman" pitchFamily="18" charset="0"/>
              </a:rPr>
              <a:t>)</a:t>
            </a:r>
            <a:r>
              <a:rPr lang="zh-CN" altLang="en-US" b="1" dirty="0">
                <a:sym typeface="Times New Roman" pitchFamily="18" charset="0"/>
              </a:rPr>
              <a:t>中的每个元素，依次检查相应的函数依赖</a:t>
            </a:r>
            <a:r>
              <a:rPr lang="en-US" altLang="zh-CN" b="1" dirty="0">
                <a:sym typeface="Times New Roman" pitchFamily="18" charset="0"/>
              </a:rPr>
              <a:t>,</a:t>
            </a:r>
            <a:r>
              <a:rPr lang="zh-CN" altLang="en-US" b="1" dirty="0">
                <a:sym typeface="Times New Roman" pitchFamily="18" charset="0"/>
              </a:rPr>
              <a:t>将依赖它的属性加入</a:t>
            </a:r>
            <a:r>
              <a:rPr lang="en-US" altLang="zh-CN" b="1" i="1" dirty="0">
                <a:sym typeface="Times New Roman" pitchFamily="18" charset="0"/>
              </a:rPr>
              <a:t>B</a:t>
            </a:r>
            <a:r>
              <a:rPr lang="en-US" altLang="zh-CN" b="1" dirty="0">
                <a:sym typeface="Times New Roman" pitchFamily="18" charset="0"/>
              </a:rPr>
              <a:t> </a:t>
            </a:r>
            <a:r>
              <a:rPr lang="zh-CN" altLang="en-US" dirty="0" smtClean="0">
                <a:sym typeface="Calibri" pitchFamily="34" charset="0"/>
              </a:rPr>
              <a:t>。</a:t>
            </a:r>
            <a:endParaRPr lang="zh-CN" altLang="en-US" dirty="0">
              <a:sym typeface="Calibri" pitchFamily="34" charset="0"/>
            </a:endParaRPr>
          </a:p>
          <a:p>
            <a:pPr marL="514350" indent="-514350">
              <a:buFont typeface="+mj-ea"/>
              <a:buAutoNum type="circleNumDbPlain" startAt="3"/>
            </a:pPr>
            <a:r>
              <a:rPr lang="zh-CN" altLang="en-US" dirty="0" smtClean="0">
                <a:solidFill>
                  <a:srgbClr val="FF0000"/>
                </a:solidFill>
                <a:sym typeface="Calibri" pitchFamily="34" charset="0"/>
              </a:rPr>
              <a:t>并</a:t>
            </a:r>
            <a:r>
              <a:rPr lang="zh-CN" altLang="en-US" dirty="0" smtClean="0">
                <a:sym typeface="Calibri" pitchFamily="34" charset="0"/>
              </a:rPr>
              <a:t>：</a:t>
            </a:r>
            <a:r>
              <a:rPr lang="en-US" altLang="zh-CN" dirty="0" smtClean="0">
                <a:sym typeface="Calibri" pitchFamily="34" charset="0"/>
              </a:rPr>
              <a:t> 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>
                <a:sym typeface="Calibri" pitchFamily="34" charset="0"/>
              </a:rPr>
              <a:t>i</a:t>
            </a:r>
            <a:r>
              <a:rPr lang="en-US" altLang="zh-CN" baseline="30000" dirty="0">
                <a:sym typeface="Calibri" pitchFamily="34" charset="0"/>
              </a:rPr>
              <a:t>+1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>
                <a:sym typeface="Calibri" pitchFamily="34" charset="0"/>
              </a:rPr>
              <a:t>B</a:t>
            </a:r>
            <a:r>
              <a:rPr lang="en-US" altLang="zh-CN" dirty="0">
                <a:sym typeface="Calibri" pitchFamily="34" charset="0"/>
              </a:rPr>
              <a:t>∪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 err="1">
                <a:sym typeface="Calibri" pitchFamily="34" charset="0"/>
              </a:rPr>
              <a:t>i</a:t>
            </a:r>
            <a:r>
              <a:rPr lang="zh-CN" altLang="en-US" baseline="30000" dirty="0">
                <a:sym typeface="Calibri" pitchFamily="34" charset="0"/>
              </a:rPr>
              <a:t>) 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zh-CN" altLang="en-US" baseline="30000" dirty="0">
              <a:sym typeface="Calibri" pitchFamily="34" charset="0"/>
            </a:endParaRPr>
          </a:p>
          <a:p>
            <a:pPr marL="514350" indent="-514350">
              <a:buFont typeface="+mj-ea"/>
              <a:buAutoNum type="circleNumDbPlain" startAt="3"/>
            </a:pPr>
            <a:r>
              <a:rPr lang="zh-CN" altLang="en-US" dirty="0" smtClean="0">
                <a:solidFill>
                  <a:srgbClr val="FF0000"/>
                </a:solidFill>
                <a:sym typeface="Calibri" pitchFamily="34" charset="0"/>
              </a:rPr>
              <a:t>判断</a:t>
            </a:r>
            <a:r>
              <a:rPr lang="zh-CN" altLang="en-US" dirty="0" smtClean="0">
                <a:sym typeface="Calibri" pitchFamily="34" charset="0"/>
              </a:rPr>
              <a:t>：</a:t>
            </a:r>
            <a:r>
              <a:rPr lang="en-US" altLang="zh-CN" i="1" dirty="0" smtClean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>
                <a:sym typeface="Calibri" pitchFamily="34" charset="0"/>
              </a:rPr>
              <a:t>i</a:t>
            </a:r>
            <a:r>
              <a:rPr lang="en-US" altLang="zh-CN" baseline="30000" dirty="0">
                <a:sym typeface="Calibri" pitchFamily="34" charset="0"/>
              </a:rPr>
              <a:t>+1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en-US" altLang="zh-CN" dirty="0">
                <a:sym typeface="Calibri" pitchFamily="34" charset="0"/>
              </a:rPr>
              <a:t>= 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 err="1">
                <a:sym typeface="Calibri" pitchFamily="34" charset="0"/>
              </a:rPr>
              <a:t>i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 。</a:t>
            </a:r>
          </a:p>
          <a:p>
            <a:pPr marL="514350" indent="-514350">
              <a:buFont typeface="+mj-ea"/>
              <a:buAutoNum type="circleNumDbPlain" startAt="3"/>
            </a:pPr>
            <a:r>
              <a:rPr lang="zh-CN" altLang="en-US" dirty="0">
                <a:sym typeface="Calibri" pitchFamily="34" charset="0"/>
              </a:rPr>
              <a:t>若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>
                <a:sym typeface="Calibri" pitchFamily="34" charset="0"/>
              </a:rPr>
              <a:t>i</a:t>
            </a:r>
            <a:r>
              <a:rPr lang="en-US" altLang="zh-CN" baseline="30000" dirty="0">
                <a:sym typeface="Calibri" pitchFamily="34" charset="0"/>
              </a:rPr>
              <a:t>+1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与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 err="1">
                <a:sym typeface="Calibri" pitchFamily="34" charset="0"/>
              </a:rPr>
              <a:t>i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相等或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 err="1">
                <a:sym typeface="Calibri" pitchFamily="34" charset="0"/>
              </a:rPr>
              <a:t>i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>
                <a:sym typeface="Calibri" pitchFamily="34" charset="0"/>
              </a:rPr>
              <a:t>U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zh-CN" altLang="en-US" dirty="0">
                <a:sym typeface="Calibri" pitchFamily="34" charset="0"/>
              </a:rPr>
              <a:t>，则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 err="1">
                <a:sym typeface="Calibri" pitchFamily="34" charset="0"/>
              </a:rPr>
              <a:t>i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就是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i="1" baseline="-25000" dirty="0">
                <a:sym typeface="Calibri" pitchFamily="34" charset="0"/>
              </a:rPr>
              <a:t>F</a:t>
            </a:r>
            <a:r>
              <a:rPr lang="en-US" altLang="zh-CN" baseline="30000" dirty="0">
                <a:sym typeface="Calibri" pitchFamily="34" charset="0"/>
              </a:rPr>
              <a:t>+</a:t>
            </a:r>
            <a:r>
              <a:rPr lang="zh-CN" altLang="en-US" dirty="0">
                <a:sym typeface="Calibri" pitchFamily="34" charset="0"/>
              </a:rPr>
              <a:t>，</a:t>
            </a:r>
          </a:p>
          <a:p>
            <a:pPr marL="514350" indent="-514350">
              <a:buNone/>
            </a:pPr>
            <a:r>
              <a:rPr lang="en-US" altLang="zh-CN" dirty="0">
                <a:sym typeface="Calibri" pitchFamily="34" charset="0"/>
              </a:rPr>
              <a:t>	</a:t>
            </a:r>
            <a:r>
              <a:rPr lang="zh-CN" altLang="en-US" dirty="0">
                <a:sym typeface="Calibri" pitchFamily="34" charset="0"/>
              </a:rPr>
              <a:t>算法终止。</a:t>
            </a:r>
          </a:p>
          <a:p>
            <a:pPr marL="514350" indent="-514350">
              <a:buFont typeface="+mj-ea"/>
              <a:buAutoNum type="circleNumDbPlain" startAt="6"/>
            </a:pPr>
            <a:r>
              <a:rPr lang="zh-CN" altLang="en-US" dirty="0">
                <a:sym typeface="Calibri" pitchFamily="34" charset="0"/>
              </a:rPr>
              <a:t>若否，则</a:t>
            </a:r>
            <a:r>
              <a:rPr lang="en-US" altLang="zh-CN" i="1" dirty="0" err="1">
                <a:sym typeface="Calibri" pitchFamily="34" charset="0"/>
              </a:rPr>
              <a:t>i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 err="1">
                <a:sym typeface="Calibri" pitchFamily="34" charset="0"/>
              </a:rPr>
              <a:t>i</a:t>
            </a:r>
            <a:r>
              <a:rPr lang="en-US" altLang="zh-CN" dirty="0">
                <a:sym typeface="Calibri" pitchFamily="34" charset="0"/>
              </a:rPr>
              <a:t>+</a:t>
            </a:r>
            <a:r>
              <a:rPr lang="zh-CN" altLang="en-US" dirty="0">
                <a:sym typeface="Calibri" pitchFamily="34" charset="0"/>
              </a:rPr>
              <a:t>1，返回第</a:t>
            </a:r>
            <a:r>
              <a:rPr lang="zh-CN" altLang="en-US" dirty="0"/>
              <a:t>②</a:t>
            </a:r>
            <a:r>
              <a:rPr lang="zh-CN" altLang="en-US" dirty="0">
                <a:sym typeface="Calibri" pitchFamily="34" charset="0"/>
              </a:rPr>
              <a:t>步。</a:t>
            </a:r>
            <a:endParaRPr lang="zh-CN" altLang="en-US" dirty="0"/>
          </a:p>
          <a:p>
            <a:endParaRPr lang="zh-CN" altLang="en-US" dirty="0" smtClean="0"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0331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9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9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9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9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9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93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93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93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93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93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93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93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93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/>
              <a:t>计算</a:t>
            </a:r>
            <a:r>
              <a:rPr lang="en-US" altLang="zh-CN" dirty="0"/>
              <a:t>X</a:t>
            </a:r>
            <a:r>
              <a:rPr lang="en-US" altLang="zh-CN" baseline="30000" dirty="0"/>
              <a:t>+  </a:t>
            </a:r>
            <a:r>
              <a:rPr lang="en-US" altLang="zh-CN" dirty="0" smtClean="0"/>
              <a:t>(2)</a:t>
            </a:r>
            <a:r>
              <a:rPr lang="en-US" altLang="zh-CN" sz="3600" b="1" baseline="30000" dirty="0" smtClean="0"/>
              <a:t> 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8090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23900" y="1469231"/>
            <a:ext cx="7772400" cy="4764088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[Example]  Relation : </a:t>
            </a:r>
            <a:r>
              <a:rPr lang="en-US" altLang="zh-CN" sz="2400" i="1" dirty="0" smtClean="0">
                <a:ea typeface="宋体" panose="02010600030101010101" pitchFamily="2" charset="-122"/>
              </a:rPr>
              <a:t>R</a:t>
            </a:r>
            <a:r>
              <a:rPr lang="en-US" altLang="zh-CN" sz="2400" dirty="0" smtClean="0">
                <a:ea typeface="宋体" panose="02010600030101010101" pitchFamily="2" charset="-122"/>
              </a:rPr>
              <a:t>&lt;</a:t>
            </a:r>
            <a:r>
              <a:rPr lang="en-US" altLang="zh-CN" sz="2400" i="1" dirty="0" smtClean="0">
                <a:ea typeface="宋体" panose="02010600030101010101" pitchFamily="2" charset="-122"/>
              </a:rPr>
              <a:t>U</a:t>
            </a:r>
            <a:r>
              <a:rPr lang="zh-CN" altLang="en-US" sz="2400" dirty="0" smtClean="0">
                <a:ea typeface="宋体" panose="02010600030101010101" pitchFamily="2" charset="-122"/>
              </a:rPr>
              <a:t>，</a:t>
            </a:r>
            <a:r>
              <a:rPr lang="en-US" altLang="zh-CN" sz="2400" i="1" dirty="0" smtClean="0">
                <a:ea typeface="宋体" panose="02010600030101010101" pitchFamily="2" charset="-122"/>
              </a:rPr>
              <a:t>F</a:t>
            </a:r>
            <a:r>
              <a:rPr lang="en-US" altLang="zh-CN" sz="2400" dirty="0" smtClean="0">
                <a:ea typeface="宋体" panose="02010600030101010101" pitchFamily="2" charset="-122"/>
              </a:rPr>
              <a:t>&gt;</a:t>
            </a:r>
            <a:endParaRPr lang="zh-CN" altLang="en-US" sz="2400" dirty="0" smtClean="0">
              <a:ea typeface="宋体" panose="02010600030101010101" pitchFamily="2" charset="-122"/>
            </a:endParaRPr>
          </a:p>
          <a:p>
            <a:pPr marL="914400" lvl="1" indent="-457200">
              <a:lnSpc>
                <a:spcPct val="90000"/>
              </a:lnSpc>
              <a:buFontTx/>
              <a:buNone/>
            </a:pPr>
            <a:r>
              <a:rPr lang="en-US" altLang="zh-CN" i="1" dirty="0" smtClean="0">
                <a:ea typeface="宋体" panose="02010600030101010101" pitchFamily="2" charset="-122"/>
              </a:rPr>
              <a:t>U</a:t>
            </a:r>
            <a:r>
              <a:rPr lang="en-US" altLang="zh-CN" dirty="0" smtClean="0">
                <a:ea typeface="宋体" panose="02010600030101010101" pitchFamily="2" charset="-122"/>
              </a:rPr>
              <a:t>={</a:t>
            </a:r>
            <a:r>
              <a:rPr lang="en-US" altLang="zh-CN" i="1" dirty="0" smtClean="0">
                <a:ea typeface="宋体" panose="02010600030101010101" pitchFamily="2" charset="-122"/>
              </a:rPr>
              <a:t>A</a:t>
            </a:r>
            <a:r>
              <a:rPr lang="zh-CN" altLang="en-US" i="1" dirty="0" smtClean="0">
                <a:ea typeface="宋体" panose="02010600030101010101" pitchFamily="2" charset="-122"/>
              </a:rPr>
              <a:t>，</a:t>
            </a:r>
            <a:r>
              <a:rPr lang="en-US" altLang="zh-CN" i="1" dirty="0" smtClean="0">
                <a:ea typeface="宋体" panose="02010600030101010101" pitchFamily="2" charset="-122"/>
              </a:rPr>
              <a:t>B</a:t>
            </a:r>
            <a:r>
              <a:rPr lang="zh-CN" altLang="en-US" i="1" dirty="0" smtClean="0">
                <a:ea typeface="宋体" panose="02010600030101010101" pitchFamily="2" charset="-122"/>
              </a:rPr>
              <a:t>，</a:t>
            </a:r>
            <a:r>
              <a:rPr lang="en-US" altLang="zh-CN" i="1" dirty="0" smtClean="0">
                <a:ea typeface="宋体" panose="02010600030101010101" pitchFamily="2" charset="-122"/>
              </a:rPr>
              <a:t>C</a:t>
            </a:r>
            <a:r>
              <a:rPr lang="zh-CN" altLang="en-US" i="1" dirty="0" smtClean="0">
                <a:ea typeface="宋体" panose="02010600030101010101" pitchFamily="2" charset="-122"/>
              </a:rPr>
              <a:t>，</a:t>
            </a:r>
            <a:r>
              <a:rPr lang="en-US" altLang="zh-CN" i="1" dirty="0" smtClean="0">
                <a:ea typeface="宋体" panose="02010600030101010101" pitchFamily="2" charset="-122"/>
              </a:rPr>
              <a:t>D</a:t>
            </a:r>
            <a:r>
              <a:rPr lang="zh-CN" altLang="en-US" i="1" dirty="0" smtClean="0">
                <a:ea typeface="宋体" panose="02010600030101010101" pitchFamily="2" charset="-122"/>
              </a:rPr>
              <a:t>，</a:t>
            </a:r>
            <a:r>
              <a:rPr lang="en-US" altLang="zh-CN" i="1" dirty="0" smtClean="0">
                <a:ea typeface="宋体" panose="02010600030101010101" pitchFamily="2" charset="-122"/>
              </a:rPr>
              <a:t>E</a:t>
            </a:r>
            <a:r>
              <a:rPr lang="en-US" altLang="zh-CN" dirty="0" smtClean="0">
                <a:ea typeface="宋体" panose="02010600030101010101" pitchFamily="2" charset="-122"/>
              </a:rPr>
              <a:t>}</a:t>
            </a:r>
            <a:r>
              <a:rPr lang="zh-CN" altLang="en-US" dirty="0" smtClean="0">
                <a:ea typeface="宋体" panose="02010600030101010101" pitchFamily="2" charset="-122"/>
              </a:rPr>
              <a:t>；</a:t>
            </a:r>
          </a:p>
          <a:p>
            <a:pPr marL="914400" lvl="1" indent="-457200">
              <a:lnSpc>
                <a:spcPct val="90000"/>
              </a:lnSpc>
              <a:buFontTx/>
              <a:buNone/>
            </a:pPr>
            <a:r>
              <a:rPr lang="en-US" altLang="zh-CN" i="1" dirty="0" smtClean="0">
                <a:ea typeface="宋体" panose="02010600030101010101" pitchFamily="2" charset="-122"/>
              </a:rPr>
              <a:t>F</a:t>
            </a:r>
            <a:r>
              <a:rPr lang="en-US" altLang="zh-CN" dirty="0" smtClean="0">
                <a:ea typeface="宋体" panose="02010600030101010101" pitchFamily="2" charset="-122"/>
              </a:rPr>
              <a:t>={</a:t>
            </a:r>
            <a:r>
              <a:rPr lang="en-US" altLang="zh-CN" i="1" dirty="0" smtClean="0">
                <a:ea typeface="宋体" panose="02010600030101010101" pitchFamily="2" charset="-122"/>
              </a:rPr>
              <a:t>AB</a:t>
            </a:r>
            <a:r>
              <a:rPr lang="en-US" altLang="zh-CN" dirty="0" smtClean="0">
                <a:ea typeface="宋体" panose="02010600030101010101" pitchFamily="2" charset="-122"/>
              </a:rPr>
              <a:t>→</a:t>
            </a:r>
            <a:r>
              <a:rPr lang="en-US" altLang="zh-CN" i="1" dirty="0" smtClean="0">
                <a:ea typeface="宋体" panose="02010600030101010101" pitchFamily="2" charset="-122"/>
              </a:rPr>
              <a:t>C</a:t>
            </a:r>
            <a:r>
              <a:rPr lang="zh-CN" altLang="en-US" dirty="0" smtClean="0">
                <a:ea typeface="宋体" panose="02010600030101010101" pitchFamily="2" charset="-122"/>
              </a:rPr>
              <a:t>，</a:t>
            </a:r>
            <a:r>
              <a:rPr lang="en-US" altLang="zh-CN" i="1" dirty="0" smtClean="0">
                <a:ea typeface="宋体" panose="02010600030101010101" pitchFamily="2" charset="-122"/>
              </a:rPr>
              <a:t>B</a:t>
            </a:r>
            <a:r>
              <a:rPr lang="en-US" altLang="zh-CN" dirty="0" smtClean="0">
                <a:ea typeface="宋体" panose="02010600030101010101" pitchFamily="2" charset="-122"/>
              </a:rPr>
              <a:t>→</a:t>
            </a:r>
            <a:r>
              <a:rPr lang="en-US" altLang="zh-CN" i="1" dirty="0" smtClean="0">
                <a:ea typeface="宋体" panose="02010600030101010101" pitchFamily="2" charset="-122"/>
              </a:rPr>
              <a:t>D</a:t>
            </a:r>
            <a:r>
              <a:rPr lang="zh-CN" altLang="en-US" dirty="0" smtClean="0">
                <a:ea typeface="宋体" panose="02010600030101010101" pitchFamily="2" charset="-122"/>
              </a:rPr>
              <a:t>，</a:t>
            </a:r>
            <a:r>
              <a:rPr lang="en-US" altLang="zh-CN" i="1" dirty="0" smtClean="0">
                <a:ea typeface="宋体" panose="02010600030101010101" pitchFamily="2" charset="-122"/>
              </a:rPr>
              <a:t>C</a:t>
            </a:r>
            <a:r>
              <a:rPr lang="en-US" altLang="zh-CN" dirty="0" smtClean="0">
                <a:ea typeface="宋体" panose="02010600030101010101" pitchFamily="2" charset="-122"/>
              </a:rPr>
              <a:t>→</a:t>
            </a:r>
            <a:r>
              <a:rPr lang="en-US" altLang="zh-CN" i="1" dirty="0" smtClean="0">
                <a:ea typeface="宋体" panose="02010600030101010101" pitchFamily="2" charset="-122"/>
              </a:rPr>
              <a:t>E</a:t>
            </a:r>
            <a:r>
              <a:rPr lang="zh-CN" altLang="en-US" dirty="0" smtClean="0">
                <a:ea typeface="宋体" panose="02010600030101010101" pitchFamily="2" charset="-122"/>
              </a:rPr>
              <a:t>，</a:t>
            </a:r>
            <a:r>
              <a:rPr lang="en-US" altLang="zh-CN" i="1" dirty="0" smtClean="0">
                <a:ea typeface="宋体" panose="02010600030101010101" pitchFamily="2" charset="-122"/>
              </a:rPr>
              <a:t>EC</a:t>
            </a:r>
            <a:r>
              <a:rPr lang="en-US" altLang="zh-CN" dirty="0" smtClean="0">
                <a:ea typeface="宋体" panose="02010600030101010101" pitchFamily="2" charset="-122"/>
              </a:rPr>
              <a:t>→</a:t>
            </a:r>
            <a:r>
              <a:rPr lang="en-US" altLang="zh-CN" i="1" dirty="0" smtClean="0">
                <a:ea typeface="宋体" panose="02010600030101010101" pitchFamily="2" charset="-122"/>
              </a:rPr>
              <a:t>B</a:t>
            </a:r>
            <a:r>
              <a:rPr lang="zh-CN" altLang="en-US" dirty="0" smtClean="0">
                <a:ea typeface="宋体" panose="02010600030101010101" pitchFamily="2" charset="-122"/>
              </a:rPr>
              <a:t>，</a:t>
            </a:r>
            <a:r>
              <a:rPr lang="en-US" altLang="zh-CN" i="1" dirty="0" smtClean="0">
                <a:ea typeface="宋体" panose="02010600030101010101" pitchFamily="2" charset="-122"/>
              </a:rPr>
              <a:t>AC</a:t>
            </a:r>
            <a:r>
              <a:rPr lang="en-US" altLang="zh-CN" dirty="0" smtClean="0">
                <a:ea typeface="宋体" panose="02010600030101010101" pitchFamily="2" charset="-122"/>
              </a:rPr>
              <a:t>→</a:t>
            </a:r>
            <a:r>
              <a:rPr lang="en-US" altLang="zh-CN" i="1" dirty="0" smtClean="0">
                <a:ea typeface="宋体" panose="02010600030101010101" pitchFamily="2" charset="-122"/>
              </a:rPr>
              <a:t>B</a:t>
            </a:r>
            <a:r>
              <a:rPr lang="en-US" altLang="zh-CN" dirty="0" smtClean="0">
                <a:ea typeface="宋体" panose="02010600030101010101" pitchFamily="2" charset="-122"/>
              </a:rPr>
              <a:t>}</a:t>
            </a:r>
            <a:endParaRPr lang="zh-CN" altLang="en-US" dirty="0" smtClean="0">
              <a:ea typeface="宋体" panose="02010600030101010101" pitchFamily="2" charset="-122"/>
            </a:endParaRPr>
          </a:p>
          <a:p>
            <a:pPr marL="914400" lvl="1" indent="-457200">
              <a:lnSpc>
                <a:spcPct val="90000"/>
              </a:lnSpc>
              <a:buFontTx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Question:</a:t>
            </a:r>
            <a:r>
              <a:rPr lang="zh-CN" altLang="en-US" dirty="0" smtClean="0">
                <a:ea typeface="宋体" panose="02010600030101010101" pitchFamily="2" charset="-122"/>
              </a:rPr>
              <a:t>（</a:t>
            </a:r>
            <a:r>
              <a:rPr lang="en-US" altLang="zh-CN" i="1" dirty="0" smtClean="0">
                <a:ea typeface="宋体" panose="02010600030101010101" pitchFamily="2" charset="-122"/>
              </a:rPr>
              <a:t>AB</a:t>
            </a:r>
            <a:r>
              <a:rPr lang="zh-CN" altLang="en-US" dirty="0" smtClean="0">
                <a:ea typeface="宋体" panose="02010600030101010101" pitchFamily="2" charset="-122"/>
              </a:rPr>
              <a:t>）</a:t>
            </a:r>
            <a:r>
              <a:rPr lang="en-US" altLang="zh-CN" i="1" baseline="-25000" dirty="0" smtClean="0">
                <a:ea typeface="宋体" panose="02010600030101010101" pitchFamily="2" charset="-122"/>
              </a:rPr>
              <a:t>F</a:t>
            </a:r>
            <a:r>
              <a:rPr lang="en-US" altLang="zh-CN" i="1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?</a:t>
            </a:r>
            <a:endParaRPr lang="zh-CN" altLang="en-US" dirty="0" smtClean="0">
              <a:ea typeface="宋体" panose="02010600030101010101" pitchFamily="2" charset="-122"/>
            </a:endParaRPr>
          </a:p>
          <a:p>
            <a:pPr marL="533400" indent="-533400">
              <a:lnSpc>
                <a:spcPct val="110000"/>
              </a:lnSpc>
              <a:spcBef>
                <a:spcPct val="60000"/>
              </a:spcBef>
              <a:buFontTx/>
              <a:buNone/>
            </a:pPr>
            <a:r>
              <a:rPr lang="en-US" altLang="zh-CN" sz="1600" dirty="0" smtClean="0">
                <a:ea typeface="宋体" panose="02010600030101010101" pitchFamily="2" charset="-122"/>
              </a:rPr>
              <a:t>Solution:</a:t>
            </a:r>
            <a:r>
              <a:rPr lang="zh-CN" altLang="en-US" sz="1600" dirty="0" smtClean="0">
                <a:ea typeface="宋体" panose="02010600030101010101" pitchFamily="2" charset="-122"/>
              </a:rPr>
              <a:t>  </a:t>
            </a:r>
            <a:r>
              <a:rPr lang="en-US" altLang="zh-CN" sz="1600" dirty="0" smtClean="0">
                <a:ea typeface="宋体" panose="02010600030101010101" pitchFamily="2" charset="-122"/>
              </a:rPr>
              <a:t>Let </a:t>
            </a:r>
            <a:r>
              <a:rPr lang="en-US" altLang="zh-CN" sz="1600" i="1" dirty="0" smtClean="0">
                <a:ea typeface="宋体" panose="02010600030101010101" pitchFamily="2" charset="-122"/>
              </a:rPr>
              <a:t>X</a:t>
            </a:r>
            <a:r>
              <a:rPr lang="zh-CN" altLang="en-US" sz="1600" i="1" baseline="30000" dirty="0" smtClean="0">
                <a:ea typeface="宋体" panose="02010600030101010101" pitchFamily="2" charset="-122"/>
              </a:rPr>
              <a:t>（</a:t>
            </a:r>
            <a:r>
              <a:rPr lang="en-US" altLang="zh-CN" sz="1600" i="1" baseline="30000" dirty="0" smtClean="0">
                <a:ea typeface="宋体" panose="02010600030101010101" pitchFamily="2" charset="-122"/>
              </a:rPr>
              <a:t>0</a:t>
            </a:r>
            <a:r>
              <a:rPr lang="zh-CN" altLang="en-US" sz="1600" i="1" baseline="30000" dirty="0" smtClean="0">
                <a:ea typeface="宋体" panose="02010600030101010101" pitchFamily="2" charset="-122"/>
              </a:rPr>
              <a:t>）</a:t>
            </a:r>
            <a:r>
              <a:rPr lang="en-US" altLang="zh-CN" sz="1600" dirty="0" smtClean="0">
                <a:ea typeface="宋体" panose="02010600030101010101" pitchFamily="2" charset="-122"/>
              </a:rPr>
              <a:t>=</a:t>
            </a:r>
            <a:r>
              <a:rPr lang="en-US" altLang="zh-CN" sz="1600" i="1" dirty="0" smtClean="0">
                <a:ea typeface="宋体" panose="02010600030101010101" pitchFamily="2" charset="-122"/>
              </a:rPr>
              <a:t>AB</a:t>
            </a:r>
            <a:r>
              <a:rPr lang="zh-CN" altLang="en-US" sz="1600" dirty="0" smtClean="0">
                <a:ea typeface="宋体" panose="02010600030101010101" pitchFamily="2" charset="-122"/>
              </a:rPr>
              <a:t>；</a:t>
            </a:r>
          </a:p>
          <a:p>
            <a:pPr marL="533400" indent="-533400">
              <a:lnSpc>
                <a:spcPct val="110000"/>
              </a:lnSpc>
              <a:spcBef>
                <a:spcPct val="60000"/>
              </a:spcBef>
              <a:buFontTx/>
              <a:buNone/>
            </a:pPr>
            <a:r>
              <a:rPr lang="en-US" altLang="zh-CN" sz="1600" dirty="0" smtClean="0">
                <a:ea typeface="宋体" panose="02010600030101010101" pitchFamily="2" charset="-122"/>
              </a:rPr>
              <a:t>(1)</a:t>
            </a:r>
            <a:r>
              <a:rPr lang="en-US" altLang="zh-CN" sz="1600" i="1" dirty="0" smtClean="0">
                <a:ea typeface="宋体" panose="02010600030101010101" pitchFamily="2" charset="-122"/>
              </a:rPr>
              <a:t> X</a:t>
            </a:r>
            <a:r>
              <a:rPr lang="zh-CN" altLang="en-US" sz="1600" i="1" baseline="30000" dirty="0" smtClean="0">
                <a:ea typeface="宋体" panose="02010600030101010101" pitchFamily="2" charset="-122"/>
              </a:rPr>
              <a:t>（</a:t>
            </a:r>
            <a:r>
              <a:rPr lang="en-US" altLang="zh-CN" sz="1600" i="1" baseline="30000" dirty="0" smtClean="0">
                <a:ea typeface="宋体" panose="02010600030101010101" pitchFamily="2" charset="-122"/>
              </a:rPr>
              <a:t>1</a:t>
            </a:r>
            <a:r>
              <a:rPr lang="zh-CN" altLang="en-US" sz="1600" i="1" baseline="30000" dirty="0" smtClean="0">
                <a:ea typeface="宋体" panose="02010600030101010101" pitchFamily="2" charset="-122"/>
              </a:rPr>
              <a:t>）</a:t>
            </a:r>
            <a:r>
              <a:rPr lang="en-US" altLang="zh-CN" sz="1600" dirty="0" smtClean="0">
                <a:ea typeface="宋体" panose="02010600030101010101" pitchFamily="2" charset="-122"/>
              </a:rPr>
              <a:t>=</a:t>
            </a:r>
            <a:r>
              <a:rPr lang="en-US" altLang="zh-CN" sz="1600" i="1" dirty="0" smtClean="0">
                <a:ea typeface="宋体" panose="02010600030101010101" pitchFamily="2" charset="-122"/>
              </a:rPr>
              <a:t>AB</a:t>
            </a:r>
            <a:r>
              <a:rPr lang="en-US" altLang="zh-CN" sz="1600" dirty="0" smtClean="0">
                <a:ea typeface="宋体" panose="02010600030101010101" pitchFamily="2" charset="-122"/>
              </a:rPr>
              <a:t>∪</a:t>
            </a:r>
            <a:r>
              <a:rPr lang="en-US" altLang="zh-CN" sz="1600" i="1" dirty="0" smtClean="0">
                <a:ea typeface="宋体" panose="02010600030101010101" pitchFamily="2" charset="-122"/>
              </a:rPr>
              <a:t>CD</a:t>
            </a:r>
            <a:r>
              <a:rPr lang="en-US" altLang="zh-CN" sz="1600" dirty="0" smtClean="0">
                <a:ea typeface="宋体" panose="02010600030101010101" pitchFamily="2" charset="-122"/>
              </a:rPr>
              <a:t>=</a:t>
            </a:r>
            <a:r>
              <a:rPr lang="en-US" altLang="zh-CN" sz="1600" i="1" dirty="0" smtClean="0">
                <a:ea typeface="宋体" panose="02010600030101010101" pitchFamily="2" charset="-122"/>
              </a:rPr>
              <a:t>ABCD</a:t>
            </a:r>
            <a:r>
              <a:rPr lang="zh-CN" altLang="en-US" sz="1600" dirty="0" smtClean="0">
                <a:ea typeface="宋体" panose="02010600030101010101" pitchFamily="2" charset="-122"/>
              </a:rPr>
              <a:t>。</a:t>
            </a:r>
          </a:p>
          <a:p>
            <a:pPr marL="533400" indent="-533400">
              <a:lnSpc>
                <a:spcPct val="110000"/>
              </a:lnSpc>
              <a:buFontTx/>
              <a:buNone/>
            </a:pPr>
            <a:r>
              <a:rPr lang="en-US" altLang="zh-CN" sz="1600" dirty="0" smtClean="0">
                <a:ea typeface="宋体" panose="02010600030101010101" pitchFamily="2" charset="-122"/>
              </a:rPr>
              <a:t>(2) X</a:t>
            </a:r>
            <a:r>
              <a:rPr lang="zh-CN" altLang="en-US" sz="1600" i="1" baseline="30000" dirty="0" smtClean="0">
                <a:ea typeface="宋体" panose="02010600030101010101" pitchFamily="2" charset="-122"/>
              </a:rPr>
              <a:t>（</a:t>
            </a:r>
            <a:r>
              <a:rPr lang="en-US" altLang="zh-CN" sz="1600" i="1" baseline="30000" dirty="0" smtClean="0">
                <a:ea typeface="宋体" panose="02010600030101010101" pitchFamily="2" charset="-122"/>
              </a:rPr>
              <a:t>0</a:t>
            </a:r>
            <a:r>
              <a:rPr lang="zh-CN" altLang="en-US" sz="1600" i="1" baseline="30000" dirty="0" smtClean="0">
                <a:ea typeface="宋体" panose="02010600030101010101" pitchFamily="2" charset="-122"/>
              </a:rPr>
              <a:t>）</a:t>
            </a:r>
            <a:r>
              <a:rPr lang="zh-CN" altLang="en-US" sz="1600" dirty="0" smtClean="0">
                <a:ea typeface="宋体" panose="02010600030101010101" pitchFamily="2" charset="-122"/>
              </a:rPr>
              <a:t>≠ </a:t>
            </a:r>
            <a:r>
              <a:rPr lang="en-US" altLang="zh-CN" sz="1600" i="1" dirty="0" smtClean="0">
                <a:ea typeface="宋体" panose="02010600030101010101" pitchFamily="2" charset="-122"/>
              </a:rPr>
              <a:t>X</a:t>
            </a:r>
            <a:r>
              <a:rPr lang="zh-CN" altLang="en-US" sz="1600" i="1" baseline="30000" dirty="0" smtClean="0">
                <a:ea typeface="宋体" panose="02010600030101010101" pitchFamily="2" charset="-122"/>
              </a:rPr>
              <a:t>（</a:t>
            </a:r>
            <a:r>
              <a:rPr lang="en-US" altLang="zh-CN" sz="1600" i="1" baseline="30000" dirty="0" smtClean="0">
                <a:ea typeface="宋体" panose="02010600030101010101" pitchFamily="2" charset="-122"/>
              </a:rPr>
              <a:t>1</a:t>
            </a:r>
            <a:r>
              <a:rPr lang="zh-CN" altLang="en-US" sz="1600" i="1" baseline="30000" dirty="0" smtClean="0">
                <a:ea typeface="宋体" panose="02010600030101010101" pitchFamily="2" charset="-122"/>
              </a:rPr>
              <a:t>）</a:t>
            </a:r>
            <a:endParaRPr lang="zh-CN" altLang="en-US" sz="1600" dirty="0" smtClean="0">
              <a:ea typeface="宋体" panose="02010600030101010101" pitchFamily="2" charset="-122"/>
            </a:endParaRPr>
          </a:p>
          <a:p>
            <a:pPr marL="533400" indent="-533400">
              <a:lnSpc>
                <a:spcPct val="110000"/>
              </a:lnSpc>
              <a:buFontTx/>
              <a:buNone/>
            </a:pPr>
            <a:r>
              <a:rPr lang="zh-CN" altLang="en-US" sz="1600" i="1" dirty="0" smtClean="0">
                <a:ea typeface="宋体" panose="02010600030101010101" pitchFamily="2" charset="-122"/>
              </a:rPr>
              <a:t>     </a:t>
            </a:r>
            <a:r>
              <a:rPr lang="en-US" altLang="zh-CN" sz="1600" i="1" dirty="0" smtClean="0">
                <a:ea typeface="宋体" panose="02010600030101010101" pitchFamily="2" charset="-122"/>
              </a:rPr>
              <a:t>X</a:t>
            </a:r>
            <a:r>
              <a:rPr lang="zh-CN" altLang="en-US" sz="1600" i="1" baseline="30000" dirty="0" smtClean="0">
                <a:ea typeface="宋体" panose="02010600030101010101" pitchFamily="2" charset="-122"/>
              </a:rPr>
              <a:t>（</a:t>
            </a:r>
            <a:r>
              <a:rPr lang="en-US" altLang="zh-CN" sz="1600" i="1" baseline="30000" dirty="0" smtClean="0">
                <a:ea typeface="宋体" panose="02010600030101010101" pitchFamily="2" charset="-122"/>
              </a:rPr>
              <a:t>2</a:t>
            </a:r>
            <a:r>
              <a:rPr lang="zh-CN" altLang="en-US" sz="1600" i="1" baseline="30000" dirty="0" smtClean="0">
                <a:ea typeface="宋体" panose="02010600030101010101" pitchFamily="2" charset="-122"/>
              </a:rPr>
              <a:t>）</a:t>
            </a:r>
            <a:r>
              <a:rPr lang="en-US" altLang="zh-CN" sz="1600" dirty="0" smtClean="0">
                <a:ea typeface="宋体" panose="02010600030101010101" pitchFamily="2" charset="-122"/>
              </a:rPr>
              <a:t>=</a:t>
            </a:r>
            <a:r>
              <a:rPr lang="en-US" altLang="zh-CN" sz="1600" i="1" dirty="0" smtClean="0">
                <a:ea typeface="宋体" panose="02010600030101010101" pitchFamily="2" charset="-122"/>
              </a:rPr>
              <a:t>X</a:t>
            </a:r>
            <a:r>
              <a:rPr lang="zh-CN" altLang="en-US" sz="1600" i="1" baseline="30000" dirty="0" smtClean="0">
                <a:ea typeface="宋体" panose="02010600030101010101" pitchFamily="2" charset="-122"/>
              </a:rPr>
              <a:t>（</a:t>
            </a:r>
            <a:r>
              <a:rPr lang="en-US" altLang="zh-CN" sz="1600" i="1" baseline="30000" dirty="0" smtClean="0">
                <a:ea typeface="宋体" panose="02010600030101010101" pitchFamily="2" charset="-122"/>
              </a:rPr>
              <a:t>1</a:t>
            </a:r>
            <a:r>
              <a:rPr lang="zh-CN" altLang="en-US" sz="1600" i="1" baseline="30000" dirty="0" smtClean="0">
                <a:ea typeface="宋体" panose="02010600030101010101" pitchFamily="2" charset="-122"/>
              </a:rPr>
              <a:t>）</a:t>
            </a:r>
            <a:r>
              <a:rPr lang="zh-CN" altLang="en-US" sz="1600" dirty="0" smtClean="0">
                <a:ea typeface="宋体" panose="02010600030101010101" pitchFamily="2" charset="-122"/>
              </a:rPr>
              <a:t>∪</a:t>
            </a:r>
            <a:r>
              <a:rPr lang="en-US" altLang="zh-CN" sz="1600" i="1" dirty="0" smtClean="0">
                <a:ea typeface="宋体" panose="02010600030101010101" pitchFamily="2" charset="-122"/>
              </a:rPr>
              <a:t>E</a:t>
            </a:r>
            <a:r>
              <a:rPr lang="en-US" altLang="zh-CN" sz="1600" dirty="0" smtClean="0">
                <a:ea typeface="宋体" panose="02010600030101010101" pitchFamily="2" charset="-122"/>
              </a:rPr>
              <a:t>=</a:t>
            </a:r>
            <a:r>
              <a:rPr lang="en-US" altLang="zh-CN" sz="1600" i="1" dirty="0" smtClean="0">
                <a:ea typeface="宋体" panose="02010600030101010101" pitchFamily="2" charset="-122"/>
              </a:rPr>
              <a:t>ABCDE</a:t>
            </a:r>
            <a:r>
              <a:rPr lang="zh-CN" altLang="en-US" sz="1600" dirty="0" smtClean="0">
                <a:ea typeface="宋体" panose="02010600030101010101" pitchFamily="2" charset="-122"/>
              </a:rPr>
              <a:t>。</a:t>
            </a:r>
          </a:p>
          <a:p>
            <a:pPr marL="533400" indent="-533400">
              <a:lnSpc>
                <a:spcPct val="110000"/>
              </a:lnSpc>
              <a:buFontTx/>
              <a:buNone/>
            </a:pPr>
            <a:r>
              <a:rPr lang="zh-CN" altLang="en-US" sz="1600" dirty="0" smtClean="0">
                <a:ea typeface="宋体" panose="02010600030101010101" pitchFamily="2" charset="-122"/>
              </a:rPr>
              <a:t>    </a:t>
            </a:r>
            <a:r>
              <a:rPr lang="en-US" altLang="zh-CN" sz="1600" dirty="0" smtClean="0">
                <a:ea typeface="宋体" panose="02010600030101010101" pitchFamily="2" charset="-122"/>
              </a:rPr>
              <a:t>(3) </a:t>
            </a:r>
            <a:r>
              <a:rPr lang="en-US" altLang="zh-CN" sz="1600" i="1" dirty="0" smtClean="0">
                <a:ea typeface="宋体" panose="02010600030101010101" pitchFamily="2" charset="-122"/>
              </a:rPr>
              <a:t>X</a:t>
            </a:r>
            <a:r>
              <a:rPr lang="zh-CN" altLang="en-US" sz="1600" i="1" baseline="30000" dirty="0" smtClean="0">
                <a:ea typeface="宋体" panose="02010600030101010101" pitchFamily="2" charset="-122"/>
              </a:rPr>
              <a:t>（</a:t>
            </a:r>
            <a:r>
              <a:rPr lang="en-US" altLang="zh-CN" sz="1600" i="1" baseline="30000" dirty="0" smtClean="0">
                <a:ea typeface="宋体" panose="02010600030101010101" pitchFamily="2" charset="-122"/>
              </a:rPr>
              <a:t>2</a:t>
            </a:r>
            <a:r>
              <a:rPr lang="zh-CN" altLang="en-US" sz="1600" i="1" baseline="30000" dirty="0" smtClean="0">
                <a:ea typeface="宋体" panose="02010600030101010101" pitchFamily="2" charset="-122"/>
              </a:rPr>
              <a:t>）</a:t>
            </a:r>
            <a:r>
              <a:rPr lang="en-US" altLang="zh-CN" sz="1600" dirty="0" smtClean="0">
                <a:ea typeface="宋体" panose="02010600030101010101" pitchFamily="2" charset="-122"/>
              </a:rPr>
              <a:t>=U</a:t>
            </a:r>
            <a:r>
              <a:rPr lang="zh-CN" altLang="en-US" sz="1600" dirty="0" smtClean="0">
                <a:ea typeface="宋体" panose="02010600030101010101" pitchFamily="2" charset="-122"/>
              </a:rPr>
              <a:t>，</a:t>
            </a:r>
            <a:r>
              <a:rPr lang="en-US" altLang="zh-CN" sz="1600" dirty="0" smtClean="0">
                <a:ea typeface="宋体" panose="02010600030101010101" pitchFamily="2" charset="-122"/>
              </a:rPr>
              <a:t>End</a:t>
            </a:r>
            <a:endParaRPr lang="zh-CN" altLang="en-US" sz="1600" dirty="0" smtClean="0">
              <a:ea typeface="宋体" panose="02010600030101010101" pitchFamily="2" charset="-122"/>
            </a:endParaRPr>
          </a:p>
          <a:p>
            <a:pPr marL="533400" indent="-533400">
              <a:lnSpc>
                <a:spcPct val="110000"/>
              </a:lnSpc>
              <a:spcBef>
                <a:spcPct val="90000"/>
              </a:spcBef>
              <a:buFontTx/>
              <a:buNone/>
            </a:pPr>
            <a:r>
              <a:rPr lang="zh-CN" altLang="en-US" sz="1600" dirty="0" smtClean="0">
                <a:ea typeface="宋体" panose="02010600030101010101" pitchFamily="2" charset="-122"/>
                <a:sym typeface="Wingdings" panose="05000000000000000000" pitchFamily="2" charset="2"/>
              </a:rPr>
              <a:t>	</a:t>
            </a:r>
            <a:r>
              <a:rPr lang="zh-CN" altLang="en-US" sz="1600" dirty="0" smtClean="0">
                <a:ea typeface="宋体" panose="02010600030101010101" pitchFamily="2" charset="-122"/>
              </a:rPr>
              <a:t>（</a:t>
            </a:r>
            <a:r>
              <a:rPr lang="en-US" altLang="zh-CN" sz="1600" i="1" dirty="0" smtClean="0">
                <a:ea typeface="宋体" panose="02010600030101010101" pitchFamily="2" charset="-122"/>
              </a:rPr>
              <a:t>AB</a:t>
            </a:r>
            <a:r>
              <a:rPr lang="zh-CN" altLang="en-US" sz="1600" dirty="0" smtClean="0">
                <a:ea typeface="宋体" panose="02010600030101010101" pitchFamily="2" charset="-122"/>
              </a:rPr>
              <a:t>）</a:t>
            </a:r>
            <a:r>
              <a:rPr lang="en-US" altLang="zh-CN" sz="1600" i="1" baseline="-25000" dirty="0" smtClean="0">
                <a:ea typeface="宋体" panose="02010600030101010101" pitchFamily="2" charset="-122"/>
              </a:rPr>
              <a:t>F</a:t>
            </a:r>
            <a:r>
              <a:rPr lang="en-US" altLang="zh-CN" sz="1600" i="1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sz="1600" dirty="0" smtClean="0">
                <a:ea typeface="宋体" panose="02010600030101010101" pitchFamily="2" charset="-122"/>
              </a:rPr>
              <a:t> =</a:t>
            </a:r>
            <a:r>
              <a:rPr lang="en-US" altLang="zh-CN" sz="1600" i="1" dirty="0" smtClean="0">
                <a:ea typeface="宋体" panose="02010600030101010101" pitchFamily="2" charset="-122"/>
              </a:rPr>
              <a:t>ABCDE</a:t>
            </a:r>
            <a:r>
              <a:rPr lang="zh-CN" altLang="en-US" sz="1600" dirty="0" smtClean="0">
                <a:ea typeface="宋体" panose="02010600030101010101" pitchFamily="2" charset="-122"/>
              </a:rPr>
              <a:t>。</a:t>
            </a:r>
            <a:endParaRPr lang="en-US" altLang="zh-CN" sz="1600" dirty="0" smtClean="0">
              <a:ea typeface="宋体" panose="02010600030101010101" pitchFamily="2" charset="-122"/>
            </a:endParaRPr>
          </a:p>
          <a:p>
            <a:pPr marL="533400" indent="-533400">
              <a:lnSpc>
                <a:spcPct val="110000"/>
              </a:lnSpc>
              <a:spcBef>
                <a:spcPct val="90000"/>
              </a:spcBef>
              <a:buFontTx/>
              <a:buNone/>
            </a:pPr>
            <a:endParaRPr lang="zh-CN" altLang="en-US" sz="1600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844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0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09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09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09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09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09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69888"/>
            <a:ext cx="8229600" cy="793750"/>
          </a:xfrm>
        </p:spPr>
        <p:txBody>
          <a:bodyPr/>
          <a:lstStyle/>
          <a:p>
            <a:r>
              <a:rPr lang="zh-CN" altLang="en-US" sz="4000" dirty="0"/>
              <a:t>计算</a:t>
            </a:r>
            <a:r>
              <a:rPr lang="en-US" altLang="zh-CN" sz="4000" dirty="0"/>
              <a:t>X</a:t>
            </a:r>
            <a:r>
              <a:rPr lang="en-US" altLang="zh-CN" sz="4000" baseline="30000" dirty="0"/>
              <a:t>+  </a:t>
            </a:r>
            <a:r>
              <a:rPr lang="en-US" altLang="zh-CN" sz="4000" dirty="0" smtClean="0"/>
              <a:t>(3)</a:t>
            </a:r>
            <a:r>
              <a:rPr lang="en-US" altLang="zh-CN" sz="3200" b="1" baseline="30000" dirty="0" smtClean="0"/>
              <a:t> </a:t>
            </a:r>
            <a:endParaRPr lang="en-US" altLang="zh-CN" sz="4000" dirty="0" smtClean="0">
              <a:ea typeface="宋体" panose="02010600030101010101" pitchFamily="2" charset="-122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7918" y="1434099"/>
            <a:ext cx="7715250" cy="470693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zh-CN" altLang="en-US" dirty="0">
                <a:solidFill>
                  <a:srgbClr val="FF0000"/>
                </a:solidFill>
              </a:rPr>
              <a:t>求（</a:t>
            </a:r>
            <a:r>
              <a:rPr lang="en-US" altLang="zh-CN" i="1" dirty="0">
                <a:solidFill>
                  <a:srgbClr val="FF0000"/>
                </a:solidFill>
              </a:rPr>
              <a:t>X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en-US" altLang="zh-CN" i="1" baseline="-25000" dirty="0">
                <a:solidFill>
                  <a:srgbClr val="FF0000"/>
                </a:solidFill>
              </a:rPr>
              <a:t>F</a:t>
            </a:r>
            <a:r>
              <a:rPr lang="en-US" altLang="zh-CN" i="1" baseline="30000" dirty="0">
                <a:solidFill>
                  <a:srgbClr val="FF0000"/>
                </a:solidFill>
              </a:rPr>
              <a:t>+</a:t>
            </a: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zh-CN" altLang="en-US" dirty="0">
                <a:solidFill>
                  <a:srgbClr val="FF0000"/>
                </a:solidFill>
              </a:rPr>
              <a:t>的作用</a:t>
            </a:r>
            <a:r>
              <a:rPr lang="zh-CN" altLang="en-US" dirty="0" smtClean="0">
                <a:solidFill>
                  <a:srgbClr val="FF0000"/>
                </a:solidFill>
              </a:rPr>
              <a:t>？  </a:t>
            </a:r>
            <a:r>
              <a:rPr lang="zh-CN" altLang="en-US" dirty="0">
                <a:solidFill>
                  <a:srgbClr val="FF0000"/>
                </a:solidFill>
              </a:rPr>
              <a:t>确定</a:t>
            </a:r>
            <a:r>
              <a:rPr lang="zh-CN" altLang="en-US" dirty="0" smtClean="0">
                <a:solidFill>
                  <a:srgbClr val="FF0000"/>
                </a:solidFill>
              </a:rPr>
              <a:t>码    </a:t>
            </a:r>
            <a:r>
              <a:rPr lang="zh-CN" altLang="en-US" b="1" dirty="0" smtClean="0">
                <a:solidFill>
                  <a:srgbClr val="FF0000"/>
                </a:solidFill>
              </a:rPr>
              <a:t>重点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定理</a:t>
            </a:r>
            <a:r>
              <a:rPr lang="en-US" altLang="zh-CN" dirty="0" smtClean="0">
                <a:ea typeface="宋体" panose="02010600030101010101" pitchFamily="2" charset="-122"/>
              </a:rPr>
              <a:t>: </a:t>
            </a:r>
            <a:r>
              <a:rPr lang="zh-CN" altLang="en-US" dirty="0" smtClean="0">
                <a:ea typeface="宋体" panose="02010600030101010101" pitchFamily="2" charset="-122"/>
              </a:rPr>
              <a:t>如果有</a:t>
            </a:r>
            <a:r>
              <a:rPr lang="en-US" altLang="zh-CN" dirty="0" smtClean="0">
                <a:ea typeface="宋体" panose="02010600030101010101" pitchFamily="2" charset="-122"/>
              </a:rPr>
              <a:t>R(A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1</a:t>
            </a:r>
            <a:r>
              <a:rPr lang="en-US" altLang="zh-CN" dirty="0" smtClean="0">
                <a:ea typeface="宋体" panose="02010600030101010101" pitchFamily="2" charset="-122"/>
              </a:rPr>
              <a:t>, ..., 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n</a:t>
            </a:r>
            <a:r>
              <a:rPr lang="en-US" altLang="zh-CN" dirty="0" smtClean="0">
                <a:ea typeface="宋体" panose="02010600030101010101" pitchFamily="2" charset="-122"/>
              </a:rPr>
              <a:t>) </a:t>
            </a:r>
            <a:r>
              <a:rPr lang="zh-CN" altLang="en-US" dirty="0" smtClean="0">
                <a:ea typeface="宋体" panose="02010600030101010101" pitchFamily="2" charset="-122"/>
              </a:rPr>
              <a:t>和函数依赖</a:t>
            </a:r>
            <a:r>
              <a:rPr lang="en-US" altLang="zh-CN" dirty="0" smtClean="0">
                <a:ea typeface="宋体" panose="02010600030101010101" pitchFamily="2" charset="-122"/>
              </a:rPr>
              <a:t>F in R, K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 R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zh-CN" altLang="en-US" dirty="0" smtClean="0">
                <a:ea typeface="宋体" panose="02010600030101010101" pitchFamily="2" charset="-122"/>
              </a:rPr>
              <a:t>是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zh-CN" altLang="en-US" dirty="0" smtClean="0">
                <a:ea typeface="宋体" panose="02010600030101010101" pitchFamily="2" charset="-122"/>
              </a:rPr>
              <a:t>超码（</a:t>
            </a:r>
            <a:r>
              <a:rPr lang="en-US" altLang="zh-CN" dirty="0"/>
              <a:t> </a:t>
            </a:r>
            <a:r>
              <a:rPr lang="en-US" altLang="zh-CN" dirty="0" err="1"/>
              <a:t>superkey</a:t>
            </a:r>
            <a:r>
              <a:rPr lang="en-US" altLang="zh-CN" dirty="0"/>
              <a:t> </a:t>
            </a:r>
            <a:r>
              <a:rPr lang="zh-CN" altLang="en-US" dirty="0" smtClean="0">
                <a:ea typeface="宋体" panose="02010600030101010101" pitchFamily="2" charset="-122"/>
              </a:rPr>
              <a:t>）如果满足</a:t>
            </a:r>
            <a:r>
              <a:rPr lang="en-US" altLang="zh-CN" dirty="0" smtClean="0">
                <a:ea typeface="宋体" panose="02010600030101010101" pitchFamily="2" charset="-122"/>
              </a:rPr>
              <a:t>K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= {A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1</a:t>
            </a:r>
            <a:r>
              <a:rPr lang="en-US" altLang="zh-CN" dirty="0" smtClean="0">
                <a:ea typeface="宋体" panose="02010600030101010101" pitchFamily="2" charset="-122"/>
              </a:rPr>
              <a:t>, ..., 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n</a:t>
            </a:r>
            <a:r>
              <a:rPr lang="en-US" altLang="zh-CN" dirty="0" smtClean="0">
                <a:ea typeface="宋体" panose="02010600030101010101" pitchFamily="2" charset="-122"/>
              </a:rPr>
              <a:t>};</a:t>
            </a:r>
          </a:p>
          <a:p>
            <a:r>
              <a:rPr lang="zh-CN" altLang="en-US" dirty="0" smtClean="0">
                <a:ea typeface="宋体" panose="02010600030101010101" pitchFamily="2" charset="-122"/>
              </a:rPr>
              <a:t>候选码 （</a:t>
            </a:r>
            <a:r>
              <a:rPr lang="en-US" altLang="zh-CN" dirty="0" err="1" smtClean="0">
                <a:ea typeface="宋体" panose="02010600030101010101" pitchFamily="2" charset="-122"/>
              </a:rPr>
              <a:t>candidatekey</a:t>
            </a:r>
            <a:r>
              <a:rPr lang="zh-CN" altLang="en-US" dirty="0" smtClean="0">
                <a:ea typeface="宋体" panose="02010600030101010101" pitchFamily="2" charset="-122"/>
              </a:rPr>
              <a:t>）如果</a:t>
            </a:r>
            <a:r>
              <a:rPr lang="en-US" altLang="zh-CN" dirty="0" smtClean="0">
                <a:ea typeface="宋体" panose="02010600030101010101" pitchFamily="2" charset="-122"/>
              </a:rPr>
              <a:t> K</a:t>
            </a:r>
            <a:r>
              <a:rPr lang="zh-CN" altLang="en-US" dirty="0" smtClean="0">
                <a:ea typeface="宋体" panose="02010600030101010101" pitchFamily="2" charset="-122"/>
              </a:rPr>
              <a:t>是超码，并且对于</a:t>
            </a:r>
            <a:r>
              <a:rPr lang="en-US" altLang="zh-CN" dirty="0" smtClean="0">
                <a:ea typeface="宋体" panose="02010600030101010101" pitchFamily="2" charset="-122"/>
              </a:rPr>
              <a:t>K</a:t>
            </a:r>
            <a:r>
              <a:rPr lang="zh-CN" altLang="en-US" dirty="0" smtClean="0">
                <a:ea typeface="宋体" panose="02010600030101010101" pitchFamily="2" charset="-122"/>
              </a:rPr>
              <a:t>的任意子集</a:t>
            </a:r>
            <a:r>
              <a:rPr lang="en-US" altLang="zh-CN" dirty="0" smtClean="0">
                <a:ea typeface="宋体" panose="02010600030101010101" pitchFamily="2" charset="-122"/>
              </a:rPr>
              <a:t> X, X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dirty="0" smtClean="0">
                <a:ea typeface="宋体" panose="02010600030101010101" pitchFamily="2" charset="-122"/>
                <a:sym typeface="Math B" pitchFamily="2" charset="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</a:rPr>
              <a:t>{A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1</a:t>
            </a:r>
            <a:r>
              <a:rPr lang="en-US" altLang="zh-CN" dirty="0" smtClean="0">
                <a:ea typeface="宋体" panose="02010600030101010101" pitchFamily="2" charset="-122"/>
              </a:rPr>
              <a:t>, ..., 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n</a:t>
            </a:r>
            <a:r>
              <a:rPr lang="en-US" altLang="zh-CN" dirty="0" smtClean="0">
                <a:ea typeface="宋体" panose="02010600030101010101" pitchFamily="2" charset="-122"/>
              </a:rPr>
              <a:t>}.</a:t>
            </a:r>
            <a:r>
              <a:rPr lang="en-US" altLang="zh-CN" b="1" dirty="0" smtClean="0">
                <a:ea typeface="宋体" panose="02010600030101010101" pitchFamily="2" charset="-122"/>
              </a:rPr>
              <a:t> </a:t>
            </a:r>
          </a:p>
          <a:p>
            <a:endParaRPr lang="en-US" altLang="zh-CN" b="1" dirty="0" smtClean="0"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ea typeface="宋体" panose="02010600030101010101" pitchFamily="2" charset="-122"/>
              </a:rPr>
              <a:t>在上面例子中</a:t>
            </a:r>
            <a:endParaRPr lang="en-US" altLang="zh-CN" b="1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dirty="0"/>
              <a:t>AB </a:t>
            </a:r>
            <a:r>
              <a:rPr lang="zh-CN" altLang="en-US" dirty="0" smtClean="0"/>
              <a:t>是超码，因为</a:t>
            </a:r>
            <a:r>
              <a:rPr lang="en-US" altLang="zh-CN" dirty="0" smtClean="0"/>
              <a:t> </a:t>
            </a:r>
            <a:r>
              <a:rPr lang="en-US" altLang="zh-CN" dirty="0"/>
              <a:t>(AB)</a:t>
            </a:r>
            <a:r>
              <a:rPr lang="en-US" altLang="zh-CN" baseline="30000" dirty="0"/>
              <a:t>+</a:t>
            </a:r>
            <a:r>
              <a:rPr lang="en-US" altLang="zh-CN" dirty="0"/>
              <a:t> = ABCDE. </a:t>
            </a:r>
          </a:p>
          <a:p>
            <a:pPr lvl="1"/>
            <a:r>
              <a:rPr lang="zh-CN" altLang="en-US" dirty="0" smtClean="0"/>
              <a:t>因为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baseline="30000" dirty="0"/>
              <a:t>+</a:t>
            </a:r>
            <a:r>
              <a:rPr lang="en-US" altLang="zh-CN" dirty="0"/>
              <a:t> = A, B</a:t>
            </a:r>
            <a:r>
              <a:rPr lang="en-US" altLang="zh-CN" baseline="30000" dirty="0"/>
              <a:t>+</a:t>
            </a:r>
            <a:r>
              <a:rPr lang="en-US" altLang="zh-CN" dirty="0"/>
              <a:t> = BD, </a:t>
            </a:r>
            <a:r>
              <a:rPr lang="en-US" altLang="zh-CN" dirty="0" smtClean="0"/>
              <a:t>A </a:t>
            </a:r>
            <a:r>
              <a:rPr lang="zh-CN" altLang="en-US" dirty="0" smtClean="0"/>
              <a:t>或</a:t>
            </a:r>
            <a:r>
              <a:rPr lang="en-US" altLang="zh-CN" dirty="0" smtClean="0"/>
              <a:t> B</a:t>
            </a:r>
            <a:r>
              <a:rPr lang="zh-CN" altLang="en-US" dirty="0" smtClean="0"/>
              <a:t>不是超码</a:t>
            </a:r>
            <a:r>
              <a:rPr lang="en-US" altLang="zh-CN" dirty="0" smtClean="0"/>
              <a:t>.</a:t>
            </a:r>
            <a:endParaRPr lang="en-US" altLang="zh-CN" dirty="0"/>
          </a:p>
          <a:p>
            <a:pPr lvl="1"/>
            <a:r>
              <a:rPr lang="zh-CN" altLang="en-US" dirty="0" smtClean="0"/>
              <a:t>所以</a:t>
            </a:r>
            <a:r>
              <a:rPr lang="en-US" altLang="zh-CN" dirty="0" smtClean="0"/>
              <a:t>AB</a:t>
            </a:r>
            <a:r>
              <a:rPr lang="zh-CN" altLang="en-US" dirty="0" smtClean="0"/>
              <a:t>是候选码</a:t>
            </a:r>
            <a:endParaRPr lang="zh-CN" altLang="en-US" b="1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7698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" y="138113"/>
            <a:ext cx="7343775" cy="846137"/>
          </a:xfrm>
        </p:spPr>
        <p:txBody>
          <a:bodyPr/>
          <a:lstStyle/>
          <a:p>
            <a:r>
              <a:rPr lang="en-US" altLang="zh-CN" sz="4000" smtClean="0">
                <a:latin typeface="Victorian LET"/>
                <a:ea typeface="宋体" panose="02010600030101010101" pitchFamily="2" charset="-122"/>
              </a:rPr>
              <a:t>Worked Example 1: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" y="1652588"/>
            <a:ext cx="8785225" cy="4406900"/>
          </a:xfrm>
        </p:spPr>
        <p:txBody>
          <a:bodyPr/>
          <a:lstStyle/>
          <a:p>
            <a:pPr marL="549275" indent="-549275" defTabSz="823913">
              <a:buFont typeface="Wingdings" panose="05000000000000000000" pitchFamily="2" charset="2"/>
              <a:buNone/>
            </a:pPr>
            <a:r>
              <a:rPr lang="en-US" altLang="zh-CN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Relation schema: 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R = (A, B, C, D, E)</a:t>
            </a:r>
          </a:p>
          <a:p>
            <a:pPr marL="549275" indent="-549275" defTabSz="823913">
              <a:buFont typeface="Wingdings" panose="05000000000000000000" pitchFamily="2" charset="2"/>
              <a:buNone/>
            </a:pP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F = {A-&gt;BC, CD-&gt;E, A-&gt;D, B-&gt;D, E-&gt;A}</a:t>
            </a:r>
          </a:p>
          <a:p>
            <a:pPr marL="549275" indent="-549275" defTabSz="823913">
              <a:buFont typeface="Wingdings" panose="05000000000000000000" pitchFamily="2" charset="2"/>
              <a:buAutoNum type="arabicParenR"/>
            </a:pP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Find A</a:t>
            </a:r>
            <a:r>
              <a:rPr lang="en-US" altLang="zh-CN" i="1" baseline="300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+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, B</a:t>
            </a:r>
            <a:r>
              <a:rPr lang="en-US" altLang="zh-CN" i="1" baseline="300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+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, BC</a:t>
            </a:r>
            <a:r>
              <a:rPr lang="en-US" altLang="zh-CN" i="1" baseline="300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+</a:t>
            </a:r>
          </a:p>
          <a:p>
            <a:pPr marL="549275" indent="-549275" defTabSz="823913">
              <a:buFont typeface="Wingdings" panose="05000000000000000000" pitchFamily="2" charset="2"/>
              <a:buAutoNum type="arabicParenR"/>
            </a:pPr>
            <a:r>
              <a:rPr lang="en-US" altLang="zh-CN" i="1" dirty="0" smtClean="0">
                <a:latin typeface="Book Antiqua" panose="02040602050305030304" pitchFamily="18" charset="0"/>
              </a:rPr>
              <a:t>Find </a:t>
            </a:r>
            <a:r>
              <a:rPr lang="en-US" altLang="zh-CN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Candidate </a:t>
            </a:r>
            <a:r>
              <a:rPr lang="en-US" altLang="zh-CN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keys of 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R?</a:t>
            </a:r>
            <a:endParaRPr lang="en-US" altLang="zh-CN" i="1" dirty="0" smtClean="0">
              <a:latin typeface="Book Antiqua" panose="0204060205030503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56174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" y="138113"/>
            <a:ext cx="7343775" cy="846137"/>
          </a:xfrm>
        </p:spPr>
        <p:txBody>
          <a:bodyPr/>
          <a:lstStyle/>
          <a:p>
            <a:r>
              <a:rPr lang="en-US" altLang="zh-CN" sz="4000" smtClean="0">
                <a:latin typeface="Victorian LET"/>
                <a:ea typeface="宋体" panose="02010600030101010101" pitchFamily="2" charset="-122"/>
              </a:rPr>
              <a:t>Worked Example 1  (cont’)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" y="1652588"/>
            <a:ext cx="8785225" cy="4406900"/>
          </a:xfrm>
        </p:spPr>
        <p:txBody>
          <a:bodyPr/>
          <a:lstStyle/>
          <a:p>
            <a:pPr marL="549275" indent="-549275" defTabSz="823913">
              <a:buFont typeface="Wingdings" panose="05000000000000000000" pitchFamily="2" charset="2"/>
              <a:buNone/>
            </a:pPr>
            <a:r>
              <a:rPr lang="en-US" altLang="zh-CN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Compute 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A</a:t>
            </a:r>
            <a:r>
              <a:rPr lang="en-US" altLang="zh-CN" i="1" baseline="300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(F = {A-&gt;BC, CD-&gt;E, A-&gt;D, B-&gt;D, E-&gt;A})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result = </a:t>
            </a:r>
            <a:r>
              <a:rPr lang="en-US" altLang="zh-CN" i="1" dirty="0" smtClean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A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  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result = 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A</a:t>
            </a:r>
            <a:r>
              <a:rPr lang="en-US" altLang="zh-CN" i="1" dirty="0" smtClean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BCD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result = 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ABCD</a:t>
            </a:r>
            <a:r>
              <a:rPr lang="en-US" altLang="zh-CN" i="1" dirty="0" smtClean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E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i="1" dirty="0" smtClean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Therefore 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A</a:t>
            </a:r>
            <a:r>
              <a:rPr lang="en-US" altLang="zh-CN" i="1" baseline="300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= 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ABCD</a:t>
            </a:r>
            <a:r>
              <a:rPr lang="en-US" altLang="zh-CN" i="1" dirty="0" smtClean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E</a:t>
            </a:r>
          </a:p>
          <a:p>
            <a:pPr marL="549275" indent="-549275" defTabSz="823913">
              <a:buFontTx/>
              <a:buAutoNum type="arabicPeriod"/>
            </a:pPr>
            <a:endParaRPr lang="en-US" altLang="zh-CN" i="1" dirty="0" smtClean="0">
              <a:latin typeface="Book Antiqua" panose="02040602050305030304" pitchFamily="18" charset="0"/>
              <a:ea typeface="宋体" panose="02010600030101010101" pitchFamily="2" charset="-122"/>
            </a:endParaRP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4052888" y="2244725"/>
            <a:ext cx="2101394" cy="468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479" tIns="41239" rIns="82479" bIns="41239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500" dirty="0">
                <a:solidFill>
                  <a:schemeClr val="accent2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A-&gt;BC </a:t>
            </a:r>
            <a:r>
              <a:rPr lang="en-US" altLang="zh-CN" sz="2500" dirty="0" smtClean="0">
                <a:solidFill>
                  <a:schemeClr val="accent2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 A-</a:t>
            </a:r>
            <a:r>
              <a:rPr lang="en-US" altLang="zh-CN" sz="2500" dirty="0">
                <a:solidFill>
                  <a:schemeClr val="accent2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&gt;D</a:t>
            </a:r>
          </a:p>
        </p:txBody>
      </p:sp>
      <p:sp>
        <p:nvSpPr>
          <p:cNvPr id="53254" name="Text Box 6"/>
          <p:cNvSpPr txBox="1">
            <a:spLocks noChangeArrowheads="1"/>
          </p:cNvSpPr>
          <p:nvPr/>
        </p:nvSpPr>
        <p:spPr bwMode="auto">
          <a:xfrm>
            <a:off x="4052888" y="2787562"/>
            <a:ext cx="113823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479" tIns="41239" rIns="82479" bIns="41239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500" dirty="0">
                <a:solidFill>
                  <a:schemeClr val="accent2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CD-&gt;E</a:t>
            </a:r>
          </a:p>
        </p:txBody>
      </p:sp>
    </p:spTree>
    <p:extLst>
      <p:ext uri="{BB962C8B-B14F-4D97-AF65-F5344CB8AC3E}">
        <p14:creationId xmlns:p14="http://schemas.microsoft.com/office/powerpoint/2010/main" val="36381546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/>
      <p:bldP spid="5325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" y="1652588"/>
            <a:ext cx="8785225" cy="4406900"/>
          </a:xfrm>
        </p:spPr>
        <p:txBody>
          <a:bodyPr/>
          <a:lstStyle/>
          <a:p>
            <a:pPr marL="549275" indent="-549275" defTabSz="823913">
              <a:buFont typeface="Wingdings" panose="05000000000000000000" pitchFamily="2" charset="2"/>
              <a:buNone/>
            </a:pPr>
            <a:r>
              <a:rPr lang="en-US" altLang="zh-CN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Compute 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B</a:t>
            </a:r>
            <a:r>
              <a:rPr lang="en-US" altLang="zh-CN" i="1" baseline="300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(F = {A-&gt;BC, CD-&gt;E, A-&gt;D, B-&gt;D, E-&gt;A})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result = </a:t>
            </a:r>
            <a:r>
              <a:rPr lang="en-US" altLang="zh-CN" i="1" dirty="0" smtClean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B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result = 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B</a:t>
            </a:r>
            <a:r>
              <a:rPr lang="en-US" altLang="zh-CN" i="1" dirty="0" smtClean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D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i="1" dirty="0" smtClean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Therefore 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B</a:t>
            </a:r>
            <a:r>
              <a:rPr lang="en-US" altLang="zh-CN" i="1" baseline="300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=BD</a:t>
            </a:r>
            <a:endParaRPr lang="en-US" altLang="zh-CN" i="1" dirty="0" smtClean="0">
              <a:solidFill>
                <a:srgbClr val="FF0000"/>
              </a:solidFill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buFontTx/>
              <a:buAutoNum type="arabicPeriod"/>
            </a:pPr>
            <a:endParaRPr lang="en-US" altLang="zh-CN" i="1" dirty="0" smtClean="0">
              <a:latin typeface="Book Antiqua" panose="02040602050305030304" pitchFamily="18" charset="0"/>
              <a:ea typeface="宋体" panose="02010600030101010101" pitchFamily="2" charset="-122"/>
            </a:endParaRP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3405188" y="2179638"/>
            <a:ext cx="91122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479" tIns="41239" rIns="82479" bIns="41239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500">
                <a:solidFill>
                  <a:schemeClr val="accent2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B-&gt;D</a:t>
            </a:r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7343775" cy="846138"/>
          </a:xfrm>
        </p:spPr>
        <p:txBody>
          <a:bodyPr/>
          <a:lstStyle/>
          <a:p>
            <a:r>
              <a:rPr lang="en-US" altLang="zh-CN" sz="4000" smtClean="0">
                <a:latin typeface="Victorian LET"/>
                <a:ea typeface="宋体" panose="02010600030101010101" pitchFamily="2" charset="-122"/>
              </a:rPr>
              <a:t>Worked Example 1  (cont’)</a:t>
            </a:r>
          </a:p>
        </p:txBody>
      </p:sp>
    </p:spTree>
    <p:extLst>
      <p:ext uri="{BB962C8B-B14F-4D97-AF65-F5344CB8AC3E}">
        <p14:creationId xmlns:p14="http://schemas.microsoft.com/office/powerpoint/2010/main" val="4327756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" y="1652588"/>
            <a:ext cx="8785225" cy="4406900"/>
          </a:xfrm>
        </p:spPr>
        <p:txBody>
          <a:bodyPr/>
          <a:lstStyle/>
          <a:p>
            <a:pPr marL="549275" indent="-549275" defTabSz="823913">
              <a:buFont typeface="Wingdings" panose="05000000000000000000" pitchFamily="2" charset="2"/>
              <a:buNone/>
            </a:pPr>
            <a:r>
              <a:rPr lang="en-US" altLang="zh-CN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Compute 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BC</a:t>
            </a:r>
            <a:r>
              <a:rPr lang="en-US" altLang="zh-CN" i="1" baseline="300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(F = {A-&gt;BC, CD-&gt;E, A-&gt;D, B-&gt;D, E-&gt;A})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result = </a:t>
            </a:r>
            <a:r>
              <a:rPr lang="en-US" altLang="zh-CN" i="1" dirty="0" smtClean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BC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		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result = 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BC</a:t>
            </a:r>
            <a:r>
              <a:rPr lang="en-US" altLang="zh-CN" i="1" dirty="0" smtClean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D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result = 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BCD</a:t>
            </a:r>
            <a:r>
              <a:rPr lang="en-US" altLang="zh-CN" i="1" dirty="0" smtClean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E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result = </a:t>
            </a:r>
            <a:r>
              <a:rPr lang="en-US" altLang="zh-CN" i="1" dirty="0" smtClean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A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BCDE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Therefore BC</a:t>
            </a:r>
            <a:r>
              <a:rPr lang="en-US" altLang="zh-CN" i="1" baseline="300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=ABCDE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Hence candidate keys are??</a:t>
            </a:r>
            <a:endParaRPr lang="en-US" altLang="zh-CN" i="1" dirty="0" smtClean="0">
              <a:latin typeface="Book Antiqua" panose="02040602050305030304" pitchFamily="18" charset="0"/>
              <a:ea typeface="宋体" panose="02010600030101010101" pitchFamily="2" charset="-122"/>
            </a:endParaRP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4052888" y="2179638"/>
            <a:ext cx="91122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479" tIns="41239" rIns="82479" bIns="41239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500">
                <a:solidFill>
                  <a:schemeClr val="accent2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B-&gt;D</a:t>
            </a:r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4052888" y="2714625"/>
            <a:ext cx="113823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479" tIns="41239" rIns="82479" bIns="41239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500">
                <a:solidFill>
                  <a:schemeClr val="accent2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CD-&gt;E</a:t>
            </a:r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4016375" y="3284538"/>
            <a:ext cx="91281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479" tIns="41239" rIns="82479" bIns="41239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500" dirty="0">
                <a:solidFill>
                  <a:schemeClr val="accent2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E-&gt;A</a:t>
            </a:r>
          </a:p>
        </p:txBody>
      </p:sp>
      <p:sp>
        <p:nvSpPr>
          <p:cNvPr id="53254" name="Rectangle 2"/>
          <p:cNvSpPr>
            <a:spLocks noGrp="1" noChangeArrowheads="1"/>
          </p:cNvSpPr>
          <p:nvPr>
            <p:ph type="title"/>
          </p:nvPr>
        </p:nvSpPr>
        <p:spPr>
          <a:xfrm>
            <a:off x="267759" y="193146"/>
            <a:ext cx="7343775" cy="846137"/>
          </a:xfrm>
        </p:spPr>
        <p:txBody>
          <a:bodyPr/>
          <a:lstStyle/>
          <a:p>
            <a:r>
              <a:rPr lang="en-US" altLang="zh-CN" sz="4000" dirty="0" smtClean="0">
                <a:latin typeface="Victorian LET"/>
                <a:ea typeface="宋体" panose="02010600030101010101" pitchFamily="2" charset="-122"/>
              </a:rPr>
              <a:t>Worked Example 1  (</a:t>
            </a:r>
            <a:r>
              <a:rPr lang="en-US" altLang="zh-CN" sz="4000" dirty="0" err="1" smtClean="0">
                <a:latin typeface="Victorian LET"/>
                <a:ea typeface="宋体" panose="02010600030101010101" pitchFamily="2" charset="-122"/>
              </a:rPr>
              <a:t>cont</a:t>
            </a:r>
            <a:r>
              <a:rPr lang="en-US" altLang="zh-CN" sz="4000" dirty="0" smtClean="0">
                <a:latin typeface="Victorian LET"/>
                <a:ea typeface="宋体" panose="02010600030101010101" pitchFamily="2" charset="-122"/>
              </a:rPr>
              <a:t>’)</a:t>
            </a:r>
          </a:p>
        </p:txBody>
      </p:sp>
    </p:spTree>
    <p:extLst>
      <p:ext uri="{BB962C8B-B14F-4D97-AF65-F5344CB8AC3E}">
        <p14:creationId xmlns:p14="http://schemas.microsoft.com/office/powerpoint/2010/main" val="35827564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/>
      <p:bldP spid="52229" grpId="0"/>
      <p:bldP spid="5223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" y="138113"/>
            <a:ext cx="7343775" cy="846137"/>
          </a:xfrm>
        </p:spPr>
        <p:txBody>
          <a:bodyPr/>
          <a:lstStyle/>
          <a:p>
            <a:r>
              <a:rPr lang="en-US" altLang="zh-CN" sz="4000" smtClean="0">
                <a:latin typeface="Victorian LET"/>
                <a:ea typeface="宋体" panose="02010600030101010101" pitchFamily="2" charset="-122"/>
              </a:rPr>
              <a:t>Example 2 (cont’)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" y="1652588"/>
            <a:ext cx="8785225" cy="4406900"/>
          </a:xfrm>
        </p:spPr>
        <p:txBody>
          <a:bodyPr>
            <a:normAutofit lnSpcReduction="10000"/>
          </a:bodyPr>
          <a:lstStyle/>
          <a:p>
            <a:pPr marL="549275" indent="-549275" defTabSz="823913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List Candidate keys of </a:t>
            </a: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R</a:t>
            </a:r>
          </a:p>
          <a:p>
            <a:pPr marL="549275" indent="-549275" defTabSz="823913">
              <a:spcBef>
                <a:spcPct val="0"/>
              </a:spcBef>
              <a:buNone/>
            </a:pP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F = {A-&gt;BC, CD-&gt;E, </a:t>
            </a:r>
            <a:r>
              <a:rPr lang="en-US" altLang="zh-CN" sz="2500" i="1" dirty="0">
                <a:latin typeface="Book Antiqua" panose="02040602050305030304" pitchFamily="18" charset="0"/>
              </a:rPr>
              <a:t>A-&gt;</a:t>
            </a:r>
            <a:r>
              <a:rPr lang="en-US" altLang="zh-CN" sz="2500" i="1" dirty="0" smtClean="0">
                <a:latin typeface="Book Antiqua" panose="02040602050305030304" pitchFamily="18" charset="0"/>
              </a:rPr>
              <a:t>D,B-</a:t>
            </a: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&gt;D, E-&gt;A}</a:t>
            </a:r>
          </a:p>
          <a:p>
            <a:pPr marL="549275" indent="-549275" defTabSz="823913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500" i="1" dirty="0" smtClean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lnSpc>
                <a:spcPct val="90000"/>
              </a:lnSpc>
            </a:pPr>
            <a:r>
              <a:rPr lang="en-US" altLang="zh-TW" sz="2500" dirty="0" smtClean="0">
                <a:ea typeface="PMingLiU" pitchFamily="18" charset="-120"/>
                <a:sym typeface="Symbol" panose="05050102010706020507" pitchFamily="18" charset="2"/>
              </a:rPr>
              <a:t>Let  be a </a:t>
            </a:r>
            <a:r>
              <a:rPr lang="en-US" altLang="zh-TW" sz="2500" i="1" dirty="0" smtClean="0">
                <a:ea typeface="PMingLiU" pitchFamily="18" charset="-120"/>
                <a:sym typeface="Symbol" panose="05050102010706020507" pitchFamily="18" charset="2"/>
              </a:rPr>
              <a:t>candidate key</a:t>
            </a:r>
            <a:r>
              <a:rPr lang="en-US" altLang="zh-TW" sz="2500" dirty="0" smtClean="0">
                <a:ea typeface="PMingLiU" pitchFamily="18" charset="-120"/>
                <a:sym typeface="Symbol" panose="05050102010706020507" pitchFamily="18" charset="2"/>
              </a:rPr>
              <a:t> for R</a:t>
            </a:r>
          </a:p>
          <a:p>
            <a:pPr marL="549275" indent="-549275" defTabSz="823913">
              <a:lnSpc>
                <a:spcPct val="90000"/>
              </a:lnSpc>
              <a:buFont typeface="Symbol" panose="05050102010706020507" pitchFamily="18" charset="2"/>
              <a:buChar char="Û"/>
            </a:pPr>
            <a:r>
              <a:rPr lang="en-US" altLang="zh-TW" sz="2500" dirty="0" smtClean="0">
                <a:ea typeface="PMingLiU" pitchFamily="18" charset="-120"/>
                <a:sym typeface="Symbol" panose="05050102010706020507" pitchFamily="18" charset="2"/>
              </a:rPr>
              <a:t>  R, there is no  </a:t>
            </a:r>
            <a:r>
              <a:rPr lang="en-US" altLang="zh-TW" sz="2500" dirty="0" err="1" smtClean="0">
                <a:ea typeface="PMingLiU" pitchFamily="18" charset="-120"/>
                <a:sym typeface="Symbol" panose="05050102010706020507" pitchFamily="18" charset="2"/>
              </a:rPr>
              <a:t>s.t.</a:t>
            </a:r>
            <a:r>
              <a:rPr lang="en-US" altLang="zh-TW" sz="2500" dirty="0" smtClean="0">
                <a:ea typeface="PMingLiU" pitchFamily="18" charset="-120"/>
                <a:sym typeface="Symbol" panose="05050102010706020507" pitchFamily="18" charset="2"/>
              </a:rPr>
              <a:t>   ,   R</a:t>
            </a:r>
          </a:p>
          <a:p>
            <a:pPr marL="549275" indent="-549275" defTabSz="823913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500" i="1" dirty="0" smtClean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500" i="1" dirty="0" smtClean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500" i="1" dirty="0" smtClean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A?		B?	C?	D?	E?</a:t>
            </a:r>
          </a:p>
          <a:p>
            <a:pPr marL="549275" indent="-549275" defTabSz="823913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AB?  AC? AD? AE? BC? BD? BE?CD? CE? DE?</a:t>
            </a:r>
          </a:p>
          <a:p>
            <a:pPr marL="549275" indent="-549275" defTabSz="823913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ABC? …</a:t>
            </a:r>
            <a:endParaRPr lang="en-US" altLang="zh-CN" sz="2500" i="1" dirty="0" smtClean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500" dirty="0" smtClean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Candidate keys : </a:t>
            </a: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A    E   BC   CD</a:t>
            </a:r>
          </a:p>
        </p:txBody>
      </p:sp>
    </p:spTree>
    <p:extLst>
      <p:ext uri="{BB962C8B-B14F-4D97-AF65-F5344CB8AC3E}">
        <p14:creationId xmlns:p14="http://schemas.microsoft.com/office/powerpoint/2010/main" val="28012744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542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93147"/>
            <a:ext cx="9144000" cy="863600"/>
          </a:xfrm>
        </p:spPr>
        <p:txBody>
          <a:bodyPr/>
          <a:lstStyle/>
          <a:p>
            <a:r>
              <a:rPr lang="en-US" altLang="zh-CN" sz="4000" dirty="0" smtClean="0"/>
              <a:t>4 </a:t>
            </a:r>
            <a:r>
              <a:rPr lang="zh-CN" altLang="en-US" sz="4000" dirty="0" smtClean="0"/>
              <a:t>确定候选码</a:t>
            </a:r>
            <a:r>
              <a:rPr lang="en-US" altLang="zh-CN" sz="4000" dirty="0" smtClean="0">
                <a:ea typeface="宋体" panose="02010600030101010101" pitchFamily="2" charset="-122"/>
              </a:rPr>
              <a:t>(1)</a:t>
            </a:r>
            <a:endParaRPr lang="en-US" altLang="zh-CN" sz="3200" b="1" dirty="0" smtClean="0">
              <a:ea typeface="宋体" panose="02010600030101010101" pitchFamily="2" charset="-122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64783"/>
            <a:ext cx="8229600" cy="44259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Let F be a set of FDs in relation schema R(A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1</a:t>
            </a:r>
            <a:r>
              <a:rPr lang="en-US" altLang="zh-CN" dirty="0" smtClean="0">
                <a:ea typeface="宋体" panose="02010600030101010101" pitchFamily="2" charset="-122"/>
              </a:rPr>
              <a:t>, ..., 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n</a:t>
            </a:r>
            <a:r>
              <a:rPr lang="en-US" altLang="zh-CN" dirty="0" smtClean="0">
                <a:ea typeface="宋体" panose="02010600030101010101" pitchFamily="2" charset="-122"/>
              </a:rPr>
              <a:t>).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Method 1 (can be automated)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(1) for each 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i</a:t>
            </a:r>
            <a:r>
              <a:rPr lang="en-US" altLang="zh-CN" dirty="0" smtClean="0">
                <a:ea typeface="宋体" panose="02010600030101010101" pitchFamily="2" charset="-122"/>
              </a:rPr>
              <a:t>, compute 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i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if 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i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= 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1</a:t>
            </a:r>
            <a:r>
              <a:rPr lang="en-US" altLang="zh-CN" dirty="0" smtClean="0">
                <a:ea typeface="宋体" panose="02010600030101010101" pitchFamily="2" charset="-122"/>
              </a:rPr>
              <a:t> 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2</a:t>
            </a:r>
            <a:r>
              <a:rPr lang="en-US" altLang="zh-CN" dirty="0" smtClean="0">
                <a:ea typeface="宋体" panose="02010600030101010101" pitchFamily="2" charset="-122"/>
              </a:rPr>
              <a:t> ... 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aseline="-10000" dirty="0" smtClean="0">
                <a:ea typeface="宋体" panose="02010600030101010101" pitchFamily="2" charset="-122"/>
              </a:rPr>
              <a:t>               </a:t>
            </a:r>
            <a:r>
              <a:rPr lang="en-US" altLang="zh-CN" dirty="0" smtClean="0">
                <a:ea typeface="宋体" panose="02010600030101010101" pitchFamily="2" charset="-122"/>
              </a:rPr>
              <a:t>then 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i</a:t>
            </a:r>
            <a:r>
              <a:rPr lang="en-US" altLang="zh-CN" dirty="0" smtClean="0">
                <a:ea typeface="宋体" panose="02010600030101010101" pitchFamily="2" charset="-122"/>
              </a:rPr>
              <a:t> is a candidate key;</a:t>
            </a:r>
            <a:r>
              <a:rPr lang="en-US" altLang="zh-CN" b="1" dirty="0" smtClean="0">
                <a:ea typeface="宋体" panose="02010600030101010101" pitchFamily="2" charset="-122"/>
              </a:rPr>
              <a:t> 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969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6916"/>
            <a:ext cx="9144000" cy="720725"/>
          </a:xfrm>
        </p:spPr>
        <p:txBody>
          <a:bodyPr/>
          <a:lstStyle/>
          <a:p>
            <a:r>
              <a:rPr lang="zh-CN" altLang="en-US" sz="4000" dirty="0"/>
              <a:t>确定候选码</a:t>
            </a:r>
            <a:r>
              <a:rPr lang="en-US" altLang="zh-CN" sz="4000" dirty="0" smtClean="0"/>
              <a:t>(2)</a:t>
            </a:r>
            <a:endParaRPr lang="en-US" altLang="zh-CN" sz="3200" b="1" dirty="0" smtClean="0">
              <a:ea typeface="宋体" panose="02010600030101010101" pitchFamily="2" charset="-122"/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4838" y="2051050"/>
            <a:ext cx="8081962" cy="40513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(2) for each pair </a:t>
            </a:r>
            <a:r>
              <a:rPr lang="en-US" altLang="zh-CN" dirty="0" err="1" smtClean="0">
                <a:ea typeface="宋体" panose="02010600030101010101" pitchFamily="2" charset="-122"/>
              </a:rPr>
              <a:t>A</a:t>
            </a:r>
            <a:r>
              <a:rPr lang="en-US" altLang="zh-CN" baseline="-10000" dirty="0" err="1" smtClean="0">
                <a:ea typeface="宋体" panose="02010600030101010101" pitchFamily="2" charset="-122"/>
              </a:rPr>
              <a:t>i</a:t>
            </a:r>
            <a:r>
              <a:rPr lang="en-US" altLang="zh-CN" dirty="0" err="1" smtClean="0">
                <a:ea typeface="宋体" panose="02010600030101010101" pitchFamily="2" charset="-122"/>
              </a:rPr>
              <a:t>A</a:t>
            </a:r>
            <a:r>
              <a:rPr lang="en-US" altLang="zh-CN" baseline="-10000" dirty="0" err="1" smtClean="0">
                <a:ea typeface="宋体" panose="02010600030101010101" pitchFamily="2" charset="-122"/>
              </a:rPr>
              <a:t>j</a:t>
            </a:r>
            <a:r>
              <a:rPr lang="en-US" altLang="zh-CN" dirty="0" smtClean="0">
                <a:ea typeface="宋体" panose="02010600030101010101" pitchFamily="2" charset="-122"/>
              </a:rPr>
              <a:t>, </a:t>
            </a:r>
            <a:r>
              <a:rPr lang="en-US" altLang="zh-CN" dirty="0" err="1" smtClean="0">
                <a:ea typeface="宋体" panose="02010600030101010101" pitchFamily="2" charset="-122"/>
              </a:rPr>
              <a:t>i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dirty="0" smtClean="0">
                <a:ea typeface="宋体" panose="02010600030101010101" pitchFamily="2" charset="-122"/>
              </a:rPr>
              <a:t> j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if 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i</a:t>
            </a:r>
            <a:r>
              <a:rPr lang="en-US" altLang="zh-CN" dirty="0" smtClean="0">
                <a:ea typeface="宋体" panose="02010600030101010101" pitchFamily="2" charset="-122"/>
              </a:rPr>
              <a:t> or </a:t>
            </a:r>
            <a:r>
              <a:rPr lang="en-US" altLang="zh-CN" dirty="0" err="1" smtClean="0">
                <a:ea typeface="宋体" panose="02010600030101010101" pitchFamily="2" charset="-122"/>
              </a:rPr>
              <a:t>A</a:t>
            </a:r>
            <a:r>
              <a:rPr lang="en-US" altLang="zh-CN" baseline="-10000" dirty="0" err="1" smtClean="0">
                <a:ea typeface="宋体" panose="02010600030101010101" pitchFamily="2" charset="-122"/>
              </a:rPr>
              <a:t>j</a:t>
            </a:r>
            <a:r>
              <a:rPr lang="en-US" altLang="zh-CN" dirty="0" smtClean="0">
                <a:ea typeface="宋体" panose="02010600030101010101" pitchFamily="2" charset="-122"/>
              </a:rPr>
              <a:t> is a candidate key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then </a:t>
            </a:r>
            <a:r>
              <a:rPr lang="en-US" altLang="zh-CN" dirty="0" err="1" smtClean="0">
                <a:ea typeface="宋体" panose="02010600030101010101" pitchFamily="2" charset="-122"/>
              </a:rPr>
              <a:t>A</a:t>
            </a:r>
            <a:r>
              <a:rPr lang="en-US" altLang="zh-CN" baseline="-10000" dirty="0" err="1" smtClean="0">
                <a:ea typeface="宋体" panose="02010600030101010101" pitchFamily="2" charset="-122"/>
              </a:rPr>
              <a:t>i</a:t>
            </a:r>
            <a:r>
              <a:rPr lang="en-US" altLang="zh-CN" dirty="0" err="1" smtClean="0">
                <a:ea typeface="宋体" panose="02010600030101010101" pitchFamily="2" charset="-122"/>
              </a:rPr>
              <a:t>A</a:t>
            </a:r>
            <a:r>
              <a:rPr lang="en-US" altLang="zh-CN" baseline="-10000" dirty="0" err="1" smtClean="0">
                <a:ea typeface="宋体" panose="02010600030101010101" pitchFamily="2" charset="-122"/>
              </a:rPr>
              <a:t>j</a:t>
            </a:r>
            <a:r>
              <a:rPr lang="en-US" altLang="zh-CN" dirty="0" smtClean="0">
                <a:ea typeface="宋体" panose="02010600030101010101" pitchFamily="2" charset="-122"/>
              </a:rPr>
              <a:t> is not a candidate key;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else compute (A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i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en-US" altLang="zh-CN" dirty="0" err="1" smtClean="0">
                <a:ea typeface="宋体" panose="02010600030101010101" pitchFamily="2" charset="-122"/>
              </a:rPr>
              <a:t>A</a:t>
            </a:r>
            <a:r>
              <a:rPr lang="en-US" altLang="zh-CN" baseline="-10000" dirty="0" err="1" smtClean="0">
                <a:ea typeface="宋体" panose="02010600030101010101" pitchFamily="2" charset="-122"/>
              </a:rPr>
              <a:t>j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 if (</a:t>
            </a:r>
            <a:r>
              <a:rPr lang="en-US" altLang="zh-CN" dirty="0" err="1" smtClean="0">
                <a:ea typeface="宋体" panose="02010600030101010101" pitchFamily="2" charset="-122"/>
              </a:rPr>
              <a:t>A</a:t>
            </a:r>
            <a:r>
              <a:rPr lang="en-US" altLang="zh-CN" baseline="-10000" dirty="0" err="1" smtClean="0">
                <a:ea typeface="宋体" panose="02010600030101010101" pitchFamily="2" charset="-122"/>
              </a:rPr>
              <a:t>i</a:t>
            </a:r>
            <a:r>
              <a:rPr lang="en-US" altLang="zh-CN" dirty="0" err="1" smtClean="0">
                <a:ea typeface="宋体" panose="02010600030101010101" pitchFamily="2" charset="-122"/>
              </a:rPr>
              <a:t>A</a:t>
            </a:r>
            <a:r>
              <a:rPr lang="en-US" altLang="zh-CN" baseline="-10000" dirty="0" err="1" smtClean="0">
                <a:ea typeface="宋体" panose="02010600030101010101" pitchFamily="2" charset="-122"/>
              </a:rPr>
              <a:t>j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= 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1</a:t>
            </a:r>
            <a:r>
              <a:rPr lang="en-US" altLang="zh-CN" dirty="0" smtClean="0">
                <a:ea typeface="宋体" panose="02010600030101010101" pitchFamily="2" charset="-122"/>
              </a:rPr>
              <a:t> 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2</a:t>
            </a:r>
            <a:r>
              <a:rPr lang="en-US" altLang="zh-CN" dirty="0" smtClean="0">
                <a:ea typeface="宋体" panose="02010600030101010101" pitchFamily="2" charset="-122"/>
              </a:rPr>
              <a:t> ... 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n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     then (A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i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en-US" altLang="zh-CN" dirty="0" err="1" smtClean="0">
                <a:ea typeface="宋体" panose="02010600030101010101" pitchFamily="2" charset="-122"/>
              </a:rPr>
              <a:t>A</a:t>
            </a:r>
            <a:r>
              <a:rPr lang="en-US" altLang="zh-CN" baseline="-10000" dirty="0" err="1" smtClean="0">
                <a:ea typeface="宋体" panose="02010600030101010101" pitchFamily="2" charset="-122"/>
              </a:rPr>
              <a:t>j</a:t>
            </a:r>
            <a:r>
              <a:rPr lang="en-US" altLang="zh-CN" dirty="0" smtClean="0">
                <a:ea typeface="宋体" panose="02010600030101010101" pitchFamily="2" charset="-122"/>
              </a:rPr>
              <a:t>) is a candidate key; </a:t>
            </a:r>
          </a:p>
        </p:txBody>
      </p:sp>
    </p:spTree>
    <p:extLst>
      <p:ext uri="{BB962C8B-B14F-4D97-AF65-F5344CB8AC3E}">
        <p14:creationId xmlns:p14="http://schemas.microsoft.com/office/powerpoint/2010/main" val="355649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55600"/>
            <a:ext cx="9144000" cy="587375"/>
          </a:xfrm>
        </p:spPr>
        <p:txBody>
          <a:bodyPr>
            <a:normAutofit fontScale="90000"/>
          </a:bodyPr>
          <a:lstStyle/>
          <a:p>
            <a:r>
              <a:rPr lang="zh-CN" altLang="en-US" sz="4000" dirty="0"/>
              <a:t>确定候选码</a:t>
            </a:r>
            <a:r>
              <a:rPr lang="en-US" altLang="zh-CN" sz="4000" dirty="0" smtClean="0"/>
              <a:t>(3)</a:t>
            </a:r>
            <a:endParaRPr lang="en-US" altLang="zh-CN" sz="3200" b="1" dirty="0" smtClean="0">
              <a:ea typeface="宋体" panose="02010600030101010101" pitchFamily="2" charset="-122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6868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100" smtClean="0">
                <a:ea typeface="宋体" panose="02010600030101010101" pitchFamily="2" charset="-122"/>
              </a:rPr>
              <a:t>(3) for each triple 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i</a:t>
            </a:r>
            <a:r>
              <a:rPr lang="en-US" altLang="zh-CN" sz="3100" smtClean="0">
                <a:ea typeface="宋体" panose="02010600030101010101" pitchFamily="2" charset="-122"/>
              </a:rPr>
              <a:t>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j</a:t>
            </a:r>
            <a:r>
              <a:rPr lang="en-US" altLang="zh-CN" sz="3100" smtClean="0">
                <a:ea typeface="宋体" panose="02010600030101010101" pitchFamily="2" charset="-122"/>
              </a:rPr>
              <a:t>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k</a:t>
            </a:r>
            <a:r>
              <a:rPr lang="en-US" altLang="zh-CN" sz="3100" smtClean="0">
                <a:ea typeface="宋体" panose="02010600030101010101" pitchFamily="2" charset="-122"/>
              </a:rPr>
              <a:t>, i </a:t>
            </a:r>
            <a:r>
              <a:rPr lang="en-US" altLang="zh-CN" sz="3100" smtClean="0"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3100" smtClean="0">
                <a:ea typeface="宋体" panose="02010600030101010101" pitchFamily="2" charset="-122"/>
              </a:rPr>
              <a:t> j, i </a:t>
            </a:r>
            <a:r>
              <a:rPr lang="en-US" altLang="zh-CN" sz="3100" smtClean="0"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3100" smtClean="0">
                <a:ea typeface="宋体" panose="02010600030101010101" pitchFamily="2" charset="-122"/>
              </a:rPr>
              <a:t> k, j </a:t>
            </a:r>
            <a:r>
              <a:rPr lang="en-US" altLang="zh-CN" sz="3100" smtClean="0"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3100" smtClean="0">
                <a:ea typeface="宋体" panose="02010600030101010101" pitchFamily="2" charset="-122"/>
              </a:rPr>
              <a:t> k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100" smtClean="0">
                <a:ea typeface="宋体" panose="02010600030101010101" pitchFamily="2" charset="-122"/>
              </a:rPr>
              <a:t>      if any subset of 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i</a:t>
            </a:r>
            <a:r>
              <a:rPr lang="en-US" altLang="zh-CN" sz="3100" smtClean="0">
                <a:ea typeface="宋体" panose="02010600030101010101" pitchFamily="2" charset="-122"/>
              </a:rPr>
              <a:t>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j</a:t>
            </a:r>
            <a:r>
              <a:rPr lang="en-US" altLang="zh-CN" sz="3100" smtClean="0">
                <a:ea typeface="宋体" panose="02010600030101010101" pitchFamily="2" charset="-122"/>
              </a:rPr>
              <a:t>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k</a:t>
            </a:r>
            <a:r>
              <a:rPr lang="en-US" altLang="zh-CN" sz="3100" smtClean="0">
                <a:ea typeface="宋体" panose="02010600030101010101" pitchFamily="2" charset="-122"/>
              </a:rPr>
              <a:t> is a candidate key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100" smtClean="0">
                <a:ea typeface="宋体" panose="02010600030101010101" pitchFamily="2" charset="-122"/>
              </a:rPr>
              <a:t>         then 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i</a:t>
            </a:r>
            <a:r>
              <a:rPr lang="en-US" altLang="zh-CN" sz="3100" smtClean="0">
                <a:ea typeface="宋体" panose="02010600030101010101" pitchFamily="2" charset="-122"/>
              </a:rPr>
              <a:t>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j</a:t>
            </a:r>
            <a:r>
              <a:rPr lang="en-US" altLang="zh-CN" sz="3100" smtClean="0">
                <a:ea typeface="宋体" panose="02010600030101010101" pitchFamily="2" charset="-122"/>
              </a:rPr>
              <a:t>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k</a:t>
            </a:r>
            <a:r>
              <a:rPr lang="en-US" altLang="zh-CN" sz="3100" smtClean="0">
                <a:ea typeface="宋体" panose="02010600030101010101" pitchFamily="2" charset="-122"/>
              </a:rPr>
              <a:t> is not a candidate key;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100" smtClean="0">
                <a:ea typeface="宋体" panose="02010600030101010101" pitchFamily="2" charset="-122"/>
              </a:rPr>
              <a:t>      else compute (A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i</a:t>
            </a:r>
            <a:r>
              <a:rPr lang="en-US" altLang="zh-CN" sz="3100" smtClean="0">
                <a:ea typeface="宋体" panose="02010600030101010101" pitchFamily="2" charset="-122"/>
              </a:rPr>
              <a:t>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j</a:t>
            </a:r>
            <a:r>
              <a:rPr lang="en-US" altLang="zh-CN" sz="3100" smtClean="0">
                <a:ea typeface="宋体" panose="02010600030101010101" pitchFamily="2" charset="-122"/>
              </a:rPr>
              <a:t>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k</a:t>
            </a:r>
            <a:r>
              <a:rPr lang="en-US" altLang="zh-CN" sz="3100" smtClean="0">
                <a:ea typeface="宋体" panose="02010600030101010101" pitchFamily="2" charset="-122"/>
              </a:rPr>
              <a:t>)</a:t>
            </a:r>
            <a:r>
              <a:rPr lang="en-US" altLang="zh-CN" sz="3100" baseline="30000" smtClean="0">
                <a:ea typeface="宋体" panose="02010600030101010101" pitchFamily="2" charset="-122"/>
              </a:rPr>
              <a:t>+</a:t>
            </a:r>
            <a:r>
              <a:rPr lang="en-US" altLang="zh-CN" sz="3100" smtClean="0">
                <a:ea typeface="宋体" panose="02010600030101010101" pitchFamily="2" charset="-122"/>
              </a:rPr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100" smtClean="0">
                <a:ea typeface="宋体" panose="02010600030101010101" pitchFamily="2" charset="-122"/>
              </a:rPr>
              <a:t>            if (A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i</a:t>
            </a:r>
            <a:r>
              <a:rPr lang="en-US" altLang="zh-CN" sz="3100" smtClean="0">
                <a:ea typeface="宋体" panose="02010600030101010101" pitchFamily="2" charset="-122"/>
              </a:rPr>
              <a:t>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j</a:t>
            </a:r>
            <a:r>
              <a:rPr lang="en-US" altLang="zh-CN" sz="3100" smtClean="0">
                <a:ea typeface="宋体" panose="02010600030101010101" pitchFamily="2" charset="-122"/>
              </a:rPr>
              <a:t>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k</a:t>
            </a:r>
            <a:r>
              <a:rPr lang="en-US" altLang="zh-CN" sz="3100" smtClean="0">
                <a:ea typeface="宋体" panose="02010600030101010101" pitchFamily="2" charset="-122"/>
              </a:rPr>
              <a:t>)</a:t>
            </a:r>
            <a:r>
              <a:rPr lang="en-US" altLang="zh-CN" sz="3100" baseline="30000" smtClean="0">
                <a:ea typeface="宋体" panose="02010600030101010101" pitchFamily="2" charset="-122"/>
              </a:rPr>
              <a:t>+</a:t>
            </a:r>
            <a:r>
              <a:rPr lang="en-US" altLang="zh-CN" sz="3100" smtClean="0">
                <a:ea typeface="宋体" panose="02010600030101010101" pitchFamily="2" charset="-122"/>
              </a:rPr>
              <a:t> = 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1</a:t>
            </a:r>
            <a:r>
              <a:rPr lang="en-US" altLang="zh-CN" sz="3100" smtClean="0">
                <a:ea typeface="宋体" panose="02010600030101010101" pitchFamily="2" charset="-122"/>
              </a:rPr>
              <a:t> 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2</a:t>
            </a:r>
            <a:r>
              <a:rPr lang="en-US" altLang="zh-CN" sz="3100" smtClean="0">
                <a:ea typeface="宋体" panose="02010600030101010101" pitchFamily="2" charset="-122"/>
              </a:rPr>
              <a:t> ... 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n</a:t>
            </a:r>
            <a:r>
              <a:rPr lang="en-US" altLang="zh-CN" sz="3100" smtClean="0">
                <a:ea typeface="宋体" panose="02010600030101010101" pitchFamily="2" charset="-122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100" smtClean="0">
                <a:ea typeface="宋体" panose="02010600030101010101" pitchFamily="2" charset="-122"/>
              </a:rPr>
              <a:t>               then (A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i</a:t>
            </a:r>
            <a:r>
              <a:rPr lang="en-US" altLang="zh-CN" sz="3100" smtClean="0">
                <a:ea typeface="宋体" panose="02010600030101010101" pitchFamily="2" charset="-122"/>
              </a:rPr>
              <a:t>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j</a:t>
            </a:r>
            <a:r>
              <a:rPr lang="en-US" altLang="zh-CN" sz="3100" smtClean="0">
                <a:ea typeface="宋体" panose="02010600030101010101" pitchFamily="2" charset="-122"/>
              </a:rPr>
              <a:t>A</a:t>
            </a:r>
            <a:r>
              <a:rPr lang="en-US" altLang="zh-CN" sz="3100" baseline="-10000" smtClean="0">
                <a:ea typeface="宋体" panose="02010600030101010101" pitchFamily="2" charset="-122"/>
              </a:rPr>
              <a:t>k</a:t>
            </a:r>
            <a:r>
              <a:rPr lang="en-US" altLang="zh-CN" sz="3100" smtClean="0">
                <a:ea typeface="宋体" panose="02010600030101010101" pitchFamily="2" charset="-122"/>
              </a:rPr>
              <a:t>)</a:t>
            </a:r>
            <a:r>
              <a:rPr lang="en-US" altLang="zh-CN" sz="3100" baseline="30000" smtClean="0">
                <a:ea typeface="宋体" panose="02010600030101010101" pitchFamily="2" charset="-122"/>
              </a:rPr>
              <a:t> </a:t>
            </a:r>
            <a:r>
              <a:rPr lang="en-US" altLang="zh-CN" sz="3100" smtClean="0">
                <a:ea typeface="宋体" panose="02010600030101010101" pitchFamily="2" charset="-122"/>
              </a:rPr>
              <a:t>is a candidate key;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100" smtClean="0">
                <a:ea typeface="宋体" panose="02010600030101010101" pitchFamily="2" charset="-122"/>
              </a:rPr>
              <a:t>(4) . . . . . .</a:t>
            </a:r>
          </a:p>
        </p:txBody>
      </p:sp>
    </p:spTree>
    <p:extLst>
      <p:ext uri="{BB962C8B-B14F-4D97-AF65-F5344CB8AC3E}">
        <p14:creationId xmlns:p14="http://schemas.microsoft.com/office/powerpoint/2010/main" val="127939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534400" cy="914400"/>
          </a:xfrm>
        </p:spPr>
        <p:txBody>
          <a:bodyPr/>
          <a:lstStyle/>
          <a:p>
            <a:r>
              <a:rPr lang="zh-CN" altLang="en-US" sz="3600" dirty="0"/>
              <a:t>确定候选码</a:t>
            </a:r>
            <a:r>
              <a:rPr lang="en-US" altLang="zh-CN" sz="3600" dirty="0" smtClean="0"/>
              <a:t>(</a:t>
            </a:r>
            <a:r>
              <a:rPr lang="zh-CN" altLang="en-US" sz="3600" dirty="0" smtClean="0"/>
              <a:t>图法</a:t>
            </a:r>
            <a:r>
              <a:rPr lang="en-US" altLang="zh-CN" sz="3600" dirty="0" smtClean="0"/>
              <a:t>)</a:t>
            </a:r>
            <a:endParaRPr lang="en-US" altLang="zh-CN" sz="3600" dirty="0" smtClean="0">
              <a:ea typeface="宋体" panose="02010600030101010101" pitchFamily="2" charset="-122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534400" cy="4572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方法</a:t>
            </a:r>
            <a:r>
              <a:rPr lang="en-US" altLang="zh-CN" dirty="0" smtClean="0">
                <a:ea typeface="宋体" panose="02010600030101010101" pitchFamily="2" charset="-122"/>
              </a:rPr>
              <a:t>2 (</a:t>
            </a:r>
            <a:r>
              <a:rPr lang="zh-CN" altLang="en-US" dirty="0" smtClean="0">
                <a:solidFill>
                  <a:srgbClr val="FF0000"/>
                </a:solidFill>
                <a:ea typeface="宋体" panose="02010600030101010101" pitchFamily="2" charset="-122"/>
              </a:rPr>
              <a:t>图法</a:t>
            </a:r>
            <a:r>
              <a:rPr lang="en-US" altLang="zh-CN" dirty="0" smtClean="0">
                <a:ea typeface="宋体" panose="02010600030101010101" pitchFamily="2" charset="-122"/>
              </a:rPr>
              <a:t>) </a:t>
            </a:r>
            <a:r>
              <a:rPr lang="en-US" altLang="zh-CN" dirty="0" smtClean="0">
                <a:ea typeface="宋体" panose="02010600030101010101" pitchFamily="2" charset="-122"/>
              </a:rPr>
              <a:t>  </a:t>
            </a:r>
            <a:r>
              <a:rPr lang="zh-CN" altLang="en-US" dirty="0" smtClean="0">
                <a:solidFill>
                  <a:srgbClr val="FF0000"/>
                </a:solidFill>
                <a:ea typeface="宋体" panose="02010600030101010101" pitchFamily="2" charset="-122"/>
              </a:rPr>
              <a:t>重点</a:t>
            </a:r>
            <a:endParaRPr lang="en-US" altLang="zh-CN" dirty="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Step 1: </a:t>
            </a:r>
            <a:r>
              <a:rPr lang="zh-CN" altLang="en-US" dirty="0" smtClean="0">
                <a:ea typeface="宋体" panose="02010600030101010101" pitchFamily="2" charset="-122"/>
              </a:rPr>
              <a:t>画出依赖关系图。</a:t>
            </a:r>
            <a:r>
              <a:rPr lang="en-US" altLang="zh-CN" dirty="0" smtClean="0">
                <a:ea typeface="宋体" panose="02010600030101010101" pitchFamily="2" charset="-122"/>
              </a:rPr>
              <a:t>Draw the dependency graph of F. Each vertex corresponds to an attribute. Edges can be defined as follows: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A           B      becomes                      A             B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A          BC    becomes                       A       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lnSpc>
                <a:spcPct val="3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AB          C     becomes  </a:t>
            </a:r>
          </a:p>
        </p:txBody>
      </p:sp>
      <p:sp>
        <p:nvSpPr>
          <p:cNvPr id="58372" name="Line 4"/>
          <p:cNvSpPr>
            <a:spLocks noChangeShapeType="1"/>
          </p:cNvSpPr>
          <p:nvPr/>
        </p:nvSpPr>
        <p:spPr bwMode="auto">
          <a:xfrm>
            <a:off x="1022350" y="3530745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3" name="Line 5"/>
          <p:cNvSpPr>
            <a:spLocks noChangeShapeType="1"/>
          </p:cNvSpPr>
          <p:nvPr/>
        </p:nvSpPr>
        <p:spPr bwMode="auto">
          <a:xfrm>
            <a:off x="5867400" y="3508952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4" name="Line 6"/>
          <p:cNvSpPr>
            <a:spLocks noChangeShapeType="1"/>
          </p:cNvSpPr>
          <p:nvPr/>
        </p:nvSpPr>
        <p:spPr bwMode="auto">
          <a:xfrm>
            <a:off x="941531" y="4131216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5" name="Text Box 7"/>
          <p:cNvSpPr txBox="1">
            <a:spLocks noChangeArrowheads="1"/>
          </p:cNvSpPr>
          <p:nvPr/>
        </p:nvSpPr>
        <p:spPr bwMode="auto">
          <a:xfrm>
            <a:off x="7162800" y="3555065"/>
            <a:ext cx="457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58376" name="Text Box 8"/>
          <p:cNvSpPr txBox="1">
            <a:spLocks noChangeArrowheads="1"/>
          </p:cNvSpPr>
          <p:nvPr/>
        </p:nvSpPr>
        <p:spPr bwMode="auto">
          <a:xfrm>
            <a:off x="7116618" y="4131216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58377" name="Line 9"/>
          <p:cNvSpPr>
            <a:spLocks noChangeShapeType="1"/>
          </p:cNvSpPr>
          <p:nvPr/>
        </p:nvSpPr>
        <p:spPr bwMode="auto">
          <a:xfrm flipV="1">
            <a:off x="6013450" y="3934908"/>
            <a:ext cx="990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8" name="Line 10"/>
          <p:cNvSpPr>
            <a:spLocks noChangeShapeType="1"/>
          </p:cNvSpPr>
          <p:nvPr/>
        </p:nvSpPr>
        <p:spPr bwMode="auto">
          <a:xfrm>
            <a:off x="5942013" y="4222246"/>
            <a:ext cx="990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5791200" y="52578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58380" name="Text Box 12"/>
          <p:cNvSpPr txBox="1">
            <a:spLocks noChangeArrowheads="1"/>
          </p:cNvSpPr>
          <p:nvPr/>
        </p:nvSpPr>
        <p:spPr bwMode="auto">
          <a:xfrm>
            <a:off x="5791200" y="594360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58381" name="Text Box 13"/>
          <p:cNvSpPr txBox="1">
            <a:spLocks noChangeArrowheads="1"/>
          </p:cNvSpPr>
          <p:nvPr/>
        </p:nvSpPr>
        <p:spPr bwMode="auto">
          <a:xfrm>
            <a:off x="7391400" y="56388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58382" name="Line 14"/>
          <p:cNvSpPr>
            <a:spLocks noChangeShapeType="1"/>
          </p:cNvSpPr>
          <p:nvPr/>
        </p:nvSpPr>
        <p:spPr bwMode="auto">
          <a:xfrm>
            <a:off x="6781800" y="5943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83" name="Line 15"/>
          <p:cNvSpPr>
            <a:spLocks noChangeShapeType="1"/>
          </p:cNvSpPr>
          <p:nvPr/>
        </p:nvSpPr>
        <p:spPr bwMode="auto">
          <a:xfrm flipV="1">
            <a:off x="6248400" y="59436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84" name="Line 16"/>
          <p:cNvSpPr>
            <a:spLocks noChangeShapeType="1"/>
          </p:cNvSpPr>
          <p:nvPr/>
        </p:nvSpPr>
        <p:spPr bwMode="auto">
          <a:xfrm>
            <a:off x="6248400" y="56388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85" name="Line 17"/>
          <p:cNvSpPr>
            <a:spLocks noChangeShapeType="1"/>
          </p:cNvSpPr>
          <p:nvPr/>
        </p:nvSpPr>
        <p:spPr bwMode="auto">
          <a:xfrm>
            <a:off x="1126259" y="5041034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540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04813"/>
            <a:ext cx="8839200" cy="731837"/>
          </a:xfrm>
        </p:spPr>
        <p:txBody>
          <a:bodyPr/>
          <a:lstStyle/>
          <a:p>
            <a:r>
              <a:rPr lang="zh-CN" altLang="en-US" sz="3600" dirty="0"/>
              <a:t>确定候选码</a:t>
            </a:r>
            <a:r>
              <a:rPr lang="en-US" altLang="zh-CN" sz="3600" dirty="0"/>
              <a:t>(</a:t>
            </a:r>
            <a:r>
              <a:rPr lang="zh-CN" altLang="en-US" sz="3600" dirty="0"/>
              <a:t>图法</a:t>
            </a:r>
            <a:r>
              <a:rPr lang="en-US" altLang="zh-CN" sz="3600" dirty="0"/>
              <a:t>)</a:t>
            </a:r>
            <a:endParaRPr lang="en-US" altLang="zh-CN" sz="3600" dirty="0" smtClean="0">
              <a:ea typeface="宋体" panose="02010600030101010101" pitchFamily="2" charset="-122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1050"/>
            <a:ext cx="8229600" cy="45021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Step 2: Identify the set of vertices </a:t>
            </a:r>
            <a:r>
              <a:rPr lang="en-US" altLang="zh-CN" dirty="0" err="1" smtClean="0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baseline="-4000" dirty="0" err="1" smtClean="0">
                <a:solidFill>
                  <a:srgbClr val="FF0000"/>
                </a:solidFill>
                <a:ea typeface="宋体" panose="02010600030101010101" pitchFamily="2" charset="-122"/>
              </a:rPr>
              <a:t>ni</a:t>
            </a:r>
            <a:r>
              <a:rPr lang="en-US" altLang="zh-CN" dirty="0" smtClean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</a:rPr>
              <a:t>that have no incoming edges.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Claim 1: Any candidate key must have all attributes in </a:t>
            </a:r>
            <a:r>
              <a:rPr lang="en-US" altLang="zh-CN" dirty="0" err="1" smtClean="0">
                <a:ea typeface="宋体" panose="02010600030101010101" pitchFamily="2" charset="-122"/>
              </a:rPr>
              <a:t>V</a:t>
            </a:r>
            <a:r>
              <a:rPr lang="en-US" altLang="zh-CN" baseline="-4000" dirty="0" err="1" smtClean="0">
                <a:ea typeface="宋体" panose="02010600030101010101" pitchFamily="2" charset="-122"/>
              </a:rPr>
              <a:t>ni</a:t>
            </a:r>
            <a:r>
              <a:rPr lang="en-US" altLang="zh-CN" dirty="0" smtClean="0">
                <a:ea typeface="宋体" panose="02010600030101010101" pitchFamily="2" charset="-122"/>
              </a:rPr>
              <a:t>. </a:t>
            </a:r>
            <a:r>
              <a:rPr lang="zh-CN" altLang="en-US" dirty="0" smtClean="0">
                <a:ea typeface="宋体" panose="02010600030101010101" pitchFamily="2" charset="-122"/>
              </a:rPr>
              <a:t>（任意候选码要包含</a:t>
            </a:r>
            <a:r>
              <a:rPr lang="en-US" altLang="zh-CN" dirty="0" err="1" smtClean="0">
                <a:ea typeface="宋体" panose="02010600030101010101" pitchFamily="2" charset="-122"/>
              </a:rPr>
              <a:t>Vni</a:t>
            </a:r>
            <a:r>
              <a:rPr lang="zh-CN" altLang="en-US" dirty="0" smtClean="0">
                <a:ea typeface="宋体" panose="02010600030101010101" pitchFamily="2" charset="-122"/>
              </a:rPr>
              <a:t>里的所有属性）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Claim 2: If </a:t>
            </a:r>
            <a:r>
              <a:rPr lang="en-US" altLang="zh-CN" dirty="0" err="1" smtClean="0">
                <a:ea typeface="宋体" panose="02010600030101010101" pitchFamily="2" charset="-122"/>
              </a:rPr>
              <a:t>V</a:t>
            </a:r>
            <a:r>
              <a:rPr lang="en-US" altLang="zh-CN" baseline="-4000" dirty="0" err="1" smtClean="0">
                <a:ea typeface="宋体" panose="02010600030101010101" pitchFamily="2" charset="-122"/>
              </a:rPr>
              <a:t>ni</a:t>
            </a:r>
            <a:r>
              <a:rPr lang="en-US" altLang="zh-CN" dirty="0" smtClean="0">
                <a:ea typeface="宋体" panose="02010600030101010101" pitchFamily="2" charset="-122"/>
              </a:rPr>
              <a:t> forms a candidate key, then </a:t>
            </a:r>
            <a:r>
              <a:rPr lang="en-US" altLang="zh-CN" dirty="0" err="1" smtClean="0">
                <a:ea typeface="宋体" panose="02010600030101010101" pitchFamily="2" charset="-122"/>
              </a:rPr>
              <a:t>V</a:t>
            </a:r>
            <a:r>
              <a:rPr lang="en-US" altLang="zh-CN" baseline="-4000" dirty="0" err="1" smtClean="0">
                <a:ea typeface="宋体" panose="02010600030101010101" pitchFamily="2" charset="-122"/>
              </a:rPr>
              <a:t>ni</a:t>
            </a:r>
            <a:r>
              <a:rPr lang="en-US" altLang="zh-CN" dirty="0" smtClean="0">
                <a:ea typeface="宋体" panose="02010600030101010101" pitchFamily="2" charset="-122"/>
              </a:rPr>
              <a:t> is the only candidate key. </a:t>
            </a:r>
          </a:p>
        </p:txBody>
      </p:sp>
    </p:spTree>
    <p:extLst>
      <p:ext uri="{BB962C8B-B14F-4D97-AF65-F5344CB8AC3E}">
        <p14:creationId xmlns:p14="http://schemas.microsoft.com/office/powerpoint/2010/main" val="3512835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60218"/>
            <a:ext cx="8534400" cy="587375"/>
          </a:xfrm>
        </p:spPr>
        <p:txBody>
          <a:bodyPr/>
          <a:lstStyle/>
          <a:p>
            <a:r>
              <a:rPr lang="zh-CN" altLang="en-US" sz="3600" dirty="0"/>
              <a:t>确定候选码</a:t>
            </a:r>
            <a:r>
              <a:rPr lang="en-US" altLang="zh-CN" sz="3600" dirty="0"/>
              <a:t>(</a:t>
            </a:r>
            <a:r>
              <a:rPr lang="zh-CN" altLang="en-US" sz="3600" dirty="0"/>
              <a:t>图法</a:t>
            </a:r>
            <a:r>
              <a:rPr lang="en-US" altLang="zh-CN" sz="3600" dirty="0"/>
              <a:t>)</a:t>
            </a:r>
            <a:endParaRPr lang="en-US" altLang="zh-CN" sz="2800" b="1" dirty="0" smtClean="0">
              <a:ea typeface="宋体" panose="02010600030101010101" pitchFamily="2" charset="-122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27250"/>
            <a:ext cx="8229600" cy="44259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mtClean="0">
                <a:ea typeface="宋体" panose="02010600030101010101" pitchFamily="2" charset="-122"/>
              </a:rPr>
              <a:t>Step 3: Identify the set of vertices V</a:t>
            </a:r>
            <a:r>
              <a:rPr lang="en-US" altLang="zh-CN" baseline="-4000" smtClean="0">
                <a:ea typeface="宋体" panose="02010600030101010101" pitchFamily="2" charset="-122"/>
              </a:rPr>
              <a:t>oi</a:t>
            </a:r>
            <a:r>
              <a:rPr lang="en-US" altLang="zh-CN" smtClean="0">
                <a:ea typeface="宋体" panose="02010600030101010101" pitchFamily="2" charset="-122"/>
              </a:rPr>
              <a:t> that have only incoming edges.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>
                <a:ea typeface="宋体" panose="02010600030101010101" pitchFamily="2" charset="-122"/>
              </a:rPr>
              <a:t>Claim 3: No candidate key will contain any attribute in V</a:t>
            </a:r>
            <a:r>
              <a:rPr lang="en-US" altLang="zh-CN" baseline="-4000" smtClean="0">
                <a:ea typeface="宋体" panose="02010600030101010101" pitchFamily="2" charset="-122"/>
              </a:rPr>
              <a:t>oi</a:t>
            </a:r>
            <a:r>
              <a:rPr lang="en-US" altLang="zh-CN" smtClean="0">
                <a:ea typeface="宋体" panose="02010600030101010101" pitchFamily="2" charset="-122"/>
              </a:rPr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>
                <a:ea typeface="宋体" panose="02010600030101010101" pitchFamily="2" charset="-122"/>
              </a:rPr>
              <a:t>Step 4: Use observation to find other candidate keys if there is any.</a:t>
            </a:r>
            <a:endParaRPr lang="en-US" altLang="zh-CN" sz="3600" b="1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6509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381000"/>
            <a:ext cx="8659812" cy="762000"/>
          </a:xfrm>
        </p:spPr>
        <p:txBody>
          <a:bodyPr/>
          <a:lstStyle/>
          <a:p>
            <a:r>
              <a:rPr lang="zh-CN" altLang="en-US" sz="3600" dirty="0"/>
              <a:t>确定候选码</a:t>
            </a:r>
            <a:r>
              <a:rPr lang="en-US" altLang="zh-CN" sz="3600" dirty="0"/>
              <a:t>(</a:t>
            </a:r>
            <a:r>
              <a:rPr lang="zh-CN" altLang="en-US" sz="3600" dirty="0"/>
              <a:t>图法</a:t>
            </a:r>
            <a:r>
              <a:rPr lang="en-US" altLang="zh-CN" sz="3600" dirty="0" smtClean="0"/>
              <a:t>)</a:t>
            </a:r>
            <a:r>
              <a:rPr lang="zh-CN" altLang="en-US" sz="3600" dirty="0" smtClean="0"/>
              <a:t>示例</a:t>
            </a:r>
            <a:endParaRPr lang="en-US" altLang="zh-CN" sz="4000" dirty="0" smtClean="0">
              <a:ea typeface="宋体" panose="02010600030101010101" pitchFamily="2" charset="-122"/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4724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Example: Suppose R(A, B, C, G, H, I),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F = {A        BC, CG         HI, B          H }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err="1" smtClean="0">
                <a:ea typeface="宋体" panose="02010600030101010101" pitchFamily="2" charset="-122"/>
              </a:rPr>
              <a:t>V</a:t>
            </a:r>
            <a:r>
              <a:rPr lang="en-US" altLang="zh-CN" baseline="-4000" dirty="0" err="1" smtClean="0">
                <a:ea typeface="宋体" panose="02010600030101010101" pitchFamily="2" charset="-122"/>
              </a:rPr>
              <a:t>ni</a:t>
            </a:r>
            <a:r>
              <a:rPr lang="en-US" altLang="zh-CN" dirty="0" smtClean="0">
                <a:ea typeface="宋体" panose="02010600030101010101" pitchFamily="2" charset="-122"/>
              </a:rPr>
              <a:t> = {A, G},  </a:t>
            </a:r>
            <a:r>
              <a:rPr lang="en-US" altLang="zh-CN" dirty="0" err="1" smtClean="0">
                <a:ea typeface="宋体" panose="02010600030101010101" pitchFamily="2" charset="-122"/>
              </a:rPr>
              <a:t>V</a:t>
            </a:r>
            <a:r>
              <a:rPr lang="en-US" altLang="zh-CN" baseline="-4000" dirty="0" err="1" smtClean="0">
                <a:ea typeface="宋体" panose="02010600030101010101" pitchFamily="2" charset="-122"/>
              </a:rPr>
              <a:t>oi</a:t>
            </a:r>
            <a:r>
              <a:rPr lang="en-US" altLang="zh-CN" dirty="0" smtClean="0">
                <a:ea typeface="宋体" panose="02010600030101010101" pitchFamily="2" charset="-122"/>
              </a:rPr>
              <a:t> = {H, I}.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Since (AG)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= ABCGHI, AG is the only candidate key of R.</a:t>
            </a:r>
          </a:p>
        </p:txBody>
      </p:sp>
      <p:sp>
        <p:nvSpPr>
          <p:cNvPr id="61444" name="Line 4"/>
          <p:cNvSpPr>
            <a:spLocks noChangeShapeType="1"/>
          </p:cNvSpPr>
          <p:nvPr/>
        </p:nvSpPr>
        <p:spPr bwMode="auto">
          <a:xfrm>
            <a:off x="1686647" y="2084966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5" name="Line 5"/>
          <p:cNvSpPr>
            <a:spLocks noChangeShapeType="1"/>
          </p:cNvSpPr>
          <p:nvPr/>
        </p:nvSpPr>
        <p:spPr bwMode="auto">
          <a:xfrm>
            <a:off x="4762500" y="2084966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6" name="Line 6"/>
          <p:cNvSpPr>
            <a:spLocks noChangeShapeType="1"/>
          </p:cNvSpPr>
          <p:nvPr/>
        </p:nvSpPr>
        <p:spPr bwMode="auto">
          <a:xfrm>
            <a:off x="3335338" y="2119459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7" name="Text Box 7"/>
          <p:cNvSpPr txBox="1">
            <a:spLocks noChangeArrowheads="1"/>
          </p:cNvSpPr>
          <p:nvPr/>
        </p:nvSpPr>
        <p:spPr bwMode="auto">
          <a:xfrm>
            <a:off x="1752600" y="28194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61448" name="Text Box 8"/>
          <p:cNvSpPr txBox="1">
            <a:spLocks noChangeArrowheads="1"/>
          </p:cNvSpPr>
          <p:nvPr/>
        </p:nvSpPr>
        <p:spPr bwMode="auto">
          <a:xfrm>
            <a:off x="2879725" y="283845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61449" name="Text Box 9"/>
          <p:cNvSpPr txBox="1">
            <a:spLocks noChangeArrowheads="1"/>
          </p:cNvSpPr>
          <p:nvPr/>
        </p:nvSpPr>
        <p:spPr bwMode="auto">
          <a:xfrm>
            <a:off x="4038600" y="2819400"/>
            <a:ext cx="5000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61450" name="Text Box 10"/>
          <p:cNvSpPr txBox="1">
            <a:spLocks noChangeArrowheads="1"/>
          </p:cNvSpPr>
          <p:nvPr/>
        </p:nvSpPr>
        <p:spPr bwMode="auto">
          <a:xfrm>
            <a:off x="2895600" y="35052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61451" name="Text Box 11"/>
          <p:cNvSpPr txBox="1">
            <a:spLocks noChangeArrowheads="1"/>
          </p:cNvSpPr>
          <p:nvPr/>
        </p:nvSpPr>
        <p:spPr bwMode="auto">
          <a:xfrm>
            <a:off x="5105400" y="3505200"/>
            <a:ext cx="5000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</a:p>
        </p:txBody>
      </p:sp>
      <p:sp>
        <p:nvSpPr>
          <p:cNvPr id="61452" name="Text Box 12"/>
          <p:cNvSpPr txBox="1">
            <a:spLocks noChangeArrowheads="1"/>
          </p:cNvSpPr>
          <p:nvPr/>
        </p:nvSpPr>
        <p:spPr bwMode="auto">
          <a:xfrm>
            <a:off x="4114800" y="4038600"/>
            <a:ext cx="342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61453" name="Line 13"/>
          <p:cNvSpPr>
            <a:spLocks noChangeShapeType="1"/>
          </p:cNvSpPr>
          <p:nvPr/>
        </p:nvSpPr>
        <p:spPr bwMode="auto">
          <a:xfrm>
            <a:off x="2286000" y="312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4" name="Line 14"/>
          <p:cNvSpPr>
            <a:spLocks noChangeShapeType="1"/>
          </p:cNvSpPr>
          <p:nvPr/>
        </p:nvSpPr>
        <p:spPr bwMode="auto">
          <a:xfrm>
            <a:off x="2209800" y="3352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5" name="Line 15"/>
          <p:cNvSpPr>
            <a:spLocks noChangeShapeType="1"/>
          </p:cNvSpPr>
          <p:nvPr/>
        </p:nvSpPr>
        <p:spPr bwMode="auto">
          <a:xfrm>
            <a:off x="3352800" y="3124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6" name="Line 16"/>
          <p:cNvSpPr>
            <a:spLocks noChangeShapeType="1"/>
          </p:cNvSpPr>
          <p:nvPr/>
        </p:nvSpPr>
        <p:spPr bwMode="auto">
          <a:xfrm flipV="1">
            <a:off x="4267200" y="33528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7" name="Line 17"/>
          <p:cNvSpPr>
            <a:spLocks noChangeShapeType="1"/>
          </p:cNvSpPr>
          <p:nvPr/>
        </p:nvSpPr>
        <p:spPr bwMode="auto">
          <a:xfrm flipH="1">
            <a:off x="4267200" y="3886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8" name="Line 18"/>
          <p:cNvSpPr>
            <a:spLocks noChangeShapeType="1"/>
          </p:cNvSpPr>
          <p:nvPr/>
        </p:nvSpPr>
        <p:spPr bwMode="auto">
          <a:xfrm flipV="1">
            <a:off x="3429000" y="3505200"/>
            <a:ext cx="838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9" name="Line 19"/>
          <p:cNvSpPr>
            <a:spLocks noChangeShapeType="1"/>
          </p:cNvSpPr>
          <p:nvPr/>
        </p:nvSpPr>
        <p:spPr bwMode="auto">
          <a:xfrm>
            <a:off x="4267200" y="3505200"/>
            <a:ext cx="838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60" name="Line 20"/>
          <p:cNvSpPr>
            <a:spLocks noChangeShapeType="1"/>
          </p:cNvSpPr>
          <p:nvPr/>
        </p:nvSpPr>
        <p:spPr bwMode="auto">
          <a:xfrm flipV="1">
            <a:off x="4267200" y="3733800"/>
            <a:ext cx="838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61" name="Line 21"/>
          <p:cNvSpPr>
            <a:spLocks noChangeShapeType="1"/>
          </p:cNvSpPr>
          <p:nvPr/>
        </p:nvSpPr>
        <p:spPr bwMode="auto">
          <a:xfrm flipH="1" flipV="1">
            <a:off x="3429000" y="3810000"/>
            <a:ext cx="838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1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211138"/>
            <a:ext cx="8458200" cy="739775"/>
          </a:xfrm>
        </p:spPr>
        <p:txBody>
          <a:bodyPr/>
          <a:lstStyle/>
          <a:p>
            <a:r>
              <a:rPr lang="zh-CN" altLang="en-US" sz="3600" dirty="0"/>
              <a:t>确定候选码</a:t>
            </a:r>
            <a:r>
              <a:rPr lang="en-US" altLang="zh-CN" sz="3600" dirty="0"/>
              <a:t>(</a:t>
            </a:r>
            <a:r>
              <a:rPr lang="zh-CN" altLang="en-US" sz="3600" dirty="0"/>
              <a:t>图法</a:t>
            </a:r>
            <a:r>
              <a:rPr lang="en-US" altLang="zh-CN" sz="3600" dirty="0"/>
              <a:t>)</a:t>
            </a:r>
            <a:r>
              <a:rPr lang="zh-CN" altLang="en-US" sz="3600" dirty="0"/>
              <a:t>示例</a:t>
            </a:r>
            <a:endParaRPr lang="en-US" altLang="zh-CN" sz="3600" dirty="0" smtClean="0">
              <a:ea typeface="宋体" panose="02010600030101010101" pitchFamily="2" charset="-122"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6482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Example: Suppose R(A, B, C, D, E, H),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    F = { A          B, AB          E, BH          C,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             C          D, D          A }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err="1" smtClean="0">
                <a:ea typeface="宋体" panose="02010600030101010101" pitchFamily="2" charset="-122"/>
              </a:rPr>
              <a:t>V</a:t>
            </a:r>
            <a:r>
              <a:rPr lang="en-US" altLang="zh-CN" sz="2400" baseline="-4000" dirty="0" err="1" smtClean="0">
                <a:ea typeface="宋体" panose="02010600030101010101" pitchFamily="2" charset="-122"/>
              </a:rPr>
              <a:t>ni</a:t>
            </a:r>
            <a:r>
              <a:rPr lang="en-US" altLang="zh-CN" sz="2400" dirty="0" smtClean="0">
                <a:ea typeface="宋体" panose="02010600030101010101" pitchFamily="2" charset="-122"/>
              </a:rPr>
              <a:t> = { H },  </a:t>
            </a:r>
            <a:r>
              <a:rPr lang="en-US" altLang="zh-CN" sz="2400" dirty="0" err="1" smtClean="0">
                <a:ea typeface="宋体" panose="02010600030101010101" pitchFamily="2" charset="-122"/>
              </a:rPr>
              <a:t>V</a:t>
            </a:r>
            <a:r>
              <a:rPr lang="en-US" altLang="zh-CN" sz="2400" baseline="-4000" dirty="0" err="1" smtClean="0">
                <a:ea typeface="宋体" panose="02010600030101010101" pitchFamily="2" charset="-122"/>
              </a:rPr>
              <a:t>oi</a:t>
            </a:r>
            <a:r>
              <a:rPr lang="en-US" altLang="zh-CN" sz="2400" baseline="-4000" dirty="0" smtClean="0">
                <a:ea typeface="宋体" panose="02010600030101010101" pitchFamily="2" charset="-122"/>
              </a:rPr>
              <a:t> </a:t>
            </a:r>
            <a:r>
              <a:rPr lang="en-US" altLang="zh-CN" sz="2400" dirty="0" smtClean="0">
                <a:ea typeface="宋体" panose="02010600030101010101" pitchFamily="2" charset="-122"/>
              </a:rPr>
              <a:t>= { E }.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Candidate keys: AH, BH, CH, DH.</a:t>
            </a:r>
            <a:endParaRPr lang="en-US" altLang="zh-CN" sz="3200" dirty="0" smtClean="0">
              <a:ea typeface="宋体" panose="02010600030101010101" pitchFamily="2" charset="-122"/>
            </a:endParaRPr>
          </a:p>
        </p:txBody>
      </p:sp>
      <p:sp>
        <p:nvSpPr>
          <p:cNvPr id="62468" name="Line 4"/>
          <p:cNvSpPr>
            <a:spLocks noChangeShapeType="1"/>
          </p:cNvSpPr>
          <p:nvPr/>
        </p:nvSpPr>
        <p:spPr bwMode="auto">
          <a:xfrm>
            <a:off x="1752600" y="188724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69" name="Line 5"/>
          <p:cNvSpPr>
            <a:spLocks noChangeShapeType="1"/>
          </p:cNvSpPr>
          <p:nvPr/>
        </p:nvSpPr>
        <p:spPr bwMode="auto">
          <a:xfrm>
            <a:off x="2894013" y="219926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0" name="Line 6"/>
          <p:cNvSpPr>
            <a:spLocks noChangeShapeType="1"/>
          </p:cNvSpPr>
          <p:nvPr/>
        </p:nvSpPr>
        <p:spPr bwMode="auto">
          <a:xfrm>
            <a:off x="1752600" y="219926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1" name="Line 7"/>
          <p:cNvSpPr>
            <a:spLocks noChangeShapeType="1"/>
          </p:cNvSpPr>
          <p:nvPr/>
        </p:nvSpPr>
        <p:spPr bwMode="auto">
          <a:xfrm>
            <a:off x="4211638" y="188724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2" name="Line 8"/>
          <p:cNvSpPr>
            <a:spLocks noChangeShapeType="1"/>
          </p:cNvSpPr>
          <p:nvPr/>
        </p:nvSpPr>
        <p:spPr bwMode="auto">
          <a:xfrm>
            <a:off x="2971800" y="188724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3" name="Text Box 9"/>
          <p:cNvSpPr txBox="1">
            <a:spLocks noChangeArrowheads="1"/>
          </p:cNvSpPr>
          <p:nvPr/>
        </p:nvSpPr>
        <p:spPr bwMode="auto">
          <a:xfrm>
            <a:off x="1676400" y="38100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62474" name="Text Box 10"/>
          <p:cNvSpPr txBox="1">
            <a:spLocks noChangeArrowheads="1"/>
          </p:cNvSpPr>
          <p:nvPr/>
        </p:nvSpPr>
        <p:spPr bwMode="auto">
          <a:xfrm>
            <a:off x="3048000" y="381000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62475" name="Text Box 11"/>
          <p:cNvSpPr txBox="1">
            <a:spLocks noChangeArrowheads="1"/>
          </p:cNvSpPr>
          <p:nvPr/>
        </p:nvSpPr>
        <p:spPr bwMode="auto">
          <a:xfrm>
            <a:off x="4343400" y="38100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62476" name="Text Box 12"/>
          <p:cNvSpPr txBox="1">
            <a:spLocks noChangeArrowheads="1"/>
          </p:cNvSpPr>
          <p:nvPr/>
        </p:nvSpPr>
        <p:spPr bwMode="auto">
          <a:xfrm>
            <a:off x="5791200" y="38100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62477" name="Text Box 13"/>
          <p:cNvSpPr txBox="1">
            <a:spLocks noChangeArrowheads="1"/>
          </p:cNvSpPr>
          <p:nvPr/>
        </p:nvSpPr>
        <p:spPr bwMode="auto">
          <a:xfrm>
            <a:off x="2362200" y="472440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62478" name="Text Box 14"/>
          <p:cNvSpPr txBox="1">
            <a:spLocks noChangeArrowheads="1"/>
          </p:cNvSpPr>
          <p:nvPr/>
        </p:nvSpPr>
        <p:spPr bwMode="auto">
          <a:xfrm>
            <a:off x="3505200" y="4724400"/>
            <a:ext cx="5000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62479" name="Line 15"/>
          <p:cNvSpPr>
            <a:spLocks noChangeShapeType="1"/>
          </p:cNvSpPr>
          <p:nvPr/>
        </p:nvSpPr>
        <p:spPr bwMode="auto">
          <a:xfrm>
            <a:off x="22098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80" name="Line 16"/>
          <p:cNvSpPr>
            <a:spLocks noChangeShapeType="1"/>
          </p:cNvSpPr>
          <p:nvPr/>
        </p:nvSpPr>
        <p:spPr bwMode="auto">
          <a:xfrm>
            <a:off x="3581400" y="4114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81" name="Line 17"/>
          <p:cNvSpPr>
            <a:spLocks noChangeShapeType="1"/>
          </p:cNvSpPr>
          <p:nvPr/>
        </p:nvSpPr>
        <p:spPr bwMode="auto">
          <a:xfrm>
            <a:off x="4876800" y="4114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82" name="Line 18"/>
          <p:cNvSpPr>
            <a:spLocks noChangeShapeType="1"/>
          </p:cNvSpPr>
          <p:nvPr/>
        </p:nvSpPr>
        <p:spPr bwMode="auto">
          <a:xfrm>
            <a:off x="2590800" y="4495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83" name="Line 19"/>
          <p:cNvSpPr>
            <a:spLocks noChangeShapeType="1"/>
          </p:cNvSpPr>
          <p:nvPr/>
        </p:nvSpPr>
        <p:spPr bwMode="auto">
          <a:xfrm flipH="1">
            <a:off x="2133600" y="3657600"/>
            <a:ext cx="1676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84" name="Line 20"/>
          <p:cNvSpPr>
            <a:spLocks noChangeShapeType="1"/>
          </p:cNvSpPr>
          <p:nvPr/>
        </p:nvSpPr>
        <p:spPr bwMode="auto">
          <a:xfrm>
            <a:off x="3810000" y="3657600"/>
            <a:ext cx="1981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85" name="Line 21"/>
          <p:cNvSpPr>
            <a:spLocks noChangeShapeType="1"/>
          </p:cNvSpPr>
          <p:nvPr/>
        </p:nvSpPr>
        <p:spPr bwMode="auto">
          <a:xfrm>
            <a:off x="2133600" y="4267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86" name="Line 22"/>
          <p:cNvSpPr>
            <a:spLocks noChangeShapeType="1"/>
          </p:cNvSpPr>
          <p:nvPr/>
        </p:nvSpPr>
        <p:spPr bwMode="auto">
          <a:xfrm flipV="1">
            <a:off x="2590800" y="42672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87" name="Line 23"/>
          <p:cNvSpPr>
            <a:spLocks noChangeShapeType="1"/>
          </p:cNvSpPr>
          <p:nvPr/>
        </p:nvSpPr>
        <p:spPr bwMode="auto">
          <a:xfrm flipV="1">
            <a:off x="3810000" y="411480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98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2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2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1143000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5 </a:t>
            </a:r>
            <a:r>
              <a:rPr lang="zh-CN" altLang="en-US" dirty="0" smtClean="0">
                <a:ea typeface="宋体" panose="02010600030101010101" pitchFamily="2" charset="-122"/>
              </a:rPr>
              <a:t>模式分解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76475"/>
            <a:ext cx="8229600" cy="4276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如何设计一个高质量的数据库？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减少冗余</a:t>
            </a:r>
            <a:r>
              <a:rPr lang="en-US" altLang="zh-CN" dirty="0" smtClean="0">
                <a:ea typeface="宋体" panose="02010600030101010101" pitchFamily="2" charset="-122"/>
              </a:rPr>
              <a:t>!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去除异常！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分解</a:t>
            </a:r>
            <a:r>
              <a:rPr lang="en-US" altLang="zh-CN" dirty="0" smtClean="0">
                <a:ea typeface="宋体" panose="02010600030101010101" pitchFamily="2" charset="-122"/>
              </a:rPr>
              <a:t>!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rgbClr val="FF0000"/>
                </a:solidFill>
                <a:ea typeface="宋体" panose="02010600030101010101" pitchFamily="2" charset="-122"/>
              </a:rPr>
              <a:t>如何分解</a:t>
            </a:r>
            <a:r>
              <a:rPr lang="en-US" altLang="zh-CN" dirty="0" smtClean="0">
                <a:solidFill>
                  <a:srgbClr val="FF0000"/>
                </a:solidFill>
                <a:ea typeface="宋体" panose="02010600030101010101" pitchFamily="2" charset="-122"/>
              </a:rPr>
              <a:t>?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051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7000"/>
            <a:ext cx="8229600" cy="990600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Example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6101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Consider :</a:t>
            </a:r>
            <a:r>
              <a:rPr lang="zh-CN" altLang="en-US" dirty="0" smtClean="0">
                <a:ea typeface="宋体" panose="02010600030101010101" pitchFamily="2" charset="-122"/>
              </a:rPr>
              <a:t>（动物名称，动物属性， 动物居住地）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       </a:t>
            </a:r>
            <a:r>
              <a:rPr lang="en-US" altLang="zh-CN" dirty="0" smtClean="0">
                <a:ea typeface="宋体" panose="02010600030101010101" pitchFamily="2" charset="-122"/>
              </a:rPr>
              <a:t>F={</a:t>
            </a:r>
            <a:r>
              <a:rPr lang="zh-CN" altLang="en-US" dirty="0" smtClean="0">
                <a:ea typeface="宋体" panose="02010600030101010101" pitchFamily="2" charset="-122"/>
              </a:rPr>
              <a:t>动物名称</a:t>
            </a:r>
            <a:r>
              <a:rPr lang="en-US" altLang="zh-CN" dirty="0" smtClean="0">
                <a:ea typeface="宋体" panose="02010600030101010101" pitchFamily="2" charset="-122"/>
              </a:rPr>
              <a:t>→</a:t>
            </a:r>
            <a:r>
              <a:rPr lang="zh-CN" altLang="en-US" dirty="0" smtClean="0">
                <a:ea typeface="宋体" panose="02010600030101010101" pitchFamily="2" charset="-122"/>
              </a:rPr>
              <a:t>动物属性</a:t>
            </a:r>
            <a:r>
              <a:rPr lang="en-US" altLang="zh-CN" dirty="0" smtClean="0">
                <a:ea typeface="宋体" panose="02010600030101010101" pitchFamily="2" charset="-122"/>
              </a:rPr>
              <a:t>,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</a:rPr>
              <a:t>           </a:t>
            </a:r>
            <a:r>
              <a:rPr lang="zh-CN" altLang="en-US" dirty="0" smtClean="0">
                <a:ea typeface="宋体" panose="02010600030101010101" pitchFamily="2" charset="-122"/>
              </a:rPr>
              <a:t>动物属性</a:t>
            </a:r>
            <a:r>
              <a:rPr lang="en-US" altLang="zh-CN" dirty="0" smtClean="0">
                <a:ea typeface="宋体" panose="02010600030101010101" pitchFamily="2" charset="-122"/>
              </a:rPr>
              <a:t>→</a:t>
            </a:r>
            <a:r>
              <a:rPr lang="zh-CN" altLang="en-US" dirty="0" smtClean="0">
                <a:ea typeface="宋体" panose="02010600030101010101" pitchFamily="2" charset="-122"/>
              </a:rPr>
              <a:t>动物居住地</a:t>
            </a:r>
            <a:r>
              <a:rPr lang="en-US" altLang="zh-CN" dirty="0" smtClean="0">
                <a:ea typeface="宋体" panose="02010600030101010101" pitchFamily="2" charset="-122"/>
              </a:rPr>
              <a:t>,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</a:rPr>
              <a:t>           </a:t>
            </a:r>
            <a:r>
              <a:rPr lang="zh-CN" altLang="en-US" dirty="0" smtClean="0">
                <a:ea typeface="宋体" panose="02010600030101010101" pitchFamily="2" charset="-122"/>
              </a:rPr>
              <a:t>动物名称</a:t>
            </a:r>
            <a:r>
              <a:rPr lang="en-US" altLang="zh-CN" dirty="0" smtClean="0">
                <a:ea typeface="宋体" panose="02010600030101010101" pitchFamily="2" charset="-122"/>
              </a:rPr>
              <a:t>→</a:t>
            </a:r>
            <a:r>
              <a:rPr lang="zh-CN" altLang="en-US" dirty="0" smtClean="0">
                <a:ea typeface="宋体" panose="02010600030101010101" pitchFamily="2" charset="-122"/>
              </a:rPr>
              <a:t>动物居住地</a:t>
            </a:r>
            <a:r>
              <a:rPr lang="en-US" altLang="zh-CN" dirty="0" smtClean="0">
                <a:ea typeface="宋体" panose="02010600030101010101" pitchFamily="2" charset="-122"/>
              </a:rPr>
              <a:t>}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如何分解这个表</a:t>
            </a:r>
            <a:r>
              <a:rPr lang="en-US" altLang="zh-CN" dirty="0" smtClean="0">
                <a:ea typeface="宋体" panose="02010600030101010101" pitchFamily="2" charset="-122"/>
              </a:rPr>
              <a:t>?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404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5467"/>
            <a:ext cx="8229600" cy="990600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Example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6101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SL    ──────────────────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        </a:t>
            </a:r>
            <a:r>
              <a:rPr lang="zh-CN" altLang="en-US" b="1" dirty="0" smtClean="0">
                <a:ea typeface="宋体" panose="02010600030101010101" pitchFamily="2" charset="-122"/>
              </a:rPr>
              <a:t>动物名称   动物属性 动物居住地</a:t>
            </a:r>
            <a:endParaRPr lang="en-US" altLang="zh-CN" b="1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──────────────────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</a:t>
            </a:r>
            <a:r>
              <a:rPr lang="zh-CN" altLang="en-US" dirty="0" smtClean="0">
                <a:ea typeface="宋体" panose="02010600030101010101" pitchFamily="2" charset="-122"/>
              </a:rPr>
              <a:t>灰太狼 </a:t>
            </a:r>
            <a:r>
              <a:rPr lang="en-US" altLang="zh-CN" dirty="0" smtClean="0">
                <a:ea typeface="宋体" panose="02010600030101010101" pitchFamily="2" charset="-122"/>
              </a:rPr>
              <a:t>    </a:t>
            </a:r>
            <a:r>
              <a:rPr lang="zh-CN" altLang="en-US" dirty="0" smtClean="0">
                <a:ea typeface="宋体" panose="02010600030101010101" pitchFamily="2" charset="-122"/>
              </a:rPr>
              <a:t>   羊食      青青山 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</a:t>
            </a:r>
            <a:r>
              <a:rPr lang="zh-CN" altLang="en-US" dirty="0" smtClean="0">
                <a:ea typeface="宋体" panose="02010600030101010101" pitchFamily="2" charset="-122"/>
              </a:rPr>
              <a:t>喜羊羊 </a:t>
            </a:r>
            <a:r>
              <a:rPr lang="en-US" altLang="zh-CN" dirty="0" smtClean="0">
                <a:ea typeface="宋体" panose="02010600030101010101" pitchFamily="2" charset="-122"/>
              </a:rPr>
              <a:t>       </a:t>
            </a:r>
            <a:r>
              <a:rPr lang="zh-CN" altLang="en-US" dirty="0" smtClean="0">
                <a:ea typeface="宋体" panose="02010600030101010101" pitchFamily="2" charset="-122"/>
              </a:rPr>
              <a:t>草食</a:t>
            </a:r>
            <a:r>
              <a:rPr lang="en-US" altLang="zh-CN" dirty="0" smtClean="0">
                <a:ea typeface="宋体" panose="02010600030101010101" pitchFamily="2" charset="-122"/>
              </a:rPr>
              <a:t>      </a:t>
            </a:r>
            <a:r>
              <a:rPr lang="zh-CN" altLang="en-US" dirty="0" smtClean="0">
                <a:ea typeface="宋体" panose="02010600030101010101" pitchFamily="2" charset="-122"/>
              </a:rPr>
              <a:t>青青草原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</a:t>
            </a:r>
            <a:r>
              <a:rPr lang="zh-CN" altLang="en-US" dirty="0" smtClean="0">
                <a:ea typeface="宋体" panose="02010600030101010101" pitchFamily="2" charset="-122"/>
              </a:rPr>
              <a:t>食人鱼</a:t>
            </a:r>
            <a:r>
              <a:rPr lang="en-US" altLang="zh-CN" dirty="0" smtClean="0">
                <a:ea typeface="宋体" panose="02010600030101010101" pitchFamily="2" charset="-122"/>
              </a:rPr>
              <a:t>        </a:t>
            </a:r>
            <a:r>
              <a:rPr lang="zh-CN" altLang="en-US" dirty="0" smtClean="0">
                <a:ea typeface="宋体" panose="02010600030101010101" pitchFamily="2" charset="-122"/>
              </a:rPr>
              <a:t>全食</a:t>
            </a:r>
            <a:r>
              <a:rPr lang="en-US" altLang="zh-CN" dirty="0" smtClean="0">
                <a:ea typeface="宋体" panose="02010600030101010101" pitchFamily="2" charset="-122"/>
              </a:rPr>
              <a:t>      </a:t>
            </a:r>
            <a:r>
              <a:rPr lang="zh-CN" altLang="en-US" dirty="0" smtClean="0">
                <a:ea typeface="宋体" panose="02010600030101010101" pitchFamily="2" charset="-122"/>
              </a:rPr>
              <a:t>青青河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		</a:t>
            </a:r>
            <a:r>
              <a:rPr lang="zh-CN" altLang="en-US" dirty="0" smtClean="0">
                <a:ea typeface="宋体" panose="02010600030101010101" pitchFamily="2" charset="-122"/>
              </a:rPr>
              <a:t>美羊羊       草食      青青草原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</a:t>
            </a:r>
            <a:r>
              <a:rPr lang="zh-CN" altLang="en-US" dirty="0" smtClean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zh-CN" altLang="en-US" dirty="0" smtClean="0">
                <a:ea typeface="宋体" panose="02010600030101010101" pitchFamily="2" charset="-122"/>
              </a:rPr>
              <a:t>蛤蟆</a:t>
            </a:r>
            <a:r>
              <a:rPr lang="en-US" altLang="zh-CN" dirty="0" smtClean="0">
                <a:ea typeface="宋体" panose="02010600030101010101" pitchFamily="2" charset="-122"/>
              </a:rPr>
              <a:t>	</a:t>
            </a:r>
            <a:r>
              <a:rPr lang="zh-CN" altLang="en-US" dirty="0" smtClean="0">
                <a:ea typeface="宋体" panose="02010600030101010101" pitchFamily="2" charset="-122"/>
              </a:rPr>
              <a:t>        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zh-CN" altLang="en-US" dirty="0" smtClean="0">
                <a:ea typeface="宋体" panose="02010600030101010101" pitchFamily="2" charset="-122"/>
              </a:rPr>
              <a:t>小食      青青草原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──────────────────</a:t>
            </a:r>
          </a:p>
        </p:txBody>
      </p:sp>
      <p:sp>
        <p:nvSpPr>
          <p:cNvPr id="18436" name="Line 4"/>
          <p:cNvSpPr>
            <a:spLocks noChangeShapeType="1"/>
          </p:cNvSpPr>
          <p:nvPr/>
        </p:nvSpPr>
        <p:spPr bwMode="auto">
          <a:xfrm>
            <a:off x="2784475" y="1989138"/>
            <a:ext cx="0" cy="3581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8437" name="Line 5"/>
          <p:cNvSpPr>
            <a:spLocks noChangeShapeType="1"/>
          </p:cNvSpPr>
          <p:nvPr/>
        </p:nvSpPr>
        <p:spPr bwMode="auto">
          <a:xfrm>
            <a:off x="4269970" y="1989138"/>
            <a:ext cx="0" cy="3581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32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Example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610100"/>
          </a:xfrm>
        </p:spPr>
        <p:txBody>
          <a:bodyPr/>
          <a:lstStyle/>
          <a:p>
            <a:pPr lvl="1" algn="just">
              <a:buFont typeface="Wingdings" panose="05000000000000000000" pitchFamily="2" charset="2"/>
              <a:buNone/>
            </a:pPr>
            <a:r>
              <a:rPr lang="en-US" altLang="zh-CN" smtClean="0">
                <a:ea typeface="宋体" panose="02010600030101010101" pitchFamily="2" charset="-122"/>
              </a:rPr>
              <a:t>1. Decompose it into:</a:t>
            </a:r>
            <a:endParaRPr lang="zh-CN" altLang="en-US" smtClean="0">
              <a:ea typeface="宋体" panose="02010600030101010101" pitchFamily="2" charset="-122"/>
            </a:endParaRPr>
          </a:p>
          <a:p>
            <a:pPr lvl="1" algn="just">
              <a:buFont typeface="Wingdings" panose="05000000000000000000" pitchFamily="2" charset="2"/>
              <a:buNone/>
            </a:pPr>
            <a:r>
              <a:rPr lang="zh-CN" altLang="en-US" smtClean="0">
                <a:ea typeface="宋体" panose="02010600030101010101" pitchFamily="2" charset="-122"/>
              </a:rPr>
              <a:t>               </a:t>
            </a:r>
            <a:r>
              <a:rPr lang="en-US" altLang="zh-CN" smtClean="0">
                <a:ea typeface="宋体" panose="02010600030101010101" pitchFamily="2" charset="-122"/>
              </a:rPr>
              <a:t>SN(</a:t>
            </a:r>
            <a:r>
              <a:rPr lang="zh-CN" altLang="en-US" b="1" smtClean="0">
                <a:ea typeface="宋体" panose="02010600030101010101" pitchFamily="2" charset="-122"/>
              </a:rPr>
              <a:t>动物名称</a:t>
            </a:r>
            <a:r>
              <a:rPr lang="en-US" altLang="zh-CN" smtClean="0">
                <a:ea typeface="宋体" panose="02010600030101010101" pitchFamily="2" charset="-122"/>
              </a:rPr>
              <a:t>)</a:t>
            </a:r>
          </a:p>
          <a:p>
            <a:pPr lvl="1" algn="just">
              <a:buFont typeface="Wingdings" panose="05000000000000000000" pitchFamily="2" charset="2"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       SD(</a:t>
            </a:r>
            <a:r>
              <a:rPr lang="zh-CN" altLang="en-US" b="1" smtClean="0">
                <a:ea typeface="宋体" panose="02010600030101010101" pitchFamily="2" charset="-122"/>
              </a:rPr>
              <a:t>动物属性 </a:t>
            </a:r>
            <a:r>
              <a:rPr lang="en-US" altLang="zh-CN" smtClean="0">
                <a:ea typeface="宋体" panose="02010600030101010101" pitchFamily="2" charset="-122"/>
              </a:rPr>
              <a:t>)</a:t>
            </a:r>
          </a:p>
          <a:p>
            <a:pPr lvl="1" algn="just">
              <a:buFont typeface="Wingdings" panose="05000000000000000000" pitchFamily="2" charset="2"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       SO(</a:t>
            </a:r>
            <a:r>
              <a:rPr lang="zh-CN" altLang="en-US" b="1" smtClean="0">
                <a:ea typeface="宋体" panose="02010600030101010101" pitchFamily="2" charset="-122"/>
              </a:rPr>
              <a:t>动物居住地</a:t>
            </a:r>
            <a:r>
              <a:rPr lang="en-US" altLang="zh-CN" smtClean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04908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en-US" altLang="zh-CN" sz="4000" smtClean="0">
                <a:ea typeface="宋体" panose="02010600030101010101" pitchFamily="2" charset="-122"/>
              </a:rPr>
              <a:t>Example</a:t>
            </a:r>
            <a:endParaRPr lang="zh-CN" altLang="en-US" sz="4000" smtClean="0">
              <a:ea typeface="仿宋_GB2312" pitchFamily="49" charset="-122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13167"/>
            <a:ext cx="8305800" cy="4876800"/>
          </a:xfrm>
          <a:ln w="571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            </a:t>
            </a:r>
            <a:r>
              <a:rPr lang="en-US" altLang="zh-CN" sz="2000" dirty="0" smtClean="0">
                <a:ea typeface="宋体" panose="02010600030101010101" pitchFamily="2" charset="-122"/>
              </a:rPr>
              <a:t>SN──────     SD ──────    SO ──────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ea typeface="宋体" panose="02010600030101010101" pitchFamily="2" charset="-122"/>
              </a:rPr>
              <a:t>	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ea typeface="宋体" panose="02010600030101010101" pitchFamily="2" charset="-122"/>
              </a:rPr>
              <a:t>     </a:t>
            </a:r>
            <a:r>
              <a:rPr lang="zh-CN" altLang="en-US" sz="2400" b="1" dirty="0" smtClean="0">
                <a:ea typeface="宋体" panose="02010600030101010101" pitchFamily="2" charset="-122"/>
              </a:rPr>
              <a:t>动物名称      动物属性       动物居住地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                </a:t>
            </a:r>
            <a:r>
              <a:rPr lang="en-US" altLang="zh-CN" sz="2000" dirty="0" smtClean="0">
                <a:ea typeface="宋体" panose="02010600030101010101" pitchFamily="2" charset="-122"/>
              </a:rPr>
              <a:t>──────        ──────       ──────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	</a:t>
            </a:r>
            <a:r>
              <a:rPr lang="zh-CN" altLang="en-US" sz="2400" dirty="0" smtClean="0">
                <a:ea typeface="宋体" panose="02010600030101010101" pitchFamily="2" charset="-122"/>
              </a:rPr>
              <a:t>灰太狼       羊食          青青山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	</a:t>
            </a:r>
            <a:r>
              <a:rPr lang="zh-CN" altLang="en-US" sz="2400" dirty="0" smtClean="0">
                <a:ea typeface="宋体" panose="02010600030101010101" pitchFamily="2" charset="-122"/>
              </a:rPr>
              <a:t>喜羊羊       草食          青青草原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宋体" panose="02010600030101010101" pitchFamily="2" charset="-122"/>
              </a:rPr>
              <a:t>             食人鱼       全食          青青河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宋体" panose="02010600030101010101" pitchFamily="2" charset="-122"/>
              </a:rPr>
              <a:t>             美羊羊       小食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宋体" panose="02010600030101010101" pitchFamily="2" charset="-122"/>
              </a:rPr>
              <a:t>              蛤蟆</a:t>
            </a:r>
            <a:r>
              <a:rPr lang="en-US" altLang="zh-CN" sz="2400" dirty="0" smtClean="0">
                <a:ea typeface="宋体" panose="02010600030101010101" pitchFamily="2" charset="-122"/>
              </a:rPr>
              <a:t>           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225" y="3689350"/>
            <a:ext cx="927100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7740352" y="3689902"/>
            <a:ext cx="60785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8000">
                  <a:solidFill>
                    <a:srgbClr val="C00000"/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Arial" charset="0"/>
              </a:rPr>
              <a:t>?</a:t>
            </a:r>
            <a:endParaRPr lang="zh-CN" altLang="en-US" sz="5400" b="1" dirty="0">
              <a:ln w="18000">
                <a:solidFill>
                  <a:srgbClr val="C00000"/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457950" y="5084763"/>
            <a:ext cx="18907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Where I am? 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Information lost !</a:t>
            </a:r>
          </a:p>
        </p:txBody>
      </p:sp>
    </p:spTree>
    <p:extLst>
      <p:ext uri="{BB962C8B-B14F-4D97-AF65-F5344CB8AC3E}">
        <p14:creationId xmlns:p14="http://schemas.microsoft.com/office/powerpoint/2010/main" val="315497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6207"/>
            <a:ext cx="8229600" cy="990600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Example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534400" cy="4114800"/>
          </a:xfrm>
        </p:spPr>
        <p:txBody>
          <a:bodyPr/>
          <a:lstStyle/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2.  SL</a:t>
            </a:r>
            <a:endParaRPr lang="zh-CN" altLang="en-US" sz="2000" dirty="0" smtClean="0">
              <a:ea typeface="宋体" panose="02010600030101010101" pitchFamily="2" charset="-122"/>
            </a:endParaRP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宋体" panose="02010600030101010101" pitchFamily="2" charset="-122"/>
              </a:rPr>
              <a:t>               </a:t>
            </a:r>
            <a:r>
              <a:rPr lang="en-US" altLang="zh-CN" sz="2000" dirty="0" smtClean="0">
                <a:ea typeface="宋体" panose="02010600030101010101" pitchFamily="2" charset="-122"/>
              </a:rPr>
              <a:t>NL(</a:t>
            </a:r>
            <a:r>
              <a:rPr lang="zh-CN" altLang="en-US" sz="2000" b="1" dirty="0" smtClean="0">
                <a:ea typeface="宋体" panose="02010600030101010101" pitchFamily="2" charset="-122"/>
              </a:rPr>
              <a:t>动物名称</a:t>
            </a:r>
            <a:r>
              <a:rPr lang="en-US" altLang="zh-CN" sz="2000" dirty="0" smtClean="0">
                <a:ea typeface="宋体" panose="02010600030101010101" pitchFamily="2" charset="-122"/>
              </a:rPr>
              <a:t>,</a:t>
            </a:r>
            <a:r>
              <a:rPr lang="zh-CN" altLang="en-US" sz="2000" b="1" dirty="0" smtClean="0">
                <a:ea typeface="宋体" panose="02010600030101010101" pitchFamily="2" charset="-122"/>
              </a:rPr>
              <a:t>动物居住地</a:t>
            </a:r>
            <a:r>
              <a:rPr lang="en-US" altLang="zh-CN" sz="2000" dirty="0" smtClean="0">
                <a:ea typeface="宋体" panose="02010600030101010101" pitchFamily="2" charset="-122"/>
              </a:rPr>
              <a:t>)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               DL(</a:t>
            </a:r>
            <a:r>
              <a:rPr lang="zh-CN" altLang="en-US" sz="2000" b="1" dirty="0" smtClean="0">
                <a:ea typeface="宋体" panose="02010600030101010101" pitchFamily="2" charset="-122"/>
              </a:rPr>
              <a:t>动物属性</a:t>
            </a:r>
            <a:r>
              <a:rPr lang="en-US" altLang="zh-CN" sz="2000" dirty="0" smtClean="0">
                <a:ea typeface="宋体" panose="02010600030101010101" pitchFamily="2" charset="-122"/>
              </a:rPr>
              <a:t>,</a:t>
            </a:r>
            <a:r>
              <a:rPr lang="zh-CN" altLang="en-US" sz="2000" b="1" dirty="0" smtClean="0">
                <a:ea typeface="宋体" panose="02010600030101010101" pitchFamily="2" charset="-122"/>
              </a:rPr>
              <a:t>动物居住地</a:t>
            </a:r>
            <a:r>
              <a:rPr lang="en-US" altLang="zh-CN" sz="2000" dirty="0" smtClean="0">
                <a:ea typeface="宋体" panose="02010600030101010101" pitchFamily="2" charset="-122"/>
              </a:rPr>
              <a:t>)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then</a:t>
            </a:r>
            <a:r>
              <a:rPr lang="zh-CN" altLang="en-US" sz="2000" dirty="0" smtClean="0">
                <a:ea typeface="宋体" panose="02010600030101010101" pitchFamily="2" charset="-122"/>
              </a:rPr>
              <a:t>：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宋体" panose="02010600030101010101" pitchFamily="2" charset="-122"/>
              </a:rPr>
              <a:t>      </a:t>
            </a:r>
            <a:r>
              <a:rPr lang="en-US" altLang="zh-CN" sz="1800" dirty="0" smtClean="0">
                <a:ea typeface="宋体" panose="02010600030101010101" pitchFamily="2" charset="-122"/>
              </a:rPr>
              <a:t>NL                                                         DL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               Sn                So                           SD            So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		   </a:t>
            </a:r>
            <a:r>
              <a:rPr lang="zh-CN" altLang="en-US" sz="2000" dirty="0" smtClean="0">
                <a:ea typeface="宋体" panose="02010600030101010101" pitchFamily="2" charset="-122"/>
              </a:rPr>
              <a:t>灰太狼         青青山</a:t>
            </a:r>
            <a:r>
              <a:rPr lang="en-US" altLang="zh-CN" sz="2000" dirty="0" smtClean="0">
                <a:ea typeface="宋体" panose="02010600030101010101" pitchFamily="2" charset="-122"/>
              </a:rPr>
              <a:t>	         </a:t>
            </a:r>
            <a:r>
              <a:rPr lang="zh-CN" altLang="en-US" sz="2000" dirty="0" smtClean="0">
                <a:ea typeface="宋体" panose="02010600030101010101" pitchFamily="2" charset="-122"/>
              </a:rPr>
              <a:t>羊食         青青山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 		   </a:t>
            </a:r>
            <a:r>
              <a:rPr lang="zh-CN" altLang="en-US" sz="2000" dirty="0" smtClean="0">
                <a:ea typeface="宋体" panose="02010600030101010101" pitchFamily="2" charset="-122"/>
              </a:rPr>
              <a:t>喜羊羊</a:t>
            </a:r>
            <a:r>
              <a:rPr lang="en-US" altLang="zh-CN" sz="2000" dirty="0" smtClean="0">
                <a:ea typeface="宋体" panose="02010600030101010101" pitchFamily="2" charset="-122"/>
              </a:rPr>
              <a:t>         </a:t>
            </a:r>
            <a:r>
              <a:rPr lang="zh-CN" altLang="en-US" sz="2000" dirty="0" smtClean="0">
                <a:ea typeface="宋体" panose="02010600030101010101" pitchFamily="2" charset="-122"/>
              </a:rPr>
              <a:t>青青草原</a:t>
            </a:r>
            <a:r>
              <a:rPr lang="en-US" altLang="zh-CN" sz="2000" dirty="0" smtClean="0">
                <a:ea typeface="宋体" panose="02010600030101010101" pitchFamily="2" charset="-122"/>
              </a:rPr>
              <a:t>	         </a:t>
            </a:r>
            <a:r>
              <a:rPr lang="zh-CN" altLang="en-US" sz="2000" dirty="0" smtClean="0">
                <a:ea typeface="宋体" panose="02010600030101010101" pitchFamily="2" charset="-122"/>
              </a:rPr>
              <a:t>草食         青青草原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ea typeface="宋体" panose="02010600030101010101" pitchFamily="2" charset="-122"/>
              </a:rPr>
              <a:t>		   </a:t>
            </a:r>
            <a:r>
              <a:rPr lang="zh-CN" altLang="en-US" sz="2000" dirty="0" smtClean="0">
                <a:ea typeface="宋体" panose="02010600030101010101" pitchFamily="2" charset="-122"/>
              </a:rPr>
              <a:t>食人鱼</a:t>
            </a:r>
            <a:r>
              <a:rPr lang="en-US" altLang="zh-CN" sz="2000" dirty="0" smtClean="0">
                <a:ea typeface="宋体" panose="02010600030101010101" pitchFamily="2" charset="-122"/>
              </a:rPr>
              <a:t>         </a:t>
            </a:r>
            <a:r>
              <a:rPr lang="zh-CN" altLang="en-US" sz="2000" dirty="0" smtClean="0">
                <a:ea typeface="宋体" panose="02010600030101010101" pitchFamily="2" charset="-122"/>
              </a:rPr>
              <a:t>青青河                   全食        青青河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		   </a:t>
            </a:r>
            <a:r>
              <a:rPr lang="zh-CN" altLang="en-US" sz="2000" dirty="0" smtClean="0">
                <a:ea typeface="宋体" panose="02010600030101010101" pitchFamily="2" charset="-122"/>
              </a:rPr>
              <a:t>美羊羊</a:t>
            </a:r>
            <a:r>
              <a:rPr lang="en-US" altLang="zh-CN" sz="2000" dirty="0" smtClean="0">
                <a:ea typeface="宋体" panose="02010600030101010101" pitchFamily="2" charset="-122"/>
              </a:rPr>
              <a:t>         </a:t>
            </a:r>
            <a:r>
              <a:rPr lang="zh-CN" altLang="en-US" sz="2000" dirty="0" smtClean="0">
                <a:ea typeface="宋体" panose="02010600030101010101" pitchFamily="2" charset="-122"/>
              </a:rPr>
              <a:t>青青草原 </a:t>
            </a:r>
            <a:r>
              <a:rPr lang="en-US" altLang="zh-CN" sz="2000" dirty="0" smtClean="0">
                <a:ea typeface="宋体" panose="02010600030101010101" pitchFamily="2" charset="-122"/>
              </a:rPr>
              <a:t>	         </a:t>
            </a:r>
            <a:r>
              <a:rPr lang="zh-CN" altLang="en-US" sz="2000" dirty="0" smtClean="0">
                <a:ea typeface="宋体" panose="02010600030101010101" pitchFamily="2" charset="-122"/>
              </a:rPr>
              <a:t>小食         青青草原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宋体" panose="02010600030101010101" pitchFamily="2" charset="-122"/>
              </a:rPr>
              <a:t>            蛤蟆</a:t>
            </a:r>
            <a:r>
              <a:rPr lang="en-US" altLang="zh-CN" sz="2000" dirty="0" smtClean="0">
                <a:ea typeface="宋体" panose="02010600030101010101" pitchFamily="2" charset="-122"/>
              </a:rPr>
              <a:t>            </a:t>
            </a:r>
            <a:r>
              <a:rPr lang="zh-CN" altLang="en-US" sz="2000" dirty="0" smtClean="0">
                <a:ea typeface="宋体" panose="02010600030101010101" pitchFamily="2" charset="-122"/>
              </a:rPr>
              <a:t>青青草原</a:t>
            </a:r>
            <a:endParaRPr lang="en-US" altLang="zh-CN" sz="2000" dirty="0" smtClean="0">
              <a:ea typeface="宋体" panose="02010600030101010101" pitchFamily="2" charset="-122"/>
            </a:endParaRPr>
          </a:p>
        </p:txBody>
      </p:sp>
      <p:sp>
        <p:nvSpPr>
          <p:cNvPr id="21508" name="Line 4"/>
          <p:cNvSpPr>
            <a:spLocks noChangeShapeType="1"/>
          </p:cNvSpPr>
          <p:nvPr/>
        </p:nvSpPr>
        <p:spPr bwMode="auto">
          <a:xfrm>
            <a:off x="2546879" y="2789238"/>
            <a:ext cx="0" cy="2667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>
            <a:off x="5436658" y="3001434"/>
            <a:ext cx="0" cy="2362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8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Example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013" y="1196975"/>
            <a:ext cx="7772400" cy="411480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NL      DL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              	                ─────────────  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ea typeface="宋体" panose="02010600030101010101" pitchFamily="2" charset="-122"/>
              </a:rPr>
              <a:t>	               </a:t>
            </a:r>
            <a:r>
              <a:rPr lang="zh-CN" altLang="en-US" sz="2400" b="1" dirty="0" smtClean="0">
                <a:ea typeface="宋体" panose="02010600030101010101" pitchFamily="2" charset="-122"/>
              </a:rPr>
              <a:t>动物名称 动物居住地  动物属性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              	                 ─────────────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	    </a:t>
            </a:r>
            <a:r>
              <a:rPr lang="zh-CN" altLang="en-US" sz="2400" dirty="0" smtClean="0">
                <a:ea typeface="宋体" panose="02010600030101010101" pitchFamily="2" charset="-122"/>
              </a:rPr>
              <a:t>灰太狼   青青山          羊食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    	    </a:t>
            </a:r>
            <a:r>
              <a:rPr lang="zh-CN" altLang="en-US" sz="2400" dirty="0" smtClean="0">
                <a:ea typeface="宋体" panose="02010600030101010101" pitchFamily="2" charset="-122"/>
              </a:rPr>
              <a:t>喜羊羊   青青草原      草食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	    </a:t>
            </a:r>
            <a:r>
              <a:rPr lang="zh-CN" altLang="en-US" sz="2400" dirty="0" smtClean="0">
                <a:ea typeface="宋体" panose="02010600030101010101" pitchFamily="2" charset="-122"/>
              </a:rPr>
              <a:t>喜羊羊   青青草原      小食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	    </a:t>
            </a:r>
            <a:r>
              <a:rPr lang="zh-CN" altLang="en-US" sz="2400" dirty="0" smtClean="0">
                <a:ea typeface="宋体" panose="02010600030101010101" pitchFamily="2" charset="-122"/>
              </a:rPr>
              <a:t>食人鱼   青青河          全食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	    </a:t>
            </a:r>
            <a:r>
              <a:rPr lang="zh-CN" altLang="en-US" sz="2400" dirty="0" smtClean="0">
                <a:ea typeface="宋体" panose="02010600030101010101" pitchFamily="2" charset="-122"/>
              </a:rPr>
              <a:t>美羊羊   青青草原      草食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	    </a:t>
            </a:r>
            <a:r>
              <a:rPr lang="zh-CN" altLang="en-US" sz="2400" dirty="0" smtClean="0">
                <a:ea typeface="宋体" panose="02010600030101010101" pitchFamily="2" charset="-122"/>
              </a:rPr>
              <a:t>美羊羊   青青草原      小食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 		    </a:t>
            </a:r>
            <a:r>
              <a:rPr lang="zh-CN" altLang="en-US" sz="2400" dirty="0" smtClean="0">
                <a:ea typeface="宋体" panose="02010600030101010101" pitchFamily="2" charset="-122"/>
              </a:rPr>
              <a:t>蛤蟆       青青草原      草食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	    </a:t>
            </a:r>
            <a:r>
              <a:rPr lang="zh-CN" altLang="en-US" sz="2400" dirty="0" smtClean="0">
                <a:ea typeface="宋体" panose="02010600030101010101" pitchFamily="2" charset="-122"/>
              </a:rPr>
              <a:t>蛤蟆       青青草原</a:t>
            </a:r>
            <a:r>
              <a:rPr lang="en-US" altLang="zh-CN" sz="2400" dirty="0" smtClean="0">
                <a:ea typeface="宋体" panose="02010600030101010101" pitchFamily="2" charset="-122"/>
              </a:rPr>
              <a:t>     </a:t>
            </a:r>
            <a:r>
              <a:rPr lang="zh-CN" altLang="en-US" sz="2400" dirty="0" smtClean="0">
                <a:ea typeface="宋体" panose="02010600030101010101" pitchFamily="2" charset="-122"/>
              </a:rPr>
              <a:t> 小食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2532" name="Line 4"/>
          <p:cNvSpPr>
            <a:spLocks noChangeShapeType="1"/>
          </p:cNvSpPr>
          <p:nvPr/>
        </p:nvSpPr>
        <p:spPr bwMode="auto">
          <a:xfrm>
            <a:off x="3118908" y="1594380"/>
            <a:ext cx="0" cy="403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22533" name="Line 5"/>
          <p:cNvSpPr>
            <a:spLocks noChangeShapeType="1"/>
          </p:cNvSpPr>
          <p:nvPr/>
        </p:nvSpPr>
        <p:spPr bwMode="auto">
          <a:xfrm>
            <a:off x="4212166" y="1675341"/>
            <a:ext cx="0" cy="403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22534" name="AutoShape 6"/>
          <p:cNvSpPr>
            <a:spLocks noChangeArrowheads="1"/>
          </p:cNvSpPr>
          <p:nvPr/>
        </p:nvSpPr>
        <p:spPr bwMode="auto">
          <a:xfrm rot="5400000">
            <a:off x="1517650" y="1227402"/>
            <a:ext cx="114300" cy="228600"/>
          </a:xfrm>
          <a:prstGeom prst="flowChartCollate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429250" y="4357688"/>
            <a:ext cx="865188" cy="80327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zh-CN">
              <a:solidFill>
                <a:srgbClr val="FFFFFF"/>
              </a:solidFill>
              <a:ea typeface="宋体" pitchFamily="2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500688" y="3286125"/>
            <a:ext cx="865187" cy="80327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zh-CN">
              <a:solidFill>
                <a:srgbClr val="FFFFFF"/>
              </a:solidFill>
              <a:ea typeface="宋体" pitchFamily="2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500688" y="5286375"/>
            <a:ext cx="863600" cy="80327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zh-CN">
              <a:solidFill>
                <a:srgbClr val="FFFFFF"/>
              </a:solidFill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284621" y="3284984"/>
            <a:ext cx="60785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8000">
                  <a:solidFill>
                    <a:srgbClr val="C00000"/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Arial" charset="0"/>
              </a:rPr>
              <a:t>?</a:t>
            </a:r>
            <a:endParaRPr lang="zh-CN" altLang="en-US" sz="5400" b="1" dirty="0">
              <a:ln w="18000">
                <a:solidFill>
                  <a:srgbClr val="C00000"/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Arial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325" y="2900363"/>
            <a:ext cx="1814513" cy="139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372225" y="4941888"/>
            <a:ext cx="303847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We cannot find “</a:t>
            </a:r>
            <a:r>
              <a:rPr lang="zh-CN" altLang="en-US" sz="1800" b="1" dirty="0">
                <a:ea typeface="宋体" panose="02010600030101010101" pitchFamily="2" charset="-122"/>
              </a:rPr>
              <a:t>动物属性</a:t>
            </a:r>
            <a:r>
              <a:rPr lang="en-US" altLang="zh-CN" sz="1800" b="1" dirty="0">
                <a:ea typeface="宋体" panose="02010600030101010101" pitchFamily="2" charset="-122"/>
              </a:rPr>
              <a:t>”</a:t>
            </a:r>
            <a:r>
              <a:rPr lang="zh-CN" altLang="en-US" sz="1800" b="1" dirty="0">
                <a:ea typeface="宋体" panose="02010600030101010101" pitchFamily="2" charset="-122"/>
              </a:rPr>
              <a:t> </a:t>
            </a:r>
            <a:endParaRPr lang="en-US" altLang="zh-CN" sz="1800" b="1" dirty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information for</a:t>
            </a:r>
            <a:r>
              <a:rPr lang="zh-CN" altLang="en-US" sz="1800" dirty="0">
                <a:ea typeface="宋体" panose="02010600030101010101" pitchFamily="2" charset="-122"/>
              </a:rPr>
              <a:t>喜羊羊</a:t>
            </a:r>
            <a:r>
              <a:rPr lang="en-US" altLang="zh-CN" sz="1800" dirty="0">
                <a:ea typeface="宋体" panose="02010600030101010101" pitchFamily="2" charset="-122"/>
              </a:rPr>
              <a:t>,</a:t>
            </a:r>
            <a:r>
              <a:rPr lang="zh-CN" altLang="en-US" sz="1800" dirty="0">
                <a:ea typeface="宋体" panose="02010600030101010101" pitchFamily="2" charset="-122"/>
              </a:rPr>
              <a:t>美羊羊</a:t>
            </a:r>
            <a:r>
              <a:rPr lang="en-US" altLang="zh-CN" sz="1800" dirty="0">
                <a:ea typeface="宋体" panose="02010600030101010101" pitchFamily="2" charset="-122"/>
              </a:rPr>
              <a:t>,</a:t>
            </a:r>
            <a:r>
              <a:rPr lang="zh-CN" altLang="en-US" sz="1800" dirty="0">
                <a:ea typeface="宋体" panose="02010600030101010101" pitchFamily="2" charset="-122"/>
              </a:rPr>
              <a:t>蛤蟆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information lost and wrong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information is generated</a:t>
            </a:r>
            <a:endParaRPr lang="zh-CN" altLang="en-US" sz="1800" dirty="0"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29589" y="620395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连接</a:t>
            </a:r>
            <a:r>
              <a:rPr lang="zh-CN" altLang="en-US" dirty="0" smtClean="0">
                <a:solidFill>
                  <a:srgbClr val="FF0000"/>
                </a:solidFill>
              </a:rPr>
              <a:t>有损失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93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Example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1923"/>
            <a:ext cx="8229600" cy="4610100"/>
          </a:xfrm>
        </p:spPr>
        <p:txBody>
          <a:bodyPr/>
          <a:lstStyle/>
          <a:p>
            <a:pPr lvl="1">
              <a:buFont typeface="Wingdings" panose="05000000000000000000" pitchFamily="2" charset="2"/>
              <a:buNone/>
            </a:pPr>
            <a:r>
              <a:rPr lang="en-US" altLang="zh-CN" sz="3200" dirty="0" smtClean="0">
                <a:ea typeface="宋体" panose="02010600030101010101" pitchFamily="2" charset="-122"/>
              </a:rPr>
              <a:t>3. </a:t>
            </a:r>
            <a:r>
              <a:rPr lang="en-US" altLang="zh-CN" sz="2400" dirty="0" smtClean="0">
                <a:ea typeface="宋体" panose="02010600030101010101" pitchFamily="2" charset="-122"/>
              </a:rPr>
              <a:t>SL</a:t>
            </a:r>
            <a:r>
              <a:rPr lang="zh-CN" altLang="en-US" sz="2400" dirty="0" smtClean="0">
                <a:ea typeface="宋体" panose="02010600030101010101" pitchFamily="2" charset="-122"/>
              </a:rPr>
              <a:t>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               </a:t>
            </a:r>
            <a:r>
              <a:rPr lang="en-US" altLang="zh-CN" dirty="0" smtClean="0">
                <a:ea typeface="宋体" panose="02010600030101010101" pitchFamily="2" charset="-122"/>
              </a:rPr>
              <a:t>ND(</a:t>
            </a:r>
            <a:r>
              <a:rPr lang="zh-CN" altLang="en-US" b="1" dirty="0" smtClean="0">
                <a:ea typeface="宋体" panose="02010600030101010101" pitchFamily="2" charset="-122"/>
              </a:rPr>
              <a:t>动物名称</a:t>
            </a:r>
            <a:r>
              <a:rPr lang="en-US" altLang="zh-CN" dirty="0" smtClean="0">
                <a:ea typeface="宋体" panose="02010600030101010101" pitchFamily="2" charset="-122"/>
              </a:rPr>
              <a:t>,</a:t>
            </a:r>
            <a:r>
              <a:rPr lang="zh-CN" altLang="en-US" b="1" dirty="0" smtClean="0">
                <a:ea typeface="宋体" panose="02010600030101010101" pitchFamily="2" charset="-122"/>
              </a:rPr>
              <a:t>动物属性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     NL(</a:t>
            </a:r>
            <a:r>
              <a:rPr lang="zh-CN" altLang="en-US" b="1" dirty="0" smtClean="0">
                <a:ea typeface="宋体" panose="02010600030101010101" pitchFamily="2" charset="-122"/>
              </a:rPr>
              <a:t>动物名称</a:t>
            </a:r>
            <a:r>
              <a:rPr lang="en-US" altLang="zh-CN" dirty="0" smtClean="0">
                <a:ea typeface="宋体" panose="02010600030101010101" pitchFamily="2" charset="-122"/>
              </a:rPr>
              <a:t>,</a:t>
            </a:r>
            <a:r>
              <a:rPr lang="zh-CN" altLang="en-US" b="1" dirty="0" smtClean="0">
                <a:ea typeface="宋体" panose="02010600030101010101" pitchFamily="2" charset="-122"/>
              </a:rPr>
              <a:t>动物居住地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Then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       </a:t>
            </a:r>
            <a:endParaRPr lang="zh-CN" altLang="en-US" sz="2400" dirty="0" smtClean="0">
              <a:ea typeface="宋体" panose="0201060003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307087" y="3241034"/>
            <a:ext cx="7494588" cy="4051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ND                                                         NL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a typeface="宋体" panose="02010600030101010101" pitchFamily="2" charset="-122"/>
              </a:rPr>
              <a:t>		</a:t>
            </a:r>
            <a:r>
              <a:rPr lang="zh-CN" altLang="en-US" sz="2000" b="1" dirty="0" smtClean="0">
                <a:ea typeface="宋体" panose="02010600030101010101" pitchFamily="2" charset="-122"/>
              </a:rPr>
              <a:t>动物名称   动物属性                       动物名称 动物居住地</a:t>
            </a:r>
            <a:endParaRPr lang="en-US" altLang="zh-CN" sz="2000" b="1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       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	</a:t>
            </a:r>
            <a:r>
              <a:rPr lang="zh-CN" altLang="en-US" sz="2400" dirty="0" smtClean="0">
                <a:ea typeface="宋体" panose="02010600030101010101" pitchFamily="2" charset="-122"/>
              </a:rPr>
              <a:t>灰太狼      羊食                         灰太狼  青青山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	</a:t>
            </a:r>
            <a:r>
              <a:rPr lang="zh-CN" altLang="en-US" sz="2400" dirty="0" smtClean="0">
                <a:ea typeface="宋体" panose="02010600030101010101" pitchFamily="2" charset="-122"/>
              </a:rPr>
              <a:t>喜羊羊      草食 </a:t>
            </a:r>
            <a:r>
              <a:rPr lang="en-US" altLang="zh-CN" sz="2400" dirty="0" smtClean="0">
                <a:ea typeface="宋体" panose="02010600030101010101" pitchFamily="2" charset="-122"/>
              </a:rPr>
              <a:t>		</a:t>
            </a:r>
            <a:r>
              <a:rPr lang="zh-CN" altLang="en-US" sz="2400" dirty="0" smtClean="0">
                <a:ea typeface="宋体" panose="02010600030101010101" pitchFamily="2" charset="-122"/>
              </a:rPr>
              <a:t>喜羊羊 青青草原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	</a:t>
            </a:r>
            <a:r>
              <a:rPr lang="zh-CN" altLang="en-US" sz="2400" dirty="0" smtClean="0">
                <a:ea typeface="宋体" panose="02010600030101010101" pitchFamily="2" charset="-122"/>
              </a:rPr>
              <a:t>食人鱼      全食  </a:t>
            </a:r>
            <a:r>
              <a:rPr lang="en-US" altLang="zh-CN" sz="2400" dirty="0" smtClean="0">
                <a:ea typeface="宋体" panose="02010600030101010101" pitchFamily="2" charset="-122"/>
              </a:rPr>
              <a:t>		</a:t>
            </a:r>
            <a:r>
              <a:rPr lang="zh-CN" altLang="en-US" sz="2400" dirty="0" smtClean="0">
                <a:ea typeface="宋体" panose="02010600030101010101" pitchFamily="2" charset="-122"/>
              </a:rPr>
              <a:t>食人鱼  青青河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	</a:t>
            </a:r>
            <a:r>
              <a:rPr lang="zh-CN" altLang="en-US" sz="2400" dirty="0" smtClean="0">
                <a:ea typeface="宋体" panose="02010600030101010101" pitchFamily="2" charset="-122"/>
              </a:rPr>
              <a:t>美羊羊     草食</a:t>
            </a:r>
            <a:r>
              <a:rPr lang="en-US" altLang="zh-CN" sz="2400" dirty="0" smtClean="0">
                <a:ea typeface="宋体" panose="02010600030101010101" pitchFamily="2" charset="-122"/>
              </a:rPr>
              <a:t>		</a:t>
            </a:r>
            <a:r>
              <a:rPr lang="zh-CN" altLang="en-US" sz="2400" dirty="0" smtClean="0">
                <a:ea typeface="宋体" panose="02010600030101010101" pitchFamily="2" charset="-122"/>
              </a:rPr>
              <a:t>美羊羊 青青草原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	</a:t>
            </a:r>
            <a:r>
              <a:rPr lang="zh-CN" altLang="en-US" sz="2400" dirty="0" smtClean="0">
                <a:ea typeface="宋体" panose="02010600030101010101" pitchFamily="2" charset="-122"/>
              </a:rPr>
              <a:t>蛤蟆        小食</a:t>
            </a:r>
            <a:r>
              <a:rPr lang="en-US" altLang="zh-CN" sz="2400" dirty="0" smtClean="0">
                <a:ea typeface="宋体" panose="02010600030101010101" pitchFamily="2" charset="-122"/>
              </a:rPr>
              <a:t>		               </a:t>
            </a:r>
            <a:r>
              <a:rPr lang="zh-CN" altLang="en-US" sz="2400" dirty="0" smtClean="0">
                <a:ea typeface="宋体" panose="02010600030101010101" pitchFamily="2" charset="-122"/>
              </a:rPr>
              <a:t>蛤蟆    青青草原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6739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Example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1923"/>
            <a:ext cx="8229600" cy="4610100"/>
          </a:xfrm>
        </p:spPr>
        <p:txBody>
          <a:bodyPr/>
          <a:lstStyle/>
          <a:p>
            <a:pPr lvl="1">
              <a:buFont typeface="Wingdings" panose="05000000000000000000" pitchFamily="2" charset="2"/>
              <a:buNone/>
            </a:pPr>
            <a:r>
              <a:rPr lang="en-US" altLang="zh-CN" sz="3200" dirty="0" smtClean="0">
                <a:ea typeface="宋体" panose="02010600030101010101" pitchFamily="2" charset="-122"/>
              </a:rPr>
              <a:t>3. </a:t>
            </a:r>
            <a:r>
              <a:rPr lang="en-US" altLang="zh-CN" sz="2400" dirty="0" smtClean="0">
                <a:ea typeface="宋体" panose="02010600030101010101" pitchFamily="2" charset="-122"/>
              </a:rPr>
              <a:t>SL</a:t>
            </a:r>
            <a:r>
              <a:rPr lang="zh-CN" altLang="en-US" sz="2400" dirty="0" smtClean="0">
                <a:ea typeface="宋体" panose="02010600030101010101" pitchFamily="2" charset="-122"/>
              </a:rPr>
              <a:t>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               </a:t>
            </a:r>
            <a:r>
              <a:rPr lang="en-US" altLang="zh-CN" dirty="0" smtClean="0">
                <a:ea typeface="宋体" panose="02010600030101010101" pitchFamily="2" charset="-122"/>
              </a:rPr>
              <a:t>ND(</a:t>
            </a:r>
            <a:r>
              <a:rPr lang="zh-CN" altLang="en-US" b="1" dirty="0" smtClean="0">
                <a:ea typeface="宋体" panose="02010600030101010101" pitchFamily="2" charset="-122"/>
              </a:rPr>
              <a:t>动物名称</a:t>
            </a:r>
            <a:r>
              <a:rPr lang="en-US" altLang="zh-CN" dirty="0" smtClean="0">
                <a:ea typeface="宋体" panose="02010600030101010101" pitchFamily="2" charset="-122"/>
              </a:rPr>
              <a:t>,</a:t>
            </a:r>
            <a:r>
              <a:rPr lang="zh-CN" altLang="en-US" b="1" dirty="0" smtClean="0">
                <a:ea typeface="宋体" panose="02010600030101010101" pitchFamily="2" charset="-122"/>
              </a:rPr>
              <a:t>动物属性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</a:p>
          <a:p>
            <a:pPr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     NL</a:t>
            </a:r>
            <a:r>
              <a:rPr lang="en-US" altLang="zh-CN" dirty="0" smtClean="0">
                <a:ea typeface="宋体" panose="02010600030101010101" pitchFamily="2" charset="-122"/>
              </a:rPr>
              <a:t>(</a:t>
            </a:r>
            <a:r>
              <a:rPr lang="zh-CN" altLang="en-US" b="1" dirty="0"/>
              <a:t>动物属性</a:t>
            </a:r>
            <a:r>
              <a:rPr lang="en-US" altLang="zh-CN" dirty="0" smtClean="0">
                <a:ea typeface="宋体" panose="02010600030101010101" pitchFamily="2" charset="-122"/>
              </a:rPr>
              <a:t>,</a:t>
            </a:r>
            <a:r>
              <a:rPr lang="zh-CN" altLang="en-US" b="1" dirty="0" smtClean="0">
                <a:ea typeface="宋体" panose="02010600030101010101" pitchFamily="2" charset="-122"/>
              </a:rPr>
              <a:t>动物居住地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Then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       </a:t>
            </a:r>
            <a:endParaRPr lang="zh-CN" altLang="en-US" sz="2400" dirty="0" smtClean="0">
              <a:ea typeface="宋体" panose="0201060003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307087" y="3241034"/>
            <a:ext cx="7494588" cy="4051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ND                                                         NL </a:t>
            </a:r>
          </a:p>
          <a:p>
            <a:pPr>
              <a:buNone/>
            </a:pPr>
            <a:r>
              <a:rPr lang="en-US" altLang="zh-CN" sz="2000" b="1" dirty="0" smtClean="0">
                <a:ea typeface="宋体" panose="02010600030101010101" pitchFamily="2" charset="-122"/>
              </a:rPr>
              <a:t>		</a:t>
            </a:r>
            <a:r>
              <a:rPr lang="zh-CN" altLang="en-US" sz="2000" b="1" dirty="0" smtClean="0">
                <a:ea typeface="宋体" panose="02010600030101010101" pitchFamily="2" charset="-122"/>
              </a:rPr>
              <a:t>动物名称   动物</a:t>
            </a:r>
            <a:r>
              <a:rPr lang="zh-CN" altLang="en-US" sz="2000" b="1" dirty="0" smtClean="0"/>
              <a:t>属性                        动物属性  动物</a:t>
            </a:r>
            <a:r>
              <a:rPr lang="zh-CN" altLang="en-US" sz="2000" b="1" dirty="0" smtClean="0">
                <a:ea typeface="宋体" panose="02010600030101010101" pitchFamily="2" charset="-122"/>
              </a:rPr>
              <a:t>居住地</a:t>
            </a:r>
            <a:endParaRPr lang="en-US" altLang="zh-CN" sz="2000" b="1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       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	</a:t>
            </a:r>
            <a:r>
              <a:rPr lang="zh-CN" altLang="en-US" sz="2400" dirty="0" smtClean="0">
                <a:ea typeface="宋体" panose="02010600030101010101" pitchFamily="2" charset="-122"/>
              </a:rPr>
              <a:t>灰太狼      羊</a:t>
            </a:r>
            <a:r>
              <a:rPr lang="zh-CN" altLang="en-US" sz="2400" dirty="0" smtClean="0"/>
              <a:t>食                           羊食     青青</a:t>
            </a:r>
            <a:r>
              <a:rPr lang="zh-CN" altLang="en-US" sz="2400" dirty="0" smtClean="0">
                <a:ea typeface="宋体" panose="02010600030101010101" pitchFamily="2" charset="-122"/>
              </a:rPr>
              <a:t>山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	</a:t>
            </a:r>
            <a:r>
              <a:rPr lang="zh-CN" altLang="en-US" sz="2400" dirty="0" smtClean="0">
                <a:ea typeface="宋体" panose="02010600030101010101" pitchFamily="2" charset="-122"/>
              </a:rPr>
              <a:t>喜羊羊      草食 </a:t>
            </a:r>
            <a:r>
              <a:rPr lang="en-US" altLang="zh-CN" sz="2400" dirty="0" smtClean="0">
                <a:ea typeface="宋体" panose="02010600030101010101" pitchFamily="2" charset="-122"/>
              </a:rPr>
              <a:t>		</a:t>
            </a:r>
            <a:r>
              <a:rPr lang="en-US" altLang="zh-CN" sz="2400" dirty="0" smtClean="0">
                <a:ea typeface="宋体" panose="02010600030101010101" pitchFamily="2" charset="-122"/>
              </a:rPr>
              <a:t>  </a:t>
            </a:r>
            <a:r>
              <a:rPr lang="zh-CN" altLang="en-US" sz="2400" dirty="0" smtClean="0">
                <a:ea typeface="宋体" panose="02010600030101010101" pitchFamily="2" charset="-122"/>
              </a:rPr>
              <a:t>草食    青青</a:t>
            </a:r>
            <a:r>
              <a:rPr lang="zh-CN" altLang="en-US" sz="2400" dirty="0" smtClean="0">
                <a:ea typeface="宋体" panose="02010600030101010101" pitchFamily="2" charset="-122"/>
              </a:rPr>
              <a:t>草原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	</a:t>
            </a:r>
            <a:r>
              <a:rPr lang="zh-CN" altLang="en-US" sz="2400" dirty="0" smtClean="0">
                <a:ea typeface="宋体" panose="02010600030101010101" pitchFamily="2" charset="-122"/>
              </a:rPr>
              <a:t>食人鱼      全食  </a:t>
            </a:r>
            <a:r>
              <a:rPr lang="en-US" altLang="zh-CN" sz="2400" dirty="0" smtClean="0">
                <a:ea typeface="宋体" panose="02010600030101010101" pitchFamily="2" charset="-122"/>
              </a:rPr>
              <a:t>		</a:t>
            </a:r>
            <a:r>
              <a:rPr lang="en-US" altLang="zh-CN" sz="2400" dirty="0" smtClean="0">
                <a:ea typeface="宋体" panose="02010600030101010101" pitchFamily="2" charset="-122"/>
              </a:rPr>
              <a:t>  </a:t>
            </a:r>
            <a:r>
              <a:rPr lang="zh-CN" altLang="en-US" sz="2400" dirty="0" smtClean="0">
                <a:ea typeface="宋体" panose="02010600030101010101" pitchFamily="2" charset="-122"/>
              </a:rPr>
              <a:t>全食    青青</a:t>
            </a:r>
            <a:r>
              <a:rPr lang="zh-CN" altLang="en-US" sz="2400" dirty="0" smtClean="0">
                <a:ea typeface="宋体" panose="02010600030101010101" pitchFamily="2" charset="-122"/>
              </a:rPr>
              <a:t>河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	</a:t>
            </a:r>
            <a:r>
              <a:rPr lang="zh-CN" altLang="en-US" sz="2400" dirty="0" smtClean="0">
                <a:ea typeface="宋体" panose="02010600030101010101" pitchFamily="2" charset="-122"/>
              </a:rPr>
              <a:t>美羊羊     </a:t>
            </a:r>
            <a:r>
              <a:rPr lang="zh-CN" altLang="en-US" sz="2400" dirty="0" smtClean="0">
                <a:ea typeface="宋体" panose="02010600030101010101" pitchFamily="2" charset="-122"/>
              </a:rPr>
              <a:t> 草食</a:t>
            </a:r>
            <a:r>
              <a:rPr lang="en-US" altLang="zh-CN" sz="2400" dirty="0" smtClean="0">
                <a:ea typeface="宋体" panose="02010600030101010101" pitchFamily="2" charset="-122"/>
              </a:rPr>
              <a:t>		</a:t>
            </a:r>
            <a:r>
              <a:rPr lang="en-US" altLang="zh-CN" sz="2400" dirty="0" smtClean="0">
                <a:ea typeface="宋体" panose="02010600030101010101" pitchFamily="2" charset="-122"/>
              </a:rPr>
              <a:t>  </a:t>
            </a:r>
            <a:r>
              <a:rPr lang="zh-CN" altLang="en-US" sz="2400" dirty="0" smtClean="0"/>
              <a:t>小食    青青</a:t>
            </a:r>
            <a:r>
              <a:rPr lang="zh-CN" altLang="en-US" sz="2400" dirty="0" smtClean="0">
                <a:ea typeface="宋体" panose="02010600030101010101" pitchFamily="2" charset="-122"/>
              </a:rPr>
              <a:t>草原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	</a:t>
            </a:r>
            <a:r>
              <a:rPr lang="zh-CN" altLang="en-US" sz="2400" dirty="0" smtClean="0">
                <a:ea typeface="宋体" panose="02010600030101010101" pitchFamily="2" charset="-122"/>
              </a:rPr>
              <a:t>蛤蟆        </a:t>
            </a:r>
            <a:r>
              <a:rPr lang="zh-CN" altLang="en-US" sz="2400" dirty="0" smtClean="0">
                <a:ea typeface="宋体" panose="02010600030101010101" pitchFamily="2" charset="-122"/>
              </a:rPr>
              <a:t>  小</a:t>
            </a:r>
            <a:r>
              <a:rPr lang="zh-CN" altLang="en-US" sz="2400" dirty="0" smtClean="0">
                <a:ea typeface="宋体" panose="02010600030101010101" pitchFamily="2" charset="-122"/>
              </a:rPr>
              <a:t>食</a:t>
            </a:r>
            <a:r>
              <a:rPr lang="en-US" altLang="zh-CN" sz="2400" dirty="0" smtClean="0">
                <a:ea typeface="宋体" panose="02010600030101010101" pitchFamily="2" charset="-122"/>
              </a:rPr>
              <a:t>		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3702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Example</a:t>
            </a:r>
            <a:endParaRPr lang="en-US" altLang="zh-CN" smtClean="0">
              <a:ea typeface="仿宋_GB2312" pitchFamily="49" charset="-122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6101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宋体" panose="02010600030101010101" pitchFamily="2" charset="-122"/>
              </a:rPr>
              <a:t> </a:t>
            </a:r>
            <a:r>
              <a:rPr lang="en-US" altLang="zh-CN" sz="2400" dirty="0" smtClean="0">
                <a:ea typeface="宋体" panose="02010600030101010101" pitchFamily="2" charset="-122"/>
              </a:rPr>
              <a:t>ND     NL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             ──────────────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ea typeface="宋体" panose="02010600030101010101" pitchFamily="2" charset="-122"/>
              </a:rPr>
              <a:t>		</a:t>
            </a:r>
            <a:r>
              <a:rPr lang="zh-CN" altLang="en-US" sz="2000" b="1" dirty="0" smtClean="0">
                <a:ea typeface="宋体" panose="02010600030101010101" pitchFamily="2" charset="-122"/>
              </a:rPr>
              <a:t>动物名称  动物属性 动物居住地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             ──────────────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		</a:t>
            </a:r>
            <a:r>
              <a:rPr lang="zh-CN" altLang="en-US" sz="2000" dirty="0" smtClean="0">
                <a:ea typeface="宋体" panose="02010600030101010101" pitchFamily="2" charset="-122"/>
              </a:rPr>
              <a:t>灰太狼</a:t>
            </a:r>
            <a:r>
              <a:rPr lang="en-US" altLang="zh-CN" sz="2000" dirty="0" smtClean="0">
                <a:ea typeface="宋体" panose="02010600030101010101" pitchFamily="2" charset="-122"/>
              </a:rPr>
              <a:t>	     </a:t>
            </a:r>
            <a:r>
              <a:rPr lang="zh-CN" altLang="en-US" sz="2000" dirty="0" smtClean="0">
                <a:ea typeface="宋体" panose="02010600030101010101" pitchFamily="2" charset="-122"/>
              </a:rPr>
              <a:t>羊食</a:t>
            </a:r>
            <a:r>
              <a:rPr lang="en-US" altLang="zh-CN" sz="2000" dirty="0" smtClean="0">
                <a:ea typeface="宋体" panose="02010600030101010101" pitchFamily="2" charset="-122"/>
              </a:rPr>
              <a:t>		</a:t>
            </a:r>
            <a:r>
              <a:rPr lang="zh-CN" altLang="en-US" sz="2000" dirty="0" smtClean="0">
                <a:ea typeface="宋体" panose="02010600030101010101" pitchFamily="2" charset="-122"/>
              </a:rPr>
              <a:t>青青山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		</a:t>
            </a:r>
            <a:r>
              <a:rPr lang="zh-CN" altLang="en-US" sz="2000" dirty="0" smtClean="0">
                <a:ea typeface="宋体" panose="02010600030101010101" pitchFamily="2" charset="-122"/>
              </a:rPr>
              <a:t>喜羊羊       草食</a:t>
            </a:r>
            <a:r>
              <a:rPr lang="en-US" altLang="zh-CN" sz="2000" dirty="0" smtClean="0">
                <a:ea typeface="宋体" panose="02010600030101010101" pitchFamily="2" charset="-122"/>
              </a:rPr>
              <a:t>		</a:t>
            </a:r>
            <a:r>
              <a:rPr lang="zh-CN" altLang="en-US" sz="2000" dirty="0" smtClean="0">
                <a:ea typeface="宋体" panose="02010600030101010101" pitchFamily="2" charset="-122"/>
              </a:rPr>
              <a:t>青青草原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		</a:t>
            </a:r>
            <a:r>
              <a:rPr lang="zh-CN" altLang="en-US" sz="2000" dirty="0" smtClean="0">
                <a:ea typeface="宋体" panose="02010600030101010101" pitchFamily="2" charset="-122"/>
              </a:rPr>
              <a:t>食人鱼</a:t>
            </a:r>
            <a:r>
              <a:rPr lang="en-US" altLang="zh-CN" sz="2000" dirty="0" smtClean="0">
                <a:ea typeface="宋体" panose="02010600030101010101" pitchFamily="2" charset="-122"/>
              </a:rPr>
              <a:t>       </a:t>
            </a:r>
            <a:r>
              <a:rPr lang="zh-CN" altLang="en-US" sz="2000" dirty="0" smtClean="0">
                <a:ea typeface="宋体" panose="02010600030101010101" pitchFamily="2" charset="-122"/>
              </a:rPr>
              <a:t>全食</a:t>
            </a:r>
            <a:r>
              <a:rPr lang="en-US" altLang="zh-CN" sz="2000" dirty="0" smtClean="0">
                <a:ea typeface="宋体" panose="02010600030101010101" pitchFamily="2" charset="-122"/>
              </a:rPr>
              <a:t>		</a:t>
            </a:r>
            <a:r>
              <a:rPr lang="zh-CN" altLang="en-US" sz="2000" dirty="0" smtClean="0">
                <a:ea typeface="宋体" panose="02010600030101010101" pitchFamily="2" charset="-122"/>
              </a:rPr>
              <a:t>青青河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		</a:t>
            </a:r>
            <a:r>
              <a:rPr lang="zh-CN" altLang="en-US" sz="2000" dirty="0" smtClean="0">
                <a:ea typeface="宋体" panose="02010600030101010101" pitchFamily="2" charset="-122"/>
              </a:rPr>
              <a:t>美羊羊       草食</a:t>
            </a:r>
            <a:r>
              <a:rPr lang="en-US" altLang="zh-CN" sz="2000" dirty="0" smtClean="0">
                <a:ea typeface="宋体" panose="02010600030101010101" pitchFamily="2" charset="-122"/>
              </a:rPr>
              <a:t>		</a:t>
            </a:r>
            <a:r>
              <a:rPr lang="zh-CN" altLang="en-US" sz="2000" dirty="0" smtClean="0">
                <a:ea typeface="宋体" panose="02010600030101010101" pitchFamily="2" charset="-122"/>
              </a:rPr>
              <a:t>青青草原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		</a:t>
            </a:r>
            <a:r>
              <a:rPr lang="zh-CN" altLang="en-US" sz="2000" dirty="0" smtClean="0">
                <a:ea typeface="宋体" panose="02010600030101010101" pitchFamily="2" charset="-122"/>
              </a:rPr>
              <a:t>蛤蟆          小食</a:t>
            </a:r>
            <a:r>
              <a:rPr lang="en-US" altLang="zh-CN" sz="2000" dirty="0" smtClean="0">
                <a:ea typeface="宋体" panose="02010600030101010101" pitchFamily="2" charset="-122"/>
              </a:rPr>
              <a:t>		</a:t>
            </a:r>
            <a:r>
              <a:rPr lang="zh-CN" altLang="en-US" sz="2000" dirty="0" smtClean="0">
                <a:ea typeface="宋体" panose="02010600030101010101" pitchFamily="2" charset="-122"/>
              </a:rPr>
              <a:t>青青草原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             ──────────────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No information lost.</a:t>
            </a:r>
          </a:p>
        </p:txBody>
      </p:sp>
      <p:sp>
        <p:nvSpPr>
          <p:cNvPr id="25604" name="AutoShape 4"/>
          <p:cNvSpPr>
            <a:spLocks noChangeArrowheads="1"/>
          </p:cNvSpPr>
          <p:nvPr/>
        </p:nvSpPr>
        <p:spPr bwMode="auto">
          <a:xfrm rot="5400000">
            <a:off x="1052513" y="1704446"/>
            <a:ext cx="228600" cy="304800"/>
          </a:xfrm>
          <a:prstGeom prst="flowChartCollate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54883" y="561056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连接无损失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386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>
          <a:xfrm>
            <a:off x="457200" y="207524"/>
            <a:ext cx="8229600" cy="990600"/>
          </a:xfrm>
        </p:spPr>
        <p:txBody>
          <a:bodyPr/>
          <a:lstStyle/>
          <a:p>
            <a:r>
              <a:rPr lang="zh-CN" altLang="en-US" dirty="0" smtClean="0"/>
              <a:t>模式分解</a:t>
            </a:r>
            <a:endParaRPr lang="zh-CN" altLang="zh-CN" dirty="0" smtClean="0"/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0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无损连接分解 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Lossless Join Decomposition</a:t>
            </a:r>
          </a:p>
          <a:p>
            <a:pPr marL="0" indent="0"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zh-CN" altLang="en-US" dirty="0" smtClean="0">
                <a:ea typeface="宋体" panose="02010600030101010101" pitchFamily="2" charset="-122"/>
              </a:rPr>
              <a:t>保持函数依赖分解 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Dependency-Preserving Decomposition</a:t>
            </a:r>
          </a:p>
          <a:p>
            <a:endParaRPr lang="en-US" altLang="zh-CN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0388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>
          <a:xfrm>
            <a:off x="457200" y="207524"/>
            <a:ext cx="8229600" cy="990600"/>
          </a:xfrm>
        </p:spPr>
        <p:txBody>
          <a:bodyPr/>
          <a:lstStyle/>
          <a:p>
            <a:r>
              <a:rPr lang="zh-CN" altLang="en-US" dirty="0" smtClean="0"/>
              <a:t>模式分解</a:t>
            </a:r>
            <a:endParaRPr lang="zh-CN" altLang="zh-CN" dirty="0" smtClean="0"/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0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无损连接分解 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Lossless Join Decomposition</a:t>
            </a:r>
          </a:p>
          <a:p>
            <a:pPr marL="0" indent="0"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2655676"/>
            <a:ext cx="7754361" cy="165215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ND                                                         NL </a:t>
            </a:r>
          </a:p>
          <a:p>
            <a:pPr>
              <a:buNone/>
            </a:pPr>
            <a:r>
              <a:rPr lang="en-US" altLang="zh-CN" sz="2000" b="1" dirty="0" smtClean="0">
                <a:ea typeface="宋体" panose="02010600030101010101" pitchFamily="2" charset="-122"/>
              </a:rPr>
              <a:t>		</a:t>
            </a:r>
            <a:r>
              <a:rPr lang="zh-CN" altLang="en-US" sz="2000" b="1" dirty="0" smtClean="0">
                <a:ea typeface="宋体" panose="02010600030101010101" pitchFamily="2" charset="-122"/>
              </a:rPr>
              <a:t>动物名称   动物</a:t>
            </a:r>
            <a:r>
              <a:rPr lang="zh-CN" altLang="en-US" sz="2000" b="1" dirty="0" smtClean="0"/>
              <a:t>属性                  动物属性     动物</a:t>
            </a:r>
            <a:r>
              <a:rPr lang="zh-CN" altLang="en-US" sz="2000" b="1" dirty="0" smtClean="0">
                <a:ea typeface="宋体" panose="02010600030101010101" pitchFamily="2" charset="-122"/>
              </a:rPr>
              <a:t>居住地</a:t>
            </a:r>
            <a:endParaRPr lang="en-US" altLang="zh-CN" sz="2000" b="1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       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	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62366" y="3814098"/>
            <a:ext cx="1146468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ND       </a:t>
            </a:r>
            <a:r>
              <a:rPr lang="en-US" altLang="zh-CN" dirty="0"/>
              <a:t>NL 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 rot="5400000">
            <a:off x="768401" y="3806854"/>
            <a:ext cx="228600" cy="304800"/>
          </a:xfrm>
          <a:prstGeom prst="flowChartCollate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86566" y="378482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连接无损失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2675045" y="3470563"/>
            <a:ext cx="8229600" cy="4610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            ──────────────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ea typeface="宋体" panose="02010600030101010101" pitchFamily="2" charset="-122"/>
              </a:rPr>
              <a:t>		</a:t>
            </a:r>
            <a:r>
              <a:rPr lang="zh-CN" altLang="en-US" sz="2000" b="1" dirty="0" smtClean="0">
                <a:ea typeface="宋体" panose="02010600030101010101" pitchFamily="2" charset="-122"/>
              </a:rPr>
              <a:t>动物名称  动物属性 动物居住地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             ──────────────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		</a:t>
            </a:r>
            <a:r>
              <a:rPr lang="zh-CN" altLang="en-US" sz="2000" dirty="0" smtClean="0">
                <a:ea typeface="宋体" panose="02010600030101010101" pitchFamily="2" charset="-122"/>
              </a:rPr>
              <a:t>灰太狼</a:t>
            </a:r>
            <a:r>
              <a:rPr lang="en-US" altLang="zh-CN" sz="2000" dirty="0" smtClean="0">
                <a:ea typeface="宋体" panose="02010600030101010101" pitchFamily="2" charset="-122"/>
              </a:rPr>
              <a:t>	     </a:t>
            </a:r>
            <a:r>
              <a:rPr lang="zh-CN" altLang="en-US" sz="2000" dirty="0" smtClean="0">
                <a:ea typeface="宋体" panose="02010600030101010101" pitchFamily="2" charset="-122"/>
              </a:rPr>
              <a:t>羊食</a:t>
            </a:r>
            <a:r>
              <a:rPr lang="en-US" altLang="zh-CN" sz="2000" dirty="0" smtClean="0">
                <a:ea typeface="宋体" panose="02010600030101010101" pitchFamily="2" charset="-122"/>
              </a:rPr>
              <a:t>		</a:t>
            </a:r>
            <a:r>
              <a:rPr lang="zh-CN" altLang="en-US" sz="2000" dirty="0" smtClean="0">
                <a:ea typeface="宋体" panose="02010600030101010101" pitchFamily="2" charset="-122"/>
              </a:rPr>
              <a:t>青青山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		</a:t>
            </a:r>
            <a:r>
              <a:rPr lang="zh-CN" altLang="en-US" sz="2000" dirty="0" smtClean="0">
                <a:ea typeface="宋体" panose="02010600030101010101" pitchFamily="2" charset="-122"/>
              </a:rPr>
              <a:t>喜羊羊       草食</a:t>
            </a:r>
            <a:r>
              <a:rPr lang="en-US" altLang="zh-CN" sz="2000" dirty="0" smtClean="0">
                <a:ea typeface="宋体" panose="02010600030101010101" pitchFamily="2" charset="-122"/>
              </a:rPr>
              <a:t>		</a:t>
            </a:r>
            <a:r>
              <a:rPr lang="zh-CN" altLang="en-US" sz="2000" dirty="0" smtClean="0">
                <a:ea typeface="宋体" panose="02010600030101010101" pitchFamily="2" charset="-122"/>
              </a:rPr>
              <a:t>青青草原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		</a:t>
            </a:r>
            <a:r>
              <a:rPr lang="zh-CN" altLang="en-US" sz="2000" dirty="0" smtClean="0">
                <a:ea typeface="宋体" panose="02010600030101010101" pitchFamily="2" charset="-122"/>
              </a:rPr>
              <a:t>食人鱼</a:t>
            </a:r>
            <a:r>
              <a:rPr lang="en-US" altLang="zh-CN" sz="2000" dirty="0" smtClean="0">
                <a:ea typeface="宋体" panose="02010600030101010101" pitchFamily="2" charset="-122"/>
              </a:rPr>
              <a:t>       </a:t>
            </a:r>
            <a:r>
              <a:rPr lang="zh-CN" altLang="en-US" sz="2000" dirty="0" smtClean="0">
                <a:ea typeface="宋体" panose="02010600030101010101" pitchFamily="2" charset="-122"/>
              </a:rPr>
              <a:t>全食</a:t>
            </a:r>
            <a:r>
              <a:rPr lang="en-US" altLang="zh-CN" sz="2000" dirty="0" smtClean="0">
                <a:ea typeface="宋体" panose="02010600030101010101" pitchFamily="2" charset="-122"/>
              </a:rPr>
              <a:t>		</a:t>
            </a:r>
            <a:r>
              <a:rPr lang="zh-CN" altLang="en-US" sz="2000" dirty="0" smtClean="0">
                <a:ea typeface="宋体" panose="02010600030101010101" pitchFamily="2" charset="-122"/>
              </a:rPr>
              <a:t>青青河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		</a:t>
            </a:r>
            <a:r>
              <a:rPr lang="zh-CN" altLang="en-US" sz="2000" dirty="0" smtClean="0">
                <a:ea typeface="宋体" panose="02010600030101010101" pitchFamily="2" charset="-122"/>
              </a:rPr>
              <a:t>美羊羊       草食</a:t>
            </a:r>
            <a:r>
              <a:rPr lang="en-US" altLang="zh-CN" sz="2000" dirty="0" smtClean="0">
                <a:ea typeface="宋体" panose="02010600030101010101" pitchFamily="2" charset="-122"/>
              </a:rPr>
              <a:t>		</a:t>
            </a:r>
            <a:r>
              <a:rPr lang="zh-CN" altLang="en-US" sz="2000" dirty="0" smtClean="0">
                <a:ea typeface="宋体" panose="02010600030101010101" pitchFamily="2" charset="-122"/>
              </a:rPr>
              <a:t>青青草原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宋体" panose="02010600030101010101" pitchFamily="2" charset="-122"/>
              </a:rPr>
              <a:t>		</a:t>
            </a:r>
            <a:r>
              <a:rPr lang="zh-CN" altLang="en-US" sz="2000" dirty="0" smtClean="0">
                <a:ea typeface="宋体" panose="02010600030101010101" pitchFamily="2" charset="-122"/>
              </a:rPr>
              <a:t>蛤蟆          小食</a:t>
            </a:r>
            <a:r>
              <a:rPr lang="en-US" altLang="zh-CN" sz="2000" dirty="0" smtClean="0">
                <a:ea typeface="宋体" panose="02010600030101010101" pitchFamily="2" charset="-122"/>
              </a:rPr>
              <a:t>		</a:t>
            </a:r>
            <a:r>
              <a:rPr lang="zh-CN" altLang="en-US" sz="2000" dirty="0" smtClean="0">
                <a:ea typeface="宋体" panose="02010600030101010101" pitchFamily="2" charset="-122"/>
              </a:rPr>
              <a:t>青青草原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             ──────────────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No information lost.</a:t>
            </a:r>
          </a:p>
        </p:txBody>
      </p:sp>
    </p:spTree>
    <p:extLst>
      <p:ext uri="{BB962C8B-B14F-4D97-AF65-F5344CB8AC3E}">
        <p14:creationId xmlns:p14="http://schemas.microsoft.com/office/powerpoint/2010/main" val="47933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8937"/>
            <a:ext cx="8229600" cy="990600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无损</a:t>
            </a:r>
            <a:r>
              <a:rPr lang="zh-CN" altLang="en-US" sz="4000" dirty="0" smtClean="0"/>
              <a:t>连接分解 </a:t>
            </a:r>
            <a:r>
              <a:rPr lang="en-US" altLang="zh-CN" sz="4000" dirty="0" smtClean="0">
                <a:ea typeface="宋体" panose="02010600030101010101" pitchFamily="2" charset="-122"/>
              </a:rPr>
              <a:t>(1)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6101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/>
              <a:t>Definition: Let R be a relation schema. A set of relation schemas {R</a:t>
            </a:r>
            <a:r>
              <a:rPr lang="en-US" altLang="zh-CN" baseline="-10000" dirty="0"/>
              <a:t>1</a:t>
            </a:r>
            <a:r>
              <a:rPr lang="en-US" altLang="zh-CN" dirty="0"/>
              <a:t>, R</a:t>
            </a:r>
            <a:r>
              <a:rPr lang="en-US" altLang="zh-CN" baseline="-10000" dirty="0"/>
              <a:t>2</a:t>
            </a:r>
            <a:r>
              <a:rPr lang="en-US" altLang="zh-CN" dirty="0"/>
              <a:t>, ..., R</a:t>
            </a:r>
            <a:r>
              <a:rPr lang="en-US" altLang="zh-CN" baseline="-10000" dirty="0"/>
              <a:t>n</a:t>
            </a:r>
            <a:r>
              <a:rPr lang="en-US" altLang="zh-CN" dirty="0"/>
              <a:t>} is a decomposition of R if R = R</a:t>
            </a:r>
            <a:r>
              <a:rPr lang="en-US" altLang="zh-CN" baseline="-10000" dirty="0"/>
              <a:t>1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 </a:t>
            </a:r>
            <a:r>
              <a:rPr lang="en-US" altLang="zh-CN" dirty="0"/>
              <a:t>... 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/>
              <a:t> R</a:t>
            </a:r>
            <a:r>
              <a:rPr lang="en-US" altLang="zh-CN" baseline="-10000" dirty="0"/>
              <a:t>n</a:t>
            </a:r>
            <a:r>
              <a:rPr lang="en-US" altLang="zh-CN" dirty="0"/>
              <a:t>. </a:t>
            </a:r>
          </a:p>
          <a:p>
            <a:pPr>
              <a:buNone/>
            </a:pPr>
            <a:r>
              <a:rPr lang="en-US" altLang="zh-CN" dirty="0"/>
              <a:t>Claim: If {R</a:t>
            </a:r>
            <a:r>
              <a:rPr lang="en-US" altLang="zh-CN" baseline="-10000" dirty="0"/>
              <a:t>1</a:t>
            </a:r>
            <a:r>
              <a:rPr lang="en-US" altLang="zh-CN" dirty="0"/>
              <a:t>, R</a:t>
            </a:r>
            <a:r>
              <a:rPr lang="en-US" altLang="zh-CN" baseline="-10000" dirty="0"/>
              <a:t>2</a:t>
            </a:r>
            <a:r>
              <a:rPr lang="en-US" altLang="zh-CN" dirty="0"/>
              <a:t>, ..., R</a:t>
            </a:r>
            <a:r>
              <a:rPr lang="en-US" altLang="zh-CN" baseline="-10000" dirty="0"/>
              <a:t>n</a:t>
            </a:r>
            <a:r>
              <a:rPr lang="en-US" altLang="zh-CN" dirty="0"/>
              <a:t>} is a decomposition of R and r is an instance of R, then 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{R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1</a:t>
            </a:r>
            <a:r>
              <a:rPr lang="en-US" altLang="zh-CN" dirty="0" smtClean="0">
                <a:ea typeface="宋体" panose="02010600030101010101" pitchFamily="2" charset="-122"/>
              </a:rPr>
              <a:t>, R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2</a:t>
            </a:r>
            <a:r>
              <a:rPr lang="en-US" altLang="zh-CN" dirty="0" smtClean="0">
                <a:ea typeface="宋体" panose="02010600030101010101" pitchFamily="2" charset="-122"/>
              </a:rPr>
              <a:t>, ..., R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n</a:t>
            </a:r>
            <a:r>
              <a:rPr lang="en-US" altLang="zh-CN" dirty="0" smtClean="0">
                <a:ea typeface="宋体" panose="02010600030101010101" pitchFamily="2" charset="-122"/>
              </a:rPr>
              <a:t>} is a 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lossless (non-additive) join decomposition</a:t>
            </a:r>
            <a:r>
              <a:rPr lang="en-US" altLang="zh-CN" dirty="0" smtClean="0">
                <a:ea typeface="宋体" panose="02010600030101010101" pitchFamily="2" charset="-122"/>
              </a:rPr>
              <a:t> of R if for every legal instance r of R, we have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r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= 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R1</a:t>
            </a:r>
            <a:r>
              <a:rPr lang="en-US" altLang="zh-CN" dirty="0" smtClean="0">
                <a:ea typeface="宋体" panose="02010600030101010101" pitchFamily="2" charset="-122"/>
              </a:rPr>
              <a:t>(r)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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R2</a:t>
            </a:r>
            <a:r>
              <a:rPr lang="en-US" altLang="zh-CN" dirty="0" smtClean="0">
                <a:ea typeface="宋体" panose="02010600030101010101" pitchFamily="2" charset="-122"/>
              </a:rPr>
              <a:t>(r)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r>
              <a:rPr lang="en-US" altLang="zh-CN" dirty="0" smtClean="0">
                <a:ea typeface="宋体" panose="02010600030101010101" pitchFamily="2" charset="-122"/>
              </a:rPr>
              <a:t> . . .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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Rn</a:t>
            </a:r>
            <a:r>
              <a:rPr lang="en-US" altLang="zh-CN" dirty="0" smtClean="0">
                <a:ea typeface="宋体" panose="02010600030101010101" pitchFamily="2" charset="-122"/>
              </a:rPr>
              <a:t>(r)</a:t>
            </a:r>
          </a:p>
        </p:txBody>
      </p:sp>
    </p:spTree>
    <p:extLst>
      <p:ext uri="{BB962C8B-B14F-4D97-AF65-F5344CB8AC3E}">
        <p14:creationId xmlns:p14="http://schemas.microsoft.com/office/powerpoint/2010/main" val="3908481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76238" y="161131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zh-CN" altLang="en-US" sz="4000" dirty="0"/>
              <a:t>无损</a:t>
            </a:r>
            <a:r>
              <a:rPr lang="zh-CN" altLang="en-US" sz="4000" dirty="0" smtClean="0"/>
              <a:t>连接分解</a:t>
            </a:r>
            <a:r>
              <a:rPr lang="en-US" altLang="zh-CN" sz="4000" dirty="0" smtClean="0">
                <a:ea typeface="宋体" panose="02010600030101010101" pitchFamily="2" charset="-122"/>
              </a:rPr>
              <a:t>(2)</a:t>
            </a:r>
            <a:r>
              <a:rPr lang="zh-CN" altLang="en-US" sz="4000" dirty="0" smtClean="0">
                <a:solidFill>
                  <a:srgbClr val="FF0000"/>
                </a:solidFill>
              </a:rPr>
              <a:t>分解</a:t>
            </a:r>
            <a:r>
              <a:rPr lang="zh-CN" altLang="en-US" sz="3600" dirty="0">
                <a:solidFill>
                  <a:srgbClr val="FF0000"/>
                </a:solidFill>
              </a:rPr>
              <a:t>为</a:t>
            </a:r>
            <a:r>
              <a:rPr lang="zh-CN" altLang="en-US" sz="4000" dirty="0" smtClean="0">
                <a:solidFill>
                  <a:srgbClr val="FF0000"/>
                </a:solidFill>
              </a:rPr>
              <a:t>两</a:t>
            </a:r>
            <a:r>
              <a:rPr lang="zh-CN" altLang="en-US" sz="4000" dirty="0">
                <a:solidFill>
                  <a:srgbClr val="FF0000"/>
                </a:solidFill>
              </a:rPr>
              <a:t>个关系模式</a:t>
            </a:r>
            <a:r>
              <a:rPr lang="en-US" altLang="zh-CN" sz="4000" dirty="0">
                <a:solidFill>
                  <a:srgbClr val="FF0000"/>
                </a:solidFill>
              </a:rPr>
              <a:t/>
            </a:r>
            <a:br>
              <a:rPr lang="en-US" altLang="zh-CN" sz="4000" dirty="0">
                <a:solidFill>
                  <a:srgbClr val="FF0000"/>
                </a:solidFill>
              </a:rPr>
            </a:br>
            <a:endParaRPr lang="en-US" altLang="zh-CN" sz="4000" dirty="0" smtClean="0">
              <a:ea typeface="宋体" panose="02010600030101010101" pitchFamily="2" charset="-122"/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5420" y="1375064"/>
            <a:ext cx="7988300" cy="48768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chemeClr val="accent1"/>
                </a:solidFill>
                <a:ea typeface="宋体" panose="02010600030101010101" pitchFamily="2" charset="-122"/>
              </a:rPr>
              <a:t>判定一个分解是否无损连接性 </a:t>
            </a:r>
            <a:endParaRPr lang="en-US" altLang="zh-CN" dirty="0" smtClean="0">
              <a:solidFill>
                <a:schemeClr val="accent1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rgbClr val="FF0000"/>
                </a:solidFill>
                <a:ea typeface="宋体" panose="02010600030101010101" pitchFamily="2" charset="-122"/>
              </a:rPr>
              <a:t>适用于分解为两个关系模式</a:t>
            </a:r>
            <a:endParaRPr lang="en-US" altLang="zh-CN" dirty="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rgbClr val="FF0000"/>
                </a:solidFill>
                <a:ea typeface="宋体" panose="02010600030101010101" pitchFamily="2" charset="-122"/>
              </a:rPr>
              <a:t>定理（同定理</a:t>
            </a:r>
            <a:r>
              <a:rPr lang="en-US" altLang="zh-CN" dirty="0" smtClean="0">
                <a:solidFill>
                  <a:srgbClr val="FF0000"/>
                </a:solidFill>
                <a:ea typeface="宋体" panose="02010600030101010101" pitchFamily="2" charset="-122"/>
              </a:rPr>
              <a:t>6.5</a:t>
            </a:r>
            <a:r>
              <a:rPr lang="zh-CN" altLang="en-US" dirty="0" smtClean="0">
                <a:solidFill>
                  <a:srgbClr val="FF0000"/>
                </a:solidFill>
                <a:ea typeface="宋体" panose="02010600030101010101" pitchFamily="2" charset="-122"/>
              </a:rPr>
              <a:t>）</a:t>
            </a:r>
            <a:r>
              <a:rPr lang="en-US" altLang="zh-CN" dirty="0" smtClean="0">
                <a:ea typeface="宋体" panose="02010600030101010101" pitchFamily="2" charset="-122"/>
              </a:rPr>
              <a:t>: Let R be a relation schema and F be a set of FDs in R. Then a decomposition of R, {R1, R2}, is a lossless-join decomposition if and only if </a:t>
            </a:r>
          </a:p>
          <a:p>
            <a:r>
              <a:rPr lang="en-US" altLang="zh-CN" dirty="0" smtClean="0">
                <a:ea typeface="宋体" panose="02010600030101010101" pitchFamily="2" charset="-122"/>
              </a:rPr>
              <a:t>R1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 </a:t>
            </a:r>
            <a:r>
              <a:rPr lang="en-US" altLang="zh-CN" dirty="0" smtClean="0">
                <a:ea typeface="宋体" panose="02010600030101010101" pitchFamily="2" charset="-122"/>
              </a:rPr>
              <a:t>R2          R1 - R2; or</a:t>
            </a:r>
          </a:p>
          <a:p>
            <a:r>
              <a:rPr lang="en-US" altLang="zh-CN" dirty="0" smtClean="0">
                <a:ea typeface="宋体" panose="02010600030101010101" pitchFamily="2" charset="-122"/>
              </a:rPr>
              <a:t>R1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 smtClean="0">
                <a:ea typeface="宋体" panose="02010600030101010101" pitchFamily="2" charset="-122"/>
              </a:rPr>
              <a:t> R2          </a:t>
            </a:r>
            <a:r>
              <a:rPr lang="en-US" altLang="zh-CN" dirty="0" err="1" smtClean="0">
                <a:ea typeface="宋体" panose="02010600030101010101" pitchFamily="2" charset="-122"/>
              </a:rPr>
              <a:t>R2</a:t>
            </a:r>
            <a:r>
              <a:rPr lang="en-US" altLang="zh-CN" dirty="0" smtClean="0">
                <a:ea typeface="宋体" panose="02010600030101010101" pitchFamily="2" charset="-122"/>
              </a:rPr>
              <a:t> - R1.     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/>
              <a:t>1. </a:t>
            </a:r>
            <a:r>
              <a:rPr lang="zh-CN" altLang="en-US" dirty="0" smtClean="0">
                <a:solidFill>
                  <a:srgbClr val="FF0000"/>
                </a:solidFill>
              </a:rPr>
              <a:t>计算 </a:t>
            </a:r>
            <a:r>
              <a:rPr lang="en-US" altLang="zh-CN" dirty="0" smtClean="0">
                <a:solidFill>
                  <a:srgbClr val="FF0000"/>
                </a:solidFill>
              </a:rPr>
              <a:t>R1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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R2 </a:t>
            </a:r>
            <a:r>
              <a:rPr lang="zh-CN" altLang="en-US" dirty="0" smtClean="0">
                <a:solidFill>
                  <a:srgbClr val="FF0000"/>
                </a:solidFill>
              </a:rPr>
              <a:t>指属性的交集</a:t>
            </a:r>
            <a:r>
              <a:rPr lang="en-US" altLang="zh-CN" dirty="0" smtClean="0">
                <a:solidFill>
                  <a:srgbClr val="FF0000"/>
                </a:solidFill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2. </a:t>
            </a:r>
            <a:r>
              <a:rPr lang="zh-CN" altLang="en-US" dirty="0" smtClean="0">
                <a:solidFill>
                  <a:srgbClr val="FF0000"/>
                </a:solidFill>
              </a:rPr>
              <a:t>计算 </a:t>
            </a:r>
            <a:r>
              <a:rPr lang="en-US" altLang="zh-CN" dirty="0" smtClean="0">
                <a:solidFill>
                  <a:srgbClr val="FF0000"/>
                </a:solidFill>
              </a:rPr>
              <a:t>R1 </a:t>
            </a:r>
            <a:r>
              <a:rPr lang="en-US" altLang="zh-CN" dirty="0">
                <a:solidFill>
                  <a:srgbClr val="FF0000"/>
                </a:solidFill>
              </a:rPr>
              <a:t>- </a:t>
            </a:r>
            <a:r>
              <a:rPr lang="en-US" altLang="zh-CN" dirty="0" smtClean="0">
                <a:solidFill>
                  <a:srgbClr val="FF0000"/>
                </a:solidFill>
              </a:rPr>
              <a:t>R2 </a:t>
            </a:r>
            <a:r>
              <a:rPr lang="zh-CN" altLang="en-US" dirty="0" smtClean="0">
                <a:solidFill>
                  <a:srgbClr val="FF0000"/>
                </a:solidFill>
              </a:rPr>
              <a:t>属性的差</a:t>
            </a:r>
            <a:r>
              <a:rPr lang="en-US" altLang="zh-CN" dirty="0" smtClean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dirty="0" smtClean="0">
                <a:solidFill>
                  <a:srgbClr val="FF0000"/>
                </a:solidFill>
                <a:ea typeface="宋体" panose="02010600030101010101" pitchFamily="2" charset="-122"/>
              </a:rPr>
              <a:t>3.</a:t>
            </a:r>
            <a:r>
              <a:rPr lang="zh-CN" altLang="en-US" dirty="0" smtClean="0">
                <a:solidFill>
                  <a:srgbClr val="FF0000"/>
                </a:solidFill>
                <a:ea typeface="宋体" panose="02010600030101010101" pitchFamily="2" charset="-122"/>
              </a:rPr>
              <a:t>判定</a:t>
            </a:r>
            <a:r>
              <a:rPr lang="zh-CN" altLang="en-US" dirty="0" smtClean="0">
                <a:solidFill>
                  <a:srgbClr val="FF0000"/>
                </a:solidFill>
              </a:rPr>
              <a:t>函数依赖关系是否成立</a:t>
            </a:r>
            <a:endParaRPr lang="en-US" altLang="zh-CN" dirty="0" smtClean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66564" name="Line 4"/>
          <p:cNvSpPr>
            <a:spLocks noChangeShapeType="1"/>
          </p:cNvSpPr>
          <p:nvPr/>
        </p:nvSpPr>
        <p:spPr bwMode="auto">
          <a:xfrm>
            <a:off x="1961284" y="415275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5" name="Line 5"/>
          <p:cNvSpPr>
            <a:spLocks noChangeShapeType="1"/>
          </p:cNvSpPr>
          <p:nvPr/>
        </p:nvSpPr>
        <p:spPr bwMode="auto">
          <a:xfrm>
            <a:off x="1961284" y="3679537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04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sz="4000" dirty="0"/>
              <a:t>无损连接分解</a:t>
            </a:r>
            <a:r>
              <a:rPr lang="en-US" altLang="zh-CN" sz="4000" dirty="0" smtClean="0">
                <a:ea typeface="宋体" panose="02010600030101010101" pitchFamily="2" charset="-122"/>
              </a:rPr>
              <a:t>(3) 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7538" y="1676400"/>
            <a:ext cx="7988300" cy="4876800"/>
          </a:xfrm>
        </p:spPr>
        <p:txBody>
          <a:bodyPr/>
          <a:lstStyle/>
          <a:p>
            <a:r>
              <a:rPr lang="en-US" altLang="zh-CN" b="1" dirty="0" smtClean="0">
                <a:ea typeface="宋体" panose="02010600030101010101" pitchFamily="2" charset="-122"/>
              </a:rPr>
              <a:t>Example </a:t>
            </a:r>
          </a:p>
          <a:p>
            <a:r>
              <a:rPr lang="en-US" altLang="zh-CN" sz="2400" dirty="0" smtClean="0">
                <a:ea typeface="宋体" panose="02010600030101010101" pitchFamily="2" charset="-122"/>
              </a:rPr>
              <a:t>F={</a:t>
            </a:r>
            <a:r>
              <a:rPr lang="zh-CN" altLang="en-US" sz="2400" dirty="0" smtClean="0">
                <a:ea typeface="宋体" panose="02010600030101010101" pitchFamily="2" charset="-122"/>
              </a:rPr>
              <a:t>动物名称</a:t>
            </a:r>
            <a:r>
              <a:rPr lang="en-US" altLang="zh-CN" sz="2400" dirty="0" smtClean="0">
                <a:ea typeface="宋体" panose="02010600030101010101" pitchFamily="2" charset="-122"/>
              </a:rPr>
              <a:t>→</a:t>
            </a:r>
            <a:r>
              <a:rPr lang="zh-CN" altLang="en-US" sz="2400" dirty="0" smtClean="0">
                <a:ea typeface="宋体" panose="02010600030101010101" pitchFamily="2" charset="-122"/>
              </a:rPr>
              <a:t>动物属性</a:t>
            </a:r>
            <a:r>
              <a:rPr lang="en-US" altLang="zh-CN" sz="2400" dirty="0" smtClean="0">
                <a:ea typeface="宋体" panose="02010600030101010101" pitchFamily="2" charset="-122"/>
              </a:rPr>
              <a:t>,</a:t>
            </a:r>
            <a:r>
              <a:rPr lang="zh-CN" altLang="en-US" sz="2400" dirty="0" smtClean="0">
                <a:ea typeface="宋体" panose="02010600030101010101" pitchFamily="2" charset="-122"/>
              </a:rPr>
              <a:t>动物属性</a:t>
            </a:r>
            <a:r>
              <a:rPr lang="en-US" altLang="zh-CN" sz="2400" dirty="0" smtClean="0">
                <a:ea typeface="宋体" panose="02010600030101010101" pitchFamily="2" charset="-122"/>
              </a:rPr>
              <a:t>→</a:t>
            </a:r>
            <a:r>
              <a:rPr lang="zh-CN" altLang="en-US" sz="2400" dirty="0" smtClean="0">
                <a:ea typeface="宋体" panose="02010600030101010101" pitchFamily="2" charset="-122"/>
              </a:rPr>
              <a:t>动物居住地</a:t>
            </a:r>
            <a:r>
              <a:rPr lang="en-US" altLang="zh-CN" sz="2400" dirty="0" smtClean="0">
                <a:ea typeface="宋体" panose="02010600030101010101" pitchFamily="2" charset="-122"/>
              </a:rPr>
              <a:t>,</a:t>
            </a:r>
            <a:r>
              <a:rPr lang="zh-CN" altLang="en-US" sz="2400" dirty="0" smtClean="0">
                <a:ea typeface="宋体" panose="02010600030101010101" pitchFamily="2" charset="-122"/>
              </a:rPr>
              <a:t>动物名称</a:t>
            </a:r>
            <a:r>
              <a:rPr lang="en-US" altLang="zh-CN" sz="2400" dirty="0" smtClean="0">
                <a:ea typeface="宋体" panose="02010600030101010101" pitchFamily="2" charset="-122"/>
              </a:rPr>
              <a:t>→</a:t>
            </a:r>
            <a:r>
              <a:rPr lang="zh-CN" altLang="en-US" sz="2400" dirty="0" smtClean="0">
                <a:ea typeface="宋体" panose="02010600030101010101" pitchFamily="2" charset="-122"/>
              </a:rPr>
              <a:t>动物居住地</a:t>
            </a:r>
            <a:r>
              <a:rPr lang="en-US" altLang="zh-CN" sz="2400" dirty="0" smtClean="0">
                <a:ea typeface="宋体" panose="02010600030101010101" pitchFamily="2" charset="-122"/>
              </a:rPr>
              <a:t>}</a:t>
            </a:r>
            <a:endParaRPr lang="en-US" altLang="zh-CN" sz="2400" b="1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b="1" dirty="0" smtClean="0">
                <a:ea typeface="宋体" panose="02010600030101010101" pitchFamily="2" charset="-122"/>
              </a:rPr>
              <a:t>T1 (</a:t>
            </a:r>
            <a:r>
              <a:rPr lang="zh-CN" altLang="en-US" sz="2400" b="1" dirty="0" smtClean="0">
                <a:ea typeface="宋体" panose="02010600030101010101" pitchFamily="2" charset="-122"/>
              </a:rPr>
              <a:t>动物名称，动物属性</a:t>
            </a:r>
            <a:r>
              <a:rPr lang="en-US" altLang="zh-CN" sz="2400" b="1" dirty="0" smtClean="0">
                <a:ea typeface="宋体" panose="02010600030101010101" pitchFamily="2" charset="-122"/>
              </a:rPr>
              <a:t>)</a:t>
            </a:r>
          </a:p>
          <a:p>
            <a:pPr lvl="1"/>
            <a:r>
              <a:rPr lang="en-US" altLang="zh-CN" sz="2400" b="1" dirty="0" smtClean="0">
                <a:ea typeface="宋体" panose="02010600030101010101" pitchFamily="2" charset="-122"/>
              </a:rPr>
              <a:t>T2 (</a:t>
            </a:r>
            <a:r>
              <a:rPr lang="zh-CN" altLang="en-US" sz="2400" b="1" dirty="0" smtClean="0">
                <a:ea typeface="宋体" panose="02010600030101010101" pitchFamily="2" charset="-122"/>
              </a:rPr>
              <a:t>动物名称，动物居住地</a:t>
            </a:r>
            <a:r>
              <a:rPr lang="en-US" altLang="zh-CN" sz="2400" b="1" dirty="0" smtClean="0">
                <a:ea typeface="宋体" panose="02010600030101010101" pitchFamily="2" charset="-122"/>
              </a:rPr>
              <a:t>)</a:t>
            </a:r>
          </a:p>
          <a:p>
            <a:pPr lvl="1"/>
            <a:r>
              <a:rPr lang="en-US" altLang="zh-CN" sz="2400" b="1" dirty="0" smtClean="0">
                <a:ea typeface="宋体" panose="02010600030101010101" pitchFamily="2" charset="-122"/>
              </a:rPr>
              <a:t> </a:t>
            </a:r>
            <a:r>
              <a:rPr lang="en-US" altLang="zh-CN" sz="2400" dirty="0" smtClean="0">
                <a:ea typeface="宋体" panose="02010600030101010101" pitchFamily="2" charset="-122"/>
              </a:rPr>
              <a:t>T1</a:t>
            </a:r>
            <a:r>
              <a:rPr lang="en-US" altLang="zh-CN" sz="2400" dirty="0" smtClean="0">
                <a:ea typeface="宋体" panose="02010600030101010101" pitchFamily="2" charset="-122"/>
                <a:sym typeface="Symbol" panose="05050102010706020507" pitchFamily="18" charset="2"/>
              </a:rPr>
              <a:t> T2=</a:t>
            </a:r>
            <a:r>
              <a:rPr lang="zh-CN" altLang="en-US" sz="2400" b="1" dirty="0" smtClean="0">
                <a:ea typeface="宋体" panose="02010600030101010101" pitchFamily="2" charset="-122"/>
              </a:rPr>
              <a:t>动物名称</a:t>
            </a:r>
            <a:endParaRPr lang="en-US" altLang="zh-CN" sz="2400" b="1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 smtClean="0">
                <a:ea typeface="宋体" panose="02010600030101010101" pitchFamily="2" charset="-122"/>
              </a:rPr>
              <a:t>T1</a:t>
            </a:r>
            <a:r>
              <a:rPr lang="en-US" altLang="zh-CN" sz="2400" dirty="0" smtClean="0">
                <a:ea typeface="宋体" panose="02010600030101010101" pitchFamily="2" charset="-122"/>
                <a:sym typeface="Symbol" panose="05050102010706020507" pitchFamily="18" charset="2"/>
              </a:rPr>
              <a:t> -T2=</a:t>
            </a:r>
            <a:r>
              <a:rPr lang="zh-CN" altLang="en-US" sz="2400" b="1" dirty="0" smtClean="0">
                <a:ea typeface="宋体" panose="02010600030101010101" pitchFamily="2" charset="-122"/>
              </a:rPr>
              <a:t>动物属性</a:t>
            </a:r>
            <a:endParaRPr lang="en-US" altLang="zh-CN" sz="2400" b="1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 smtClean="0">
                <a:ea typeface="宋体" panose="02010600030101010101" pitchFamily="2" charset="-122"/>
              </a:rPr>
              <a:t>T2</a:t>
            </a:r>
            <a:r>
              <a:rPr lang="en-US" altLang="zh-CN" sz="2400" dirty="0" smtClean="0">
                <a:ea typeface="宋体" panose="02010600030101010101" pitchFamily="2" charset="-122"/>
                <a:sym typeface="Symbol" panose="05050102010706020507" pitchFamily="18" charset="2"/>
              </a:rPr>
              <a:t> –T1=</a:t>
            </a:r>
            <a:r>
              <a:rPr lang="zh-CN" altLang="en-US" sz="2400" b="1" dirty="0" smtClean="0">
                <a:ea typeface="宋体" panose="02010600030101010101" pitchFamily="2" charset="-122"/>
              </a:rPr>
              <a:t>动物居住地</a:t>
            </a:r>
            <a:endParaRPr lang="en-US" altLang="zh-CN" sz="2400" b="1" dirty="0" smtClean="0">
              <a:ea typeface="宋体" panose="02010600030101010101" pitchFamily="2" charset="-122"/>
            </a:endParaRPr>
          </a:p>
          <a:p>
            <a:pPr lvl="2"/>
            <a:r>
              <a:rPr lang="zh-CN" altLang="en-US" b="1" dirty="0" smtClean="0">
                <a:ea typeface="宋体" panose="02010600030101010101" pitchFamily="2" charset="-122"/>
              </a:rPr>
              <a:t>动物名称            动物属性</a:t>
            </a:r>
            <a:endParaRPr lang="en-US" altLang="zh-CN" b="1" dirty="0" smtClean="0">
              <a:ea typeface="宋体" panose="02010600030101010101" pitchFamily="2" charset="-122"/>
            </a:endParaRPr>
          </a:p>
          <a:p>
            <a:pPr lvl="2"/>
            <a:r>
              <a:rPr lang="zh-CN" altLang="en-US" b="1" dirty="0" smtClean="0">
                <a:ea typeface="宋体" panose="02010600030101010101" pitchFamily="2" charset="-122"/>
              </a:rPr>
              <a:t>动物名称            动物居住地</a:t>
            </a:r>
            <a:endParaRPr lang="en-US" altLang="zh-CN" b="1" dirty="0" smtClean="0">
              <a:ea typeface="宋体" panose="02010600030101010101" pitchFamily="2" charset="-122"/>
            </a:endParaRPr>
          </a:p>
          <a:p>
            <a:pPr lvl="2"/>
            <a:endParaRPr lang="en-US" altLang="zh-CN" b="1" dirty="0" smtClean="0">
              <a:ea typeface="宋体" panose="02010600030101010101" pitchFamily="2" charset="-122"/>
            </a:endParaRPr>
          </a:p>
          <a:p>
            <a:pPr lvl="2"/>
            <a:endParaRPr lang="en-US" altLang="zh-CN" b="1" dirty="0" smtClean="0">
              <a:ea typeface="宋体" panose="02010600030101010101" pitchFamily="2" charset="-122"/>
            </a:endParaRPr>
          </a:p>
        </p:txBody>
      </p:sp>
      <p:sp>
        <p:nvSpPr>
          <p:cNvPr id="67588" name="Line 4"/>
          <p:cNvSpPr>
            <a:spLocks noChangeShapeType="1"/>
          </p:cNvSpPr>
          <p:nvPr/>
        </p:nvSpPr>
        <p:spPr bwMode="auto">
          <a:xfrm>
            <a:off x="2852738" y="5050271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89" name="Line 5"/>
          <p:cNvSpPr>
            <a:spLocks noChangeShapeType="1"/>
          </p:cNvSpPr>
          <p:nvPr/>
        </p:nvSpPr>
        <p:spPr bwMode="auto">
          <a:xfrm>
            <a:off x="2852738" y="5409334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019753" y="5790335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无损连接分解</a:t>
            </a:r>
            <a:r>
              <a:rPr lang="zh-CN" altLang="en-US" sz="2000" dirty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！</a:t>
            </a:r>
            <a:endParaRPr lang="zh-CN" altLang="en-US" sz="20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113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sz="4000" dirty="0"/>
              <a:t>无损连接分解</a:t>
            </a:r>
            <a:r>
              <a:rPr lang="en-US" altLang="zh-CN" sz="4000" dirty="0" smtClean="0">
                <a:ea typeface="宋体" panose="02010600030101010101" pitchFamily="2" charset="-122"/>
              </a:rPr>
              <a:t>(4) 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7538" y="1676400"/>
            <a:ext cx="7988300" cy="4876800"/>
          </a:xfrm>
        </p:spPr>
        <p:txBody>
          <a:bodyPr/>
          <a:lstStyle/>
          <a:p>
            <a:r>
              <a:rPr lang="en-US" altLang="zh-CN" b="1" dirty="0" smtClean="0">
                <a:ea typeface="宋体" panose="02010600030101010101" pitchFamily="2" charset="-122"/>
              </a:rPr>
              <a:t>Example </a:t>
            </a:r>
          </a:p>
          <a:p>
            <a:r>
              <a:rPr lang="en-US" altLang="zh-CN" sz="2400" dirty="0" smtClean="0">
                <a:ea typeface="宋体" panose="02010600030101010101" pitchFamily="2" charset="-122"/>
              </a:rPr>
              <a:t>F={</a:t>
            </a:r>
            <a:r>
              <a:rPr lang="zh-CN" altLang="en-US" sz="2400" dirty="0" smtClean="0">
                <a:ea typeface="宋体" panose="02010600030101010101" pitchFamily="2" charset="-122"/>
              </a:rPr>
              <a:t>动物名称</a:t>
            </a:r>
            <a:r>
              <a:rPr lang="en-US" altLang="zh-CN" sz="2400" dirty="0" smtClean="0">
                <a:ea typeface="宋体" panose="02010600030101010101" pitchFamily="2" charset="-122"/>
              </a:rPr>
              <a:t>→</a:t>
            </a:r>
            <a:r>
              <a:rPr lang="zh-CN" altLang="en-US" sz="2400" dirty="0" smtClean="0">
                <a:ea typeface="宋体" panose="02010600030101010101" pitchFamily="2" charset="-122"/>
              </a:rPr>
              <a:t>动物属性</a:t>
            </a:r>
            <a:r>
              <a:rPr lang="en-US" altLang="zh-CN" sz="2400" dirty="0" smtClean="0">
                <a:ea typeface="宋体" panose="02010600030101010101" pitchFamily="2" charset="-122"/>
              </a:rPr>
              <a:t>,</a:t>
            </a:r>
            <a:r>
              <a:rPr lang="zh-CN" altLang="en-US" sz="2400" dirty="0" smtClean="0">
                <a:ea typeface="宋体" panose="02010600030101010101" pitchFamily="2" charset="-122"/>
              </a:rPr>
              <a:t>动物属性</a:t>
            </a:r>
            <a:r>
              <a:rPr lang="en-US" altLang="zh-CN" sz="2400" dirty="0" smtClean="0">
                <a:ea typeface="宋体" panose="02010600030101010101" pitchFamily="2" charset="-122"/>
              </a:rPr>
              <a:t>→</a:t>
            </a:r>
            <a:r>
              <a:rPr lang="zh-CN" altLang="en-US" sz="2400" dirty="0" smtClean="0">
                <a:ea typeface="宋体" panose="02010600030101010101" pitchFamily="2" charset="-122"/>
              </a:rPr>
              <a:t>动物居住地</a:t>
            </a:r>
            <a:r>
              <a:rPr lang="en-US" altLang="zh-CN" sz="2400" dirty="0" smtClean="0">
                <a:ea typeface="宋体" panose="02010600030101010101" pitchFamily="2" charset="-122"/>
              </a:rPr>
              <a:t>,</a:t>
            </a:r>
            <a:r>
              <a:rPr lang="zh-CN" altLang="en-US" sz="2400" dirty="0" smtClean="0">
                <a:ea typeface="宋体" panose="02010600030101010101" pitchFamily="2" charset="-122"/>
              </a:rPr>
              <a:t>动物名称</a:t>
            </a:r>
            <a:r>
              <a:rPr lang="en-US" altLang="zh-CN" sz="2400" dirty="0" smtClean="0">
                <a:ea typeface="宋体" panose="02010600030101010101" pitchFamily="2" charset="-122"/>
              </a:rPr>
              <a:t>→</a:t>
            </a:r>
            <a:r>
              <a:rPr lang="zh-CN" altLang="en-US" sz="2400" dirty="0" smtClean="0">
                <a:ea typeface="宋体" panose="02010600030101010101" pitchFamily="2" charset="-122"/>
              </a:rPr>
              <a:t>动物居住地</a:t>
            </a:r>
            <a:r>
              <a:rPr lang="en-US" altLang="zh-CN" sz="2400" dirty="0" smtClean="0">
                <a:ea typeface="宋体" panose="02010600030101010101" pitchFamily="2" charset="-122"/>
              </a:rPr>
              <a:t>}</a:t>
            </a:r>
            <a:endParaRPr lang="en-US" altLang="zh-CN" sz="2400" b="1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b="1" dirty="0" smtClean="0">
                <a:ea typeface="宋体" panose="02010600030101010101" pitchFamily="2" charset="-122"/>
              </a:rPr>
              <a:t>T1 (</a:t>
            </a:r>
            <a:r>
              <a:rPr lang="zh-CN" altLang="en-US" sz="2400" b="1" dirty="0" smtClean="0">
                <a:ea typeface="宋体" panose="02010600030101010101" pitchFamily="2" charset="-122"/>
              </a:rPr>
              <a:t>动物名称，动物居住地</a:t>
            </a:r>
            <a:r>
              <a:rPr lang="en-US" altLang="zh-CN" sz="2400" b="1" dirty="0" smtClean="0">
                <a:ea typeface="宋体" panose="02010600030101010101" pitchFamily="2" charset="-122"/>
              </a:rPr>
              <a:t>)</a:t>
            </a:r>
          </a:p>
          <a:p>
            <a:pPr lvl="1"/>
            <a:r>
              <a:rPr lang="en-US" altLang="zh-CN" sz="2400" b="1" dirty="0" smtClean="0">
                <a:ea typeface="宋体" panose="02010600030101010101" pitchFamily="2" charset="-122"/>
              </a:rPr>
              <a:t>T2 (</a:t>
            </a:r>
            <a:r>
              <a:rPr lang="zh-CN" altLang="en-US" sz="2400" b="1" dirty="0" smtClean="0">
                <a:ea typeface="宋体" panose="02010600030101010101" pitchFamily="2" charset="-122"/>
              </a:rPr>
              <a:t>动物属性，动物居住地</a:t>
            </a:r>
            <a:r>
              <a:rPr lang="en-US" altLang="zh-CN" sz="2400" b="1" dirty="0" smtClean="0">
                <a:ea typeface="宋体" panose="02010600030101010101" pitchFamily="2" charset="-122"/>
              </a:rPr>
              <a:t>)</a:t>
            </a:r>
          </a:p>
          <a:p>
            <a:pPr lvl="1"/>
            <a:r>
              <a:rPr lang="en-US" altLang="zh-CN" sz="2400" b="1" dirty="0" smtClean="0">
                <a:ea typeface="宋体" panose="02010600030101010101" pitchFamily="2" charset="-122"/>
              </a:rPr>
              <a:t> </a:t>
            </a:r>
            <a:r>
              <a:rPr lang="en-US" altLang="zh-CN" sz="2400" dirty="0" smtClean="0">
                <a:ea typeface="宋体" panose="02010600030101010101" pitchFamily="2" charset="-122"/>
              </a:rPr>
              <a:t>T1</a:t>
            </a:r>
            <a:r>
              <a:rPr lang="en-US" altLang="zh-CN" sz="2400" dirty="0" smtClean="0">
                <a:ea typeface="宋体" panose="02010600030101010101" pitchFamily="2" charset="-122"/>
                <a:sym typeface="Symbol" panose="05050102010706020507" pitchFamily="18" charset="2"/>
              </a:rPr>
              <a:t> T2=</a:t>
            </a:r>
            <a:r>
              <a:rPr lang="zh-CN" altLang="en-US" sz="2400" b="1" dirty="0" smtClean="0">
                <a:ea typeface="宋体" panose="02010600030101010101" pitchFamily="2" charset="-122"/>
              </a:rPr>
              <a:t>动物居住地</a:t>
            </a:r>
            <a:endParaRPr lang="en-US" altLang="zh-CN" sz="2400" b="1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 smtClean="0">
                <a:ea typeface="宋体" panose="02010600030101010101" pitchFamily="2" charset="-122"/>
              </a:rPr>
              <a:t>T1</a:t>
            </a:r>
            <a:r>
              <a:rPr lang="en-US" altLang="zh-CN" sz="2400" dirty="0" smtClean="0">
                <a:ea typeface="宋体" panose="02010600030101010101" pitchFamily="2" charset="-122"/>
                <a:sym typeface="Symbol" panose="05050102010706020507" pitchFamily="18" charset="2"/>
              </a:rPr>
              <a:t> -T2=</a:t>
            </a:r>
            <a:r>
              <a:rPr lang="zh-CN" altLang="en-US" sz="2400" b="1" dirty="0" smtClean="0">
                <a:ea typeface="宋体" panose="02010600030101010101" pitchFamily="2" charset="-122"/>
              </a:rPr>
              <a:t>动物名称</a:t>
            </a:r>
            <a:endParaRPr lang="en-US" altLang="zh-CN" sz="2400" b="1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 smtClean="0">
                <a:ea typeface="宋体" panose="02010600030101010101" pitchFamily="2" charset="-122"/>
              </a:rPr>
              <a:t>T2</a:t>
            </a:r>
            <a:r>
              <a:rPr lang="en-US" altLang="zh-CN" sz="2400" dirty="0" smtClean="0">
                <a:ea typeface="宋体" panose="02010600030101010101" pitchFamily="2" charset="-122"/>
                <a:sym typeface="Symbol" panose="05050102010706020507" pitchFamily="18" charset="2"/>
              </a:rPr>
              <a:t> –T1=</a:t>
            </a:r>
            <a:r>
              <a:rPr lang="zh-CN" altLang="en-US" sz="2400" b="1" dirty="0" smtClean="0">
                <a:ea typeface="宋体" panose="02010600030101010101" pitchFamily="2" charset="-122"/>
              </a:rPr>
              <a:t>动物属性</a:t>
            </a:r>
            <a:endParaRPr lang="en-US" altLang="zh-CN" sz="2400" b="1" dirty="0" smtClean="0">
              <a:ea typeface="宋体" panose="02010600030101010101" pitchFamily="2" charset="-122"/>
            </a:endParaRPr>
          </a:p>
          <a:p>
            <a:pPr lvl="2"/>
            <a:r>
              <a:rPr lang="zh-CN" altLang="en-US" b="1" dirty="0" smtClean="0">
                <a:ea typeface="宋体" panose="02010600030101010101" pitchFamily="2" charset="-122"/>
              </a:rPr>
              <a:t>动物居住地              动物名称</a:t>
            </a:r>
            <a:endParaRPr lang="en-US" altLang="zh-CN" b="1" dirty="0" smtClean="0">
              <a:ea typeface="宋体" panose="02010600030101010101" pitchFamily="2" charset="-122"/>
            </a:endParaRPr>
          </a:p>
          <a:p>
            <a:pPr lvl="2"/>
            <a:r>
              <a:rPr lang="zh-CN" altLang="en-US" b="1" dirty="0" smtClean="0">
                <a:ea typeface="宋体" panose="02010600030101010101" pitchFamily="2" charset="-122"/>
              </a:rPr>
              <a:t>动物居住地             动物属性</a:t>
            </a:r>
            <a:endParaRPr lang="en-US" altLang="zh-CN" b="1" dirty="0" smtClean="0">
              <a:ea typeface="宋体" panose="02010600030101010101" pitchFamily="2" charset="-122"/>
            </a:endParaRPr>
          </a:p>
          <a:p>
            <a:pPr lvl="2"/>
            <a:endParaRPr lang="en-US" altLang="zh-CN" b="1" dirty="0" smtClean="0">
              <a:ea typeface="宋体" panose="02010600030101010101" pitchFamily="2" charset="-122"/>
            </a:endParaRPr>
          </a:p>
          <a:p>
            <a:pPr lvl="2"/>
            <a:endParaRPr lang="en-US" altLang="zh-CN" b="1" dirty="0" smtClean="0">
              <a:ea typeface="宋体" panose="02010600030101010101" pitchFamily="2" charset="-122"/>
            </a:endParaRPr>
          </a:p>
          <a:p>
            <a:pPr lvl="2"/>
            <a:endParaRPr lang="en-US" altLang="zh-CN" b="1" dirty="0" smtClean="0">
              <a:ea typeface="宋体" panose="02010600030101010101" pitchFamily="2" charset="-122"/>
            </a:endParaRPr>
          </a:p>
        </p:txBody>
      </p:sp>
      <p:sp>
        <p:nvSpPr>
          <p:cNvPr id="68612" name="Line 4"/>
          <p:cNvSpPr>
            <a:spLocks noChangeShapeType="1"/>
          </p:cNvSpPr>
          <p:nvPr/>
        </p:nvSpPr>
        <p:spPr bwMode="auto">
          <a:xfrm>
            <a:off x="3216275" y="5080869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3" name="Line 5"/>
          <p:cNvSpPr>
            <a:spLocks noChangeShapeType="1"/>
          </p:cNvSpPr>
          <p:nvPr/>
        </p:nvSpPr>
        <p:spPr bwMode="auto">
          <a:xfrm>
            <a:off x="3152775" y="5388552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071707" y="5728996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000" dirty="0" smtClean="0">
                <a:solidFill>
                  <a:srgbClr val="FF0000"/>
                </a:solidFill>
              </a:rPr>
              <a:t>有损</a:t>
            </a:r>
            <a:r>
              <a:rPr lang="zh-CN" altLang="en-US" sz="2000" dirty="0">
                <a:solidFill>
                  <a:srgbClr val="FF0000"/>
                </a:solidFill>
              </a:rPr>
              <a:t>连接分解</a:t>
            </a:r>
            <a:r>
              <a:rPr lang="zh-CN" altLang="en-US" sz="2000" dirty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！</a:t>
            </a:r>
            <a:endParaRPr lang="zh-CN" altLang="en-US" sz="20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8615" name="组合 6"/>
          <p:cNvGrpSpPr>
            <a:grpSpLocks/>
          </p:cNvGrpSpPr>
          <p:nvPr/>
        </p:nvGrpSpPr>
        <p:grpSpPr bwMode="auto">
          <a:xfrm>
            <a:off x="3306474" y="4973062"/>
            <a:ext cx="287337" cy="215900"/>
            <a:chOff x="827584" y="5805264"/>
            <a:chExt cx="288032" cy="216024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827584" y="5805264"/>
              <a:ext cx="288032" cy="21602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 flipV="1">
              <a:off x="827584" y="5805264"/>
              <a:ext cx="288032" cy="21602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616" name="组合 12"/>
          <p:cNvGrpSpPr>
            <a:grpSpLocks/>
          </p:cNvGrpSpPr>
          <p:nvPr/>
        </p:nvGrpSpPr>
        <p:grpSpPr bwMode="auto">
          <a:xfrm>
            <a:off x="3281940" y="5294313"/>
            <a:ext cx="288925" cy="215900"/>
            <a:chOff x="827584" y="5805264"/>
            <a:chExt cx="288032" cy="216024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827584" y="5805264"/>
              <a:ext cx="288032" cy="21602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V="1">
              <a:off x="827584" y="5805264"/>
              <a:ext cx="288032" cy="21602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116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sz="4000" dirty="0"/>
              <a:t>无损连接分解</a:t>
            </a:r>
            <a:r>
              <a:rPr lang="en-US" altLang="zh-CN" sz="4000" dirty="0" smtClean="0">
                <a:ea typeface="宋体" panose="02010600030101010101" pitchFamily="2" charset="-122"/>
              </a:rPr>
              <a:t>(5) 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7538" y="1676400"/>
            <a:ext cx="7988300" cy="4876800"/>
          </a:xfrm>
        </p:spPr>
        <p:txBody>
          <a:bodyPr/>
          <a:lstStyle/>
          <a:p>
            <a:r>
              <a:rPr lang="en-US" altLang="zh-CN" b="1" dirty="0" smtClean="0">
                <a:ea typeface="宋体" panose="02010600030101010101" pitchFamily="2" charset="-122"/>
              </a:rPr>
              <a:t>Example </a:t>
            </a:r>
          </a:p>
          <a:p>
            <a:r>
              <a:rPr lang="en-US" altLang="zh-CN" sz="2400" dirty="0" smtClean="0">
                <a:ea typeface="宋体" panose="02010600030101010101" pitchFamily="2" charset="-122"/>
              </a:rPr>
              <a:t>F={</a:t>
            </a:r>
            <a:r>
              <a:rPr lang="zh-CN" altLang="en-US" sz="2400" dirty="0" smtClean="0">
                <a:ea typeface="宋体" panose="02010600030101010101" pitchFamily="2" charset="-122"/>
              </a:rPr>
              <a:t>动物名称</a:t>
            </a:r>
            <a:r>
              <a:rPr lang="en-US" altLang="zh-CN" sz="2400" dirty="0" smtClean="0">
                <a:ea typeface="宋体" panose="02010600030101010101" pitchFamily="2" charset="-122"/>
              </a:rPr>
              <a:t>→</a:t>
            </a:r>
            <a:r>
              <a:rPr lang="zh-CN" altLang="en-US" sz="2400" dirty="0" smtClean="0">
                <a:ea typeface="宋体" panose="02010600030101010101" pitchFamily="2" charset="-122"/>
              </a:rPr>
              <a:t>动物属性</a:t>
            </a:r>
            <a:r>
              <a:rPr lang="en-US" altLang="zh-CN" sz="2400" dirty="0" smtClean="0">
                <a:ea typeface="宋体" panose="02010600030101010101" pitchFamily="2" charset="-122"/>
              </a:rPr>
              <a:t>,</a:t>
            </a:r>
            <a:r>
              <a:rPr lang="zh-CN" altLang="en-US" sz="2400" dirty="0" smtClean="0">
                <a:ea typeface="宋体" panose="02010600030101010101" pitchFamily="2" charset="-122"/>
              </a:rPr>
              <a:t>动物属性</a:t>
            </a:r>
            <a:r>
              <a:rPr lang="en-US" altLang="zh-CN" sz="2400" dirty="0" smtClean="0">
                <a:ea typeface="宋体" panose="02010600030101010101" pitchFamily="2" charset="-122"/>
              </a:rPr>
              <a:t>→</a:t>
            </a:r>
            <a:r>
              <a:rPr lang="zh-CN" altLang="en-US" sz="2400" dirty="0" smtClean="0">
                <a:ea typeface="宋体" panose="02010600030101010101" pitchFamily="2" charset="-122"/>
              </a:rPr>
              <a:t>动物居住地</a:t>
            </a:r>
            <a:r>
              <a:rPr lang="en-US" altLang="zh-CN" sz="2400" dirty="0" smtClean="0">
                <a:ea typeface="宋体" panose="02010600030101010101" pitchFamily="2" charset="-122"/>
              </a:rPr>
              <a:t>,</a:t>
            </a:r>
            <a:r>
              <a:rPr lang="zh-CN" altLang="en-US" sz="2400" dirty="0" smtClean="0">
                <a:ea typeface="宋体" panose="02010600030101010101" pitchFamily="2" charset="-122"/>
              </a:rPr>
              <a:t>动物名称</a:t>
            </a:r>
            <a:r>
              <a:rPr lang="en-US" altLang="zh-CN" sz="2400" dirty="0" smtClean="0">
                <a:ea typeface="宋体" panose="02010600030101010101" pitchFamily="2" charset="-122"/>
              </a:rPr>
              <a:t>→</a:t>
            </a:r>
            <a:r>
              <a:rPr lang="zh-CN" altLang="en-US" sz="2400" dirty="0" smtClean="0">
                <a:ea typeface="宋体" panose="02010600030101010101" pitchFamily="2" charset="-122"/>
              </a:rPr>
              <a:t>动物居住地</a:t>
            </a:r>
            <a:r>
              <a:rPr lang="en-US" altLang="zh-CN" sz="2400" dirty="0" smtClean="0">
                <a:ea typeface="宋体" panose="02010600030101010101" pitchFamily="2" charset="-122"/>
              </a:rPr>
              <a:t>}</a:t>
            </a:r>
            <a:endParaRPr lang="en-US" altLang="zh-CN" sz="2400" b="1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b="1" dirty="0" smtClean="0">
                <a:ea typeface="宋体" panose="02010600030101010101" pitchFamily="2" charset="-122"/>
              </a:rPr>
              <a:t>T1 (</a:t>
            </a:r>
            <a:r>
              <a:rPr lang="zh-CN" altLang="en-US" sz="2400" b="1" dirty="0" smtClean="0">
                <a:ea typeface="宋体" panose="02010600030101010101" pitchFamily="2" charset="-122"/>
              </a:rPr>
              <a:t>动物名称，动物属性</a:t>
            </a:r>
            <a:r>
              <a:rPr lang="en-US" altLang="zh-CN" sz="2400" b="1" dirty="0" smtClean="0">
                <a:ea typeface="宋体" panose="02010600030101010101" pitchFamily="2" charset="-122"/>
              </a:rPr>
              <a:t>)</a:t>
            </a:r>
          </a:p>
          <a:p>
            <a:pPr lvl="1"/>
            <a:r>
              <a:rPr lang="en-US" altLang="zh-CN" sz="2400" b="1" dirty="0" smtClean="0">
                <a:ea typeface="宋体" panose="02010600030101010101" pitchFamily="2" charset="-122"/>
              </a:rPr>
              <a:t>T2 (</a:t>
            </a:r>
            <a:r>
              <a:rPr lang="zh-CN" altLang="en-US" sz="2400" b="1" dirty="0" smtClean="0">
                <a:ea typeface="宋体" panose="02010600030101010101" pitchFamily="2" charset="-122"/>
              </a:rPr>
              <a:t>动物属性，动物居住地</a:t>
            </a:r>
            <a:r>
              <a:rPr lang="en-US" altLang="zh-CN" sz="2400" b="1" dirty="0" smtClean="0">
                <a:ea typeface="宋体" panose="02010600030101010101" pitchFamily="2" charset="-122"/>
              </a:rPr>
              <a:t>)</a:t>
            </a:r>
          </a:p>
          <a:p>
            <a:pPr lvl="1"/>
            <a:r>
              <a:rPr lang="en-US" altLang="zh-CN" sz="2400" b="1" dirty="0" smtClean="0">
                <a:ea typeface="宋体" panose="02010600030101010101" pitchFamily="2" charset="-122"/>
              </a:rPr>
              <a:t> </a:t>
            </a:r>
            <a:r>
              <a:rPr lang="en-US" altLang="zh-CN" sz="2400" dirty="0" smtClean="0">
                <a:ea typeface="宋体" panose="02010600030101010101" pitchFamily="2" charset="-122"/>
              </a:rPr>
              <a:t>T1</a:t>
            </a:r>
            <a:r>
              <a:rPr lang="en-US" altLang="zh-CN" sz="2400" dirty="0" smtClean="0">
                <a:ea typeface="宋体" panose="02010600030101010101" pitchFamily="2" charset="-122"/>
                <a:sym typeface="Symbol" panose="05050102010706020507" pitchFamily="18" charset="2"/>
              </a:rPr>
              <a:t> T2=</a:t>
            </a:r>
            <a:r>
              <a:rPr lang="zh-CN" altLang="en-US" sz="2400" b="1" dirty="0" smtClean="0">
                <a:ea typeface="宋体" panose="02010600030101010101" pitchFamily="2" charset="-122"/>
              </a:rPr>
              <a:t>动物属性</a:t>
            </a:r>
            <a:endParaRPr lang="en-US" altLang="zh-CN" sz="2400" b="1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 smtClean="0">
                <a:ea typeface="宋体" panose="02010600030101010101" pitchFamily="2" charset="-122"/>
              </a:rPr>
              <a:t>T1</a:t>
            </a:r>
            <a:r>
              <a:rPr lang="en-US" altLang="zh-CN" sz="2400" dirty="0" smtClean="0">
                <a:ea typeface="宋体" panose="02010600030101010101" pitchFamily="2" charset="-122"/>
                <a:sym typeface="Symbol" panose="05050102010706020507" pitchFamily="18" charset="2"/>
              </a:rPr>
              <a:t> -T2=</a:t>
            </a:r>
            <a:r>
              <a:rPr lang="zh-CN" altLang="en-US" sz="2400" b="1" dirty="0" smtClean="0">
                <a:ea typeface="宋体" panose="02010600030101010101" pitchFamily="2" charset="-122"/>
              </a:rPr>
              <a:t>动物名称</a:t>
            </a:r>
            <a:endParaRPr lang="en-US" altLang="zh-CN" sz="2400" b="1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 smtClean="0">
                <a:ea typeface="宋体" panose="02010600030101010101" pitchFamily="2" charset="-122"/>
              </a:rPr>
              <a:t>T2</a:t>
            </a:r>
            <a:r>
              <a:rPr lang="en-US" altLang="zh-CN" sz="2400" dirty="0" smtClean="0">
                <a:ea typeface="宋体" panose="02010600030101010101" pitchFamily="2" charset="-122"/>
                <a:sym typeface="Symbol" panose="05050102010706020507" pitchFamily="18" charset="2"/>
              </a:rPr>
              <a:t> –T1=</a:t>
            </a:r>
            <a:r>
              <a:rPr lang="zh-CN" altLang="en-US" sz="2400" b="1" dirty="0" smtClean="0">
                <a:ea typeface="宋体" panose="02010600030101010101" pitchFamily="2" charset="-122"/>
              </a:rPr>
              <a:t>动物居住地</a:t>
            </a:r>
            <a:endParaRPr lang="en-US" altLang="zh-CN" sz="2400" b="1" dirty="0" smtClean="0">
              <a:ea typeface="宋体" panose="02010600030101010101" pitchFamily="2" charset="-122"/>
            </a:endParaRPr>
          </a:p>
          <a:p>
            <a:pPr lvl="2"/>
            <a:r>
              <a:rPr lang="zh-CN" altLang="en-US" b="1" dirty="0" smtClean="0">
                <a:ea typeface="宋体" panose="02010600030101010101" pitchFamily="2" charset="-122"/>
              </a:rPr>
              <a:t>动物属性              动物名称</a:t>
            </a:r>
            <a:endParaRPr lang="en-US" altLang="zh-CN" b="1" dirty="0" smtClean="0">
              <a:ea typeface="宋体" panose="02010600030101010101" pitchFamily="2" charset="-122"/>
            </a:endParaRPr>
          </a:p>
          <a:p>
            <a:pPr lvl="2"/>
            <a:r>
              <a:rPr lang="zh-CN" altLang="en-US" b="1" dirty="0" smtClean="0">
                <a:ea typeface="宋体" panose="02010600030101010101" pitchFamily="2" charset="-122"/>
              </a:rPr>
              <a:t>动物属性             动物居住地</a:t>
            </a:r>
            <a:endParaRPr lang="en-US" altLang="zh-CN" b="1" dirty="0" smtClean="0">
              <a:ea typeface="宋体" panose="02010600030101010101" pitchFamily="2" charset="-122"/>
            </a:endParaRPr>
          </a:p>
          <a:p>
            <a:pPr lvl="2"/>
            <a:endParaRPr lang="en-US" altLang="zh-CN" b="1" dirty="0" smtClean="0">
              <a:ea typeface="宋体" panose="02010600030101010101" pitchFamily="2" charset="-122"/>
            </a:endParaRPr>
          </a:p>
          <a:p>
            <a:pPr lvl="2"/>
            <a:endParaRPr lang="en-US" altLang="zh-CN" b="1" dirty="0" smtClean="0">
              <a:ea typeface="宋体" panose="02010600030101010101" pitchFamily="2" charset="-122"/>
            </a:endParaRPr>
          </a:p>
          <a:p>
            <a:pPr lvl="2"/>
            <a:endParaRPr lang="en-US" altLang="zh-CN" b="1" dirty="0" smtClean="0">
              <a:ea typeface="宋体" panose="02010600030101010101" pitchFamily="2" charset="-122"/>
            </a:endParaRPr>
          </a:p>
        </p:txBody>
      </p:sp>
      <p:sp>
        <p:nvSpPr>
          <p:cNvPr id="69636" name="Line 4"/>
          <p:cNvSpPr>
            <a:spLocks noChangeShapeType="1"/>
          </p:cNvSpPr>
          <p:nvPr/>
        </p:nvSpPr>
        <p:spPr bwMode="auto">
          <a:xfrm>
            <a:off x="2943226" y="5063837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7" name="Line 5"/>
          <p:cNvSpPr>
            <a:spLocks noChangeShapeType="1"/>
          </p:cNvSpPr>
          <p:nvPr/>
        </p:nvSpPr>
        <p:spPr bwMode="auto">
          <a:xfrm>
            <a:off x="2928144" y="539129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050925" y="5788098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无损连接分解</a:t>
            </a:r>
            <a:r>
              <a:rPr lang="zh-CN" altLang="en-US" sz="2000" dirty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！</a:t>
            </a:r>
            <a:endParaRPr lang="zh-CN" altLang="en-US" sz="20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9639" name="组合 6"/>
          <p:cNvGrpSpPr>
            <a:grpSpLocks/>
          </p:cNvGrpSpPr>
          <p:nvPr/>
        </p:nvGrpSpPr>
        <p:grpSpPr bwMode="auto">
          <a:xfrm>
            <a:off x="3127376" y="4955887"/>
            <a:ext cx="287337" cy="215900"/>
            <a:chOff x="827584" y="5805264"/>
            <a:chExt cx="288032" cy="216024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827584" y="5805264"/>
              <a:ext cx="288032" cy="21602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 flipV="1">
              <a:off x="827584" y="5805264"/>
              <a:ext cx="288032" cy="21602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1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468313" y="188913"/>
            <a:ext cx="81359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3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173974" y="1286597"/>
            <a:ext cx="8497888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3200" dirty="0">
                <a:solidFill>
                  <a:schemeClr val="accent1"/>
                </a:solidFill>
              </a:rPr>
              <a:t>判定一个分解是否无损连接性 </a:t>
            </a:r>
            <a:endParaRPr lang="en-US" altLang="zh-CN" sz="3200" dirty="0">
              <a:solidFill>
                <a:schemeClr val="accent1"/>
              </a:solidFill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3200" dirty="0" smtClean="0">
                <a:solidFill>
                  <a:srgbClr val="FF0000"/>
                </a:solidFill>
              </a:rPr>
              <a:t>适用于</a:t>
            </a:r>
            <a:r>
              <a:rPr lang="zh-CN" altLang="en-US" sz="3200" dirty="0">
                <a:solidFill>
                  <a:srgbClr val="FF0000"/>
                </a:solidFill>
              </a:rPr>
              <a:t>分解</a:t>
            </a:r>
            <a:r>
              <a:rPr lang="zh-CN" altLang="en-US" sz="3200" dirty="0" smtClean="0">
                <a:solidFill>
                  <a:srgbClr val="FF0000"/>
                </a:solidFill>
              </a:rPr>
              <a:t>为多个</a:t>
            </a:r>
            <a:r>
              <a:rPr lang="zh-CN" altLang="en-US" sz="3200" dirty="0">
                <a:solidFill>
                  <a:srgbClr val="FF0000"/>
                </a:solidFill>
              </a:rPr>
              <a:t>关系模式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 dirty="0" smtClean="0">
                <a:latin typeface="Arial" panose="020B0604020202020204" pitchFamily="34" charset="0"/>
                <a:ea typeface="楷体_GB2312" pitchFamily="49" charset="-122"/>
              </a:rPr>
              <a:t>6.2 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算法   </a:t>
            </a:r>
            <a:r>
              <a:rPr lang="zh-CN" altLang="en-US" sz="3200" b="1" dirty="0" smtClean="0">
                <a:latin typeface="Arial" panose="020B0604020202020204" pitchFamily="34" charset="0"/>
                <a:ea typeface="楷体_GB2312" pitchFamily="49" charset="-122"/>
              </a:rPr>
              <a:t>判定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无损连接性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输入：关系模式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R(A</a:t>
            </a:r>
            <a:r>
              <a:rPr lang="en-US" altLang="zh-CN" sz="3200" b="1" baseline="-25000" dirty="0"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，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sz="3200" b="1" baseline="-25000" dirty="0"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，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…,A</a:t>
            </a:r>
            <a:r>
              <a:rPr lang="en-US" altLang="zh-CN" sz="3200" b="1" baseline="-25000" dirty="0">
                <a:latin typeface="Arial" panose="020B0604020202020204" pitchFamily="34" charset="0"/>
                <a:ea typeface="楷体_GB2312" pitchFamily="49" charset="-122"/>
              </a:rPr>
              <a:t>n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),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它的函数依赖集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F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以及分解   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={R</a:t>
            </a:r>
            <a:r>
              <a:rPr lang="en-US" altLang="zh-CN" sz="3200" b="1" baseline="-25000" dirty="0"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，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sz="3200" b="1" baseline="-25000" dirty="0"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，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…,</a:t>
            </a:r>
            <a:r>
              <a:rPr lang="en-US" altLang="zh-CN" sz="3200" b="1" dirty="0" err="1"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sz="3200" b="1" baseline="-25000" dirty="0" err="1"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}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 dirty="0" smtClean="0">
                <a:latin typeface="Arial" panose="020B0604020202020204" pitchFamily="34" charset="0"/>
                <a:ea typeface="楷体_GB2312" pitchFamily="49" charset="-122"/>
              </a:rPr>
              <a:t>方法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（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sz="3200" b="1" dirty="0" smtClean="0">
                <a:latin typeface="Arial" panose="020B0604020202020204" pitchFamily="34" charset="0"/>
                <a:ea typeface="楷体_GB2312" pitchFamily="49" charset="-122"/>
              </a:rPr>
              <a:t>）</a:t>
            </a:r>
            <a:r>
              <a:rPr lang="zh-CN" altLang="en-US" sz="3200" b="1" dirty="0" smtClean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构造表</a:t>
            </a:r>
            <a:r>
              <a:rPr lang="zh-CN" altLang="en-US" sz="3200" b="1" dirty="0" smtClean="0">
                <a:latin typeface="Arial" panose="020B0604020202020204" pitchFamily="34" charset="0"/>
                <a:ea typeface="楷体_GB2312" pitchFamily="49" charset="-122"/>
              </a:rPr>
              <a:t>：构造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一个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行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n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列的表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，第</a:t>
            </a:r>
            <a:r>
              <a:rPr lang="en-US" altLang="zh-CN" sz="3200" b="1" dirty="0" err="1"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行对应于关系模式</a:t>
            </a:r>
            <a:r>
              <a:rPr lang="en-US" altLang="zh-CN" sz="3200" b="1" dirty="0" err="1"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sz="3200" b="1" baseline="-25000" dirty="0" err="1"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，第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列对应于属性</a:t>
            </a:r>
            <a:r>
              <a:rPr lang="en-US" altLang="zh-CN" sz="3200" b="1" dirty="0" err="1"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sz="3200" b="1" baseline="-25000" dirty="0" err="1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zh-CN" altLang="en-US" sz="3200" b="1" dirty="0" smtClean="0">
                <a:latin typeface="Arial" panose="020B0604020202020204" pitchFamily="34" charset="0"/>
                <a:ea typeface="楷体_GB2312" pitchFamily="49" charset="-122"/>
              </a:rPr>
              <a:t>。</a:t>
            </a:r>
            <a:endParaRPr lang="en-US" altLang="zh-CN" sz="3200" b="1" dirty="0" smtClean="0"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 dirty="0" smtClean="0">
                <a:latin typeface="Arial" panose="020B0604020202020204" pitchFamily="34" charset="0"/>
                <a:ea typeface="楷体_GB2312" pitchFamily="49" charset="-122"/>
              </a:rPr>
              <a:t>（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3200" b="1" dirty="0" smtClean="0">
                <a:latin typeface="Arial" panose="020B0604020202020204" pitchFamily="34" charset="0"/>
                <a:ea typeface="楷体_GB2312" pitchFamily="49" charset="-122"/>
              </a:rPr>
              <a:t>）</a:t>
            </a:r>
            <a:r>
              <a:rPr lang="zh-CN" altLang="en-US" sz="3200" b="1" dirty="0" smtClean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填表（根据属性的分配）：</a:t>
            </a:r>
            <a:r>
              <a:rPr lang="zh-CN" altLang="en-US" sz="3200" b="1" dirty="0" smtClean="0">
                <a:latin typeface="Arial" panose="020B0604020202020204" pitchFamily="34" charset="0"/>
                <a:ea typeface="楷体_GB2312" pitchFamily="49" charset="-122"/>
              </a:rPr>
              <a:t>如果</a:t>
            </a:r>
            <a:r>
              <a:rPr lang="en-US" altLang="zh-CN" sz="3200" b="1" dirty="0" err="1"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sz="3200" b="1" baseline="-25000" dirty="0" err="1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sz="3200" b="1" dirty="0" err="1">
                <a:latin typeface="Arial" panose="020B0604020202020204" pitchFamily="34" charset="0"/>
                <a:ea typeface="楷体_GB2312" pitchFamily="49" charset="-122"/>
              </a:rPr>
              <a:t>∈R</a:t>
            </a:r>
            <a:r>
              <a:rPr lang="en-US" altLang="zh-CN" sz="3200" b="1" baseline="-25000" dirty="0" err="1"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zh-CN" altLang="en-US" sz="3200" b="1" baseline="-25000" dirty="0">
                <a:latin typeface="Arial" panose="020B0604020202020204" pitchFamily="34" charset="0"/>
                <a:ea typeface="楷体_GB2312" pitchFamily="49" charset="-122"/>
              </a:rPr>
              <a:t>，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则在第</a:t>
            </a:r>
            <a:r>
              <a:rPr lang="en-US" altLang="zh-CN" sz="3200" b="1" dirty="0" err="1"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行第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列上放符号</a:t>
            </a:r>
            <a:r>
              <a:rPr lang="en-US" altLang="zh-CN" sz="3200" b="1" dirty="0" err="1"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sz="3200" b="1" baseline="-25000" dirty="0" err="1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,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否则放符号</a:t>
            </a:r>
            <a:r>
              <a:rPr lang="en-US" altLang="zh-CN" sz="3200" b="1" dirty="0" err="1">
                <a:latin typeface="Arial" panose="020B0604020202020204" pitchFamily="34" charset="0"/>
                <a:ea typeface="楷体_GB2312" pitchFamily="49" charset="-122"/>
              </a:rPr>
              <a:t>b</a:t>
            </a:r>
            <a:r>
              <a:rPr lang="en-US" altLang="zh-CN" sz="3200" b="1" baseline="-25000" dirty="0" err="1">
                <a:latin typeface="Arial" panose="020B0604020202020204" pitchFamily="34" charset="0"/>
                <a:ea typeface="楷体_GB2312" pitchFamily="49" charset="-122"/>
              </a:rPr>
              <a:t>ij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。</a:t>
            </a:r>
          </a:p>
        </p:txBody>
      </p:sp>
      <p:graphicFrame>
        <p:nvGraphicFramePr>
          <p:cNvPr id="7373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986022"/>
              </p:ext>
            </p:extLst>
          </p:nvPr>
        </p:nvGraphicFramePr>
        <p:xfrm>
          <a:off x="2917969" y="3283801"/>
          <a:ext cx="4714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4" name="公式" r:id="rId4" imgW="152268" imgH="164957" progId="Equation.3">
                  <p:embed/>
                </p:oleObj>
              </mc:Choice>
              <mc:Fallback>
                <p:oleObj name="公式" r:id="rId4" imgW="152268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969" y="3283801"/>
                        <a:ext cx="47148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5" name="Rectangle 2"/>
          <p:cNvSpPr>
            <a:spLocks noChangeArrowheads="1"/>
          </p:cNvSpPr>
          <p:nvPr/>
        </p:nvSpPr>
        <p:spPr bwMode="auto">
          <a:xfrm>
            <a:off x="-1" y="304800"/>
            <a:ext cx="9412941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4400" dirty="0">
                <a:solidFill>
                  <a:schemeClr val="bg1"/>
                </a:solidFill>
                <a:latin typeface="黑体" panose="02010609060101010101" pitchFamily="49" charset="-122"/>
              </a:rPr>
              <a:t>无损连接分解</a:t>
            </a:r>
            <a:r>
              <a:rPr lang="en-US" altLang="zh-CN" sz="4400" dirty="0" smtClean="0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rPr>
              <a:t>(6)</a:t>
            </a:r>
            <a:r>
              <a:rPr lang="zh-CN" altLang="en-US" sz="4400" dirty="0" smtClean="0">
                <a:solidFill>
                  <a:srgbClr val="FF0000"/>
                </a:solidFill>
              </a:rPr>
              <a:t>分解为多</a:t>
            </a:r>
            <a:r>
              <a:rPr lang="zh-CN" altLang="en-US" sz="4400" dirty="0">
                <a:solidFill>
                  <a:srgbClr val="FF0000"/>
                </a:solidFill>
              </a:rPr>
              <a:t>个关系模式</a:t>
            </a:r>
            <a:endParaRPr lang="en-US" altLang="zh-CN" sz="440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dirty="0" smtClean="0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rPr>
              <a:t> </a:t>
            </a:r>
            <a:endParaRPr lang="en-US" altLang="zh-CN" sz="4400" dirty="0">
              <a:solidFill>
                <a:schemeClr val="bg1"/>
              </a:solidFill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6900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Text Box 2"/>
          <p:cNvSpPr txBox="1">
            <a:spLocks noChangeArrowheads="1"/>
          </p:cNvSpPr>
          <p:nvPr/>
        </p:nvSpPr>
        <p:spPr bwMode="auto">
          <a:xfrm>
            <a:off x="468313" y="188913"/>
            <a:ext cx="81359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chemeClr val="bg1"/>
                </a:solidFill>
                <a:latin typeface="黑体" panose="02010609060101010101" pitchFamily="49" charset="-122"/>
              </a:rPr>
              <a:t>无损连接分解</a:t>
            </a:r>
            <a:r>
              <a:rPr lang="en-US" altLang="zh-CN" sz="3200">
                <a:solidFill>
                  <a:schemeClr val="bg1"/>
                </a:solidFill>
                <a:latin typeface="黑体" panose="02010609060101010101" pitchFamily="49" charset="-122"/>
              </a:rPr>
              <a:t>(6) </a:t>
            </a:r>
            <a:endParaRPr lang="en-US" altLang="zh-CN" sz="3200" dirty="0">
              <a:solidFill>
                <a:schemeClr val="bg1"/>
              </a:solidFill>
              <a:latin typeface="黑体" panose="02010609060101010101" pitchFamily="49" charset="-122"/>
            </a:endParaRPr>
          </a:p>
        </p:txBody>
      </p:sp>
      <p:sp>
        <p:nvSpPr>
          <p:cNvPr id="74756" name="Text Box 3"/>
          <p:cNvSpPr txBox="1">
            <a:spLocks noChangeArrowheads="1"/>
          </p:cNvSpPr>
          <p:nvPr/>
        </p:nvSpPr>
        <p:spPr bwMode="auto">
          <a:xfrm>
            <a:off x="539750" y="1341438"/>
            <a:ext cx="8137525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 dirty="0" smtClean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 smtClean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b="1" dirty="0" smtClean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zh-CN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更新表（根据</a:t>
            </a:r>
            <a:r>
              <a:rPr lang="en-US" altLang="zh-CN" b="1" dirty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zh-CN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更新）：</a:t>
            </a:r>
            <a:r>
              <a:rPr lang="zh-CN" altLang="en-US" b="1" dirty="0" smtClean="0">
                <a:latin typeface="Arial" panose="020B0604020202020204" pitchFamily="34" charset="0"/>
                <a:ea typeface="楷体_GB2312" pitchFamily="49" charset="-122"/>
              </a:rPr>
              <a:t>逐一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检查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F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中的每一个函数依赖，并修改表中的元素。方法：取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F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中一个函数依赖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X</a:t>
            </a:r>
            <a:r>
              <a:rPr lang="en-US" altLang="en-US" b="1" dirty="0">
                <a:latin typeface="Arial" panose="020B0604020202020204" pitchFamily="34" charset="0"/>
                <a:ea typeface="楷体_GB2312" pitchFamily="49" charset="-122"/>
              </a:rPr>
              <a:t>→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Y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，在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X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的列中寻找相同的行，然后将这些行中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Y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的分量改为相同的符号，如果其中有</a:t>
            </a:r>
            <a:r>
              <a:rPr lang="en-US" altLang="zh-CN" b="1" dirty="0" err="1"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b="1" baseline="-25000" dirty="0" err="1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,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则将</a:t>
            </a:r>
            <a:r>
              <a:rPr lang="en-US" altLang="zh-CN" b="1" dirty="0" err="1">
                <a:latin typeface="Arial" panose="020B0604020202020204" pitchFamily="34" charset="0"/>
                <a:ea typeface="楷体_GB2312" pitchFamily="49" charset="-122"/>
              </a:rPr>
              <a:t>b</a:t>
            </a:r>
            <a:r>
              <a:rPr lang="en-US" altLang="zh-CN" b="1" baseline="-25000" dirty="0" err="1">
                <a:latin typeface="Arial" panose="020B0604020202020204" pitchFamily="34" charset="0"/>
                <a:ea typeface="楷体_GB2312" pitchFamily="49" charset="-122"/>
              </a:rPr>
              <a:t>ij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改为</a:t>
            </a:r>
            <a:r>
              <a:rPr lang="en-US" altLang="zh-CN" b="1" dirty="0" err="1"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b="1" baseline="-25000" dirty="0" err="1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;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若其中无</a:t>
            </a:r>
            <a:r>
              <a:rPr lang="en-US" altLang="zh-CN" b="1" dirty="0" err="1"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b="1" baseline="-25000" dirty="0" err="1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，则改为某一个</a:t>
            </a:r>
            <a:r>
              <a:rPr lang="en-US" altLang="zh-CN" b="1" dirty="0" err="1">
                <a:latin typeface="Arial" panose="020B0604020202020204" pitchFamily="34" charset="0"/>
                <a:ea typeface="楷体_GB2312" pitchFamily="49" charset="-122"/>
              </a:rPr>
              <a:t>b</a:t>
            </a:r>
            <a:r>
              <a:rPr lang="en-US" altLang="zh-CN" b="1" baseline="-25000" dirty="0" err="1">
                <a:latin typeface="Arial" panose="020B0604020202020204" pitchFamily="34" charset="0"/>
                <a:ea typeface="楷体_GB2312" pitchFamily="49" charset="-122"/>
              </a:rPr>
              <a:t>ij</a:t>
            </a:r>
            <a:r>
              <a:rPr lang="zh-CN" altLang="en-US" b="1" dirty="0" smtClean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b="1" dirty="0" smtClean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 smtClean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 smtClean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b="1" dirty="0" smtClean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zh-CN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循环更新：</a:t>
            </a:r>
            <a:r>
              <a:rPr lang="zh-CN" altLang="en-US" b="1" dirty="0" smtClean="0">
                <a:latin typeface="Arial" panose="020B0604020202020204" pitchFamily="34" charset="0"/>
                <a:ea typeface="楷体_GB2312" pitchFamily="49" charset="-122"/>
              </a:rPr>
              <a:t>反复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检查第（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）步，至无改变</a:t>
            </a:r>
            <a:r>
              <a:rPr lang="zh-CN" altLang="en-US" b="1" dirty="0" smtClean="0">
                <a:latin typeface="Arial" panose="020B0604020202020204" pitchFamily="34" charset="0"/>
                <a:ea typeface="楷体_GB2312" pitchFamily="49" charset="-122"/>
              </a:rPr>
              <a:t>为止</a:t>
            </a:r>
            <a:r>
              <a:rPr lang="en-US" altLang="zh-CN" b="1" dirty="0" smtClean="0">
                <a:latin typeface="Arial" panose="020B0604020202020204" pitchFamily="34" charset="0"/>
                <a:ea typeface="楷体_GB2312" pitchFamily="49" charset="-122"/>
              </a:rPr>
              <a:t>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 smtClean="0">
                <a:latin typeface="Arial" panose="020B0604020202020204" pitchFamily="34" charset="0"/>
                <a:ea typeface="楷体_GB2312" pitchFamily="49" charset="-122"/>
              </a:rPr>
              <a:t>（</a:t>
            </a:r>
            <a:r>
              <a:rPr lang="en-US" altLang="zh-CN" b="1" dirty="0" smtClean="0">
                <a:latin typeface="Arial" panose="020B0604020202020204" pitchFamily="34" charset="0"/>
                <a:ea typeface="楷体_GB2312" pitchFamily="49" charset="-122"/>
              </a:rPr>
              <a:t>5</a:t>
            </a:r>
            <a:r>
              <a:rPr lang="zh-CN" altLang="en-US" b="1" dirty="0" smtClean="0">
                <a:latin typeface="Arial" panose="020B0604020202020204" pitchFamily="34" charset="0"/>
                <a:ea typeface="楷体_GB2312" pitchFamily="49" charset="-122"/>
              </a:rPr>
              <a:t>）</a:t>
            </a:r>
            <a:r>
              <a:rPr lang="zh-CN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判断：</a:t>
            </a:r>
            <a:r>
              <a:rPr lang="zh-CN" altLang="en-US" b="1" dirty="0" smtClean="0">
                <a:latin typeface="Arial" panose="020B0604020202020204" pitchFamily="34" charset="0"/>
                <a:ea typeface="楷体_GB2312" pitchFamily="49" charset="-122"/>
              </a:rPr>
              <a:t>若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存在某一行为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,a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,…,</a:t>
            </a:r>
            <a:r>
              <a:rPr lang="en-US" altLang="zh-CN" b="1" dirty="0" err="1"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b="1" baseline="-25000" dirty="0" err="1"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latin typeface="宋体" panose="02010600030101010101" pitchFamily="2" charset="-122"/>
                <a:ea typeface="楷体_GB2312" pitchFamily="49" charset="-122"/>
              </a:rPr>
              <a:t>则分解  </a:t>
            </a:r>
            <a:r>
              <a:rPr lang="zh-CN" altLang="en-US" b="1" dirty="0">
                <a:latin typeface="宋体" panose="02010600030101010101" pitchFamily="2" charset="-122"/>
                <a:ea typeface="楷体_GB2312" pitchFamily="49" charset="-122"/>
                <a:cs typeface="Arial Unicode MS" panose="020B0604020202020204" pitchFamily="34" charset="-122"/>
              </a:rPr>
              <a:t>具有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cs typeface="Arial Unicode MS" panose="020B0604020202020204" pitchFamily="34" charset="-122"/>
              </a:rPr>
              <a:t>无损连接性；如果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  <a:cs typeface="Arial Unicode MS" panose="020B0604020202020204" pitchFamily="34" charset="-122"/>
              </a:rPr>
              <a:t>F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cs typeface="Arial Unicode MS" panose="020B0604020202020204" pitchFamily="34" charset="-122"/>
              </a:rPr>
              <a:t>中所有函数依赖都不能再修改表中的内容，且没有发现这样的行，则分解 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不具有无损连接性。</a:t>
            </a:r>
          </a:p>
        </p:txBody>
      </p:sp>
      <p:graphicFrame>
        <p:nvGraphicFramePr>
          <p:cNvPr id="7475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5679660"/>
              </p:ext>
            </p:extLst>
          </p:nvPr>
        </p:nvGraphicFramePr>
        <p:xfrm>
          <a:off x="8132763" y="5752320"/>
          <a:ext cx="4714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2" name="公式" r:id="rId3" imgW="152268" imgH="164957" progId="Equation.3">
                  <p:embed/>
                </p:oleObj>
              </mc:Choice>
              <mc:Fallback>
                <p:oleObj name="公式" r:id="rId3" imgW="152268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2763" y="5752320"/>
                        <a:ext cx="47148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8099275"/>
              </p:ext>
            </p:extLst>
          </p:nvPr>
        </p:nvGraphicFramePr>
        <p:xfrm>
          <a:off x="7947937" y="4838667"/>
          <a:ext cx="4714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3" name="公式" r:id="rId5" imgW="152268" imgH="164957" progId="Equation.3">
                  <p:embed/>
                </p:oleObj>
              </mc:Choice>
              <mc:Fallback>
                <p:oleObj name="公式" r:id="rId5" imgW="152268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7937" y="4838667"/>
                        <a:ext cx="47148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9885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dirty="0" smtClean="0"/>
              <a:t>举例</a:t>
            </a:r>
            <a:endParaRPr lang="zh-CN" altLang="zh-CN" dirty="0" smtClean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61010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举例：已知</a:t>
            </a:r>
            <a:r>
              <a:rPr lang="en-US" altLang="zh-CN" dirty="0" smtClean="0">
                <a:ea typeface="宋体" panose="02010600030101010101" pitchFamily="2" charset="-122"/>
              </a:rPr>
              <a:t>R&lt;U,F&gt;</a:t>
            </a:r>
            <a:r>
              <a:rPr lang="zh-CN" altLang="en-US" dirty="0" smtClean="0">
                <a:ea typeface="宋体" panose="02010600030101010101" pitchFamily="2" charset="-122"/>
              </a:rPr>
              <a:t>，</a:t>
            </a:r>
            <a:r>
              <a:rPr lang="en-US" altLang="zh-CN" dirty="0" smtClean="0">
                <a:ea typeface="宋体" panose="02010600030101010101" pitchFamily="2" charset="-122"/>
              </a:rPr>
              <a:t>U={A,B,C,D,E}</a:t>
            </a:r>
            <a:r>
              <a:rPr lang="zh-CN" altLang="en-US" dirty="0" smtClean="0">
                <a:ea typeface="宋体" panose="02010600030101010101" pitchFamily="2" charset="-122"/>
              </a:rPr>
              <a:t>，</a:t>
            </a:r>
            <a:r>
              <a:rPr lang="en-US" altLang="zh-CN" dirty="0" smtClean="0">
                <a:ea typeface="宋体" panose="02010600030101010101" pitchFamily="2" charset="-122"/>
              </a:rPr>
              <a:t>F={A→C,B→C,C→D,DE→C,CE→A}</a:t>
            </a:r>
            <a:r>
              <a:rPr lang="zh-CN" altLang="en-US" dirty="0" smtClean="0">
                <a:ea typeface="宋体" panose="02010600030101010101" pitchFamily="2" charset="-122"/>
              </a:rPr>
              <a:t>，</a:t>
            </a:r>
            <a:r>
              <a:rPr lang="en-US" altLang="zh-CN" dirty="0" smtClean="0">
                <a:ea typeface="宋体" panose="02010600030101010101" pitchFamily="2" charset="-122"/>
              </a:rPr>
              <a:t>R</a:t>
            </a:r>
            <a:r>
              <a:rPr lang="zh-CN" altLang="en-US" dirty="0" smtClean="0">
                <a:ea typeface="宋体" panose="02010600030101010101" pitchFamily="2" charset="-122"/>
              </a:rPr>
              <a:t>的一个分解为</a:t>
            </a:r>
            <a:r>
              <a:rPr lang="en-US" altLang="zh-CN" dirty="0" smtClean="0">
                <a:ea typeface="宋体" panose="02010600030101010101" pitchFamily="2" charset="-122"/>
              </a:rPr>
              <a:t>R1(AD)</a:t>
            </a:r>
            <a:r>
              <a:rPr lang="zh-CN" altLang="en-US" dirty="0" smtClean="0">
                <a:ea typeface="宋体" panose="02010600030101010101" pitchFamily="2" charset="-122"/>
              </a:rPr>
              <a:t>，</a:t>
            </a:r>
            <a:r>
              <a:rPr lang="en-US" altLang="zh-CN" dirty="0" smtClean="0">
                <a:ea typeface="宋体" panose="02010600030101010101" pitchFamily="2" charset="-122"/>
              </a:rPr>
              <a:t>R2(AB)</a:t>
            </a:r>
            <a:r>
              <a:rPr lang="zh-CN" altLang="en-US" dirty="0" smtClean="0">
                <a:ea typeface="宋体" panose="02010600030101010101" pitchFamily="2" charset="-122"/>
              </a:rPr>
              <a:t>，</a:t>
            </a:r>
            <a:r>
              <a:rPr lang="en-US" altLang="zh-CN" dirty="0" smtClean="0">
                <a:ea typeface="宋体" panose="02010600030101010101" pitchFamily="2" charset="-122"/>
              </a:rPr>
              <a:t>R3(BE)</a:t>
            </a:r>
            <a:r>
              <a:rPr lang="zh-CN" altLang="en-US" dirty="0" smtClean="0">
                <a:ea typeface="宋体" panose="02010600030101010101" pitchFamily="2" charset="-122"/>
              </a:rPr>
              <a:t>，</a:t>
            </a:r>
            <a:r>
              <a:rPr lang="en-US" altLang="zh-CN" dirty="0" smtClean="0">
                <a:ea typeface="宋体" panose="02010600030101010101" pitchFamily="2" charset="-122"/>
              </a:rPr>
              <a:t>R4(CDE)</a:t>
            </a:r>
            <a:r>
              <a:rPr lang="zh-CN" altLang="en-US" dirty="0" smtClean="0">
                <a:ea typeface="宋体" panose="02010600030101010101" pitchFamily="2" charset="-122"/>
              </a:rPr>
              <a:t>，</a:t>
            </a:r>
            <a:r>
              <a:rPr lang="en-US" altLang="zh-CN" dirty="0" smtClean="0">
                <a:ea typeface="宋体" panose="02010600030101010101" pitchFamily="2" charset="-122"/>
              </a:rPr>
              <a:t>R5(AE)</a:t>
            </a:r>
            <a:r>
              <a:rPr lang="zh-CN" altLang="en-US" dirty="0" smtClean="0">
                <a:ea typeface="宋体" panose="02010600030101010101" pitchFamily="2" charset="-122"/>
              </a:rPr>
              <a:t>，判断这个分解是否具有无损连接性。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zh-CN" altLang="en-US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3643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dirty="0"/>
              <a:t>举例</a:t>
            </a:r>
            <a:endParaRPr lang="zh-CN" altLang="zh-CN" dirty="0" smtClean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399"/>
            <a:ext cx="8229600" cy="4984173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 smtClean="0">
                <a:ea typeface="宋体" panose="02010600030101010101" pitchFamily="2" charset="-122"/>
              </a:rPr>
              <a:t>① </a:t>
            </a:r>
            <a:r>
              <a:rPr lang="zh-CN" altLang="en-US" dirty="0" smtClean="0">
                <a:ea typeface="宋体" panose="02010600030101010101" pitchFamily="2" charset="-122"/>
              </a:rPr>
              <a:t>构造一个初始的二维表，若</a:t>
            </a:r>
            <a:r>
              <a:rPr lang="zh-CN" altLang="en-US" dirty="0" smtClean="0"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lang="zh-CN" altLang="en-US" dirty="0" smtClean="0">
                <a:ea typeface="宋体" panose="02010600030101010101" pitchFamily="2" charset="-122"/>
              </a:rPr>
              <a:t>属性</a:t>
            </a:r>
            <a:r>
              <a:rPr lang="zh-CN" altLang="en-US" dirty="0" smtClean="0"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r>
              <a:rPr lang="zh-CN" altLang="en-US" dirty="0" smtClean="0">
                <a:ea typeface="宋体" panose="02010600030101010101" pitchFamily="2" charset="-122"/>
              </a:rPr>
              <a:t>属于</a:t>
            </a:r>
            <a:r>
              <a:rPr lang="zh-CN" altLang="en-US" dirty="0" smtClean="0"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lang="zh-CN" altLang="en-US" dirty="0" smtClean="0">
                <a:ea typeface="宋体" panose="02010600030101010101" pitchFamily="2" charset="-122"/>
              </a:rPr>
              <a:t>模式</a:t>
            </a:r>
            <a:r>
              <a:rPr lang="zh-CN" altLang="en-US" dirty="0" smtClean="0"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r>
              <a:rPr lang="zh-CN" altLang="en-US" dirty="0" smtClean="0">
                <a:ea typeface="宋体" panose="02010600030101010101" pitchFamily="2" charset="-122"/>
              </a:rPr>
              <a:t>中的属性，则填</a:t>
            </a:r>
            <a:r>
              <a:rPr lang="en-US" altLang="zh-CN" dirty="0" err="1" smtClean="0">
                <a:ea typeface="宋体" panose="02010600030101010101" pitchFamily="2" charset="-122"/>
              </a:rPr>
              <a:t>aj</a:t>
            </a:r>
            <a:r>
              <a:rPr lang="zh-CN" altLang="en-US" dirty="0" smtClean="0">
                <a:ea typeface="宋体" panose="02010600030101010101" pitchFamily="2" charset="-122"/>
              </a:rPr>
              <a:t>，否则填</a:t>
            </a:r>
            <a:r>
              <a:rPr lang="en-US" altLang="zh-CN" dirty="0" err="1" smtClean="0">
                <a:ea typeface="宋体" panose="02010600030101010101" pitchFamily="2" charset="-122"/>
              </a:rPr>
              <a:t>bij</a:t>
            </a:r>
            <a:r>
              <a:rPr lang="zh-CN" altLang="en-US" dirty="0" smtClean="0">
                <a:ea typeface="宋体" panose="02010600030101010101" pitchFamily="2" charset="-122"/>
              </a:rPr>
              <a:t>。 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zh-CN" altLang="en-US" dirty="0"/>
              <a:t>分解为</a:t>
            </a:r>
            <a:r>
              <a:rPr lang="en-US" altLang="zh-CN" dirty="0"/>
              <a:t>R1(AD)</a:t>
            </a:r>
            <a:r>
              <a:rPr lang="zh-CN" altLang="en-US" dirty="0"/>
              <a:t>，</a:t>
            </a:r>
            <a:r>
              <a:rPr lang="en-US" altLang="zh-CN" dirty="0"/>
              <a:t>R2(AB)</a:t>
            </a:r>
            <a:r>
              <a:rPr lang="zh-CN" altLang="en-US" dirty="0"/>
              <a:t>，</a:t>
            </a:r>
            <a:r>
              <a:rPr lang="en-US" altLang="zh-CN" dirty="0"/>
              <a:t>R3(BE)</a:t>
            </a:r>
            <a:r>
              <a:rPr lang="zh-CN" altLang="en-US" dirty="0"/>
              <a:t>，</a:t>
            </a:r>
            <a:r>
              <a:rPr lang="en-US" altLang="zh-CN" dirty="0"/>
              <a:t>R4(CDE)</a:t>
            </a:r>
            <a:r>
              <a:rPr lang="zh-CN" altLang="en-US" dirty="0"/>
              <a:t>，</a:t>
            </a:r>
            <a:r>
              <a:rPr lang="en-US" altLang="zh-CN" dirty="0"/>
              <a:t>R5(AE)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en-US" altLang="zh-CN" dirty="0"/>
              <a:t>② </a:t>
            </a:r>
            <a:r>
              <a:rPr lang="zh-CN" altLang="en-US" dirty="0"/>
              <a:t>根据</a:t>
            </a:r>
            <a:r>
              <a:rPr lang="en-US" altLang="zh-CN" dirty="0"/>
              <a:t>A→C</a:t>
            </a:r>
            <a:r>
              <a:rPr lang="zh-CN" altLang="en-US" dirty="0"/>
              <a:t>，对上表进行处理，由于属性列</a:t>
            </a:r>
            <a:r>
              <a:rPr lang="en-US" altLang="zh-CN" dirty="0"/>
              <a:t>A</a:t>
            </a:r>
            <a:r>
              <a:rPr lang="zh-CN" altLang="en-US" dirty="0"/>
              <a:t>上第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行相同均为</a:t>
            </a:r>
            <a:r>
              <a:rPr lang="en-US" altLang="zh-CN" dirty="0"/>
              <a:t>a1</a:t>
            </a:r>
            <a:r>
              <a:rPr lang="zh-CN" altLang="en-US" dirty="0"/>
              <a:t>，所以将属性列</a:t>
            </a:r>
            <a:r>
              <a:rPr lang="en-US" altLang="zh-CN" dirty="0"/>
              <a:t>C</a:t>
            </a:r>
            <a:r>
              <a:rPr lang="zh-CN" altLang="en-US" dirty="0"/>
              <a:t>上的</a:t>
            </a:r>
            <a:r>
              <a:rPr lang="en-US" altLang="zh-CN" dirty="0"/>
              <a:t>b13</a:t>
            </a:r>
            <a:r>
              <a:rPr lang="zh-CN" altLang="en-US" dirty="0"/>
              <a:t>、</a:t>
            </a:r>
            <a:r>
              <a:rPr lang="en-US" altLang="zh-CN" dirty="0"/>
              <a:t>b23</a:t>
            </a:r>
            <a:r>
              <a:rPr lang="zh-CN" altLang="en-US" dirty="0"/>
              <a:t>、</a:t>
            </a:r>
            <a:r>
              <a:rPr lang="en-US" altLang="zh-CN" dirty="0"/>
              <a:t>b53</a:t>
            </a:r>
            <a:r>
              <a:rPr lang="zh-CN" altLang="en-US" dirty="0"/>
              <a:t>改为同一个符号</a:t>
            </a:r>
            <a:r>
              <a:rPr lang="en-US" altLang="zh-CN" dirty="0"/>
              <a:t>b13</a:t>
            </a:r>
            <a:r>
              <a:rPr lang="zh-CN" altLang="en-US" dirty="0"/>
              <a:t>（取行号最小值）。 </a:t>
            </a:r>
          </a:p>
          <a:p>
            <a:endParaRPr lang="zh-CN" altLang="en-US" dirty="0" smtClean="0">
              <a:ea typeface="宋体" panose="02010600030101010101" pitchFamily="2" charset="-122"/>
            </a:endParaRPr>
          </a:p>
        </p:txBody>
      </p:sp>
      <p:pic>
        <p:nvPicPr>
          <p:cNvPr id="788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538" y="2792916"/>
            <a:ext cx="5257800" cy="275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1157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dirty="0"/>
              <a:t>举例</a:t>
            </a:r>
            <a:endParaRPr lang="zh-CN" altLang="zh-CN" dirty="0" smtClean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610100"/>
          </a:xfrm>
        </p:spPr>
        <p:txBody>
          <a:bodyPr/>
          <a:lstStyle/>
          <a:p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</p:txBody>
      </p:sp>
      <p:pic>
        <p:nvPicPr>
          <p:cNvPr id="798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195" y="1676400"/>
            <a:ext cx="4681538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7200" y="4487863"/>
            <a:ext cx="8229600" cy="4610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>
                <a:ea typeface="宋体" panose="02010600030101010101" pitchFamily="2" charset="-122"/>
              </a:rPr>
              <a:t>③ </a:t>
            </a:r>
            <a:r>
              <a:rPr lang="zh-CN" altLang="en-US" dirty="0" smtClean="0">
                <a:ea typeface="宋体" panose="02010600030101010101" pitchFamily="2" charset="-122"/>
              </a:rPr>
              <a:t>根据</a:t>
            </a:r>
            <a:r>
              <a:rPr lang="en-US" altLang="zh-CN" dirty="0" smtClean="0">
                <a:ea typeface="宋体" panose="02010600030101010101" pitchFamily="2" charset="-122"/>
              </a:rPr>
              <a:t>B→C</a:t>
            </a:r>
            <a:r>
              <a:rPr lang="zh-CN" altLang="en-US" dirty="0" smtClean="0">
                <a:ea typeface="宋体" panose="02010600030101010101" pitchFamily="2" charset="-122"/>
              </a:rPr>
              <a:t>，对上表进行处理，由于属性列</a:t>
            </a:r>
            <a:r>
              <a:rPr lang="en-US" altLang="zh-CN" dirty="0" smtClean="0">
                <a:ea typeface="宋体" panose="02010600030101010101" pitchFamily="2" charset="-122"/>
              </a:rPr>
              <a:t>B</a:t>
            </a:r>
            <a:r>
              <a:rPr lang="zh-CN" altLang="en-US" dirty="0" smtClean="0">
                <a:ea typeface="宋体" panose="02010600030101010101" pitchFamily="2" charset="-122"/>
              </a:rPr>
              <a:t>上第</a:t>
            </a:r>
            <a:r>
              <a:rPr lang="en-US" altLang="zh-CN" dirty="0" smtClean="0">
                <a:ea typeface="宋体" panose="02010600030101010101" pitchFamily="2" charset="-122"/>
              </a:rPr>
              <a:t>2</a:t>
            </a:r>
            <a:r>
              <a:rPr lang="zh-CN" altLang="en-US" dirty="0" smtClean="0">
                <a:ea typeface="宋体" panose="02010600030101010101" pitchFamily="2" charset="-122"/>
              </a:rPr>
              <a:t>、</a:t>
            </a:r>
            <a:r>
              <a:rPr lang="en-US" altLang="zh-CN" dirty="0" smtClean="0">
                <a:ea typeface="宋体" panose="02010600030101010101" pitchFamily="2" charset="-122"/>
              </a:rPr>
              <a:t>3</a:t>
            </a:r>
            <a:r>
              <a:rPr lang="zh-CN" altLang="en-US" dirty="0" smtClean="0">
                <a:ea typeface="宋体" panose="02010600030101010101" pitchFamily="2" charset="-122"/>
              </a:rPr>
              <a:t>行相同均为</a:t>
            </a:r>
            <a:r>
              <a:rPr lang="en-US" altLang="zh-CN" dirty="0" smtClean="0">
                <a:ea typeface="宋体" panose="02010600030101010101" pitchFamily="2" charset="-122"/>
              </a:rPr>
              <a:t>a2</a:t>
            </a:r>
            <a:r>
              <a:rPr lang="zh-CN" altLang="en-US" dirty="0" smtClean="0">
                <a:ea typeface="宋体" panose="02010600030101010101" pitchFamily="2" charset="-122"/>
              </a:rPr>
              <a:t>，所以将属性列</a:t>
            </a:r>
            <a:r>
              <a:rPr lang="en-US" altLang="zh-CN" dirty="0" smtClean="0">
                <a:ea typeface="宋体" panose="02010600030101010101" pitchFamily="2" charset="-122"/>
              </a:rPr>
              <a:t>C</a:t>
            </a:r>
            <a:r>
              <a:rPr lang="zh-CN" altLang="en-US" dirty="0" smtClean="0">
                <a:ea typeface="宋体" panose="02010600030101010101" pitchFamily="2" charset="-122"/>
              </a:rPr>
              <a:t>上的</a:t>
            </a:r>
            <a:r>
              <a:rPr lang="en-US" altLang="zh-CN" dirty="0" smtClean="0">
                <a:ea typeface="宋体" panose="02010600030101010101" pitchFamily="2" charset="-122"/>
              </a:rPr>
              <a:t>b13</a:t>
            </a:r>
            <a:r>
              <a:rPr lang="zh-CN" altLang="en-US" dirty="0" smtClean="0">
                <a:ea typeface="宋体" panose="02010600030101010101" pitchFamily="2" charset="-122"/>
              </a:rPr>
              <a:t>、</a:t>
            </a:r>
            <a:r>
              <a:rPr lang="en-US" altLang="zh-CN" dirty="0" smtClean="0">
                <a:ea typeface="宋体" panose="02010600030101010101" pitchFamily="2" charset="-122"/>
              </a:rPr>
              <a:t>b33</a:t>
            </a:r>
            <a:r>
              <a:rPr lang="zh-CN" altLang="en-US" dirty="0" smtClean="0">
                <a:ea typeface="宋体" panose="02010600030101010101" pitchFamily="2" charset="-122"/>
              </a:rPr>
              <a:t>改为同一个符号</a:t>
            </a:r>
            <a:r>
              <a:rPr lang="en-US" altLang="zh-CN" dirty="0" smtClean="0">
                <a:ea typeface="宋体" panose="02010600030101010101" pitchFamily="2" charset="-122"/>
              </a:rPr>
              <a:t>b13</a:t>
            </a:r>
            <a:r>
              <a:rPr lang="zh-CN" altLang="en-US" dirty="0" smtClean="0">
                <a:ea typeface="宋体" panose="02010600030101010101" pitchFamily="2" charset="-122"/>
              </a:rPr>
              <a:t>（取行号最小值）。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539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dirty="0"/>
              <a:t>举例</a:t>
            </a:r>
            <a:endParaRPr lang="zh-CN" altLang="zh-CN" dirty="0" smtClean="0"/>
          </a:p>
        </p:txBody>
      </p:sp>
      <p:pic>
        <p:nvPicPr>
          <p:cNvPr id="809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176" y="1607272"/>
            <a:ext cx="4752975" cy="248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53291" y="4406756"/>
            <a:ext cx="8229600" cy="4610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>
                <a:ea typeface="宋体" panose="02010600030101010101" pitchFamily="2" charset="-122"/>
              </a:rPr>
              <a:t>④ </a:t>
            </a:r>
            <a:r>
              <a:rPr lang="zh-CN" altLang="en-US" dirty="0" smtClean="0">
                <a:ea typeface="宋体" panose="02010600030101010101" pitchFamily="2" charset="-122"/>
              </a:rPr>
              <a:t>根据</a:t>
            </a:r>
            <a:r>
              <a:rPr lang="en-US" altLang="zh-CN" dirty="0" smtClean="0">
                <a:ea typeface="宋体" panose="02010600030101010101" pitchFamily="2" charset="-122"/>
              </a:rPr>
              <a:t>C→D</a:t>
            </a:r>
            <a:r>
              <a:rPr lang="zh-CN" altLang="en-US" dirty="0" smtClean="0">
                <a:ea typeface="宋体" panose="02010600030101010101" pitchFamily="2" charset="-122"/>
              </a:rPr>
              <a:t>，对上表进行处理，由于属性列</a:t>
            </a:r>
            <a:r>
              <a:rPr lang="en-US" altLang="zh-CN" dirty="0" smtClean="0">
                <a:ea typeface="宋体" panose="02010600030101010101" pitchFamily="2" charset="-122"/>
              </a:rPr>
              <a:t>C</a:t>
            </a:r>
            <a:r>
              <a:rPr lang="zh-CN" altLang="en-US" dirty="0" smtClean="0">
                <a:ea typeface="宋体" panose="02010600030101010101" pitchFamily="2" charset="-122"/>
              </a:rPr>
              <a:t>上第</a:t>
            </a:r>
            <a:r>
              <a:rPr lang="en-US" altLang="zh-CN" dirty="0" smtClean="0">
                <a:ea typeface="宋体" panose="02010600030101010101" pitchFamily="2" charset="-122"/>
              </a:rPr>
              <a:t>1</a:t>
            </a:r>
            <a:r>
              <a:rPr lang="zh-CN" altLang="en-US" dirty="0" smtClean="0">
                <a:ea typeface="宋体" panose="02010600030101010101" pitchFamily="2" charset="-122"/>
              </a:rPr>
              <a:t>、</a:t>
            </a:r>
            <a:r>
              <a:rPr lang="en-US" altLang="zh-CN" dirty="0" smtClean="0">
                <a:ea typeface="宋体" panose="02010600030101010101" pitchFamily="2" charset="-122"/>
              </a:rPr>
              <a:t>2</a:t>
            </a:r>
            <a:r>
              <a:rPr lang="zh-CN" altLang="en-US" dirty="0" smtClean="0">
                <a:ea typeface="宋体" panose="02010600030101010101" pitchFamily="2" charset="-122"/>
              </a:rPr>
              <a:t>、</a:t>
            </a:r>
            <a:r>
              <a:rPr lang="en-US" altLang="zh-CN" dirty="0" smtClean="0">
                <a:ea typeface="宋体" panose="02010600030101010101" pitchFamily="2" charset="-122"/>
              </a:rPr>
              <a:t>3</a:t>
            </a:r>
            <a:r>
              <a:rPr lang="zh-CN" altLang="en-US" dirty="0" smtClean="0">
                <a:ea typeface="宋体" panose="02010600030101010101" pitchFamily="2" charset="-122"/>
              </a:rPr>
              <a:t>、</a:t>
            </a:r>
            <a:r>
              <a:rPr lang="en-US" altLang="zh-CN" dirty="0" smtClean="0">
                <a:ea typeface="宋体" panose="02010600030101010101" pitchFamily="2" charset="-122"/>
              </a:rPr>
              <a:t>5</a:t>
            </a:r>
            <a:r>
              <a:rPr lang="zh-CN" altLang="en-US" dirty="0" smtClean="0">
                <a:ea typeface="宋体" panose="02010600030101010101" pitchFamily="2" charset="-122"/>
              </a:rPr>
              <a:t>行相同均为</a:t>
            </a:r>
            <a:r>
              <a:rPr lang="en-US" altLang="zh-CN" dirty="0" smtClean="0">
                <a:ea typeface="宋体" panose="02010600030101010101" pitchFamily="2" charset="-122"/>
              </a:rPr>
              <a:t>b13</a:t>
            </a:r>
            <a:r>
              <a:rPr lang="zh-CN" altLang="en-US" dirty="0" smtClean="0">
                <a:ea typeface="宋体" panose="02010600030101010101" pitchFamily="2" charset="-122"/>
              </a:rPr>
              <a:t>，所以将属性列</a:t>
            </a:r>
            <a:r>
              <a:rPr lang="en-US" altLang="zh-CN" dirty="0" smtClean="0">
                <a:ea typeface="宋体" panose="02010600030101010101" pitchFamily="2" charset="-122"/>
              </a:rPr>
              <a:t>D</a:t>
            </a:r>
            <a:r>
              <a:rPr lang="zh-CN" altLang="en-US" dirty="0" smtClean="0">
                <a:ea typeface="宋体" panose="02010600030101010101" pitchFamily="2" charset="-122"/>
              </a:rPr>
              <a:t>上的值均改为同一个符号</a:t>
            </a:r>
            <a:r>
              <a:rPr lang="en-US" altLang="zh-CN" dirty="0" smtClean="0">
                <a:ea typeface="宋体" panose="02010600030101010101" pitchFamily="2" charset="-122"/>
              </a:rPr>
              <a:t>a4</a:t>
            </a:r>
            <a:r>
              <a:rPr lang="zh-CN" altLang="en-US" dirty="0" smtClean="0">
                <a:ea typeface="宋体" panose="02010600030101010101" pitchFamily="2" charset="-122"/>
              </a:rPr>
              <a:t>。 </a:t>
            </a:r>
          </a:p>
          <a:p>
            <a:endParaRPr lang="en-US" altLang="zh-CN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282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dirty="0"/>
              <a:t>举例</a:t>
            </a:r>
            <a:endParaRPr lang="zh-CN" altLang="zh-CN" dirty="0" smtClean="0"/>
          </a:p>
        </p:txBody>
      </p:sp>
      <p:pic>
        <p:nvPicPr>
          <p:cNvPr id="819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821" y="1555318"/>
            <a:ext cx="4679950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57200" y="4552950"/>
            <a:ext cx="8229600" cy="4610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mtClean="0">
                <a:ea typeface="宋体" panose="02010600030101010101" pitchFamily="2" charset="-122"/>
              </a:rPr>
              <a:t>⑤ </a:t>
            </a:r>
            <a:r>
              <a:rPr lang="zh-CN" altLang="en-US" smtClean="0">
                <a:ea typeface="宋体" panose="02010600030101010101" pitchFamily="2" charset="-122"/>
              </a:rPr>
              <a:t>根据</a:t>
            </a:r>
            <a:r>
              <a:rPr lang="en-US" altLang="zh-CN" smtClean="0">
                <a:ea typeface="宋体" panose="02010600030101010101" pitchFamily="2" charset="-122"/>
              </a:rPr>
              <a:t>DE→C</a:t>
            </a:r>
            <a:r>
              <a:rPr lang="zh-CN" altLang="en-US" smtClean="0">
                <a:ea typeface="宋体" panose="02010600030101010101" pitchFamily="2" charset="-122"/>
              </a:rPr>
              <a:t>，对上表进行处理，由于属性列</a:t>
            </a:r>
            <a:r>
              <a:rPr lang="en-US" altLang="zh-CN" smtClean="0">
                <a:ea typeface="宋体" panose="02010600030101010101" pitchFamily="2" charset="-122"/>
              </a:rPr>
              <a:t>DE</a:t>
            </a:r>
            <a:r>
              <a:rPr lang="zh-CN" altLang="en-US" smtClean="0">
                <a:ea typeface="宋体" panose="02010600030101010101" pitchFamily="2" charset="-122"/>
              </a:rPr>
              <a:t>上第</a:t>
            </a:r>
            <a:r>
              <a:rPr lang="en-US" altLang="zh-CN" smtClean="0">
                <a:ea typeface="宋体" panose="02010600030101010101" pitchFamily="2" charset="-122"/>
              </a:rPr>
              <a:t>3</a:t>
            </a:r>
            <a:r>
              <a:rPr lang="zh-CN" altLang="en-US" smtClean="0">
                <a:ea typeface="宋体" panose="02010600030101010101" pitchFamily="2" charset="-122"/>
              </a:rPr>
              <a:t>、</a:t>
            </a:r>
            <a:r>
              <a:rPr lang="en-US" altLang="zh-CN" smtClean="0">
                <a:ea typeface="宋体" panose="02010600030101010101" pitchFamily="2" charset="-122"/>
              </a:rPr>
              <a:t>4</a:t>
            </a:r>
            <a:r>
              <a:rPr lang="zh-CN" altLang="en-US" smtClean="0">
                <a:ea typeface="宋体" panose="02010600030101010101" pitchFamily="2" charset="-122"/>
              </a:rPr>
              <a:t>、</a:t>
            </a:r>
            <a:r>
              <a:rPr lang="en-US" altLang="zh-CN" smtClean="0">
                <a:ea typeface="宋体" panose="02010600030101010101" pitchFamily="2" charset="-122"/>
              </a:rPr>
              <a:t>5</a:t>
            </a:r>
            <a:r>
              <a:rPr lang="zh-CN" altLang="en-US" smtClean="0">
                <a:ea typeface="宋体" panose="02010600030101010101" pitchFamily="2" charset="-122"/>
              </a:rPr>
              <a:t>行相同均为</a:t>
            </a:r>
            <a:r>
              <a:rPr lang="en-US" altLang="zh-CN" smtClean="0">
                <a:ea typeface="宋体" panose="02010600030101010101" pitchFamily="2" charset="-122"/>
              </a:rPr>
              <a:t>a4a5</a:t>
            </a:r>
            <a:r>
              <a:rPr lang="zh-CN" altLang="en-US" smtClean="0">
                <a:ea typeface="宋体" panose="02010600030101010101" pitchFamily="2" charset="-122"/>
              </a:rPr>
              <a:t>，所以将属性列</a:t>
            </a:r>
            <a:r>
              <a:rPr lang="en-US" altLang="zh-CN" smtClean="0">
                <a:ea typeface="宋体" panose="02010600030101010101" pitchFamily="2" charset="-122"/>
              </a:rPr>
              <a:t>C</a:t>
            </a:r>
            <a:r>
              <a:rPr lang="zh-CN" altLang="en-US" smtClean="0">
                <a:ea typeface="宋体" panose="02010600030101010101" pitchFamily="2" charset="-122"/>
              </a:rPr>
              <a:t>上的值均改为同一个符号</a:t>
            </a:r>
            <a:r>
              <a:rPr lang="en-US" altLang="zh-CN" smtClean="0">
                <a:ea typeface="宋体" panose="02010600030101010101" pitchFamily="2" charset="-122"/>
              </a:rPr>
              <a:t>a3</a:t>
            </a:r>
            <a:r>
              <a:rPr lang="zh-CN" altLang="en-US" smtClean="0">
                <a:ea typeface="宋体" panose="02010600030101010101" pitchFamily="2" charset="-122"/>
              </a:rPr>
              <a:t>。 </a:t>
            </a:r>
          </a:p>
          <a:p>
            <a:endParaRPr lang="en-US" altLang="zh-CN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9433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dirty="0"/>
              <a:t>举例</a:t>
            </a:r>
            <a:endParaRPr lang="zh-CN" altLang="zh-CN" dirty="0" smtClean="0"/>
          </a:p>
        </p:txBody>
      </p:sp>
      <p:pic>
        <p:nvPicPr>
          <p:cNvPr id="829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467" y="1678709"/>
            <a:ext cx="4176712" cy="217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57200" y="4247429"/>
            <a:ext cx="8229600" cy="4610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mtClean="0">
                <a:ea typeface="宋体" panose="02010600030101010101" pitchFamily="2" charset="-122"/>
              </a:rPr>
              <a:t>⑥ </a:t>
            </a:r>
            <a:r>
              <a:rPr lang="zh-CN" altLang="en-US" smtClean="0">
                <a:ea typeface="宋体" panose="02010600030101010101" pitchFamily="2" charset="-122"/>
              </a:rPr>
              <a:t>根据</a:t>
            </a:r>
            <a:r>
              <a:rPr lang="en-US" altLang="zh-CN" smtClean="0">
                <a:ea typeface="宋体" panose="02010600030101010101" pitchFamily="2" charset="-122"/>
              </a:rPr>
              <a:t>CE→A</a:t>
            </a:r>
            <a:r>
              <a:rPr lang="zh-CN" altLang="en-US" smtClean="0">
                <a:ea typeface="宋体" panose="02010600030101010101" pitchFamily="2" charset="-122"/>
              </a:rPr>
              <a:t>，对上表进行处理，由于属性列</a:t>
            </a:r>
            <a:r>
              <a:rPr lang="en-US" altLang="zh-CN" smtClean="0">
                <a:ea typeface="宋体" panose="02010600030101010101" pitchFamily="2" charset="-122"/>
              </a:rPr>
              <a:t>CE</a:t>
            </a:r>
            <a:r>
              <a:rPr lang="zh-CN" altLang="en-US" smtClean="0">
                <a:ea typeface="宋体" panose="02010600030101010101" pitchFamily="2" charset="-122"/>
              </a:rPr>
              <a:t>上第</a:t>
            </a:r>
            <a:r>
              <a:rPr lang="en-US" altLang="zh-CN" smtClean="0">
                <a:ea typeface="宋体" panose="02010600030101010101" pitchFamily="2" charset="-122"/>
              </a:rPr>
              <a:t>3</a:t>
            </a:r>
            <a:r>
              <a:rPr lang="zh-CN" altLang="en-US" smtClean="0">
                <a:ea typeface="宋体" panose="02010600030101010101" pitchFamily="2" charset="-122"/>
              </a:rPr>
              <a:t>、</a:t>
            </a:r>
            <a:r>
              <a:rPr lang="en-US" altLang="zh-CN" smtClean="0">
                <a:ea typeface="宋体" panose="02010600030101010101" pitchFamily="2" charset="-122"/>
              </a:rPr>
              <a:t>4</a:t>
            </a:r>
            <a:r>
              <a:rPr lang="zh-CN" altLang="en-US" smtClean="0">
                <a:ea typeface="宋体" panose="02010600030101010101" pitchFamily="2" charset="-122"/>
              </a:rPr>
              <a:t>、</a:t>
            </a:r>
            <a:r>
              <a:rPr lang="en-US" altLang="zh-CN" smtClean="0">
                <a:ea typeface="宋体" panose="02010600030101010101" pitchFamily="2" charset="-122"/>
              </a:rPr>
              <a:t>5</a:t>
            </a:r>
            <a:r>
              <a:rPr lang="zh-CN" altLang="en-US" smtClean="0">
                <a:ea typeface="宋体" panose="02010600030101010101" pitchFamily="2" charset="-122"/>
              </a:rPr>
              <a:t>行相同均为</a:t>
            </a:r>
            <a:r>
              <a:rPr lang="en-US" altLang="zh-CN" smtClean="0">
                <a:ea typeface="宋体" panose="02010600030101010101" pitchFamily="2" charset="-122"/>
              </a:rPr>
              <a:t>a3a5</a:t>
            </a:r>
            <a:r>
              <a:rPr lang="zh-CN" altLang="en-US" smtClean="0">
                <a:ea typeface="宋体" panose="02010600030101010101" pitchFamily="2" charset="-122"/>
              </a:rPr>
              <a:t>，所以将属性列</a:t>
            </a:r>
            <a:r>
              <a:rPr lang="en-US" altLang="zh-CN" smtClean="0">
                <a:ea typeface="宋体" panose="02010600030101010101" pitchFamily="2" charset="-122"/>
              </a:rPr>
              <a:t>A</a:t>
            </a:r>
            <a:r>
              <a:rPr lang="zh-CN" altLang="en-US" smtClean="0">
                <a:ea typeface="宋体" panose="02010600030101010101" pitchFamily="2" charset="-122"/>
              </a:rPr>
              <a:t>上的值均改为同一个符号</a:t>
            </a:r>
            <a:r>
              <a:rPr lang="en-US" altLang="zh-CN" smtClean="0">
                <a:ea typeface="宋体" panose="02010600030101010101" pitchFamily="2" charset="-122"/>
              </a:rPr>
              <a:t>a1</a:t>
            </a:r>
            <a:r>
              <a:rPr lang="zh-CN" altLang="en-US" smtClean="0">
                <a:ea typeface="宋体" panose="02010600030101010101" pitchFamily="2" charset="-122"/>
              </a:rPr>
              <a:t>。 </a:t>
            </a:r>
          </a:p>
          <a:p>
            <a:endParaRPr lang="en-US" altLang="zh-CN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365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dirty="0"/>
              <a:t>举例</a:t>
            </a:r>
            <a:endParaRPr lang="zh-CN" altLang="zh-CN" dirty="0" smtClean="0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378036"/>
            <a:ext cx="8229600" cy="4610100"/>
          </a:xfrm>
        </p:spPr>
        <p:txBody>
          <a:bodyPr/>
          <a:lstStyle/>
          <a:p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存在某一行为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,a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,…,</a:t>
            </a:r>
            <a:r>
              <a:rPr lang="en-US" altLang="zh-CN" b="1" dirty="0" err="1"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b="1" baseline="-25000" dirty="0" err="1"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b="1" dirty="0">
                <a:latin typeface="宋体" panose="02010600030101010101" pitchFamily="2" charset="-122"/>
              </a:rPr>
              <a:t>,</a:t>
            </a:r>
            <a:r>
              <a:rPr lang="zh-CN" altLang="en-US" b="1" dirty="0">
                <a:latin typeface="宋体" panose="02010600030101010101" pitchFamily="2" charset="-122"/>
                <a:ea typeface="楷体_GB2312" pitchFamily="49" charset="-122"/>
              </a:rPr>
              <a:t>则</a:t>
            </a:r>
            <a:r>
              <a:rPr lang="zh-CN" altLang="en-US" b="1" dirty="0" smtClean="0">
                <a:latin typeface="宋体" panose="02010600030101010101" pitchFamily="2" charset="-122"/>
                <a:ea typeface="楷体_GB2312" pitchFamily="49" charset="-122"/>
              </a:rPr>
              <a:t>分解</a:t>
            </a:r>
            <a:r>
              <a:rPr lang="zh-CN" altLang="en-US" b="1" dirty="0" smtClean="0">
                <a:latin typeface="宋体" panose="02010600030101010101" pitchFamily="2" charset="-122"/>
                <a:ea typeface="楷体_GB2312" pitchFamily="49" charset="-122"/>
                <a:cs typeface="Arial Unicode MS" panose="020B0604020202020204" pitchFamily="34" charset="-122"/>
              </a:rPr>
              <a:t>具有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cs typeface="Arial Unicode MS" panose="020B0604020202020204" pitchFamily="34" charset="-122"/>
              </a:rPr>
              <a:t>无损连接性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pic>
        <p:nvPicPr>
          <p:cNvPr id="839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965" y="1409845"/>
            <a:ext cx="4679950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6426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36563" y="201037"/>
            <a:ext cx="7772400" cy="887413"/>
          </a:xfrm>
        </p:spPr>
        <p:txBody>
          <a:bodyPr/>
          <a:lstStyle/>
          <a:p>
            <a:r>
              <a:rPr lang="zh-CN" altLang="en-US" sz="2800" dirty="0"/>
              <a:t>保持函数依赖分解</a:t>
            </a:r>
            <a:r>
              <a:rPr lang="en-US" altLang="zh-CN" sz="2800" dirty="0" smtClean="0">
                <a:ea typeface="宋体" panose="02010600030101010101" pitchFamily="2" charset="-122"/>
              </a:rPr>
              <a:t>(1) 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8997" y="1468293"/>
            <a:ext cx="86868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Example: Suppose R(City, Street, </a:t>
            </a:r>
            <a:r>
              <a:rPr lang="en-US" altLang="zh-CN" dirty="0" err="1" smtClean="0">
                <a:ea typeface="宋体" panose="02010600030101010101" pitchFamily="2" charset="-122"/>
              </a:rPr>
              <a:t>Zipcode</a:t>
            </a:r>
            <a:r>
              <a:rPr lang="en-US" altLang="zh-CN" dirty="0" smtClean="0">
                <a:ea typeface="宋体" panose="02010600030101010101" pitchFamily="2" charset="-122"/>
              </a:rPr>
              <a:t>),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F = {CS        Z, Z        C}, R1(S, Z), R2(C, Z).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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R1</a:t>
            </a:r>
            <a:r>
              <a:rPr lang="en-US" altLang="zh-CN" dirty="0" smtClean="0">
                <a:ea typeface="宋体" panose="02010600030101010101" pitchFamily="2" charset="-122"/>
              </a:rPr>
              <a:t>(F) = {S        </a:t>
            </a:r>
            <a:r>
              <a:rPr lang="en-US" altLang="zh-CN" dirty="0" err="1" smtClean="0">
                <a:ea typeface="宋体" panose="02010600030101010101" pitchFamily="2" charset="-122"/>
              </a:rPr>
              <a:t>S</a:t>
            </a:r>
            <a:r>
              <a:rPr lang="en-US" altLang="zh-CN" dirty="0" smtClean="0">
                <a:ea typeface="宋体" panose="02010600030101010101" pitchFamily="2" charset="-122"/>
              </a:rPr>
              <a:t>,  Z        </a:t>
            </a:r>
            <a:r>
              <a:rPr lang="en-US" altLang="zh-CN" dirty="0" err="1" smtClean="0">
                <a:ea typeface="宋体" panose="02010600030101010101" pitchFamily="2" charset="-122"/>
              </a:rPr>
              <a:t>Z</a:t>
            </a:r>
            <a:r>
              <a:rPr lang="en-US" altLang="zh-CN" dirty="0" smtClean="0">
                <a:ea typeface="宋体" panose="02010600030101010101" pitchFamily="2" charset="-122"/>
              </a:rPr>
              <a:t>, S Z        S,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      SZ        Z, SZ       SZ}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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R2</a:t>
            </a:r>
            <a:r>
              <a:rPr lang="en-US" altLang="zh-CN" dirty="0" smtClean="0">
                <a:ea typeface="宋体" panose="02010600030101010101" pitchFamily="2" charset="-122"/>
              </a:rPr>
              <a:t>(F) = {Z        C, C        </a:t>
            </a:r>
            <a:r>
              <a:rPr lang="en-US" altLang="zh-CN" dirty="0" err="1" smtClean="0">
                <a:ea typeface="宋体" panose="02010600030101010101" pitchFamily="2" charset="-122"/>
              </a:rPr>
              <a:t>C</a:t>
            </a:r>
            <a:r>
              <a:rPr lang="en-US" altLang="zh-CN" dirty="0" smtClean="0">
                <a:ea typeface="宋体" panose="02010600030101010101" pitchFamily="2" charset="-122"/>
              </a:rPr>
              <a:t>, Z         </a:t>
            </a:r>
            <a:r>
              <a:rPr lang="en-US" altLang="zh-CN" dirty="0" err="1" smtClean="0">
                <a:ea typeface="宋体" panose="02010600030101010101" pitchFamily="2" charset="-122"/>
              </a:rPr>
              <a:t>Z</a:t>
            </a:r>
            <a:r>
              <a:rPr lang="en-US" altLang="zh-CN" dirty="0" smtClean="0">
                <a:ea typeface="宋体" panose="02010600030101010101" pitchFamily="2" charset="-122"/>
              </a:rPr>
              <a:t>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      CZ        C, CZ        Z, CZ        CZ}</a:t>
            </a:r>
          </a:p>
        </p:txBody>
      </p:sp>
      <p:sp>
        <p:nvSpPr>
          <p:cNvPr id="86020" name="Line 4"/>
          <p:cNvSpPr>
            <a:spLocks noChangeShapeType="1"/>
          </p:cNvSpPr>
          <p:nvPr/>
        </p:nvSpPr>
        <p:spPr bwMode="auto">
          <a:xfrm>
            <a:off x="1253259" y="221976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1" name="Line 5"/>
          <p:cNvSpPr>
            <a:spLocks noChangeShapeType="1"/>
          </p:cNvSpPr>
          <p:nvPr/>
        </p:nvSpPr>
        <p:spPr bwMode="auto">
          <a:xfrm>
            <a:off x="2312122" y="221976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2" name="Line 6"/>
          <p:cNvSpPr>
            <a:spLocks noChangeShapeType="1"/>
          </p:cNvSpPr>
          <p:nvPr/>
        </p:nvSpPr>
        <p:spPr bwMode="auto">
          <a:xfrm>
            <a:off x="4312372" y="27559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3" name="Line 7"/>
          <p:cNvSpPr>
            <a:spLocks noChangeShapeType="1"/>
          </p:cNvSpPr>
          <p:nvPr/>
        </p:nvSpPr>
        <p:spPr bwMode="auto">
          <a:xfrm>
            <a:off x="1702522" y="27559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4" name="Line 8"/>
          <p:cNvSpPr>
            <a:spLocks noChangeShapeType="1"/>
          </p:cNvSpPr>
          <p:nvPr/>
        </p:nvSpPr>
        <p:spPr bwMode="auto">
          <a:xfrm>
            <a:off x="2926196" y="27559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5" name="Line 9"/>
          <p:cNvSpPr>
            <a:spLocks noChangeShapeType="1"/>
          </p:cNvSpPr>
          <p:nvPr/>
        </p:nvSpPr>
        <p:spPr bwMode="auto">
          <a:xfrm>
            <a:off x="3209492" y="323474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6" name="Line 10"/>
          <p:cNvSpPr>
            <a:spLocks noChangeShapeType="1"/>
          </p:cNvSpPr>
          <p:nvPr/>
        </p:nvSpPr>
        <p:spPr bwMode="auto">
          <a:xfrm>
            <a:off x="1862859" y="321757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7" name="Line 11"/>
          <p:cNvSpPr>
            <a:spLocks noChangeShapeType="1"/>
          </p:cNvSpPr>
          <p:nvPr/>
        </p:nvSpPr>
        <p:spPr bwMode="auto">
          <a:xfrm>
            <a:off x="4669560" y="4259119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8" name="Line 12"/>
          <p:cNvSpPr>
            <a:spLocks noChangeShapeType="1"/>
          </p:cNvSpPr>
          <p:nvPr/>
        </p:nvSpPr>
        <p:spPr bwMode="auto">
          <a:xfrm>
            <a:off x="3237346" y="423213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9" name="Line 13"/>
          <p:cNvSpPr>
            <a:spLocks noChangeShapeType="1"/>
          </p:cNvSpPr>
          <p:nvPr/>
        </p:nvSpPr>
        <p:spPr bwMode="auto">
          <a:xfrm>
            <a:off x="1919000" y="423213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0" name="Line 14"/>
          <p:cNvSpPr>
            <a:spLocks noChangeShapeType="1"/>
          </p:cNvSpPr>
          <p:nvPr/>
        </p:nvSpPr>
        <p:spPr bwMode="auto">
          <a:xfrm>
            <a:off x="4120717" y="37351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1" name="Line 15"/>
          <p:cNvSpPr>
            <a:spLocks noChangeShapeType="1"/>
          </p:cNvSpPr>
          <p:nvPr/>
        </p:nvSpPr>
        <p:spPr bwMode="auto">
          <a:xfrm>
            <a:off x="2932546" y="373394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2" name="Line 16"/>
          <p:cNvSpPr>
            <a:spLocks noChangeShapeType="1"/>
          </p:cNvSpPr>
          <p:nvPr/>
        </p:nvSpPr>
        <p:spPr bwMode="auto">
          <a:xfrm>
            <a:off x="1702522" y="3793837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30921" y="5086394"/>
            <a:ext cx="8324705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dirty="0"/>
              <a:t>定义</a:t>
            </a:r>
            <a:r>
              <a:rPr lang="en-US" altLang="zh-CN" sz="2400" dirty="0" smtClean="0"/>
              <a:t>:</a:t>
            </a:r>
            <a:r>
              <a:rPr lang="zh-CN" altLang="en-US" sz="2400" dirty="0" smtClean="0"/>
              <a:t>对关系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R </a:t>
            </a:r>
            <a:r>
              <a:rPr lang="zh-CN" altLang="en-US" sz="2400" dirty="0" smtClean="0"/>
              <a:t>和函数依赖</a:t>
            </a:r>
            <a:r>
              <a:rPr lang="en-US" altLang="zh-CN" sz="2400" dirty="0" smtClean="0"/>
              <a:t>F, </a:t>
            </a:r>
            <a:r>
              <a:rPr lang="zh-CN" altLang="en-US" sz="2400" dirty="0" smtClean="0"/>
              <a:t>分解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{R</a:t>
            </a:r>
            <a:r>
              <a:rPr lang="en-US" altLang="zh-CN" sz="2400" baseline="-10000" dirty="0"/>
              <a:t>1</a:t>
            </a:r>
            <a:r>
              <a:rPr lang="en-US" altLang="zh-CN" sz="2400" dirty="0"/>
              <a:t>, R</a:t>
            </a:r>
            <a:r>
              <a:rPr lang="en-US" altLang="zh-CN" sz="2400" baseline="-10000" dirty="0"/>
              <a:t>2</a:t>
            </a:r>
            <a:r>
              <a:rPr lang="en-US" altLang="zh-CN" sz="2400" dirty="0"/>
              <a:t>, ..., R</a:t>
            </a:r>
            <a:r>
              <a:rPr lang="en-US" altLang="zh-CN" sz="2400" baseline="-10000" dirty="0"/>
              <a:t>n</a:t>
            </a:r>
            <a:r>
              <a:rPr lang="en-US" altLang="zh-CN" sz="2400" dirty="0" smtClean="0"/>
              <a:t>} </a:t>
            </a:r>
            <a:r>
              <a:rPr lang="zh-CN" altLang="en-US" sz="2400" dirty="0" smtClean="0"/>
              <a:t>保持函数依赖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如果满足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/>
              <a:t>           F</a:t>
            </a:r>
            <a:r>
              <a:rPr lang="en-US" altLang="zh-CN" sz="2400" baseline="30000" dirty="0"/>
              <a:t>+</a:t>
            </a:r>
            <a:r>
              <a:rPr lang="en-US" altLang="zh-CN" sz="2400" dirty="0"/>
              <a:t> = (F</a:t>
            </a:r>
            <a:r>
              <a:rPr lang="en-US" altLang="zh-CN" sz="2400" baseline="-10000" dirty="0"/>
              <a:t>1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 </a:t>
            </a:r>
            <a:r>
              <a:rPr lang="en-US" altLang="zh-CN" sz="2400" dirty="0"/>
              <a:t>F</a:t>
            </a:r>
            <a:r>
              <a:rPr lang="en-US" altLang="zh-CN" sz="2400" baseline="-10000" dirty="0"/>
              <a:t>2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</a:t>
            </a:r>
            <a:r>
              <a:rPr lang="en-US" altLang="zh-CN" sz="2400" dirty="0"/>
              <a:t> . . . </a:t>
            </a:r>
            <a:r>
              <a:rPr lang="en-US" altLang="zh-CN" sz="2400" dirty="0">
                <a:sym typeface="Symbol" panose="05050102010706020507" pitchFamily="18" charset="2"/>
              </a:rPr>
              <a:t></a:t>
            </a:r>
            <a:r>
              <a:rPr lang="en-US" altLang="zh-CN" sz="2400" dirty="0"/>
              <a:t> </a:t>
            </a:r>
            <a:r>
              <a:rPr lang="en-US" altLang="zh-CN" sz="2400" dirty="0" err="1"/>
              <a:t>F</a:t>
            </a:r>
            <a:r>
              <a:rPr lang="en-US" altLang="zh-CN" sz="2400" baseline="-10000" dirty="0" err="1"/>
              <a:t>n</a:t>
            </a:r>
            <a:r>
              <a:rPr lang="en-US" altLang="zh-CN" sz="2400" dirty="0"/>
              <a:t>)</a:t>
            </a:r>
            <a:r>
              <a:rPr lang="en-US" altLang="zh-CN" sz="2400" baseline="30000" dirty="0"/>
              <a:t>+</a:t>
            </a:r>
            <a:r>
              <a:rPr lang="en-US" altLang="zh-CN" sz="2400" dirty="0"/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/>
              <a:t>   where F</a:t>
            </a:r>
            <a:r>
              <a:rPr lang="en-US" altLang="zh-CN" sz="2400" baseline="-10000" dirty="0"/>
              <a:t>i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anose="05050102010706020507" pitchFamily="18" charset="2"/>
              </a:rPr>
              <a:t></a:t>
            </a:r>
            <a:r>
              <a:rPr lang="en-US" altLang="zh-CN" sz="2400" baseline="-10000" dirty="0" err="1"/>
              <a:t>Ri</a:t>
            </a:r>
            <a:r>
              <a:rPr lang="en-US" altLang="zh-CN" sz="2400" dirty="0"/>
              <a:t>(F),   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1, ..., n.</a:t>
            </a:r>
            <a:r>
              <a:rPr lang="en-US" altLang="zh-CN" sz="32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9920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15035"/>
            <a:ext cx="9144000" cy="735013"/>
          </a:xfrm>
        </p:spPr>
        <p:txBody>
          <a:bodyPr/>
          <a:lstStyle/>
          <a:p>
            <a:r>
              <a:rPr lang="zh-CN" altLang="en-US" sz="3600" dirty="0"/>
              <a:t>保持函数依赖分解</a:t>
            </a:r>
            <a:r>
              <a:rPr lang="en-US" altLang="zh-CN" sz="3600" dirty="0"/>
              <a:t>(2) </a:t>
            </a:r>
            <a:endParaRPr lang="en-US" altLang="zh-CN" sz="2800" b="1" dirty="0" smtClean="0">
              <a:ea typeface="宋体" panose="02010600030101010101" pitchFamily="2" charset="-122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16859"/>
            <a:ext cx="8229600" cy="44259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在上面例子中</a:t>
            </a:r>
            <a:r>
              <a:rPr lang="en-US" altLang="zh-CN" dirty="0" smtClean="0">
                <a:ea typeface="宋体" panose="02010600030101010101" pitchFamily="2" charset="-122"/>
              </a:rPr>
              <a:t>, {R1, R2} </a:t>
            </a:r>
            <a:r>
              <a:rPr lang="zh-CN" altLang="en-US" dirty="0" smtClean="0">
                <a:ea typeface="宋体" panose="02010600030101010101" pitchFamily="2" charset="-122"/>
              </a:rPr>
              <a:t>是</a:t>
            </a:r>
            <a:r>
              <a:rPr lang="en-US" altLang="zh-CN" dirty="0" smtClean="0">
                <a:ea typeface="宋体" panose="02010600030101010101" pitchFamily="2" charset="-122"/>
              </a:rPr>
              <a:t>R</a:t>
            </a:r>
            <a:r>
              <a:rPr lang="zh-CN" altLang="en-US" dirty="0" smtClean="0">
                <a:ea typeface="宋体" panose="02010600030101010101" pitchFamily="2" charset="-122"/>
              </a:rPr>
              <a:t>的一个分解</a:t>
            </a:r>
            <a:r>
              <a:rPr lang="en-US" altLang="zh-CN" dirty="0" smtClean="0">
                <a:ea typeface="宋体" panose="02010600030101010101" pitchFamily="2" charset="-122"/>
              </a:rPr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因为</a:t>
            </a:r>
            <a:r>
              <a:rPr lang="en-US" altLang="zh-CN" dirty="0" smtClean="0">
                <a:ea typeface="宋体" panose="02010600030101010101" pitchFamily="2" charset="-122"/>
              </a:rPr>
              <a:t> CS         Z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dirty="0" smtClean="0">
                <a:ea typeface="宋体" panose="02010600030101010101" pitchFamily="2" charset="-122"/>
              </a:rPr>
              <a:t> F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但是 </a:t>
            </a:r>
            <a:r>
              <a:rPr lang="en-US" altLang="zh-CN" dirty="0" smtClean="0">
                <a:ea typeface="宋体" panose="02010600030101010101" pitchFamily="2" charset="-122"/>
              </a:rPr>
              <a:t>CS         Z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</a:t>
            </a:r>
            <a:r>
              <a:rPr lang="en-US" altLang="zh-CN" dirty="0" smtClean="0">
                <a:ea typeface="宋体" panose="02010600030101010101" pitchFamily="2" charset="-122"/>
              </a:rPr>
              <a:t> (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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R1</a:t>
            </a:r>
            <a:r>
              <a:rPr lang="en-US" altLang="zh-CN" dirty="0" smtClean="0">
                <a:ea typeface="宋体" panose="02010600030101010101" pitchFamily="2" charset="-122"/>
              </a:rPr>
              <a:t>(F)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 </a:t>
            </a:r>
            <a:r>
              <a:rPr lang="en-US" altLang="zh-CN" baseline="-10000" dirty="0" smtClean="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aseline="-10000" dirty="0" smtClean="0">
                <a:ea typeface="宋体" panose="02010600030101010101" pitchFamily="2" charset="-122"/>
              </a:rPr>
              <a:t>2</a:t>
            </a:r>
            <a:r>
              <a:rPr lang="en-US" altLang="zh-CN" dirty="0" smtClean="0">
                <a:ea typeface="宋体" panose="02010600030101010101" pitchFamily="2" charset="-122"/>
              </a:rPr>
              <a:t>(F))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,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所以这个分解不能保持函数依赖</a:t>
            </a:r>
            <a:r>
              <a:rPr lang="en-US" altLang="zh-CN" dirty="0" smtClean="0">
                <a:ea typeface="宋体" panose="02010600030101010101" pitchFamily="2" charset="-122"/>
              </a:rPr>
              <a:t>. </a:t>
            </a:r>
          </a:p>
        </p:txBody>
      </p:sp>
      <p:sp>
        <p:nvSpPr>
          <p:cNvPr id="88068" name="Line 4"/>
          <p:cNvSpPr>
            <a:spLocks noChangeShapeType="1"/>
          </p:cNvSpPr>
          <p:nvPr/>
        </p:nvSpPr>
        <p:spPr bwMode="auto">
          <a:xfrm>
            <a:off x="1763713" y="2846099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069" name="Line 5"/>
          <p:cNvSpPr>
            <a:spLocks noChangeShapeType="1"/>
          </p:cNvSpPr>
          <p:nvPr/>
        </p:nvSpPr>
        <p:spPr bwMode="auto">
          <a:xfrm>
            <a:off x="1684049" y="337372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948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82071"/>
            <a:ext cx="8496300" cy="649288"/>
          </a:xfrm>
        </p:spPr>
        <p:txBody>
          <a:bodyPr/>
          <a:lstStyle/>
          <a:p>
            <a:r>
              <a:rPr lang="zh-CN" altLang="en-US" sz="3200" dirty="0"/>
              <a:t>保持函数依赖分解</a:t>
            </a:r>
            <a:r>
              <a:rPr lang="en-US" altLang="zh-CN" sz="3200" dirty="0" smtClean="0"/>
              <a:t>(3) </a:t>
            </a:r>
            <a:endParaRPr lang="en-US" altLang="zh-CN" sz="2400" b="1" dirty="0" smtClean="0">
              <a:ea typeface="宋体" panose="02010600030101010101" pitchFamily="2" charset="-122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5064"/>
            <a:ext cx="8686800" cy="51816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zh-CN" altLang="en-US" sz="3200" dirty="0">
                <a:solidFill>
                  <a:schemeClr val="accent1"/>
                </a:solidFill>
              </a:rPr>
              <a:t>判定是否保持函数依赖分解</a:t>
            </a:r>
            <a:endParaRPr lang="en-US" altLang="zh-CN" sz="3200" dirty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Algorithm </a:t>
            </a:r>
            <a:r>
              <a:rPr lang="en-US" altLang="zh-CN" sz="3200" dirty="0" smtClean="0">
                <a:solidFill>
                  <a:srgbClr val="FF0000"/>
                </a:solidFill>
              </a:rPr>
              <a:t>DP(</a:t>
            </a:r>
            <a:r>
              <a:rPr lang="en-US" altLang="zh-CN" sz="3200" dirty="0">
                <a:solidFill>
                  <a:srgbClr val="FF0000"/>
                </a:solidFill>
              </a:rPr>
              <a:t>Dependency-Preserving</a:t>
            </a:r>
            <a:r>
              <a:rPr lang="en-US" altLang="zh-CN" sz="3200" dirty="0" smtClean="0">
                <a:solidFill>
                  <a:srgbClr val="FF0000"/>
                </a:solidFill>
              </a:rPr>
              <a:t>)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3200" dirty="0"/>
              <a:t>Input: A relation schema R, A set of FDs F in R, a decomposition {R</a:t>
            </a:r>
            <a:r>
              <a:rPr lang="en-US" altLang="zh-CN" sz="3200" baseline="-10000" dirty="0"/>
              <a:t>1</a:t>
            </a:r>
            <a:r>
              <a:rPr lang="en-US" altLang="zh-CN" sz="3200" dirty="0"/>
              <a:t>, R</a:t>
            </a:r>
            <a:r>
              <a:rPr lang="en-US" altLang="zh-CN" sz="3200" baseline="-10000" dirty="0"/>
              <a:t>2</a:t>
            </a:r>
            <a:r>
              <a:rPr lang="en-US" altLang="zh-CN" sz="3200" dirty="0"/>
              <a:t>, ..., R</a:t>
            </a:r>
            <a:r>
              <a:rPr lang="en-US" altLang="zh-CN" sz="3200" baseline="-10000" dirty="0"/>
              <a:t>n</a:t>
            </a:r>
            <a:r>
              <a:rPr lang="en-US" altLang="zh-CN" sz="3200" dirty="0"/>
              <a:t>} of R.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000" dirty="0" smtClean="0">
                <a:ea typeface="宋体" panose="02010600030101010101" pitchFamily="2" charset="-122"/>
              </a:rPr>
              <a:t>for every X          Y </a:t>
            </a:r>
            <a:r>
              <a:rPr lang="en-US" altLang="zh-CN" sz="3000" dirty="0" smtClean="0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3000" dirty="0" smtClean="0">
                <a:ea typeface="宋体" panose="02010600030101010101" pitchFamily="2" charset="-122"/>
              </a:rPr>
              <a:t> F (</a:t>
            </a:r>
            <a:r>
              <a:rPr lang="zh-CN" altLang="en-US" sz="3000" dirty="0" smtClean="0">
                <a:solidFill>
                  <a:srgbClr val="FF0000"/>
                </a:solidFill>
                <a:ea typeface="宋体" panose="02010600030101010101" pitchFamily="2" charset="-122"/>
              </a:rPr>
              <a:t>每一个函数依赖关系都要单独判断</a:t>
            </a:r>
            <a:r>
              <a:rPr lang="en-US" altLang="zh-CN" sz="3000" dirty="0" smtClean="0">
                <a:ea typeface="宋体" panose="02010600030101010101" pitchFamily="2" charset="-122"/>
              </a:rPr>
              <a:t>)</a:t>
            </a:r>
          </a:p>
          <a:p>
            <a:pPr marL="514350" indent="-514350">
              <a:buFont typeface="+mj-ea"/>
              <a:buAutoNum type="circleNumDbPlain"/>
            </a:pPr>
            <a:r>
              <a:rPr lang="en-US" altLang="zh-CN" sz="3000" dirty="0" smtClean="0">
                <a:ea typeface="宋体" panose="02010600030101010101" pitchFamily="2" charset="-122"/>
              </a:rPr>
              <a:t>   if </a:t>
            </a:r>
            <a:r>
              <a:rPr lang="en-US" altLang="zh-CN" sz="3000" dirty="0" smtClean="0">
                <a:ea typeface="宋体" panose="02010600030101010101" pitchFamily="2" charset="-122"/>
                <a:sym typeface="Symbol" panose="05050102010706020507" pitchFamily="18" charset="2"/>
              </a:rPr>
              <a:t> </a:t>
            </a:r>
            <a:r>
              <a:rPr lang="en-US" altLang="zh-CN" sz="3000" dirty="0" err="1" smtClean="0">
                <a:ea typeface="宋体" panose="02010600030101010101" pitchFamily="2" charset="-122"/>
              </a:rPr>
              <a:t>R</a:t>
            </a:r>
            <a:r>
              <a:rPr lang="en-US" altLang="zh-CN" sz="3000" baseline="-10000" dirty="0" err="1" smtClean="0">
                <a:ea typeface="宋体" panose="02010600030101010101" pitchFamily="2" charset="-122"/>
              </a:rPr>
              <a:t>i</a:t>
            </a:r>
            <a:r>
              <a:rPr lang="en-US" altLang="zh-CN" sz="3000" dirty="0" smtClean="0">
                <a:ea typeface="宋体" panose="02010600030101010101" pitchFamily="2" charset="-122"/>
              </a:rPr>
              <a:t> such that XY </a:t>
            </a:r>
            <a:r>
              <a:rPr lang="en-US" altLang="zh-CN" sz="3000" dirty="0" smtClean="0">
                <a:ea typeface="宋体" panose="02010600030101010101" pitchFamily="2" charset="-122"/>
                <a:sym typeface="Symbol" panose="05050102010706020507" pitchFamily="18" charset="2"/>
              </a:rPr>
              <a:t> </a:t>
            </a:r>
            <a:r>
              <a:rPr lang="en-US" altLang="zh-CN" sz="3000" dirty="0" err="1" smtClean="0">
                <a:ea typeface="宋体" panose="02010600030101010101" pitchFamily="2" charset="-122"/>
              </a:rPr>
              <a:t>R</a:t>
            </a:r>
            <a:r>
              <a:rPr lang="en-US" altLang="zh-CN" sz="3000" baseline="-10000" dirty="0" err="1" smtClean="0">
                <a:ea typeface="宋体" panose="02010600030101010101" pitchFamily="2" charset="-122"/>
              </a:rPr>
              <a:t>i</a:t>
            </a:r>
            <a:endParaRPr lang="en-US" altLang="zh-CN" sz="3000" baseline="-100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000" baseline="-10000" dirty="0" smtClean="0">
                <a:ea typeface="宋体" panose="02010600030101010101" pitchFamily="2" charset="-122"/>
              </a:rPr>
              <a:t>             </a:t>
            </a:r>
            <a:r>
              <a:rPr lang="en-US" altLang="zh-CN" sz="3000" dirty="0" smtClean="0">
                <a:ea typeface="宋体" panose="02010600030101010101" pitchFamily="2" charset="-122"/>
              </a:rPr>
              <a:t>then X         Y is preserved; </a:t>
            </a:r>
          </a:p>
          <a:p>
            <a:pPr marL="514350" indent="-514350">
              <a:buFont typeface="+mj-ea"/>
              <a:buAutoNum type="circleNumDbPlain" startAt="2"/>
            </a:pPr>
            <a:r>
              <a:rPr lang="en-US" altLang="zh-CN" sz="3000" dirty="0" smtClean="0">
                <a:ea typeface="宋体" panose="02010600030101010101" pitchFamily="2" charset="-122"/>
              </a:rPr>
              <a:t>    else use </a:t>
            </a:r>
            <a:r>
              <a:rPr lang="en-US" altLang="zh-CN" sz="3000" dirty="0" smtClean="0">
                <a:solidFill>
                  <a:schemeClr val="accent1"/>
                </a:solidFill>
                <a:ea typeface="宋体" panose="02010600030101010101" pitchFamily="2" charset="-122"/>
              </a:rPr>
              <a:t>Algorithm XYGP</a:t>
            </a:r>
            <a:r>
              <a:rPr lang="en-US" altLang="zh-CN" sz="3000" dirty="0" smtClean="0">
                <a:ea typeface="宋体" panose="02010600030101010101" pitchFamily="2" charset="-122"/>
              </a:rPr>
              <a:t> to find </a:t>
            </a:r>
            <a:r>
              <a:rPr lang="en-US" altLang="zh-CN" sz="3000" dirty="0" smtClean="0">
                <a:solidFill>
                  <a:srgbClr val="FF0000"/>
                </a:solidFill>
                <a:ea typeface="宋体" panose="02010600030101010101" pitchFamily="2" charset="-122"/>
              </a:rPr>
              <a:t>W</a:t>
            </a:r>
            <a:r>
              <a:rPr lang="en-US" altLang="zh-CN" sz="3000" dirty="0" smtClean="0">
                <a:ea typeface="宋体" panose="02010600030101010101" pitchFamily="2" charset="-122"/>
              </a:rPr>
              <a:t>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000" dirty="0" smtClean="0">
                <a:ea typeface="宋体" panose="02010600030101010101" pitchFamily="2" charset="-122"/>
              </a:rPr>
              <a:t>           if Y </a:t>
            </a:r>
            <a:r>
              <a:rPr lang="en-US" altLang="zh-CN" sz="3000" dirty="0" smtClean="0"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3000" dirty="0" smtClean="0">
                <a:ea typeface="宋体" panose="02010600030101010101" pitchFamily="2" charset="-122"/>
              </a:rPr>
              <a:t> W then X        Y is preserved;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000" dirty="0" smtClean="0">
                <a:ea typeface="宋体" panose="02010600030101010101" pitchFamily="2" charset="-122"/>
              </a:rPr>
              <a:t>if every X        Y is preserved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000" dirty="0" smtClean="0">
                <a:ea typeface="宋体" panose="02010600030101010101" pitchFamily="2" charset="-122"/>
              </a:rPr>
              <a:t>    then {R</a:t>
            </a:r>
            <a:r>
              <a:rPr lang="en-US" altLang="zh-CN" sz="3000" baseline="-10000" dirty="0" smtClean="0">
                <a:ea typeface="宋体" panose="02010600030101010101" pitchFamily="2" charset="-122"/>
              </a:rPr>
              <a:t>1</a:t>
            </a:r>
            <a:r>
              <a:rPr lang="en-US" altLang="zh-CN" sz="3000" dirty="0" smtClean="0">
                <a:ea typeface="宋体" panose="02010600030101010101" pitchFamily="2" charset="-122"/>
              </a:rPr>
              <a:t>, ..., R</a:t>
            </a:r>
            <a:r>
              <a:rPr lang="en-US" altLang="zh-CN" sz="3000" baseline="-10000" dirty="0" smtClean="0">
                <a:ea typeface="宋体" panose="02010600030101010101" pitchFamily="2" charset="-122"/>
              </a:rPr>
              <a:t>n</a:t>
            </a:r>
            <a:r>
              <a:rPr lang="en-US" altLang="zh-CN" sz="3000" dirty="0" smtClean="0">
                <a:ea typeface="宋体" panose="02010600030101010101" pitchFamily="2" charset="-122"/>
              </a:rPr>
              <a:t>} is dependency-preserving;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000" dirty="0" smtClean="0">
                <a:ea typeface="宋体" panose="02010600030101010101" pitchFamily="2" charset="-122"/>
              </a:rPr>
              <a:t>else {R</a:t>
            </a:r>
            <a:r>
              <a:rPr lang="en-US" altLang="zh-CN" sz="3000" baseline="-10000" dirty="0" smtClean="0">
                <a:ea typeface="宋体" panose="02010600030101010101" pitchFamily="2" charset="-122"/>
              </a:rPr>
              <a:t>1</a:t>
            </a:r>
            <a:r>
              <a:rPr lang="en-US" altLang="zh-CN" sz="3000" dirty="0" smtClean="0">
                <a:ea typeface="宋体" panose="02010600030101010101" pitchFamily="2" charset="-122"/>
              </a:rPr>
              <a:t>, ..., R</a:t>
            </a:r>
            <a:r>
              <a:rPr lang="en-US" altLang="zh-CN" sz="3000" baseline="-10000" dirty="0" smtClean="0">
                <a:ea typeface="宋体" panose="02010600030101010101" pitchFamily="2" charset="-122"/>
              </a:rPr>
              <a:t>n</a:t>
            </a:r>
            <a:r>
              <a:rPr lang="en-US" altLang="zh-CN" sz="3000" dirty="0" smtClean="0">
                <a:ea typeface="宋体" panose="02010600030101010101" pitchFamily="2" charset="-122"/>
              </a:rPr>
              <a:t>} is not dependency-preserving;</a:t>
            </a:r>
          </a:p>
        </p:txBody>
      </p:sp>
      <p:sp>
        <p:nvSpPr>
          <p:cNvPr id="90116" name="Line 4"/>
          <p:cNvSpPr>
            <a:spLocks noChangeShapeType="1"/>
          </p:cNvSpPr>
          <p:nvPr/>
        </p:nvSpPr>
        <p:spPr bwMode="auto">
          <a:xfrm>
            <a:off x="1766600" y="3016972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7" name="Line 5"/>
          <p:cNvSpPr>
            <a:spLocks noChangeShapeType="1"/>
          </p:cNvSpPr>
          <p:nvPr/>
        </p:nvSpPr>
        <p:spPr bwMode="auto">
          <a:xfrm>
            <a:off x="1853190" y="387133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8" name="Line 6"/>
          <p:cNvSpPr>
            <a:spLocks noChangeShapeType="1"/>
          </p:cNvSpPr>
          <p:nvPr/>
        </p:nvSpPr>
        <p:spPr bwMode="auto">
          <a:xfrm>
            <a:off x="3189866" y="468312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9" name="Line 7"/>
          <p:cNvSpPr>
            <a:spLocks noChangeShapeType="1"/>
          </p:cNvSpPr>
          <p:nvPr/>
        </p:nvSpPr>
        <p:spPr bwMode="auto">
          <a:xfrm>
            <a:off x="1548390" y="509847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6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0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0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0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0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82" y="249382"/>
            <a:ext cx="9144000" cy="739775"/>
          </a:xfrm>
        </p:spPr>
        <p:txBody>
          <a:bodyPr/>
          <a:lstStyle/>
          <a:p>
            <a:r>
              <a:rPr lang="zh-CN" altLang="en-US" sz="3600" dirty="0"/>
              <a:t>保持函数依赖分解</a:t>
            </a:r>
            <a:r>
              <a:rPr lang="en-US" altLang="zh-CN" sz="3600" dirty="0" smtClean="0"/>
              <a:t>(4) </a:t>
            </a:r>
            <a:endParaRPr lang="en-US" altLang="zh-CN" sz="3600" dirty="0" smtClean="0">
              <a:ea typeface="宋体" panose="02010600030101010101" pitchFamily="2" charset="-122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6418" y="1789979"/>
            <a:ext cx="8229600" cy="420211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Algorithm XYGP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W := X;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repeat for </a:t>
            </a:r>
            <a:r>
              <a:rPr lang="en-US" altLang="zh-CN" dirty="0" err="1" smtClean="0">
                <a:ea typeface="宋体" panose="02010600030101010101" pitchFamily="2" charset="-122"/>
              </a:rPr>
              <a:t>i</a:t>
            </a:r>
            <a:r>
              <a:rPr lang="en-US" altLang="zh-CN" dirty="0" smtClean="0">
                <a:ea typeface="宋体" panose="02010600030101010101" pitchFamily="2" charset="-122"/>
              </a:rPr>
              <a:t> from 1 to n do</a:t>
            </a:r>
          </a:p>
          <a:p>
            <a:pPr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W := W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dirty="0" smtClean="0">
                <a:ea typeface="宋体" panose="02010600030101010101" pitchFamily="2" charset="-122"/>
              </a:rPr>
              <a:t>((W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 </a:t>
            </a:r>
            <a:r>
              <a:rPr lang="en-US" altLang="zh-CN" dirty="0" err="1" smtClean="0">
                <a:ea typeface="宋体" panose="02010600030101010101" pitchFamily="2" charset="-122"/>
              </a:rPr>
              <a:t>R</a:t>
            </a:r>
            <a:r>
              <a:rPr lang="en-US" altLang="zh-CN" baseline="-10000" dirty="0" err="1" smtClean="0">
                <a:ea typeface="宋体" panose="02010600030101010101" pitchFamily="2" charset="-122"/>
              </a:rPr>
              <a:t>i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 </a:t>
            </a:r>
            <a:r>
              <a:rPr lang="en-US" altLang="zh-CN" dirty="0" err="1" smtClean="0">
                <a:ea typeface="宋体" panose="02010600030101010101" pitchFamily="2" charset="-122"/>
              </a:rPr>
              <a:t>R</a:t>
            </a:r>
            <a:r>
              <a:rPr lang="en-US" altLang="zh-CN" baseline="-10000" dirty="0" err="1" smtClean="0">
                <a:ea typeface="宋体" panose="02010600030101010101" pitchFamily="2" charset="-122"/>
              </a:rPr>
              <a:t>i</a:t>
            </a:r>
            <a:r>
              <a:rPr lang="en-US" altLang="zh-CN" dirty="0" smtClean="0">
                <a:ea typeface="宋体" panose="02010600030101010101" pitchFamily="2" charset="-122"/>
              </a:rPr>
              <a:t>);   </a:t>
            </a:r>
          </a:p>
          <a:p>
            <a:pPr>
              <a:buNone/>
            </a:pPr>
            <a:r>
              <a:rPr lang="zh-CN" altLang="en-US" dirty="0" smtClean="0">
                <a:solidFill>
                  <a:srgbClr val="FF0000"/>
                </a:solidFill>
                <a:ea typeface="宋体" panose="02010600030101010101" pitchFamily="2" charset="-122"/>
              </a:rPr>
              <a:t>在每个分解后的关系</a:t>
            </a:r>
            <a:r>
              <a:rPr lang="en-US" altLang="zh-CN" dirty="0" err="1" smtClean="0">
                <a:solidFill>
                  <a:srgbClr val="FF0000"/>
                </a:solidFill>
              </a:rPr>
              <a:t>R</a:t>
            </a:r>
            <a:r>
              <a:rPr lang="en-US" altLang="zh-CN" baseline="-10000" dirty="0" err="1" smtClean="0">
                <a:solidFill>
                  <a:srgbClr val="FF0000"/>
                </a:solidFill>
              </a:rPr>
              <a:t>i</a:t>
            </a:r>
            <a:r>
              <a:rPr lang="zh-CN" altLang="en-US" dirty="0" smtClean="0">
                <a:solidFill>
                  <a:srgbClr val="FF0000"/>
                </a:solidFill>
              </a:rPr>
              <a:t>中寻找</a:t>
            </a:r>
            <a:r>
              <a:rPr lang="en-US" altLang="zh-CN" dirty="0" smtClean="0">
                <a:solidFill>
                  <a:srgbClr val="FF0000"/>
                </a:solidFill>
              </a:rPr>
              <a:t>X</a:t>
            </a:r>
            <a:r>
              <a:rPr lang="zh-CN" altLang="en-US" dirty="0" smtClean="0">
                <a:solidFill>
                  <a:srgbClr val="FF0000"/>
                </a:solidFill>
              </a:rPr>
              <a:t>可以确定的属性集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until there is no change to W;</a:t>
            </a:r>
          </a:p>
        </p:txBody>
      </p:sp>
    </p:spTree>
    <p:extLst>
      <p:ext uri="{BB962C8B-B14F-4D97-AF65-F5344CB8AC3E}">
        <p14:creationId xmlns:p14="http://schemas.microsoft.com/office/powerpoint/2010/main" val="217903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739775"/>
          </a:xfrm>
        </p:spPr>
        <p:txBody>
          <a:bodyPr/>
          <a:lstStyle/>
          <a:p>
            <a:r>
              <a:rPr lang="zh-CN" altLang="en-US" sz="3600" dirty="0"/>
              <a:t>保持函数依赖分解</a:t>
            </a:r>
            <a:r>
              <a:rPr lang="en-US" altLang="zh-CN" sz="3600" dirty="0" smtClean="0"/>
              <a:t>(5) </a:t>
            </a:r>
            <a:endParaRPr lang="en-US" altLang="zh-CN" sz="3600" dirty="0" smtClean="0">
              <a:ea typeface="宋体" panose="02010600030101010101" pitchFamily="2" charset="-122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5344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示例</a:t>
            </a:r>
            <a:r>
              <a:rPr lang="en-US" altLang="zh-CN" dirty="0" smtClean="0">
                <a:ea typeface="宋体" panose="02010600030101010101" pitchFamily="2" charset="-122"/>
              </a:rPr>
              <a:t>: Suppose R(A, B, C, D),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F = {A          B, B          C, C         D, D        A },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R1(A,B), R2(B,C), R3(C,D).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Is {R1, R2, R3} dependency-preserving?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Since AB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dirty="0" smtClean="0">
                <a:ea typeface="宋体" panose="02010600030101010101" pitchFamily="2" charset="-122"/>
              </a:rPr>
              <a:t> R1, A         B is preserved.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Since BC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dirty="0" smtClean="0">
                <a:ea typeface="宋体" panose="02010600030101010101" pitchFamily="2" charset="-122"/>
              </a:rPr>
              <a:t> R2, B         C is preserved.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Since CD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dirty="0" smtClean="0">
                <a:ea typeface="宋体" panose="02010600030101010101" pitchFamily="2" charset="-122"/>
              </a:rPr>
              <a:t> R3, C         D is preserved.</a:t>
            </a:r>
            <a:r>
              <a:rPr lang="en-US" altLang="zh-CN" b="1" dirty="0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92164" name="Line 4"/>
          <p:cNvSpPr>
            <a:spLocks noChangeShapeType="1"/>
          </p:cNvSpPr>
          <p:nvPr/>
        </p:nvSpPr>
        <p:spPr bwMode="auto">
          <a:xfrm>
            <a:off x="1431203" y="271765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5" name="Line 5"/>
          <p:cNvSpPr>
            <a:spLocks noChangeShapeType="1"/>
          </p:cNvSpPr>
          <p:nvPr/>
        </p:nvSpPr>
        <p:spPr bwMode="auto">
          <a:xfrm>
            <a:off x="2764847" y="271765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6" name="Line 6"/>
          <p:cNvSpPr>
            <a:spLocks noChangeShapeType="1"/>
          </p:cNvSpPr>
          <p:nvPr/>
        </p:nvSpPr>
        <p:spPr bwMode="auto">
          <a:xfrm>
            <a:off x="4098781" y="271765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7" name="Line 7"/>
          <p:cNvSpPr>
            <a:spLocks noChangeShapeType="1"/>
          </p:cNvSpPr>
          <p:nvPr/>
        </p:nvSpPr>
        <p:spPr bwMode="auto">
          <a:xfrm>
            <a:off x="5390862" y="271765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8" name="Line 8"/>
          <p:cNvSpPr>
            <a:spLocks noChangeShapeType="1"/>
          </p:cNvSpPr>
          <p:nvPr/>
        </p:nvSpPr>
        <p:spPr bwMode="auto">
          <a:xfrm>
            <a:off x="2939184" y="424064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9" name="Line 9"/>
          <p:cNvSpPr>
            <a:spLocks noChangeShapeType="1"/>
          </p:cNvSpPr>
          <p:nvPr/>
        </p:nvSpPr>
        <p:spPr bwMode="auto">
          <a:xfrm>
            <a:off x="2939184" y="475456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0" name="Line 10"/>
          <p:cNvSpPr>
            <a:spLocks noChangeShapeType="1"/>
          </p:cNvSpPr>
          <p:nvPr/>
        </p:nvSpPr>
        <p:spPr bwMode="auto">
          <a:xfrm>
            <a:off x="3015384" y="5290561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752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066800"/>
          </a:xfrm>
        </p:spPr>
        <p:txBody>
          <a:bodyPr>
            <a:normAutofit/>
          </a:bodyPr>
          <a:lstStyle/>
          <a:p>
            <a:r>
              <a:rPr lang="zh-CN" altLang="en-US" dirty="0"/>
              <a:t>保持函数依赖分解</a:t>
            </a:r>
            <a:r>
              <a:rPr lang="en-US" altLang="zh-CN" dirty="0" smtClean="0"/>
              <a:t>(6) 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774576"/>
            <a:ext cx="7772400" cy="49530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For D           A, use Algorithm XYGP to compute W.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Initialization</a:t>
            </a:r>
            <a:r>
              <a:rPr lang="en-US" altLang="zh-CN" dirty="0" smtClean="0">
                <a:ea typeface="宋体" panose="02010600030101010101" pitchFamily="2" charset="-122"/>
              </a:rPr>
              <a:t>: W = D;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first iteration</a:t>
            </a:r>
            <a:r>
              <a:rPr lang="en-US" altLang="zh-CN" dirty="0" smtClean="0">
                <a:ea typeface="宋体" panose="02010600030101010101" pitchFamily="2" charset="-122"/>
              </a:rPr>
              <a:t>: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W = D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dirty="0" smtClean="0">
                <a:ea typeface="宋体" panose="02010600030101010101" pitchFamily="2" charset="-122"/>
              </a:rPr>
              <a:t>((D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 smtClean="0">
                <a:ea typeface="宋体" panose="02010600030101010101" pitchFamily="2" charset="-122"/>
              </a:rPr>
              <a:t> AB)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 smtClean="0">
                <a:ea typeface="宋体" panose="02010600030101010101" pitchFamily="2" charset="-122"/>
              </a:rPr>
              <a:t> AB) = D;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W = D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dirty="0" smtClean="0">
                <a:ea typeface="宋体" panose="02010600030101010101" pitchFamily="2" charset="-122"/>
              </a:rPr>
              <a:t>((D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 smtClean="0">
                <a:ea typeface="宋体" panose="02010600030101010101" pitchFamily="2" charset="-122"/>
              </a:rPr>
              <a:t> BC)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 smtClean="0">
                <a:ea typeface="宋体" panose="02010600030101010101" pitchFamily="2" charset="-122"/>
              </a:rPr>
              <a:t> BC) = D;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W = D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dirty="0" smtClean="0">
                <a:ea typeface="宋体" panose="02010600030101010101" pitchFamily="2" charset="-122"/>
              </a:rPr>
              <a:t>((D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 smtClean="0">
                <a:ea typeface="宋体" panose="02010600030101010101" pitchFamily="2" charset="-122"/>
              </a:rPr>
              <a:t> CD)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 smtClean="0">
                <a:ea typeface="宋体" panose="02010600030101010101" pitchFamily="2" charset="-122"/>
              </a:rPr>
              <a:t> CD)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= D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dirty="0" smtClean="0">
                <a:ea typeface="宋体" panose="02010600030101010101" pitchFamily="2" charset="-122"/>
              </a:rPr>
              <a:t> (D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 smtClean="0">
                <a:ea typeface="宋体" panose="02010600030101010101" pitchFamily="2" charset="-122"/>
              </a:rPr>
              <a:t> CD)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= D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dirty="0" smtClean="0">
                <a:ea typeface="宋体" panose="02010600030101010101" pitchFamily="2" charset="-122"/>
              </a:rPr>
              <a:t>(ABCD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 smtClean="0">
                <a:ea typeface="宋体" panose="02010600030101010101" pitchFamily="2" charset="-122"/>
              </a:rPr>
              <a:t> CD) = CD;</a:t>
            </a:r>
            <a:endParaRPr lang="en-US" altLang="zh-CN" sz="3600" b="1" dirty="0" smtClean="0">
              <a:ea typeface="宋体" panose="02010600030101010101" pitchFamily="2" charset="-122"/>
            </a:endParaRPr>
          </a:p>
        </p:txBody>
      </p:sp>
      <p:sp>
        <p:nvSpPr>
          <p:cNvPr id="93188" name="Line 4"/>
          <p:cNvSpPr>
            <a:spLocks noChangeShapeType="1"/>
          </p:cNvSpPr>
          <p:nvPr/>
        </p:nvSpPr>
        <p:spPr bwMode="auto">
          <a:xfrm>
            <a:off x="1682104" y="3060429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685799" y="1419922"/>
            <a:ext cx="68983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dirty="0"/>
              <a:t>示例</a:t>
            </a:r>
            <a:r>
              <a:rPr lang="en-US" altLang="zh-CN" sz="2400" dirty="0"/>
              <a:t>: Suppose R(A, B, C, D),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/>
              <a:t>F = {A          B, B          C, C         D, D        A },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/>
              <a:t>R1(A,B), R2(B,C), R3(C,D). </a:t>
            </a:r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1502921" y="2018409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2632474" y="2018409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3762026" y="2018409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4864686" y="201079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630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1336"/>
            <a:ext cx="9144000" cy="811213"/>
          </a:xfrm>
        </p:spPr>
        <p:txBody>
          <a:bodyPr/>
          <a:lstStyle/>
          <a:p>
            <a:r>
              <a:rPr lang="zh-CN" altLang="en-US" sz="3200" dirty="0"/>
              <a:t>保持函数依赖分解</a:t>
            </a:r>
            <a:r>
              <a:rPr lang="en-US" altLang="zh-CN" sz="3200" dirty="0" smtClean="0"/>
              <a:t>(7) </a:t>
            </a:r>
            <a:endParaRPr lang="en-US" altLang="zh-CN" sz="2400" b="1" dirty="0" smtClean="0">
              <a:ea typeface="宋体" panose="02010600030101010101" pitchFamily="2" charset="-122"/>
            </a:endParaRP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0765" y="1112549"/>
            <a:ext cx="7715250" cy="3900487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second iteration: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W = CD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dirty="0" smtClean="0">
                <a:ea typeface="宋体" panose="02010600030101010101" pitchFamily="2" charset="-122"/>
              </a:rPr>
              <a:t>((CD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 smtClean="0">
                <a:ea typeface="宋体" panose="02010600030101010101" pitchFamily="2" charset="-122"/>
              </a:rPr>
              <a:t> AB)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 smtClean="0">
                <a:ea typeface="宋体" panose="02010600030101010101" pitchFamily="2" charset="-122"/>
              </a:rPr>
              <a:t> AB) = CD;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W = CD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dirty="0" smtClean="0">
                <a:ea typeface="宋体" panose="02010600030101010101" pitchFamily="2" charset="-122"/>
              </a:rPr>
              <a:t> ((CD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 smtClean="0">
                <a:ea typeface="宋体" panose="02010600030101010101" pitchFamily="2" charset="-122"/>
              </a:rPr>
              <a:t> BC)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 smtClean="0">
                <a:ea typeface="宋体" panose="02010600030101010101" pitchFamily="2" charset="-122"/>
              </a:rPr>
              <a:t> BC)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= CD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dirty="0" smtClean="0">
                <a:ea typeface="宋体" panose="02010600030101010101" pitchFamily="2" charset="-122"/>
              </a:rPr>
              <a:t> (C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 smtClean="0">
                <a:ea typeface="宋体" panose="02010600030101010101" pitchFamily="2" charset="-122"/>
              </a:rPr>
              <a:t> BC) = BCD;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W = BCD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dirty="0" smtClean="0">
                <a:ea typeface="宋体" panose="02010600030101010101" pitchFamily="2" charset="-122"/>
              </a:rPr>
              <a:t> ((BCD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 smtClean="0">
                <a:ea typeface="宋体" panose="02010600030101010101" pitchFamily="2" charset="-122"/>
              </a:rPr>
              <a:t> CD)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 smtClean="0">
                <a:ea typeface="宋体" panose="02010600030101010101" pitchFamily="2" charset="-122"/>
              </a:rPr>
              <a:t> CD)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= BCD; 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0" y="4350111"/>
            <a:ext cx="9297699" cy="3900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third iteration: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W = BCD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dirty="0" smtClean="0">
                <a:ea typeface="宋体" panose="02010600030101010101" pitchFamily="2" charset="-122"/>
              </a:rPr>
              <a:t> ((BCD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 smtClean="0">
                <a:ea typeface="宋体" panose="02010600030101010101" pitchFamily="2" charset="-122"/>
              </a:rPr>
              <a:t> AB)</a:t>
            </a:r>
            <a:r>
              <a:rPr lang="en-US" altLang="zh-CN" baseline="30000" dirty="0" smtClean="0">
                <a:ea typeface="宋体" panose="02010600030101010101" pitchFamily="2" charset="-122"/>
              </a:rPr>
              <a:t>+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 smtClean="0">
                <a:ea typeface="宋体" panose="02010600030101010101" pitchFamily="2" charset="-122"/>
              </a:rPr>
              <a:t> AB)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= ABCD;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Since A </a:t>
            </a:r>
            <a:r>
              <a:rPr lang="en-US" altLang="zh-CN" dirty="0" smtClean="0">
                <a:ea typeface="宋体" panose="02010600030101010101" pitchFamily="2" charset="-122"/>
                <a:sym typeface="Symbol" panose="05050102010706020507" pitchFamily="18" charset="2"/>
              </a:rPr>
              <a:t> </a:t>
            </a:r>
            <a:r>
              <a:rPr lang="en-US" altLang="zh-CN" dirty="0" smtClean="0">
                <a:ea typeface="宋体" panose="02010600030101010101" pitchFamily="2" charset="-122"/>
              </a:rPr>
              <a:t>W, D         A is also preserved.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Hence, {R1, R2, R3} is a dependency-preserving decomposition.</a:t>
            </a: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2305338" y="613410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06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" y="138113"/>
            <a:ext cx="7343775" cy="846137"/>
          </a:xfrm>
        </p:spPr>
        <p:txBody>
          <a:bodyPr/>
          <a:lstStyle/>
          <a:p>
            <a:r>
              <a:rPr lang="en-US" altLang="zh-CN" sz="4000" smtClean="0">
                <a:latin typeface="Victorian LET"/>
                <a:ea typeface="宋体" panose="02010600030101010101" pitchFamily="2" charset="-122"/>
              </a:rPr>
              <a:t>Example 1: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" y="1652588"/>
            <a:ext cx="8785225" cy="4406900"/>
          </a:xfrm>
        </p:spPr>
        <p:txBody>
          <a:bodyPr/>
          <a:lstStyle/>
          <a:p>
            <a:pPr marL="549275" indent="-549275" defTabSz="823913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Let Relation Schema 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R = (A, B, C, D, E)</a:t>
            </a:r>
          </a:p>
          <a:p>
            <a:pPr marL="549275" indent="-549275" defTabSz="823913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Let F = {A-&gt;BC, CD-&gt;E, B-&gt;D, E-&gt;A}</a:t>
            </a:r>
          </a:p>
          <a:p>
            <a:pPr marL="549275" indent="-549275" defTabSz="823913">
              <a:lnSpc>
                <a:spcPct val="90000"/>
              </a:lnSpc>
              <a:buFont typeface="Wingdings" panose="05000000000000000000" pitchFamily="2" charset="2"/>
              <a:buAutoNum type="arabicParenR"/>
            </a:pP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Let R be decomposed into R</a:t>
            </a:r>
            <a:r>
              <a:rPr lang="en-US" altLang="zh-CN" i="1" baseline="-250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1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= (A, B, C) and   R</a:t>
            </a:r>
            <a:r>
              <a:rPr lang="en-US" altLang="zh-CN" i="1" baseline="-250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2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= (A, D, E)</a:t>
            </a:r>
          </a:p>
          <a:p>
            <a:pPr marL="885825" lvl="1" indent="-481013" defTabSz="823913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Is it a lossless-join decomposition? </a:t>
            </a:r>
          </a:p>
          <a:p>
            <a:pPr marL="885825" lvl="1" indent="-481013" defTabSz="823913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Is it a dependency-preserving decomposition?  </a:t>
            </a:r>
          </a:p>
          <a:p>
            <a:pPr marL="549275" indent="-549275" defTabSz="823913">
              <a:lnSpc>
                <a:spcPct val="90000"/>
              </a:lnSpc>
              <a:buFont typeface="Wingdings" panose="05000000000000000000" pitchFamily="2" charset="2"/>
              <a:buAutoNum type="arabicParenR"/>
            </a:pP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If R</a:t>
            </a:r>
            <a:r>
              <a:rPr lang="en-US" altLang="zh-CN" i="1" baseline="-250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a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= (A, B, C) </a:t>
            </a:r>
            <a:r>
              <a:rPr lang="en-US" altLang="zh-CN" i="1" dirty="0" err="1" smtClean="0">
                <a:latin typeface="Book Antiqua" panose="02040602050305030304" pitchFamily="18" charset="0"/>
                <a:ea typeface="宋体" panose="02010600030101010101" pitchFamily="2" charset="-122"/>
              </a:rPr>
              <a:t>R</a:t>
            </a:r>
            <a:r>
              <a:rPr lang="en-US" altLang="zh-CN" i="1" baseline="-25000" dirty="0" err="1" smtClean="0">
                <a:latin typeface="Book Antiqua" panose="02040602050305030304" pitchFamily="18" charset="0"/>
                <a:ea typeface="宋体" panose="02010600030101010101" pitchFamily="2" charset="-122"/>
              </a:rPr>
              <a:t>b</a:t>
            </a:r>
            <a:r>
              <a:rPr lang="en-US" altLang="zh-CN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= (C, D, E)</a:t>
            </a:r>
          </a:p>
          <a:p>
            <a:pPr marL="885825" lvl="1" indent="-481013" defTabSz="823913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Is it a lossless-join decomposition? </a:t>
            </a:r>
          </a:p>
          <a:p>
            <a:pPr marL="885825" lvl="1" indent="-481013" defTabSz="823913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Is it a dependency-preserving decomposition?</a:t>
            </a:r>
          </a:p>
        </p:txBody>
      </p:sp>
    </p:spTree>
    <p:extLst>
      <p:ext uri="{BB962C8B-B14F-4D97-AF65-F5344CB8AC3E}">
        <p14:creationId xmlns:p14="http://schemas.microsoft.com/office/powerpoint/2010/main" val="10018240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" y="138113"/>
            <a:ext cx="7343775" cy="846137"/>
          </a:xfrm>
        </p:spPr>
        <p:txBody>
          <a:bodyPr/>
          <a:lstStyle/>
          <a:p>
            <a:r>
              <a:rPr lang="en-US" altLang="zh-CN" sz="4000" smtClean="0">
                <a:latin typeface="Victorian LET"/>
                <a:ea typeface="宋体" panose="02010600030101010101" pitchFamily="2" charset="-122"/>
              </a:rPr>
              <a:t>Example 1: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7800" y="1652587"/>
            <a:ext cx="8415338" cy="4800167"/>
          </a:xfrm>
        </p:spPr>
        <p:txBody>
          <a:bodyPr>
            <a:normAutofit/>
          </a:bodyPr>
          <a:lstStyle/>
          <a:p>
            <a:pPr marL="549275" indent="-549275" defTabSz="823913">
              <a:buFont typeface="Wingdings" panose="05000000000000000000" pitchFamily="2" charset="2"/>
              <a:buNone/>
            </a:pPr>
            <a:r>
              <a:rPr lang="en-US" altLang="zh-CN" sz="24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Let R = (A, B, C, D, E)  and  F = {A-&gt;BC, CD-&gt;E, B-&gt;D, E-&gt;A}</a:t>
            </a:r>
          </a:p>
          <a:p>
            <a:pPr marL="549275" indent="-549275" defTabSz="823913">
              <a:buClr>
                <a:srgbClr val="99CCFF"/>
              </a:buClr>
              <a:buFont typeface="Wingdings" panose="05000000000000000000" pitchFamily="2" charset="2"/>
              <a:buNone/>
            </a:pP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Let R be decomposed into R</a:t>
            </a:r>
            <a:r>
              <a:rPr lang="en-US" altLang="zh-CN" sz="2500" i="1" baseline="-250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= (A, B, C) and R</a:t>
            </a:r>
            <a:r>
              <a:rPr lang="en-US" altLang="zh-CN" sz="2500" i="1" baseline="-250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= (A, D, E)</a:t>
            </a:r>
          </a:p>
          <a:p>
            <a:pPr marL="549275" indent="-549275" defTabSz="823913">
              <a:spcBef>
                <a:spcPct val="0"/>
              </a:spcBef>
              <a:buClr>
                <a:srgbClr val="99CCFF"/>
              </a:buClr>
            </a:pP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Is it a lossless-join decomposition? </a:t>
            </a:r>
          </a:p>
          <a:p>
            <a:pPr marL="549275" indent="-549275" defTabSz="823913">
              <a:spcBef>
                <a:spcPct val="0"/>
              </a:spcBef>
              <a:buClr>
                <a:srgbClr val="99CCFF"/>
              </a:buClr>
            </a:pPr>
            <a:endParaRPr lang="en-US" altLang="zh-CN" sz="2500" dirty="0" smtClean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spcBef>
                <a:spcPct val="0"/>
              </a:spcBef>
              <a:buClr>
                <a:srgbClr val="99CCFF"/>
              </a:buClr>
            </a:pPr>
            <a:endParaRPr lang="en-US" altLang="zh-CN" sz="2500" dirty="0" smtClean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spcBef>
                <a:spcPct val="0"/>
              </a:spcBef>
              <a:buClr>
                <a:srgbClr val="99CCFF"/>
              </a:buClr>
            </a:pPr>
            <a:r>
              <a:rPr lang="en-US" altLang="zh-CN" sz="2500" i="1" dirty="0" smtClean="0">
                <a:latin typeface="Book Antiqua" panose="02040602050305030304" pitchFamily="18" charset="0"/>
              </a:rPr>
              <a:t>   R</a:t>
            </a:r>
            <a:r>
              <a:rPr lang="en-US" altLang="zh-CN" sz="2500" i="1" baseline="-25000" dirty="0" smtClean="0">
                <a:latin typeface="Book Antiqua" panose="02040602050305030304" pitchFamily="18" charset="0"/>
              </a:rPr>
              <a:t>1 </a:t>
            </a:r>
            <a:r>
              <a:rPr lang="en-US" altLang="zh-CN" sz="2500" dirty="0" smtClean="0">
                <a:latin typeface="Book Antiqua" panose="02040602050305030304" pitchFamily="18" charset="0"/>
              </a:rPr>
              <a:t>–</a:t>
            </a:r>
            <a:r>
              <a:rPr lang="en-US" altLang="zh-CN" sz="2500" i="1" dirty="0" smtClean="0">
                <a:latin typeface="Book Antiqua" panose="02040602050305030304" pitchFamily="18" charset="0"/>
              </a:rPr>
              <a:t> R</a:t>
            </a:r>
            <a:r>
              <a:rPr lang="en-US" altLang="zh-CN" sz="2500" i="1" baseline="-25000" dirty="0" smtClean="0">
                <a:latin typeface="Book Antiqua" panose="02040602050305030304" pitchFamily="18" charset="0"/>
              </a:rPr>
              <a:t>2 </a:t>
            </a:r>
            <a:r>
              <a:rPr lang="en-US" altLang="zh-CN" sz="2500" dirty="0" smtClean="0">
                <a:latin typeface="Book Antiqua" panose="02040602050305030304" pitchFamily="18" charset="0"/>
              </a:rPr>
              <a:t>=</a:t>
            </a:r>
            <a:r>
              <a:rPr lang="en-US" altLang="zh-CN" sz="2500" dirty="0">
                <a:latin typeface="Book Antiqua" panose="02040602050305030304" pitchFamily="18" charset="0"/>
              </a:rPr>
              <a:t> </a:t>
            </a:r>
            <a:r>
              <a:rPr lang="en-US" altLang="zh-CN" sz="2500" dirty="0" smtClean="0">
                <a:latin typeface="Book Antiqua" panose="02040602050305030304" pitchFamily="18" charset="0"/>
              </a:rPr>
              <a:t>{</a:t>
            </a:r>
            <a:r>
              <a:rPr lang="en-US" altLang="zh-CN" sz="2500" i="1" dirty="0" smtClean="0">
                <a:latin typeface="Book Antiqua" panose="02040602050305030304" pitchFamily="18" charset="0"/>
              </a:rPr>
              <a:t>B</a:t>
            </a:r>
            <a:r>
              <a:rPr lang="zh-CN" altLang="en-US" sz="2500" i="1" dirty="0" smtClean="0">
                <a:latin typeface="Book Antiqua" panose="02040602050305030304" pitchFamily="18" charset="0"/>
              </a:rPr>
              <a:t>，</a:t>
            </a:r>
            <a:r>
              <a:rPr lang="en-US" altLang="zh-CN" sz="2500" i="1" dirty="0" smtClean="0">
                <a:latin typeface="Book Antiqua" panose="02040602050305030304" pitchFamily="18" charset="0"/>
              </a:rPr>
              <a:t>C</a:t>
            </a:r>
            <a:r>
              <a:rPr lang="en-US" altLang="zh-CN" sz="2500" dirty="0" smtClean="0">
                <a:latin typeface="Book Antiqua" panose="02040602050305030304" pitchFamily="18" charset="0"/>
              </a:rPr>
              <a:t>} </a:t>
            </a:r>
          </a:p>
          <a:p>
            <a:pPr marL="549275" indent="-549275" defTabSz="823913">
              <a:spcBef>
                <a:spcPct val="0"/>
              </a:spcBef>
              <a:buClr>
                <a:srgbClr val="99CCFF"/>
              </a:buClr>
            </a:pPr>
            <a:endParaRPr lang="en-US" altLang="zh-CN" sz="2500" dirty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spcBef>
                <a:spcPct val="0"/>
              </a:spcBef>
              <a:buClr>
                <a:srgbClr val="99CCFF"/>
              </a:buClr>
            </a:pP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{</a:t>
            </a: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} is </a:t>
            </a:r>
            <a:r>
              <a:rPr lang="en-US" altLang="zh-CN" sz="2500" dirty="0" err="1" smtClean="0">
                <a:latin typeface="Book Antiqua" panose="02040602050305030304" pitchFamily="18" charset="0"/>
                <a:ea typeface="宋体" panose="02010600030101010101" pitchFamily="2" charset="-122"/>
              </a:rPr>
              <a:t>superkey</a:t>
            </a: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 of</a:t>
            </a: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 R</a:t>
            </a:r>
            <a:r>
              <a:rPr lang="en-US" altLang="zh-CN" sz="2500" i="1" baseline="-250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400" i="1" dirty="0">
                <a:latin typeface="Book Antiqua" panose="02040602050305030304" pitchFamily="18" charset="0"/>
              </a:rPr>
              <a:t>A-&gt;BC </a:t>
            </a: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so lossless-join</a:t>
            </a:r>
          </a:p>
          <a:p>
            <a:pPr marL="549275" indent="-549275" defTabSz="823913">
              <a:buClr>
                <a:srgbClr val="99CCFF"/>
              </a:buClr>
            </a:pP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Is it a dependency-preserving decomposition?</a:t>
            </a:r>
          </a:p>
          <a:p>
            <a:pPr marL="549275" indent="-549275" defTabSz="823913">
              <a:buClr>
                <a:srgbClr val="99CCFF"/>
              </a:buClr>
            </a:pP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NO  </a:t>
            </a:r>
          </a:p>
          <a:p>
            <a:pPr marL="549275" indent="-549275" defTabSz="823913">
              <a:buClr>
                <a:srgbClr val="99CCFF"/>
              </a:buClr>
              <a:buFont typeface="Wingdings" panose="05000000000000000000" pitchFamily="2" charset="2"/>
              <a:buNone/>
            </a:pP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	</a:t>
            </a:r>
          </a:p>
        </p:txBody>
      </p:sp>
      <p:graphicFrame>
        <p:nvGraphicFramePr>
          <p:cNvPr id="61444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971550" y="3068638"/>
          <a:ext cx="188118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" name="Equation" r:id="rId3" imgW="850531" imgH="203112" progId="Equation.3">
                  <p:embed/>
                </p:oleObj>
              </mc:Choice>
              <mc:Fallback>
                <p:oleObj name="Equation" r:id="rId3" imgW="850531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068638"/>
                        <a:ext cx="1881188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7038766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1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" y="138113"/>
            <a:ext cx="7343775" cy="846137"/>
          </a:xfrm>
        </p:spPr>
        <p:txBody>
          <a:bodyPr/>
          <a:lstStyle/>
          <a:p>
            <a:r>
              <a:rPr lang="en-US" altLang="zh-CN" sz="4000" smtClean="0">
                <a:latin typeface="Victorian LET"/>
                <a:ea typeface="宋体" panose="02010600030101010101" pitchFamily="2" charset="-122"/>
              </a:rPr>
              <a:t>Example 1: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7800" y="1652588"/>
            <a:ext cx="8415338" cy="4248150"/>
          </a:xfrm>
        </p:spPr>
        <p:txBody>
          <a:bodyPr/>
          <a:lstStyle/>
          <a:p>
            <a:pPr marL="549275" indent="-549275" defTabSz="823913">
              <a:buFont typeface="Wingdings" panose="05000000000000000000" pitchFamily="2" charset="2"/>
              <a:buNone/>
            </a:pP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R = (A, B, C, D, E)    F = {A-&gt;BC, CD-&gt;E, B-&gt;D, E-&gt;A}</a:t>
            </a:r>
          </a:p>
          <a:p>
            <a:pPr marL="549275" indent="-549275" defTabSz="823913">
              <a:buClr>
                <a:srgbClr val="99CCFF"/>
              </a:buClr>
              <a:buFont typeface="Wingdings" panose="05000000000000000000" pitchFamily="2" charset="2"/>
              <a:buNone/>
            </a:pP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500" i="1" baseline="-250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= (A, B, C) </a:t>
            </a:r>
            <a:r>
              <a:rPr lang="en-US" altLang="zh-CN" sz="2500" i="1" dirty="0" err="1" smtClean="0">
                <a:latin typeface="Book Antiqua" panose="0204060205030503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500" i="1" baseline="-25000" dirty="0" err="1" smtClean="0">
                <a:latin typeface="Book Antiqua" panose="0204060205030503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= (C, D, E)</a:t>
            </a:r>
          </a:p>
          <a:p>
            <a:pPr marL="549275" indent="-549275" defTabSz="823913">
              <a:spcBef>
                <a:spcPct val="0"/>
              </a:spcBef>
              <a:buClr>
                <a:srgbClr val="99CCFF"/>
              </a:buClr>
            </a:pP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Is it a lossless-join decomposition? </a:t>
            </a:r>
          </a:p>
          <a:p>
            <a:pPr marL="549275" indent="-549275" defTabSz="823913">
              <a:spcBef>
                <a:spcPct val="0"/>
              </a:spcBef>
              <a:buNone/>
            </a:pP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	</a:t>
            </a:r>
            <a:r>
              <a:rPr lang="en-US" altLang="zh-CN" sz="2500" i="1" dirty="0" smtClean="0">
                <a:latin typeface="Book Antiqua" panose="02040602050305030304" pitchFamily="18" charset="0"/>
              </a:rPr>
              <a:t>R</a:t>
            </a:r>
            <a:r>
              <a:rPr lang="en-US" altLang="zh-CN" sz="2500" i="1" baseline="-25000" dirty="0" smtClean="0">
                <a:latin typeface="Book Antiqua" panose="02040602050305030304" pitchFamily="18" charset="0"/>
              </a:rPr>
              <a:t>a </a:t>
            </a:r>
            <a:r>
              <a:rPr lang="en-US" altLang="zh-CN" sz="2500" dirty="0">
                <a:latin typeface="Book Antiqua" panose="02040602050305030304" pitchFamily="18" charset="0"/>
              </a:rPr>
              <a:t>–</a:t>
            </a:r>
            <a:r>
              <a:rPr lang="en-US" altLang="zh-CN" sz="2500" i="1" dirty="0">
                <a:latin typeface="Book Antiqua" panose="02040602050305030304" pitchFamily="18" charset="0"/>
              </a:rPr>
              <a:t> </a:t>
            </a:r>
            <a:r>
              <a:rPr lang="en-US" altLang="zh-CN" sz="2500" i="1" dirty="0" err="1" smtClean="0">
                <a:latin typeface="Book Antiqua" panose="02040602050305030304" pitchFamily="18" charset="0"/>
              </a:rPr>
              <a:t>R</a:t>
            </a:r>
            <a:r>
              <a:rPr lang="en-US" altLang="zh-CN" sz="2500" i="1" baseline="-25000" dirty="0" err="1" smtClean="0">
                <a:latin typeface="Book Antiqua" panose="02040602050305030304" pitchFamily="18" charset="0"/>
              </a:rPr>
              <a:t>b</a:t>
            </a:r>
            <a:r>
              <a:rPr lang="en-US" altLang="zh-CN" sz="2500" i="1" baseline="-25000" dirty="0" smtClean="0">
                <a:latin typeface="Book Antiqua" panose="02040602050305030304" pitchFamily="18" charset="0"/>
              </a:rPr>
              <a:t> </a:t>
            </a:r>
            <a:r>
              <a:rPr lang="en-US" altLang="zh-CN" sz="2500" dirty="0">
                <a:latin typeface="Book Antiqua" panose="02040602050305030304" pitchFamily="18" charset="0"/>
              </a:rPr>
              <a:t>= </a:t>
            </a:r>
            <a:r>
              <a:rPr lang="en-US" altLang="zh-CN" sz="2500" dirty="0" smtClean="0">
                <a:latin typeface="Book Antiqua" panose="02040602050305030304" pitchFamily="18" charset="0"/>
              </a:rPr>
              <a:t>{</a:t>
            </a:r>
            <a:r>
              <a:rPr lang="en-US" altLang="zh-CN" sz="2500" i="1" dirty="0" smtClean="0">
                <a:latin typeface="Book Antiqua" panose="02040602050305030304" pitchFamily="18" charset="0"/>
              </a:rPr>
              <a:t>A</a:t>
            </a:r>
            <a:r>
              <a:rPr lang="zh-CN" altLang="en-US" sz="2500" i="1" dirty="0" smtClean="0">
                <a:latin typeface="Book Antiqua" panose="02040602050305030304" pitchFamily="18" charset="0"/>
              </a:rPr>
              <a:t>，</a:t>
            </a:r>
            <a:r>
              <a:rPr lang="en-US" altLang="zh-CN" sz="2500" i="1" dirty="0" smtClean="0">
                <a:latin typeface="Book Antiqua" panose="02040602050305030304" pitchFamily="18" charset="0"/>
              </a:rPr>
              <a:t>B</a:t>
            </a:r>
            <a:r>
              <a:rPr lang="en-US" altLang="zh-CN" sz="2500" dirty="0" smtClean="0">
                <a:latin typeface="Book Antiqua" panose="02040602050305030304" pitchFamily="18" charset="0"/>
              </a:rPr>
              <a:t>} </a:t>
            </a:r>
          </a:p>
          <a:p>
            <a:pPr marL="549275" indent="-549275" defTabSz="823913">
              <a:spcBef>
                <a:spcPct val="0"/>
              </a:spcBef>
              <a:buNone/>
            </a:pPr>
            <a:r>
              <a:rPr lang="en-US" altLang="zh-CN" sz="2500" i="1" dirty="0" smtClean="0">
                <a:latin typeface="Book Antiqua" panose="02040602050305030304" pitchFamily="18" charset="0"/>
              </a:rPr>
              <a:t>       </a:t>
            </a:r>
            <a:r>
              <a:rPr lang="en-US" altLang="zh-CN" sz="2500" i="1" dirty="0" err="1" smtClean="0">
                <a:latin typeface="Book Antiqua" panose="02040602050305030304" pitchFamily="18" charset="0"/>
              </a:rPr>
              <a:t>R</a:t>
            </a:r>
            <a:r>
              <a:rPr lang="en-US" altLang="zh-CN" sz="2500" i="1" baseline="-25000" dirty="0" err="1" smtClean="0">
                <a:latin typeface="Book Antiqua" panose="02040602050305030304" pitchFamily="18" charset="0"/>
              </a:rPr>
              <a:t>b</a:t>
            </a:r>
            <a:r>
              <a:rPr lang="en-US" altLang="zh-CN" sz="2500" i="1" baseline="-25000" dirty="0" smtClean="0">
                <a:latin typeface="Book Antiqua" panose="02040602050305030304" pitchFamily="18" charset="0"/>
              </a:rPr>
              <a:t> </a:t>
            </a:r>
            <a:r>
              <a:rPr lang="en-US" altLang="zh-CN" sz="2500" dirty="0">
                <a:latin typeface="Book Antiqua" panose="02040602050305030304" pitchFamily="18" charset="0"/>
              </a:rPr>
              <a:t>–</a:t>
            </a:r>
            <a:r>
              <a:rPr lang="en-US" altLang="zh-CN" sz="2500" i="1" dirty="0">
                <a:latin typeface="Book Antiqua" panose="02040602050305030304" pitchFamily="18" charset="0"/>
              </a:rPr>
              <a:t> </a:t>
            </a:r>
            <a:r>
              <a:rPr lang="en-US" altLang="zh-CN" sz="2500" i="1" dirty="0" smtClean="0">
                <a:latin typeface="Book Antiqua" panose="02040602050305030304" pitchFamily="18" charset="0"/>
              </a:rPr>
              <a:t>R</a:t>
            </a:r>
            <a:r>
              <a:rPr lang="en-US" altLang="zh-CN" sz="2500" i="1" baseline="-25000" dirty="0" smtClean="0">
                <a:latin typeface="Book Antiqua" panose="02040602050305030304" pitchFamily="18" charset="0"/>
              </a:rPr>
              <a:t>a </a:t>
            </a:r>
            <a:r>
              <a:rPr lang="en-US" altLang="zh-CN" sz="2500" dirty="0">
                <a:latin typeface="Book Antiqua" panose="02040602050305030304" pitchFamily="18" charset="0"/>
              </a:rPr>
              <a:t>= </a:t>
            </a:r>
            <a:r>
              <a:rPr lang="en-US" altLang="zh-CN" sz="2500" dirty="0" smtClean="0">
                <a:latin typeface="Book Antiqua" panose="02040602050305030304" pitchFamily="18" charset="0"/>
              </a:rPr>
              <a:t>{</a:t>
            </a:r>
            <a:r>
              <a:rPr lang="en-US" altLang="zh-CN" sz="2500" i="1" dirty="0" smtClean="0">
                <a:latin typeface="Book Antiqua" panose="02040602050305030304" pitchFamily="18" charset="0"/>
              </a:rPr>
              <a:t>D</a:t>
            </a:r>
            <a:r>
              <a:rPr lang="zh-CN" altLang="en-US" sz="2500" i="1" dirty="0" smtClean="0">
                <a:latin typeface="Book Antiqua" panose="02040602050305030304" pitchFamily="18" charset="0"/>
              </a:rPr>
              <a:t>，</a:t>
            </a:r>
            <a:r>
              <a:rPr lang="en-US" altLang="zh-CN" sz="2500" i="1" dirty="0" smtClean="0">
                <a:latin typeface="Book Antiqua" panose="02040602050305030304" pitchFamily="18" charset="0"/>
              </a:rPr>
              <a:t>E</a:t>
            </a:r>
            <a:r>
              <a:rPr lang="en-US" altLang="zh-CN" sz="2500" dirty="0" smtClean="0">
                <a:latin typeface="Book Antiqua" panose="02040602050305030304" pitchFamily="18" charset="0"/>
              </a:rPr>
              <a:t>} </a:t>
            </a:r>
            <a:endParaRPr lang="en-US" altLang="zh-CN" sz="2500" dirty="0" smtClean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500" dirty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{</a:t>
            </a: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} is not </a:t>
            </a:r>
            <a:r>
              <a:rPr lang="en-US" altLang="zh-CN" sz="2500" dirty="0" err="1" smtClean="0">
                <a:latin typeface="Book Antiqua" panose="02040602050305030304" pitchFamily="18" charset="0"/>
                <a:ea typeface="宋体" panose="02010600030101010101" pitchFamily="2" charset="-122"/>
              </a:rPr>
              <a:t>superkey</a:t>
            </a: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 of </a:t>
            </a: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500" i="1" baseline="-250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a </a:t>
            </a: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and </a:t>
            </a:r>
            <a:r>
              <a:rPr lang="en-US" altLang="zh-CN" sz="2500" i="1" dirty="0" err="1" smtClean="0">
                <a:latin typeface="Book Antiqua" panose="0204060205030503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500" i="1" baseline="-25000" dirty="0" err="1" smtClean="0">
                <a:latin typeface="Book Antiqua" panose="0204060205030503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, so </a:t>
            </a:r>
            <a:r>
              <a:rPr lang="en-US" altLang="zh-CN" sz="2500" dirty="0" err="1" smtClean="0">
                <a:latin typeface="Book Antiqua" panose="02040602050305030304" pitchFamily="18" charset="0"/>
                <a:ea typeface="宋体" panose="02010600030101010101" pitchFamily="2" charset="-122"/>
              </a:rPr>
              <a:t>lossy</a:t>
            </a: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-join</a:t>
            </a:r>
          </a:p>
          <a:p>
            <a:pPr marL="549275" indent="-549275" defTabSz="823913">
              <a:buClr>
                <a:srgbClr val="99CCFF"/>
              </a:buClr>
            </a:pP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Is it a dependency-preserving decomposition? </a:t>
            </a:r>
          </a:p>
          <a:p>
            <a:pPr marL="549275" indent="-549275" defTabSz="823913">
              <a:buClr>
                <a:srgbClr val="99CCFF"/>
              </a:buClr>
            </a:pP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No	</a:t>
            </a:r>
          </a:p>
        </p:txBody>
      </p:sp>
      <p:graphicFrame>
        <p:nvGraphicFramePr>
          <p:cNvPr id="68612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610225" y="2520950"/>
          <a:ext cx="18811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" name="公式" r:id="rId3" imgW="863225" imgH="203112" progId="Equation.3">
                  <p:embed/>
                </p:oleObj>
              </mc:Choice>
              <mc:Fallback>
                <p:oleObj name="公式" r:id="rId3" imgW="86322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0225" y="2520950"/>
                        <a:ext cx="188118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8342538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" y="138113"/>
            <a:ext cx="7343775" cy="846137"/>
          </a:xfrm>
        </p:spPr>
        <p:txBody>
          <a:bodyPr/>
          <a:lstStyle/>
          <a:p>
            <a:r>
              <a:rPr lang="zh-CN" altLang="en-US" sz="4000" dirty="0" smtClean="0">
                <a:latin typeface="Victorian LET"/>
                <a:ea typeface="宋体" panose="02010600030101010101" pitchFamily="2" charset="-122"/>
              </a:rPr>
              <a:t>重点难点</a:t>
            </a:r>
            <a:endParaRPr lang="en-US" altLang="zh-CN" sz="4000" dirty="0" smtClean="0">
              <a:latin typeface="Victorian LET"/>
              <a:ea typeface="宋体" panose="02010600030101010101" pitchFamily="2" charset="-122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7800" y="1652587"/>
            <a:ext cx="8415338" cy="4822103"/>
          </a:xfrm>
        </p:spPr>
        <p:txBody>
          <a:bodyPr/>
          <a:lstStyle/>
          <a:p>
            <a:pPr marL="549275" indent="-549275" defTabSz="823913">
              <a:buAutoNum type="arabicPeriod"/>
            </a:pPr>
            <a:r>
              <a:rPr lang="en-US" altLang="zh-CN" sz="2500" i="1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30000" dirty="0" smtClean="0"/>
              <a:t>+ </a:t>
            </a:r>
            <a:r>
              <a:rPr lang="zh-CN" altLang="en-US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计算</a:t>
            </a:r>
            <a:endParaRPr lang="en-US" altLang="zh-CN" sz="2500" dirty="0" smtClean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buAutoNum type="arabicPeriod"/>
            </a:pPr>
            <a:r>
              <a:rPr lang="zh-CN" altLang="en-US" sz="2500" dirty="0">
                <a:latin typeface="Book Antiqua" panose="02040602050305030304" pitchFamily="18" charset="0"/>
                <a:ea typeface="宋体" panose="02010600030101010101" pitchFamily="2" charset="-122"/>
              </a:rPr>
              <a:t>候选</a:t>
            </a:r>
            <a:r>
              <a:rPr lang="zh-CN" altLang="en-US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码确定办法</a:t>
            </a:r>
            <a:endParaRPr lang="en-US" altLang="zh-CN" sz="2500" dirty="0" smtClean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0" indent="0" defTabSz="823913">
              <a:buNone/>
            </a:pPr>
            <a:r>
              <a:rPr lang="zh-CN" altLang="en-US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    （</a:t>
            </a:r>
            <a:r>
              <a:rPr lang="en-US" altLang="zh-CN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500" dirty="0" smtClean="0">
                <a:latin typeface="Book Antiqua" panose="02040602050305030304" pitchFamily="18" charset="0"/>
                <a:ea typeface="宋体" panose="02010600030101010101" pitchFamily="2" charset="-122"/>
              </a:rPr>
              <a:t>） </a:t>
            </a:r>
            <a:r>
              <a:rPr lang="en-US" altLang="zh-CN" sz="2500" i="1" dirty="0">
                <a:latin typeface="Book Antiqua" panose="02040602050305030304" pitchFamily="18" charset="0"/>
              </a:rPr>
              <a:t>X</a:t>
            </a:r>
            <a:r>
              <a:rPr lang="en-US" altLang="zh-CN" sz="2400" baseline="30000" dirty="0"/>
              <a:t>+ </a:t>
            </a:r>
            <a:r>
              <a:rPr lang="zh-CN" altLang="en-US" sz="2500" dirty="0" smtClean="0">
                <a:latin typeface="Book Antiqua" panose="02040602050305030304" pitchFamily="18" charset="0"/>
              </a:rPr>
              <a:t>计算</a:t>
            </a:r>
            <a:endParaRPr lang="en-US" altLang="zh-CN" sz="2500" dirty="0" smtClean="0">
              <a:latin typeface="Book Antiqua" panose="02040602050305030304" pitchFamily="18" charset="0"/>
            </a:endParaRPr>
          </a:p>
          <a:p>
            <a:pPr marL="0" indent="0" defTabSz="823913">
              <a:buNone/>
            </a:pPr>
            <a:r>
              <a:rPr lang="en-US" altLang="zh-CN" sz="2500" dirty="0">
                <a:latin typeface="Book Antiqua" panose="02040602050305030304" pitchFamily="18" charset="0"/>
              </a:rPr>
              <a:t> </a:t>
            </a:r>
            <a:r>
              <a:rPr lang="en-US" altLang="zh-CN" sz="2500" dirty="0" smtClean="0">
                <a:latin typeface="Book Antiqua" panose="02040602050305030304" pitchFamily="18" charset="0"/>
              </a:rPr>
              <a:t>     </a:t>
            </a:r>
            <a:r>
              <a:rPr lang="zh-CN" altLang="en-US" sz="2500" dirty="0">
                <a:latin typeface="Book Antiqua" panose="02040602050305030304" pitchFamily="18" charset="0"/>
              </a:rPr>
              <a:t>（</a:t>
            </a:r>
            <a:r>
              <a:rPr lang="en-US" altLang="zh-CN" sz="2500" dirty="0" smtClean="0">
                <a:latin typeface="Book Antiqua" panose="02040602050305030304" pitchFamily="18" charset="0"/>
              </a:rPr>
              <a:t>2</a:t>
            </a:r>
            <a:r>
              <a:rPr lang="zh-CN" altLang="en-US" sz="2500" dirty="0" smtClean="0">
                <a:latin typeface="Book Antiqua" panose="02040602050305030304" pitchFamily="18" charset="0"/>
              </a:rPr>
              <a:t>） 图法</a:t>
            </a:r>
            <a:endParaRPr lang="en-US" altLang="zh-CN" sz="2500" dirty="0" smtClean="0">
              <a:latin typeface="Book Antiqua" panose="02040602050305030304" pitchFamily="18" charset="0"/>
            </a:endParaRPr>
          </a:p>
          <a:p>
            <a:pPr marL="0" indent="0" defTabSz="823913">
              <a:buNone/>
            </a:pPr>
            <a:r>
              <a:rPr lang="en-US" altLang="zh-CN" sz="2500" dirty="0" smtClean="0">
                <a:latin typeface="Book Antiqua" panose="02040602050305030304" pitchFamily="18" charset="0"/>
              </a:rPr>
              <a:t>3. </a:t>
            </a:r>
            <a:r>
              <a:rPr lang="zh-CN" altLang="en-US" sz="2500" dirty="0" smtClean="0">
                <a:latin typeface="Book Antiqua" panose="02040602050305030304" pitchFamily="18" charset="0"/>
              </a:rPr>
              <a:t>无损连接判断</a:t>
            </a:r>
            <a:endParaRPr lang="en-US" altLang="zh-CN" sz="2500" dirty="0" smtClean="0">
              <a:latin typeface="Book Antiqua" panose="02040602050305030304" pitchFamily="18" charset="0"/>
            </a:endParaRPr>
          </a:p>
          <a:p>
            <a:pPr marL="0" indent="0" defTabSz="823913">
              <a:buNone/>
            </a:pPr>
            <a:r>
              <a:rPr lang="en-US" altLang="zh-CN" sz="2500" dirty="0">
                <a:latin typeface="Book Antiqua" panose="02040602050305030304" pitchFamily="18" charset="0"/>
              </a:rPr>
              <a:t> </a:t>
            </a:r>
            <a:r>
              <a:rPr lang="en-US" altLang="zh-CN" sz="2500" dirty="0" smtClean="0">
                <a:latin typeface="Book Antiqua" panose="02040602050305030304" pitchFamily="18" charset="0"/>
              </a:rPr>
              <a:t>     </a:t>
            </a:r>
            <a:r>
              <a:rPr lang="zh-CN" altLang="en-US" sz="2500" dirty="0" smtClean="0">
                <a:latin typeface="Book Antiqua" panose="02040602050305030304" pitchFamily="18" charset="0"/>
              </a:rPr>
              <a:t>（</a:t>
            </a:r>
            <a:r>
              <a:rPr lang="en-US" altLang="zh-CN" sz="2500" dirty="0" smtClean="0">
                <a:latin typeface="Book Antiqua" panose="02040602050305030304" pitchFamily="18" charset="0"/>
              </a:rPr>
              <a:t>1</a:t>
            </a:r>
            <a:r>
              <a:rPr lang="zh-CN" altLang="en-US" sz="2500" dirty="0" smtClean="0">
                <a:latin typeface="Book Antiqua" panose="02040602050305030304" pitchFamily="18" charset="0"/>
              </a:rPr>
              <a:t>） 分解为两个关系的判断</a:t>
            </a:r>
            <a:endParaRPr lang="en-US" altLang="zh-CN" sz="2500" dirty="0" smtClean="0">
              <a:latin typeface="Book Antiqua" panose="02040602050305030304" pitchFamily="18" charset="0"/>
            </a:endParaRPr>
          </a:p>
          <a:p>
            <a:pPr marL="0" indent="0" defTabSz="823913">
              <a:buNone/>
            </a:pPr>
            <a:r>
              <a:rPr lang="en-US" altLang="zh-CN" sz="2500" dirty="0">
                <a:latin typeface="Book Antiqua" panose="02040602050305030304" pitchFamily="18" charset="0"/>
              </a:rPr>
              <a:t> </a:t>
            </a:r>
            <a:r>
              <a:rPr lang="en-US" altLang="zh-CN" sz="2500" dirty="0" smtClean="0">
                <a:latin typeface="Book Antiqua" panose="02040602050305030304" pitchFamily="18" charset="0"/>
              </a:rPr>
              <a:t>       </a:t>
            </a:r>
            <a:r>
              <a:rPr lang="zh-CN" altLang="en-US" sz="2500" dirty="0" smtClean="0">
                <a:latin typeface="Book Antiqua" panose="02040602050305030304" pitchFamily="18" charset="0"/>
              </a:rPr>
              <a:t>（</a:t>
            </a:r>
            <a:r>
              <a:rPr lang="en-US" altLang="zh-CN" sz="2500" dirty="0" smtClean="0">
                <a:latin typeface="Book Antiqua" panose="02040602050305030304" pitchFamily="18" charset="0"/>
              </a:rPr>
              <a:t>2</a:t>
            </a:r>
            <a:r>
              <a:rPr lang="zh-CN" altLang="en-US" sz="2500" dirty="0" smtClean="0">
                <a:latin typeface="Book Antiqua" panose="02040602050305030304" pitchFamily="18" charset="0"/>
              </a:rPr>
              <a:t>）分解为多个关系的判断 （填表）</a:t>
            </a:r>
            <a:endParaRPr lang="en-US" altLang="zh-CN" sz="2500" dirty="0" smtClean="0">
              <a:latin typeface="Book Antiqua" panose="02040602050305030304" pitchFamily="18" charset="0"/>
            </a:endParaRPr>
          </a:p>
          <a:p>
            <a:pPr marL="0" indent="0" defTabSz="823913">
              <a:buNone/>
            </a:pPr>
            <a:r>
              <a:rPr lang="en-US" altLang="zh-CN" sz="2500" dirty="0" smtClean="0">
                <a:latin typeface="Book Antiqua" panose="02040602050305030304" pitchFamily="18" charset="0"/>
              </a:rPr>
              <a:t>4. </a:t>
            </a:r>
            <a:r>
              <a:rPr lang="zh-CN" altLang="en-US" sz="2500" dirty="0" smtClean="0">
                <a:latin typeface="Book Antiqua" panose="02040602050305030304" pitchFamily="18" charset="0"/>
              </a:rPr>
              <a:t>保持函数依赖判断</a:t>
            </a:r>
            <a:endParaRPr lang="en-US" altLang="zh-CN" sz="2500" dirty="0" smtClean="0">
              <a:latin typeface="Book Antiqua" panose="02040602050305030304" pitchFamily="18" charset="0"/>
            </a:endParaRPr>
          </a:p>
          <a:p>
            <a:pPr marL="0" indent="0" defTabSz="823913">
              <a:buNone/>
            </a:pPr>
            <a:r>
              <a:rPr lang="en-US" altLang="zh-CN" sz="2500" dirty="0">
                <a:latin typeface="Book Antiqua" panose="02040602050305030304" pitchFamily="18" charset="0"/>
              </a:rPr>
              <a:t> </a:t>
            </a:r>
            <a:r>
              <a:rPr lang="en-US" altLang="zh-CN" sz="2500" dirty="0" smtClean="0">
                <a:latin typeface="Book Antiqua" panose="02040602050305030304" pitchFamily="18" charset="0"/>
              </a:rPr>
              <a:t>   DP</a:t>
            </a:r>
            <a:r>
              <a:rPr lang="zh-CN" altLang="en-US" sz="2500" dirty="0" smtClean="0">
                <a:latin typeface="Book Antiqua" panose="02040602050305030304" pitchFamily="18" charset="0"/>
              </a:rPr>
              <a:t>， </a:t>
            </a:r>
            <a:r>
              <a:rPr lang="en-US" altLang="zh-CN" sz="2500" dirty="0" smtClean="0">
                <a:latin typeface="Book Antiqua" panose="02040602050305030304" pitchFamily="18" charset="0"/>
              </a:rPr>
              <a:t>XYDP</a:t>
            </a:r>
            <a:r>
              <a:rPr lang="zh-CN" altLang="en-US" sz="2500" dirty="0" smtClean="0">
                <a:latin typeface="Book Antiqua" panose="02040602050305030304" pitchFamily="18" charset="0"/>
              </a:rPr>
              <a:t>算法</a:t>
            </a:r>
            <a:endParaRPr lang="en-US" altLang="zh-CN" sz="2500" dirty="0" smtClean="0">
              <a:latin typeface="Book Antiqua" panose="02040602050305030304" pitchFamily="18" charset="0"/>
            </a:endParaRPr>
          </a:p>
          <a:p>
            <a:pPr marL="0" indent="0" defTabSz="823913">
              <a:buNone/>
            </a:pPr>
            <a:r>
              <a:rPr lang="en-US" altLang="zh-CN" sz="2500" dirty="0" smtClean="0">
                <a:latin typeface="Book Antiqua" panose="02040602050305030304" pitchFamily="18" charset="0"/>
              </a:rPr>
              <a:t>   F</a:t>
            </a:r>
            <a:r>
              <a:rPr lang="zh-CN" altLang="en-US" sz="2500" dirty="0" smtClean="0">
                <a:latin typeface="Book Antiqua" panose="02040602050305030304" pitchFamily="18" charset="0"/>
              </a:rPr>
              <a:t>中的每个关系要一一判断</a:t>
            </a:r>
            <a:endParaRPr lang="en-US" altLang="zh-CN" sz="2500" dirty="0">
              <a:latin typeface="Book Antiqua" panose="02040602050305030304" pitchFamily="18" charset="0"/>
            </a:endParaRPr>
          </a:p>
          <a:p>
            <a:pPr marL="549275" indent="-549275" defTabSz="823913">
              <a:buAutoNum type="arabicPeriod"/>
            </a:pPr>
            <a:endParaRPr lang="en-US" altLang="zh-CN" sz="2500" dirty="0">
              <a:latin typeface="Book Antiqua" panose="0204060205030503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3283318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2860</TotalTime>
  <Words>5265</Words>
  <Application>Microsoft Office PowerPoint</Application>
  <PresentationFormat>全屏显示(4:3)</PresentationFormat>
  <Paragraphs>714</Paragraphs>
  <Slides>74</Slides>
  <Notes>27</Notes>
  <HiddenSlides>1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74</vt:i4>
      </vt:variant>
    </vt:vector>
  </HeadingPairs>
  <TitlesOfParts>
    <vt:vector size="95" baseType="lpstr">
      <vt:lpstr>Arial Unicode MS</vt:lpstr>
      <vt:lpstr>Math B</vt:lpstr>
      <vt:lpstr>Monotype Sorts</vt:lpstr>
      <vt:lpstr>PMingLiU</vt:lpstr>
      <vt:lpstr>Victorian LET</vt:lpstr>
      <vt:lpstr>仿宋_GB2312</vt:lpstr>
      <vt:lpstr>黑体</vt:lpstr>
      <vt:lpstr>楷体_GB2312</vt:lpstr>
      <vt:lpstr>宋体</vt:lpstr>
      <vt:lpstr>微软雅黑</vt:lpstr>
      <vt:lpstr>Arial</vt:lpstr>
      <vt:lpstr>Book Antiqua</vt:lpstr>
      <vt:lpstr>Calibri</vt:lpstr>
      <vt:lpstr>Calibri Light</vt:lpstr>
      <vt:lpstr>Symbol</vt:lpstr>
      <vt:lpstr>Times New Roman</vt:lpstr>
      <vt:lpstr>Verdana</vt:lpstr>
      <vt:lpstr>Wingdings</vt:lpstr>
      <vt:lpstr>Office 主题</vt:lpstr>
      <vt:lpstr>公式</vt:lpstr>
      <vt:lpstr>Equation</vt:lpstr>
      <vt:lpstr>关系数据理论 1- 数据依赖 </vt:lpstr>
      <vt:lpstr>目录</vt:lpstr>
      <vt:lpstr>1 问题的提出</vt:lpstr>
      <vt:lpstr> 问题的提出（续）</vt:lpstr>
      <vt:lpstr>问题的提出（续）</vt:lpstr>
      <vt:lpstr>问题的提出（续）</vt:lpstr>
      <vt:lpstr>问题的提出（续）</vt:lpstr>
      <vt:lpstr>2 数据依赖</vt:lpstr>
      <vt:lpstr>（1）函数依赖</vt:lpstr>
      <vt:lpstr>（1）函数依赖</vt:lpstr>
      <vt:lpstr>CON…</vt:lpstr>
      <vt:lpstr>（2）平凡函数依赖与非平凡函数依赖</vt:lpstr>
      <vt:lpstr>（3）完全函数依赖与部分函数依赖</vt:lpstr>
      <vt:lpstr>(4) 传递函数依赖</vt:lpstr>
      <vt:lpstr>3 如何确定函数依赖</vt:lpstr>
      <vt:lpstr>确定函数依赖(1) </vt:lpstr>
      <vt:lpstr>确定函数依赖(2) </vt:lpstr>
      <vt:lpstr>确定函数依赖(3)</vt:lpstr>
      <vt:lpstr>计算F+ (1)</vt:lpstr>
      <vt:lpstr>计算F+ (2) </vt:lpstr>
      <vt:lpstr>属性的闭包</vt:lpstr>
      <vt:lpstr>计算X+  (1) 重要</vt:lpstr>
      <vt:lpstr>计算X+  (2) </vt:lpstr>
      <vt:lpstr>计算X+  (3) </vt:lpstr>
      <vt:lpstr>Worked Example 1:</vt:lpstr>
      <vt:lpstr>Worked Example 1  (cont’)</vt:lpstr>
      <vt:lpstr>Worked Example 1  (cont’)</vt:lpstr>
      <vt:lpstr>Worked Example 1  (cont’)</vt:lpstr>
      <vt:lpstr>Example 2 (cont’)</vt:lpstr>
      <vt:lpstr>4 确定候选码(1)</vt:lpstr>
      <vt:lpstr>确定候选码(2)</vt:lpstr>
      <vt:lpstr>确定候选码(3)</vt:lpstr>
      <vt:lpstr>确定候选码(图法)</vt:lpstr>
      <vt:lpstr>确定候选码(图法)</vt:lpstr>
      <vt:lpstr>确定候选码(图法)</vt:lpstr>
      <vt:lpstr>确定候选码(图法)示例</vt:lpstr>
      <vt:lpstr>确定候选码(图法)示例</vt:lpstr>
      <vt:lpstr>5 模式分解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模式分解</vt:lpstr>
      <vt:lpstr>模式分解</vt:lpstr>
      <vt:lpstr>无损连接分解 (1)</vt:lpstr>
      <vt:lpstr>无损连接分解(2)分解为两个关系模式 </vt:lpstr>
      <vt:lpstr>无损连接分解(3) </vt:lpstr>
      <vt:lpstr>无损连接分解(4) </vt:lpstr>
      <vt:lpstr>无损连接分解(5) </vt:lpstr>
      <vt:lpstr>PowerPoint 演示文稿</vt:lpstr>
      <vt:lpstr>PowerPoint 演示文稿</vt:lpstr>
      <vt:lpstr>举例</vt:lpstr>
      <vt:lpstr>举例</vt:lpstr>
      <vt:lpstr>举例</vt:lpstr>
      <vt:lpstr>举例</vt:lpstr>
      <vt:lpstr>举例</vt:lpstr>
      <vt:lpstr>举例</vt:lpstr>
      <vt:lpstr>举例</vt:lpstr>
      <vt:lpstr>保持函数依赖分解(1) </vt:lpstr>
      <vt:lpstr>保持函数依赖分解(2) </vt:lpstr>
      <vt:lpstr>保持函数依赖分解(3) </vt:lpstr>
      <vt:lpstr>保持函数依赖分解(4) </vt:lpstr>
      <vt:lpstr>保持函数依赖分解(5) </vt:lpstr>
      <vt:lpstr>保持函数依赖分解(6) </vt:lpstr>
      <vt:lpstr>保持函数依赖分解(7) </vt:lpstr>
      <vt:lpstr>Example 1:</vt:lpstr>
      <vt:lpstr>Example 1:</vt:lpstr>
      <vt:lpstr>Example 1:</vt:lpstr>
      <vt:lpstr>重点难点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DELL</cp:lastModifiedBy>
  <cp:revision>678</cp:revision>
  <cp:lastPrinted>2020-11-03T04:09:11Z</cp:lastPrinted>
  <dcterms:created xsi:type="dcterms:W3CDTF">2020-09-13T01:44:02Z</dcterms:created>
  <dcterms:modified xsi:type="dcterms:W3CDTF">2025-10-24T04:12:15Z</dcterms:modified>
</cp:coreProperties>
</file>