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7"/>
  </p:notesMasterIdLst>
  <p:handoutMasterIdLst>
    <p:handoutMasterId r:id="rId58"/>
  </p:handoutMasterIdLst>
  <p:sldIdLst>
    <p:sldId id="256" r:id="rId2"/>
    <p:sldId id="959" r:id="rId3"/>
    <p:sldId id="914" r:id="rId4"/>
    <p:sldId id="915" r:id="rId5"/>
    <p:sldId id="917" r:id="rId6"/>
    <p:sldId id="839" r:id="rId7"/>
    <p:sldId id="840" r:id="rId8"/>
    <p:sldId id="841" r:id="rId9"/>
    <p:sldId id="842" r:id="rId10"/>
    <p:sldId id="843" r:id="rId11"/>
    <p:sldId id="848" r:id="rId12"/>
    <p:sldId id="846" r:id="rId13"/>
    <p:sldId id="847" r:id="rId14"/>
    <p:sldId id="849" r:id="rId15"/>
    <p:sldId id="851" r:id="rId16"/>
    <p:sldId id="853" r:id="rId17"/>
    <p:sldId id="855" r:id="rId18"/>
    <p:sldId id="856" r:id="rId19"/>
    <p:sldId id="858" r:id="rId20"/>
    <p:sldId id="861" r:id="rId21"/>
    <p:sldId id="863" r:id="rId22"/>
    <p:sldId id="864" r:id="rId23"/>
    <p:sldId id="922" r:id="rId24"/>
    <p:sldId id="924" r:id="rId25"/>
    <p:sldId id="923" r:id="rId26"/>
    <p:sldId id="932" r:id="rId27"/>
    <p:sldId id="933" r:id="rId28"/>
    <p:sldId id="934" r:id="rId29"/>
    <p:sldId id="935" r:id="rId30"/>
    <p:sldId id="936" r:id="rId31"/>
    <p:sldId id="937" r:id="rId32"/>
    <p:sldId id="938" r:id="rId33"/>
    <p:sldId id="939" r:id="rId34"/>
    <p:sldId id="940" r:id="rId35"/>
    <p:sldId id="943" r:id="rId36"/>
    <p:sldId id="942" r:id="rId37"/>
    <p:sldId id="925" r:id="rId38"/>
    <p:sldId id="926" r:id="rId39"/>
    <p:sldId id="927" r:id="rId40"/>
    <p:sldId id="928" r:id="rId41"/>
    <p:sldId id="929" r:id="rId42"/>
    <p:sldId id="930" r:id="rId43"/>
    <p:sldId id="931" r:id="rId44"/>
    <p:sldId id="909" r:id="rId45"/>
    <p:sldId id="911" r:id="rId46"/>
    <p:sldId id="912" r:id="rId47"/>
    <p:sldId id="967" r:id="rId48"/>
    <p:sldId id="944" r:id="rId49"/>
    <p:sldId id="946" r:id="rId50"/>
    <p:sldId id="966" r:id="rId51"/>
    <p:sldId id="960" r:id="rId52"/>
    <p:sldId id="961" r:id="rId53"/>
    <p:sldId id="962" r:id="rId54"/>
    <p:sldId id="963" r:id="rId55"/>
    <p:sldId id="964" r:id="rId56"/>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2" autoAdjust="0"/>
    <p:restoredTop sz="71514" autoAdjust="0"/>
  </p:normalViewPr>
  <p:slideViewPr>
    <p:cSldViewPr snapToGrid="0">
      <p:cViewPr varScale="1">
        <p:scale>
          <a:sx n="107" d="100"/>
          <a:sy n="107" d="100"/>
        </p:scale>
        <p:origin x="66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6991A9A8-C18D-484C-B828-6040E470E756}" type="datetimeFigureOut">
              <a:rPr lang="zh-CN" altLang="en-US" smtClean="0"/>
              <a:t>2025/12/15</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3DCBC43F-A4E1-4EA4-B1DA-8AFDE111FFCB}" type="slidenum">
              <a:rPr lang="zh-CN" altLang="en-US" smtClean="0"/>
              <a:t>‹#›</a:t>
            </a:fld>
            <a:endParaRPr lang="zh-CN" altLang="en-US"/>
          </a:p>
        </p:txBody>
      </p:sp>
    </p:spTree>
    <p:extLst>
      <p:ext uri="{BB962C8B-B14F-4D97-AF65-F5344CB8AC3E}">
        <p14:creationId xmlns:p14="http://schemas.microsoft.com/office/powerpoint/2010/main" val="2130712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t>2025/12/15</a:t>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t>‹#›</a:t>
            </a:fld>
            <a:endParaRPr lang="zh-CN" altLang="en-US"/>
          </a:p>
        </p:txBody>
      </p:sp>
    </p:spTree>
    <p:extLst>
      <p:ext uri="{BB962C8B-B14F-4D97-AF65-F5344CB8AC3E}">
        <p14:creationId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31</a:t>
            </a:fld>
            <a:endParaRPr lang="zh-CN" altLang="en-US"/>
          </a:p>
        </p:txBody>
      </p:sp>
    </p:spTree>
    <p:extLst>
      <p:ext uri="{BB962C8B-B14F-4D97-AF65-F5344CB8AC3E}">
        <p14:creationId xmlns:p14="http://schemas.microsoft.com/office/powerpoint/2010/main" val="2992243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49</a:t>
            </a:fld>
            <a:endParaRPr lang="zh-CN" altLang="en-US"/>
          </a:p>
        </p:txBody>
      </p:sp>
    </p:spTree>
    <p:extLst>
      <p:ext uri="{BB962C8B-B14F-4D97-AF65-F5344CB8AC3E}">
        <p14:creationId xmlns:p14="http://schemas.microsoft.com/office/powerpoint/2010/main" val="318319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r>
              <a:rPr lang="zh-CN" altLang="zh-CN" dirty="0" smtClean="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943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2025/12/15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smtClean="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dirty="0"/>
          </a:p>
        </p:txBody>
      </p:sp>
    </p:spTree>
    <p:extLst>
      <p:ext uri="{BB962C8B-B14F-4D97-AF65-F5344CB8AC3E}">
        <p14:creationId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22363"/>
            <a:ext cx="7772400" cy="1637770"/>
          </a:xfrm>
        </p:spPr>
        <p:txBody>
          <a:bodyPr>
            <a:normAutofit fontScale="90000"/>
          </a:bodyPr>
          <a:lstStyle/>
          <a:p>
            <a:r>
              <a:rPr lang="zh-CN" altLang="en-US" dirty="0" smtClean="0"/>
              <a:t>数据库管理</a:t>
            </a:r>
            <a:r>
              <a:rPr lang="en-US" altLang="zh-CN" dirty="0" smtClean="0"/>
              <a:t>2</a:t>
            </a:r>
            <a:br>
              <a:rPr lang="en-US" altLang="zh-CN" dirty="0" smtClean="0"/>
            </a:br>
            <a:r>
              <a:rPr lang="zh-CN" altLang="en-US" dirty="0" smtClean="0"/>
              <a:t>并发控制</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授课教师：张小燕</a:t>
            </a:r>
            <a:endParaRPr lang="en-US" altLang="zh-CN" dirty="0"/>
          </a:p>
          <a:p>
            <a:pPr>
              <a:lnSpc>
                <a:spcPct val="110000"/>
              </a:lnSpc>
            </a:pPr>
            <a:r>
              <a:rPr lang="zh-CN" altLang="en-US" dirty="0" smtClean="0"/>
              <a:t>邮箱：</a:t>
            </a:r>
            <a:r>
              <a:rPr lang="en-US" altLang="zh-CN" dirty="0" smtClean="0"/>
              <a:t>xyzhang15@szu.edu.cn</a:t>
            </a:r>
          </a:p>
          <a:p>
            <a:pPr>
              <a:lnSpc>
                <a:spcPct val="110000"/>
              </a:lnSpc>
            </a:pPr>
            <a:r>
              <a:rPr lang="zh-CN" altLang="en-US" dirty="0" smtClean="0"/>
              <a:t>深圳大学 计算机与软件学院</a:t>
            </a:r>
            <a:endParaRPr lang="en-US" altLang="zh-CN" dirty="0" smtClean="0"/>
          </a:p>
        </p:txBody>
      </p:sp>
    </p:spTree>
    <p:extLst>
      <p:ext uri="{BB962C8B-B14F-4D97-AF65-F5344CB8AC3E}">
        <p14:creationId xmlns:p14="http://schemas.microsoft.com/office/powerpoint/2010/main" val="22427916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614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目录</a:t>
            </a:r>
            <a:endParaRPr lang="zh-CN" altLang="zh-CN" sz="3600" dirty="0" smtClean="0"/>
          </a:p>
        </p:txBody>
      </p:sp>
      <p:sp>
        <p:nvSpPr>
          <p:cNvPr id="6148" name="Rectangle 3"/>
          <p:cNvSpPr>
            <a:spLocks noGrp="1" noChangeArrowheads="1"/>
          </p:cNvSpPr>
          <p:nvPr>
            <p:ph type="body" idx="4294967295"/>
          </p:nvPr>
        </p:nvSpPr>
        <p:spPr>
          <a:xfrm>
            <a:off x="457200" y="1196975"/>
            <a:ext cx="8229600" cy="5127625"/>
          </a:xfrm>
        </p:spPr>
        <p:txBody>
          <a:bodyPr/>
          <a:lstStyle/>
          <a:p>
            <a:pPr eaLnBrk="1" hangingPunct="1">
              <a:lnSpc>
                <a:spcPct val="90000"/>
              </a:lnSpc>
            </a:pPr>
            <a:r>
              <a:rPr lang="zh-CN" altLang="en-US" sz="2400" dirty="0" smtClean="0"/>
              <a:t>事务</a:t>
            </a:r>
            <a:endParaRPr lang="en-US" altLang="zh-CN" sz="2400" dirty="0" smtClean="0"/>
          </a:p>
          <a:p>
            <a:r>
              <a:rPr lang="zh-CN" altLang="en-US" sz="2400" dirty="0"/>
              <a:t>并发</a:t>
            </a:r>
            <a:r>
              <a:rPr lang="zh-CN" altLang="en-US" sz="2400" dirty="0" smtClean="0"/>
              <a:t>控制</a:t>
            </a:r>
            <a:endParaRPr lang="en-US" altLang="zh-CN" sz="2400" dirty="0" smtClean="0"/>
          </a:p>
          <a:p>
            <a:pPr eaLnBrk="1" hangingPunct="1">
              <a:lnSpc>
                <a:spcPct val="90000"/>
              </a:lnSpc>
            </a:pPr>
            <a:r>
              <a:rPr lang="zh-CN" altLang="en-US" sz="2400" dirty="0" smtClean="0"/>
              <a:t>封锁</a:t>
            </a:r>
            <a:endParaRPr lang="en-US" altLang="zh-CN" sz="2400" dirty="0" smtClean="0"/>
          </a:p>
          <a:p>
            <a:r>
              <a:rPr lang="zh-CN" altLang="en-US" sz="2400" dirty="0"/>
              <a:t>并发调度的</a:t>
            </a:r>
            <a:r>
              <a:rPr lang="zh-CN" altLang="en-US" sz="2400" dirty="0" smtClean="0"/>
              <a:t>可串行性</a:t>
            </a:r>
            <a:endParaRPr lang="en-US" altLang="zh-CN" sz="2400" dirty="0" smtClean="0"/>
          </a:p>
          <a:p>
            <a:r>
              <a:rPr lang="zh-CN" altLang="en-US" sz="2400" dirty="0"/>
              <a:t>两段锁</a:t>
            </a:r>
            <a:r>
              <a:rPr lang="zh-CN" altLang="en-US" sz="2400" dirty="0" smtClean="0"/>
              <a:t>协议</a:t>
            </a:r>
            <a:endParaRPr lang="en-US" altLang="zh-CN" sz="2400" dirty="0" smtClean="0"/>
          </a:p>
          <a:p>
            <a:pPr eaLnBrk="1" hangingPunct="1">
              <a:lnSpc>
                <a:spcPct val="90000"/>
              </a:lnSpc>
            </a:pPr>
            <a:endParaRPr lang="zh-CN" altLang="en-US" sz="2400" dirty="0" smtClean="0"/>
          </a:p>
        </p:txBody>
      </p:sp>
    </p:spTree>
    <p:extLst>
      <p:ext uri="{BB962C8B-B14F-4D97-AF65-F5344CB8AC3E}">
        <p14:creationId xmlns:p14="http://schemas.microsoft.com/office/powerpoint/2010/main" val="1969805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614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smtClean="0"/>
              <a:t>1.</a:t>
            </a:r>
            <a:r>
              <a:rPr lang="zh-CN" altLang="zh-CN" sz="3600" smtClean="0"/>
              <a:t>事务</a:t>
            </a:r>
          </a:p>
        </p:txBody>
      </p:sp>
      <p:sp>
        <p:nvSpPr>
          <p:cNvPr id="6148" name="Rectangle 3"/>
          <p:cNvSpPr>
            <a:spLocks noGrp="1" noChangeArrowheads="1"/>
          </p:cNvSpPr>
          <p:nvPr>
            <p:ph type="body" idx="4294967295"/>
          </p:nvPr>
        </p:nvSpPr>
        <p:spPr>
          <a:xfrm>
            <a:off x="457200" y="1196975"/>
            <a:ext cx="8229600" cy="5127625"/>
          </a:xfrm>
        </p:spPr>
        <p:txBody>
          <a:bodyPr/>
          <a:lstStyle/>
          <a:p>
            <a:pPr eaLnBrk="1" hangingPunct="1">
              <a:lnSpc>
                <a:spcPct val="90000"/>
              </a:lnSpc>
            </a:pPr>
            <a:r>
              <a:rPr lang="zh-CN" altLang="en-US" sz="2400" dirty="0" smtClean="0"/>
              <a:t>事务</a:t>
            </a:r>
            <a:r>
              <a:rPr lang="en-US" altLang="zh-CN" sz="2400" dirty="0" smtClean="0"/>
              <a:t>(Transaction)</a:t>
            </a:r>
            <a:r>
              <a:rPr lang="zh-CN" altLang="en-US" sz="2400" dirty="0" smtClean="0"/>
              <a:t>是用户定义的一个数据库操作序列，这些操作要么全做，要么全不做，是一个不可分割的工作单位。</a:t>
            </a:r>
          </a:p>
          <a:p>
            <a:pPr eaLnBrk="1" hangingPunct="1">
              <a:lnSpc>
                <a:spcPct val="90000"/>
              </a:lnSpc>
            </a:pPr>
            <a:endParaRPr lang="en-US" altLang="zh-CN" sz="2400" dirty="0" smtClean="0"/>
          </a:p>
          <a:p>
            <a:pPr eaLnBrk="1" hangingPunct="1">
              <a:lnSpc>
                <a:spcPct val="90000"/>
              </a:lnSpc>
            </a:pPr>
            <a:r>
              <a:rPr lang="zh-CN" altLang="en-US" sz="2400" dirty="0" smtClean="0"/>
              <a:t>事务是数据库的逻辑工作单位</a:t>
            </a:r>
            <a:endParaRPr lang="en-US" altLang="zh-CN" sz="2400" dirty="0"/>
          </a:p>
          <a:p>
            <a:pPr eaLnBrk="1" hangingPunct="1">
              <a:lnSpc>
                <a:spcPct val="90000"/>
              </a:lnSpc>
            </a:pPr>
            <a:endParaRPr lang="zh-CN" altLang="en-US" sz="2400" dirty="0" smtClean="0"/>
          </a:p>
          <a:p>
            <a:pPr eaLnBrk="1" hangingPunct="1">
              <a:lnSpc>
                <a:spcPct val="90000"/>
              </a:lnSpc>
            </a:pPr>
            <a:r>
              <a:rPr lang="zh-CN" altLang="en-US" sz="2400" dirty="0" smtClean="0"/>
              <a:t>事务和程序是两个概念</a:t>
            </a:r>
          </a:p>
          <a:p>
            <a:pPr lvl="1" eaLnBrk="1" hangingPunct="1">
              <a:lnSpc>
                <a:spcPct val="120000"/>
              </a:lnSpc>
            </a:pPr>
            <a:r>
              <a:rPr lang="zh-CN" altLang="en-US" sz="2200" dirty="0" smtClean="0"/>
              <a:t>在关系数据库中，一个事务可以是一条</a:t>
            </a:r>
            <a:r>
              <a:rPr lang="en-US" altLang="zh-CN" sz="2200" dirty="0" smtClean="0"/>
              <a:t>SQL</a:t>
            </a:r>
            <a:r>
              <a:rPr lang="zh-CN" altLang="en-US" sz="2200" dirty="0" smtClean="0"/>
              <a:t>语句，一组</a:t>
            </a:r>
            <a:r>
              <a:rPr lang="en-US" altLang="zh-CN" sz="2200" dirty="0" smtClean="0"/>
              <a:t>SQL</a:t>
            </a:r>
            <a:r>
              <a:rPr lang="zh-CN" altLang="en-US" sz="2200" dirty="0" smtClean="0"/>
              <a:t>语句或整个程序</a:t>
            </a:r>
          </a:p>
          <a:p>
            <a:pPr lvl="1" eaLnBrk="1" hangingPunct="1">
              <a:lnSpc>
                <a:spcPct val="120000"/>
              </a:lnSpc>
            </a:pPr>
            <a:r>
              <a:rPr lang="zh-CN" altLang="en-US" sz="2200" dirty="0" smtClean="0"/>
              <a:t>一个程序通常包含多个事务</a:t>
            </a:r>
          </a:p>
          <a:p>
            <a:pPr lvl="1" eaLnBrk="1" hangingPunct="1">
              <a:lnSpc>
                <a:spcPct val="90000"/>
              </a:lnSpc>
            </a:pPr>
            <a:endParaRPr lang="zh-CN" altLang="en-US" sz="2200" dirty="0" smtClean="0"/>
          </a:p>
          <a:p>
            <a:pPr eaLnBrk="1" hangingPunct="1">
              <a:lnSpc>
                <a:spcPct val="90000"/>
              </a:lnSpc>
            </a:pPr>
            <a:r>
              <a:rPr lang="zh-CN" altLang="en-US" sz="2400" dirty="0" smtClean="0"/>
              <a:t>事务是恢复和并发控制的基本单位</a:t>
            </a:r>
          </a:p>
        </p:txBody>
      </p:sp>
    </p:spTree>
    <p:extLst>
      <p:ext uri="{BB962C8B-B14F-4D97-AF65-F5344CB8AC3E}">
        <p14:creationId xmlns:p14="http://schemas.microsoft.com/office/powerpoint/2010/main" val="9788758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7171"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定义事务</a:t>
            </a:r>
          </a:p>
        </p:txBody>
      </p:sp>
      <p:sp>
        <p:nvSpPr>
          <p:cNvPr id="7172" name="Rectangle 3"/>
          <p:cNvSpPr>
            <a:spLocks noGrp="1" noChangeArrowheads="1"/>
          </p:cNvSpPr>
          <p:nvPr>
            <p:ph type="body" idx="4294967295"/>
          </p:nvPr>
        </p:nvSpPr>
        <p:spPr>
          <a:xfrm>
            <a:off x="723900" y="1331913"/>
            <a:ext cx="7772400" cy="4114800"/>
          </a:xfrm>
        </p:spPr>
        <p:txBody>
          <a:bodyPr>
            <a:normAutofit lnSpcReduction="10000"/>
          </a:bodyPr>
          <a:lstStyle/>
          <a:p>
            <a:pPr eaLnBrk="1" hangingPunct="1"/>
            <a:r>
              <a:rPr lang="zh-CN" altLang="en-US" sz="2400" dirty="0" smtClean="0"/>
              <a:t>显式定义方式</a:t>
            </a:r>
          </a:p>
          <a:p>
            <a:pPr eaLnBrk="1" hangingPunct="1">
              <a:buFont typeface="Wingdings" panose="05000000000000000000" pitchFamily="2" charset="2"/>
              <a:buNone/>
            </a:pPr>
            <a:r>
              <a:rPr lang="zh-CN" altLang="en-US" dirty="0" smtClean="0"/>
              <a:t>   </a:t>
            </a:r>
            <a:r>
              <a:rPr lang="en-US" altLang="zh-CN" sz="1800" dirty="0" smtClean="0"/>
              <a:t>BEGIN TRANSACTION                   BEGIN TRANSACTION</a:t>
            </a:r>
          </a:p>
          <a:p>
            <a:pPr eaLnBrk="1" hangingPunct="1">
              <a:buFont typeface="Wingdings" panose="05000000000000000000" pitchFamily="2" charset="2"/>
              <a:buNone/>
            </a:pPr>
            <a:r>
              <a:rPr lang="en-US" altLang="zh-CN" sz="1800" dirty="0" smtClean="0"/>
              <a:t>          SQL </a:t>
            </a:r>
            <a:r>
              <a:rPr lang="zh-CN" altLang="en-US" sz="1800" dirty="0" smtClean="0"/>
              <a:t>语句1</a:t>
            </a:r>
            <a:r>
              <a:rPr lang="en-US" altLang="zh-CN" sz="1800" dirty="0" smtClean="0"/>
              <a:t>                                             SQL </a:t>
            </a:r>
            <a:r>
              <a:rPr lang="zh-CN" altLang="en-US" sz="1800" dirty="0" smtClean="0"/>
              <a:t>语句1</a:t>
            </a:r>
          </a:p>
          <a:p>
            <a:pPr eaLnBrk="1" hangingPunct="1">
              <a:buFont typeface="Wingdings" panose="05000000000000000000" pitchFamily="2" charset="2"/>
              <a:buNone/>
            </a:pPr>
            <a:r>
              <a:rPr lang="zh-CN" altLang="en-US" sz="1800" dirty="0" smtClean="0"/>
              <a:t>          </a:t>
            </a:r>
            <a:r>
              <a:rPr lang="en-US" altLang="zh-CN" sz="1800" dirty="0" smtClean="0"/>
              <a:t>SQL </a:t>
            </a:r>
            <a:r>
              <a:rPr lang="zh-CN" altLang="en-US" sz="1800" dirty="0" smtClean="0"/>
              <a:t>语句2                                             </a:t>
            </a:r>
            <a:r>
              <a:rPr lang="en-US" altLang="zh-CN" sz="1800" dirty="0" smtClean="0"/>
              <a:t>SQL </a:t>
            </a:r>
            <a:r>
              <a:rPr lang="zh-CN" altLang="en-US" sz="1800" dirty="0" smtClean="0"/>
              <a:t>语句2</a:t>
            </a:r>
            <a:endParaRPr lang="en-US" altLang="zh-CN" sz="1800" dirty="0" smtClean="0"/>
          </a:p>
          <a:p>
            <a:pPr eaLnBrk="1" hangingPunct="1">
              <a:buFont typeface="Wingdings" panose="05000000000000000000" pitchFamily="2" charset="2"/>
              <a:buNone/>
            </a:pPr>
            <a:r>
              <a:rPr lang="en-US" altLang="zh-CN" sz="1800" dirty="0" smtClean="0"/>
              <a:t>          </a:t>
            </a:r>
            <a:r>
              <a:rPr lang="zh-CN" altLang="en-US" sz="1800" dirty="0" smtClean="0"/>
              <a:t>。。。。。                                            。。。。。</a:t>
            </a:r>
          </a:p>
          <a:p>
            <a:pPr eaLnBrk="1" hangingPunct="1">
              <a:buFont typeface="Wingdings" panose="05000000000000000000" pitchFamily="2" charset="2"/>
              <a:buNone/>
            </a:pPr>
            <a:r>
              <a:rPr lang="zh-CN" altLang="en-US" sz="1800" dirty="0" smtClean="0"/>
              <a:t>     </a:t>
            </a:r>
            <a:r>
              <a:rPr lang="en-US" altLang="zh-CN" sz="1800" dirty="0" smtClean="0"/>
              <a:t>COMMIT                                           ROLLBACK</a:t>
            </a:r>
          </a:p>
          <a:p>
            <a:pPr eaLnBrk="1" hangingPunct="1">
              <a:lnSpc>
                <a:spcPct val="150000"/>
              </a:lnSpc>
              <a:spcBef>
                <a:spcPts val="1200"/>
              </a:spcBef>
            </a:pPr>
            <a:r>
              <a:rPr lang="zh-CN" altLang="en-US" sz="2400" dirty="0" smtClean="0"/>
              <a:t>隐式方式</a:t>
            </a:r>
          </a:p>
          <a:p>
            <a:pPr lvl="1" eaLnBrk="1" hangingPunct="1">
              <a:lnSpc>
                <a:spcPct val="150000"/>
              </a:lnSpc>
              <a:spcBef>
                <a:spcPct val="0"/>
              </a:spcBef>
              <a:buFont typeface="Wingdings" panose="05000000000000000000" pitchFamily="2" charset="2"/>
              <a:buNone/>
            </a:pPr>
            <a:r>
              <a:rPr lang="zh-CN" altLang="en-US" dirty="0" smtClean="0"/>
              <a:t>当用户没有显式地定义事务时，</a:t>
            </a:r>
          </a:p>
          <a:p>
            <a:pPr lvl="1" eaLnBrk="1" hangingPunct="1">
              <a:lnSpc>
                <a:spcPct val="150000"/>
              </a:lnSpc>
              <a:spcBef>
                <a:spcPct val="0"/>
              </a:spcBef>
              <a:buFont typeface="Wingdings" panose="05000000000000000000" pitchFamily="2" charset="2"/>
              <a:buNone/>
            </a:pPr>
            <a:r>
              <a:rPr lang="zh-CN" altLang="en-US" dirty="0" smtClean="0"/>
              <a:t>数据库管理系统按缺省规定自动划分事务</a:t>
            </a:r>
          </a:p>
        </p:txBody>
      </p:sp>
      <p:sp>
        <p:nvSpPr>
          <p:cNvPr id="7173" name="AutoShape 5"/>
          <p:cNvSpPr>
            <a:spLocks/>
          </p:cNvSpPr>
          <p:nvPr/>
        </p:nvSpPr>
        <p:spPr bwMode="auto">
          <a:xfrm>
            <a:off x="323850" y="3789363"/>
            <a:ext cx="5329238" cy="1657350"/>
          </a:xfrm>
          <a:prstGeom prst="borderCallout2">
            <a:avLst>
              <a:gd name="adj1" fmla="val 6898"/>
              <a:gd name="adj2" fmla="val 101431"/>
              <a:gd name="adj3" fmla="val 6898"/>
              <a:gd name="adj4" fmla="val 105421"/>
              <a:gd name="adj5" fmla="val -26819"/>
              <a:gd name="adj6" fmla="val 105394"/>
            </a:avLst>
          </a:prstGeom>
          <a:solidFill>
            <a:srgbClr val="FFFF00"/>
          </a:solidFill>
          <a:ln w="25400">
            <a:solidFill>
              <a:schemeClr val="tx1"/>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452438" indent="-2730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buSzPct val="80000"/>
              <a:buFont typeface="Wingdings" panose="05000000000000000000" pitchFamily="2" charset="2"/>
              <a:buChar char="l"/>
            </a:pPr>
            <a:r>
              <a:rPr lang="zh-CN" altLang="zh-CN" b="1">
                <a:latin typeface="Times New Roman" panose="02020603050405020304" pitchFamily="18" charset="0"/>
              </a:rPr>
              <a:t>事务异常终止</a:t>
            </a:r>
          </a:p>
          <a:p>
            <a:pPr lvl="1" eaLnBrk="1" hangingPunct="1">
              <a:buSzPct val="80000"/>
              <a:buFont typeface="Wingdings" panose="05000000000000000000" pitchFamily="2" charset="2"/>
              <a:buChar char="l"/>
            </a:pPr>
            <a:r>
              <a:rPr lang="zh-CN" altLang="zh-CN" b="1">
                <a:latin typeface="Times New Roman" panose="02020603050405020304" pitchFamily="18" charset="0"/>
              </a:rPr>
              <a:t>事务运行的过程中发生了故障，不能继续执行</a:t>
            </a:r>
          </a:p>
          <a:p>
            <a:pPr lvl="1" eaLnBrk="1" hangingPunct="1">
              <a:buSzPct val="80000"/>
              <a:buFont typeface="Wingdings" panose="05000000000000000000" pitchFamily="2" charset="2"/>
              <a:buChar char="l"/>
            </a:pPr>
            <a:r>
              <a:rPr lang="zh-CN" altLang="zh-CN" b="1">
                <a:latin typeface="Times New Roman" panose="02020603050405020304" pitchFamily="18" charset="0"/>
              </a:rPr>
              <a:t>系统将事务中对数据库的所有已完成的操作全部撤销 </a:t>
            </a:r>
          </a:p>
          <a:p>
            <a:pPr lvl="1" eaLnBrk="1" hangingPunct="1">
              <a:buSzPct val="80000"/>
              <a:buFont typeface="Wingdings" panose="05000000000000000000" pitchFamily="2" charset="2"/>
              <a:buChar char="l"/>
            </a:pPr>
            <a:r>
              <a:rPr lang="zh-CN" altLang="zh-CN" b="1">
                <a:latin typeface="Times New Roman" panose="02020603050405020304" pitchFamily="18" charset="0"/>
              </a:rPr>
              <a:t>事务滚回到</a:t>
            </a:r>
            <a:r>
              <a:rPr lang="zh-CN" altLang="zh-CN" b="1">
                <a:solidFill>
                  <a:srgbClr val="FF00FF"/>
                </a:solidFill>
                <a:latin typeface="Times New Roman" panose="02020603050405020304" pitchFamily="18" charset="0"/>
              </a:rPr>
              <a:t>开始</a:t>
            </a:r>
            <a:r>
              <a:rPr lang="zh-CN" altLang="zh-CN" b="1">
                <a:latin typeface="Times New Roman" panose="02020603050405020304" pitchFamily="18" charset="0"/>
              </a:rPr>
              <a:t>时的状态</a:t>
            </a:r>
          </a:p>
        </p:txBody>
      </p:sp>
      <p:sp>
        <p:nvSpPr>
          <p:cNvPr id="7174" name="AutoShape 7"/>
          <p:cNvSpPr>
            <a:spLocks/>
          </p:cNvSpPr>
          <p:nvPr/>
        </p:nvSpPr>
        <p:spPr bwMode="auto">
          <a:xfrm>
            <a:off x="2339975" y="3573463"/>
            <a:ext cx="5324475" cy="1584325"/>
          </a:xfrm>
          <a:prstGeom prst="borderCallout2">
            <a:avLst>
              <a:gd name="adj1" fmla="val 7213"/>
              <a:gd name="adj2" fmla="val -1431"/>
              <a:gd name="adj3" fmla="val 7213"/>
              <a:gd name="adj4" fmla="val -6736"/>
              <a:gd name="adj5" fmla="val -13625"/>
              <a:gd name="adj6" fmla="val -12255"/>
            </a:avLst>
          </a:prstGeom>
          <a:solidFill>
            <a:srgbClr val="FFFF00"/>
          </a:solidFill>
          <a:ln w="25400">
            <a:solidFill>
              <a:schemeClr val="tx1"/>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eaLnBrk="1" hangingPunct="1">
              <a:buSzPct val="85000"/>
              <a:buFont typeface="Wingdings" panose="05000000000000000000" pitchFamily="2" charset="2"/>
              <a:buChar char="l"/>
            </a:pPr>
            <a:r>
              <a:rPr lang="zh-CN" altLang="en-US" b="1">
                <a:latin typeface="Times New Roman" panose="02020603050405020304" pitchFamily="18" charset="0"/>
              </a:rPr>
              <a:t>事务正常结束   </a:t>
            </a:r>
          </a:p>
          <a:p>
            <a:pPr lvl="1" eaLnBrk="1" hangingPunct="1">
              <a:buSzPct val="85000"/>
              <a:buFont typeface="Wingdings" panose="05000000000000000000" pitchFamily="2" charset="2"/>
              <a:buChar char="l"/>
            </a:pPr>
            <a:r>
              <a:rPr lang="zh-CN" altLang="en-US" b="1">
                <a:solidFill>
                  <a:srgbClr val="FF00FF"/>
                </a:solidFill>
                <a:latin typeface="Times New Roman" panose="02020603050405020304" pitchFamily="18" charset="0"/>
              </a:rPr>
              <a:t>提交</a:t>
            </a:r>
            <a:r>
              <a:rPr lang="zh-CN" altLang="en-US" b="1">
                <a:latin typeface="Times New Roman" panose="02020603050405020304" pitchFamily="18" charset="0"/>
              </a:rPr>
              <a:t>事务的所有操作（</a:t>
            </a:r>
            <a:r>
              <a:rPr lang="zh-CN" altLang="en-US" b="1">
                <a:solidFill>
                  <a:srgbClr val="FF00FF"/>
                </a:solidFill>
                <a:latin typeface="Times New Roman" panose="02020603050405020304" pitchFamily="18" charset="0"/>
              </a:rPr>
              <a:t>读</a:t>
            </a:r>
            <a:r>
              <a:rPr lang="en-US" altLang="zh-CN" b="1">
                <a:solidFill>
                  <a:srgbClr val="FF00FF"/>
                </a:solidFill>
                <a:latin typeface="Times New Roman" panose="02020603050405020304" pitchFamily="18" charset="0"/>
              </a:rPr>
              <a:t>+</a:t>
            </a:r>
            <a:r>
              <a:rPr lang="zh-CN" altLang="en-US" b="1">
                <a:solidFill>
                  <a:srgbClr val="FF00FF"/>
                </a:solidFill>
                <a:latin typeface="Times New Roman" panose="02020603050405020304" pitchFamily="18" charset="0"/>
              </a:rPr>
              <a:t>更新</a:t>
            </a:r>
            <a:r>
              <a:rPr lang="zh-CN" altLang="en-US" b="1">
                <a:latin typeface="Times New Roman" panose="02020603050405020304" pitchFamily="18" charset="0"/>
              </a:rPr>
              <a:t>）</a:t>
            </a:r>
          </a:p>
          <a:p>
            <a:pPr lvl="1" eaLnBrk="1" hangingPunct="1">
              <a:buSzPct val="85000"/>
              <a:buFont typeface="Wingdings" panose="05000000000000000000" pitchFamily="2" charset="2"/>
              <a:buChar char="l"/>
            </a:pPr>
            <a:r>
              <a:rPr lang="zh-CN" altLang="en-US" b="1">
                <a:latin typeface="Times New Roman" panose="02020603050405020304" pitchFamily="18" charset="0"/>
              </a:rPr>
              <a:t>事务中所有对数据库的更新写回到磁盘上的物理数据库中</a:t>
            </a:r>
          </a:p>
          <a:p>
            <a:pPr algn="ctr" eaLnBrk="1" hangingPunct="1">
              <a:buSzPct val="100000"/>
              <a:buFont typeface="Wingdings" panose="05000000000000000000" pitchFamily="2" charset="2"/>
              <a:buNone/>
            </a:pPr>
            <a:endParaRPr lang="en-US" altLang="zh-CN" b="1">
              <a:latin typeface="Times New Roman" panose="02020603050405020304" pitchFamily="18" charset="0"/>
            </a:endParaRPr>
          </a:p>
        </p:txBody>
      </p:sp>
    </p:spTree>
    <p:extLst>
      <p:ext uri="{BB962C8B-B14F-4D97-AF65-F5344CB8AC3E}">
        <p14:creationId xmlns:p14="http://schemas.microsoft.com/office/powerpoint/2010/main" val="3734974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 calcmode="lin" valueType="num">
                                      <p:cBhvr additive="base">
                                        <p:cTn id="7" dur="500" fill="hold"/>
                                        <p:tgtEl>
                                          <p:spTgt spid="71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2">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7172">
                                            <p:txEl>
                                              <p:pRg st="1" end="1"/>
                                            </p:txEl>
                                          </p:spTgt>
                                        </p:tgtEl>
                                        <p:attrNameLst>
                                          <p:attrName>style.visibility</p:attrName>
                                        </p:attrNameLst>
                                      </p:cBhvr>
                                      <p:to>
                                        <p:strVal val="visible"/>
                                      </p:to>
                                    </p:set>
                                    <p:anim calcmode="lin" valueType="num">
                                      <p:cBhvr additive="base">
                                        <p:cTn id="11"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2">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7172">
                                            <p:txEl>
                                              <p:pRg st="2" end="2"/>
                                            </p:txEl>
                                          </p:spTgt>
                                        </p:tgtEl>
                                        <p:attrNameLst>
                                          <p:attrName>style.visibility</p:attrName>
                                        </p:attrNameLst>
                                      </p:cBhvr>
                                      <p:to>
                                        <p:strVal val="visible"/>
                                      </p:to>
                                    </p:set>
                                    <p:anim calcmode="lin" valueType="num">
                                      <p:cBhvr additive="base">
                                        <p:cTn id="15" dur="500" fill="hold"/>
                                        <p:tgtEl>
                                          <p:spTgt spid="717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2">
                                            <p:txEl>
                                              <p:pRg st="2" end="2"/>
                                            </p:tx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7172">
                                            <p:txEl>
                                              <p:pRg st="3" end="3"/>
                                            </p:txEl>
                                          </p:spTgt>
                                        </p:tgtEl>
                                        <p:attrNameLst>
                                          <p:attrName>style.visibility</p:attrName>
                                        </p:attrNameLst>
                                      </p:cBhvr>
                                      <p:to>
                                        <p:strVal val="visible"/>
                                      </p:to>
                                    </p:set>
                                    <p:anim calcmode="lin" valueType="num">
                                      <p:cBhvr additive="base">
                                        <p:cTn id="19" dur="500" fill="hold"/>
                                        <p:tgtEl>
                                          <p:spTgt spid="717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pRg st="3" end="3"/>
                                            </p:tx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0"/>
                                  </p:stCondLst>
                                  <p:childTnLst>
                                    <p:set>
                                      <p:cBhvr>
                                        <p:cTn id="22" dur="1" fill="hold">
                                          <p:stCondLst>
                                            <p:cond delay="0"/>
                                          </p:stCondLst>
                                        </p:cTn>
                                        <p:tgtEl>
                                          <p:spTgt spid="7172">
                                            <p:txEl>
                                              <p:pRg st="4" end="4"/>
                                            </p:txEl>
                                          </p:spTgt>
                                        </p:tgtEl>
                                        <p:attrNameLst>
                                          <p:attrName>style.visibility</p:attrName>
                                        </p:attrNameLst>
                                      </p:cBhvr>
                                      <p:to>
                                        <p:strVal val="visible"/>
                                      </p:to>
                                    </p:set>
                                    <p:anim calcmode="lin" valueType="num">
                                      <p:cBhvr additive="base">
                                        <p:cTn id="23" dur="500" fill="hold"/>
                                        <p:tgtEl>
                                          <p:spTgt spid="717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2">
                                            <p:txEl>
                                              <p:pRg st="4" end="4"/>
                                            </p:tx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 calcmode="lin" valueType="num">
                                      <p:cBhvr additive="base">
                                        <p:cTn id="27" dur="500" fill="hold"/>
                                        <p:tgtEl>
                                          <p:spTgt spid="717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2">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174"/>
                                        </p:tgtEl>
                                        <p:attrNameLst>
                                          <p:attrName>style.visibility</p:attrName>
                                        </p:attrNameLst>
                                      </p:cBhvr>
                                      <p:to>
                                        <p:strVal val="visible"/>
                                      </p:to>
                                    </p:set>
                                    <p:animEffect transition="in" filter="blinds(horizontal)">
                                      <p:cBhvr>
                                        <p:cTn id="33" dur="500"/>
                                        <p:tgtEl>
                                          <p:spTgt spid="717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xit" presetSubtype="0" fill="hold" grpId="0" nodeType="clickEffect">
                                  <p:stCondLst>
                                    <p:cond delay="0"/>
                                  </p:stCondLst>
                                  <p:childTnLst>
                                    <p:set>
                                      <p:cBhvr>
                                        <p:cTn id="37" dur="1" fill="hold">
                                          <p:stCondLst>
                                            <p:cond delay="0"/>
                                          </p:stCondLst>
                                        </p:cTn>
                                        <p:tgtEl>
                                          <p:spTgt spid="7174"/>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173"/>
                                        </p:tgtEl>
                                        <p:attrNameLst>
                                          <p:attrName>style.visibility</p:attrName>
                                        </p:attrNameLst>
                                      </p:cBhvr>
                                      <p:to>
                                        <p:strVal val="visible"/>
                                      </p:to>
                                    </p:set>
                                    <p:animEffect transition="in" filter="blinds(horizontal)">
                                      <p:cBhvr>
                                        <p:cTn id="42" dur="500"/>
                                        <p:tgtEl>
                                          <p:spTgt spid="71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7173"/>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172">
                                            <p:txEl>
                                              <p:pRg st="6" end="6"/>
                                            </p:txEl>
                                          </p:spTgt>
                                        </p:tgtEl>
                                        <p:attrNameLst>
                                          <p:attrName>style.visibility</p:attrName>
                                        </p:attrNameLst>
                                      </p:cBhvr>
                                      <p:to>
                                        <p:strVal val="visible"/>
                                      </p:to>
                                    </p:set>
                                    <p:anim calcmode="lin" valueType="num">
                                      <p:cBhvr additive="base">
                                        <p:cTn id="51" dur="500" fill="hold"/>
                                        <p:tgtEl>
                                          <p:spTgt spid="7172">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172">
                                            <p:txEl>
                                              <p:pRg st="6" end="6"/>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7172">
                                            <p:txEl>
                                              <p:pRg st="7" end="7"/>
                                            </p:txEl>
                                          </p:spTgt>
                                        </p:tgtEl>
                                        <p:attrNameLst>
                                          <p:attrName>style.visibility</p:attrName>
                                        </p:attrNameLst>
                                      </p:cBhvr>
                                      <p:to>
                                        <p:strVal val="visible"/>
                                      </p:to>
                                    </p:set>
                                    <p:anim calcmode="lin" valueType="num">
                                      <p:cBhvr additive="base">
                                        <p:cTn id="55" dur="500" fill="hold"/>
                                        <p:tgtEl>
                                          <p:spTgt spid="7172">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172">
                                            <p:txEl>
                                              <p:pRg st="7" end="7"/>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7172">
                                            <p:txEl>
                                              <p:pRg st="8" end="8"/>
                                            </p:txEl>
                                          </p:spTgt>
                                        </p:tgtEl>
                                        <p:attrNameLst>
                                          <p:attrName>style.visibility</p:attrName>
                                        </p:attrNameLst>
                                      </p:cBhvr>
                                      <p:to>
                                        <p:strVal val="visible"/>
                                      </p:to>
                                    </p:set>
                                    <p:anim calcmode="lin" valueType="num">
                                      <p:cBhvr additive="base">
                                        <p:cTn id="59" dur="500" fill="hold"/>
                                        <p:tgtEl>
                                          <p:spTgt spid="7172">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717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allAtOnce"/>
      <p:bldP spid="7173" grpId="0" bldLvl="0" animBg="1" autoUpdateAnimBg="0"/>
      <p:bldP spid="7173" grpId="1" animBg="1"/>
      <p:bldP spid="7174"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1400">
              <a:solidFill>
                <a:srgbClr val="F03628"/>
              </a:solidFill>
            </a:endParaRPr>
          </a:p>
        </p:txBody>
      </p:sp>
      <p:sp>
        <p:nvSpPr>
          <p:cNvPr id="10243"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smtClean="0"/>
              <a:t>事务的特性（</a:t>
            </a:r>
            <a:r>
              <a:rPr lang="en-US" altLang="zh-CN" sz="3600" dirty="0" smtClean="0"/>
              <a:t>ACID</a:t>
            </a:r>
            <a:r>
              <a:rPr lang="zh-CN" altLang="en-US" sz="3600" dirty="0" smtClean="0"/>
              <a:t>特性）</a:t>
            </a:r>
            <a:endParaRPr lang="en-US" altLang="zh-CN" sz="3600" dirty="0" smtClean="0"/>
          </a:p>
        </p:txBody>
      </p:sp>
      <p:sp>
        <p:nvSpPr>
          <p:cNvPr id="10244" name="Rectangle 3"/>
          <p:cNvSpPr>
            <a:spLocks noGrp="1" noChangeArrowheads="1"/>
          </p:cNvSpPr>
          <p:nvPr>
            <p:ph type="body" idx="4294967295"/>
          </p:nvPr>
        </p:nvSpPr>
        <p:spPr>
          <a:xfrm>
            <a:off x="457200" y="1484313"/>
            <a:ext cx="8229600" cy="4840287"/>
          </a:xfrm>
        </p:spPr>
        <p:txBody>
          <a:bodyPr>
            <a:normAutofit fontScale="92500" lnSpcReduction="20000"/>
          </a:bodyPr>
          <a:lstStyle/>
          <a:p>
            <a:pPr marL="765175" indent="-485775" eaLnBrk="1" hangingPunct="1">
              <a:buFont typeface="Wingdings" panose="05000000000000000000" pitchFamily="2" charset="2"/>
              <a:buNone/>
            </a:pPr>
            <a:r>
              <a:rPr lang="zh-CN" altLang="en-US" dirty="0" smtClean="0"/>
              <a:t>事务的</a:t>
            </a:r>
            <a:r>
              <a:rPr lang="en-US" altLang="zh-CN" dirty="0" smtClean="0"/>
              <a:t>ACID</a:t>
            </a:r>
            <a:r>
              <a:rPr lang="zh-CN" altLang="en-US" dirty="0" smtClean="0"/>
              <a:t>特性：</a:t>
            </a:r>
          </a:p>
          <a:p>
            <a:pPr marL="765175" indent="-485775" eaLnBrk="1" hangingPunct="1">
              <a:lnSpc>
                <a:spcPct val="130000"/>
              </a:lnSpc>
            </a:pPr>
            <a:r>
              <a:rPr lang="zh-CN" altLang="en-US" dirty="0" smtClean="0"/>
              <a:t>原子性（</a:t>
            </a:r>
            <a:r>
              <a:rPr lang="en-US" altLang="zh-CN" dirty="0" smtClean="0"/>
              <a:t>Atomicity</a:t>
            </a:r>
            <a:r>
              <a:rPr lang="zh-CN" altLang="en-US" dirty="0" smtClean="0"/>
              <a:t>）</a:t>
            </a:r>
            <a:endParaRPr lang="en-US" altLang="zh-CN" dirty="0" smtClean="0"/>
          </a:p>
          <a:p>
            <a:pPr marL="1222375" lvl="1" indent="-485775">
              <a:lnSpc>
                <a:spcPct val="130000"/>
              </a:lnSpc>
            </a:pPr>
            <a:r>
              <a:rPr lang="zh-CN" altLang="en-US" dirty="0"/>
              <a:t>事务中包括的诸操作要么都做，要么都不做</a:t>
            </a:r>
          </a:p>
          <a:p>
            <a:pPr marL="765175" indent="-485775" eaLnBrk="1" hangingPunct="1">
              <a:lnSpc>
                <a:spcPct val="130000"/>
              </a:lnSpc>
            </a:pPr>
            <a:r>
              <a:rPr lang="zh-CN" altLang="en-US" dirty="0" smtClean="0"/>
              <a:t>一致性（</a:t>
            </a:r>
            <a:r>
              <a:rPr lang="en-US" altLang="zh-CN" dirty="0" smtClean="0"/>
              <a:t>Consistency</a:t>
            </a:r>
            <a:r>
              <a:rPr lang="zh-CN" altLang="en-US" dirty="0" smtClean="0"/>
              <a:t>）</a:t>
            </a:r>
            <a:endParaRPr lang="en-US" altLang="zh-CN" dirty="0" smtClean="0"/>
          </a:p>
          <a:p>
            <a:pPr marL="1222375" lvl="1" indent="-485775">
              <a:lnSpc>
                <a:spcPct val="130000"/>
              </a:lnSpc>
            </a:pPr>
            <a:r>
              <a:rPr lang="zh-CN" altLang="zh-CN" dirty="0"/>
              <a:t>数据库中只包含成功事务提交的结果</a:t>
            </a:r>
          </a:p>
          <a:p>
            <a:pPr marL="765175" indent="-485775" eaLnBrk="1" hangingPunct="1">
              <a:lnSpc>
                <a:spcPct val="130000"/>
              </a:lnSpc>
            </a:pPr>
            <a:r>
              <a:rPr lang="zh-CN" altLang="en-US" dirty="0" smtClean="0"/>
              <a:t>隔离性（</a:t>
            </a:r>
            <a:r>
              <a:rPr lang="en-US" altLang="zh-CN" dirty="0" smtClean="0"/>
              <a:t>Isolation</a:t>
            </a:r>
            <a:r>
              <a:rPr lang="zh-CN" altLang="en-US" dirty="0" smtClean="0"/>
              <a:t>）</a:t>
            </a:r>
            <a:endParaRPr lang="en-US" altLang="zh-CN" dirty="0" smtClean="0"/>
          </a:p>
          <a:p>
            <a:pPr marL="1222375" lvl="1" indent="-485775">
              <a:lnSpc>
                <a:spcPct val="130000"/>
              </a:lnSpc>
            </a:pPr>
            <a:r>
              <a:rPr lang="zh-CN" altLang="en-US" dirty="0"/>
              <a:t>一个事务的执行不能被其他事务</a:t>
            </a:r>
            <a:r>
              <a:rPr lang="zh-CN" altLang="en-US" dirty="0" smtClean="0"/>
              <a:t>干扰</a:t>
            </a:r>
          </a:p>
          <a:p>
            <a:pPr marL="765175" indent="-485775" eaLnBrk="1" hangingPunct="1">
              <a:lnSpc>
                <a:spcPct val="130000"/>
              </a:lnSpc>
            </a:pPr>
            <a:r>
              <a:rPr lang="zh-CN" altLang="en-US" dirty="0" smtClean="0"/>
              <a:t>持续性（</a:t>
            </a:r>
            <a:r>
              <a:rPr lang="en-US" altLang="zh-CN" dirty="0" smtClean="0"/>
              <a:t>Durability </a:t>
            </a:r>
            <a:r>
              <a:rPr lang="zh-CN" altLang="en-US" dirty="0" smtClean="0"/>
              <a:t>）</a:t>
            </a:r>
            <a:endParaRPr lang="en-US" altLang="zh-CN" dirty="0" smtClean="0"/>
          </a:p>
          <a:p>
            <a:pPr marL="1222375" lvl="1" indent="-485775">
              <a:lnSpc>
                <a:spcPct val="130000"/>
              </a:lnSpc>
            </a:pPr>
            <a:r>
              <a:rPr lang="zh-CN" altLang="en-US" dirty="0"/>
              <a:t>一个事务一旦提交，它对数据库中数据的改变就应该是永久性的。</a:t>
            </a:r>
          </a:p>
          <a:p>
            <a:pPr marL="765175" indent="-485775" eaLnBrk="1" hangingPunct="1">
              <a:lnSpc>
                <a:spcPct val="130000"/>
              </a:lnSpc>
            </a:pPr>
            <a:endParaRPr lang="zh-CN" altLang="en-US" dirty="0" smtClean="0"/>
          </a:p>
        </p:txBody>
      </p:sp>
    </p:spTree>
    <p:extLst>
      <p:ext uri="{BB962C8B-B14F-4D97-AF65-F5344CB8AC3E}">
        <p14:creationId xmlns:p14="http://schemas.microsoft.com/office/powerpoint/2010/main" val="326881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57200" y="344307"/>
            <a:ext cx="7391400" cy="563562"/>
          </a:xfrm>
        </p:spPr>
        <p:txBody>
          <a:bodyPr>
            <a:normAutofit fontScale="90000"/>
          </a:bodyPr>
          <a:lstStyle/>
          <a:p>
            <a:r>
              <a:rPr lang="en-US" altLang="zh-CN" sz="3600" dirty="0" smtClean="0"/>
              <a:t> 2.</a:t>
            </a:r>
            <a:r>
              <a:rPr lang="zh-CN" altLang="en-US" sz="3600" dirty="0" smtClean="0"/>
              <a:t>并发控制</a:t>
            </a:r>
            <a:r>
              <a:rPr lang="zh-CN" altLang="en-US" sz="3600" dirty="0">
                <a:solidFill>
                  <a:srgbClr val="FF0000"/>
                </a:solidFill>
                <a:ea typeface="宋体" charset="-122"/>
              </a:rPr>
              <a:t>（对应第</a:t>
            </a:r>
            <a:r>
              <a:rPr lang="en-US" altLang="zh-CN" sz="3600" dirty="0">
                <a:solidFill>
                  <a:srgbClr val="FF0000"/>
                </a:solidFill>
                <a:ea typeface="宋体" charset="-122"/>
              </a:rPr>
              <a:t>11</a:t>
            </a:r>
            <a:r>
              <a:rPr lang="zh-CN" altLang="en-US" sz="3600" dirty="0">
                <a:solidFill>
                  <a:srgbClr val="FF0000"/>
                </a:solidFill>
                <a:ea typeface="宋体" charset="-122"/>
              </a:rPr>
              <a:t>章</a:t>
            </a:r>
            <a:r>
              <a:rPr lang="zh-CN" altLang="en-US" sz="3600" dirty="0" smtClean="0">
                <a:solidFill>
                  <a:srgbClr val="FF0000"/>
                </a:solidFill>
                <a:ea typeface="宋体" charset="-122"/>
              </a:rPr>
              <a:t>）</a:t>
            </a:r>
            <a:endParaRPr lang="zh-CN" altLang="en-US" sz="3600" dirty="0" smtClean="0"/>
          </a:p>
        </p:txBody>
      </p:sp>
      <p:sp>
        <p:nvSpPr>
          <p:cNvPr id="5123" name="Rectangle 3"/>
          <p:cNvSpPr>
            <a:spLocks noGrp="1" noChangeArrowheads="1"/>
          </p:cNvSpPr>
          <p:nvPr>
            <p:ph type="body" idx="4294967295"/>
          </p:nvPr>
        </p:nvSpPr>
        <p:spPr>
          <a:xfrm>
            <a:off x="457200" y="1196975"/>
            <a:ext cx="8229600" cy="4697413"/>
          </a:xfrm>
        </p:spPr>
        <p:txBody>
          <a:bodyPr/>
          <a:lstStyle/>
          <a:p>
            <a:pPr eaLnBrk="1" hangingPunct="1">
              <a:lnSpc>
                <a:spcPct val="180000"/>
              </a:lnSpc>
            </a:pPr>
            <a:r>
              <a:rPr lang="zh-CN" altLang="en-US" smtClean="0"/>
              <a:t>多用户数据库系统</a:t>
            </a:r>
          </a:p>
          <a:p>
            <a:pPr eaLnBrk="1" hangingPunct="1">
              <a:lnSpc>
                <a:spcPct val="180000"/>
              </a:lnSpc>
              <a:buFont typeface="Wingdings" panose="05000000000000000000" pitchFamily="2" charset="2"/>
              <a:buNone/>
            </a:pPr>
            <a:r>
              <a:rPr lang="zh-CN" altLang="en-US" smtClean="0"/>
              <a:t>    允许多个用户同时使用的数据库系统</a:t>
            </a:r>
          </a:p>
          <a:p>
            <a:pPr lvl="1" eaLnBrk="1" hangingPunct="1">
              <a:lnSpc>
                <a:spcPct val="180000"/>
              </a:lnSpc>
            </a:pPr>
            <a:r>
              <a:rPr lang="zh-CN" altLang="en-US" smtClean="0"/>
              <a:t>飞机定票数据库系统</a:t>
            </a:r>
          </a:p>
          <a:p>
            <a:pPr lvl="1" eaLnBrk="1" hangingPunct="1">
              <a:lnSpc>
                <a:spcPct val="180000"/>
              </a:lnSpc>
            </a:pPr>
            <a:r>
              <a:rPr lang="zh-CN" altLang="en-US" smtClean="0"/>
              <a:t>银行数据库系统 </a:t>
            </a:r>
          </a:p>
          <a:p>
            <a:pPr lvl="1" eaLnBrk="1" hangingPunct="1">
              <a:lnSpc>
                <a:spcPct val="180000"/>
              </a:lnSpc>
            </a:pPr>
            <a:r>
              <a:rPr lang="zh-CN" altLang="en-US" smtClean="0"/>
              <a:t>特点：在同一时刻并发运行的事务数可达数百上千个 </a:t>
            </a:r>
          </a:p>
        </p:txBody>
      </p:sp>
    </p:spTree>
    <p:extLst>
      <p:ext uri="{BB962C8B-B14F-4D97-AF65-F5344CB8AC3E}">
        <p14:creationId xmlns:p14="http://schemas.microsoft.com/office/powerpoint/2010/main" val="29663153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14400" y="122238"/>
            <a:ext cx="7391400" cy="563562"/>
          </a:xfrm>
        </p:spPr>
        <p:txBody>
          <a:bodyPr>
            <a:normAutofit fontScale="90000"/>
          </a:bodyPr>
          <a:lstStyle/>
          <a:p>
            <a:pPr eaLnBrk="1" hangingPunct="1"/>
            <a:r>
              <a:rPr lang="en-US" altLang="zh-CN" sz="3600" smtClean="0"/>
              <a:t> </a:t>
            </a:r>
            <a:r>
              <a:rPr lang="zh-CN" altLang="en-US" sz="3600" smtClean="0"/>
              <a:t>并发控制（续）</a:t>
            </a:r>
          </a:p>
        </p:txBody>
      </p:sp>
      <p:sp>
        <p:nvSpPr>
          <p:cNvPr id="6147" name="Rectangle 3"/>
          <p:cNvSpPr>
            <a:spLocks noGrp="1" noChangeArrowheads="1"/>
          </p:cNvSpPr>
          <p:nvPr>
            <p:ph type="body" idx="4294967295"/>
          </p:nvPr>
        </p:nvSpPr>
        <p:spPr>
          <a:xfrm>
            <a:off x="457200" y="1196975"/>
            <a:ext cx="6346825" cy="4495800"/>
          </a:xfrm>
        </p:spPr>
        <p:txBody>
          <a:bodyPr/>
          <a:lstStyle/>
          <a:p>
            <a:pPr algn="just" eaLnBrk="1" hangingPunct="1">
              <a:lnSpc>
                <a:spcPct val="150000"/>
              </a:lnSpc>
            </a:pPr>
            <a:r>
              <a:rPr lang="zh-CN" altLang="en-US" smtClean="0"/>
              <a:t>多事务执行方式 </a:t>
            </a:r>
          </a:p>
          <a:p>
            <a:pPr algn="just" eaLnBrk="1" hangingPunct="1">
              <a:lnSpc>
                <a:spcPct val="150000"/>
              </a:lnSpc>
              <a:spcBef>
                <a:spcPct val="50000"/>
              </a:spcBef>
              <a:buFont typeface="Wingdings" panose="05000000000000000000" pitchFamily="2" charset="2"/>
              <a:buNone/>
            </a:pPr>
            <a:r>
              <a:rPr lang="zh-CN" altLang="en-US" sz="2400" smtClean="0"/>
              <a:t>  （</a:t>
            </a:r>
            <a:r>
              <a:rPr lang="en-US" altLang="zh-CN" sz="2400" smtClean="0"/>
              <a:t>1</a:t>
            </a:r>
            <a:r>
              <a:rPr lang="zh-CN" altLang="en-US" sz="2400" smtClean="0"/>
              <a:t>）事务串行执行</a:t>
            </a:r>
          </a:p>
          <a:p>
            <a:pPr lvl="1" algn="just" eaLnBrk="1" hangingPunct="1">
              <a:lnSpc>
                <a:spcPct val="150000"/>
              </a:lnSpc>
              <a:spcBef>
                <a:spcPct val="50000"/>
              </a:spcBef>
            </a:pPr>
            <a:r>
              <a:rPr lang="zh-CN" altLang="en-US" smtClean="0"/>
              <a:t>每个时刻只有一个事务运行，其他事务必须等到这个事务结束以后方能运行</a:t>
            </a:r>
          </a:p>
          <a:p>
            <a:pPr lvl="1" algn="just" eaLnBrk="1" hangingPunct="1">
              <a:lnSpc>
                <a:spcPct val="150000"/>
              </a:lnSpc>
              <a:spcBef>
                <a:spcPct val="50000"/>
              </a:spcBef>
            </a:pPr>
            <a:r>
              <a:rPr lang="zh-CN" altLang="en-US" smtClean="0"/>
              <a:t>不能充分利用系统资源，发挥数据库共享资源的特点</a:t>
            </a:r>
          </a:p>
        </p:txBody>
      </p:sp>
      <p:sp>
        <p:nvSpPr>
          <p:cNvPr id="6148" name="Line 10"/>
          <p:cNvSpPr>
            <a:spLocks noChangeShapeType="1"/>
          </p:cNvSpPr>
          <p:nvPr/>
        </p:nvSpPr>
        <p:spPr bwMode="auto">
          <a:xfrm>
            <a:off x="7740650" y="2276475"/>
            <a:ext cx="0" cy="30241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 name="Line 11"/>
          <p:cNvSpPr>
            <a:spLocks noChangeShapeType="1"/>
          </p:cNvSpPr>
          <p:nvPr/>
        </p:nvSpPr>
        <p:spPr bwMode="auto">
          <a:xfrm>
            <a:off x="7740650" y="3716338"/>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0" name="Line 12"/>
          <p:cNvSpPr>
            <a:spLocks noChangeShapeType="1"/>
          </p:cNvSpPr>
          <p:nvPr/>
        </p:nvSpPr>
        <p:spPr bwMode="auto">
          <a:xfrm>
            <a:off x="7740650" y="4652963"/>
            <a:ext cx="215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1" name="Text Box 13"/>
          <p:cNvSpPr txBox="1">
            <a:spLocks noChangeArrowheads="1"/>
          </p:cNvSpPr>
          <p:nvPr/>
        </p:nvSpPr>
        <p:spPr bwMode="auto">
          <a:xfrm>
            <a:off x="7739063" y="2846388"/>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1</a:t>
            </a:r>
          </a:p>
        </p:txBody>
      </p:sp>
      <p:sp>
        <p:nvSpPr>
          <p:cNvPr id="6152" name="Text Box 14"/>
          <p:cNvSpPr txBox="1">
            <a:spLocks noChangeArrowheads="1"/>
          </p:cNvSpPr>
          <p:nvPr/>
        </p:nvSpPr>
        <p:spPr bwMode="auto">
          <a:xfrm>
            <a:off x="7758113" y="38608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2</a:t>
            </a:r>
          </a:p>
        </p:txBody>
      </p:sp>
      <p:sp>
        <p:nvSpPr>
          <p:cNvPr id="6153" name="Text Box 15"/>
          <p:cNvSpPr txBox="1">
            <a:spLocks noChangeArrowheads="1"/>
          </p:cNvSpPr>
          <p:nvPr/>
        </p:nvSpPr>
        <p:spPr bwMode="auto">
          <a:xfrm>
            <a:off x="7758113" y="47244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b="1">
                <a:latin typeface="Times New Roman" panose="02020603050405020304" pitchFamily="18" charset="0"/>
              </a:rPr>
              <a:t>T</a:t>
            </a:r>
            <a:r>
              <a:rPr lang="en-US" altLang="zh-CN" b="1" baseline="-25000">
                <a:latin typeface="Times New Roman" panose="02020603050405020304" pitchFamily="18" charset="0"/>
              </a:rPr>
              <a:t>3</a:t>
            </a:r>
          </a:p>
        </p:txBody>
      </p:sp>
      <p:sp>
        <p:nvSpPr>
          <p:cNvPr id="6154" name="Text Box 16"/>
          <p:cNvSpPr txBox="1">
            <a:spLocks noChangeArrowheads="1"/>
          </p:cNvSpPr>
          <p:nvPr/>
        </p:nvSpPr>
        <p:spPr bwMode="auto">
          <a:xfrm>
            <a:off x="6516688" y="5589588"/>
            <a:ext cx="2241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事务的串行执行方式</a:t>
            </a:r>
          </a:p>
        </p:txBody>
      </p:sp>
    </p:spTree>
    <p:extLst>
      <p:ext uri="{BB962C8B-B14F-4D97-AF65-F5344CB8AC3E}">
        <p14:creationId xmlns:p14="http://schemas.microsoft.com/office/powerpoint/2010/main" val="41641547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smtClean="0"/>
              <a:t>并发控制（续）</a:t>
            </a:r>
          </a:p>
        </p:txBody>
      </p:sp>
      <p:sp>
        <p:nvSpPr>
          <p:cNvPr id="7171" name="Rectangle 3"/>
          <p:cNvSpPr>
            <a:spLocks noGrp="1" noChangeArrowheads="1"/>
          </p:cNvSpPr>
          <p:nvPr>
            <p:ph type="body" idx="4294967295"/>
          </p:nvPr>
        </p:nvSpPr>
        <p:spPr>
          <a:xfrm>
            <a:off x="323850" y="1931988"/>
            <a:ext cx="6059488" cy="3762375"/>
          </a:xfrm>
        </p:spPr>
        <p:txBody>
          <a:bodyPr/>
          <a:lstStyle/>
          <a:p>
            <a:pPr lvl="1" algn="just" eaLnBrk="1" hangingPunct="1">
              <a:lnSpc>
                <a:spcPct val="150000"/>
              </a:lnSpc>
              <a:spcBef>
                <a:spcPct val="50000"/>
              </a:spcBef>
            </a:pPr>
            <a:r>
              <a:rPr lang="zh-CN" altLang="en-US" smtClean="0"/>
              <a:t>在单处理机系统中，事务的并行执行是这些并行事务的并行操作轮流交叉运行</a:t>
            </a:r>
          </a:p>
          <a:p>
            <a:pPr lvl="1" algn="just" eaLnBrk="1" hangingPunct="1">
              <a:lnSpc>
                <a:spcPct val="150000"/>
              </a:lnSpc>
              <a:spcBef>
                <a:spcPct val="50000"/>
              </a:spcBef>
            </a:pPr>
            <a:r>
              <a:rPr lang="zh-CN" altLang="en-US" smtClean="0"/>
              <a:t>单处理机系统中的并行事务并没有真正地并行运行，但能够减少处理机的空闲时间，提高系统的效率</a:t>
            </a:r>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2349500"/>
            <a:ext cx="2198687" cy="288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1"/>
          <p:cNvSpPr txBox="1">
            <a:spLocks noChangeArrowheads="1"/>
          </p:cNvSpPr>
          <p:nvPr/>
        </p:nvSpPr>
        <p:spPr bwMode="auto">
          <a:xfrm>
            <a:off x="611188" y="1125538"/>
            <a:ext cx="7993062"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None/>
            </a:pPr>
            <a:r>
              <a:rPr lang="zh-CN" altLang="en-US" sz="2400" b="1"/>
              <a:t>（</a:t>
            </a:r>
            <a:r>
              <a:rPr lang="en-US" altLang="zh-CN" sz="2400" b="1"/>
              <a:t>2</a:t>
            </a:r>
            <a:r>
              <a:rPr lang="zh-CN" altLang="en-US" sz="2400" b="1"/>
              <a:t>）交叉并发方式（</a:t>
            </a:r>
            <a:r>
              <a:rPr lang="en-US" altLang="zh-CN" sz="2400" b="1"/>
              <a:t>Interleaved  Concurrency</a:t>
            </a:r>
            <a:r>
              <a:rPr lang="zh-CN" altLang="en-US" sz="2400" b="1"/>
              <a:t>）</a:t>
            </a:r>
          </a:p>
          <a:p>
            <a:pPr eaLnBrk="1" hangingPunct="1"/>
            <a:endParaRPr lang="zh-CN" altLang="en-US" sz="2400" b="1"/>
          </a:p>
        </p:txBody>
      </p:sp>
    </p:spTree>
    <p:extLst>
      <p:ext uri="{BB962C8B-B14F-4D97-AF65-F5344CB8AC3E}">
        <p14:creationId xmlns:p14="http://schemas.microsoft.com/office/powerpoint/2010/main" val="23164280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sz="3600" smtClean="0"/>
              <a:t>并发控制（续）</a:t>
            </a:r>
          </a:p>
        </p:txBody>
      </p:sp>
      <p:sp>
        <p:nvSpPr>
          <p:cNvPr id="8195" name="Rectangle 3"/>
          <p:cNvSpPr>
            <a:spLocks noGrp="1" noChangeArrowheads="1"/>
          </p:cNvSpPr>
          <p:nvPr>
            <p:ph type="body" idx="1"/>
          </p:nvPr>
        </p:nvSpPr>
        <p:spPr>
          <a:xfrm>
            <a:off x="457200" y="1098550"/>
            <a:ext cx="8229600" cy="5095875"/>
          </a:xfrm>
        </p:spPr>
        <p:txBody>
          <a:bodyPr/>
          <a:lstStyle/>
          <a:p>
            <a:pPr algn="just" eaLnBrk="1" hangingPunct="1">
              <a:lnSpc>
                <a:spcPct val="150000"/>
              </a:lnSpc>
              <a:spcBef>
                <a:spcPct val="0"/>
              </a:spcBef>
              <a:buFont typeface="Wingdings" panose="05000000000000000000" pitchFamily="2" charset="2"/>
              <a:buNone/>
            </a:pPr>
            <a:r>
              <a:rPr lang="en-US" altLang="zh-CN" sz="2400" dirty="0" smtClean="0"/>
              <a:t> </a:t>
            </a:r>
            <a:r>
              <a:rPr lang="zh-CN" altLang="en-US" sz="2400" dirty="0" smtClean="0"/>
              <a:t>（</a:t>
            </a:r>
            <a:r>
              <a:rPr lang="en-US" altLang="zh-CN" sz="2400" dirty="0" smtClean="0"/>
              <a:t>3</a:t>
            </a:r>
            <a:r>
              <a:rPr lang="zh-CN" altLang="en-US" sz="2400" dirty="0" smtClean="0"/>
              <a:t>）同时并发方式（</a:t>
            </a:r>
            <a:r>
              <a:rPr lang="en-US" altLang="zh-CN" sz="2400" dirty="0" smtClean="0"/>
              <a:t>simultaneous  concurrency</a:t>
            </a:r>
            <a:r>
              <a:rPr lang="zh-CN" altLang="en-US" sz="2400" dirty="0" smtClean="0"/>
              <a:t>）</a:t>
            </a:r>
          </a:p>
          <a:p>
            <a:pPr lvl="1" algn="just" eaLnBrk="1" hangingPunct="1">
              <a:lnSpc>
                <a:spcPct val="150000"/>
              </a:lnSpc>
              <a:spcBef>
                <a:spcPct val="0"/>
              </a:spcBef>
            </a:pPr>
            <a:r>
              <a:rPr lang="zh-CN" altLang="en-US" dirty="0" smtClean="0"/>
              <a:t>多处理机系统中，每个处理机可以运行一个事务，多个处理机可以同时运行多个事务，实现多个事务真正的并行运行</a:t>
            </a:r>
          </a:p>
          <a:p>
            <a:pPr lvl="1" algn="just" eaLnBrk="1" hangingPunct="1">
              <a:lnSpc>
                <a:spcPct val="150000"/>
              </a:lnSpc>
              <a:spcBef>
                <a:spcPct val="0"/>
              </a:spcBef>
            </a:pPr>
            <a:r>
              <a:rPr lang="zh-CN" altLang="en-US" dirty="0" smtClean="0"/>
              <a:t>最理想的并发方式，但受制于硬件环境</a:t>
            </a:r>
          </a:p>
          <a:p>
            <a:pPr lvl="1" algn="just" eaLnBrk="1" hangingPunct="1">
              <a:lnSpc>
                <a:spcPct val="150000"/>
              </a:lnSpc>
              <a:spcBef>
                <a:spcPct val="0"/>
              </a:spcBef>
            </a:pPr>
            <a:r>
              <a:rPr lang="zh-CN" altLang="en-US" dirty="0" smtClean="0"/>
              <a:t>更复杂的并发方式机制</a:t>
            </a:r>
          </a:p>
          <a:p>
            <a:pPr algn="just" eaLnBrk="1" hangingPunct="1">
              <a:lnSpc>
                <a:spcPct val="150000"/>
              </a:lnSpc>
              <a:spcBef>
                <a:spcPct val="0"/>
              </a:spcBef>
            </a:pPr>
            <a:r>
              <a:rPr lang="zh-CN" altLang="en-US" sz="2400" dirty="0" smtClean="0">
                <a:solidFill>
                  <a:srgbClr val="FF0000"/>
                </a:solidFill>
              </a:rPr>
              <a:t>本章讨论的数据库系统并发控制技术是以单处理机系统为基础的 </a:t>
            </a:r>
          </a:p>
        </p:txBody>
      </p:sp>
    </p:spTree>
    <p:extLst>
      <p:ext uri="{BB962C8B-B14F-4D97-AF65-F5344CB8AC3E}">
        <p14:creationId xmlns:p14="http://schemas.microsoft.com/office/powerpoint/2010/main" val="13204965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smtClean="0"/>
              <a:t>并发控制（续）</a:t>
            </a:r>
          </a:p>
        </p:txBody>
      </p:sp>
      <p:sp>
        <p:nvSpPr>
          <p:cNvPr id="9219" name="Rectangle 3"/>
          <p:cNvSpPr>
            <a:spLocks noGrp="1" noChangeArrowheads="1"/>
          </p:cNvSpPr>
          <p:nvPr>
            <p:ph type="body" idx="4294967295"/>
          </p:nvPr>
        </p:nvSpPr>
        <p:spPr>
          <a:xfrm>
            <a:off x="457200" y="1196975"/>
            <a:ext cx="8229600" cy="4840288"/>
          </a:xfrm>
        </p:spPr>
        <p:txBody>
          <a:bodyPr/>
          <a:lstStyle/>
          <a:p>
            <a:pPr algn="just" eaLnBrk="1" hangingPunct="1">
              <a:lnSpc>
                <a:spcPct val="130000"/>
              </a:lnSpc>
            </a:pPr>
            <a:r>
              <a:rPr lang="zh-CN" altLang="en-US" dirty="0" smtClean="0"/>
              <a:t>事务并发执行带来的问题</a:t>
            </a:r>
          </a:p>
          <a:p>
            <a:pPr lvl="1" algn="just" eaLnBrk="1" hangingPunct="1">
              <a:lnSpc>
                <a:spcPct val="130000"/>
              </a:lnSpc>
            </a:pPr>
            <a:r>
              <a:rPr lang="zh-CN" altLang="en-US" dirty="0" smtClean="0"/>
              <a:t>会产生多个事务同时存取同一数据的情况 </a:t>
            </a:r>
          </a:p>
          <a:p>
            <a:pPr lvl="1" algn="just" eaLnBrk="1" hangingPunct="1">
              <a:lnSpc>
                <a:spcPct val="130000"/>
              </a:lnSpc>
            </a:pPr>
            <a:r>
              <a:rPr lang="zh-CN" altLang="en-US" dirty="0" smtClean="0"/>
              <a:t>可能会存取和存储不正确的数据，破坏事务隔离性和数据库的一致性</a:t>
            </a:r>
          </a:p>
          <a:p>
            <a:pPr algn="just" eaLnBrk="1" hangingPunct="1">
              <a:lnSpc>
                <a:spcPct val="130000"/>
              </a:lnSpc>
              <a:spcBef>
                <a:spcPct val="60000"/>
              </a:spcBef>
            </a:pPr>
            <a:r>
              <a:rPr lang="zh-CN" altLang="en-US" dirty="0" smtClean="0"/>
              <a:t>数据库管理系统必须提供并发控制机制</a:t>
            </a:r>
          </a:p>
          <a:p>
            <a:pPr algn="just" eaLnBrk="1" hangingPunct="1">
              <a:lnSpc>
                <a:spcPct val="130000"/>
              </a:lnSpc>
              <a:spcBef>
                <a:spcPct val="60000"/>
              </a:spcBef>
            </a:pPr>
            <a:r>
              <a:rPr lang="zh-CN" altLang="en-US" dirty="0" smtClean="0">
                <a:solidFill>
                  <a:srgbClr val="FF0000"/>
                </a:solidFill>
              </a:rPr>
              <a:t>并发控制机制是衡量一个数据库管理系统性能的重要标志之一</a:t>
            </a:r>
          </a:p>
        </p:txBody>
      </p:sp>
    </p:spTree>
    <p:extLst>
      <p:ext uri="{BB962C8B-B14F-4D97-AF65-F5344CB8AC3E}">
        <p14:creationId xmlns:p14="http://schemas.microsoft.com/office/powerpoint/2010/main" val="1278899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并发控制概述（续）</a:t>
            </a:r>
          </a:p>
        </p:txBody>
      </p:sp>
      <p:sp>
        <p:nvSpPr>
          <p:cNvPr id="14339" name="Rectangle 3"/>
          <p:cNvSpPr>
            <a:spLocks noGrp="1" noChangeArrowheads="1"/>
          </p:cNvSpPr>
          <p:nvPr>
            <p:ph type="body" idx="4294967295"/>
          </p:nvPr>
        </p:nvSpPr>
        <p:spPr>
          <a:xfrm>
            <a:off x="457200" y="1125538"/>
            <a:ext cx="8229600" cy="4840287"/>
          </a:xfrm>
        </p:spPr>
        <p:txBody>
          <a:bodyPr/>
          <a:lstStyle/>
          <a:p>
            <a:pPr algn="just" eaLnBrk="1" hangingPunct="1">
              <a:lnSpc>
                <a:spcPct val="150000"/>
              </a:lnSpc>
              <a:defRPr/>
            </a:pPr>
            <a:r>
              <a:rPr lang="zh-CN" altLang="en-US" dirty="0" smtClean="0"/>
              <a:t>并发操作带来的数据不一致性</a:t>
            </a:r>
          </a:p>
          <a:p>
            <a:pPr marL="457200" lvl="1" indent="0" algn="just" eaLnBrk="1" hangingPunct="1">
              <a:lnSpc>
                <a:spcPct val="150000"/>
              </a:lnSpc>
              <a:buFont typeface="Wingdings" panose="05000000000000000000" pitchFamily="2" charset="2"/>
              <a:buNone/>
              <a:defRPr/>
            </a:pPr>
            <a:r>
              <a:rPr lang="zh-CN" altLang="en-US" dirty="0" smtClean="0"/>
              <a:t>（</a:t>
            </a:r>
            <a:r>
              <a:rPr lang="en-US" altLang="zh-CN" dirty="0" smtClean="0"/>
              <a:t>1</a:t>
            </a:r>
            <a:r>
              <a:rPr lang="zh-CN" altLang="en-US" dirty="0" smtClean="0"/>
              <a:t>）丢失修改（</a:t>
            </a:r>
            <a:r>
              <a:rPr lang="en-US" altLang="zh-CN" dirty="0" smtClean="0"/>
              <a:t>Lost Update</a:t>
            </a:r>
            <a:r>
              <a:rPr lang="zh-CN" altLang="en-US" dirty="0" smtClean="0"/>
              <a:t>）</a:t>
            </a:r>
          </a:p>
          <a:p>
            <a:pPr marL="457200" lvl="1" indent="0" algn="just" eaLnBrk="1" hangingPunct="1">
              <a:lnSpc>
                <a:spcPct val="150000"/>
              </a:lnSpc>
              <a:buFont typeface="Wingdings" panose="05000000000000000000" pitchFamily="2" charset="2"/>
              <a:buNone/>
              <a:defRPr/>
            </a:pPr>
            <a:r>
              <a:rPr lang="zh-CN" altLang="en-US" dirty="0" smtClean="0"/>
              <a:t>（</a:t>
            </a:r>
            <a:r>
              <a:rPr lang="en-US" altLang="zh-CN" dirty="0" smtClean="0"/>
              <a:t>2</a:t>
            </a:r>
            <a:r>
              <a:rPr lang="zh-CN" altLang="en-US" dirty="0" smtClean="0"/>
              <a:t>）不可重复读（</a:t>
            </a:r>
            <a:r>
              <a:rPr lang="en-US" altLang="zh-CN" dirty="0" smtClean="0"/>
              <a:t>Non-repeatable Read</a:t>
            </a:r>
            <a:r>
              <a:rPr lang="zh-CN" altLang="en-US" dirty="0" smtClean="0"/>
              <a:t>）</a:t>
            </a:r>
          </a:p>
          <a:p>
            <a:pPr marL="457200" lvl="1" indent="0" algn="just" eaLnBrk="1" hangingPunct="1">
              <a:lnSpc>
                <a:spcPct val="150000"/>
              </a:lnSpc>
              <a:buFont typeface="Wingdings" panose="05000000000000000000" pitchFamily="2" charset="2"/>
              <a:buNone/>
              <a:defRPr/>
            </a:pPr>
            <a:r>
              <a:rPr lang="zh-CN" altLang="en-US" dirty="0" smtClean="0"/>
              <a:t>（</a:t>
            </a:r>
            <a:r>
              <a:rPr lang="en-US" altLang="zh-CN" dirty="0" smtClean="0"/>
              <a:t>3</a:t>
            </a:r>
            <a:r>
              <a:rPr lang="zh-CN" altLang="en-US" dirty="0" smtClean="0"/>
              <a:t>）读“脏”数据（</a:t>
            </a:r>
            <a:r>
              <a:rPr lang="en-US" altLang="zh-CN" dirty="0" smtClean="0"/>
              <a:t>Dirty Read</a:t>
            </a:r>
            <a:r>
              <a:rPr lang="zh-CN" altLang="en-US" dirty="0" smtClean="0"/>
              <a:t>）</a:t>
            </a:r>
          </a:p>
          <a:p>
            <a:pPr algn="just" eaLnBrk="1" hangingPunct="1">
              <a:lnSpc>
                <a:spcPct val="150000"/>
              </a:lnSpc>
              <a:defRPr/>
            </a:pPr>
            <a:r>
              <a:rPr lang="zh-CN" altLang="en-US" dirty="0" smtClean="0"/>
              <a:t>记号</a:t>
            </a:r>
          </a:p>
          <a:p>
            <a:pPr lvl="1" algn="just" eaLnBrk="1" hangingPunct="1">
              <a:lnSpc>
                <a:spcPct val="150000"/>
              </a:lnSpc>
              <a:defRPr/>
            </a:pPr>
            <a:r>
              <a:rPr lang="en-US" altLang="zh-CN" dirty="0" smtClean="0"/>
              <a:t>R(x):</a:t>
            </a:r>
            <a:r>
              <a:rPr lang="zh-CN" altLang="en-US" dirty="0" smtClean="0"/>
              <a:t>读数据</a:t>
            </a:r>
            <a:r>
              <a:rPr lang="en-US" altLang="zh-CN" dirty="0" smtClean="0"/>
              <a:t>x</a:t>
            </a:r>
          </a:p>
          <a:p>
            <a:pPr lvl="1" algn="just" eaLnBrk="1" hangingPunct="1">
              <a:lnSpc>
                <a:spcPct val="150000"/>
              </a:lnSpc>
              <a:defRPr/>
            </a:pPr>
            <a:r>
              <a:rPr lang="en-US" altLang="zh-CN" dirty="0" smtClean="0"/>
              <a:t>W(x):</a:t>
            </a:r>
            <a:r>
              <a:rPr lang="zh-CN" altLang="en-US" dirty="0" smtClean="0"/>
              <a:t>写数据</a:t>
            </a:r>
            <a:r>
              <a:rPr lang="en-US" altLang="zh-CN" dirty="0" smtClean="0"/>
              <a:t>x </a:t>
            </a:r>
          </a:p>
        </p:txBody>
      </p:sp>
    </p:spTree>
    <p:extLst>
      <p:ext uri="{BB962C8B-B14F-4D97-AF65-F5344CB8AC3E}">
        <p14:creationId xmlns:p14="http://schemas.microsoft.com/office/powerpoint/2010/main" val="733433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1143000" y="5105400"/>
            <a:ext cx="7772400" cy="1143000"/>
          </a:xfrm>
        </p:spPr>
        <p:txBody>
          <a:bodyPr/>
          <a:lstStyle/>
          <a:p>
            <a:pPr eaLnBrk="1" hangingPunct="1"/>
            <a:r>
              <a:rPr lang="en-US" altLang="zh-CN" sz="2400" smtClean="0"/>
              <a:t>T1</a:t>
            </a:r>
            <a:r>
              <a:rPr lang="zh-CN" altLang="en-US" sz="2400" smtClean="0"/>
              <a:t>的修改被</a:t>
            </a:r>
            <a:r>
              <a:rPr lang="en-US" altLang="zh-CN" sz="2400" smtClean="0"/>
              <a:t>T2</a:t>
            </a:r>
            <a:r>
              <a:rPr lang="zh-CN" altLang="en-US" sz="2400" smtClean="0"/>
              <a:t>覆盖了！</a:t>
            </a:r>
            <a:endParaRPr lang="zh-CN" altLang="en-US" smtClean="0"/>
          </a:p>
        </p:txBody>
      </p:sp>
      <p:sp>
        <p:nvSpPr>
          <p:cNvPr id="12291" name="Rectangle 14"/>
          <p:cNvSpPr>
            <a:spLocks noChangeArrowheads="1"/>
          </p:cNvSpPr>
          <p:nvPr/>
        </p:nvSpPr>
        <p:spPr bwMode="auto">
          <a:xfrm>
            <a:off x="1908175" y="190500"/>
            <a:ext cx="5486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3600" b="1">
                <a:solidFill>
                  <a:schemeClr val="bg1"/>
                </a:solidFill>
                <a:latin typeface="宋体" panose="02010600030101010101" pitchFamily="2" charset="-122"/>
              </a:rPr>
              <a:t>并发控制概述（续）</a:t>
            </a:r>
          </a:p>
        </p:txBody>
      </p:sp>
      <p:sp>
        <p:nvSpPr>
          <p:cNvPr id="12292" name="Rectangle 16"/>
          <p:cNvSpPr>
            <a:spLocks noGrp="1" noChangeArrowheads="1"/>
          </p:cNvSpPr>
          <p:nvPr>
            <p:ph type="body" idx="4294967295"/>
          </p:nvPr>
        </p:nvSpPr>
        <p:spPr>
          <a:xfrm>
            <a:off x="457200" y="1052513"/>
            <a:ext cx="8291513" cy="5400675"/>
          </a:xfrm>
        </p:spPr>
        <p:txBody>
          <a:bodyPr/>
          <a:lstStyle/>
          <a:p>
            <a:pPr eaLnBrk="1" hangingPunct="1">
              <a:lnSpc>
                <a:spcPct val="150000"/>
              </a:lnSpc>
              <a:spcBef>
                <a:spcPct val="0"/>
              </a:spcBef>
              <a:buFont typeface="Wingdings" panose="05000000000000000000" pitchFamily="2" charset="2"/>
              <a:buNone/>
            </a:pPr>
            <a:r>
              <a:rPr lang="zh-CN" altLang="en-US" sz="2400" dirty="0" smtClean="0"/>
              <a:t>并发操作带来数据的不一致性实例</a:t>
            </a:r>
          </a:p>
          <a:p>
            <a:pPr eaLnBrk="1" hangingPunct="1">
              <a:lnSpc>
                <a:spcPct val="150000"/>
              </a:lnSpc>
              <a:spcBef>
                <a:spcPct val="0"/>
              </a:spcBef>
              <a:buFont typeface="Wingdings" panose="05000000000000000000" pitchFamily="2" charset="2"/>
              <a:buNone/>
            </a:pPr>
            <a:r>
              <a:rPr lang="en-US" altLang="zh-CN" sz="2400" dirty="0" smtClean="0"/>
              <a:t>[</a:t>
            </a:r>
            <a:r>
              <a:rPr lang="zh-CN" altLang="en-US" sz="2400" dirty="0" smtClean="0"/>
              <a:t>例</a:t>
            </a:r>
            <a:r>
              <a:rPr lang="en-US" altLang="zh-CN" sz="2400" dirty="0" smtClean="0"/>
              <a:t>1</a:t>
            </a:r>
            <a:r>
              <a:rPr lang="zh-CN" altLang="en-US" sz="2400" dirty="0" smtClean="0"/>
              <a:t>1.1</a:t>
            </a:r>
            <a:r>
              <a:rPr lang="en-US" altLang="zh-CN" sz="2400" dirty="0" smtClean="0"/>
              <a:t>]</a:t>
            </a:r>
            <a:r>
              <a:rPr lang="zh-CN" altLang="en-US" sz="2400" dirty="0" smtClean="0"/>
              <a:t>飞机订票系统中的一个活动序列 </a:t>
            </a:r>
          </a:p>
          <a:p>
            <a:pPr lvl="1" eaLnBrk="1" hangingPunct="1">
              <a:lnSpc>
                <a:spcPct val="150000"/>
              </a:lnSpc>
              <a:buFont typeface="Wingdings" panose="05000000000000000000" pitchFamily="2" charset="2"/>
              <a:buNone/>
            </a:pPr>
            <a:r>
              <a:rPr lang="zh-CN" altLang="en-US" sz="2200" dirty="0" smtClean="0"/>
              <a:t>① 甲售票点</a:t>
            </a:r>
            <a:r>
              <a:rPr lang="en-US" altLang="zh-CN" sz="2200" dirty="0" smtClean="0"/>
              <a:t>(</a:t>
            </a:r>
            <a:r>
              <a:rPr lang="zh-CN" altLang="en-US" sz="2200" dirty="0" smtClean="0"/>
              <a:t>事务</a:t>
            </a:r>
            <a:r>
              <a:rPr lang="en-US" altLang="zh-CN" sz="2200" dirty="0" smtClean="0"/>
              <a:t>T</a:t>
            </a:r>
            <a:r>
              <a:rPr lang="en-US" altLang="zh-CN" sz="2200" baseline="-25000" dirty="0" smtClean="0"/>
              <a:t>1</a:t>
            </a:r>
            <a:r>
              <a:rPr lang="en-US" altLang="zh-CN" sz="2200" dirty="0" smtClean="0"/>
              <a:t>)</a:t>
            </a:r>
            <a:r>
              <a:rPr lang="zh-CN" altLang="en-US" sz="2200" dirty="0" smtClean="0"/>
              <a:t>读出某航班的机票余额</a:t>
            </a:r>
            <a:r>
              <a:rPr lang="en-US" altLang="zh-CN" sz="2200" dirty="0" smtClean="0"/>
              <a:t>A</a:t>
            </a:r>
            <a:r>
              <a:rPr lang="zh-CN" altLang="en-US" sz="2200" dirty="0" smtClean="0"/>
              <a:t>，设</a:t>
            </a:r>
            <a:r>
              <a:rPr lang="en-US" altLang="zh-CN" sz="2200" dirty="0" smtClean="0"/>
              <a:t>A=16</a:t>
            </a:r>
            <a:r>
              <a:rPr lang="zh-CN" altLang="en-US" sz="2200" dirty="0" smtClean="0"/>
              <a:t>；</a:t>
            </a:r>
          </a:p>
          <a:p>
            <a:pPr lvl="1" eaLnBrk="1" hangingPunct="1">
              <a:lnSpc>
                <a:spcPct val="150000"/>
              </a:lnSpc>
              <a:buFont typeface="Wingdings" panose="05000000000000000000" pitchFamily="2" charset="2"/>
              <a:buNone/>
            </a:pPr>
            <a:r>
              <a:rPr lang="zh-CN" altLang="en-US" sz="2200" dirty="0" smtClean="0"/>
              <a:t>② 乙售票点</a:t>
            </a:r>
            <a:r>
              <a:rPr lang="en-US" altLang="zh-CN" sz="2200" dirty="0" smtClean="0"/>
              <a:t>(</a:t>
            </a:r>
            <a:r>
              <a:rPr lang="zh-CN" altLang="en-US" sz="2200" dirty="0" smtClean="0"/>
              <a:t>事务</a:t>
            </a:r>
            <a:r>
              <a:rPr lang="en-US" altLang="zh-CN" sz="2200" dirty="0" smtClean="0"/>
              <a:t>T</a:t>
            </a:r>
            <a:r>
              <a:rPr lang="en-US" altLang="zh-CN" sz="2200" baseline="-25000" dirty="0" smtClean="0"/>
              <a:t>2</a:t>
            </a:r>
            <a:r>
              <a:rPr lang="en-US" altLang="zh-CN" sz="2200" dirty="0" smtClean="0"/>
              <a:t>)</a:t>
            </a:r>
            <a:r>
              <a:rPr lang="zh-CN" altLang="en-US" sz="2200" dirty="0" smtClean="0"/>
              <a:t>读出同一航班的机票余额</a:t>
            </a:r>
            <a:r>
              <a:rPr lang="en-US" altLang="zh-CN" sz="2200" dirty="0" smtClean="0"/>
              <a:t>A</a:t>
            </a:r>
            <a:r>
              <a:rPr lang="zh-CN" altLang="en-US" sz="2200" dirty="0" smtClean="0"/>
              <a:t>，也为</a:t>
            </a:r>
            <a:r>
              <a:rPr lang="en-US" altLang="zh-CN" sz="2200" dirty="0" smtClean="0"/>
              <a:t>16</a:t>
            </a:r>
            <a:r>
              <a:rPr lang="zh-CN" altLang="en-US" sz="2200" dirty="0" smtClean="0"/>
              <a:t>；</a:t>
            </a:r>
          </a:p>
          <a:p>
            <a:pPr lvl="1" eaLnBrk="1" hangingPunct="1">
              <a:lnSpc>
                <a:spcPct val="150000"/>
              </a:lnSpc>
              <a:buFont typeface="Wingdings" panose="05000000000000000000" pitchFamily="2" charset="2"/>
              <a:buNone/>
            </a:pPr>
            <a:r>
              <a:rPr lang="zh-CN" altLang="en-US" sz="2200" dirty="0" smtClean="0"/>
              <a:t>③ 甲售票点卖出一张机票，修改余额</a:t>
            </a:r>
            <a:r>
              <a:rPr lang="en-US" altLang="zh-CN" sz="2200" dirty="0" smtClean="0"/>
              <a:t>A←A-1</a:t>
            </a:r>
            <a:r>
              <a:rPr lang="zh-CN" altLang="en-US" sz="2200" dirty="0" smtClean="0"/>
              <a:t>，所以</a:t>
            </a:r>
            <a:r>
              <a:rPr lang="en-US" altLang="zh-CN" sz="2200" dirty="0" smtClean="0"/>
              <a:t>A</a:t>
            </a:r>
            <a:r>
              <a:rPr lang="zh-CN" altLang="en-US" sz="2200" dirty="0" smtClean="0"/>
              <a:t>为</a:t>
            </a:r>
            <a:r>
              <a:rPr lang="en-US" altLang="zh-CN" sz="2200" dirty="0" smtClean="0"/>
              <a:t>15</a:t>
            </a:r>
            <a:r>
              <a:rPr lang="zh-CN" altLang="en-US" sz="2200" dirty="0" smtClean="0"/>
              <a:t>，把</a:t>
            </a:r>
            <a:r>
              <a:rPr lang="en-US" altLang="zh-CN" sz="2200" dirty="0" smtClean="0"/>
              <a:t>A</a:t>
            </a:r>
            <a:r>
              <a:rPr lang="zh-CN" altLang="en-US" sz="2200" dirty="0" smtClean="0"/>
              <a:t>写回数据库；</a:t>
            </a:r>
          </a:p>
          <a:p>
            <a:pPr lvl="1" eaLnBrk="1" hangingPunct="1">
              <a:lnSpc>
                <a:spcPct val="150000"/>
              </a:lnSpc>
              <a:buFont typeface="Wingdings" panose="05000000000000000000" pitchFamily="2" charset="2"/>
              <a:buNone/>
            </a:pPr>
            <a:r>
              <a:rPr lang="zh-CN" altLang="en-US" sz="2200" dirty="0" smtClean="0"/>
              <a:t>④ 乙售票点也卖出一张机票，修改余额</a:t>
            </a:r>
            <a:r>
              <a:rPr lang="en-US" altLang="zh-CN" sz="2200" dirty="0" smtClean="0"/>
              <a:t>A←A-1</a:t>
            </a:r>
            <a:r>
              <a:rPr lang="zh-CN" altLang="en-US" sz="2200" dirty="0" smtClean="0"/>
              <a:t>，所以</a:t>
            </a:r>
            <a:r>
              <a:rPr lang="en-US" altLang="zh-CN" sz="2200" dirty="0" smtClean="0"/>
              <a:t>A</a:t>
            </a:r>
            <a:r>
              <a:rPr lang="zh-CN" altLang="en-US" sz="2200" dirty="0" smtClean="0"/>
              <a:t>为</a:t>
            </a:r>
            <a:r>
              <a:rPr lang="en-US" altLang="zh-CN" sz="2200" dirty="0" smtClean="0"/>
              <a:t>15</a:t>
            </a:r>
            <a:r>
              <a:rPr lang="zh-CN" altLang="en-US" sz="2200" dirty="0" smtClean="0"/>
              <a:t>，把</a:t>
            </a:r>
            <a:r>
              <a:rPr lang="en-US" altLang="zh-CN" sz="2200" dirty="0" smtClean="0"/>
              <a:t>A</a:t>
            </a:r>
            <a:r>
              <a:rPr lang="zh-CN" altLang="en-US" sz="2200" dirty="0" smtClean="0"/>
              <a:t>写回数据库 </a:t>
            </a:r>
          </a:p>
          <a:p>
            <a:pPr lvl="1" eaLnBrk="1" hangingPunct="1">
              <a:lnSpc>
                <a:spcPct val="150000"/>
              </a:lnSpc>
            </a:pPr>
            <a:r>
              <a:rPr lang="zh-CN" altLang="en-US" sz="2200" dirty="0" smtClean="0"/>
              <a:t>结果明明卖出两张机票，数据库中机票余额只减少</a:t>
            </a:r>
            <a:r>
              <a:rPr lang="en-US" altLang="zh-CN" sz="2200" dirty="0" smtClean="0"/>
              <a:t>1 </a:t>
            </a:r>
          </a:p>
        </p:txBody>
      </p:sp>
    </p:spTree>
    <p:extLst>
      <p:ext uri="{BB962C8B-B14F-4D97-AF65-F5344CB8AC3E}">
        <p14:creationId xmlns:p14="http://schemas.microsoft.com/office/powerpoint/2010/main" val="22743589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并发控制概述（续）</a:t>
            </a:r>
          </a:p>
        </p:txBody>
      </p:sp>
      <p:sp>
        <p:nvSpPr>
          <p:cNvPr id="13315" name="Rectangle 3"/>
          <p:cNvSpPr>
            <a:spLocks noGrp="1" noChangeArrowheads="1"/>
          </p:cNvSpPr>
          <p:nvPr>
            <p:ph type="body" idx="4294967295"/>
          </p:nvPr>
        </p:nvSpPr>
        <p:spPr>
          <a:xfrm>
            <a:off x="457200" y="1125538"/>
            <a:ext cx="8229600" cy="4911725"/>
          </a:xfrm>
        </p:spPr>
        <p:txBody>
          <a:bodyPr/>
          <a:lstStyle/>
          <a:p>
            <a:pPr eaLnBrk="1" hangingPunct="1">
              <a:lnSpc>
                <a:spcPct val="200000"/>
              </a:lnSpc>
              <a:spcBef>
                <a:spcPct val="0"/>
              </a:spcBef>
            </a:pPr>
            <a:r>
              <a:rPr lang="zh-CN" altLang="en-US" sz="2400" smtClean="0"/>
              <a:t>这种情况称为数据库的不一致性，是由并发操作引起的。</a:t>
            </a:r>
          </a:p>
          <a:p>
            <a:pPr eaLnBrk="1" hangingPunct="1">
              <a:lnSpc>
                <a:spcPct val="200000"/>
              </a:lnSpc>
              <a:spcBef>
                <a:spcPct val="0"/>
              </a:spcBef>
            </a:pPr>
            <a:r>
              <a:rPr lang="zh-CN" altLang="en-US" sz="2400" smtClean="0"/>
              <a:t>在并发操作情况下，对</a:t>
            </a:r>
            <a:r>
              <a:rPr lang="en-US" altLang="zh-CN" sz="2400" smtClean="0"/>
              <a:t>T</a:t>
            </a:r>
            <a:r>
              <a:rPr lang="en-US" altLang="zh-CN" sz="2400" baseline="-25000" smtClean="0"/>
              <a:t>1</a:t>
            </a:r>
            <a:r>
              <a:rPr lang="zh-CN" altLang="en-US" sz="2400" smtClean="0"/>
              <a:t>、</a:t>
            </a:r>
            <a:r>
              <a:rPr lang="en-US" altLang="zh-CN" sz="2400" smtClean="0"/>
              <a:t>T</a:t>
            </a:r>
            <a:r>
              <a:rPr lang="en-US" altLang="zh-CN" sz="2400" baseline="-25000" smtClean="0"/>
              <a:t>2</a:t>
            </a:r>
            <a:r>
              <a:rPr lang="zh-CN" altLang="en-US" sz="2400" smtClean="0"/>
              <a:t>两个事务的操作序列的调度是随机的。</a:t>
            </a:r>
          </a:p>
          <a:p>
            <a:pPr eaLnBrk="1" hangingPunct="1">
              <a:lnSpc>
                <a:spcPct val="200000"/>
              </a:lnSpc>
              <a:spcBef>
                <a:spcPct val="0"/>
              </a:spcBef>
            </a:pPr>
            <a:r>
              <a:rPr lang="zh-CN" altLang="en-US" sz="2400" smtClean="0"/>
              <a:t>若按上面的调度序列执行，</a:t>
            </a:r>
            <a:r>
              <a:rPr lang="en-US" altLang="zh-CN" sz="2400" smtClean="0"/>
              <a:t>T</a:t>
            </a:r>
            <a:r>
              <a:rPr lang="en-US" altLang="zh-CN" sz="2400" baseline="-25000" smtClean="0"/>
              <a:t>1</a:t>
            </a:r>
            <a:r>
              <a:rPr lang="zh-CN" altLang="en-US" sz="2400" smtClean="0"/>
              <a:t>事务的修改就被丢失。</a:t>
            </a:r>
          </a:p>
          <a:p>
            <a:pPr lvl="1" eaLnBrk="1" hangingPunct="1">
              <a:lnSpc>
                <a:spcPct val="200000"/>
              </a:lnSpc>
              <a:spcBef>
                <a:spcPct val="0"/>
              </a:spcBef>
            </a:pPr>
            <a:r>
              <a:rPr lang="zh-CN" altLang="en-US" smtClean="0"/>
              <a:t>原因：第</a:t>
            </a:r>
            <a:r>
              <a:rPr lang="en-US" altLang="zh-CN" smtClean="0"/>
              <a:t>4</a:t>
            </a:r>
            <a:r>
              <a:rPr lang="zh-CN" altLang="en-US" smtClean="0"/>
              <a:t>步中</a:t>
            </a:r>
            <a:r>
              <a:rPr lang="en-US" altLang="zh-CN" smtClean="0"/>
              <a:t>T</a:t>
            </a:r>
            <a:r>
              <a:rPr lang="en-US" altLang="zh-CN" baseline="-25000" smtClean="0"/>
              <a:t>2</a:t>
            </a:r>
            <a:r>
              <a:rPr lang="zh-CN" altLang="en-US" smtClean="0"/>
              <a:t>事务修改</a:t>
            </a:r>
            <a:r>
              <a:rPr lang="en-US" altLang="zh-CN" smtClean="0"/>
              <a:t>A</a:t>
            </a:r>
            <a:r>
              <a:rPr lang="zh-CN" altLang="en-US" smtClean="0"/>
              <a:t>并写回后覆盖了</a:t>
            </a:r>
            <a:r>
              <a:rPr lang="en-US" altLang="zh-CN" smtClean="0"/>
              <a:t>T</a:t>
            </a:r>
            <a:r>
              <a:rPr lang="en-US" altLang="zh-CN" baseline="-25000" smtClean="0"/>
              <a:t>1</a:t>
            </a:r>
            <a:r>
              <a:rPr lang="zh-CN" altLang="en-US" smtClean="0"/>
              <a:t>事务的修改</a:t>
            </a:r>
          </a:p>
        </p:txBody>
      </p:sp>
    </p:spTree>
    <p:extLst>
      <p:ext uri="{BB962C8B-B14F-4D97-AF65-F5344CB8AC3E}">
        <p14:creationId xmlns:p14="http://schemas.microsoft.com/office/powerpoint/2010/main" val="1915986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smtClean="0"/>
              <a:t>（</a:t>
            </a:r>
            <a:r>
              <a:rPr lang="en-US" altLang="zh-CN" sz="3600" dirty="0" smtClean="0"/>
              <a:t>1</a:t>
            </a:r>
            <a:r>
              <a:rPr lang="zh-CN" altLang="en-US" sz="3600" dirty="0" smtClean="0"/>
              <a:t>）丢失修改</a:t>
            </a:r>
          </a:p>
        </p:txBody>
      </p:sp>
      <p:sp>
        <p:nvSpPr>
          <p:cNvPr id="15363" name="Rectangle 3"/>
          <p:cNvSpPr>
            <a:spLocks noGrp="1" noChangeArrowheads="1"/>
          </p:cNvSpPr>
          <p:nvPr>
            <p:ph type="body" idx="4294967295"/>
          </p:nvPr>
        </p:nvSpPr>
        <p:spPr>
          <a:xfrm>
            <a:off x="457200" y="1341438"/>
            <a:ext cx="8229600" cy="4983162"/>
          </a:xfrm>
        </p:spPr>
        <p:txBody>
          <a:bodyPr/>
          <a:lstStyle/>
          <a:p>
            <a:pPr algn="just" eaLnBrk="1" hangingPunct="1">
              <a:lnSpc>
                <a:spcPct val="130000"/>
              </a:lnSpc>
            </a:pPr>
            <a:r>
              <a:rPr lang="zh-CN" altLang="en-US" dirty="0" smtClean="0"/>
              <a:t>两个事务</a:t>
            </a:r>
            <a:r>
              <a:rPr lang="en-US" altLang="zh-CN" dirty="0" smtClean="0"/>
              <a:t>T</a:t>
            </a:r>
            <a:r>
              <a:rPr lang="en-US" altLang="zh-CN" baseline="-25000" dirty="0" smtClean="0"/>
              <a:t>1</a:t>
            </a:r>
            <a:r>
              <a:rPr lang="zh-CN" altLang="en-US" dirty="0" smtClean="0"/>
              <a:t>和</a:t>
            </a:r>
            <a:r>
              <a:rPr lang="en-US" altLang="zh-CN" dirty="0" smtClean="0"/>
              <a:t>T</a:t>
            </a:r>
            <a:r>
              <a:rPr lang="en-US" altLang="zh-CN" baseline="-25000" dirty="0" smtClean="0"/>
              <a:t>2</a:t>
            </a:r>
            <a:r>
              <a:rPr lang="zh-CN" altLang="en-US" dirty="0" smtClean="0"/>
              <a:t>读入同一数据并修改，</a:t>
            </a:r>
            <a:r>
              <a:rPr lang="en-US" altLang="zh-CN" dirty="0" smtClean="0"/>
              <a:t>T</a:t>
            </a:r>
            <a:r>
              <a:rPr lang="en-US" altLang="zh-CN" baseline="-25000" dirty="0" smtClean="0"/>
              <a:t>2</a:t>
            </a:r>
            <a:r>
              <a:rPr lang="zh-CN" altLang="en-US" dirty="0" smtClean="0"/>
              <a:t>的提交结果破坏了</a:t>
            </a:r>
            <a:r>
              <a:rPr lang="en-US" altLang="zh-CN" dirty="0" smtClean="0"/>
              <a:t>T</a:t>
            </a:r>
            <a:r>
              <a:rPr lang="en-US" altLang="zh-CN" baseline="-25000" dirty="0" smtClean="0"/>
              <a:t>1</a:t>
            </a:r>
            <a:r>
              <a:rPr lang="zh-CN" altLang="en-US" dirty="0" smtClean="0"/>
              <a:t>提交的结果，导致</a:t>
            </a:r>
            <a:r>
              <a:rPr lang="en-US" altLang="zh-CN" dirty="0" smtClean="0"/>
              <a:t>T</a:t>
            </a:r>
            <a:r>
              <a:rPr lang="en-US" altLang="zh-CN" baseline="-25000" dirty="0" smtClean="0"/>
              <a:t>1</a:t>
            </a:r>
            <a:r>
              <a:rPr lang="zh-CN" altLang="en-US" dirty="0" smtClean="0"/>
              <a:t>的修改被丢失。</a:t>
            </a:r>
          </a:p>
          <a:p>
            <a:pPr algn="just" eaLnBrk="1" hangingPunct="1">
              <a:lnSpc>
                <a:spcPct val="130000"/>
              </a:lnSpc>
            </a:pPr>
            <a:r>
              <a:rPr lang="zh-CN" altLang="en-US" dirty="0" smtClean="0"/>
              <a:t>上面飞机订票例子就属此类 </a:t>
            </a:r>
          </a:p>
        </p:txBody>
      </p:sp>
      <p:graphicFrame>
        <p:nvGraphicFramePr>
          <p:cNvPr id="4" name="Group 3"/>
          <p:cNvGraphicFramePr>
            <a:graphicFrameLocks/>
          </p:cNvGraphicFramePr>
          <p:nvPr>
            <p:extLst>
              <p:ext uri="{D42A27DB-BD31-4B8C-83A1-F6EECF244321}">
                <p14:modId xmlns:p14="http://schemas.microsoft.com/office/powerpoint/2010/main" val="357787806"/>
              </p:ext>
            </p:extLst>
          </p:nvPr>
        </p:nvGraphicFramePr>
        <p:xfrm>
          <a:off x="4480560" y="2429690"/>
          <a:ext cx="4780824" cy="4694008"/>
        </p:xfrm>
        <a:graphic>
          <a:graphicData uri="http://schemas.openxmlformats.org/drawingml/2006/table">
            <a:tbl>
              <a:tblPr/>
              <a:tblGrid>
                <a:gridCol w="2294740">
                  <a:extLst>
                    <a:ext uri="{9D8B030D-6E8A-4147-A177-3AD203B41FA5}">
                      <a16:colId xmlns="" xmlns:a16="http://schemas.microsoft.com/office/drawing/2014/main" val="20000"/>
                    </a:ext>
                  </a:extLst>
                </a:gridCol>
                <a:gridCol w="2486084">
                  <a:extLst>
                    <a:ext uri="{9D8B030D-6E8A-4147-A177-3AD203B41FA5}">
                      <a16:colId xmlns="" xmlns:a16="http://schemas.microsoft.com/office/drawing/2014/main" val="20001"/>
                    </a:ext>
                  </a:extLst>
                </a:gridCol>
              </a:tblGrid>
              <a:tr h="38018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smtClean="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①     R(A)=16</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R(A)=16</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380188">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③     A←A-1</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W(A)=15</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38018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④</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A←A-1</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W(A)=15</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9"/>
                  </a:ext>
                </a:extLst>
              </a:tr>
              <a:tr h="380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0"/>
                  </a:ext>
                </a:extLst>
              </a:tr>
            </a:tbl>
          </a:graphicData>
        </a:graphic>
      </p:graphicFrame>
    </p:spTree>
    <p:extLst>
      <p:ext uri="{BB962C8B-B14F-4D97-AF65-F5344CB8AC3E}">
        <p14:creationId xmlns:p14="http://schemas.microsoft.com/office/powerpoint/2010/main" val="12705271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914400" y="255588"/>
            <a:ext cx="7391400" cy="563562"/>
          </a:xfrm>
        </p:spPr>
        <p:txBody>
          <a:bodyPr lIns="90170" tIns="46990" rIns="90170" bIns="46990">
            <a:normAutofit fontScale="90000"/>
          </a:bodyPr>
          <a:lstStyle/>
          <a:p>
            <a:pPr eaLnBrk="1" hangingPunct="1"/>
            <a:r>
              <a:rPr lang="zh-CN" altLang="en-US" sz="3600" dirty="0" smtClean="0"/>
              <a:t>（</a:t>
            </a:r>
            <a:r>
              <a:rPr lang="en-US" altLang="zh-CN" sz="3600" dirty="0" smtClean="0"/>
              <a:t>2</a:t>
            </a:r>
            <a:r>
              <a:rPr lang="zh-CN" altLang="en-US" sz="3600" dirty="0" smtClean="0"/>
              <a:t>）</a:t>
            </a:r>
            <a:r>
              <a:rPr lang="en-US" altLang="zh-CN" sz="3600" dirty="0" smtClean="0"/>
              <a:t> </a:t>
            </a:r>
            <a:r>
              <a:rPr lang="zh-CN" altLang="en-US" sz="3600" dirty="0" smtClean="0"/>
              <a:t>不可重复读</a:t>
            </a:r>
          </a:p>
        </p:txBody>
      </p:sp>
      <p:sp>
        <p:nvSpPr>
          <p:cNvPr id="17411" name="Rectangle 3"/>
          <p:cNvSpPr>
            <a:spLocks noGrp="1" noChangeArrowheads="1"/>
          </p:cNvSpPr>
          <p:nvPr>
            <p:ph type="body" idx="4294967295"/>
          </p:nvPr>
        </p:nvSpPr>
        <p:spPr>
          <a:xfrm>
            <a:off x="457200" y="1268413"/>
            <a:ext cx="8229600" cy="5056187"/>
          </a:xfrm>
        </p:spPr>
        <p:txBody>
          <a:bodyPr>
            <a:normAutofit lnSpcReduction="10000"/>
          </a:bodyPr>
          <a:lstStyle/>
          <a:p>
            <a:pPr algn="just" eaLnBrk="1" hangingPunct="1">
              <a:lnSpc>
                <a:spcPct val="130000"/>
              </a:lnSpc>
            </a:pPr>
            <a:r>
              <a:rPr lang="zh-CN" altLang="en-US" dirty="0" smtClean="0"/>
              <a:t>不可重复读是指事务</a:t>
            </a:r>
            <a:r>
              <a:rPr lang="en-US" altLang="zh-CN" dirty="0" smtClean="0"/>
              <a:t>T</a:t>
            </a:r>
            <a:r>
              <a:rPr lang="en-US" altLang="zh-CN" baseline="-25000" dirty="0" smtClean="0"/>
              <a:t>1</a:t>
            </a:r>
            <a:r>
              <a:rPr lang="zh-CN" altLang="en-US" dirty="0" smtClean="0"/>
              <a:t>读取数据后，事务</a:t>
            </a:r>
            <a:r>
              <a:rPr lang="en-US" altLang="zh-CN" dirty="0" smtClean="0"/>
              <a:t>T</a:t>
            </a:r>
            <a:r>
              <a:rPr lang="en-US" altLang="zh-CN" baseline="-25000" dirty="0" smtClean="0"/>
              <a:t>2</a:t>
            </a:r>
          </a:p>
          <a:p>
            <a:pPr algn="just" eaLnBrk="1" hangingPunct="1">
              <a:lnSpc>
                <a:spcPct val="130000"/>
              </a:lnSpc>
              <a:buFont typeface="Wingdings" panose="05000000000000000000" pitchFamily="2" charset="2"/>
              <a:buNone/>
            </a:pPr>
            <a:r>
              <a:rPr lang="en-US" altLang="zh-CN" dirty="0" smtClean="0"/>
              <a:t>    </a:t>
            </a:r>
            <a:r>
              <a:rPr lang="zh-CN" altLang="en-US" dirty="0" smtClean="0"/>
              <a:t>执行更新操作，使</a:t>
            </a:r>
            <a:r>
              <a:rPr lang="en-US" altLang="zh-CN" dirty="0" smtClean="0"/>
              <a:t>T</a:t>
            </a:r>
            <a:r>
              <a:rPr lang="en-US" altLang="zh-CN" baseline="-25000" dirty="0" smtClean="0"/>
              <a:t>1</a:t>
            </a:r>
            <a:r>
              <a:rPr lang="zh-CN" altLang="en-US" dirty="0" smtClean="0"/>
              <a:t>无法再现前一次读取结果。</a:t>
            </a:r>
            <a:endParaRPr lang="en-US" altLang="zh-CN" dirty="0" smtClean="0"/>
          </a:p>
          <a:p>
            <a:pPr>
              <a:lnSpc>
                <a:spcPct val="150000"/>
              </a:lnSpc>
            </a:pPr>
            <a:r>
              <a:rPr lang="zh-CN" altLang="en-US" sz="3200" dirty="0"/>
              <a:t>不可重复读包括三种情况：</a:t>
            </a:r>
          </a:p>
          <a:p>
            <a:pPr>
              <a:lnSpc>
                <a:spcPct val="150000"/>
              </a:lnSpc>
              <a:buNone/>
            </a:pPr>
            <a:r>
              <a:rPr lang="zh-CN" altLang="en-US" sz="3200" dirty="0"/>
              <a:t>（</a:t>
            </a:r>
            <a:r>
              <a:rPr lang="en-US" altLang="zh-CN" sz="3200" dirty="0"/>
              <a:t>1</a:t>
            </a:r>
            <a:r>
              <a:rPr lang="zh-CN" altLang="en-US" sz="3200" dirty="0"/>
              <a:t>）事务</a:t>
            </a:r>
            <a:r>
              <a:rPr lang="en-US" altLang="zh-CN" sz="3200" dirty="0"/>
              <a:t>T</a:t>
            </a:r>
            <a:r>
              <a:rPr lang="en-US" altLang="zh-CN" sz="3200" baseline="-25000" dirty="0"/>
              <a:t>1</a:t>
            </a:r>
            <a:r>
              <a:rPr lang="zh-CN" altLang="en-US" sz="3200" dirty="0"/>
              <a:t>读取某一数据后，</a:t>
            </a:r>
            <a:r>
              <a:rPr lang="zh-CN" altLang="en-US" sz="3200" dirty="0">
                <a:solidFill>
                  <a:srgbClr val="FF00FF"/>
                </a:solidFill>
              </a:rPr>
              <a:t>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对其做了修改</a:t>
            </a:r>
            <a:r>
              <a:rPr lang="zh-CN" altLang="en-US" sz="3200" dirty="0" smtClean="0"/>
              <a:t>，或</a:t>
            </a:r>
            <a:r>
              <a:rPr lang="zh-CN" altLang="en-US" sz="3200" dirty="0" smtClean="0">
                <a:solidFill>
                  <a:srgbClr val="FF00FF"/>
                </a:solidFill>
              </a:rPr>
              <a:t>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删除了其中部分</a:t>
            </a:r>
            <a:r>
              <a:rPr lang="zh-CN" altLang="en-US" sz="3200" dirty="0" smtClean="0">
                <a:solidFill>
                  <a:srgbClr val="FF00FF"/>
                </a:solidFill>
              </a:rPr>
              <a:t>记录，或事务</a:t>
            </a:r>
            <a:r>
              <a:rPr lang="en-US" altLang="zh-CN" sz="3200" dirty="0">
                <a:solidFill>
                  <a:srgbClr val="FF00FF"/>
                </a:solidFill>
              </a:rPr>
              <a:t>T</a:t>
            </a:r>
            <a:r>
              <a:rPr lang="en-US" altLang="zh-CN" sz="3200" baseline="-25000" dirty="0">
                <a:solidFill>
                  <a:srgbClr val="FF00FF"/>
                </a:solidFill>
              </a:rPr>
              <a:t>2</a:t>
            </a:r>
            <a:r>
              <a:rPr lang="zh-CN" altLang="en-US" sz="3200" dirty="0">
                <a:solidFill>
                  <a:srgbClr val="FF00FF"/>
                </a:solidFill>
              </a:rPr>
              <a:t>插入了一些</a:t>
            </a:r>
            <a:r>
              <a:rPr lang="zh-CN" altLang="en-US" sz="3200" dirty="0" smtClean="0">
                <a:solidFill>
                  <a:srgbClr val="FF00FF"/>
                </a:solidFill>
              </a:rPr>
              <a:t>记录，</a:t>
            </a:r>
            <a:r>
              <a:rPr lang="zh-CN" altLang="en-US" sz="3200" dirty="0" smtClean="0"/>
              <a:t>当</a:t>
            </a:r>
            <a:r>
              <a:rPr lang="zh-CN" altLang="en-US" sz="3200" dirty="0"/>
              <a:t>事务</a:t>
            </a:r>
            <a:r>
              <a:rPr lang="en-US" altLang="zh-CN" sz="3200" dirty="0"/>
              <a:t>T</a:t>
            </a:r>
            <a:r>
              <a:rPr lang="en-US" altLang="zh-CN" sz="3200" baseline="-25000" dirty="0"/>
              <a:t>1</a:t>
            </a:r>
            <a:r>
              <a:rPr lang="zh-CN" altLang="en-US" sz="3200" dirty="0"/>
              <a:t>再次读该数据时，得到与前一次不同的值 </a:t>
            </a:r>
          </a:p>
          <a:p>
            <a:pPr algn="just" eaLnBrk="1" hangingPunct="1">
              <a:lnSpc>
                <a:spcPct val="130000"/>
              </a:lnSpc>
              <a:buFont typeface="Wingdings" panose="05000000000000000000" pitchFamily="2" charset="2"/>
              <a:buNone/>
            </a:pPr>
            <a:endParaRPr lang="zh-CN" altLang="en-US" sz="3200" dirty="0" smtClean="0"/>
          </a:p>
        </p:txBody>
      </p:sp>
    </p:spTree>
    <p:extLst>
      <p:ext uri="{BB962C8B-B14F-4D97-AF65-F5344CB8AC3E}">
        <p14:creationId xmlns:p14="http://schemas.microsoft.com/office/powerpoint/2010/main" val="2189898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不可重复读（续）</a:t>
            </a:r>
          </a:p>
        </p:txBody>
      </p:sp>
      <p:sp>
        <p:nvSpPr>
          <p:cNvPr id="19459" name="Rectangle 3"/>
          <p:cNvSpPr>
            <a:spLocks noGrp="1" noChangeArrowheads="1"/>
          </p:cNvSpPr>
          <p:nvPr>
            <p:ph type="body" sz="half" idx="4294967295"/>
          </p:nvPr>
        </p:nvSpPr>
        <p:spPr>
          <a:xfrm>
            <a:off x="4859338" y="1700213"/>
            <a:ext cx="4038600" cy="4495800"/>
          </a:xfrm>
        </p:spPr>
        <p:txBody>
          <a:bodyPr/>
          <a:lstStyle/>
          <a:p>
            <a:pPr eaLnBrk="1" hangingPunct="1">
              <a:lnSpc>
                <a:spcPct val="140000"/>
              </a:lnSpc>
              <a:buFont typeface="Wingdings" panose="05000000000000000000" pitchFamily="2" charset="2"/>
              <a:buChar char="n"/>
            </a:pPr>
            <a:r>
              <a:rPr lang="en-US" altLang="zh-CN" sz="2200" smtClean="0"/>
              <a:t>T</a:t>
            </a:r>
            <a:r>
              <a:rPr lang="en-US" altLang="zh-CN" sz="2200" baseline="-25000" smtClean="0"/>
              <a:t>1</a:t>
            </a:r>
            <a:r>
              <a:rPr lang="zh-CN" altLang="en-US" sz="2200" smtClean="0"/>
              <a:t>读取</a:t>
            </a:r>
            <a:r>
              <a:rPr lang="en-US" altLang="zh-CN" sz="2200" smtClean="0"/>
              <a:t>B=100</a:t>
            </a:r>
            <a:r>
              <a:rPr lang="zh-CN" altLang="en-US" sz="2200" smtClean="0"/>
              <a:t>进行运算</a:t>
            </a:r>
          </a:p>
          <a:p>
            <a:pPr eaLnBrk="1" hangingPunct="1">
              <a:lnSpc>
                <a:spcPct val="140000"/>
              </a:lnSpc>
              <a:buFont typeface="Wingdings" panose="05000000000000000000" pitchFamily="2" charset="2"/>
              <a:buChar char="n"/>
            </a:pPr>
            <a:r>
              <a:rPr lang="en-US" altLang="zh-CN" sz="2200" smtClean="0"/>
              <a:t>T</a:t>
            </a:r>
            <a:r>
              <a:rPr lang="en-US" altLang="zh-CN" sz="2200" baseline="-25000" smtClean="0"/>
              <a:t>2</a:t>
            </a:r>
            <a:r>
              <a:rPr lang="zh-CN" altLang="en-US" sz="2200" smtClean="0"/>
              <a:t>读取同一数据</a:t>
            </a:r>
            <a:r>
              <a:rPr lang="en-US" altLang="zh-CN" sz="2200" smtClean="0"/>
              <a:t>B</a:t>
            </a:r>
            <a:r>
              <a:rPr lang="zh-CN" altLang="en-US" sz="2200" smtClean="0"/>
              <a:t>，对其进行修改后将</a:t>
            </a:r>
            <a:r>
              <a:rPr lang="en-US" altLang="zh-CN" sz="2200" smtClean="0"/>
              <a:t>B=200</a:t>
            </a:r>
            <a:r>
              <a:rPr lang="zh-CN" altLang="en-US" sz="2200" smtClean="0"/>
              <a:t>写回数据库。</a:t>
            </a:r>
          </a:p>
          <a:p>
            <a:pPr eaLnBrk="1" hangingPunct="1">
              <a:lnSpc>
                <a:spcPct val="140000"/>
              </a:lnSpc>
              <a:buFont typeface="Wingdings" panose="05000000000000000000" pitchFamily="2" charset="2"/>
              <a:buChar char="n"/>
            </a:pPr>
            <a:r>
              <a:rPr lang="en-US" altLang="zh-CN" sz="2200" smtClean="0"/>
              <a:t>T</a:t>
            </a:r>
            <a:r>
              <a:rPr lang="en-US" altLang="zh-CN" sz="2200" baseline="-25000" smtClean="0"/>
              <a:t>1</a:t>
            </a:r>
            <a:r>
              <a:rPr lang="zh-CN" altLang="en-US" sz="2200" smtClean="0"/>
              <a:t>为了对读取值校对重读</a:t>
            </a:r>
            <a:r>
              <a:rPr lang="en-US" altLang="zh-CN" sz="2200" smtClean="0"/>
              <a:t>B</a:t>
            </a:r>
            <a:r>
              <a:rPr lang="zh-CN" altLang="en-US" sz="2200" smtClean="0"/>
              <a:t>，</a:t>
            </a:r>
            <a:r>
              <a:rPr lang="en-US" altLang="zh-CN" sz="2200" smtClean="0"/>
              <a:t>B</a:t>
            </a:r>
            <a:r>
              <a:rPr lang="zh-CN" altLang="en-US" sz="2200" smtClean="0"/>
              <a:t>已为</a:t>
            </a:r>
            <a:r>
              <a:rPr lang="en-US" altLang="zh-CN" sz="2200" smtClean="0"/>
              <a:t>200</a:t>
            </a:r>
            <a:r>
              <a:rPr lang="zh-CN" altLang="en-US" sz="2200" smtClean="0"/>
              <a:t>，与第一次读取值不一致 </a:t>
            </a:r>
          </a:p>
        </p:txBody>
      </p:sp>
      <p:graphicFrame>
        <p:nvGraphicFramePr>
          <p:cNvPr id="17412" name="Group 4"/>
          <p:cNvGraphicFramePr>
            <a:graphicFrameLocks noGrp="1"/>
          </p:cNvGraphicFramePr>
          <p:nvPr>
            <p:ph sz="half" idx="4294967295"/>
            <p:extLst>
              <p:ext uri="{D42A27DB-BD31-4B8C-83A1-F6EECF244321}">
                <p14:modId xmlns:p14="http://schemas.microsoft.com/office/powerpoint/2010/main" val="2146090614"/>
              </p:ext>
            </p:extLst>
          </p:nvPr>
        </p:nvGraphicFramePr>
        <p:xfrm>
          <a:off x="642938" y="1696403"/>
          <a:ext cx="3967162" cy="4727615"/>
        </p:xfrm>
        <a:graphic>
          <a:graphicData uri="http://schemas.openxmlformats.org/drawingml/2006/table">
            <a:tbl>
              <a:tblPr/>
              <a:tblGrid>
                <a:gridCol w="1984375">
                  <a:extLst>
                    <a:ext uri="{9D8B030D-6E8A-4147-A177-3AD203B41FA5}">
                      <a16:colId xmlns="" xmlns:a16="http://schemas.microsoft.com/office/drawing/2014/main" val="20000"/>
                    </a:ext>
                  </a:extLst>
                </a:gridCol>
                <a:gridCol w="1982787">
                  <a:extLst>
                    <a:ext uri="{9D8B030D-6E8A-4147-A177-3AD203B41FA5}">
                      <a16:colId xmlns="" xmlns:a16="http://schemas.microsoft.com/office/drawing/2014/main" val="20001"/>
                    </a:ext>
                  </a:extLst>
                </a:gridCol>
              </a:tblGrid>
              <a:tr h="46033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① R(A)=50</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R(B)=100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求和</a:t>
                      </a: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R(B)=100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4267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B←B*2</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42672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altLang="zh-CN"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a:t>
                      </a: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(B)=200</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③  R(A)=50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R(B)=200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求和</a:t>
                      </a: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=250</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9"/>
                  </a:ext>
                </a:extLst>
              </a:tr>
              <a:tr h="42672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验算不对</a:t>
                      </a: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4" marB="45724"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0"/>
                  </a:ext>
                </a:extLst>
              </a:tr>
            </a:tbl>
          </a:graphicData>
        </a:graphic>
      </p:graphicFrame>
      <p:sp>
        <p:nvSpPr>
          <p:cNvPr id="19496" name="Text Box 177"/>
          <p:cNvSpPr txBox="1">
            <a:spLocks noChangeArrowheads="1"/>
          </p:cNvSpPr>
          <p:nvPr/>
        </p:nvSpPr>
        <p:spPr bwMode="auto">
          <a:xfrm>
            <a:off x="1934369" y="6491287"/>
            <a:ext cx="1384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不可重复读 </a:t>
            </a:r>
          </a:p>
        </p:txBody>
      </p:sp>
      <p:sp>
        <p:nvSpPr>
          <p:cNvPr id="19497" name="Rectangle 178"/>
          <p:cNvSpPr>
            <a:spLocks noChangeArrowheads="1"/>
          </p:cNvSpPr>
          <p:nvPr/>
        </p:nvSpPr>
        <p:spPr bwMode="auto">
          <a:xfrm>
            <a:off x="262119" y="1207453"/>
            <a:ext cx="11747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SzPct val="100000"/>
              <a:buFont typeface="Wingdings" panose="05000000000000000000" pitchFamily="2" charset="2"/>
              <a:buNone/>
            </a:pPr>
            <a:r>
              <a:rPr lang="zh-CN" altLang="zh-CN" sz="2600" b="1" dirty="0">
                <a:latin typeface="Times New Roman" panose="02020603050405020304" pitchFamily="18" charset="0"/>
              </a:rPr>
              <a:t>例如：</a:t>
            </a:r>
          </a:p>
        </p:txBody>
      </p:sp>
    </p:spTree>
    <p:extLst>
      <p:ext uri="{BB962C8B-B14F-4D97-AF65-F5344CB8AC3E}">
        <p14:creationId xmlns:p14="http://schemas.microsoft.com/office/powerpoint/2010/main" val="26433120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14400" y="193675"/>
            <a:ext cx="7391400" cy="563563"/>
          </a:xfrm>
        </p:spPr>
        <p:txBody>
          <a:bodyPr>
            <a:normAutofit fontScale="90000"/>
          </a:bodyPr>
          <a:lstStyle/>
          <a:p>
            <a:pPr eaLnBrk="1" hangingPunct="1"/>
            <a:r>
              <a:rPr lang="zh-CN" altLang="en-US" sz="3600" dirty="0" smtClean="0"/>
              <a:t>（</a:t>
            </a:r>
            <a:r>
              <a:rPr lang="en-US" altLang="zh-CN" sz="3600" dirty="0" smtClean="0"/>
              <a:t>3</a:t>
            </a:r>
            <a:r>
              <a:rPr lang="zh-CN" altLang="en-US" sz="3600" dirty="0" smtClean="0"/>
              <a:t>）</a:t>
            </a:r>
            <a:r>
              <a:rPr lang="en-US" altLang="zh-CN" sz="3600" dirty="0" smtClean="0"/>
              <a:t> </a:t>
            </a:r>
            <a:r>
              <a:rPr lang="zh-CN" altLang="en-US" sz="3600" dirty="0" smtClean="0"/>
              <a:t>读“脏”数据</a:t>
            </a:r>
          </a:p>
        </p:txBody>
      </p:sp>
      <p:sp>
        <p:nvSpPr>
          <p:cNvPr id="21507" name="Rectangle 3"/>
          <p:cNvSpPr>
            <a:spLocks noGrp="1" noChangeArrowheads="1"/>
          </p:cNvSpPr>
          <p:nvPr>
            <p:ph type="body" idx="4294967295"/>
          </p:nvPr>
        </p:nvSpPr>
        <p:spPr>
          <a:xfrm>
            <a:off x="457200" y="1125538"/>
            <a:ext cx="8229600" cy="4495800"/>
          </a:xfrm>
        </p:spPr>
        <p:txBody>
          <a:bodyPr/>
          <a:lstStyle/>
          <a:p>
            <a:pPr algn="just" eaLnBrk="1" hangingPunct="1">
              <a:lnSpc>
                <a:spcPct val="160000"/>
              </a:lnSpc>
              <a:buFont typeface="Wingdings" panose="05000000000000000000" pitchFamily="2" charset="2"/>
              <a:buNone/>
            </a:pPr>
            <a:r>
              <a:rPr lang="en-US" altLang="zh-CN" smtClean="0"/>
              <a:t>   </a:t>
            </a:r>
            <a:r>
              <a:rPr lang="zh-CN" altLang="en-US" smtClean="0"/>
              <a:t>读“脏”数据是指：</a:t>
            </a:r>
          </a:p>
          <a:p>
            <a:pPr lvl="1" algn="just" eaLnBrk="1" hangingPunct="1">
              <a:lnSpc>
                <a:spcPct val="160000"/>
              </a:lnSpc>
            </a:pPr>
            <a:r>
              <a:rPr lang="zh-CN" altLang="en-US" smtClean="0"/>
              <a:t>事务</a:t>
            </a:r>
            <a:r>
              <a:rPr lang="en-US" altLang="zh-CN" smtClean="0"/>
              <a:t>T</a:t>
            </a:r>
            <a:r>
              <a:rPr lang="en-US" altLang="zh-CN" baseline="-25000" smtClean="0"/>
              <a:t>1</a:t>
            </a:r>
            <a:r>
              <a:rPr lang="zh-CN" altLang="en-US" smtClean="0"/>
              <a:t>修改某一数据，并将其写回磁盘</a:t>
            </a:r>
          </a:p>
          <a:p>
            <a:pPr lvl="1" algn="just" eaLnBrk="1" hangingPunct="1">
              <a:lnSpc>
                <a:spcPct val="160000"/>
              </a:lnSpc>
            </a:pPr>
            <a:r>
              <a:rPr lang="zh-CN" altLang="en-US" smtClean="0"/>
              <a:t>事务</a:t>
            </a:r>
            <a:r>
              <a:rPr lang="en-US" altLang="zh-CN" smtClean="0"/>
              <a:t>T</a:t>
            </a:r>
            <a:r>
              <a:rPr lang="en-US" altLang="zh-CN" baseline="-25000" smtClean="0"/>
              <a:t>2</a:t>
            </a:r>
            <a:r>
              <a:rPr lang="zh-CN" altLang="en-US" smtClean="0"/>
              <a:t>读取同一数据后，</a:t>
            </a:r>
            <a:r>
              <a:rPr lang="en-US" altLang="zh-CN" smtClean="0"/>
              <a:t>T</a:t>
            </a:r>
            <a:r>
              <a:rPr lang="en-US" altLang="zh-CN" baseline="-25000" smtClean="0"/>
              <a:t>1</a:t>
            </a:r>
            <a:r>
              <a:rPr lang="zh-CN" altLang="en-US" smtClean="0"/>
              <a:t>由于某种原因被撤销</a:t>
            </a:r>
          </a:p>
          <a:p>
            <a:pPr lvl="1" algn="just" eaLnBrk="1" hangingPunct="1">
              <a:lnSpc>
                <a:spcPct val="160000"/>
              </a:lnSpc>
            </a:pPr>
            <a:r>
              <a:rPr lang="zh-CN" altLang="en-US" smtClean="0"/>
              <a:t>这时</a:t>
            </a:r>
            <a:r>
              <a:rPr lang="en-US" altLang="zh-CN" smtClean="0"/>
              <a:t>T</a:t>
            </a:r>
            <a:r>
              <a:rPr lang="en-US" altLang="zh-CN" baseline="-25000" smtClean="0"/>
              <a:t>1</a:t>
            </a:r>
            <a:r>
              <a:rPr lang="zh-CN" altLang="en-US" smtClean="0"/>
              <a:t>已修改过的数据恢复原值，</a:t>
            </a:r>
            <a:r>
              <a:rPr lang="en-US" altLang="zh-CN" smtClean="0"/>
              <a:t>T</a:t>
            </a:r>
            <a:r>
              <a:rPr lang="en-US" altLang="zh-CN" baseline="-25000" smtClean="0"/>
              <a:t>2</a:t>
            </a:r>
            <a:r>
              <a:rPr lang="zh-CN" altLang="en-US" smtClean="0"/>
              <a:t>读到的数据就与数据库中的数据不一致</a:t>
            </a:r>
          </a:p>
          <a:p>
            <a:pPr lvl="1" algn="just" eaLnBrk="1" hangingPunct="1">
              <a:lnSpc>
                <a:spcPct val="160000"/>
              </a:lnSpc>
            </a:pPr>
            <a:r>
              <a:rPr lang="en-US" altLang="zh-CN" smtClean="0"/>
              <a:t>T</a:t>
            </a:r>
            <a:r>
              <a:rPr lang="en-US" altLang="zh-CN" baseline="-25000" smtClean="0"/>
              <a:t>2</a:t>
            </a:r>
            <a:r>
              <a:rPr lang="zh-CN" altLang="en-US" smtClean="0"/>
              <a:t>读到的数据就为“脏”数据，即不正确的数据 </a:t>
            </a:r>
          </a:p>
        </p:txBody>
      </p:sp>
    </p:spTree>
    <p:extLst>
      <p:ext uri="{BB962C8B-B14F-4D97-AF65-F5344CB8AC3E}">
        <p14:creationId xmlns:p14="http://schemas.microsoft.com/office/powerpoint/2010/main" val="24155518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读“脏”数据（续）</a:t>
            </a:r>
          </a:p>
        </p:txBody>
      </p:sp>
      <p:graphicFrame>
        <p:nvGraphicFramePr>
          <p:cNvPr id="20483" name="Group 3"/>
          <p:cNvGraphicFramePr>
            <a:graphicFrameLocks noGrp="1"/>
          </p:cNvGraphicFramePr>
          <p:nvPr>
            <p:ph idx="4294967295"/>
            <p:extLst>
              <p:ext uri="{D42A27DB-BD31-4B8C-83A1-F6EECF244321}">
                <p14:modId xmlns:p14="http://schemas.microsoft.com/office/powerpoint/2010/main" val="1051299246"/>
              </p:ext>
            </p:extLst>
          </p:nvPr>
        </p:nvGraphicFramePr>
        <p:xfrm>
          <a:off x="689769" y="1548401"/>
          <a:ext cx="4103687" cy="4545014"/>
        </p:xfrm>
        <a:graphic>
          <a:graphicData uri="http://schemas.openxmlformats.org/drawingml/2006/table">
            <a:tbl>
              <a:tblPr/>
              <a:tblGrid>
                <a:gridCol w="2303611">
                  <a:extLst>
                    <a:ext uri="{9D8B030D-6E8A-4147-A177-3AD203B41FA5}">
                      <a16:colId xmlns="" xmlns:a16="http://schemas.microsoft.com/office/drawing/2014/main" val="20000"/>
                    </a:ext>
                  </a:extLst>
                </a:gridCol>
                <a:gridCol w="1800076">
                  <a:extLst>
                    <a:ext uri="{9D8B030D-6E8A-4147-A177-3AD203B41FA5}">
                      <a16:colId xmlns="" xmlns:a16="http://schemas.microsoft.com/office/drawing/2014/main" val="20001"/>
                    </a:ext>
                  </a:extLst>
                </a:gridCol>
              </a:tblGrid>
              <a:tr h="46040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①  R(C)=100</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C←C*2</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W(C)=200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426750">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②</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R(C)=200</a:t>
                      </a:r>
                      <a:endParaRPr kumimoji="0" lang="en-US" sz="22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426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109735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③  ROLLBACK</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42675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C</a:t>
                      </a:r>
                      <a:r>
                        <a:rPr kumimoji="0" lang="zh-CN" alt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恢复为</a:t>
                      </a:r>
                      <a:r>
                        <a:rPr kumimoji="0" lang="en-US" sz="2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100</a:t>
                      </a:r>
                      <a:endParaRPr kumimoji="0" lang="en-US" sz="22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bl>
          </a:graphicData>
        </a:graphic>
      </p:graphicFrame>
      <p:sp>
        <p:nvSpPr>
          <p:cNvPr id="22562" name="Text Box 177"/>
          <p:cNvSpPr txBox="1">
            <a:spLocks noChangeArrowheads="1"/>
          </p:cNvSpPr>
          <p:nvPr/>
        </p:nvSpPr>
        <p:spPr bwMode="auto">
          <a:xfrm>
            <a:off x="585063" y="1091201"/>
            <a:ext cx="1365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None/>
            </a:pPr>
            <a:r>
              <a:rPr lang="zh-CN" altLang="zh-CN" sz="2400" b="1" dirty="0">
                <a:latin typeface="Times New Roman" panose="02020603050405020304" pitchFamily="18" charset="0"/>
              </a:rPr>
              <a:t>例如</a:t>
            </a:r>
          </a:p>
        </p:txBody>
      </p:sp>
      <p:sp>
        <p:nvSpPr>
          <p:cNvPr id="22563" name="Rectangle 178"/>
          <p:cNvSpPr>
            <a:spLocks noChangeArrowheads="1"/>
          </p:cNvSpPr>
          <p:nvPr/>
        </p:nvSpPr>
        <p:spPr bwMode="auto">
          <a:xfrm>
            <a:off x="2049463" y="6092825"/>
            <a:ext cx="1384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SzPct val="100000"/>
              <a:buFont typeface="Wingdings" panose="05000000000000000000" pitchFamily="2" charset="2"/>
              <a:buNone/>
            </a:pPr>
            <a:r>
              <a:rPr lang="zh-CN" altLang="zh-CN" b="1">
                <a:latin typeface="Times New Roman" panose="02020603050405020304" pitchFamily="18" charset="0"/>
              </a:rPr>
              <a:t>读“脏”数据 </a:t>
            </a:r>
          </a:p>
        </p:txBody>
      </p:sp>
      <p:sp>
        <p:nvSpPr>
          <p:cNvPr id="22564" name="Text Box 180"/>
          <p:cNvSpPr txBox="1">
            <a:spLocks noChangeArrowheads="1"/>
          </p:cNvSpPr>
          <p:nvPr/>
        </p:nvSpPr>
        <p:spPr bwMode="auto">
          <a:xfrm>
            <a:off x="5580063" y="2565400"/>
            <a:ext cx="2611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22565" name="Text Box 181"/>
          <p:cNvSpPr txBox="1">
            <a:spLocks noChangeArrowheads="1"/>
          </p:cNvSpPr>
          <p:nvPr/>
        </p:nvSpPr>
        <p:spPr bwMode="auto">
          <a:xfrm>
            <a:off x="6516688" y="2425700"/>
            <a:ext cx="1943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22566" name="Text Box 182"/>
          <p:cNvSpPr txBox="1">
            <a:spLocks noChangeArrowheads="1"/>
          </p:cNvSpPr>
          <p:nvPr/>
        </p:nvSpPr>
        <p:spPr bwMode="auto">
          <a:xfrm>
            <a:off x="5003800" y="1293813"/>
            <a:ext cx="3600450" cy="38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buSzPct val="85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将</a:t>
            </a:r>
            <a:r>
              <a:rPr lang="en-US" altLang="zh-CN" sz="2200" b="1">
                <a:latin typeface="Times New Roman" panose="02020603050405020304" pitchFamily="18" charset="0"/>
              </a:rPr>
              <a:t>C</a:t>
            </a:r>
            <a:r>
              <a:rPr lang="zh-CN" altLang="en-US" sz="2200" b="1">
                <a:latin typeface="Times New Roman" panose="02020603050405020304" pitchFamily="18" charset="0"/>
              </a:rPr>
              <a:t>值修改为</a:t>
            </a:r>
            <a:r>
              <a:rPr lang="en-US" altLang="zh-CN" sz="2200" b="1">
                <a:latin typeface="Times New Roman" panose="02020603050405020304" pitchFamily="18" charset="0"/>
              </a:rPr>
              <a:t>200</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a:t>
            </a:r>
            <a:r>
              <a:rPr lang="en-US" altLang="zh-CN" sz="2200" b="1">
                <a:latin typeface="Times New Roman" panose="02020603050405020304" pitchFamily="18" charset="0"/>
              </a:rPr>
              <a:t>C</a:t>
            </a:r>
            <a:r>
              <a:rPr lang="zh-CN" altLang="en-US" sz="2200" b="1">
                <a:latin typeface="Times New Roman" panose="02020603050405020304" pitchFamily="18" charset="0"/>
              </a:rPr>
              <a:t>为</a:t>
            </a:r>
            <a:r>
              <a:rPr lang="en-US" altLang="zh-CN" sz="2200" b="1">
                <a:latin typeface="Times New Roman" panose="02020603050405020304" pitchFamily="18" charset="0"/>
              </a:rPr>
              <a:t>200</a:t>
            </a:r>
          </a:p>
          <a:p>
            <a:pPr eaLnBrk="1" hangingPunct="1">
              <a:lnSpc>
                <a:spcPct val="140000"/>
              </a:lnSpc>
              <a:buSzPct val="85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由于某种原因撤销，其修改作废，</a:t>
            </a:r>
            <a:r>
              <a:rPr lang="en-US" altLang="zh-CN" sz="2200" b="1">
                <a:latin typeface="Times New Roman" panose="02020603050405020304" pitchFamily="18" charset="0"/>
              </a:rPr>
              <a:t>C</a:t>
            </a:r>
            <a:r>
              <a:rPr lang="zh-CN" altLang="en-US" sz="2200" b="1">
                <a:latin typeface="Times New Roman" panose="02020603050405020304" pitchFamily="18" charset="0"/>
              </a:rPr>
              <a:t>恢复原值</a:t>
            </a:r>
            <a:r>
              <a:rPr lang="en-US" altLang="zh-CN" sz="2200" b="1">
                <a:latin typeface="Times New Roman" panose="02020603050405020304" pitchFamily="18" charset="0"/>
              </a:rPr>
              <a:t>100</a:t>
            </a:r>
          </a:p>
          <a:p>
            <a:pPr eaLnBrk="1" hangingPunct="1">
              <a:lnSpc>
                <a:spcPct val="140000"/>
              </a:lnSpc>
              <a:buSzPct val="85000"/>
              <a:buFont typeface="Wingdings" panose="05000000000000000000" pitchFamily="2" charset="2"/>
              <a:buChar char="n"/>
            </a:pPr>
            <a:r>
              <a:rPr lang="zh-CN" altLang="en-US" sz="2200" b="1">
                <a:latin typeface="Times New Roman" panose="02020603050405020304" pitchFamily="18" charset="0"/>
              </a:rPr>
              <a:t>这时</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读到的</a:t>
            </a:r>
            <a:r>
              <a:rPr lang="en-US" altLang="zh-CN" sz="2200" b="1">
                <a:latin typeface="Times New Roman" panose="02020603050405020304" pitchFamily="18" charset="0"/>
              </a:rPr>
              <a:t>C</a:t>
            </a:r>
            <a:r>
              <a:rPr lang="zh-CN" altLang="en-US" sz="2200" b="1">
                <a:latin typeface="Times New Roman" panose="02020603050405020304" pitchFamily="18" charset="0"/>
              </a:rPr>
              <a:t>为</a:t>
            </a:r>
            <a:r>
              <a:rPr lang="en-US" altLang="zh-CN" sz="2200" b="1">
                <a:latin typeface="Times New Roman" panose="02020603050405020304" pitchFamily="18" charset="0"/>
              </a:rPr>
              <a:t>200</a:t>
            </a:r>
            <a:r>
              <a:rPr lang="zh-CN" altLang="en-US" sz="2200" b="1">
                <a:latin typeface="Times New Roman" panose="02020603050405020304" pitchFamily="18" charset="0"/>
              </a:rPr>
              <a:t>，与数据库内容不一致，就是“脏”数据 </a:t>
            </a:r>
          </a:p>
        </p:txBody>
      </p:sp>
    </p:spTree>
    <p:extLst>
      <p:ext uri="{BB962C8B-B14F-4D97-AF65-F5344CB8AC3E}">
        <p14:creationId xmlns:p14="http://schemas.microsoft.com/office/powerpoint/2010/main" val="33246073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并发控制概述（续）</a:t>
            </a:r>
          </a:p>
        </p:txBody>
      </p:sp>
      <p:sp>
        <p:nvSpPr>
          <p:cNvPr id="24579" name="Rectangle 3"/>
          <p:cNvSpPr>
            <a:spLocks noGrp="1" noChangeArrowheads="1"/>
          </p:cNvSpPr>
          <p:nvPr>
            <p:ph type="body" idx="4294967295"/>
          </p:nvPr>
        </p:nvSpPr>
        <p:spPr>
          <a:xfrm>
            <a:off x="457200" y="1196975"/>
            <a:ext cx="8229600" cy="4697413"/>
          </a:xfrm>
        </p:spPr>
        <p:txBody>
          <a:bodyPr>
            <a:normAutofit/>
          </a:bodyPr>
          <a:lstStyle/>
          <a:p>
            <a:pPr>
              <a:lnSpc>
                <a:spcPct val="170000"/>
              </a:lnSpc>
            </a:pPr>
            <a:r>
              <a:rPr lang="zh-CN" altLang="zh-CN" dirty="0"/>
              <a:t>并发控制就是要用</a:t>
            </a:r>
            <a:r>
              <a:rPr lang="zh-CN" altLang="zh-CN" dirty="0">
                <a:solidFill>
                  <a:srgbClr val="FF00FF"/>
                </a:solidFill>
              </a:rPr>
              <a:t>正确的方式调度并发操作</a:t>
            </a:r>
            <a:r>
              <a:rPr lang="zh-CN" altLang="zh-CN" dirty="0"/>
              <a:t>，使一个用户事务的执行不受其他事务的干扰，从而避免造成数据的</a:t>
            </a:r>
            <a:r>
              <a:rPr lang="zh-CN" altLang="zh-CN" dirty="0" smtClean="0"/>
              <a:t>不一致性</a:t>
            </a:r>
            <a:endParaRPr lang="en-US" altLang="zh-CN" dirty="0"/>
          </a:p>
          <a:p>
            <a:pPr eaLnBrk="1" hangingPunct="1">
              <a:lnSpc>
                <a:spcPct val="170000"/>
              </a:lnSpc>
            </a:pPr>
            <a:r>
              <a:rPr lang="zh-CN" altLang="en-US" dirty="0" smtClean="0"/>
              <a:t>并发控制的主要技术</a:t>
            </a:r>
          </a:p>
          <a:p>
            <a:pPr lvl="1" eaLnBrk="1" hangingPunct="1">
              <a:lnSpc>
                <a:spcPct val="170000"/>
              </a:lnSpc>
            </a:pPr>
            <a:r>
              <a:rPr lang="zh-CN" altLang="en-US" dirty="0" smtClean="0">
                <a:solidFill>
                  <a:srgbClr val="FF0000"/>
                </a:solidFill>
              </a:rPr>
              <a:t>封锁</a:t>
            </a:r>
            <a:r>
              <a:rPr lang="en-US" altLang="zh-CN" dirty="0" smtClean="0">
                <a:solidFill>
                  <a:srgbClr val="FF0000"/>
                </a:solidFill>
              </a:rPr>
              <a:t>(Locking)</a:t>
            </a:r>
          </a:p>
          <a:p>
            <a:pPr lvl="1" eaLnBrk="1" hangingPunct="1">
              <a:lnSpc>
                <a:spcPct val="170000"/>
              </a:lnSpc>
            </a:pPr>
            <a:r>
              <a:rPr lang="zh-CN" altLang="en-US" dirty="0" smtClean="0"/>
              <a:t>时间戳、乐观控制、多版本并发控制（</a:t>
            </a:r>
            <a:r>
              <a:rPr lang="en-US" altLang="zh-CN" dirty="0" smtClean="0"/>
              <a:t>MVCC</a:t>
            </a:r>
            <a:r>
              <a:rPr lang="zh-CN" altLang="en-US" dirty="0" smtClean="0"/>
              <a:t>）等</a:t>
            </a:r>
            <a:endParaRPr lang="en-US" altLang="zh-CN" dirty="0" smtClean="0"/>
          </a:p>
        </p:txBody>
      </p:sp>
    </p:spTree>
    <p:extLst>
      <p:ext uri="{BB962C8B-B14F-4D97-AF65-F5344CB8AC3E}">
        <p14:creationId xmlns:p14="http://schemas.microsoft.com/office/powerpoint/2010/main" val="3969987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smtClean="0"/>
              <a:t>3.</a:t>
            </a:r>
            <a:r>
              <a:rPr lang="zh-CN" altLang="zh-CN" sz="3600" dirty="0" smtClean="0"/>
              <a:t>什么是封锁</a:t>
            </a:r>
          </a:p>
        </p:txBody>
      </p:sp>
      <p:sp>
        <p:nvSpPr>
          <p:cNvPr id="27651" name="Rectangle 3"/>
          <p:cNvSpPr>
            <a:spLocks noGrp="1" noChangeArrowheads="1"/>
          </p:cNvSpPr>
          <p:nvPr>
            <p:ph type="body" idx="4294967295"/>
          </p:nvPr>
        </p:nvSpPr>
        <p:spPr>
          <a:xfrm>
            <a:off x="457200" y="1196975"/>
            <a:ext cx="8229600" cy="4840288"/>
          </a:xfrm>
        </p:spPr>
        <p:txBody>
          <a:bodyPr>
            <a:normAutofit fontScale="92500" lnSpcReduction="20000"/>
          </a:bodyPr>
          <a:lstStyle/>
          <a:p>
            <a:pPr eaLnBrk="1" hangingPunct="1">
              <a:lnSpc>
                <a:spcPct val="200000"/>
              </a:lnSpc>
            </a:pPr>
            <a:r>
              <a:rPr lang="zh-CN" altLang="en-US" sz="2400" dirty="0" smtClean="0"/>
              <a:t>封锁就是事务</a:t>
            </a:r>
            <a:r>
              <a:rPr lang="en-US" altLang="zh-CN" sz="2400" dirty="0" smtClean="0"/>
              <a:t>T</a:t>
            </a:r>
            <a:r>
              <a:rPr lang="zh-CN" altLang="en-US" sz="2400" dirty="0" smtClean="0"/>
              <a:t>在对某个数据对象（例如表、记录等）操作之前，先向系统发出请求，对其加锁</a:t>
            </a:r>
          </a:p>
          <a:p>
            <a:pPr eaLnBrk="1" hangingPunct="1">
              <a:lnSpc>
                <a:spcPct val="200000"/>
              </a:lnSpc>
            </a:pPr>
            <a:r>
              <a:rPr lang="zh-CN" altLang="en-US" sz="2400" dirty="0" smtClean="0"/>
              <a:t>加锁后事务</a:t>
            </a:r>
            <a:r>
              <a:rPr lang="en-US" altLang="zh-CN" sz="2400" dirty="0" smtClean="0"/>
              <a:t>T</a:t>
            </a:r>
            <a:r>
              <a:rPr lang="zh-CN" altLang="en-US" sz="2400" dirty="0" smtClean="0"/>
              <a:t>就对该数据对象有了一定的控制，在事务</a:t>
            </a:r>
            <a:r>
              <a:rPr lang="en-US" altLang="zh-CN" sz="2400" dirty="0" smtClean="0"/>
              <a:t>T</a:t>
            </a:r>
            <a:r>
              <a:rPr lang="zh-CN" altLang="en-US" sz="2400" dirty="0" smtClean="0"/>
              <a:t>释放它的锁之前，其它的事务不能更新此数据对象。</a:t>
            </a:r>
          </a:p>
          <a:p>
            <a:pPr>
              <a:lnSpc>
                <a:spcPct val="190000"/>
              </a:lnSpc>
            </a:pPr>
            <a:r>
              <a:rPr lang="zh-CN" altLang="en-US" dirty="0"/>
              <a:t>基本封锁类型</a:t>
            </a:r>
          </a:p>
          <a:p>
            <a:pPr lvl="1">
              <a:lnSpc>
                <a:spcPct val="190000"/>
              </a:lnSpc>
            </a:pPr>
            <a:r>
              <a:rPr lang="zh-CN" altLang="en-US" dirty="0"/>
              <a:t>排它锁（</a:t>
            </a:r>
            <a:r>
              <a:rPr lang="en-US" altLang="zh-CN" dirty="0"/>
              <a:t>Exclusive Locks</a:t>
            </a:r>
            <a:r>
              <a:rPr lang="zh-CN" altLang="en-US" dirty="0"/>
              <a:t>，简记为</a:t>
            </a:r>
            <a:r>
              <a:rPr lang="en-US" altLang="zh-CN" dirty="0">
                <a:solidFill>
                  <a:srgbClr val="FF0000"/>
                </a:solidFill>
              </a:rPr>
              <a:t>X</a:t>
            </a:r>
            <a:r>
              <a:rPr lang="zh-CN" altLang="en-US" dirty="0">
                <a:solidFill>
                  <a:srgbClr val="FF0000"/>
                </a:solidFill>
              </a:rPr>
              <a:t>锁</a:t>
            </a:r>
            <a:r>
              <a:rPr lang="zh-CN" altLang="en-US" dirty="0"/>
              <a:t>）</a:t>
            </a:r>
          </a:p>
          <a:p>
            <a:pPr lvl="1">
              <a:lnSpc>
                <a:spcPct val="190000"/>
              </a:lnSpc>
            </a:pPr>
            <a:r>
              <a:rPr lang="zh-CN" altLang="en-US" dirty="0"/>
              <a:t>共享锁（</a:t>
            </a:r>
            <a:r>
              <a:rPr lang="en-US" altLang="zh-CN" dirty="0"/>
              <a:t>Share Locks</a:t>
            </a:r>
            <a:r>
              <a:rPr lang="zh-CN" altLang="en-US" dirty="0"/>
              <a:t>，简记为</a:t>
            </a:r>
            <a:r>
              <a:rPr lang="en-US" altLang="zh-CN" dirty="0">
                <a:solidFill>
                  <a:srgbClr val="FF0000"/>
                </a:solidFill>
              </a:rPr>
              <a:t>S</a:t>
            </a:r>
            <a:r>
              <a:rPr lang="zh-CN" altLang="en-US" dirty="0">
                <a:solidFill>
                  <a:srgbClr val="FF0000"/>
                </a:solidFill>
              </a:rPr>
              <a:t>锁</a:t>
            </a:r>
            <a:r>
              <a:rPr lang="zh-CN" altLang="en-US" dirty="0"/>
              <a:t>）</a:t>
            </a:r>
          </a:p>
          <a:p>
            <a:pPr eaLnBrk="1" hangingPunct="1"/>
            <a:endParaRPr lang="en-US" altLang="zh-CN" sz="2400" dirty="0" smtClean="0"/>
          </a:p>
        </p:txBody>
      </p:sp>
    </p:spTree>
    <p:extLst>
      <p:ext uri="{BB962C8B-B14F-4D97-AF65-F5344CB8AC3E}">
        <p14:creationId xmlns:p14="http://schemas.microsoft.com/office/powerpoint/2010/main" val="23431956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排它锁</a:t>
            </a:r>
          </a:p>
        </p:txBody>
      </p:sp>
      <p:sp>
        <p:nvSpPr>
          <p:cNvPr id="29699" name="Rectangle 3"/>
          <p:cNvSpPr>
            <a:spLocks noGrp="1" noChangeArrowheads="1"/>
          </p:cNvSpPr>
          <p:nvPr>
            <p:ph type="body" idx="4294967295"/>
          </p:nvPr>
        </p:nvSpPr>
        <p:spPr>
          <a:xfrm>
            <a:off x="457200" y="1125538"/>
            <a:ext cx="8229600" cy="5199062"/>
          </a:xfrm>
        </p:spPr>
        <p:txBody>
          <a:bodyPr>
            <a:normAutofit/>
          </a:bodyPr>
          <a:lstStyle/>
          <a:p>
            <a:pPr>
              <a:lnSpc>
                <a:spcPct val="150000"/>
              </a:lnSpc>
              <a:spcBef>
                <a:spcPct val="60000"/>
              </a:spcBef>
            </a:pPr>
            <a:r>
              <a:rPr lang="zh-CN" altLang="en-US" dirty="0" smtClean="0"/>
              <a:t>排它锁又称为写锁（</a:t>
            </a:r>
            <a:r>
              <a:rPr lang="en-GB" altLang="zh-CN" dirty="0">
                <a:latin typeface="Tahoma" panose="020B0604030504040204" pitchFamily="34" charset="0"/>
              </a:rPr>
              <a:t>Write </a:t>
            </a:r>
            <a:r>
              <a:rPr lang="en-GB" altLang="zh-CN" dirty="0" smtClean="0">
                <a:latin typeface="Tahoma" panose="020B0604030504040204" pitchFamily="34" charset="0"/>
              </a:rPr>
              <a:t>Locks</a:t>
            </a:r>
            <a:r>
              <a:rPr lang="zh-CN" altLang="en-US" dirty="0" smtClean="0"/>
              <a:t>）</a:t>
            </a:r>
          </a:p>
          <a:p>
            <a:pPr eaLnBrk="1" hangingPunct="1">
              <a:lnSpc>
                <a:spcPct val="150000"/>
              </a:lnSpc>
              <a:spcBef>
                <a:spcPct val="60000"/>
              </a:spcBef>
            </a:pPr>
            <a:r>
              <a:rPr lang="zh-CN" altLang="en-US" dirty="0" smtClean="0"/>
              <a:t>若事务</a:t>
            </a:r>
            <a:r>
              <a:rPr lang="en-US" altLang="zh-CN" dirty="0" smtClean="0"/>
              <a:t>T</a:t>
            </a:r>
            <a:r>
              <a:rPr lang="zh-CN" altLang="en-US" dirty="0" smtClean="0"/>
              <a:t>对数据对象</a:t>
            </a:r>
            <a:r>
              <a:rPr lang="en-US" altLang="zh-CN" dirty="0" smtClean="0"/>
              <a:t>A</a:t>
            </a:r>
            <a:r>
              <a:rPr lang="zh-CN" altLang="en-US" dirty="0" smtClean="0"/>
              <a:t>加上</a:t>
            </a:r>
            <a:r>
              <a:rPr lang="en-US" altLang="zh-CN" dirty="0" smtClean="0"/>
              <a:t>X</a:t>
            </a:r>
            <a:r>
              <a:rPr lang="zh-CN" altLang="en-US" dirty="0" smtClean="0"/>
              <a:t>锁，则只允许</a:t>
            </a:r>
            <a:r>
              <a:rPr lang="en-US" altLang="zh-CN" dirty="0" smtClean="0"/>
              <a:t>T</a:t>
            </a:r>
            <a:r>
              <a:rPr lang="zh-CN" altLang="en-US" dirty="0" smtClean="0"/>
              <a:t>读取和修改</a:t>
            </a:r>
            <a:r>
              <a:rPr lang="en-US" altLang="zh-CN" dirty="0" smtClean="0"/>
              <a:t>A</a:t>
            </a:r>
            <a:r>
              <a:rPr lang="zh-CN" altLang="en-US" dirty="0" smtClean="0"/>
              <a:t>，其它任何事务都不能再对</a:t>
            </a:r>
            <a:r>
              <a:rPr lang="en-US" altLang="zh-CN" dirty="0" smtClean="0"/>
              <a:t>A</a:t>
            </a:r>
            <a:r>
              <a:rPr lang="zh-CN" altLang="en-US" dirty="0" smtClean="0"/>
              <a:t>加任何类型的锁，直到</a:t>
            </a:r>
            <a:r>
              <a:rPr lang="en-US" altLang="zh-CN" dirty="0" smtClean="0"/>
              <a:t>T</a:t>
            </a:r>
            <a:r>
              <a:rPr lang="zh-CN" altLang="en-US" dirty="0" smtClean="0"/>
              <a:t>释放</a:t>
            </a:r>
            <a:r>
              <a:rPr lang="en-US" altLang="zh-CN" dirty="0" smtClean="0"/>
              <a:t>A</a:t>
            </a:r>
            <a:r>
              <a:rPr lang="zh-CN" altLang="en-US" dirty="0" smtClean="0"/>
              <a:t>上的锁</a:t>
            </a:r>
          </a:p>
          <a:p>
            <a:pPr eaLnBrk="1" hangingPunct="1">
              <a:lnSpc>
                <a:spcPct val="150000"/>
              </a:lnSpc>
              <a:spcBef>
                <a:spcPct val="60000"/>
              </a:spcBef>
            </a:pPr>
            <a:r>
              <a:rPr lang="zh-CN" altLang="en-US" dirty="0" smtClean="0"/>
              <a:t>保证其他事务在</a:t>
            </a:r>
            <a:r>
              <a:rPr lang="en-US" altLang="zh-CN" dirty="0" smtClean="0"/>
              <a:t>T</a:t>
            </a:r>
            <a:r>
              <a:rPr lang="zh-CN" altLang="en-US" dirty="0" smtClean="0"/>
              <a:t>释放</a:t>
            </a:r>
            <a:r>
              <a:rPr lang="en-US" altLang="zh-CN" dirty="0" smtClean="0"/>
              <a:t>A</a:t>
            </a:r>
            <a:r>
              <a:rPr lang="zh-CN" altLang="en-US" dirty="0" smtClean="0"/>
              <a:t>上的锁之前不能再读取和修改</a:t>
            </a:r>
            <a:r>
              <a:rPr lang="en-US" altLang="zh-CN" dirty="0" smtClean="0"/>
              <a:t>A </a:t>
            </a:r>
          </a:p>
        </p:txBody>
      </p:sp>
    </p:spTree>
    <p:extLst>
      <p:ext uri="{BB962C8B-B14F-4D97-AF65-F5344CB8AC3E}">
        <p14:creationId xmlns:p14="http://schemas.microsoft.com/office/powerpoint/2010/main" val="7178022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共享锁</a:t>
            </a:r>
          </a:p>
        </p:txBody>
      </p:sp>
      <p:sp>
        <p:nvSpPr>
          <p:cNvPr id="30723" name="Rectangle 3"/>
          <p:cNvSpPr>
            <a:spLocks noGrp="1" noChangeArrowheads="1"/>
          </p:cNvSpPr>
          <p:nvPr>
            <p:ph type="body" idx="4294967295"/>
          </p:nvPr>
        </p:nvSpPr>
        <p:spPr>
          <a:xfrm>
            <a:off x="457200" y="1268413"/>
            <a:ext cx="8229600" cy="5056187"/>
          </a:xfrm>
        </p:spPr>
        <p:txBody>
          <a:bodyPr>
            <a:normAutofit/>
          </a:bodyPr>
          <a:lstStyle/>
          <a:p>
            <a:pPr>
              <a:lnSpc>
                <a:spcPct val="150000"/>
              </a:lnSpc>
            </a:pPr>
            <a:r>
              <a:rPr lang="zh-CN" altLang="en-US" dirty="0" smtClean="0"/>
              <a:t>共享锁又称为读锁（</a:t>
            </a:r>
            <a:r>
              <a:rPr lang="en-GB" altLang="zh-CN" dirty="0">
                <a:latin typeface="Tahoma" panose="020B0604030504040204" pitchFamily="34" charset="0"/>
              </a:rPr>
              <a:t>Read </a:t>
            </a:r>
            <a:r>
              <a:rPr lang="en-GB" altLang="zh-CN" dirty="0" smtClean="0">
                <a:latin typeface="Tahoma" panose="020B0604030504040204" pitchFamily="34" charset="0"/>
              </a:rPr>
              <a:t>Locks</a:t>
            </a:r>
            <a:r>
              <a:rPr lang="zh-CN" altLang="en-US" dirty="0" smtClean="0"/>
              <a:t>）</a:t>
            </a:r>
          </a:p>
          <a:p>
            <a:pPr eaLnBrk="1" hangingPunct="1">
              <a:lnSpc>
                <a:spcPct val="150000"/>
              </a:lnSpc>
              <a:spcBef>
                <a:spcPct val="60000"/>
              </a:spcBef>
            </a:pPr>
            <a:r>
              <a:rPr lang="zh-CN" altLang="en-US" dirty="0" smtClean="0"/>
              <a:t>若事务</a:t>
            </a:r>
            <a:r>
              <a:rPr lang="en-US" altLang="zh-CN" dirty="0" smtClean="0"/>
              <a:t>T</a:t>
            </a:r>
            <a:r>
              <a:rPr lang="zh-CN" altLang="en-US" dirty="0" smtClean="0"/>
              <a:t>对数据对象</a:t>
            </a:r>
            <a:r>
              <a:rPr lang="en-US" altLang="zh-CN" dirty="0" smtClean="0"/>
              <a:t>A</a:t>
            </a:r>
            <a:r>
              <a:rPr lang="zh-CN" altLang="en-US" dirty="0" smtClean="0"/>
              <a:t>加上</a:t>
            </a:r>
            <a:r>
              <a:rPr lang="en-US" altLang="zh-CN" dirty="0" smtClean="0"/>
              <a:t>S</a:t>
            </a:r>
            <a:r>
              <a:rPr lang="zh-CN" altLang="en-US" dirty="0" smtClean="0"/>
              <a:t>锁，则事务</a:t>
            </a:r>
            <a:r>
              <a:rPr lang="en-US" altLang="zh-CN" dirty="0" smtClean="0"/>
              <a:t>T</a:t>
            </a:r>
            <a:r>
              <a:rPr lang="zh-CN" altLang="en-US" dirty="0" smtClean="0"/>
              <a:t>可以读</a:t>
            </a:r>
            <a:r>
              <a:rPr lang="en-US" altLang="zh-CN" dirty="0" smtClean="0"/>
              <a:t>A</a:t>
            </a:r>
            <a:r>
              <a:rPr lang="zh-CN" altLang="en-US" dirty="0" smtClean="0"/>
              <a:t>但不能修改</a:t>
            </a:r>
            <a:r>
              <a:rPr lang="en-US" altLang="zh-CN" dirty="0" smtClean="0"/>
              <a:t>A</a:t>
            </a:r>
            <a:r>
              <a:rPr lang="zh-CN" altLang="en-US" dirty="0" smtClean="0"/>
              <a:t>，其它事务只能再对</a:t>
            </a:r>
            <a:r>
              <a:rPr lang="en-US" altLang="zh-CN" dirty="0" smtClean="0"/>
              <a:t>A</a:t>
            </a:r>
            <a:r>
              <a:rPr lang="zh-CN" altLang="en-US" dirty="0" smtClean="0"/>
              <a:t>加</a:t>
            </a:r>
            <a:r>
              <a:rPr lang="en-US" altLang="zh-CN" dirty="0" smtClean="0"/>
              <a:t>S</a:t>
            </a:r>
            <a:r>
              <a:rPr lang="zh-CN" altLang="en-US" dirty="0" smtClean="0"/>
              <a:t>锁，而不能加</a:t>
            </a:r>
            <a:r>
              <a:rPr lang="en-US" altLang="zh-CN" dirty="0" smtClean="0"/>
              <a:t>X</a:t>
            </a:r>
            <a:r>
              <a:rPr lang="zh-CN" altLang="en-US" dirty="0" smtClean="0"/>
              <a:t>锁，直到</a:t>
            </a:r>
            <a:r>
              <a:rPr lang="en-US" altLang="zh-CN" dirty="0" smtClean="0"/>
              <a:t>T</a:t>
            </a:r>
            <a:r>
              <a:rPr lang="zh-CN" altLang="en-US" dirty="0" smtClean="0"/>
              <a:t>释放</a:t>
            </a:r>
            <a:r>
              <a:rPr lang="en-US" altLang="zh-CN" dirty="0" smtClean="0"/>
              <a:t>A</a:t>
            </a:r>
            <a:r>
              <a:rPr lang="zh-CN" altLang="en-US" dirty="0" smtClean="0"/>
              <a:t>上的</a:t>
            </a:r>
            <a:r>
              <a:rPr lang="en-US" altLang="zh-CN" dirty="0" smtClean="0"/>
              <a:t>S</a:t>
            </a:r>
            <a:r>
              <a:rPr lang="zh-CN" altLang="en-US" dirty="0" smtClean="0"/>
              <a:t>锁</a:t>
            </a:r>
          </a:p>
          <a:p>
            <a:pPr eaLnBrk="1" hangingPunct="1">
              <a:lnSpc>
                <a:spcPct val="150000"/>
              </a:lnSpc>
              <a:spcBef>
                <a:spcPct val="60000"/>
              </a:spcBef>
            </a:pPr>
            <a:r>
              <a:rPr lang="zh-CN" altLang="en-US" dirty="0" smtClean="0"/>
              <a:t>保证其他事务可以读</a:t>
            </a:r>
            <a:r>
              <a:rPr lang="en-US" altLang="zh-CN" dirty="0" smtClean="0"/>
              <a:t>A</a:t>
            </a:r>
            <a:r>
              <a:rPr lang="zh-CN" altLang="en-US" dirty="0" smtClean="0"/>
              <a:t>，但在</a:t>
            </a:r>
            <a:r>
              <a:rPr lang="en-US" altLang="zh-CN" dirty="0" smtClean="0"/>
              <a:t>T</a:t>
            </a:r>
            <a:r>
              <a:rPr lang="zh-CN" altLang="en-US" dirty="0" smtClean="0"/>
              <a:t>释放</a:t>
            </a:r>
            <a:r>
              <a:rPr lang="en-US" altLang="zh-CN" dirty="0" smtClean="0"/>
              <a:t>A</a:t>
            </a:r>
            <a:r>
              <a:rPr lang="zh-CN" altLang="en-US" dirty="0" smtClean="0"/>
              <a:t>上的</a:t>
            </a:r>
            <a:r>
              <a:rPr lang="en-US" altLang="zh-CN" dirty="0" smtClean="0"/>
              <a:t>S</a:t>
            </a:r>
            <a:r>
              <a:rPr lang="zh-CN" altLang="en-US" dirty="0" smtClean="0"/>
              <a:t>锁之前不能对</a:t>
            </a:r>
            <a:r>
              <a:rPr lang="en-US" altLang="zh-CN" dirty="0" smtClean="0"/>
              <a:t>A</a:t>
            </a:r>
            <a:r>
              <a:rPr lang="zh-CN" altLang="en-US" dirty="0" smtClean="0"/>
              <a:t>做任何修改 </a:t>
            </a:r>
          </a:p>
          <a:p>
            <a:pPr eaLnBrk="1" hangingPunct="1">
              <a:lnSpc>
                <a:spcPct val="110000"/>
              </a:lnSpc>
              <a:spcBef>
                <a:spcPct val="60000"/>
              </a:spcBef>
            </a:pPr>
            <a:endParaRPr lang="en-US" altLang="zh-CN" dirty="0" smtClean="0"/>
          </a:p>
        </p:txBody>
      </p:sp>
    </p:spTree>
    <p:extLst>
      <p:ext uri="{BB962C8B-B14F-4D97-AF65-F5344CB8AC3E}">
        <p14:creationId xmlns:p14="http://schemas.microsoft.com/office/powerpoint/2010/main" val="25055818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使用封锁机制解决丢失修改问题</a:t>
            </a:r>
          </a:p>
        </p:txBody>
      </p:sp>
      <p:graphicFrame>
        <p:nvGraphicFramePr>
          <p:cNvPr id="35843" name="Group 3"/>
          <p:cNvGraphicFramePr>
            <a:graphicFrameLocks noGrp="1"/>
          </p:cNvGraphicFramePr>
          <p:nvPr>
            <p:ph idx="4294967295"/>
            <p:extLst>
              <p:ext uri="{D42A27DB-BD31-4B8C-83A1-F6EECF244321}">
                <p14:modId xmlns:p14="http://schemas.microsoft.com/office/powerpoint/2010/main" val="1566862827"/>
              </p:ext>
            </p:extLst>
          </p:nvPr>
        </p:nvGraphicFramePr>
        <p:xfrm>
          <a:off x="865982" y="1199291"/>
          <a:ext cx="4546600" cy="5546856"/>
        </p:xfrm>
        <a:graphic>
          <a:graphicData uri="http://schemas.openxmlformats.org/drawingml/2006/table">
            <a:tbl>
              <a:tblPr/>
              <a:tblGrid>
                <a:gridCol w="2278063">
                  <a:extLst>
                    <a:ext uri="{9D8B030D-6E8A-4147-A177-3AD203B41FA5}">
                      <a16:colId xmlns="" xmlns:a16="http://schemas.microsoft.com/office/drawing/2014/main" val="20000"/>
                    </a:ext>
                  </a:extLst>
                </a:gridCol>
                <a:gridCol w="2268537">
                  <a:extLst>
                    <a:ext uri="{9D8B030D-6E8A-4147-A177-3AD203B41FA5}">
                      <a16:colId xmlns="" xmlns:a16="http://schemas.microsoft.com/office/drawing/2014/main" val="20001"/>
                    </a:ext>
                  </a:extLst>
                </a:gridCol>
              </a:tblGrid>
              <a:tr h="39619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①    Xlock A</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②    R(A)=16</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 A</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③    A←A-1</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W(A)=15</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Commit</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Unlock A</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④</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获得</a:t>
                      </a: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 A</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R(A)=15</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9"/>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A←A-1</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0"/>
                  </a:ext>
                </a:extLst>
              </a:tr>
              <a:tr h="396195">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⑤</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W(A)=14</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1"/>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Commit</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2"/>
                  </a:ext>
                </a:extLst>
              </a:tr>
              <a:tr h="396195">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marT="45702" marB="45702" horzOverflow="overflow">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02" marB="4570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3"/>
                  </a:ext>
                </a:extLst>
              </a:tr>
            </a:tbl>
          </a:graphicData>
        </a:graphic>
      </p:graphicFrame>
      <p:sp>
        <p:nvSpPr>
          <p:cNvPr id="37937" name="Text Box 194"/>
          <p:cNvSpPr txBox="1">
            <a:spLocks noChangeArrowheads="1"/>
          </p:cNvSpPr>
          <p:nvPr/>
        </p:nvSpPr>
        <p:spPr bwMode="auto">
          <a:xfrm>
            <a:off x="221457" y="1227931"/>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例：</a:t>
            </a:r>
          </a:p>
        </p:txBody>
      </p:sp>
      <p:sp>
        <p:nvSpPr>
          <p:cNvPr id="37938" name="Text Box 240"/>
          <p:cNvSpPr txBox="1">
            <a:spLocks noChangeArrowheads="1"/>
          </p:cNvSpPr>
          <p:nvPr/>
        </p:nvSpPr>
        <p:spPr bwMode="auto">
          <a:xfrm>
            <a:off x="5580063" y="1557338"/>
            <a:ext cx="3455987"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在读</a:t>
            </a:r>
            <a:r>
              <a:rPr lang="en-US" altLang="zh-CN" sz="2200" b="1">
                <a:latin typeface="Times New Roman" panose="02020603050405020304" pitchFamily="18" charset="0"/>
              </a:rPr>
              <a:t>A</a:t>
            </a:r>
            <a:r>
              <a:rPr lang="zh-CN" altLang="en-US" sz="2200" b="1">
                <a:latin typeface="Times New Roman" panose="02020603050405020304" pitchFamily="18" charset="0"/>
              </a:rPr>
              <a:t>进行修改之前先对</a:t>
            </a:r>
            <a:r>
              <a:rPr lang="en-US" altLang="zh-CN" sz="2200" b="1">
                <a:latin typeface="Times New Roman" panose="02020603050405020304" pitchFamily="18" charset="0"/>
              </a:rPr>
              <a:t>A</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a:t>
            </a:r>
          </a:p>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当</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再请求对</a:t>
            </a:r>
            <a:r>
              <a:rPr lang="en-US" altLang="zh-CN" sz="2200" b="1">
                <a:latin typeface="Times New Roman" panose="02020603050405020304" pitchFamily="18" charset="0"/>
              </a:rPr>
              <a:t>A</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锁时被拒绝</a:t>
            </a:r>
          </a:p>
          <a:p>
            <a:pPr eaLnBrk="1" hangingPunct="1">
              <a:spcBef>
                <a:spcPct val="50000"/>
              </a:spcBef>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只能等待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释放</a:t>
            </a:r>
            <a:r>
              <a:rPr lang="en-US" altLang="zh-CN" sz="2200" b="1">
                <a:latin typeface="Times New Roman" panose="02020603050405020304" pitchFamily="18" charset="0"/>
              </a:rPr>
              <a:t>A</a:t>
            </a:r>
            <a:r>
              <a:rPr lang="zh-CN" altLang="en-US" sz="2200" b="1">
                <a:latin typeface="Times New Roman" panose="02020603050405020304" pitchFamily="18" charset="0"/>
              </a:rPr>
              <a:t>上的锁后获得对</a:t>
            </a:r>
            <a:r>
              <a:rPr lang="en-US" altLang="zh-CN" sz="2200" b="1">
                <a:latin typeface="Times New Roman" panose="02020603050405020304" pitchFamily="18" charset="0"/>
              </a:rPr>
              <a:t>A</a:t>
            </a:r>
            <a:r>
              <a:rPr lang="zh-CN" altLang="en-US" sz="2200" b="1">
                <a:latin typeface="Times New Roman" panose="02020603050405020304" pitchFamily="18" charset="0"/>
              </a:rPr>
              <a:t>的</a:t>
            </a:r>
            <a:r>
              <a:rPr lang="en-US" altLang="zh-CN" sz="2200" b="1">
                <a:latin typeface="Times New Roman" panose="02020603050405020304" pitchFamily="18" charset="0"/>
              </a:rPr>
              <a:t>X</a:t>
            </a:r>
            <a:r>
              <a:rPr lang="zh-CN" altLang="en-US" sz="2200" b="1">
                <a:latin typeface="Times New Roman" panose="02020603050405020304" pitchFamily="18" charset="0"/>
              </a:rPr>
              <a:t>锁</a:t>
            </a:r>
          </a:p>
          <a:p>
            <a:pPr eaLnBrk="1" hangingPunct="1">
              <a:spcBef>
                <a:spcPct val="50000"/>
              </a:spcBef>
              <a:buSzPct val="100000"/>
              <a:buFont typeface="Wingdings" panose="05000000000000000000" pitchFamily="2" charset="2"/>
              <a:buChar char="n"/>
            </a:pPr>
            <a:r>
              <a:rPr lang="zh-CN" altLang="en-US" sz="2200" b="1">
                <a:latin typeface="Times New Roman" panose="02020603050405020304" pitchFamily="18" charset="0"/>
              </a:rPr>
              <a:t>这时</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读到的</a:t>
            </a:r>
            <a:r>
              <a:rPr lang="en-US" altLang="zh-CN" sz="2200" b="1">
                <a:latin typeface="Times New Roman" panose="02020603050405020304" pitchFamily="18" charset="0"/>
              </a:rPr>
              <a:t>A</a:t>
            </a:r>
            <a:r>
              <a:rPr lang="zh-CN" altLang="en-US" sz="2200" b="1">
                <a:latin typeface="Times New Roman" panose="02020603050405020304" pitchFamily="18" charset="0"/>
              </a:rPr>
              <a:t>已经是</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更新过的值</a:t>
            </a:r>
            <a:r>
              <a:rPr lang="en-US" altLang="zh-CN" sz="2200" b="1">
                <a:latin typeface="Times New Roman" panose="02020603050405020304" pitchFamily="18" charset="0"/>
              </a:rPr>
              <a:t>15</a:t>
            </a:r>
          </a:p>
          <a:p>
            <a:pPr eaLnBrk="1" hangingPunct="1">
              <a:spcBef>
                <a:spcPct val="50000"/>
              </a:spcBef>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按此新的</a:t>
            </a:r>
            <a:r>
              <a:rPr lang="en-US" altLang="zh-CN" sz="2200" b="1">
                <a:latin typeface="Times New Roman" panose="02020603050405020304" pitchFamily="18" charset="0"/>
              </a:rPr>
              <a:t>A</a:t>
            </a:r>
            <a:r>
              <a:rPr lang="zh-CN" altLang="en-US" sz="2200" b="1">
                <a:latin typeface="Times New Roman" panose="02020603050405020304" pitchFamily="18" charset="0"/>
              </a:rPr>
              <a:t>值进行运算，并将结果值</a:t>
            </a:r>
            <a:r>
              <a:rPr lang="en-US" altLang="zh-CN" sz="2200" b="1">
                <a:latin typeface="Times New Roman" panose="02020603050405020304" pitchFamily="18" charset="0"/>
              </a:rPr>
              <a:t>A=14</a:t>
            </a:r>
            <a:r>
              <a:rPr lang="zh-CN" altLang="en-US" sz="2200" b="1">
                <a:latin typeface="Times New Roman" panose="02020603050405020304" pitchFamily="18" charset="0"/>
              </a:rPr>
              <a:t>写回到磁盘。避免了丢失</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的更新。</a:t>
            </a:r>
          </a:p>
        </p:txBody>
      </p:sp>
      <p:sp>
        <p:nvSpPr>
          <p:cNvPr id="37939" name="Text Box 241"/>
          <p:cNvSpPr txBox="1">
            <a:spLocks noChangeArrowheads="1"/>
          </p:cNvSpPr>
          <p:nvPr/>
        </p:nvSpPr>
        <p:spPr bwMode="auto">
          <a:xfrm>
            <a:off x="5804352" y="1127125"/>
            <a:ext cx="23764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200" b="1" dirty="0">
                <a:solidFill>
                  <a:schemeClr val="tx2"/>
                </a:solidFill>
                <a:latin typeface="Times New Roman" panose="02020603050405020304" pitchFamily="18" charset="0"/>
              </a:rPr>
              <a:t>没有丢失修改</a:t>
            </a:r>
          </a:p>
        </p:txBody>
      </p:sp>
    </p:spTree>
    <p:extLst>
      <p:ext uri="{BB962C8B-B14F-4D97-AF65-F5344CB8AC3E}">
        <p14:creationId xmlns:p14="http://schemas.microsoft.com/office/powerpoint/2010/main" val="29214528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900113" y="188913"/>
            <a:ext cx="7391400" cy="563562"/>
          </a:xfrm>
          <a:noFill/>
        </p:spPr>
        <p:txBody>
          <a:bodyPr>
            <a:normAutofit fontScale="90000"/>
          </a:bodyPr>
          <a:lstStyle/>
          <a:p>
            <a:pPr eaLnBrk="1" hangingPunct="1"/>
            <a:r>
              <a:rPr lang="zh-CN" altLang="zh-CN" sz="3600" smtClean="0"/>
              <a:t>使用封锁机制解决不可重复读问题</a:t>
            </a:r>
          </a:p>
        </p:txBody>
      </p:sp>
      <p:graphicFrame>
        <p:nvGraphicFramePr>
          <p:cNvPr id="41987" name="Group 3"/>
          <p:cNvGraphicFramePr>
            <a:graphicFrameLocks noGrp="1"/>
          </p:cNvGraphicFramePr>
          <p:nvPr>
            <p:ph idx="4294967295"/>
            <p:extLst>
              <p:ext uri="{D42A27DB-BD31-4B8C-83A1-F6EECF244321}">
                <p14:modId xmlns:p14="http://schemas.microsoft.com/office/powerpoint/2010/main" val="3336463958"/>
              </p:ext>
            </p:extLst>
          </p:nvPr>
        </p:nvGraphicFramePr>
        <p:xfrm>
          <a:off x="500019" y="1252538"/>
          <a:ext cx="3025775" cy="5576895"/>
        </p:xfrm>
        <a:graphic>
          <a:graphicData uri="http://schemas.openxmlformats.org/drawingml/2006/table">
            <a:tbl>
              <a:tblPr/>
              <a:tblGrid>
                <a:gridCol w="1482725">
                  <a:extLst>
                    <a:ext uri="{9D8B030D-6E8A-4147-A177-3AD203B41FA5}">
                      <a16:colId xmlns="" xmlns:a16="http://schemas.microsoft.com/office/drawing/2014/main" val="20000"/>
                    </a:ext>
                  </a:extLst>
                </a:gridCol>
                <a:gridCol w="1543050">
                  <a:extLst>
                    <a:ext uri="{9D8B030D-6E8A-4147-A177-3AD203B41FA5}">
                      <a16:colId xmlns="" xmlns:a16="http://schemas.microsoft.com/office/drawing/2014/main" val="20001"/>
                    </a:ext>
                  </a:extLst>
                </a:gridCol>
              </a:tblGrid>
              <a:tr h="3127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p>
                  </a:txBody>
                  <a:tcP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2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p>
                  </a:txBody>
                  <a:tcP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①  Slock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Slock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求和</a:t>
                      </a: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274638">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②</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③  R(A)=50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r h="288925">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R(B)=100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9"/>
                  </a:ext>
                </a:extLst>
              </a:tr>
              <a:tr h="29210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a:t>
                      </a:r>
                      <a:r>
                        <a:rPr kumimoji="0" lang="zh-CN" alt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求和</a:t>
                      </a: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0"/>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Commit</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1"/>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Unlock A</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2"/>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Unlock B</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3"/>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④</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获得</a:t>
                      </a: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4"/>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R(B)=100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5"/>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B←B*2</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6"/>
                  </a:ext>
                </a:extLst>
              </a:tr>
              <a:tr h="274638">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⑤</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W(B)=200</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7"/>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Commit</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8"/>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2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B</a:t>
                      </a:r>
                    </a:p>
                  </a:txBody>
                  <a:tcPr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9"/>
                  </a:ext>
                </a:extLst>
              </a:tr>
            </a:tbl>
          </a:graphicData>
        </a:graphic>
      </p:graphicFrame>
      <p:sp>
        <p:nvSpPr>
          <p:cNvPr id="42049" name="Text Box 773"/>
          <p:cNvSpPr txBox="1">
            <a:spLocks noChangeArrowheads="1"/>
          </p:cNvSpPr>
          <p:nvPr/>
        </p:nvSpPr>
        <p:spPr bwMode="auto">
          <a:xfrm>
            <a:off x="4067175" y="1411288"/>
            <a:ext cx="4465638"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事务</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在读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之前，先对</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加</a:t>
            </a:r>
            <a:r>
              <a:rPr lang="en-US" altLang="zh-CN" sz="2000" b="1">
                <a:latin typeface="Times New Roman" panose="02020603050405020304" pitchFamily="18" charset="0"/>
              </a:rPr>
              <a:t>S</a:t>
            </a:r>
            <a:r>
              <a:rPr lang="zh-CN" altLang="en-US" sz="2000" b="1">
                <a:latin typeface="Times New Roman" panose="02020603050405020304" pitchFamily="18" charset="0"/>
              </a:rPr>
              <a:t>锁</a:t>
            </a:r>
          </a:p>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其他事务只能再对</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加</a:t>
            </a:r>
            <a:r>
              <a:rPr lang="en-US" altLang="zh-CN" sz="2000" b="1">
                <a:latin typeface="Times New Roman" panose="02020603050405020304" pitchFamily="18" charset="0"/>
              </a:rPr>
              <a:t>S</a:t>
            </a:r>
            <a:r>
              <a:rPr lang="zh-CN" altLang="en-US" sz="2000" b="1">
                <a:latin typeface="Times New Roman" panose="02020603050405020304" pitchFamily="18" charset="0"/>
              </a:rPr>
              <a:t>锁，而不能加</a:t>
            </a:r>
            <a:r>
              <a:rPr lang="en-US" altLang="zh-CN" sz="2000" b="1">
                <a:latin typeface="Times New Roman" panose="02020603050405020304" pitchFamily="18" charset="0"/>
              </a:rPr>
              <a:t>X</a:t>
            </a:r>
            <a:r>
              <a:rPr lang="zh-CN" altLang="en-US" sz="2000" b="1">
                <a:latin typeface="Times New Roman" panose="02020603050405020304" pitchFamily="18" charset="0"/>
              </a:rPr>
              <a:t>锁，即其他事务只能读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，而不能修改</a:t>
            </a:r>
          </a:p>
          <a:p>
            <a:pPr eaLnBrk="1" hangingPunct="1">
              <a:lnSpc>
                <a:spcPct val="120000"/>
              </a:lnSpc>
              <a:buSzPct val="100000"/>
              <a:buFont typeface="Wingdings" panose="05000000000000000000" pitchFamily="2" charset="2"/>
              <a:buChar char="n"/>
            </a:pPr>
            <a:r>
              <a:rPr lang="zh-CN" altLang="en-US" sz="2000" b="1">
                <a:latin typeface="Times New Roman" panose="02020603050405020304" pitchFamily="18" charset="0"/>
              </a:rPr>
              <a:t>当</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为修改</a:t>
            </a:r>
            <a:r>
              <a:rPr lang="en-US" altLang="zh-CN" sz="2000" b="1">
                <a:latin typeface="Times New Roman" panose="02020603050405020304" pitchFamily="18" charset="0"/>
              </a:rPr>
              <a:t>B</a:t>
            </a:r>
            <a:r>
              <a:rPr lang="zh-CN" altLang="en-US" sz="2000" b="1">
                <a:latin typeface="Times New Roman" panose="02020603050405020304" pitchFamily="18" charset="0"/>
              </a:rPr>
              <a:t>而申请对</a:t>
            </a:r>
            <a:r>
              <a:rPr lang="en-US" altLang="zh-CN" sz="2000" b="1">
                <a:latin typeface="Times New Roman" panose="02020603050405020304" pitchFamily="18" charset="0"/>
              </a:rPr>
              <a:t>B</a:t>
            </a:r>
            <a:r>
              <a:rPr lang="zh-CN" altLang="en-US" sz="2000" b="1">
                <a:latin typeface="Times New Roman" panose="02020603050405020304" pitchFamily="18" charset="0"/>
              </a:rPr>
              <a:t>的</a:t>
            </a:r>
            <a:r>
              <a:rPr lang="en-US" altLang="zh-CN" sz="2000" b="1">
                <a:latin typeface="Times New Roman" panose="02020603050405020304" pitchFamily="18" charset="0"/>
              </a:rPr>
              <a:t>X</a:t>
            </a:r>
            <a:r>
              <a:rPr lang="zh-CN" altLang="en-US" sz="2000" b="1">
                <a:latin typeface="Times New Roman" panose="02020603050405020304" pitchFamily="18" charset="0"/>
              </a:rPr>
              <a:t>锁时被拒绝只能等待</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释放</a:t>
            </a:r>
            <a:r>
              <a:rPr lang="en-US" altLang="zh-CN" sz="2000" b="1">
                <a:latin typeface="Times New Roman" panose="02020603050405020304" pitchFamily="18" charset="0"/>
              </a:rPr>
              <a:t>B</a:t>
            </a:r>
            <a:r>
              <a:rPr lang="zh-CN" altLang="en-US" sz="2000" b="1">
                <a:latin typeface="Times New Roman" panose="02020603050405020304" pitchFamily="18" charset="0"/>
              </a:rPr>
              <a:t>上的锁</a:t>
            </a:r>
          </a:p>
          <a:p>
            <a:pPr eaLnBrk="1" hangingPunct="1">
              <a:lnSpc>
                <a:spcPct val="12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为验算再读</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，这时读出的</a:t>
            </a:r>
            <a:r>
              <a:rPr lang="en-US" altLang="zh-CN" sz="2000" b="1">
                <a:latin typeface="Times New Roman" panose="02020603050405020304" pitchFamily="18" charset="0"/>
              </a:rPr>
              <a:t>B</a:t>
            </a:r>
            <a:r>
              <a:rPr lang="zh-CN" altLang="en-US" sz="2000" b="1">
                <a:latin typeface="Times New Roman" panose="02020603050405020304" pitchFamily="18" charset="0"/>
              </a:rPr>
              <a:t>仍是</a:t>
            </a:r>
            <a:r>
              <a:rPr lang="en-US" altLang="zh-CN" sz="2000" b="1">
                <a:latin typeface="Times New Roman" panose="02020603050405020304" pitchFamily="18" charset="0"/>
              </a:rPr>
              <a:t>100</a:t>
            </a:r>
            <a:r>
              <a:rPr lang="zh-CN" altLang="en-US" sz="2000" b="1">
                <a:latin typeface="Times New Roman" panose="02020603050405020304" pitchFamily="18" charset="0"/>
              </a:rPr>
              <a:t>，求和结果仍为</a:t>
            </a:r>
            <a:r>
              <a:rPr lang="en-US" altLang="zh-CN" sz="2000" b="1">
                <a:latin typeface="Times New Roman" panose="02020603050405020304" pitchFamily="18" charset="0"/>
              </a:rPr>
              <a:t>150</a:t>
            </a:r>
            <a:r>
              <a:rPr lang="zh-CN" altLang="en-US" sz="2000" b="1">
                <a:latin typeface="Times New Roman" panose="02020603050405020304" pitchFamily="18" charset="0"/>
              </a:rPr>
              <a:t>，即可重复读</a:t>
            </a:r>
          </a:p>
          <a:p>
            <a:pPr eaLnBrk="1" hangingPunct="1">
              <a:lnSpc>
                <a:spcPct val="12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结束才释放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上的</a:t>
            </a:r>
            <a:r>
              <a:rPr lang="en-US" altLang="zh-CN" sz="2000" b="1">
                <a:latin typeface="Times New Roman" panose="02020603050405020304" pitchFamily="18" charset="0"/>
              </a:rPr>
              <a:t>S</a:t>
            </a:r>
            <a:r>
              <a:rPr lang="zh-CN" altLang="en-US" sz="2000" b="1">
                <a:latin typeface="Times New Roman" panose="02020603050405020304" pitchFamily="18" charset="0"/>
              </a:rPr>
              <a:t>锁。</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才获得对</a:t>
            </a:r>
            <a:r>
              <a:rPr lang="en-US" altLang="zh-CN" sz="2000" b="1">
                <a:latin typeface="Times New Roman" panose="02020603050405020304" pitchFamily="18" charset="0"/>
              </a:rPr>
              <a:t>B</a:t>
            </a:r>
            <a:r>
              <a:rPr lang="zh-CN" altLang="en-US" sz="2000" b="1">
                <a:latin typeface="Times New Roman" panose="02020603050405020304" pitchFamily="18" charset="0"/>
              </a:rPr>
              <a:t>的</a:t>
            </a:r>
            <a:r>
              <a:rPr lang="en-US" altLang="zh-CN" sz="2000" b="1">
                <a:latin typeface="Times New Roman" panose="02020603050405020304" pitchFamily="18" charset="0"/>
              </a:rPr>
              <a:t>X</a:t>
            </a:r>
            <a:r>
              <a:rPr lang="zh-CN" altLang="en-US" sz="2000" b="1">
                <a:latin typeface="Times New Roman" panose="02020603050405020304" pitchFamily="18" charset="0"/>
              </a:rPr>
              <a:t>锁 </a:t>
            </a:r>
          </a:p>
        </p:txBody>
      </p:sp>
      <p:sp>
        <p:nvSpPr>
          <p:cNvPr id="42050" name="Text Box 774"/>
          <p:cNvSpPr txBox="1">
            <a:spLocks noChangeArrowheads="1"/>
          </p:cNvSpPr>
          <p:nvPr/>
        </p:nvSpPr>
        <p:spPr bwMode="auto">
          <a:xfrm>
            <a:off x="4371975" y="1052513"/>
            <a:ext cx="1216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000" b="1">
                <a:solidFill>
                  <a:schemeClr val="tx2"/>
                </a:solidFill>
                <a:latin typeface="Times New Roman" panose="02020603050405020304" pitchFamily="18" charset="0"/>
              </a:rPr>
              <a:t>可重复读</a:t>
            </a:r>
          </a:p>
        </p:txBody>
      </p:sp>
    </p:spTree>
    <p:extLst>
      <p:ext uri="{BB962C8B-B14F-4D97-AF65-F5344CB8AC3E}">
        <p14:creationId xmlns:p14="http://schemas.microsoft.com/office/powerpoint/2010/main" val="42920206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468313" y="188913"/>
            <a:ext cx="7991475" cy="563562"/>
          </a:xfrm>
        </p:spPr>
        <p:txBody>
          <a:bodyPr>
            <a:normAutofit fontScale="90000"/>
          </a:bodyPr>
          <a:lstStyle/>
          <a:p>
            <a:pPr eaLnBrk="1" hangingPunct="1"/>
            <a:r>
              <a:rPr lang="zh-CN" altLang="zh-CN" sz="3600" smtClean="0"/>
              <a:t>使用封锁机制解决读“脏”数据问题</a:t>
            </a:r>
          </a:p>
        </p:txBody>
      </p:sp>
      <p:graphicFrame>
        <p:nvGraphicFramePr>
          <p:cNvPr id="38915" name="Group 3"/>
          <p:cNvGraphicFramePr>
            <a:graphicFrameLocks noGrp="1"/>
          </p:cNvGraphicFramePr>
          <p:nvPr>
            <p:ph idx="4294967295"/>
            <p:extLst>
              <p:ext uri="{D42A27DB-BD31-4B8C-83A1-F6EECF244321}">
                <p14:modId xmlns:p14="http://schemas.microsoft.com/office/powerpoint/2010/main" val="3241057730"/>
              </p:ext>
            </p:extLst>
          </p:nvPr>
        </p:nvGraphicFramePr>
        <p:xfrm>
          <a:off x="765175" y="1249363"/>
          <a:ext cx="3786188" cy="5556248"/>
        </p:xfrm>
        <a:graphic>
          <a:graphicData uri="http://schemas.openxmlformats.org/drawingml/2006/table">
            <a:tbl>
              <a:tblPr/>
              <a:tblGrid>
                <a:gridCol w="2069828">
                  <a:extLst>
                    <a:ext uri="{9D8B030D-6E8A-4147-A177-3AD203B41FA5}">
                      <a16:colId xmlns="" xmlns:a16="http://schemas.microsoft.com/office/drawing/2014/main" val="20000"/>
                    </a:ext>
                  </a:extLst>
                </a:gridCol>
                <a:gridCol w="1716360">
                  <a:extLst>
                    <a:ext uri="{9D8B030D-6E8A-4147-A177-3AD203B41FA5}">
                      <a16:colId xmlns="" xmlns:a16="http://schemas.microsoft.com/office/drawing/2014/main" val="20001"/>
                    </a:ext>
                  </a:extLst>
                </a:gridCol>
              </a:tblGrid>
              <a:tr h="404842">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20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0"/>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① </a:t>
                      </a:r>
                      <a:r>
                        <a:rPr kumimoji="0" lang="en-US" sz="20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C</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R(C)=100</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2"/>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C←C*2</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3"/>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W(C)=200</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4"/>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②</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Slock C</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5"/>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6"/>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宋体" pitchFamily="2" charset="-122"/>
                          <a:ea typeface="宋体" pitchFamily="2" charset="-122"/>
                          <a:cs typeface="Times New Roman" pitchFamily="18" charset="0"/>
                        </a:rPr>
                        <a:t>③</a:t>
                      </a: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ROLLBACK</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7"/>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(C</a:t>
                      </a: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恢复为</a:t>
                      </a: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100)</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8"/>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Unlock C</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等待</a:t>
                      </a:r>
                      <a:endParaRPr kumimoji="0" lang="zh-CN"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09"/>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④</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alt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获得</a:t>
                      </a: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Slock C</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0"/>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R(C)=100</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1"/>
                  </a:ext>
                </a:extLst>
              </a:tr>
              <a:tr h="39626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⑤</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Commit C</a:t>
                      </a:r>
                      <a:endParaRPr kumimoji="0" lang="en-US" sz="20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2"/>
                  </a:ext>
                </a:extLst>
              </a:tr>
              <a:tr h="39626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2000" b="1" i="0" u="none" strike="noStrike" cap="none" normalizeH="0" baseline="0" smtClean="0">
                        <a:ln>
                          <a:noFill/>
                        </a:ln>
                        <a:solidFill>
                          <a:schemeClr val="tx1"/>
                        </a:solidFill>
                        <a:effectLst/>
                        <a:latin typeface="Arial" pitchFamily="34" charset="0"/>
                        <a:ea typeface="宋体" pitchFamily="2" charset="-122"/>
                      </a:endParaRP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0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C</a:t>
                      </a:r>
                      <a:endParaRPr kumimoji="0" lang="en-US" sz="20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FFFF66"/>
                    </a:solidFill>
                  </a:tcPr>
                </a:tc>
                <a:extLst>
                  <a:ext uri="{0D108BD9-81ED-4DB2-BD59-A6C34878D82A}">
                    <a16:rowId xmlns="" xmlns:a16="http://schemas.microsoft.com/office/drawing/2014/main" val="10013"/>
                  </a:ext>
                </a:extLst>
              </a:tr>
            </a:tbl>
          </a:graphicData>
        </a:graphic>
      </p:graphicFrame>
      <p:sp>
        <p:nvSpPr>
          <p:cNvPr id="39985" name="Text Box 222"/>
          <p:cNvSpPr txBox="1">
            <a:spLocks noChangeArrowheads="1"/>
          </p:cNvSpPr>
          <p:nvPr/>
        </p:nvSpPr>
        <p:spPr bwMode="auto">
          <a:xfrm>
            <a:off x="223044" y="1215370"/>
            <a:ext cx="49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400" b="1">
                <a:latin typeface="Times New Roman" panose="02020603050405020304" pitchFamily="18" charset="0"/>
              </a:rPr>
              <a:t>例</a:t>
            </a:r>
          </a:p>
        </p:txBody>
      </p:sp>
      <p:sp>
        <p:nvSpPr>
          <p:cNvPr id="39986" name="Text Box 225"/>
          <p:cNvSpPr txBox="1">
            <a:spLocks noChangeArrowheads="1"/>
          </p:cNvSpPr>
          <p:nvPr/>
        </p:nvSpPr>
        <p:spPr bwMode="auto">
          <a:xfrm>
            <a:off x="4787900" y="1477963"/>
            <a:ext cx="4248150" cy="411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anose="05000000000000000000" pitchFamily="2" charset="2"/>
              <a:buChar char="n"/>
            </a:pPr>
            <a:r>
              <a:rPr lang="zh-CN" altLang="en-US" sz="2200" b="1">
                <a:latin typeface="Times New Roman" panose="02020603050405020304" pitchFamily="18" charset="0"/>
              </a:rPr>
              <a:t>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在对</a:t>
            </a:r>
            <a:r>
              <a:rPr lang="en-US" altLang="zh-CN" sz="2200" b="1">
                <a:latin typeface="Times New Roman" panose="02020603050405020304" pitchFamily="18" charset="0"/>
              </a:rPr>
              <a:t>C</a:t>
            </a:r>
            <a:r>
              <a:rPr lang="zh-CN" altLang="en-US" sz="2200" b="1">
                <a:latin typeface="Times New Roman" panose="02020603050405020304" pitchFamily="18" charset="0"/>
              </a:rPr>
              <a:t>进行修改之前，先对</a:t>
            </a:r>
            <a:r>
              <a:rPr lang="en-US" altLang="zh-CN" sz="2200" b="1">
                <a:latin typeface="Times New Roman" panose="02020603050405020304" pitchFamily="18" charset="0"/>
              </a:rPr>
              <a:t>C</a:t>
            </a:r>
            <a:r>
              <a:rPr lang="zh-CN" altLang="en-US" sz="2200" b="1">
                <a:latin typeface="Times New Roman" panose="02020603050405020304" pitchFamily="18" charset="0"/>
              </a:rPr>
              <a:t>加</a:t>
            </a:r>
            <a:r>
              <a:rPr lang="en-US" altLang="zh-CN" sz="2200" b="1">
                <a:latin typeface="Times New Roman" panose="02020603050405020304" pitchFamily="18" charset="0"/>
              </a:rPr>
              <a:t>X</a:t>
            </a:r>
            <a:r>
              <a:rPr lang="zh-CN" altLang="en-US" sz="2200" b="1">
                <a:latin typeface="Times New Roman" panose="02020603050405020304" pitchFamily="18" charset="0"/>
              </a:rPr>
              <a:t>锁，修改其值后写回磁盘</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请求在</a:t>
            </a:r>
            <a:r>
              <a:rPr lang="en-US" altLang="zh-CN" sz="2200" b="1">
                <a:latin typeface="Times New Roman" panose="02020603050405020304" pitchFamily="18" charset="0"/>
              </a:rPr>
              <a:t>C</a:t>
            </a:r>
            <a:r>
              <a:rPr lang="zh-CN" altLang="en-US" sz="2200" b="1">
                <a:latin typeface="Times New Roman" panose="02020603050405020304" pitchFamily="18" charset="0"/>
              </a:rPr>
              <a:t>上加</a:t>
            </a:r>
            <a:r>
              <a:rPr lang="en-US" altLang="zh-CN" sz="2200" b="1">
                <a:latin typeface="Times New Roman" panose="02020603050405020304" pitchFamily="18" charset="0"/>
              </a:rPr>
              <a:t>S</a:t>
            </a:r>
            <a:r>
              <a:rPr lang="zh-CN" altLang="en-US" sz="2200" b="1">
                <a:latin typeface="Times New Roman" panose="02020603050405020304" pitchFamily="18" charset="0"/>
              </a:rPr>
              <a:t>锁，因</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已在</a:t>
            </a:r>
            <a:r>
              <a:rPr lang="en-US" altLang="zh-CN" sz="2200" b="1">
                <a:latin typeface="Times New Roman" panose="02020603050405020304" pitchFamily="18" charset="0"/>
              </a:rPr>
              <a:t>C</a:t>
            </a:r>
            <a:r>
              <a:rPr lang="zh-CN" altLang="en-US" sz="2200" b="1">
                <a:latin typeface="Times New Roman" panose="02020603050405020304" pitchFamily="18" charset="0"/>
              </a:rPr>
              <a:t>上加了</a:t>
            </a:r>
            <a:r>
              <a:rPr lang="en-US" altLang="zh-CN" sz="2200" b="1">
                <a:latin typeface="Times New Roman" panose="02020603050405020304" pitchFamily="18" charset="0"/>
              </a:rPr>
              <a:t>X</a:t>
            </a:r>
            <a:r>
              <a:rPr lang="zh-CN" altLang="en-US" sz="2200" b="1">
                <a:latin typeface="Times New Roman" panose="02020603050405020304" pitchFamily="18" charset="0"/>
              </a:rPr>
              <a:t>锁，</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只能等待</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因某种原因被撤销，</a:t>
            </a:r>
            <a:r>
              <a:rPr lang="en-US" altLang="zh-CN" sz="2200" b="1">
                <a:latin typeface="Times New Roman" panose="02020603050405020304" pitchFamily="18" charset="0"/>
              </a:rPr>
              <a:t>C</a:t>
            </a:r>
            <a:r>
              <a:rPr lang="zh-CN" altLang="en-US" sz="2200" b="1">
                <a:latin typeface="Times New Roman" panose="02020603050405020304" pitchFamily="18" charset="0"/>
              </a:rPr>
              <a:t>恢复为原值</a:t>
            </a:r>
            <a:r>
              <a:rPr lang="en-US" altLang="zh-CN" sz="2200" b="1">
                <a:latin typeface="Times New Roman" panose="02020603050405020304" pitchFamily="18" charset="0"/>
              </a:rPr>
              <a:t>100</a:t>
            </a:r>
          </a:p>
          <a:p>
            <a:pPr eaLnBrk="1" hangingPunct="1">
              <a:lnSpc>
                <a:spcPct val="120000"/>
              </a:lnSpc>
              <a:buSzPct val="100000"/>
              <a:buFont typeface="Wingdings" panose="05000000000000000000" pitchFamily="2" charset="2"/>
              <a:buChar char="n"/>
            </a:pP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释放</a:t>
            </a:r>
            <a:r>
              <a:rPr lang="en-US" altLang="zh-CN" sz="2200" b="1">
                <a:latin typeface="Times New Roman" panose="02020603050405020304" pitchFamily="18" charset="0"/>
              </a:rPr>
              <a:t>C</a:t>
            </a:r>
            <a:r>
              <a:rPr lang="zh-CN" altLang="en-US" sz="2200" b="1">
                <a:latin typeface="Times New Roman" panose="02020603050405020304" pitchFamily="18" charset="0"/>
              </a:rPr>
              <a:t>上的</a:t>
            </a:r>
            <a:r>
              <a:rPr lang="en-US" altLang="zh-CN" sz="2200" b="1">
                <a:latin typeface="Times New Roman" panose="02020603050405020304" pitchFamily="18" charset="0"/>
              </a:rPr>
              <a:t>X</a:t>
            </a:r>
            <a:r>
              <a:rPr lang="zh-CN" altLang="en-US" sz="2200" b="1">
                <a:latin typeface="Times New Roman" panose="02020603050405020304" pitchFamily="18" charset="0"/>
              </a:rPr>
              <a:t>锁后</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获得</a:t>
            </a:r>
            <a:r>
              <a:rPr lang="en-US" altLang="zh-CN" sz="2200" b="1">
                <a:latin typeface="Times New Roman" panose="02020603050405020304" pitchFamily="18" charset="0"/>
              </a:rPr>
              <a:t>C</a:t>
            </a:r>
            <a:r>
              <a:rPr lang="zh-CN" altLang="en-US" sz="2200" b="1">
                <a:latin typeface="Times New Roman" panose="02020603050405020304" pitchFamily="18" charset="0"/>
              </a:rPr>
              <a:t>上的</a:t>
            </a:r>
            <a:r>
              <a:rPr lang="en-US" altLang="zh-CN" sz="2200" b="1">
                <a:latin typeface="Times New Roman" panose="02020603050405020304" pitchFamily="18" charset="0"/>
              </a:rPr>
              <a:t>S</a:t>
            </a:r>
            <a:r>
              <a:rPr lang="zh-CN" altLang="en-US" sz="2200" b="1">
                <a:latin typeface="Times New Roman" panose="02020603050405020304" pitchFamily="18" charset="0"/>
              </a:rPr>
              <a:t>锁，读</a:t>
            </a:r>
            <a:r>
              <a:rPr lang="en-US" altLang="zh-CN" sz="2200" b="1">
                <a:latin typeface="Times New Roman" panose="02020603050405020304" pitchFamily="18" charset="0"/>
              </a:rPr>
              <a:t>C=100</a:t>
            </a:r>
            <a:r>
              <a:rPr lang="zh-CN" altLang="en-US" sz="2200" b="1">
                <a:latin typeface="Times New Roman" panose="02020603050405020304" pitchFamily="18" charset="0"/>
              </a:rPr>
              <a:t>。避免了</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读“脏”数据</a:t>
            </a:r>
          </a:p>
        </p:txBody>
      </p:sp>
      <p:sp>
        <p:nvSpPr>
          <p:cNvPr id="39987" name="Text Box 226"/>
          <p:cNvSpPr txBox="1">
            <a:spLocks noChangeArrowheads="1"/>
          </p:cNvSpPr>
          <p:nvPr/>
        </p:nvSpPr>
        <p:spPr bwMode="auto">
          <a:xfrm>
            <a:off x="4602957" y="1080651"/>
            <a:ext cx="22415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sz="2200" b="1" dirty="0">
                <a:solidFill>
                  <a:schemeClr val="tx2"/>
                </a:solidFill>
                <a:latin typeface="Times New Roman" panose="02020603050405020304" pitchFamily="18" charset="0"/>
              </a:rPr>
              <a:t>不读“脏”数据</a:t>
            </a:r>
            <a:r>
              <a:rPr lang="zh-CN" altLang="zh-CN" sz="2200" b="1" dirty="0">
                <a:latin typeface="Times New Roman" panose="02020603050405020304" pitchFamily="18" charset="0"/>
              </a:rPr>
              <a:t> </a:t>
            </a:r>
          </a:p>
        </p:txBody>
      </p:sp>
    </p:spTree>
    <p:extLst>
      <p:ext uri="{BB962C8B-B14F-4D97-AF65-F5344CB8AC3E}">
        <p14:creationId xmlns:p14="http://schemas.microsoft.com/office/powerpoint/2010/main" val="41516925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5"/>
          <p:cNvSpPr txBox="1">
            <a:spLocks noChangeArrowheads="1"/>
          </p:cNvSpPr>
          <p:nvPr/>
        </p:nvSpPr>
        <p:spPr bwMode="auto">
          <a:xfrm>
            <a:off x="2032000" y="213836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endParaRPr lang="zh-CN" altLang="zh-CN" b="1">
              <a:latin typeface="Times New Roman" panose="02020603050405020304" pitchFamily="18" charset="0"/>
            </a:endParaRPr>
          </a:p>
        </p:txBody>
      </p:sp>
      <p:sp>
        <p:nvSpPr>
          <p:cNvPr id="47108" name="Rectangle 7"/>
          <p:cNvSpPr>
            <a:spLocks noGrp="1" noChangeArrowheads="1"/>
          </p:cNvSpPr>
          <p:nvPr>
            <p:ph type="body" idx="4294967295"/>
          </p:nvPr>
        </p:nvSpPr>
        <p:spPr>
          <a:xfrm>
            <a:off x="457200" y="1125538"/>
            <a:ext cx="8229600" cy="4768850"/>
          </a:xfrm>
        </p:spPr>
        <p:txBody>
          <a:bodyPr/>
          <a:lstStyle/>
          <a:p>
            <a:pPr eaLnBrk="1" hangingPunct="1">
              <a:lnSpc>
                <a:spcPct val="150000"/>
              </a:lnSpc>
            </a:pPr>
            <a:r>
              <a:rPr lang="zh-CN" altLang="en-US" sz="2400" dirty="0" smtClean="0"/>
              <a:t>事务</a:t>
            </a:r>
            <a:r>
              <a:rPr lang="en-US" altLang="zh-CN" sz="2400" dirty="0" smtClean="0"/>
              <a:t>T</a:t>
            </a:r>
            <a:r>
              <a:rPr lang="en-US" altLang="zh-CN" sz="2400" baseline="-25000" dirty="0" smtClean="0"/>
              <a:t>1</a:t>
            </a:r>
            <a:r>
              <a:rPr lang="zh-CN" altLang="en-US" sz="2400" dirty="0" smtClean="0"/>
              <a:t>封锁了数据</a:t>
            </a:r>
            <a:r>
              <a:rPr lang="en-US" altLang="zh-CN" sz="2400" dirty="0" smtClean="0"/>
              <a:t>R</a:t>
            </a:r>
          </a:p>
          <a:p>
            <a:pPr eaLnBrk="1" hangingPunct="1">
              <a:lnSpc>
                <a:spcPct val="150000"/>
              </a:lnSpc>
            </a:pPr>
            <a:r>
              <a:rPr lang="zh-CN" altLang="en-US" sz="2400" dirty="0" smtClean="0"/>
              <a:t>事务</a:t>
            </a:r>
            <a:r>
              <a:rPr lang="en-US" altLang="zh-CN" sz="2400" dirty="0" smtClean="0"/>
              <a:t>T</a:t>
            </a:r>
            <a:r>
              <a:rPr lang="en-US" altLang="zh-CN" sz="2400" baseline="-25000" dirty="0" smtClean="0"/>
              <a:t>2</a:t>
            </a:r>
            <a:r>
              <a:rPr lang="zh-CN" altLang="en-US" sz="2400" dirty="0" smtClean="0"/>
              <a:t>又请求封锁</a:t>
            </a:r>
            <a:r>
              <a:rPr lang="en-US" altLang="zh-CN" sz="2400" dirty="0" smtClean="0"/>
              <a:t>R</a:t>
            </a:r>
            <a:r>
              <a:rPr lang="zh-CN" altLang="en-US" sz="2400" dirty="0" smtClean="0"/>
              <a:t>，于是</a:t>
            </a:r>
            <a:r>
              <a:rPr lang="en-US" altLang="zh-CN" sz="2400" dirty="0" smtClean="0"/>
              <a:t>T</a:t>
            </a:r>
            <a:r>
              <a:rPr lang="en-US" altLang="zh-CN" sz="2400" baseline="-25000" dirty="0" smtClean="0"/>
              <a:t>2</a:t>
            </a:r>
            <a:r>
              <a:rPr lang="zh-CN" altLang="en-US" sz="2400" dirty="0" smtClean="0"/>
              <a:t>等待。</a:t>
            </a:r>
          </a:p>
          <a:p>
            <a:pPr eaLnBrk="1" hangingPunct="1">
              <a:lnSpc>
                <a:spcPct val="150000"/>
              </a:lnSpc>
            </a:pPr>
            <a:r>
              <a:rPr lang="en-US" altLang="zh-CN" sz="2400" dirty="0" smtClean="0"/>
              <a:t>T</a:t>
            </a:r>
            <a:r>
              <a:rPr lang="en-US" altLang="zh-CN" sz="2400" baseline="-25000" dirty="0" smtClean="0"/>
              <a:t>3</a:t>
            </a:r>
            <a:r>
              <a:rPr lang="zh-CN" altLang="en-US" sz="2400" dirty="0" smtClean="0"/>
              <a:t>也请求封锁</a:t>
            </a:r>
            <a:r>
              <a:rPr lang="en-US" altLang="zh-CN" sz="2400" dirty="0" smtClean="0"/>
              <a:t>R</a:t>
            </a:r>
            <a:r>
              <a:rPr lang="zh-CN" altLang="en-US" sz="2400" dirty="0" smtClean="0"/>
              <a:t>，当</a:t>
            </a:r>
            <a:r>
              <a:rPr lang="en-US" altLang="zh-CN" sz="2400" dirty="0" smtClean="0"/>
              <a:t>T</a:t>
            </a:r>
            <a:r>
              <a:rPr lang="en-US" altLang="zh-CN" sz="2400" baseline="-25000" dirty="0" smtClean="0"/>
              <a:t>1</a:t>
            </a:r>
            <a:r>
              <a:rPr lang="zh-CN" altLang="en-US" sz="2400" dirty="0" smtClean="0"/>
              <a:t>释放了</a:t>
            </a:r>
            <a:r>
              <a:rPr lang="en-US" altLang="zh-CN" sz="2400" dirty="0" smtClean="0"/>
              <a:t>R</a:t>
            </a:r>
            <a:r>
              <a:rPr lang="zh-CN" altLang="en-US" sz="2400" dirty="0" smtClean="0"/>
              <a:t>上的封锁之后系统首先批准了</a:t>
            </a:r>
            <a:r>
              <a:rPr lang="en-US" altLang="zh-CN" sz="2400" dirty="0" smtClean="0"/>
              <a:t>T</a:t>
            </a:r>
            <a:r>
              <a:rPr lang="en-US" altLang="zh-CN" sz="2400" baseline="-25000" dirty="0" smtClean="0"/>
              <a:t>3</a:t>
            </a:r>
            <a:r>
              <a:rPr lang="zh-CN" altLang="en-US" sz="2400" dirty="0" smtClean="0"/>
              <a:t>的请求，</a:t>
            </a:r>
            <a:r>
              <a:rPr lang="en-US" altLang="zh-CN" sz="2400" dirty="0" smtClean="0"/>
              <a:t>T</a:t>
            </a:r>
            <a:r>
              <a:rPr lang="en-US" altLang="zh-CN" sz="2400" baseline="-25000" dirty="0" smtClean="0"/>
              <a:t>2</a:t>
            </a:r>
            <a:r>
              <a:rPr lang="zh-CN" altLang="en-US" sz="2400" dirty="0" smtClean="0"/>
              <a:t>仍然等待。</a:t>
            </a:r>
          </a:p>
          <a:p>
            <a:pPr eaLnBrk="1" hangingPunct="1">
              <a:lnSpc>
                <a:spcPct val="150000"/>
              </a:lnSpc>
            </a:pPr>
            <a:r>
              <a:rPr lang="en-US" altLang="zh-CN" sz="2400" dirty="0" smtClean="0"/>
              <a:t>T</a:t>
            </a:r>
            <a:r>
              <a:rPr lang="en-US" altLang="zh-CN" sz="2400" baseline="-25000" dirty="0" smtClean="0"/>
              <a:t>4</a:t>
            </a:r>
            <a:r>
              <a:rPr lang="zh-CN" altLang="en-US" sz="2400" dirty="0" smtClean="0"/>
              <a:t>又请求封锁</a:t>
            </a:r>
            <a:r>
              <a:rPr lang="en-US" altLang="zh-CN" sz="2400" dirty="0" smtClean="0"/>
              <a:t>R</a:t>
            </a:r>
            <a:r>
              <a:rPr lang="zh-CN" altLang="en-US" sz="2400" dirty="0" smtClean="0"/>
              <a:t>，当</a:t>
            </a:r>
            <a:r>
              <a:rPr lang="en-US" altLang="zh-CN" sz="2400" dirty="0" smtClean="0"/>
              <a:t>T</a:t>
            </a:r>
            <a:r>
              <a:rPr lang="en-US" altLang="zh-CN" sz="2400" baseline="-25000" dirty="0" smtClean="0"/>
              <a:t>3</a:t>
            </a:r>
            <a:r>
              <a:rPr lang="zh-CN" altLang="en-US" sz="2400" dirty="0" smtClean="0"/>
              <a:t>释放了</a:t>
            </a:r>
            <a:r>
              <a:rPr lang="en-US" altLang="zh-CN" sz="2400" dirty="0" smtClean="0"/>
              <a:t>R</a:t>
            </a:r>
            <a:r>
              <a:rPr lang="zh-CN" altLang="en-US" sz="2400" dirty="0" smtClean="0"/>
              <a:t>上的封锁之后系统又批准了</a:t>
            </a:r>
            <a:r>
              <a:rPr lang="en-US" altLang="zh-CN" sz="2400" dirty="0" smtClean="0"/>
              <a:t>T</a:t>
            </a:r>
            <a:r>
              <a:rPr lang="en-US" altLang="zh-CN" sz="2400" baseline="-25000" dirty="0" smtClean="0"/>
              <a:t>4</a:t>
            </a:r>
            <a:r>
              <a:rPr lang="zh-CN" altLang="en-US" sz="2400" dirty="0" smtClean="0"/>
              <a:t>的请求</a:t>
            </a:r>
            <a:r>
              <a:rPr lang="en-US" altLang="zh-CN" sz="2400" dirty="0" smtClean="0"/>
              <a:t>……</a:t>
            </a:r>
          </a:p>
          <a:p>
            <a:pPr eaLnBrk="1" hangingPunct="1">
              <a:lnSpc>
                <a:spcPct val="150000"/>
              </a:lnSpc>
            </a:pPr>
            <a:r>
              <a:rPr lang="en-US" altLang="zh-CN" sz="2400" dirty="0" smtClean="0"/>
              <a:t>T</a:t>
            </a:r>
            <a:r>
              <a:rPr lang="en-US" altLang="zh-CN" sz="2400" baseline="-25000" dirty="0" smtClean="0"/>
              <a:t>2</a:t>
            </a:r>
            <a:r>
              <a:rPr lang="zh-CN" altLang="en-US" sz="2400" dirty="0" smtClean="0"/>
              <a:t>有可能永远等待，这就是</a:t>
            </a:r>
            <a:r>
              <a:rPr lang="zh-CN" altLang="en-US" sz="2400" dirty="0" smtClean="0">
                <a:solidFill>
                  <a:srgbClr val="FF00FF"/>
                </a:solidFill>
              </a:rPr>
              <a:t>活锁</a:t>
            </a:r>
            <a:r>
              <a:rPr lang="zh-CN" altLang="en-US" sz="2400" dirty="0" smtClean="0"/>
              <a:t>的情形 </a:t>
            </a:r>
          </a:p>
        </p:txBody>
      </p:sp>
      <p:sp>
        <p:nvSpPr>
          <p:cNvPr id="5" name="Rectangle 2"/>
          <p:cNvSpPr txBox="1">
            <a:spLocks noChangeArrowheads="1"/>
          </p:cNvSpPr>
          <p:nvPr/>
        </p:nvSpPr>
        <p:spPr bwMode="auto">
          <a:xfrm>
            <a:off x="1053737" y="337345"/>
            <a:ext cx="73914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dirty="0" smtClean="0">
                <a:solidFill>
                  <a:schemeClr val="bg1"/>
                </a:solidFill>
              </a:rPr>
              <a:t>活</a:t>
            </a:r>
            <a:r>
              <a:rPr lang="zh-CN" altLang="en-US" sz="3600" b="1" dirty="0">
                <a:solidFill>
                  <a:schemeClr val="bg1"/>
                </a:solidFill>
              </a:rPr>
              <a:t>锁和死锁</a:t>
            </a:r>
          </a:p>
        </p:txBody>
      </p:sp>
    </p:spTree>
    <p:extLst>
      <p:ext uri="{BB962C8B-B14F-4D97-AF65-F5344CB8AC3E}">
        <p14:creationId xmlns:p14="http://schemas.microsoft.com/office/powerpoint/2010/main" val="1683529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活锁（续）</a:t>
            </a:r>
          </a:p>
        </p:txBody>
      </p:sp>
      <p:sp>
        <p:nvSpPr>
          <p:cNvPr id="48131" name="Text Box 5"/>
          <p:cNvSpPr txBox="1">
            <a:spLocks noChangeArrowheads="1"/>
          </p:cNvSpPr>
          <p:nvPr/>
        </p:nvSpPr>
        <p:spPr bwMode="auto">
          <a:xfrm>
            <a:off x="3924300" y="5989638"/>
            <a:ext cx="1127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en-US" altLang="zh-CN" sz="2000" b="1">
                <a:latin typeface="Times New Roman" panose="02020603050405020304" pitchFamily="18" charset="0"/>
              </a:rPr>
              <a:t>(a)</a:t>
            </a:r>
            <a:r>
              <a:rPr lang="zh-CN" altLang="zh-CN" sz="2000" b="1">
                <a:latin typeface="Times New Roman" panose="02020603050405020304" pitchFamily="18" charset="0"/>
              </a:rPr>
              <a:t>活  锁</a:t>
            </a:r>
          </a:p>
        </p:txBody>
      </p:sp>
      <p:graphicFrame>
        <p:nvGraphicFramePr>
          <p:cNvPr id="2" name="表格 1"/>
          <p:cNvGraphicFramePr>
            <a:graphicFrameLocks noGrp="1"/>
          </p:cNvGraphicFramePr>
          <p:nvPr>
            <p:extLst>
              <p:ext uri="{D42A27DB-BD31-4B8C-83A1-F6EECF244321}">
                <p14:modId xmlns:p14="http://schemas.microsoft.com/office/powerpoint/2010/main" val="991509580"/>
              </p:ext>
            </p:extLst>
          </p:nvPr>
        </p:nvGraphicFramePr>
        <p:xfrm>
          <a:off x="835024" y="1289648"/>
          <a:ext cx="7550151" cy="5035554"/>
        </p:xfrm>
        <a:graphic>
          <a:graphicData uri="http://schemas.openxmlformats.org/drawingml/2006/table">
            <a:tbl>
              <a:tblPr>
                <a:effectLst/>
                <a:tableStyleId>{5C22544A-7EE6-4342-B048-85BDC9FD1C3A}</a:tableStyleId>
              </a:tblPr>
              <a:tblGrid>
                <a:gridCol w="1554607">
                  <a:extLst>
                    <a:ext uri="{9D8B030D-6E8A-4147-A177-3AD203B41FA5}">
                      <a16:colId xmlns="" xmlns:a16="http://schemas.microsoft.com/office/drawing/2014/main" val="20000"/>
                    </a:ext>
                  </a:extLst>
                </a:gridCol>
                <a:gridCol w="1997586">
                  <a:extLst>
                    <a:ext uri="{9D8B030D-6E8A-4147-A177-3AD203B41FA5}">
                      <a16:colId xmlns="" xmlns:a16="http://schemas.microsoft.com/office/drawing/2014/main" val="20001"/>
                    </a:ext>
                  </a:extLst>
                </a:gridCol>
                <a:gridCol w="1998979">
                  <a:extLst>
                    <a:ext uri="{9D8B030D-6E8A-4147-A177-3AD203B41FA5}">
                      <a16:colId xmlns="" xmlns:a16="http://schemas.microsoft.com/office/drawing/2014/main" val="20002"/>
                    </a:ext>
                  </a:extLst>
                </a:gridCol>
                <a:gridCol w="1998979">
                  <a:extLst>
                    <a:ext uri="{9D8B030D-6E8A-4147-A177-3AD203B41FA5}">
                      <a16:colId xmlns="" xmlns:a16="http://schemas.microsoft.com/office/drawing/2014/main" val="20003"/>
                    </a:ext>
                  </a:extLst>
                </a:gridCol>
              </a:tblGrid>
              <a:tr h="335986">
                <a:tc>
                  <a:txBody>
                    <a:bodyPr/>
                    <a:lstStyle/>
                    <a:p>
                      <a:pPr algn="ctr">
                        <a:spcAft>
                          <a:spcPts val="0"/>
                        </a:spcAft>
                      </a:pPr>
                      <a:r>
                        <a:rPr lang="en-US" sz="2200" b="1" kern="100" dirty="0">
                          <a:effectLst/>
                        </a:rPr>
                        <a:t>T</a:t>
                      </a:r>
                      <a:r>
                        <a:rPr lang="en-US" sz="2200" b="1" kern="100" baseline="-25000" dirty="0">
                          <a:effectLst/>
                        </a:rPr>
                        <a:t>1</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dirty="0">
                          <a:effectLst/>
                        </a:rPr>
                        <a:t>T</a:t>
                      </a:r>
                      <a:r>
                        <a:rPr lang="en-US" sz="2200" b="1" kern="100" baseline="-25000" dirty="0">
                          <a:effectLst/>
                        </a:rPr>
                        <a:t>2</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3</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tc>
                  <a:txBody>
                    <a:bodyPr/>
                    <a:lstStyle/>
                    <a:p>
                      <a:pPr algn="ctr">
                        <a:spcAft>
                          <a:spcPts val="0"/>
                        </a:spcAft>
                      </a:pPr>
                      <a:r>
                        <a:rPr lang="en-US" sz="2200" b="1" kern="100">
                          <a:effectLst/>
                        </a:rPr>
                        <a:t>T</a:t>
                      </a:r>
                      <a:r>
                        <a:rPr lang="en-US" sz="2200" b="1" kern="100" baseline="-25000">
                          <a:effectLst/>
                        </a:rPr>
                        <a:t>4</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CFFCC"/>
                    </a:solidFill>
                  </a:tcPr>
                </a:tc>
                <a:extLst>
                  <a:ext uri="{0D108BD9-81ED-4DB2-BD59-A6C34878D82A}">
                    <a16:rowId xmlns="" xmlns:a16="http://schemas.microsoft.com/office/drawing/2014/main" val="10000"/>
                  </a:ext>
                </a:extLst>
              </a:tr>
              <a:tr h="1005837">
                <a:tc>
                  <a:txBody>
                    <a:bodyPr/>
                    <a:lstStyle/>
                    <a:p>
                      <a:pPr algn="ctr">
                        <a:spcAft>
                          <a:spcPts val="0"/>
                        </a:spcAft>
                      </a:pPr>
                      <a:r>
                        <a:rPr lang="en-US" sz="2200" b="1" kern="100" dirty="0" smtClean="0">
                          <a:effectLst/>
                        </a:rPr>
                        <a:t>Lock </a:t>
                      </a:r>
                      <a:r>
                        <a:rPr lang="en-US" sz="2200" b="1" kern="100" dirty="0">
                          <a:effectLst/>
                        </a:rPr>
                        <a:t>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smtClean="0">
                          <a:effectLst/>
                        </a:rPr>
                        <a:t>•</a:t>
                      </a:r>
                      <a:endParaRPr lang="en-US" altLang="zh-CN" sz="22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en-US" altLang="zh-CN" sz="22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smtClean="0">
                          <a:effectLst/>
                        </a:rPr>
                        <a:t>•</a:t>
                      </a:r>
                      <a:endParaRPr lang="en-US" altLang="zh-CN" sz="22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en-US" altLang="zh-CN" sz="22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zh-CN" altLang="zh-CN" sz="2200" b="1" kern="100" dirty="0" smtClean="0">
                        <a:effectLst/>
                        <a:latin typeface="宋体"/>
                        <a:cs typeface="Courier New"/>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zh-CN" altLang="zh-CN" sz="2200" b="1" kern="100" dirty="0" smtClean="0">
                        <a:effectLst/>
                        <a:latin typeface="宋体"/>
                        <a:cs typeface="Courier New"/>
                      </a:endParaRPr>
                    </a:p>
                    <a:p>
                      <a:pPr algn="ctr">
                        <a:spcAft>
                          <a:spcPts val="0"/>
                        </a:spcAft>
                      </a:pPr>
                      <a:r>
                        <a:rPr lang="zh-CN" sz="2200" b="1" kern="100" dirty="0" smtClean="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1"/>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a:t>
                      </a:r>
                      <a:r>
                        <a:rPr lang="en-US" sz="2200" b="1" kern="100" dirty="0" smtClean="0">
                          <a:effectLst/>
                        </a:rPr>
                        <a:t>ock </a:t>
                      </a:r>
                      <a:r>
                        <a:rPr lang="en-US" sz="2200" b="1" kern="100" dirty="0">
                          <a:effectLst/>
                        </a:rPr>
                        <a:t>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2"/>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3"/>
                  </a:ext>
                </a:extLst>
              </a:tr>
              <a:tr h="33598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4"/>
                  </a:ext>
                </a:extLst>
              </a:tr>
              <a:tr h="335986">
                <a:tc>
                  <a:txBody>
                    <a:bodyPr/>
                    <a:lstStyle/>
                    <a:p>
                      <a:pPr algn="ctr">
                        <a:spcAft>
                          <a:spcPts val="0"/>
                        </a:spcAft>
                      </a:pPr>
                      <a:r>
                        <a:rPr lang="en-US" sz="2200" b="1" kern="100" dirty="0">
                          <a:effectLst/>
                        </a:rPr>
                        <a:t>Unlock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smtClean="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5"/>
                  </a:ext>
                </a:extLst>
              </a:tr>
              <a:tr h="335986">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6"/>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a:effectLst/>
                        </a:rPr>
                        <a:t>•</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7"/>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a:effectLst/>
                        </a:rPr>
                        <a:t>Unlock</a:t>
                      </a:r>
                      <a:endParaRPr lang="zh-CN" sz="2200" b="1" kern="10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8"/>
                  </a:ext>
                </a:extLst>
              </a:tr>
              <a:tr h="335986">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tc>
                  <a:txBody>
                    <a:bodyPr/>
                    <a:lstStyle/>
                    <a:p>
                      <a:pPr algn="ctr">
                        <a:spcAft>
                          <a:spcPts val="0"/>
                        </a:spcAft>
                      </a:pPr>
                      <a:r>
                        <a:rPr lang="en-US" sz="2200" b="1" kern="100" dirty="0">
                          <a:effectLst/>
                        </a:rPr>
                        <a:t>Lock R</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CCFFCC"/>
                    </a:solidFill>
                  </a:tcPr>
                </a:tc>
                <a:extLst>
                  <a:ext uri="{0D108BD9-81ED-4DB2-BD59-A6C34878D82A}">
                    <a16:rowId xmlns="" xmlns:a16="http://schemas.microsoft.com/office/drawing/2014/main" val="10009"/>
                  </a:ext>
                </a:extLst>
              </a:tr>
              <a:tr h="1005837">
                <a:tc>
                  <a:txBody>
                    <a:bodyPr/>
                    <a:lstStyle/>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等待</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a:effectLst/>
                        </a:rPr>
                        <a:t>•</a:t>
                      </a: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tc>
                  <a:txBody>
                    <a:bodyPr/>
                    <a:lstStyle/>
                    <a:p>
                      <a:pPr algn="ctr">
                        <a:spcAft>
                          <a:spcPts val="0"/>
                        </a:spcAft>
                      </a:pPr>
                      <a:r>
                        <a:rPr lang="zh-CN" sz="2200" b="1" kern="100" dirty="0" smtClean="0">
                          <a:effectLst/>
                        </a:rPr>
                        <a:t>•</a:t>
                      </a:r>
                      <a:endParaRPr lang="en-US" altLang="zh-CN" sz="22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200" b="1" kern="100" dirty="0" smtClean="0">
                          <a:effectLst/>
                        </a:rPr>
                        <a:t>•</a:t>
                      </a:r>
                      <a:endParaRPr lang="en-US" altLang="zh-CN" sz="2200" b="1" kern="100" dirty="0" smtClean="0">
                        <a:effectLst/>
                      </a:endParaRPr>
                    </a:p>
                    <a:p>
                      <a:pPr algn="ctr">
                        <a:spcAft>
                          <a:spcPts val="0"/>
                        </a:spcAft>
                      </a:pPr>
                      <a:endParaRPr lang="zh-CN" sz="2200" b="1" kern="100" dirty="0">
                        <a:effectLst/>
                        <a:latin typeface="宋体"/>
                        <a:cs typeface="Courier New"/>
                      </a:endParaRPr>
                    </a:p>
                  </a:txBody>
                  <a:tcPr marL="68579" marR="6857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 xmlns:a16="http://schemas.microsoft.com/office/drawing/2014/main" val="10010"/>
                  </a:ext>
                </a:extLst>
              </a:tr>
            </a:tbl>
          </a:graphicData>
        </a:graphic>
      </p:graphicFrame>
    </p:spTree>
    <p:extLst>
      <p:ext uri="{BB962C8B-B14F-4D97-AF65-F5344CB8AC3E}">
        <p14:creationId xmlns:p14="http://schemas.microsoft.com/office/powerpoint/2010/main" val="22065135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活锁（续）</a:t>
            </a:r>
          </a:p>
        </p:txBody>
      </p:sp>
      <p:sp>
        <p:nvSpPr>
          <p:cNvPr id="49155" name="Rectangle 3"/>
          <p:cNvSpPr>
            <a:spLocks noGrp="1" noChangeArrowheads="1"/>
          </p:cNvSpPr>
          <p:nvPr>
            <p:ph type="body" idx="4294967295"/>
          </p:nvPr>
        </p:nvSpPr>
        <p:spPr>
          <a:xfrm>
            <a:off x="457200" y="1196975"/>
            <a:ext cx="8229600" cy="4840288"/>
          </a:xfrm>
        </p:spPr>
        <p:txBody>
          <a:bodyPr/>
          <a:lstStyle/>
          <a:p>
            <a:pPr algn="just" eaLnBrk="1" hangingPunct="1">
              <a:lnSpc>
                <a:spcPct val="170000"/>
              </a:lnSpc>
            </a:pPr>
            <a:r>
              <a:rPr lang="zh-CN" altLang="en-US" sz="3200" smtClean="0"/>
              <a:t>避免活锁：</a:t>
            </a:r>
            <a:r>
              <a:rPr lang="zh-CN" altLang="en-US" smtClean="0"/>
              <a:t>采用先来先服务的策略</a:t>
            </a:r>
          </a:p>
          <a:p>
            <a:pPr lvl="1" algn="just" eaLnBrk="1" hangingPunct="1">
              <a:lnSpc>
                <a:spcPct val="170000"/>
              </a:lnSpc>
            </a:pPr>
            <a:r>
              <a:rPr lang="zh-CN" altLang="en-US" smtClean="0"/>
              <a:t>当多个事务请求封锁同一数据对象时</a:t>
            </a:r>
          </a:p>
          <a:p>
            <a:pPr lvl="1" algn="just" eaLnBrk="1" hangingPunct="1">
              <a:lnSpc>
                <a:spcPct val="170000"/>
              </a:lnSpc>
            </a:pPr>
            <a:r>
              <a:rPr lang="zh-CN" altLang="en-US" smtClean="0"/>
              <a:t>按请求封锁的先后次序对这些事务排队</a:t>
            </a:r>
          </a:p>
          <a:p>
            <a:pPr lvl="1" algn="just" eaLnBrk="1" hangingPunct="1">
              <a:lnSpc>
                <a:spcPct val="170000"/>
              </a:lnSpc>
            </a:pPr>
            <a:r>
              <a:rPr lang="zh-CN" altLang="en-US" smtClean="0"/>
              <a:t>该数据对象上的锁一旦释放，首先批准申请队列中第一个事务获得锁</a:t>
            </a:r>
          </a:p>
          <a:p>
            <a:pPr eaLnBrk="1" hangingPunct="1">
              <a:buFont typeface="Wingdings" panose="05000000000000000000" pitchFamily="2" charset="2"/>
              <a:buNone/>
            </a:pPr>
            <a:endParaRPr lang="en-US" altLang="zh-CN" smtClean="0"/>
          </a:p>
        </p:txBody>
      </p:sp>
    </p:spTree>
    <p:extLst>
      <p:ext uri="{BB962C8B-B14F-4D97-AF65-F5344CB8AC3E}">
        <p14:creationId xmlns:p14="http://schemas.microsoft.com/office/powerpoint/2010/main" val="20761268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a:xfrm>
            <a:off x="914400" y="260350"/>
            <a:ext cx="7391400" cy="563563"/>
          </a:xfrm>
        </p:spPr>
        <p:txBody>
          <a:bodyPr>
            <a:normAutofit fontScale="90000"/>
          </a:bodyPr>
          <a:lstStyle/>
          <a:p>
            <a:pPr eaLnBrk="1" hangingPunct="1"/>
            <a:r>
              <a:rPr lang="zh-CN" altLang="en-US" sz="3600" dirty="0" smtClean="0"/>
              <a:t>死锁</a:t>
            </a:r>
          </a:p>
        </p:txBody>
      </p:sp>
      <p:sp>
        <p:nvSpPr>
          <p:cNvPr id="51203" name="Rectangle 10"/>
          <p:cNvSpPr>
            <a:spLocks noGrp="1" noChangeArrowheads="1"/>
          </p:cNvSpPr>
          <p:nvPr>
            <p:ph type="body" idx="4294967295"/>
          </p:nvPr>
        </p:nvSpPr>
        <p:spPr>
          <a:xfrm>
            <a:off x="457200" y="1125538"/>
            <a:ext cx="8229600" cy="4911725"/>
          </a:xfrm>
        </p:spPr>
        <p:txBody>
          <a:bodyPr/>
          <a:lstStyle/>
          <a:p>
            <a:pPr eaLnBrk="1" hangingPunct="1">
              <a:lnSpc>
                <a:spcPct val="130000"/>
              </a:lnSpc>
            </a:pPr>
            <a:r>
              <a:rPr lang="zh-CN" altLang="en-US" sz="2400" smtClean="0"/>
              <a:t>事务</a:t>
            </a:r>
            <a:r>
              <a:rPr lang="en-US" altLang="zh-CN" sz="2400" smtClean="0"/>
              <a:t>T</a:t>
            </a:r>
            <a:r>
              <a:rPr lang="en-US" altLang="zh-CN" sz="2400" baseline="-25000" smtClean="0"/>
              <a:t>1</a:t>
            </a:r>
            <a:r>
              <a:rPr lang="zh-CN" altLang="en-US" sz="2400" smtClean="0"/>
              <a:t>封锁了数据</a:t>
            </a:r>
            <a:r>
              <a:rPr lang="en-US" altLang="zh-CN" sz="2400" smtClean="0"/>
              <a:t>R</a:t>
            </a:r>
            <a:r>
              <a:rPr lang="en-US" altLang="zh-CN" sz="2400" baseline="-25000" smtClean="0"/>
              <a:t>1</a:t>
            </a:r>
          </a:p>
          <a:p>
            <a:pPr eaLnBrk="1" hangingPunct="1">
              <a:lnSpc>
                <a:spcPct val="130000"/>
              </a:lnSpc>
            </a:pPr>
            <a:r>
              <a:rPr lang="en-US" altLang="zh-CN" sz="2400" smtClean="0"/>
              <a:t>T</a:t>
            </a:r>
            <a:r>
              <a:rPr lang="en-US" altLang="zh-CN" sz="2400" baseline="-25000" smtClean="0"/>
              <a:t>2</a:t>
            </a:r>
            <a:r>
              <a:rPr lang="zh-CN" altLang="en-US" sz="2400" smtClean="0"/>
              <a:t>封锁了数据</a:t>
            </a:r>
            <a:r>
              <a:rPr lang="en-US" altLang="zh-CN" sz="2400" smtClean="0"/>
              <a:t>R</a:t>
            </a:r>
            <a:r>
              <a:rPr lang="en-US" altLang="zh-CN" sz="2400" baseline="-25000" smtClean="0"/>
              <a:t>2</a:t>
            </a:r>
          </a:p>
          <a:p>
            <a:pPr eaLnBrk="1" hangingPunct="1">
              <a:lnSpc>
                <a:spcPct val="130000"/>
              </a:lnSpc>
            </a:pPr>
            <a:r>
              <a:rPr lang="en-US" altLang="zh-CN" sz="2400" smtClean="0"/>
              <a:t>T</a:t>
            </a:r>
            <a:r>
              <a:rPr lang="en-US" altLang="zh-CN" sz="2400" baseline="-25000" smtClean="0"/>
              <a:t>1</a:t>
            </a:r>
            <a:r>
              <a:rPr lang="zh-CN" altLang="en-US" sz="2400" smtClean="0"/>
              <a:t>又请求封锁</a:t>
            </a:r>
            <a:r>
              <a:rPr lang="en-US" altLang="zh-CN" sz="2400" smtClean="0"/>
              <a:t>R</a:t>
            </a:r>
            <a:r>
              <a:rPr lang="en-US" altLang="zh-CN" sz="2400" baseline="-25000" smtClean="0"/>
              <a:t>2</a:t>
            </a:r>
            <a:r>
              <a:rPr lang="zh-CN" altLang="en-US" sz="2400" smtClean="0"/>
              <a:t>，因</a:t>
            </a:r>
            <a:r>
              <a:rPr lang="en-US" altLang="zh-CN" sz="2400" smtClean="0"/>
              <a:t>T</a:t>
            </a:r>
            <a:r>
              <a:rPr lang="en-US" altLang="zh-CN" sz="2400" baseline="-25000" smtClean="0"/>
              <a:t>2</a:t>
            </a:r>
            <a:r>
              <a:rPr lang="zh-CN" altLang="en-US" sz="2400" smtClean="0"/>
              <a:t>已封锁了</a:t>
            </a:r>
            <a:r>
              <a:rPr lang="en-US" altLang="zh-CN" sz="2400" smtClean="0"/>
              <a:t>R</a:t>
            </a:r>
            <a:r>
              <a:rPr lang="en-US" altLang="zh-CN" sz="2400" baseline="-25000" smtClean="0"/>
              <a:t>2</a:t>
            </a:r>
            <a:r>
              <a:rPr lang="zh-CN" altLang="en-US" sz="2400" smtClean="0"/>
              <a:t>，于是</a:t>
            </a:r>
            <a:r>
              <a:rPr lang="en-US" altLang="zh-CN" sz="2400" smtClean="0"/>
              <a:t>T</a:t>
            </a:r>
            <a:r>
              <a:rPr lang="en-US" altLang="zh-CN" sz="2400" baseline="-25000" smtClean="0"/>
              <a:t>1</a:t>
            </a:r>
            <a:r>
              <a:rPr lang="zh-CN" altLang="en-US" sz="2400" smtClean="0"/>
              <a:t>等待</a:t>
            </a:r>
            <a:r>
              <a:rPr lang="en-US" altLang="zh-CN" sz="2400" smtClean="0"/>
              <a:t>T</a:t>
            </a:r>
            <a:r>
              <a:rPr lang="en-US" altLang="zh-CN" sz="2400" baseline="-25000" smtClean="0"/>
              <a:t>2</a:t>
            </a:r>
            <a:r>
              <a:rPr lang="zh-CN" altLang="en-US" sz="2400" smtClean="0"/>
              <a:t>释放</a:t>
            </a:r>
            <a:r>
              <a:rPr lang="en-US" altLang="zh-CN" sz="2400" smtClean="0"/>
              <a:t>R</a:t>
            </a:r>
            <a:r>
              <a:rPr lang="en-US" altLang="zh-CN" sz="2400" baseline="-25000" smtClean="0"/>
              <a:t>2</a:t>
            </a:r>
            <a:r>
              <a:rPr lang="zh-CN" altLang="en-US" sz="2400" smtClean="0"/>
              <a:t>上的锁</a:t>
            </a:r>
          </a:p>
          <a:p>
            <a:pPr eaLnBrk="1" hangingPunct="1">
              <a:lnSpc>
                <a:spcPct val="130000"/>
              </a:lnSpc>
            </a:pPr>
            <a:r>
              <a:rPr lang="zh-CN" altLang="en-US" sz="2400" smtClean="0"/>
              <a:t>接着</a:t>
            </a:r>
            <a:r>
              <a:rPr lang="en-US" altLang="zh-CN" sz="2400" smtClean="0"/>
              <a:t>T</a:t>
            </a:r>
            <a:r>
              <a:rPr lang="en-US" altLang="zh-CN" sz="2400" baseline="-25000" smtClean="0"/>
              <a:t>2</a:t>
            </a:r>
            <a:r>
              <a:rPr lang="zh-CN" altLang="en-US" sz="2400" smtClean="0"/>
              <a:t>又申请封锁</a:t>
            </a:r>
            <a:r>
              <a:rPr lang="en-US" altLang="zh-CN" sz="2400" smtClean="0"/>
              <a:t>R</a:t>
            </a:r>
            <a:r>
              <a:rPr lang="en-US" altLang="zh-CN" sz="2400" baseline="-25000" smtClean="0"/>
              <a:t>1</a:t>
            </a:r>
            <a:r>
              <a:rPr lang="zh-CN" altLang="en-US" sz="2400" smtClean="0"/>
              <a:t>，因</a:t>
            </a:r>
            <a:r>
              <a:rPr lang="en-US" altLang="zh-CN" sz="2400" smtClean="0"/>
              <a:t>T</a:t>
            </a:r>
            <a:r>
              <a:rPr lang="en-US" altLang="zh-CN" sz="2400" baseline="-25000" smtClean="0"/>
              <a:t>1</a:t>
            </a:r>
            <a:r>
              <a:rPr lang="zh-CN" altLang="en-US" sz="2400" smtClean="0"/>
              <a:t>已封锁了</a:t>
            </a:r>
            <a:r>
              <a:rPr lang="en-US" altLang="zh-CN" sz="2400" smtClean="0"/>
              <a:t>R</a:t>
            </a:r>
            <a:r>
              <a:rPr lang="en-US" altLang="zh-CN" sz="2400" baseline="-25000" smtClean="0"/>
              <a:t>1</a:t>
            </a:r>
            <a:r>
              <a:rPr lang="zh-CN" altLang="en-US" sz="2400" smtClean="0"/>
              <a:t>，</a:t>
            </a:r>
            <a:r>
              <a:rPr lang="en-US" altLang="zh-CN" sz="2400" smtClean="0"/>
              <a:t>T</a:t>
            </a:r>
            <a:r>
              <a:rPr lang="en-US" altLang="zh-CN" sz="2400" baseline="-25000" smtClean="0"/>
              <a:t>2</a:t>
            </a:r>
            <a:r>
              <a:rPr lang="zh-CN" altLang="en-US" sz="2400" smtClean="0"/>
              <a:t>也只能等待</a:t>
            </a:r>
            <a:r>
              <a:rPr lang="en-US" altLang="zh-CN" sz="2400" smtClean="0"/>
              <a:t>T</a:t>
            </a:r>
            <a:r>
              <a:rPr lang="en-US" altLang="zh-CN" sz="2400" baseline="-25000" smtClean="0"/>
              <a:t>1</a:t>
            </a:r>
            <a:r>
              <a:rPr lang="zh-CN" altLang="en-US" sz="2400" smtClean="0"/>
              <a:t>释放</a:t>
            </a:r>
            <a:r>
              <a:rPr lang="en-US" altLang="zh-CN" sz="2400" smtClean="0"/>
              <a:t>R</a:t>
            </a:r>
            <a:r>
              <a:rPr lang="en-US" altLang="zh-CN" sz="2400" baseline="-25000" smtClean="0"/>
              <a:t>1</a:t>
            </a:r>
            <a:r>
              <a:rPr lang="zh-CN" altLang="en-US" sz="2400" smtClean="0"/>
              <a:t>上的锁</a:t>
            </a:r>
          </a:p>
          <a:p>
            <a:pPr eaLnBrk="1" hangingPunct="1">
              <a:lnSpc>
                <a:spcPct val="130000"/>
              </a:lnSpc>
            </a:pPr>
            <a:r>
              <a:rPr lang="zh-CN" altLang="en-US" sz="2400" smtClean="0"/>
              <a:t>这样</a:t>
            </a:r>
            <a:r>
              <a:rPr lang="en-US" altLang="zh-CN" sz="2400" smtClean="0"/>
              <a:t>T</a:t>
            </a:r>
            <a:r>
              <a:rPr lang="en-US" altLang="zh-CN" sz="2400" baseline="-25000" smtClean="0"/>
              <a:t>1</a:t>
            </a:r>
            <a:r>
              <a:rPr lang="zh-CN" altLang="en-US" sz="2400" smtClean="0"/>
              <a:t>在等待</a:t>
            </a:r>
            <a:r>
              <a:rPr lang="en-US" altLang="zh-CN" sz="2400" smtClean="0"/>
              <a:t>T</a:t>
            </a:r>
            <a:r>
              <a:rPr lang="en-US" altLang="zh-CN" sz="2400" baseline="-25000" smtClean="0"/>
              <a:t>2</a:t>
            </a:r>
            <a:r>
              <a:rPr lang="zh-CN" altLang="en-US" sz="2400" smtClean="0"/>
              <a:t>，而</a:t>
            </a:r>
            <a:r>
              <a:rPr lang="en-US" altLang="zh-CN" sz="2400" smtClean="0"/>
              <a:t>T</a:t>
            </a:r>
            <a:r>
              <a:rPr lang="en-US" altLang="zh-CN" sz="2400" baseline="-25000" smtClean="0"/>
              <a:t>2</a:t>
            </a:r>
            <a:r>
              <a:rPr lang="zh-CN" altLang="en-US" sz="2400" smtClean="0"/>
              <a:t>又在等待</a:t>
            </a:r>
            <a:r>
              <a:rPr lang="en-US" altLang="zh-CN" sz="2400" smtClean="0"/>
              <a:t>T</a:t>
            </a:r>
            <a:r>
              <a:rPr lang="en-US" altLang="zh-CN" sz="2400" baseline="-25000" smtClean="0"/>
              <a:t>1</a:t>
            </a:r>
            <a:r>
              <a:rPr lang="zh-CN" altLang="en-US" sz="2400" smtClean="0"/>
              <a:t>，</a:t>
            </a:r>
            <a:r>
              <a:rPr lang="en-US" altLang="zh-CN" sz="2400" smtClean="0"/>
              <a:t>T</a:t>
            </a:r>
            <a:r>
              <a:rPr lang="en-US" altLang="zh-CN" sz="2400" baseline="-25000" smtClean="0"/>
              <a:t>1</a:t>
            </a:r>
            <a:r>
              <a:rPr lang="zh-CN" altLang="en-US" sz="2400" smtClean="0"/>
              <a:t>和</a:t>
            </a:r>
            <a:r>
              <a:rPr lang="en-US" altLang="zh-CN" sz="2400" smtClean="0"/>
              <a:t>T</a:t>
            </a:r>
            <a:r>
              <a:rPr lang="en-US" altLang="zh-CN" sz="2400" baseline="-25000" smtClean="0"/>
              <a:t>2</a:t>
            </a:r>
            <a:r>
              <a:rPr lang="zh-CN" altLang="en-US" sz="2400" smtClean="0"/>
              <a:t>两个事务永远不能结束，形成</a:t>
            </a:r>
            <a:r>
              <a:rPr lang="zh-CN" altLang="en-US" sz="2400" smtClean="0">
                <a:solidFill>
                  <a:srgbClr val="FF00FF"/>
                </a:solidFill>
              </a:rPr>
              <a:t>死锁</a:t>
            </a:r>
            <a:r>
              <a:rPr lang="zh-CN" altLang="en-US" smtClean="0"/>
              <a:t> </a:t>
            </a:r>
          </a:p>
        </p:txBody>
      </p:sp>
    </p:spTree>
    <p:extLst>
      <p:ext uri="{BB962C8B-B14F-4D97-AF65-F5344CB8AC3E}">
        <p14:creationId xmlns:p14="http://schemas.microsoft.com/office/powerpoint/2010/main" val="20212572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死锁（续）</a:t>
            </a:r>
          </a:p>
        </p:txBody>
      </p:sp>
      <p:graphicFrame>
        <p:nvGraphicFramePr>
          <p:cNvPr id="2" name="表格 1"/>
          <p:cNvGraphicFramePr>
            <a:graphicFrameLocks noGrp="1"/>
          </p:cNvGraphicFramePr>
          <p:nvPr>
            <p:extLst>
              <p:ext uri="{D42A27DB-BD31-4B8C-83A1-F6EECF244321}">
                <p14:modId xmlns:p14="http://schemas.microsoft.com/office/powerpoint/2010/main" val="4072496105"/>
              </p:ext>
            </p:extLst>
          </p:nvPr>
        </p:nvGraphicFramePr>
        <p:xfrm>
          <a:off x="1233721" y="1281026"/>
          <a:ext cx="5761037" cy="5011824"/>
        </p:xfrm>
        <a:graphic>
          <a:graphicData uri="http://schemas.openxmlformats.org/drawingml/2006/table">
            <a:tbl>
              <a:tblPr>
                <a:tableStyleId>{5C22544A-7EE6-4342-B048-85BDC9FD1C3A}</a:tableStyleId>
              </a:tblPr>
              <a:tblGrid>
                <a:gridCol w="3102097">
                  <a:extLst>
                    <a:ext uri="{9D8B030D-6E8A-4147-A177-3AD203B41FA5}">
                      <a16:colId xmlns="" xmlns:a16="http://schemas.microsoft.com/office/drawing/2014/main" val="20000"/>
                    </a:ext>
                  </a:extLst>
                </a:gridCol>
                <a:gridCol w="2658940">
                  <a:extLst>
                    <a:ext uri="{9D8B030D-6E8A-4147-A177-3AD203B41FA5}">
                      <a16:colId xmlns="" xmlns:a16="http://schemas.microsoft.com/office/drawing/2014/main" val="20001"/>
                    </a:ext>
                  </a:extLst>
                </a:gridCol>
              </a:tblGrid>
              <a:tr h="304793">
                <a:tc>
                  <a:txBody>
                    <a:bodyPr/>
                    <a:lstStyle/>
                    <a:p>
                      <a:pPr algn="ctr">
                        <a:spcAft>
                          <a:spcPts val="0"/>
                        </a:spcAft>
                      </a:pPr>
                      <a:r>
                        <a:rPr lang="en-US" sz="2000" b="1" kern="100" dirty="0">
                          <a:effectLst/>
                        </a:rPr>
                        <a:t>T</a:t>
                      </a:r>
                      <a:r>
                        <a:rPr lang="en-US" sz="2000" b="1" kern="100" baseline="-25000" dirty="0">
                          <a:effectLst/>
                        </a:rPr>
                        <a:t>1</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tc>
                  <a:txBody>
                    <a:bodyPr/>
                    <a:lstStyle/>
                    <a:p>
                      <a:pPr algn="ctr">
                        <a:spcAft>
                          <a:spcPts val="0"/>
                        </a:spcAft>
                      </a:pPr>
                      <a:r>
                        <a:rPr lang="en-US" sz="2000" b="1" kern="100">
                          <a:effectLst/>
                        </a:rPr>
                        <a:t>T</a:t>
                      </a:r>
                      <a:r>
                        <a:rPr lang="en-US" sz="2000" b="1" kern="100" baseline="-25000">
                          <a:effectLst/>
                        </a:rPr>
                        <a:t>2</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FFCCFF"/>
                    </a:solidFill>
                  </a:tcPr>
                </a:tc>
                <a:extLst>
                  <a:ext uri="{0D108BD9-81ED-4DB2-BD59-A6C34878D82A}">
                    <a16:rowId xmlns="" xmlns:a16="http://schemas.microsoft.com/office/drawing/2014/main" val="10000"/>
                  </a:ext>
                </a:extLst>
              </a:tr>
              <a:tr h="914380">
                <a:tc>
                  <a:txBody>
                    <a:bodyPr/>
                    <a:lstStyle/>
                    <a:p>
                      <a:pPr algn="ctr">
                        <a:spcAft>
                          <a:spcPts val="0"/>
                        </a:spcAft>
                      </a:pPr>
                      <a:r>
                        <a:rPr lang="en-US" altLang="zh-CN" sz="2000" b="1" kern="100" dirty="0" smtClean="0">
                          <a:effectLst/>
                        </a:rPr>
                        <a:t>L</a:t>
                      </a:r>
                      <a:r>
                        <a:rPr lang="en-US" sz="2000" b="1" kern="100" dirty="0" smtClean="0">
                          <a:effectLst/>
                        </a:rPr>
                        <a:t>ock </a:t>
                      </a:r>
                      <a:r>
                        <a:rPr lang="en-US" sz="2000" b="1" kern="100" dirty="0">
                          <a:effectLst/>
                        </a:rPr>
                        <a:t>R</a:t>
                      </a:r>
                      <a:r>
                        <a:rPr lang="en-US" sz="2000" b="1" kern="100" baseline="-25000" dirty="0">
                          <a:effectLst/>
                        </a:rPr>
                        <a:t>1</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dirty="0" smtClean="0">
                          <a:effectLst/>
                        </a:rPr>
                        <a:t>•</a:t>
                      </a:r>
                      <a:endParaRPr lang="en-US" altLang="zh-CN" sz="20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en-US" altLang="zh-CN" sz="20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1"/>
                  </a:ext>
                </a:extLst>
              </a:tr>
              <a:tr h="333539">
                <a:tc>
                  <a:txBody>
                    <a:bodyPr/>
                    <a:lstStyle/>
                    <a:p>
                      <a:pPr algn="ctr">
                        <a:spcAft>
                          <a:spcPts val="0"/>
                        </a:spcAft>
                      </a:pPr>
                      <a:r>
                        <a:rPr lang="zh-CN" sz="2000" b="1" kern="100" dirty="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2</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2"/>
                  </a:ext>
                </a:extLst>
              </a:tr>
              <a:tr h="609587">
                <a:tc>
                  <a:txBody>
                    <a:bodyPr/>
                    <a:lstStyle/>
                    <a:p>
                      <a:pPr algn="ctr">
                        <a:spcAft>
                          <a:spcPts val="0"/>
                        </a:spcAft>
                      </a:pPr>
                      <a:r>
                        <a:rPr lang="zh-CN" sz="2000" b="1" kern="100" dirty="0" smtClean="0">
                          <a:effectLst/>
                        </a:rPr>
                        <a:t>•</a:t>
                      </a:r>
                      <a:endParaRPr lang="en-US" altLang="zh-CN" sz="20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sz="2000" b="1" kern="100" dirty="0" smtClean="0">
                          <a:effectLst/>
                        </a:rPr>
                        <a:t>•</a:t>
                      </a:r>
                      <a:endParaRPr lang="en-US" altLang="zh-CN" sz="20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3"/>
                  </a:ext>
                </a:extLst>
              </a:tr>
              <a:tr h="343210">
                <a:tc>
                  <a:txBody>
                    <a:bodyPr/>
                    <a:lstStyle/>
                    <a:p>
                      <a:pPr algn="ctr">
                        <a:spcAft>
                          <a:spcPts val="0"/>
                        </a:spcAft>
                      </a:pPr>
                      <a:r>
                        <a:rPr lang="en-US" sz="2000" b="1" kern="100" dirty="0">
                          <a:effectLst/>
                        </a:rPr>
                        <a:t>Lock </a:t>
                      </a:r>
                      <a:r>
                        <a:rPr lang="en-US" sz="2000" b="1" kern="100" dirty="0" smtClean="0">
                          <a:effectLst/>
                        </a:rPr>
                        <a:t>R</a:t>
                      </a:r>
                      <a:r>
                        <a:rPr lang="en-US" sz="2000" b="1" kern="100" baseline="-25000" dirty="0" smtClean="0">
                          <a:effectLst/>
                        </a:rPr>
                        <a:t>2</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4"/>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5"/>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6"/>
                  </a:ext>
                </a:extLst>
              </a:tr>
              <a:tr h="372675">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en-US" sz="2000" b="1" kern="100">
                          <a:effectLst/>
                        </a:rPr>
                        <a:t>Lock R</a:t>
                      </a:r>
                      <a:r>
                        <a:rPr lang="en-US" sz="2000" b="1" kern="100" baseline="-25000">
                          <a:effectLst/>
                        </a:rPr>
                        <a:t>1</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7"/>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8"/>
                  </a:ext>
                </a:extLst>
              </a:tr>
              <a:tr h="304793">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tc>
                  <a:txBody>
                    <a:bodyPr/>
                    <a:lstStyle/>
                    <a:p>
                      <a:pPr algn="ctr">
                        <a:spcAft>
                          <a:spcPts val="0"/>
                        </a:spcAft>
                      </a:pPr>
                      <a:r>
                        <a:rPr lang="zh-CN" sz="2000" b="1" kern="100">
                          <a:effectLst/>
                        </a:rPr>
                        <a:t>等待</a:t>
                      </a:r>
                      <a:endParaRPr lang="zh-CN" sz="2000" b="1" kern="10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FCCFF"/>
                    </a:solidFill>
                  </a:tcPr>
                </a:tc>
                <a:extLst>
                  <a:ext uri="{0D108BD9-81ED-4DB2-BD59-A6C34878D82A}">
                    <a16:rowId xmlns="" xmlns:a16="http://schemas.microsoft.com/office/drawing/2014/main" val="10009"/>
                  </a:ext>
                </a:extLst>
              </a:tr>
              <a:tr h="914380">
                <a:tc>
                  <a:txBody>
                    <a:bodyPr/>
                    <a:lstStyle/>
                    <a:p>
                      <a:pPr algn="ctr">
                        <a:spcAft>
                          <a:spcPts val="0"/>
                        </a:spcAft>
                      </a:pPr>
                      <a:r>
                        <a:rPr lang="en-US" sz="2000" b="1" kern="100" dirty="0">
                          <a:effectLst/>
                        </a:rPr>
                        <a:t> </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tc>
                  <a:txBody>
                    <a:bodyPr/>
                    <a:lstStyle/>
                    <a:p>
                      <a:pPr algn="ctr">
                        <a:spcAft>
                          <a:spcPts val="0"/>
                        </a:spcAft>
                      </a:pPr>
                      <a:r>
                        <a:rPr lang="zh-CN" sz="2000" b="1" kern="100" dirty="0" smtClean="0">
                          <a:effectLst/>
                        </a:rPr>
                        <a:t>•</a:t>
                      </a:r>
                      <a:endParaRPr lang="en-US" altLang="zh-CN" sz="2000" b="1"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en-US" altLang="zh-CN" sz="2000" b="1" kern="100" dirty="0" smtClean="0">
                        <a:effectLst/>
                        <a:latin typeface="宋体"/>
                        <a:cs typeface="Courier New"/>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000" b="1" kern="100" dirty="0" smtClean="0">
                          <a:effectLst/>
                        </a:rPr>
                        <a:t>•</a:t>
                      </a:r>
                      <a:endParaRPr lang="zh-CN" sz="2000" b="1" kern="100" dirty="0">
                        <a:effectLst/>
                        <a:latin typeface="宋体"/>
                        <a:cs typeface="Courier New"/>
                      </a:endParaRPr>
                    </a:p>
                  </a:txBody>
                  <a:tcPr marL="68585" marR="6858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 xmlns:a16="http://schemas.microsoft.com/office/drawing/2014/main" val="10010"/>
                  </a:ext>
                </a:extLst>
              </a:tr>
            </a:tbl>
          </a:graphicData>
        </a:graphic>
      </p:graphicFrame>
      <p:sp>
        <p:nvSpPr>
          <p:cNvPr id="4" name="矩形 3"/>
          <p:cNvSpPr/>
          <p:nvPr/>
        </p:nvSpPr>
        <p:spPr>
          <a:xfrm>
            <a:off x="3645585" y="6354676"/>
            <a:ext cx="1098550" cy="400050"/>
          </a:xfrm>
          <a:prstGeom prst="rect">
            <a:avLst/>
          </a:prstGeom>
        </p:spPr>
        <p:txBody>
          <a:bodyPr wrap="none">
            <a:spAutoFit/>
          </a:bodyPr>
          <a:lstStyle/>
          <a:p>
            <a:pPr algn="ctr">
              <a:spcAft>
                <a:spcPts val="0"/>
              </a:spcAft>
              <a:defRPr/>
            </a:pPr>
            <a:r>
              <a:rPr lang="en-US" altLang="zh-CN" sz="2000" b="1" kern="100" dirty="0"/>
              <a:t>(b) </a:t>
            </a:r>
            <a:r>
              <a:rPr lang="zh-CN" altLang="zh-CN" sz="2000" b="1" kern="100" dirty="0"/>
              <a:t>死锁</a:t>
            </a:r>
            <a:endParaRPr lang="zh-CN" altLang="zh-CN" sz="2000" b="1" kern="100" dirty="0">
              <a:latin typeface="宋体"/>
              <a:cs typeface="Courier New"/>
            </a:endParaRPr>
          </a:p>
        </p:txBody>
      </p:sp>
    </p:spTree>
    <p:extLst>
      <p:ext uri="{BB962C8B-B14F-4D97-AF65-F5344CB8AC3E}">
        <p14:creationId xmlns:p14="http://schemas.microsoft.com/office/powerpoint/2010/main" val="42252595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914400" y="184150"/>
            <a:ext cx="7391400" cy="563563"/>
          </a:xfrm>
        </p:spPr>
        <p:txBody>
          <a:bodyPr>
            <a:normAutofit fontScale="90000"/>
          </a:bodyPr>
          <a:lstStyle/>
          <a:p>
            <a:pPr eaLnBrk="1" hangingPunct="1"/>
            <a:r>
              <a:rPr lang="zh-CN" altLang="zh-CN" sz="3600" smtClean="0"/>
              <a:t>解决死锁的方法</a:t>
            </a:r>
          </a:p>
        </p:txBody>
      </p:sp>
      <p:sp>
        <p:nvSpPr>
          <p:cNvPr id="53251" name="Rectangle 3"/>
          <p:cNvSpPr>
            <a:spLocks noGrp="1" noChangeArrowheads="1"/>
          </p:cNvSpPr>
          <p:nvPr>
            <p:ph type="body" idx="4294967295"/>
          </p:nvPr>
        </p:nvSpPr>
        <p:spPr>
          <a:xfrm>
            <a:off x="457200" y="1341438"/>
            <a:ext cx="8229600" cy="4983162"/>
          </a:xfrm>
        </p:spPr>
        <p:txBody>
          <a:bodyPr>
            <a:normAutofit fontScale="92500"/>
          </a:bodyPr>
          <a:lstStyle/>
          <a:p>
            <a:pPr eaLnBrk="1" hangingPunct="1">
              <a:buFont typeface="Wingdings" panose="05000000000000000000" pitchFamily="2" charset="2"/>
              <a:buNone/>
            </a:pPr>
            <a:r>
              <a:rPr lang="zh-CN" altLang="en-US" sz="3200" dirty="0" smtClean="0"/>
              <a:t>两类方法</a:t>
            </a:r>
          </a:p>
          <a:p>
            <a:pPr marL="914400" lvl="1" indent="-457200" eaLnBrk="1" hangingPunct="1">
              <a:lnSpc>
                <a:spcPct val="150000"/>
              </a:lnSpc>
              <a:buFont typeface="Wingdings" panose="05000000000000000000" pitchFamily="2" charset="2"/>
              <a:buAutoNum type="arabicPeriod"/>
            </a:pPr>
            <a:r>
              <a:rPr lang="zh-CN" altLang="en-US" dirty="0" smtClean="0"/>
              <a:t>死锁的预防</a:t>
            </a:r>
            <a:endParaRPr lang="en-US" altLang="zh-CN" dirty="0" smtClean="0"/>
          </a:p>
          <a:p>
            <a:pPr lvl="1">
              <a:lnSpc>
                <a:spcPct val="160000"/>
              </a:lnSpc>
            </a:pPr>
            <a:r>
              <a:rPr lang="zh-CN" altLang="en-US" dirty="0"/>
              <a:t>要求每个事务必须一次将所有要使用的数据全部加锁，否则就不能继续执行</a:t>
            </a:r>
          </a:p>
          <a:p>
            <a:pPr lvl="1">
              <a:lnSpc>
                <a:spcPct val="110000"/>
              </a:lnSpc>
            </a:pPr>
            <a:r>
              <a:rPr lang="zh-CN" altLang="en-US" dirty="0"/>
              <a:t>顺序封锁法是预先对数据对象规定一个封锁顺序，所有事务都按这个顺序实行封锁。</a:t>
            </a:r>
          </a:p>
          <a:p>
            <a:pPr lvl="1" eaLnBrk="1" hangingPunct="1">
              <a:lnSpc>
                <a:spcPct val="150000"/>
              </a:lnSpc>
              <a:buFont typeface="Wingdings" panose="05000000000000000000" pitchFamily="2" charset="2"/>
              <a:buNone/>
            </a:pPr>
            <a:r>
              <a:rPr lang="en-US" altLang="zh-CN" dirty="0" smtClean="0"/>
              <a:t>2. </a:t>
            </a:r>
            <a:r>
              <a:rPr lang="zh-CN" altLang="en-US" dirty="0" smtClean="0"/>
              <a:t>死锁的诊断与解除</a:t>
            </a:r>
            <a:endParaRPr lang="en-US" altLang="zh-CN" dirty="0" smtClean="0"/>
          </a:p>
          <a:p>
            <a:pPr marL="457200" lvl="1" indent="0">
              <a:lnSpc>
                <a:spcPct val="190000"/>
              </a:lnSpc>
              <a:buNone/>
            </a:pPr>
            <a:r>
              <a:rPr lang="zh-CN" altLang="en-US" dirty="0"/>
              <a:t>（</a:t>
            </a:r>
            <a:r>
              <a:rPr lang="en-US" altLang="zh-CN" dirty="0"/>
              <a:t>1</a:t>
            </a:r>
            <a:r>
              <a:rPr lang="zh-CN" altLang="en-US" dirty="0"/>
              <a:t>）超时法</a:t>
            </a:r>
          </a:p>
          <a:p>
            <a:pPr marL="457200" lvl="1" indent="0">
              <a:lnSpc>
                <a:spcPct val="190000"/>
              </a:lnSpc>
              <a:buNone/>
            </a:pPr>
            <a:r>
              <a:rPr lang="zh-CN" altLang="en-US" dirty="0"/>
              <a:t>（</a:t>
            </a:r>
            <a:r>
              <a:rPr lang="en-US" altLang="zh-CN" dirty="0"/>
              <a:t>2</a:t>
            </a:r>
            <a:r>
              <a:rPr lang="zh-CN" altLang="en-US" dirty="0"/>
              <a:t>）等待图法 </a:t>
            </a:r>
            <a:endParaRPr lang="zh-CN" altLang="en-US" sz="2800" dirty="0"/>
          </a:p>
          <a:p>
            <a:pPr lvl="1" eaLnBrk="1" hangingPunct="1">
              <a:lnSpc>
                <a:spcPct val="150000"/>
              </a:lnSpc>
              <a:buFont typeface="Wingdings" panose="05000000000000000000" pitchFamily="2" charset="2"/>
              <a:buNone/>
            </a:pPr>
            <a:endParaRPr lang="zh-CN" altLang="en-US" dirty="0" smtClean="0"/>
          </a:p>
          <a:p>
            <a:pPr eaLnBrk="1" hangingPunct="1"/>
            <a:endParaRPr lang="en-US" altLang="zh-CN" dirty="0" smtClean="0"/>
          </a:p>
        </p:txBody>
      </p:sp>
    </p:spTree>
    <p:extLst>
      <p:ext uri="{BB962C8B-B14F-4D97-AF65-F5344CB8AC3E}">
        <p14:creationId xmlns:p14="http://schemas.microsoft.com/office/powerpoint/2010/main" val="11918402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smtClean="0"/>
              <a:t>（</a:t>
            </a:r>
            <a:r>
              <a:rPr lang="en-US" altLang="zh-CN" sz="3600" smtClean="0"/>
              <a:t>1</a:t>
            </a:r>
            <a:r>
              <a:rPr lang="zh-CN" altLang="en-US" sz="3600" smtClean="0"/>
              <a:t>）</a:t>
            </a:r>
            <a:r>
              <a:rPr lang="en-US" altLang="zh-CN" sz="3600" smtClean="0"/>
              <a:t> </a:t>
            </a:r>
            <a:r>
              <a:rPr lang="zh-CN" altLang="en-US" sz="3600" smtClean="0"/>
              <a:t>超时法</a:t>
            </a:r>
          </a:p>
        </p:txBody>
      </p:sp>
      <p:sp>
        <p:nvSpPr>
          <p:cNvPr id="61443" name="Rectangle 3"/>
          <p:cNvSpPr>
            <a:spLocks noGrp="1" noChangeArrowheads="1"/>
          </p:cNvSpPr>
          <p:nvPr>
            <p:ph type="body" idx="4294967295"/>
          </p:nvPr>
        </p:nvSpPr>
        <p:spPr>
          <a:xfrm>
            <a:off x="684213" y="1268413"/>
            <a:ext cx="7772400" cy="4762500"/>
          </a:xfrm>
        </p:spPr>
        <p:txBody>
          <a:bodyPr/>
          <a:lstStyle/>
          <a:p>
            <a:pPr eaLnBrk="1" hangingPunct="1">
              <a:lnSpc>
                <a:spcPct val="140000"/>
              </a:lnSpc>
            </a:pPr>
            <a:r>
              <a:rPr lang="zh-CN" altLang="en-US" sz="2400" smtClean="0"/>
              <a:t>如果一个事务的等待时间超过了规定的时限，就认为发生了死锁</a:t>
            </a:r>
          </a:p>
          <a:p>
            <a:pPr eaLnBrk="1" hangingPunct="1">
              <a:lnSpc>
                <a:spcPct val="140000"/>
              </a:lnSpc>
            </a:pPr>
            <a:r>
              <a:rPr lang="zh-CN" altLang="en-US" sz="2400" smtClean="0"/>
              <a:t>优点：实现简单</a:t>
            </a:r>
          </a:p>
          <a:p>
            <a:pPr eaLnBrk="1" hangingPunct="1">
              <a:lnSpc>
                <a:spcPct val="140000"/>
              </a:lnSpc>
            </a:pPr>
            <a:r>
              <a:rPr lang="zh-CN" altLang="en-US" sz="2400" smtClean="0"/>
              <a:t>缺点</a:t>
            </a:r>
          </a:p>
          <a:p>
            <a:pPr lvl="1" eaLnBrk="1" hangingPunct="1">
              <a:lnSpc>
                <a:spcPct val="140000"/>
              </a:lnSpc>
            </a:pPr>
            <a:r>
              <a:rPr lang="zh-CN" altLang="en-US" smtClean="0"/>
              <a:t>有可能误判死锁</a:t>
            </a:r>
          </a:p>
          <a:p>
            <a:pPr lvl="1" eaLnBrk="1" hangingPunct="1">
              <a:lnSpc>
                <a:spcPct val="140000"/>
              </a:lnSpc>
            </a:pPr>
            <a:r>
              <a:rPr lang="zh-CN" altLang="en-US" smtClean="0"/>
              <a:t>时限若设置得太长，死锁发生后不能及时发现</a:t>
            </a:r>
          </a:p>
        </p:txBody>
      </p:sp>
    </p:spTree>
    <p:extLst>
      <p:ext uri="{BB962C8B-B14F-4D97-AF65-F5344CB8AC3E}">
        <p14:creationId xmlns:p14="http://schemas.microsoft.com/office/powerpoint/2010/main" val="23871530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smtClean="0"/>
              <a:t>（</a:t>
            </a:r>
            <a:r>
              <a:rPr lang="en-US" altLang="zh-CN" sz="3600" smtClean="0"/>
              <a:t>2</a:t>
            </a:r>
            <a:r>
              <a:rPr lang="zh-CN" altLang="en-US" sz="3600" smtClean="0"/>
              <a:t>）等待图法</a:t>
            </a:r>
          </a:p>
        </p:txBody>
      </p:sp>
      <p:sp>
        <p:nvSpPr>
          <p:cNvPr id="62467" name="Rectangle 3"/>
          <p:cNvSpPr>
            <a:spLocks noGrp="1" noChangeArrowheads="1"/>
          </p:cNvSpPr>
          <p:nvPr>
            <p:ph type="body" sz="half" idx="4294967295"/>
          </p:nvPr>
        </p:nvSpPr>
        <p:spPr>
          <a:xfrm>
            <a:off x="457200" y="1052513"/>
            <a:ext cx="8002588" cy="4826000"/>
          </a:xfrm>
        </p:spPr>
        <p:txBody>
          <a:bodyPr/>
          <a:lstStyle/>
          <a:p>
            <a:pPr eaLnBrk="1" hangingPunct="1">
              <a:lnSpc>
                <a:spcPct val="220000"/>
              </a:lnSpc>
            </a:pPr>
            <a:r>
              <a:rPr lang="zh-CN" altLang="en-US" smtClean="0"/>
              <a:t>用事务等待图动态反映所有事务的等待情况</a:t>
            </a:r>
            <a:endParaRPr lang="zh-CN" altLang="en-US" sz="2000" smtClean="0"/>
          </a:p>
          <a:p>
            <a:pPr lvl="1" eaLnBrk="1" hangingPunct="1">
              <a:lnSpc>
                <a:spcPct val="150000"/>
              </a:lnSpc>
            </a:pPr>
            <a:r>
              <a:rPr lang="zh-CN" altLang="en-US" smtClean="0"/>
              <a:t>事务等待图是一个有向图</a:t>
            </a:r>
            <a:r>
              <a:rPr lang="en-US" altLang="zh-CN" i="1" smtClean="0"/>
              <a:t>G</a:t>
            </a:r>
            <a:r>
              <a:rPr lang="en-US" altLang="zh-CN" smtClean="0"/>
              <a:t>=(</a:t>
            </a:r>
            <a:r>
              <a:rPr lang="en-US" altLang="zh-CN" i="1" smtClean="0"/>
              <a:t>T</a:t>
            </a:r>
            <a:r>
              <a:rPr lang="zh-CN" altLang="en-US" smtClean="0"/>
              <a:t>，</a:t>
            </a:r>
            <a:r>
              <a:rPr lang="en-US" altLang="zh-CN" i="1" smtClean="0"/>
              <a:t>U</a:t>
            </a:r>
            <a:r>
              <a:rPr lang="en-US" altLang="zh-CN" smtClean="0"/>
              <a:t>)</a:t>
            </a:r>
          </a:p>
          <a:p>
            <a:pPr lvl="1" eaLnBrk="1" hangingPunct="1">
              <a:lnSpc>
                <a:spcPct val="150000"/>
              </a:lnSpc>
            </a:pPr>
            <a:r>
              <a:rPr lang="en-US" altLang="zh-CN" i="1" smtClean="0"/>
              <a:t>T</a:t>
            </a:r>
            <a:r>
              <a:rPr lang="zh-CN" altLang="en-US" smtClean="0"/>
              <a:t>为结点的集合，每个结点表示正运行的事务</a:t>
            </a:r>
          </a:p>
          <a:p>
            <a:pPr lvl="1" eaLnBrk="1" hangingPunct="1">
              <a:lnSpc>
                <a:spcPct val="150000"/>
              </a:lnSpc>
            </a:pPr>
            <a:r>
              <a:rPr lang="en-US" altLang="zh-CN" i="1" smtClean="0"/>
              <a:t>U</a:t>
            </a:r>
            <a:r>
              <a:rPr lang="zh-CN" altLang="en-US" smtClean="0"/>
              <a:t>为边的集合，每条边表示事务等待的情况</a:t>
            </a:r>
          </a:p>
          <a:p>
            <a:pPr lvl="1" eaLnBrk="1" hangingPunct="1">
              <a:lnSpc>
                <a:spcPct val="150000"/>
              </a:lnSpc>
            </a:pPr>
            <a:r>
              <a:rPr lang="zh-CN" altLang="en-US" smtClean="0"/>
              <a:t>若</a:t>
            </a:r>
            <a:r>
              <a:rPr lang="en-US" altLang="zh-CN" smtClean="0"/>
              <a:t>T</a:t>
            </a:r>
            <a:r>
              <a:rPr lang="en-US" altLang="zh-CN" baseline="-25000" smtClean="0"/>
              <a:t>1</a:t>
            </a:r>
            <a:r>
              <a:rPr lang="zh-CN" altLang="en-US" smtClean="0"/>
              <a:t>等待</a:t>
            </a:r>
            <a:r>
              <a:rPr lang="en-US" altLang="zh-CN" smtClean="0"/>
              <a:t>T</a:t>
            </a:r>
            <a:r>
              <a:rPr lang="en-US" altLang="zh-CN" baseline="-25000" smtClean="0"/>
              <a:t>2</a:t>
            </a:r>
            <a:r>
              <a:rPr lang="zh-CN" altLang="en-US" smtClean="0"/>
              <a:t>，则</a:t>
            </a:r>
            <a:r>
              <a:rPr lang="en-US" altLang="zh-CN" smtClean="0"/>
              <a:t>T</a:t>
            </a:r>
            <a:r>
              <a:rPr lang="en-US" altLang="zh-CN" baseline="-25000" smtClean="0"/>
              <a:t>1</a:t>
            </a:r>
            <a:r>
              <a:rPr lang="zh-CN" altLang="en-US" smtClean="0"/>
              <a:t>，</a:t>
            </a:r>
            <a:r>
              <a:rPr lang="en-US" altLang="zh-CN" smtClean="0"/>
              <a:t>T</a:t>
            </a:r>
            <a:r>
              <a:rPr lang="en-US" altLang="zh-CN" baseline="-25000" smtClean="0"/>
              <a:t>2</a:t>
            </a:r>
            <a:r>
              <a:rPr lang="zh-CN" altLang="en-US" smtClean="0"/>
              <a:t>之间划一条有向边，从</a:t>
            </a:r>
            <a:r>
              <a:rPr lang="en-US" altLang="zh-CN" smtClean="0"/>
              <a:t>T</a:t>
            </a:r>
            <a:r>
              <a:rPr lang="en-US" altLang="zh-CN" baseline="-25000" smtClean="0"/>
              <a:t>1</a:t>
            </a:r>
            <a:r>
              <a:rPr lang="zh-CN" altLang="en-US" smtClean="0"/>
              <a:t>指向</a:t>
            </a:r>
            <a:r>
              <a:rPr lang="en-US" altLang="zh-CN" smtClean="0"/>
              <a:t>T</a:t>
            </a:r>
            <a:r>
              <a:rPr lang="en-US" altLang="zh-CN" baseline="-25000" smtClean="0"/>
              <a:t>2</a:t>
            </a:r>
          </a:p>
        </p:txBody>
      </p:sp>
    </p:spTree>
    <p:extLst>
      <p:ext uri="{BB962C8B-B14F-4D97-AF65-F5344CB8AC3E}">
        <p14:creationId xmlns:p14="http://schemas.microsoft.com/office/powerpoint/2010/main" val="13331706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等待图法（续）</a:t>
            </a:r>
          </a:p>
        </p:txBody>
      </p:sp>
      <p:grpSp>
        <p:nvGrpSpPr>
          <p:cNvPr id="2" name="Group 3"/>
          <p:cNvGrpSpPr>
            <a:grpSpLocks/>
          </p:cNvGrpSpPr>
          <p:nvPr/>
        </p:nvGrpSpPr>
        <p:grpSpPr bwMode="auto">
          <a:xfrm>
            <a:off x="1477963" y="1341438"/>
            <a:ext cx="6334125" cy="2455862"/>
            <a:chOff x="1" y="0"/>
            <a:chExt cx="3990" cy="1547"/>
          </a:xfrm>
        </p:grpSpPr>
        <p:graphicFrame>
          <p:nvGraphicFramePr>
            <p:cNvPr id="1026" name="Object 4"/>
            <p:cNvGraphicFramePr>
              <a:graphicFrameLocks noChangeAspect="1"/>
            </p:cNvGraphicFramePr>
            <p:nvPr/>
          </p:nvGraphicFramePr>
          <p:xfrm>
            <a:off x="1" y="0"/>
            <a:ext cx="3990" cy="1268"/>
          </p:xfrm>
          <a:graphic>
            <a:graphicData uri="http://schemas.openxmlformats.org/presentationml/2006/ole">
              <mc:AlternateContent xmlns:mc="http://schemas.openxmlformats.org/markup-compatibility/2006">
                <mc:Choice xmlns:v="urn:schemas-microsoft-com:vml" Requires="v">
                  <p:oleObj spid="_x0000_s2125" name="Picture" r:id="rId3" imgW="2246376" imgH="713232" progId="Word.Picture.8">
                    <p:embed/>
                  </p:oleObj>
                </mc:Choice>
                <mc:Fallback>
                  <p:oleObj name="Picture" r:id="rId3" imgW="2246376" imgH="713232" progId="Word.Picture.8">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0"/>
                          <a:ext cx="3990" cy="1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0" name="Text Box 5"/>
            <p:cNvSpPr txBox="1">
              <a:spLocks noChangeArrowheads="1"/>
            </p:cNvSpPr>
            <p:nvPr/>
          </p:nvSpPr>
          <p:spPr bwMode="auto">
            <a:xfrm>
              <a:off x="1270" y="1316"/>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a:latin typeface="Times New Roman" panose="02020603050405020304" pitchFamily="18" charset="0"/>
                </a:rPr>
                <a:t>事务等待图</a:t>
              </a:r>
            </a:p>
          </p:txBody>
        </p:sp>
      </p:grpSp>
      <p:sp>
        <p:nvSpPr>
          <p:cNvPr id="62470" name="Text Box 6"/>
          <p:cNvSpPr txBox="1">
            <a:spLocks noChangeArrowheads="1"/>
          </p:cNvSpPr>
          <p:nvPr/>
        </p:nvSpPr>
        <p:spPr bwMode="auto">
          <a:xfrm>
            <a:off x="395288" y="4076700"/>
            <a:ext cx="80645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(a)</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，产生了死锁</a:t>
            </a:r>
          </a:p>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(b)</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4</a:t>
            </a:r>
            <a:r>
              <a:rPr lang="zh-CN" altLang="en-US" sz="2200" b="1">
                <a:latin typeface="Times New Roman" panose="02020603050405020304" pitchFamily="18" charset="0"/>
              </a:rPr>
              <a:t>，</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4</a:t>
            </a:r>
            <a:r>
              <a:rPr lang="zh-CN" altLang="en-US" sz="2200" b="1">
                <a:latin typeface="Times New Roman" panose="02020603050405020304" pitchFamily="18" charset="0"/>
              </a:rPr>
              <a:t>又等待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1</a:t>
            </a:r>
            <a:r>
              <a:rPr lang="zh-CN" altLang="en-US" sz="2200" b="1">
                <a:latin typeface="Times New Roman" panose="02020603050405020304" pitchFamily="18" charset="0"/>
              </a:rPr>
              <a:t>，产生了死锁 </a:t>
            </a:r>
          </a:p>
          <a:p>
            <a:pPr eaLnBrk="1" hangingPunct="1">
              <a:lnSpc>
                <a:spcPct val="150000"/>
              </a:lnSpc>
              <a:buSzPct val="100000"/>
              <a:buFont typeface="Wingdings" panose="05000000000000000000" pitchFamily="2" charset="2"/>
              <a:buChar char="n"/>
            </a:pPr>
            <a:r>
              <a:rPr lang="zh-CN" altLang="en-US" sz="2200" b="1">
                <a:latin typeface="Times New Roman" panose="02020603050405020304" pitchFamily="18" charset="0"/>
              </a:rPr>
              <a:t>图</a:t>
            </a:r>
            <a:r>
              <a:rPr lang="en-US" altLang="zh-CN" sz="2200" b="1">
                <a:latin typeface="Times New Roman" panose="02020603050405020304" pitchFamily="18" charset="0"/>
              </a:rPr>
              <a:t>(b)</a:t>
            </a:r>
            <a:r>
              <a:rPr lang="zh-CN" altLang="en-US" sz="2200" b="1">
                <a:latin typeface="Times New Roman" panose="02020603050405020304" pitchFamily="18" charset="0"/>
              </a:rPr>
              <a:t>中，事务</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3</a:t>
            </a:r>
            <a:r>
              <a:rPr lang="zh-CN" altLang="en-US" sz="2200" b="1">
                <a:latin typeface="Times New Roman" panose="02020603050405020304" pitchFamily="18" charset="0"/>
              </a:rPr>
              <a:t>可能还等待</a:t>
            </a:r>
            <a:r>
              <a:rPr lang="en-US" altLang="zh-CN" sz="2200" b="1">
                <a:latin typeface="Times New Roman" panose="02020603050405020304" pitchFamily="18" charset="0"/>
              </a:rPr>
              <a:t>T</a:t>
            </a:r>
            <a:r>
              <a:rPr lang="en-US" altLang="zh-CN" sz="2200" b="1" baseline="-25000">
                <a:latin typeface="Times New Roman" panose="02020603050405020304" pitchFamily="18" charset="0"/>
              </a:rPr>
              <a:t>2</a:t>
            </a:r>
            <a:r>
              <a:rPr lang="zh-CN" altLang="en-US" sz="2200" b="1">
                <a:latin typeface="Times New Roman" panose="02020603050405020304" pitchFamily="18" charset="0"/>
              </a:rPr>
              <a:t>，在大回路中又有小的回路 </a:t>
            </a:r>
          </a:p>
        </p:txBody>
      </p:sp>
      <p:sp>
        <p:nvSpPr>
          <p:cNvPr id="3" name="矩形 2"/>
          <p:cNvSpPr/>
          <p:nvPr/>
        </p:nvSpPr>
        <p:spPr>
          <a:xfrm>
            <a:off x="666204" y="6200775"/>
            <a:ext cx="7793583" cy="461665"/>
          </a:xfrm>
          <a:prstGeom prst="rect">
            <a:avLst/>
          </a:prstGeom>
        </p:spPr>
        <p:txBody>
          <a:bodyPr wrap="square">
            <a:spAutoFit/>
          </a:bodyPr>
          <a:lstStyle/>
          <a:p>
            <a:r>
              <a:rPr lang="zh-CN" altLang="zh-CN" sz="2400" dirty="0">
                <a:solidFill>
                  <a:srgbClr val="FF0000"/>
                </a:solidFill>
              </a:rPr>
              <a:t>如果发现图中存在回路，则表示系统中出现了死锁。</a:t>
            </a:r>
            <a:endParaRPr lang="zh-CN" altLang="en-US" sz="2400" dirty="0">
              <a:solidFill>
                <a:srgbClr val="FF0000"/>
              </a:solidFill>
            </a:endParaRPr>
          </a:p>
        </p:txBody>
      </p:sp>
    </p:spTree>
    <p:extLst>
      <p:ext uri="{BB962C8B-B14F-4D97-AF65-F5344CB8AC3E}">
        <p14:creationId xmlns:p14="http://schemas.microsoft.com/office/powerpoint/2010/main" val="825804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2470"/>
                                        </p:tgtEl>
                                        <p:attrNameLst>
                                          <p:attrName>style.visibility</p:attrName>
                                        </p:attrNameLst>
                                      </p:cBhvr>
                                      <p:to>
                                        <p:strVal val="visible"/>
                                      </p:to>
                                    </p:set>
                                    <p:anim calcmode="lin" valueType="num">
                                      <p:cBhvr additive="base">
                                        <p:cTn id="12" dur="500" fill="hold"/>
                                        <p:tgtEl>
                                          <p:spTgt spid="62470"/>
                                        </p:tgtEl>
                                        <p:attrNameLst>
                                          <p:attrName>ppt_x</p:attrName>
                                        </p:attrNameLst>
                                      </p:cBhvr>
                                      <p:tavLst>
                                        <p:tav tm="0">
                                          <p:val>
                                            <p:strVal val="#ppt_x"/>
                                          </p:val>
                                        </p:tav>
                                        <p:tav tm="100000">
                                          <p:val>
                                            <p:strVal val="#ppt_x"/>
                                          </p:val>
                                        </p:tav>
                                      </p:tavLst>
                                    </p:anim>
                                    <p:anim calcmode="lin" valueType="num">
                                      <p:cBhvr additive="base">
                                        <p:cTn id="13" dur="500" fill="hold"/>
                                        <p:tgtEl>
                                          <p:spTgt spid="62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52450" y="228600"/>
            <a:ext cx="8077200" cy="609600"/>
          </a:xfrm>
        </p:spPr>
        <p:txBody>
          <a:bodyPr>
            <a:normAutofit fontScale="90000"/>
          </a:bodyPr>
          <a:lstStyle/>
          <a:p>
            <a:pPr eaLnBrk="1" hangingPunct="1"/>
            <a:r>
              <a:rPr lang="zh-CN" altLang="en-US" dirty="0" smtClean="0"/>
              <a:t>那个发生了死锁？？</a:t>
            </a:r>
            <a:endParaRPr lang="en-US" altLang="zh-CN" dirty="0" smtClean="0"/>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1320800"/>
            <a:ext cx="3990975" cy="3448050"/>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102404" name="Text Box 4"/>
          <p:cNvSpPr txBox="1">
            <a:spLocks noChangeArrowheads="1"/>
          </p:cNvSpPr>
          <p:nvPr/>
        </p:nvSpPr>
        <p:spPr bwMode="auto">
          <a:xfrm>
            <a:off x="147638" y="5081588"/>
            <a:ext cx="4532312" cy="457200"/>
          </a:xfrm>
          <a:prstGeom prst="rect">
            <a:avLst/>
          </a:prstGeom>
          <a:noFill/>
          <a:ln w="9525">
            <a:noFill/>
            <a:miter lim="800000"/>
            <a:headEnd/>
            <a:tailEnd/>
          </a:ln>
          <a:effectLst/>
        </p:spPr>
        <p:txBody>
          <a:bodyPr wrap="none">
            <a:spAutoFit/>
          </a:bodyPr>
          <a:lstStyle/>
          <a:p>
            <a:pPr eaLnBrk="0" hangingPunct="0">
              <a:defRPr/>
            </a:pPr>
            <a:r>
              <a:rPr lang="en-US" altLang="zh-CN" sz="2400" b="1">
                <a:solidFill>
                  <a:srgbClr val="000099"/>
                </a:solidFill>
                <a:effectLst>
                  <a:outerShdw blurRad="38100" dist="38100" dir="2700000" algn="tl">
                    <a:srgbClr val="C0C0C0"/>
                  </a:outerShdw>
                </a:effectLst>
                <a:latin typeface="Arial" charset="0"/>
              </a:rPr>
              <a:t>Wait-for graph without a cycle</a:t>
            </a:r>
          </a:p>
        </p:txBody>
      </p:sp>
      <p:sp>
        <p:nvSpPr>
          <p:cNvPr id="102405" name="Text Box 5"/>
          <p:cNvSpPr txBox="1">
            <a:spLocks noChangeArrowheads="1"/>
          </p:cNvSpPr>
          <p:nvPr/>
        </p:nvSpPr>
        <p:spPr bwMode="auto">
          <a:xfrm>
            <a:off x="4770438" y="5067300"/>
            <a:ext cx="4059237" cy="457200"/>
          </a:xfrm>
          <a:prstGeom prst="rect">
            <a:avLst/>
          </a:prstGeom>
          <a:noFill/>
          <a:ln w="9525">
            <a:noFill/>
            <a:miter lim="800000"/>
            <a:headEnd/>
            <a:tailEnd/>
          </a:ln>
          <a:effectLst/>
        </p:spPr>
        <p:txBody>
          <a:bodyPr wrap="none">
            <a:spAutoFit/>
          </a:bodyPr>
          <a:lstStyle/>
          <a:p>
            <a:pPr eaLnBrk="0" hangingPunct="0">
              <a:defRPr/>
            </a:pPr>
            <a:r>
              <a:rPr lang="en-US" altLang="zh-CN" sz="2400" b="1">
                <a:solidFill>
                  <a:srgbClr val="000099"/>
                </a:solidFill>
                <a:effectLst>
                  <a:outerShdw blurRad="38100" dist="38100" dir="2700000" algn="tl">
                    <a:srgbClr val="C0C0C0"/>
                  </a:outerShdw>
                </a:effectLst>
                <a:latin typeface="Arial" charset="0"/>
              </a:rPr>
              <a:t>Wait-for graph with a cycle</a:t>
            </a:r>
          </a:p>
        </p:txBody>
      </p:sp>
      <p:pic>
        <p:nvPicPr>
          <p:cNvPr id="70662" name="Picture 6"/>
          <p:cNvPicPr>
            <a:picLocks noChangeAspect="1" noChangeArrowheads="1"/>
          </p:cNvPicPr>
          <p:nvPr/>
        </p:nvPicPr>
        <p:blipFill>
          <a:blip r:embed="rId3">
            <a:extLst>
              <a:ext uri="{28A0092B-C50C-407E-A947-70E740481C1C}">
                <a14:useLocalDpi xmlns:a14="http://schemas.microsoft.com/office/drawing/2010/main" val="0"/>
              </a:ext>
            </a:extLst>
          </a:blip>
          <a:srcRect l="11185" t="3801" r="10526" b="3510"/>
          <a:stretch>
            <a:fillRect/>
          </a:stretch>
        </p:blipFill>
        <p:spPr bwMode="auto">
          <a:xfrm>
            <a:off x="4787900" y="1314450"/>
            <a:ext cx="3879850" cy="3446463"/>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8718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死锁的诊断与解除（续）</a:t>
            </a:r>
          </a:p>
        </p:txBody>
      </p:sp>
      <p:sp>
        <p:nvSpPr>
          <p:cNvPr id="64515" name="Rectangle 3"/>
          <p:cNvSpPr>
            <a:spLocks noGrp="1" noChangeArrowheads="1"/>
          </p:cNvSpPr>
          <p:nvPr>
            <p:ph type="body" idx="4294967295"/>
          </p:nvPr>
        </p:nvSpPr>
        <p:spPr>
          <a:xfrm>
            <a:off x="457200" y="1268413"/>
            <a:ext cx="8229600" cy="5056187"/>
          </a:xfrm>
        </p:spPr>
        <p:txBody>
          <a:bodyPr/>
          <a:lstStyle/>
          <a:p>
            <a:pPr eaLnBrk="1" hangingPunct="1"/>
            <a:r>
              <a:rPr lang="zh-CN" altLang="en-US" sz="3200" smtClean="0"/>
              <a:t>解除死锁</a:t>
            </a:r>
          </a:p>
          <a:p>
            <a:pPr lvl="1" eaLnBrk="1" hangingPunct="1">
              <a:lnSpc>
                <a:spcPct val="140000"/>
              </a:lnSpc>
            </a:pPr>
            <a:r>
              <a:rPr lang="zh-CN" altLang="en-US" sz="2800" smtClean="0"/>
              <a:t>选择一个处理死锁代价最小的事务，将其撤消</a:t>
            </a:r>
          </a:p>
          <a:p>
            <a:pPr lvl="1" eaLnBrk="1" hangingPunct="1">
              <a:lnSpc>
                <a:spcPct val="140000"/>
              </a:lnSpc>
            </a:pPr>
            <a:r>
              <a:rPr lang="zh-CN" altLang="en-US" sz="2800" smtClean="0"/>
              <a:t>释放此事务持有的所有的锁，使其它事务能继续运行下去</a:t>
            </a:r>
          </a:p>
        </p:txBody>
      </p:sp>
    </p:spTree>
    <p:extLst>
      <p:ext uri="{BB962C8B-B14F-4D97-AF65-F5344CB8AC3E}">
        <p14:creationId xmlns:p14="http://schemas.microsoft.com/office/powerpoint/2010/main" val="165698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smtClean="0"/>
              <a:t>4.</a:t>
            </a:r>
            <a:r>
              <a:rPr lang="zh-CN" altLang="en-US" sz="3600" dirty="0" smtClean="0"/>
              <a:t>并发调度的可串行性</a:t>
            </a:r>
          </a:p>
        </p:txBody>
      </p:sp>
      <p:sp>
        <p:nvSpPr>
          <p:cNvPr id="66563" name="Rectangle 3"/>
          <p:cNvSpPr>
            <a:spLocks noGrp="1" noChangeArrowheads="1"/>
          </p:cNvSpPr>
          <p:nvPr>
            <p:ph type="body" idx="4294967295"/>
          </p:nvPr>
        </p:nvSpPr>
        <p:spPr>
          <a:xfrm>
            <a:off x="457200" y="1052513"/>
            <a:ext cx="8229600" cy="4984750"/>
          </a:xfrm>
        </p:spPr>
        <p:txBody>
          <a:bodyPr/>
          <a:lstStyle/>
          <a:p>
            <a:pPr eaLnBrk="1" hangingPunct="1">
              <a:lnSpc>
                <a:spcPct val="180000"/>
              </a:lnSpc>
            </a:pPr>
            <a:r>
              <a:rPr lang="zh-CN" altLang="en-US" dirty="0" smtClean="0"/>
              <a:t>数据库管理系统对并发事务不同的调度可能会产生不同的结果</a:t>
            </a:r>
          </a:p>
          <a:p>
            <a:pPr eaLnBrk="1" hangingPunct="1">
              <a:lnSpc>
                <a:spcPct val="180000"/>
              </a:lnSpc>
            </a:pPr>
            <a:r>
              <a:rPr lang="zh-CN" altLang="en-US" dirty="0" smtClean="0"/>
              <a:t>串行调度是正确的</a:t>
            </a:r>
          </a:p>
          <a:p>
            <a:pPr eaLnBrk="1" hangingPunct="1">
              <a:lnSpc>
                <a:spcPct val="180000"/>
              </a:lnSpc>
            </a:pPr>
            <a:r>
              <a:rPr lang="zh-CN" altLang="en-US" dirty="0" smtClean="0"/>
              <a:t>执行结果等价于串行调度的调度也是正确的，称为可串行化调度 </a:t>
            </a:r>
          </a:p>
        </p:txBody>
      </p:sp>
    </p:spTree>
    <p:extLst>
      <p:ext uri="{BB962C8B-B14F-4D97-AF65-F5344CB8AC3E}">
        <p14:creationId xmlns:p14="http://schemas.microsoft.com/office/powerpoint/2010/main" val="7370859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914400" y="260350"/>
            <a:ext cx="7391400" cy="563563"/>
          </a:xfrm>
        </p:spPr>
        <p:txBody>
          <a:bodyPr>
            <a:normAutofit fontScale="90000"/>
          </a:bodyPr>
          <a:lstStyle/>
          <a:p>
            <a:pPr eaLnBrk="1" hangingPunct="1"/>
            <a:r>
              <a:rPr lang="zh-CN" altLang="en-US" sz="3600" dirty="0" smtClean="0"/>
              <a:t>可串行化调度</a:t>
            </a:r>
          </a:p>
        </p:txBody>
      </p:sp>
      <p:sp>
        <p:nvSpPr>
          <p:cNvPr id="68611" name="Rectangle 3"/>
          <p:cNvSpPr>
            <a:spLocks noGrp="1" noChangeArrowheads="1"/>
          </p:cNvSpPr>
          <p:nvPr>
            <p:ph type="body" idx="4294967295"/>
          </p:nvPr>
        </p:nvSpPr>
        <p:spPr>
          <a:xfrm>
            <a:off x="684213" y="1196975"/>
            <a:ext cx="7772400" cy="4610100"/>
          </a:xfrm>
        </p:spPr>
        <p:txBody>
          <a:bodyPr/>
          <a:lstStyle/>
          <a:p>
            <a:pPr eaLnBrk="1" hangingPunct="1">
              <a:lnSpc>
                <a:spcPct val="140000"/>
              </a:lnSpc>
            </a:pPr>
            <a:r>
              <a:rPr lang="zh-CN" altLang="en-US" smtClean="0"/>
              <a:t>可串行化</a:t>
            </a:r>
            <a:r>
              <a:rPr lang="en-US" altLang="zh-CN" smtClean="0"/>
              <a:t>(Serializable)</a:t>
            </a:r>
            <a:r>
              <a:rPr lang="zh-CN" altLang="en-US" smtClean="0"/>
              <a:t>调度</a:t>
            </a:r>
          </a:p>
          <a:p>
            <a:pPr lvl="1" eaLnBrk="1" hangingPunct="1">
              <a:lnSpc>
                <a:spcPct val="140000"/>
              </a:lnSpc>
            </a:pPr>
            <a:r>
              <a:rPr lang="zh-CN" altLang="en-US" smtClean="0"/>
              <a:t>多个事务的并发执行是正确的，当且仅当其结果与按某一次序串行地执行这些事务时的结果相同</a:t>
            </a:r>
          </a:p>
          <a:p>
            <a:pPr eaLnBrk="1" hangingPunct="1">
              <a:lnSpc>
                <a:spcPct val="140000"/>
              </a:lnSpc>
            </a:pPr>
            <a:r>
              <a:rPr lang="zh-CN" altLang="en-US" smtClean="0"/>
              <a:t>可串行性</a:t>
            </a:r>
            <a:r>
              <a:rPr lang="en-US" altLang="zh-CN" smtClean="0"/>
              <a:t>(Serializability)</a:t>
            </a:r>
          </a:p>
          <a:p>
            <a:pPr lvl="1" eaLnBrk="1" hangingPunct="1">
              <a:lnSpc>
                <a:spcPct val="140000"/>
              </a:lnSpc>
            </a:pPr>
            <a:r>
              <a:rPr lang="zh-CN" altLang="en-US" smtClean="0"/>
              <a:t>是并发事务正确调度的准则</a:t>
            </a:r>
          </a:p>
          <a:p>
            <a:pPr lvl="1" eaLnBrk="1" hangingPunct="1">
              <a:lnSpc>
                <a:spcPct val="140000"/>
              </a:lnSpc>
            </a:pPr>
            <a:r>
              <a:rPr lang="zh-CN" altLang="en-US" smtClean="0"/>
              <a:t>一个给定的并发调度，当且仅当它是可串行化的，才认为是正确调度 </a:t>
            </a:r>
          </a:p>
        </p:txBody>
      </p:sp>
    </p:spTree>
    <p:extLst>
      <p:ext uri="{BB962C8B-B14F-4D97-AF65-F5344CB8AC3E}">
        <p14:creationId xmlns:p14="http://schemas.microsoft.com/office/powerpoint/2010/main" val="11810185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可串行化调度（续）</a:t>
            </a:r>
          </a:p>
        </p:txBody>
      </p:sp>
      <p:sp>
        <p:nvSpPr>
          <p:cNvPr id="69635" name="Rectangle 3"/>
          <p:cNvSpPr>
            <a:spLocks noGrp="1" noChangeArrowheads="1"/>
          </p:cNvSpPr>
          <p:nvPr>
            <p:ph type="body" idx="4294967295"/>
          </p:nvPr>
        </p:nvSpPr>
        <p:spPr>
          <a:xfrm>
            <a:off x="457200" y="1268413"/>
            <a:ext cx="8229600" cy="5056187"/>
          </a:xfrm>
        </p:spPr>
        <p:txBody>
          <a:bodyPr/>
          <a:lstStyle/>
          <a:p>
            <a:pPr eaLnBrk="1" hangingPunct="1">
              <a:lnSpc>
                <a:spcPct val="170000"/>
              </a:lnSpc>
              <a:buFont typeface="Wingdings" panose="05000000000000000000" pitchFamily="2" charset="2"/>
              <a:buNone/>
            </a:pPr>
            <a:r>
              <a:rPr lang="en-US" altLang="zh-CN" smtClean="0"/>
              <a:t>[</a:t>
            </a:r>
            <a:r>
              <a:rPr lang="zh-CN" altLang="en-US" smtClean="0"/>
              <a:t>例</a:t>
            </a:r>
            <a:r>
              <a:rPr lang="en-US" altLang="zh-CN" smtClean="0"/>
              <a:t>11.2]</a:t>
            </a:r>
            <a:r>
              <a:rPr lang="zh-CN" altLang="en-US" smtClean="0"/>
              <a:t>现在有两个事务，分别包含下列操作：</a:t>
            </a:r>
          </a:p>
          <a:p>
            <a:pPr lvl="1" eaLnBrk="1" hangingPunct="1">
              <a:lnSpc>
                <a:spcPct val="170000"/>
              </a:lnSpc>
            </a:pPr>
            <a:r>
              <a:rPr lang="zh-CN" altLang="en-US" smtClean="0"/>
              <a:t>事务</a:t>
            </a:r>
            <a:r>
              <a:rPr lang="en-US" altLang="zh-CN" smtClean="0"/>
              <a:t>T1</a:t>
            </a:r>
            <a:r>
              <a:rPr lang="zh-CN" altLang="en-US" smtClean="0"/>
              <a:t>：读</a:t>
            </a:r>
            <a:r>
              <a:rPr lang="en-US" altLang="zh-CN" smtClean="0"/>
              <a:t>B</a:t>
            </a:r>
            <a:r>
              <a:rPr lang="zh-CN" altLang="en-US" smtClean="0"/>
              <a:t>；</a:t>
            </a:r>
            <a:r>
              <a:rPr lang="en-US" altLang="zh-CN" smtClean="0"/>
              <a:t>A=B+1</a:t>
            </a:r>
            <a:r>
              <a:rPr lang="zh-CN" altLang="en-US" smtClean="0"/>
              <a:t>；写回</a:t>
            </a:r>
            <a:r>
              <a:rPr lang="en-US" altLang="zh-CN" smtClean="0"/>
              <a:t>A</a:t>
            </a:r>
          </a:p>
          <a:p>
            <a:pPr lvl="1" eaLnBrk="1" hangingPunct="1">
              <a:lnSpc>
                <a:spcPct val="170000"/>
              </a:lnSpc>
            </a:pPr>
            <a:r>
              <a:rPr lang="zh-CN" altLang="en-US" smtClean="0"/>
              <a:t>事务</a:t>
            </a:r>
            <a:r>
              <a:rPr lang="en-US" altLang="zh-CN" smtClean="0"/>
              <a:t>T2</a:t>
            </a:r>
            <a:r>
              <a:rPr lang="zh-CN" altLang="en-US" smtClean="0"/>
              <a:t>：读</a:t>
            </a:r>
            <a:r>
              <a:rPr lang="en-US" altLang="zh-CN" smtClean="0"/>
              <a:t>A</a:t>
            </a:r>
            <a:r>
              <a:rPr lang="zh-CN" altLang="en-US" smtClean="0"/>
              <a:t>；</a:t>
            </a:r>
            <a:r>
              <a:rPr lang="en-US" altLang="zh-CN" smtClean="0"/>
              <a:t>B=A+1</a:t>
            </a:r>
            <a:r>
              <a:rPr lang="zh-CN" altLang="en-US" smtClean="0"/>
              <a:t>；写回</a:t>
            </a:r>
            <a:r>
              <a:rPr lang="en-US" altLang="zh-CN" smtClean="0"/>
              <a:t>B</a:t>
            </a:r>
          </a:p>
          <a:p>
            <a:pPr lvl="1" eaLnBrk="1" hangingPunct="1">
              <a:lnSpc>
                <a:spcPct val="170000"/>
              </a:lnSpc>
              <a:buFont typeface="Wingdings" panose="05000000000000000000" pitchFamily="2" charset="2"/>
              <a:buNone/>
            </a:pPr>
            <a:r>
              <a:rPr lang="zh-CN" altLang="en-US" smtClean="0"/>
              <a:t>现给出对这两个事务不同的调度策略 </a:t>
            </a:r>
          </a:p>
        </p:txBody>
      </p:sp>
    </p:spTree>
    <p:extLst>
      <p:ext uri="{BB962C8B-B14F-4D97-AF65-F5344CB8AC3E}">
        <p14:creationId xmlns:p14="http://schemas.microsoft.com/office/powerpoint/2010/main" val="27995975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smtClean="0"/>
              <a:t>串行调度</a:t>
            </a:r>
            <a:r>
              <a:rPr lang="en-US" altLang="zh-CN" sz="3600" smtClean="0"/>
              <a:t>,</a:t>
            </a:r>
            <a:r>
              <a:rPr lang="zh-CN" altLang="en-US" sz="3600" smtClean="0"/>
              <a:t>正确的调度</a:t>
            </a:r>
          </a:p>
        </p:txBody>
      </p:sp>
      <p:graphicFrame>
        <p:nvGraphicFramePr>
          <p:cNvPr id="69635" name="Group 3"/>
          <p:cNvGraphicFramePr>
            <a:graphicFrameLocks noGrp="1"/>
          </p:cNvGraphicFramePr>
          <p:nvPr>
            <p:ph idx="4294967295"/>
            <p:extLst>
              <p:ext uri="{D42A27DB-BD31-4B8C-83A1-F6EECF244321}">
                <p14:modId xmlns:p14="http://schemas.microsoft.com/office/powerpoint/2010/main" val="2763921231"/>
              </p:ext>
            </p:extLst>
          </p:nvPr>
        </p:nvGraphicFramePr>
        <p:xfrm>
          <a:off x="914400" y="1166808"/>
          <a:ext cx="4013200" cy="5324480"/>
        </p:xfrm>
        <a:graphic>
          <a:graphicData uri="http://schemas.openxmlformats.org/drawingml/2006/table">
            <a:tbl>
              <a:tblPr/>
              <a:tblGrid>
                <a:gridCol w="1976437">
                  <a:extLst>
                    <a:ext uri="{9D8B030D-6E8A-4147-A177-3AD203B41FA5}">
                      <a16:colId xmlns="" xmlns:a16="http://schemas.microsoft.com/office/drawing/2014/main" val="20000"/>
                    </a:ext>
                  </a:extLst>
                </a:gridCol>
                <a:gridCol w="2036763">
                  <a:extLst>
                    <a:ext uri="{9D8B030D-6E8A-4147-A177-3AD203B41FA5}">
                      <a16:colId xmlns="" xmlns:a16="http://schemas.microsoft.com/office/drawing/2014/main" val="20001"/>
                    </a:ext>
                  </a:extLst>
                </a:gridCol>
              </a:tblGrid>
              <a:tr h="40483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 xmlns:a16="http://schemas.microsoft.com/office/drawing/2014/main" val="10000"/>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1"/>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Y=R(B)=2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2"/>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3"/>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4"/>
                  </a:ext>
                </a:extLst>
              </a:tr>
              <a:tr h="35244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A=Y+1=3</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5"/>
                  </a:ext>
                </a:extLst>
              </a:tr>
              <a:tr h="35085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6"/>
                  </a:ext>
                </a:extLst>
              </a:tr>
              <a:tr h="350541">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7"/>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8"/>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X=R(A)=3</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9"/>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0"/>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1"/>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B=X+1=4</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2"/>
                  </a:ext>
                </a:extLst>
              </a:tr>
              <a:tr h="35244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3"/>
                  </a:ext>
                </a:extLst>
              </a:tr>
              <a:tr h="3508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23" marB="4572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23" marB="4572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4"/>
                  </a:ext>
                </a:extLst>
              </a:tr>
            </a:tbl>
          </a:graphicData>
        </a:graphic>
      </p:graphicFrame>
      <p:sp>
        <p:nvSpPr>
          <p:cNvPr id="70706" name="Text Box 549"/>
          <p:cNvSpPr txBox="1">
            <a:spLocks noChangeArrowheads="1"/>
          </p:cNvSpPr>
          <p:nvPr/>
        </p:nvSpPr>
        <p:spPr bwMode="auto">
          <a:xfrm>
            <a:off x="2373313" y="6491288"/>
            <a:ext cx="1352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en-US" b="1">
                <a:latin typeface="Times New Roman" panose="02020603050405020304" pitchFamily="18" charset="0"/>
              </a:rPr>
              <a:t>串行调度</a:t>
            </a:r>
            <a:r>
              <a:rPr lang="en-US" altLang="zh-CN" b="1">
                <a:latin typeface="Times New Roman" panose="02020603050405020304" pitchFamily="18" charset="0"/>
              </a:rPr>
              <a:t>(a)</a:t>
            </a:r>
          </a:p>
        </p:txBody>
      </p:sp>
      <p:sp>
        <p:nvSpPr>
          <p:cNvPr id="70707" name="Text Box 550"/>
          <p:cNvSpPr txBox="1">
            <a:spLocks noChangeArrowheads="1"/>
          </p:cNvSpPr>
          <p:nvPr/>
        </p:nvSpPr>
        <p:spPr bwMode="auto">
          <a:xfrm>
            <a:off x="5300663" y="2276475"/>
            <a:ext cx="3303587"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假设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的初值均为</a:t>
            </a:r>
            <a:r>
              <a:rPr lang="en-US" altLang="zh-CN" sz="2000" b="1">
                <a:latin typeface="Times New Roman" panose="02020603050405020304" pitchFamily="18" charset="0"/>
              </a:rPr>
              <a:t>2</a:t>
            </a:r>
            <a:r>
              <a:rPr lang="zh-CN" altLang="en-US" sz="2000" b="1">
                <a:latin typeface="Times New Roman" panose="02020603050405020304" pitchFamily="18" charset="0"/>
              </a:rPr>
              <a:t>。</a:t>
            </a:r>
          </a:p>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按</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zh-CN" altLang="en-US" sz="2000" b="1">
                <a:latin typeface="Times New Roman" panose="02020603050405020304" pitchFamily="18" charset="0"/>
              </a:rPr>
              <a:t>次序执行结果为</a:t>
            </a:r>
            <a:r>
              <a:rPr lang="en-US" altLang="zh-CN" sz="2000" b="1">
                <a:latin typeface="Times New Roman" panose="02020603050405020304" pitchFamily="18" charset="0"/>
              </a:rPr>
              <a:t>A=3</a:t>
            </a:r>
            <a:r>
              <a:rPr lang="zh-CN" altLang="en-US" sz="2000" b="1">
                <a:latin typeface="Times New Roman" panose="02020603050405020304" pitchFamily="18" charset="0"/>
              </a:rPr>
              <a:t>，</a:t>
            </a:r>
            <a:r>
              <a:rPr lang="en-US" altLang="zh-CN" sz="2000" b="1">
                <a:latin typeface="Times New Roman" panose="02020603050405020304" pitchFamily="18" charset="0"/>
              </a:rPr>
              <a:t>B=4 </a:t>
            </a:r>
          </a:p>
          <a:p>
            <a:pPr eaLnBrk="1" hangingPunct="1">
              <a:lnSpc>
                <a:spcPct val="160000"/>
              </a:lnSpc>
              <a:buSzPct val="100000"/>
              <a:buFont typeface="Wingdings" panose="05000000000000000000" pitchFamily="2" charset="2"/>
              <a:buChar char="n"/>
            </a:pPr>
            <a:r>
              <a:rPr lang="zh-CN" altLang="en-US" b="1">
                <a:latin typeface="Times New Roman" panose="02020603050405020304" pitchFamily="18" charset="0"/>
              </a:rPr>
              <a:t>串行调度策略</a:t>
            </a:r>
            <a:r>
              <a:rPr lang="en-US" altLang="zh-CN" b="1">
                <a:latin typeface="Times New Roman" panose="02020603050405020304" pitchFamily="18" charset="0"/>
              </a:rPr>
              <a:t>,</a:t>
            </a:r>
            <a:r>
              <a:rPr lang="zh-CN" altLang="en-US" b="1">
                <a:latin typeface="Times New Roman" panose="02020603050405020304" pitchFamily="18" charset="0"/>
              </a:rPr>
              <a:t>正确的调度 </a:t>
            </a:r>
          </a:p>
        </p:txBody>
      </p:sp>
    </p:spTree>
    <p:extLst>
      <p:ext uri="{BB962C8B-B14F-4D97-AF65-F5344CB8AC3E}">
        <p14:creationId xmlns:p14="http://schemas.microsoft.com/office/powerpoint/2010/main" val="223679193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smtClean="0"/>
              <a:t>串行调度</a:t>
            </a:r>
            <a:r>
              <a:rPr lang="en-US" altLang="zh-CN" sz="3600" smtClean="0"/>
              <a:t>,</a:t>
            </a:r>
            <a:r>
              <a:rPr lang="zh-CN" altLang="en-US" sz="3600" smtClean="0"/>
              <a:t>正确的调度</a:t>
            </a:r>
          </a:p>
        </p:txBody>
      </p:sp>
      <p:graphicFrame>
        <p:nvGraphicFramePr>
          <p:cNvPr id="70659" name="Group 3"/>
          <p:cNvGraphicFramePr>
            <a:graphicFrameLocks noGrp="1"/>
          </p:cNvGraphicFramePr>
          <p:nvPr>
            <p:ph idx="4294967295"/>
            <p:extLst>
              <p:ext uri="{D42A27DB-BD31-4B8C-83A1-F6EECF244321}">
                <p14:modId xmlns:p14="http://schemas.microsoft.com/office/powerpoint/2010/main" val="1798852404"/>
              </p:ext>
            </p:extLst>
          </p:nvPr>
        </p:nvGraphicFramePr>
        <p:xfrm>
          <a:off x="827088" y="1234729"/>
          <a:ext cx="3816350" cy="5292753"/>
        </p:xfrm>
        <a:graphic>
          <a:graphicData uri="http://schemas.openxmlformats.org/drawingml/2006/table">
            <a:tbl>
              <a:tblPr/>
              <a:tblGrid>
                <a:gridCol w="1906587">
                  <a:extLst>
                    <a:ext uri="{9D8B030D-6E8A-4147-A177-3AD203B41FA5}">
                      <a16:colId xmlns="" xmlns:a16="http://schemas.microsoft.com/office/drawing/2014/main" val="20000"/>
                    </a:ext>
                  </a:extLst>
                </a:gridCol>
                <a:gridCol w="1909763">
                  <a:extLst>
                    <a:ext uri="{9D8B030D-6E8A-4147-A177-3AD203B41FA5}">
                      <a16:colId xmlns="" xmlns:a16="http://schemas.microsoft.com/office/drawing/2014/main" val="20001"/>
                    </a:ext>
                  </a:extLst>
                </a:gridCol>
              </a:tblGrid>
              <a:tr h="38569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 xmlns:a16="http://schemas.microsoft.com/office/drawing/2014/main" val="10000"/>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Slock A</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1"/>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X=R(A)=2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2"/>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3"/>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4"/>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B=X+1=3</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5"/>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6"/>
                  </a:ext>
                </a:extLst>
              </a:tr>
              <a:tr h="3505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rPr>
                        <a:t>Unlock B</a:t>
                      </a:r>
                      <a:endParaRPr kumimoji="0" lang="en-US"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7"/>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Slock B</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8"/>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Y=R(B)=3</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9"/>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0"/>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1"/>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A=Y+1=4</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2"/>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3"/>
                  </a:ext>
                </a:extLst>
              </a:tr>
              <a:tr h="350502">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T="45712" marB="45712"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T="45712" marB="45712"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4"/>
                  </a:ext>
                </a:extLst>
              </a:tr>
            </a:tbl>
          </a:graphicData>
        </a:graphic>
      </p:graphicFrame>
      <p:sp>
        <p:nvSpPr>
          <p:cNvPr id="71730" name="Text Box 273"/>
          <p:cNvSpPr txBox="1">
            <a:spLocks noChangeArrowheads="1"/>
          </p:cNvSpPr>
          <p:nvPr/>
        </p:nvSpPr>
        <p:spPr bwMode="auto">
          <a:xfrm>
            <a:off x="2052638" y="6492875"/>
            <a:ext cx="1365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en-US" b="1" dirty="0">
                <a:latin typeface="Times New Roman" panose="02020603050405020304" pitchFamily="18" charset="0"/>
              </a:rPr>
              <a:t>串行调度</a:t>
            </a:r>
            <a:r>
              <a:rPr lang="en-US" altLang="zh-CN" b="1" dirty="0">
                <a:latin typeface="Times New Roman" panose="02020603050405020304" pitchFamily="18" charset="0"/>
              </a:rPr>
              <a:t>(b)</a:t>
            </a:r>
          </a:p>
        </p:txBody>
      </p:sp>
      <p:sp>
        <p:nvSpPr>
          <p:cNvPr id="71731" name="Text Box 274"/>
          <p:cNvSpPr txBox="1">
            <a:spLocks noChangeArrowheads="1"/>
          </p:cNvSpPr>
          <p:nvPr/>
        </p:nvSpPr>
        <p:spPr bwMode="auto">
          <a:xfrm>
            <a:off x="5300663" y="2276475"/>
            <a:ext cx="34480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假设</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的初值均为</a:t>
            </a:r>
            <a:r>
              <a:rPr lang="en-US" altLang="zh-CN" sz="2000" b="1">
                <a:latin typeface="Times New Roman" panose="02020603050405020304" pitchFamily="18" charset="0"/>
              </a:rPr>
              <a:t>2</a:t>
            </a:r>
            <a:r>
              <a:rPr lang="zh-CN" altLang="en-US" sz="2000" b="1">
                <a:latin typeface="Times New Roman" panose="02020603050405020304" pitchFamily="18" charset="0"/>
              </a:rPr>
              <a:t>。</a:t>
            </a:r>
          </a:p>
          <a:p>
            <a:pPr eaLnBrk="1" hangingPunct="1">
              <a:lnSpc>
                <a:spcPct val="160000"/>
              </a:lnSpc>
              <a:buSzPct val="100000"/>
              <a:buFont typeface="Wingdings" panose="05000000000000000000" pitchFamily="2" charset="2"/>
              <a:buChar char="n"/>
            </a:pPr>
            <a:r>
              <a:rPr lang="en-US" altLang="zh-CN" sz="2000" b="1">
                <a:latin typeface="Times New Roman" panose="02020603050405020304" pitchFamily="18" charset="0"/>
              </a:rPr>
              <a:t>T</a:t>
            </a:r>
            <a:r>
              <a:rPr lang="en-US" altLang="zh-CN" sz="2000" b="1" baseline="-25000">
                <a:latin typeface="Times New Roman" panose="02020603050405020304" pitchFamily="18" charset="0"/>
              </a:rPr>
              <a:t>2</a:t>
            </a:r>
            <a:r>
              <a:rPr lang="en-US" altLang="zh-CN" sz="2000" b="1">
                <a:latin typeface="Times New Roman" panose="02020603050405020304" pitchFamily="18" charset="0"/>
              </a:rPr>
              <a:t>→T</a:t>
            </a:r>
            <a:r>
              <a:rPr lang="en-US" altLang="zh-CN" sz="2000" b="1" baseline="-25000">
                <a:latin typeface="Times New Roman" panose="02020603050405020304" pitchFamily="18" charset="0"/>
              </a:rPr>
              <a:t>1</a:t>
            </a:r>
            <a:r>
              <a:rPr lang="zh-CN" altLang="en-US" sz="2000" b="1">
                <a:latin typeface="Times New Roman" panose="02020603050405020304" pitchFamily="18" charset="0"/>
              </a:rPr>
              <a:t>次序执行结果为</a:t>
            </a:r>
            <a:r>
              <a:rPr lang="en-US" altLang="zh-CN" sz="2000" b="1">
                <a:latin typeface="Times New Roman" panose="02020603050405020304" pitchFamily="18" charset="0"/>
              </a:rPr>
              <a:t>B=3</a:t>
            </a:r>
            <a:r>
              <a:rPr lang="zh-CN" altLang="en-US" sz="2000" b="1">
                <a:latin typeface="Times New Roman" panose="02020603050405020304" pitchFamily="18" charset="0"/>
              </a:rPr>
              <a:t>，</a:t>
            </a:r>
            <a:r>
              <a:rPr lang="en-US" altLang="zh-CN" sz="2000" b="1">
                <a:latin typeface="Times New Roman" panose="02020603050405020304" pitchFamily="18" charset="0"/>
              </a:rPr>
              <a:t>A=4 </a:t>
            </a:r>
          </a:p>
          <a:p>
            <a:pPr eaLnBrk="1" hangingPunct="1">
              <a:lnSpc>
                <a:spcPct val="160000"/>
              </a:lnSpc>
              <a:buSzPct val="100000"/>
              <a:buFont typeface="Wingdings" panose="05000000000000000000" pitchFamily="2" charset="2"/>
              <a:buChar char="n"/>
            </a:pPr>
            <a:r>
              <a:rPr lang="zh-CN" altLang="en-US" sz="2000" b="1">
                <a:latin typeface="Times New Roman" panose="02020603050405020304" pitchFamily="18" charset="0"/>
              </a:rPr>
              <a:t>串行调度策略</a:t>
            </a:r>
            <a:r>
              <a:rPr lang="en-US" altLang="zh-CN" sz="2000" b="1">
                <a:latin typeface="Times New Roman" panose="02020603050405020304" pitchFamily="18" charset="0"/>
              </a:rPr>
              <a:t>,</a:t>
            </a:r>
            <a:r>
              <a:rPr lang="zh-CN" altLang="en-US" sz="2000" b="1">
                <a:latin typeface="Times New Roman" panose="02020603050405020304" pitchFamily="18" charset="0"/>
              </a:rPr>
              <a:t>正确的调度 </a:t>
            </a:r>
          </a:p>
        </p:txBody>
      </p:sp>
    </p:spTree>
    <p:extLst>
      <p:ext uri="{BB962C8B-B14F-4D97-AF65-F5344CB8AC3E}">
        <p14:creationId xmlns:p14="http://schemas.microsoft.com/office/powerpoint/2010/main" val="29690014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不可串行化调度，错误的调度</a:t>
            </a:r>
          </a:p>
        </p:txBody>
      </p:sp>
      <p:graphicFrame>
        <p:nvGraphicFramePr>
          <p:cNvPr id="71683" name="Group 3"/>
          <p:cNvGraphicFramePr>
            <a:graphicFrameLocks noGrp="1"/>
          </p:cNvGraphicFramePr>
          <p:nvPr>
            <p:ph idx="4294967295"/>
            <p:extLst>
              <p:ext uri="{D42A27DB-BD31-4B8C-83A1-F6EECF244321}">
                <p14:modId xmlns:p14="http://schemas.microsoft.com/office/powerpoint/2010/main" val="3302608823"/>
              </p:ext>
            </p:extLst>
          </p:nvPr>
        </p:nvGraphicFramePr>
        <p:xfrm>
          <a:off x="425744" y="1220782"/>
          <a:ext cx="4824413" cy="5270505"/>
        </p:xfrm>
        <a:graphic>
          <a:graphicData uri="http://schemas.openxmlformats.org/drawingml/2006/table">
            <a:tbl>
              <a:tblPr/>
              <a:tblGrid>
                <a:gridCol w="2409211">
                  <a:extLst>
                    <a:ext uri="{9D8B030D-6E8A-4147-A177-3AD203B41FA5}">
                      <a16:colId xmlns="" xmlns:a16="http://schemas.microsoft.com/office/drawing/2014/main" val="20000"/>
                    </a:ext>
                  </a:extLst>
                </a:gridCol>
                <a:gridCol w="2415202">
                  <a:extLst>
                    <a:ext uri="{9D8B030D-6E8A-4147-A177-3AD203B41FA5}">
                      <a16:colId xmlns="" xmlns:a16="http://schemas.microsoft.com/office/drawing/2014/main" val="20001"/>
                    </a:ext>
                  </a:extLst>
                </a:gridCol>
              </a:tblGrid>
              <a:tr h="351367">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7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 xmlns:a16="http://schemas.microsoft.com/office/drawing/2014/main" val="10000"/>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1"/>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Y=R(B)=2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2"/>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X=R(A)=2</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4"/>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Unlock B</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5"/>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6"/>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 A</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7"/>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A=Y+1=3</a:t>
                      </a:r>
                      <a:endParaRPr kumimoji="0" lang="en-US" sz="17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8"/>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9"/>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0"/>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B=X+1=3</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1"/>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W(B)</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2"/>
                  </a:ext>
                </a:extLst>
              </a:tr>
              <a:tr h="351367">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7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3"/>
                  </a:ext>
                </a:extLst>
              </a:tr>
              <a:tr h="35136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700" b="1" i="0" u="none" strike="noStrike" cap="none" normalizeH="0" baseline="0" dirty="0" smtClean="0">
                          <a:ln>
                            <a:noFill/>
                          </a:ln>
                          <a:solidFill>
                            <a:schemeClr val="tx1"/>
                          </a:solidFill>
                          <a:effectLst/>
                          <a:latin typeface="Times New Roman" pitchFamily="18" charset="0"/>
                          <a:ea typeface="宋体" pitchFamily="2" charset="-122"/>
                        </a:rPr>
                        <a:t>Unlock B</a:t>
                      </a:r>
                      <a:endParaRPr kumimoji="0" lang="en-US" sz="1700" b="1" i="0" u="none" strike="noStrike" cap="none" normalizeH="0" baseline="0" dirty="0" smtClean="0">
                        <a:ln>
                          <a:noFill/>
                        </a:ln>
                        <a:solidFill>
                          <a:schemeClr val="tx1"/>
                        </a:solidFill>
                        <a:effectLst/>
                        <a:latin typeface="Arial" pitchFamily="34" charset="0"/>
                        <a:ea typeface="宋体" pitchFamily="2" charset="-122"/>
                      </a:endParaRPr>
                    </a:p>
                  </a:txBody>
                  <a:tcPr marL="91426" marR="91426" marT="45703" marB="45703" horzOverflow="overflow">
                    <a:lnL w="12700" cap="flat" cmpd="sng" algn="ctr">
                      <a:solidFill>
                        <a:srgbClr val="000000"/>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4"/>
                  </a:ext>
                </a:extLst>
              </a:tr>
            </a:tbl>
          </a:graphicData>
        </a:graphic>
      </p:graphicFrame>
      <p:sp>
        <p:nvSpPr>
          <p:cNvPr id="72754" name="Text Box 236"/>
          <p:cNvSpPr txBox="1">
            <a:spLocks noChangeArrowheads="1"/>
          </p:cNvSpPr>
          <p:nvPr/>
        </p:nvSpPr>
        <p:spPr bwMode="auto">
          <a:xfrm>
            <a:off x="1802901" y="6491287"/>
            <a:ext cx="2070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不可串行化的调度 </a:t>
            </a:r>
          </a:p>
        </p:txBody>
      </p:sp>
      <p:sp>
        <p:nvSpPr>
          <p:cNvPr id="72755" name="Text Box 237"/>
          <p:cNvSpPr txBox="1">
            <a:spLocks noChangeArrowheads="1"/>
          </p:cNvSpPr>
          <p:nvPr/>
        </p:nvSpPr>
        <p:spPr bwMode="auto">
          <a:xfrm>
            <a:off x="5508625" y="2276475"/>
            <a:ext cx="3203575"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执行结果与</a:t>
            </a:r>
            <a:r>
              <a:rPr lang="en-US" altLang="zh-CN" sz="2000" b="1">
                <a:latin typeface="Times New Roman" panose="02020603050405020304" pitchFamily="18" charset="0"/>
              </a:rPr>
              <a:t>(a)</a:t>
            </a:r>
            <a:r>
              <a:rPr lang="zh-CN" altLang="en-US" sz="2000" b="1">
                <a:latin typeface="Times New Roman" panose="02020603050405020304" pitchFamily="18" charset="0"/>
              </a:rPr>
              <a:t>、</a:t>
            </a:r>
            <a:r>
              <a:rPr lang="en-US" altLang="zh-CN" sz="2000" b="1">
                <a:latin typeface="Times New Roman" panose="02020603050405020304" pitchFamily="18" charset="0"/>
              </a:rPr>
              <a:t>(b)</a:t>
            </a:r>
            <a:r>
              <a:rPr lang="zh-CN" altLang="en-US" sz="2000" b="1">
                <a:latin typeface="Times New Roman" panose="02020603050405020304" pitchFamily="18" charset="0"/>
              </a:rPr>
              <a:t>的结果都不同</a:t>
            </a:r>
          </a:p>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是错误的调度 </a:t>
            </a:r>
          </a:p>
        </p:txBody>
      </p:sp>
    </p:spTree>
    <p:extLst>
      <p:ext uri="{BB962C8B-B14F-4D97-AF65-F5344CB8AC3E}">
        <p14:creationId xmlns:p14="http://schemas.microsoft.com/office/powerpoint/2010/main" val="24321951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zh-CN" sz="3600" smtClean="0"/>
              <a:t>可串行化调度，正确的调度</a:t>
            </a:r>
          </a:p>
        </p:txBody>
      </p:sp>
      <p:graphicFrame>
        <p:nvGraphicFramePr>
          <p:cNvPr id="72707" name="Group 3"/>
          <p:cNvGraphicFramePr>
            <a:graphicFrameLocks noGrp="1"/>
          </p:cNvGraphicFramePr>
          <p:nvPr>
            <p:ph idx="4294967295"/>
            <p:extLst>
              <p:ext uri="{D42A27DB-BD31-4B8C-83A1-F6EECF244321}">
                <p14:modId xmlns:p14="http://schemas.microsoft.com/office/powerpoint/2010/main" val="1354196514"/>
              </p:ext>
            </p:extLst>
          </p:nvPr>
        </p:nvGraphicFramePr>
        <p:xfrm>
          <a:off x="455250" y="1175020"/>
          <a:ext cx="4824412" cy="5097465"/>
        </p:xfrm>
        <a:graphic>
          <a:graphicData uri="http://schemas.openxmlformats.org/drawingml/2006/table">
            <a:tbl>
              <a:tblPr/>
              <a:tblGrid>
                <a:gridCol w="2303795">
                  <a:extLst>
                    <a:ext uri="{9D8B030D-6E8A-4147-A177-3AD203B41FA5}">
                      <a16:colId xmlns="" xmlns:a16="http://schemas.microsoft.com/office/drawing/2014/main" val="20000"/>
                    </a:ext>
                  </a:extLst>
                </a:gridCol>
                <a:gridCol w="2520617">
                  <a:extLst>
                    <a:ext uri="{9D8B030D-6E8A-4147-A177-3AD203B41FA5}">
                      <a16:colId xmlns="" xmlns:a16="http://schemas.microsoft.com/office/drawing/2014/main" val="20001"/>
                    </a:ext>
                  </a:extLst>
                </a:gridCol>
              </a:tblGrid>
              <a:tr h="385710">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6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1</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sz="1600" b="1" i="0" u="none" strike="noStrike" cap="none" normalizeH="0" baseline="-30000" dirty="0" smtClean="0">
                          <a:ln>
                            <a:noFill/>
                          </a:ln>
                          <a:solidFill>
                            <a:schemeClr val="tx1"/>
                          </a:solidFill>
                          <a:effectLst/>
                          <a:latin typeface="Times New Roman" pitchFamily="18" charset="0"/>
                          <a:ea typeface="宋体" pitchFamily="2" charset="-122"/>
                          <a:cs typeface="Times New Roman" pitchFamily="18" charset="0"/>
                        </a:rPr>
                        <a:t>2</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chemeClr val="accent1">
                        <a:lumMod val="75000"/>
                      </a:schemeClr>
                    </a:solidFill>
                  </a:tcPr>
                </a:tc>
                <a:extLst>
                  <a:ext uri="{0D108BD9-81ED-4DB2-BD59-A6C34878D82A}">
                    <a16:rowId xmlns="" xmlns:a16="http://schemas.microsoft.com/office/drawing/2014/main" val="10000"/>
                  </a:ext>
                </a:extLst>
              </a:tr>
              <a:tr h="335266">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1"/>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Y=R(B)=2</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2"/>
                  </a:ext>
                </a:extLst>
              </a:tr>
              <a:tr h="339679">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Unlock B</a:t>
                      </a:r>
                      <a:endParaRPr kumimoji="0" lang="en-US" sz="16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3"/>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Xlock A</a:t>
                      </a:r>
                      <a:endParaRPr kumimoji="0" lang="en-US" sz="16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4"/>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Slock</a:t>
                      </a: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5"/>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A=Y+1=3</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6"/>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W(A)</a:t>
                      </a:r>
                      <a:endParaRPr kumimoji="0" lang="en-US" sz="16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7"/>
                  </a:ext>
                </a:extLst>
              </a:tr>
              <a:tr h="336504">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600" b="1" i="0" u="none" strike="noStrike" cap="none" normalizeH="0" baseline="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等待</a:t>
                      </a:r>
                      <a:endParaRPr kumimoji="0" lang="zh-CN"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8"/>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X=R(A)=3</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9"/>
                  </a:ext>
                </a:extLst>
              </a:tr>
              <a:tr h="33526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Unlock A</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0"/>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Xlock</a:t>
                      </a: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B</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1"/>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B=X+1=4</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2"/>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W(B)</a:t>
                      </a:r>
                      <a:endParaRPr kumimoji="0" lang="en-US" sz="1600" b="1" i="0" u="none" strike="noStrike" cap="none" normalizeH="0" baseline="0" dirty="0" smtClean="0">
                        <a:ln>
                          <a:noFill/>
                        </a:ln>
                        <a:solidFill>
                          <a:schemeClr val="tx1"/>
                        </a:solidFill>
                        <a:effectLst/>
                        <a:latin typeface="Arial" pitchFamily="34" charset="0"/>
                        <a:ea typeface="宋体" pitchFamily="2" charset="-122"/>
                        <a:cs typeface="Times New Roman" pitchFamily="18" charset="0"/>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3"/>
                  </a:ext>
                </a:extLst>
              </a:tr>
              <a:tr h="336504">
                <a:tc>
                  <a:txBody>
                    <a:bodyPr/>
                    <a:lstStyle/>
                    <a:p>
                      <a:pPr marL="0" marR="0" lvl="0" indent="0" algn="l" defTabSz="914400" rtl="0" eaLnBrk="1" fontAlgn="base" latinLnBrk="0" hangingPunct="1">
                        <a:lnSpc>
                          <a:spcPct val="100000"/>
                        </a:lnSpc>
                        <a:spcBef>
                          <a:spcPct val="20000"/>
                        </a:spcBef>
                        <a:spcAft>
                          <a:spcPct val="0"/>
                        </a:spcAft>
                        <a:buClr>
                          <a:schemeClr val="hlink"/>
                        </a:buClr>
                        <a:buSzPct val="100000"/>
                        <a:buFont typeface="Wingdings" pitchFamily="2" charset="2"/>
                        <a:buNone/>
                        <a:tabLst/>
                      </a:pPr>
                      <a:endParaRPr kumimoji="0" lang="zh-CN" altLang="zh-CN" sz="1600" b="1" i="0" u="none" strike="noStrike" cap="none" normalizeH="0" baseline="0" smtClean="0">
                        <a:ln>
                          <a:noFill/>
                        </a:ln>
                        <a:solidFill>
                          <a:schemeClr val="tx1"/>
                        </a:solidFill>
                        <a:effectLst/>
                        <a:latin typeface="Arial" pitchFamily="34" charset="0"/>
                        <a:ea typeface="宋体" pitchFamily="2" charset="-122"/>
                      </a:endParaRPr>
                    </a:p>
                  </a:txBody>
                  <a:tcPr marL="91452" marR="91452" marT="45713" marB="45713" horzOverflow="overflow">
                    <a:lnL>
                      <a:noFill/>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1600" b="1" i="0" u="none" strike="noStrike" cap="none" normalizeH="0" baseline="0" dirty="0" smtClean="0">
                          <a:ln>
                            <a:noFill/>
                          </a:ln>
                          <a:solidFill>
                            <a:schemeClr val="tx1"/>
                          </a:solidFill>
                          <a:effectLst/>
                          <a:latin typeface="Times New Roman" pitchFamily="18" charset="0"/>
                          <a:ea typeface="宋体" pitchFamily="2" charset="-122"/>
                        </a:rPr>
                        <a:t>Unlock B</a:t>
                      </a:r>
                      <a:endParaRPr kumimoji="0" lang="en-US" sz="1600" b="1" i="0" u="none" strike="noStrike" cap="none" normalizeH="0" baseline="0" dirty="0" smtClean="0">
                        <a:ln>
                          <a:noFill/>
                        </a:ln>
                        <a:solidFill>
                          <a:schemeClr val="tx1"/>
                        </a:solidFill>
                        <a:effectLst/>
                        <a:latin typeface="Arial" pitchFamily="34" charset="0"/>
                        <a:ea typeface="宋体" pitchFamily="2" charset="-122"/>
                      </a:endParaRPr>
                    </a:p>
                  </a:txBody>
                  <a:tcPr marL="91452" marR="91452" marT="45713" marB="45713" horzOverflow="overflow">
                    <a:lnL w="127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14"/>
                  </a:ext>
                </a:extLst>
              </a:tr>
            </a:tbl>
          </a:graphicData>
        </a:graphic>
      </p:graphicFrame>
      <p:sp>
        <p:nvSpPr>
          <p:cNvPr id="73779" name="Text Box 238"/>
          <p:cNvSpPr txBox="1">
            <a:spLocks noChangeArrowheads="1"/>
          </p:cNvSpPr>
          <p:nvPr/>
        </p:nvSpPr>
        <p:spPr bwMode="auto">
          <a:xfrm>
            <a:off x="2084887" y="6302421"/>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SzPct val="100000"/>
              <a:buFont typeface="Wingdings" panose="05000000000000000000" pitchFamily="2" charset="2"/>
              <a:buNone/>
            </a:pPr>
            <a:r>
              <a:rPr lang="zh-CN" altLang="zh-CN" b="1" dirty="0">
                <a:latin typeface="Times New Roman" panose="02020603050405020304" pitchFamily="18" charset="0"/>
              </a:rPr>
              <a:t>可串行化的调度 </a:t>
            </a:r>
          </a:p>
        </p:txBody>
      </p:sp>
      <p:sp>
        <p:nvSpPr>
          <p:cNvPr id="73780" name="Text Box 239"/>
          <p:cNvSpPr txBox="1">
            <a:spLocks noChangeArrowheads="1"/>
          </p:cNvSpPr>
          <p:nvPr/>
        </p:nvSpPr>
        <p:spPr bwMode="auto">
          <a:xfrm>
            <a:off x="5940425" y="2276475"/>
            <a:ext cx="2952750"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执行结果与串行调度</a:t>
            </a:r>
            <a:r>
              <a:rPr lang="en-US" altLang="zh-CN" sz="2000" b="1">
                <a:latin typeface="Times New Roman" panose="02020603050405020304" pitchFamily="18" charset="0"/>
              </a:rPr>
              <a:t>(a)</a:t>
            </a:r>
            <a:r>
              <a:rPr lang="zh-CN" altLang="en-US" sz="2000" b="1">
                <a:latin typeface="Times New Roman" panose="02020603050405020304" pitchFamily="18" charset="0"/>
              </a:rPr>
              <a:t>的执行结果相同</a:t>
            </a:r>
          </a:p>
          <a:p>
            <a:pPr eaLnBrk="1" hangingPunct="1">
              <a:lnSpc>
                <a:spcPct val="170000"/>
              </a:lnSpc>
              <a:buSzPct val="100000"/>
              <a:buFont typeface="Wingdings" panose="05000000000000000000" pitchFamily="2" charset="2"/>
              <a:buChar char="n"/>
            </a:pPr>
            <a:r>
              <a:rPr lang="zh-CN" altLang="en-US" sz="2000" b="1">
                <a:latin typeface="Times New Roman" panose="02020603050405020304" pitchFamily="18" charset="0"/>
              </a:rPr>
              <a:t>是正确的调度 </a:t>
            </a:r>
          </a:p>
        </p:txBody>
      </p:sp>
    </p:spTree>
    <p:extLst>
      <p:ext uri="{BB962C8B-B14F-4D97-AF65-F5344CB8AC3E}">
        <p14:creationId xmlns:p14="http://schemas.microsoft.com/office/powerpoint/2010/main" val="17402690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714375" y="212725"/>
            <a:ext cx="7772400" cy="641350"/>
          </a:xfrm>
        </p:spPr>
        <p:txBody>
          <a:bodyPr/>
          <a:lstStyle/>
          <a:p>
            <a:pPr eaLnBrk="1" hangingPunct="1"/>
            <a:r>
              <a:rPr lang="zh-CN" altLang="en-US" sz="3600" dirty="0" smtClean="0"/>
              <a:t>冲突可串行化调度</a:t>
            </a:r>
            <a:endParaRPr lang="en-US" altLang="zh-CN" sz="3600" dirty="0" smtClean="0"/>
          </a:p>
        </p:txBody>
      </p:sp>
      <p:sp>
        <p:nvSpPr>
          <p:cNvPr id="75779" name="Rectangle 3"/>
          <p:cNvSpPr>
            <a:spLocks noGrp="1" noChangeArrowheads="1"/>
          </p:cNvSpPr>
          <p:nvPr>
            <p:ph type="body" idx="4294967295"/>
          </p:nvPr>
        </p:nvSpPr>
        <p:spPr>
          <a:xfrm>
            <a:off x="468313" y="1052513"/>
            <a:ext cx="8351837" cy="4984750"/>
          </a:xfrm>
        </p:spPr>
        <p:txBody>
          <a:bodyPr>
            <a:normAutofit fontScale="85000" lnSpcReduction="10000"/>
          </a:bodyPr>
          <a:lstStyle/>
          <a:p>
            <a:pPr eaLnBrk="1" hangingPunct="1">
              <a:lnSpc>
                <a:spcPct val="140000"/>
              </a:lnSpc>
            </a:pPr>
            <a:r>
              <a:rPr lang="zh-CN" altLang="en-US" dirty="0" smtClean="0">
                <a:solidFill>
                  <a:srgbClr val="FF0000"/>
                </a:solidFill>
              </a:rPr>
              <a:t>如何判断调度是可串行化的调度？？</a:t>
            </a:r>
            <a:endParaRPr lang="en-US" altLang="zh-CN" dirty="0" smtClean="0">
              <a:solidFill>
                <a:srgbClr val="FF0000"/>
              </a:solidFill>
            </a:endParaRPr>
          </a:p>
          <a:p>
            <a:pPr eaLnBrk="1" hangingPunct="1">
              <a:lnSpc>
                <a:spcPct val="140000"/>
              </a:lnSpc>
            </a:pPr>
            <a:r>
              <a:rPr lang="zh-CN" altLang="en-US" dirty="0" smtClean="0"/>
              <a:t>冲突可串行化</a:t>
            </a:r>
          </a:p>
          <a:p>
            <a:pPr lvl="1">
              <a:lnSpc>
                <a:spcPct val="140000"/>
              </a:lnSpc>
            </a:pPr>
            <a:r>
              <a:rPr lang="zh-CN" altLang="en-US" dirty="0" smtClean="0"/>
              <a:t>一个比可串行化更严格的条件</a:t>
            </a:r>
          </a:p>
          <a:p>
            <a:pPr lvl="1">
              <a:lnSpc>
                <a:spcPct val="140000"/>
              </a:lnSpc>
            </a:pPr>
            <a:r>
              <a:rPr lang="zh-CN" altLang="en-US" dirty="0" smtClean="0"/>
              <a:t>商用系统中的调度器采用</a:t>
            </a:r>
          </a:p>
          <a:p>
            <a:pPr eaLnBrk="1" hangingPunct="1">
              <a:lnSpc>
                <a:spcPct val="140000"/>
              </a:lnSpc>
            </a:pPr>
            <a:r>
              <a:rPr lang="zh-CN" altLang="en-US" dirty="0" smtClean="0">
                <a:solidFill>
                  <a:srgbClr val="FF0000"/>
                </a:solidFill>
              </a:rPr>
              <a:t>冲突操作</a:t>
            </a:r>
            <a:r>
              <a:rPr lang="zh-CN" altLang="en-US" dirty="0" smtClean="0"/>
              <a:t>：是指不同的事务对同一数据的读写操作和写写操作：</a:t>
            </a:r>
            <a:endParaRPr lang="en-US" altLang="zh-CN" dirty="0" smtClean="0"/>
          </a:p>
          <a:p>
            <a:pPr eaLnBrk="1" hangingPunct="1">
              <a:lnSpc>
                <a:spcPct val="140000"/>
              </a:lnSpc>
              <a:buFont typeface="Wingdings" panose="05000000000000000000" pitchFamily="2" charset="2"/>
              <a:buNone/>
            </a:pPr>
            <a:r>
              <a:rPr lang="en-US" altLang="zh-CN" dirty="0" smtClean="0"/>
              <a:t>  	  </a:t>
            </a:r>
            <a:r>
              <a:rPr lang="en-US" altLang="zh-CN" dirty="0" err="1" smtClean="0"/>
              <a:t>R</a:t>
            </a:r>
            <a:r>
              <a:rPr lang="en-US" altLang="zh-CN" baseline="-25000" dirty="0" err="1" smtClean="0"/>
              <a:t>i</a:t>
            </a:r>
            <a:r>
              <a:rPr lang="en-US" altLang="zh-CN" dirty="0" smtClean="0"/>
              <a:t>(x)</a:t>
            </a:r>
            <a:r>
              <a:rPr lang="zh-CN" altLang="en-US" dirty="0" smtClean="0"/>
              <a:t>与</a:t>
            </a:r>
            <a:r>
              <a:rPr lang="en-US" altLang="zh-CN" dirty="0" err="1" smtClean="0"/>
              <a:t>W</a:t>
            </a:r>
            <a:r>
              <a:rPr lang="en-US" altLang="zh-CN" baseline="-25000" dirty="0" err="1" smtClean="0"/>
              <a:t>j</a:t>
            </a:r>
            <a:r>
              <a:rPr lang="en-US" altLang="zh-CN" dirty="0" smtClean="0"/>
              <a:t>(x)	      </a:t>
            </a:r>
            <a:r>
              <a:rPr lang="en-US" altLang="zh-CN" sz="2400" dirty="0" smtClean="0"/>
              <a:t> /*</a:t>
            </a:r>
            <a:r>
              <a:rPr lang="zh-CN" altLang="en-US" sz="2400" dirty="0" smtClean="0"/>
              <a:t>事务</a:t>
            </a:r>
            <a:r>
              <a:rPr lang="en-US" altLang="zh-CN" sz="2400" dirty="0" err="1" smtClean="0"/>
              <a:t>T</a:t>
            </a:r>
            <a:r>
              <a:rPr lang="en-US" altLang="zh-CN" sz="2400" baseline="-25000" dirty="0" err="1" smtClean="0"/>
              <a:t>i</a:t>
            </a:r>
            <a:r>
              <a:rPr lang="zh-CN" altLang="en-US" sz="2400" dirty="0" smtClean="0"/>
              <a:t>读</a:t>
            </a:r>
            <a:r>
              <a:rPr lang="en-US" altLang="zh-CN" sz="2400" dirty="0" smtClean="0"/>
              <a:t>x</a:t>
            </a:r>
            <a:r>
              <a:rPr lang="zh-CN" altLang="en-US" sz="2400" dirty="0" smtClean="0"/>
              <a:t>，</a:t>
            </a:r>
            <a:r>
              <a:rPr lang="en-US" altLang="zh-CN" sz="2400" dirty="0" err="1" smtClean="0"/>
              <a:t>T</a:t>
            </a:r>
            <a:r>
              <a:rPr lang="en-US" altLang="zh-CN" sz="2400" baseline="-25000" dirty="0" err="1" smtClean="0"/>
              <a:t>j</a:t>
            </a:r>
            <a:r>
              <a:rPr lang="zh-CN" altLang="en-US" sz="2400" dirty="0" smtClean="0"/>
              <a:t>写</a:t>
            </a:r>
            <a:r>
              <a:rPr lang="en-US" altLang="zh-CN" sz="2400" dirty="0" smtClean="0"/>
              <a:t>x</a:t>
            </a:r>
            <a:r>
              <a:rPr lang="zh-CN" altLang="en-US" sz="2400" dirty="0" smtClean="0"/>
              <a:t>，其中</a:t>
            </a:r>
            <a:r>
              <a:rPr lang="en-US" altLang="zh-CN" sz="2400" dirty="0" err="1" smtClean="0"/>
              <a:t>i≠j</a:t>
            </a:r>
            <a:r>
              <a:rPr lang="en-US" altLang="zh-CN" sz="2400" dirty="0" smtClean="0"/>
              <a:t>*/</a:t>
            </a:r>
          </a:p>
          <a:p>
            <a:pPr eaLnBrk="1" hangingPunct="1">
              <a:lnSpc>
                <a:spcPct val="140000"/>
              </a:lnSpc>
              <a:buFont typeface="Wingdings" panose="05000000000000000000" pitchFamily="2" charset="2"/>
              <a:buNone/>
            </a:pPr>
            <a:r>
              <a:rPr lang="en-US" altLang="zh-CN" dirty="0" smtClean="0"/>
              <a:t>	  W</a:t>
            </a:r>
            <a:r>
              <a:rPr lang="en-US" altLang="zh-CN" baseline="-25000" dirty="0" smtClean="0"/>
              <a:t>i</a:t>
            </a:r>
            <a:r>
              <a:rPr lang="en-US" altLang="zh-CN" dirty="0" smtClean="0"/>
              <a:t>(x)</a:t>
            </a:r>
            <a:r>
              <a:rPr lang="zh-CN" altLang="en-US" dirty="0" smtClean="0"/>
              <a:t>与</a:t>
            </a:r>
            <a:r>
              <a:rPr lang="en-US" altLang="zh-CN" dirty="0" err="1" smtClean="0"/>
              <a:t>W</a:t>
            </a:r>
            <a:r>
              <a:rPr lang="en-US" altLang="zh-CN" baseline="-25000" dirty="0" err="1" smtClean="0"/>
              <a:t>j</a:t>
            </a:r>
            <a:r>
              <a:rPr lang="en-US" altLang="zh-CN" dirty="0" smtClean="0"/>
              <a:t>(x)                </a:t>
            </a:r>
            <a:r>
              <a:rPr lang="en-US" altLang="zh-CN" sz="2400" dirty="0" smtClean="0"/>
              <a:t> /*</a:t>
            </a:r>
            <a:r>
              <a:rPr lang="zh-CN" altLang="en-US" sz="2400" dirty="0" smtClean="0"/>
              <a:t>事务</a:t>
            </a:r>
            <a:r>
              <a:rPr lang="en-US" altLang="zh-CN" sz="2400" dirty="0" err="1" smtClean="0"/>
              <a:t>T</a:t>
            </a:r>
            <a:r>
              <a:rPr lang="en-US" altLang="zh-CN" sz="2400" baseline="-25000" dirty="0" err="1" smtClean="0"/>
              <a:t>i</a:t>
            </a:r>
            <a:r>
              <a:rPr lang="zh-CN" altLang="en-US" sz="2400" dirty="0" smtClean="0"/>
              <a:t>写</a:t>
            </a:r>
            <a:r>
              <a:rPr lang="en-US" altLang="zh-CN" sz="2400" dirty="0" smtClean="0"/>
              <a:t>x</a:t>
            </a:r>
            <a:r>
              <a:rPr lang="zh-CN" altLang="en-US" sz="2400" dirty="0" smtClean="0"/>
              <a:t>，</a:t>
            </a:r>
            <a:r>
              <a:rPr lang="en-US" altLang="zh-CN" sz="2400" dirty="0" err="1" smtClean="0"/>
              <a:t>T</a:t>
            </a:r>
            <a:r>
              <a:rPr lang="en-US" altLang="zh-CN" sz="2400" baseline="-25000" dirty="0" err="1" smtClean="0"/>
              <a:t>j</a:t>
            </a:r>
            <a:r>
              <a:rPr lang="zh-CN" altLang="en-US" sz="2400" dirty="0" smtClean="0"/>
              <a:t>写</a:t>
            </a:r>
            <a:r>
              <a:rPr lang="en-US" altLang="zh-CN" sz="2400" dirty="0" smtClean="0"/>
              <a:t>x</a:t>
            </a:r>
            <a:r>
              <a:rPr lang="zh-CN" altLang="en-US" sz="2400" dirty="0" smtClean="0"/>
              <a:t>，其中</a:t>
            </a:r>
            <a:r>
              <a:rPr lang="en-US" altLang="zh-CN" sz="2400" dirty="0" err="1" smtClean="0"/>
              <a:t>i≠j</a:t>
            </a:r>
            <a:r>
              <a:rPr lang="en-US" altLang="zh-CN" sz="2400" dirty="0" smtClean="0"/>
              <a:t>*/</a:t>
            </a:r>
          </a:p>
          <a:p>
            <a:pPr eaLnBrk="1" hangingPunct="1">
              <a:lnSpc>
                <a:spcPct val="140000"/>
              </a:lnSpc>
              <a:buFont typeface="Wingdings" panose="05000000000000000000" pitchFamily="2" charset="2"/>
              <a:buNone/>
            </a:pPr>
            <a:r>
              <a:rPr lang="en-US" altLang="zh-CN" dirty="0" smtClean="0"/>
              <a:t>  	 </a:t>
            </a:r>
            <a:r>
              <a:rPr lang="zh-CN" altLang="en-US" dirty="0" smtClean="0"/>
              <a:t>其他操作是不冲突操作</a:t>
            </a:r>
          </a:p>
        </p:txBody>
      </p:sp>
    </p:spTree>
    <p:extLst>
      <p:ext uri="{BB962C8B-B14F-4D97-AF65-F5344CB8AC3E}">
        <p14:creationId xmlns:p14="http://schemas.microsoft.com/office/powerpoint/2010/main" val="2867257422"/>
      </p:ext>
    </p:extLst>
  </p:cSld>
  <p:clrMapOvr>
    <a:masterClrMapping/>
  </p:clrMapOvr>
  <p:transition spd="med">
    <p:strips dir="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4294967295"/>
          </p:nvPr>
        </p:nvSpPr>
        <p:spPr>
          <a:xfrm>
            <a:off x="323850" y="1125538"/>
            <a:ext cx="8507413" cy="4737100"/>
          </a:xfrm>
        </p:spPr>
        <p:txBody>
          <a:bodyPr>
            <a:normAutofit fontScale="92500"/>
          </a:bodyPr>
          <a:lstStyle/>
          <a:p>
            <a:pPr eaLnBrk="1" hangingPunct="1">
              <a:lnSpc>
                <a:spcPct val="130000"/>
              </a:lnSpc>
            </a:pPr>
            <a:r>
              <a:rPr lang="zh-CN" altLang="en-US" dirty="0" smtClean="0"/>
              <a:t>一个调度</a:t>
            </a:r>
            <a:r>
              <a:rPr lang="en-US" altLang="zh-CN" dirty="0" err="1" smtClean="0"/>
              <a:t>Sc</a:t>
            </a:r>
            <a:r>
              <a:rPr lang="zh-CN" altLang="en-US" dirty="0" smtClean="0"/>
              <a:t>在保证冲突操作的次序不变的情况下，通过交换两个事务不冲突操作的次序得到另一个调度</a:t>
            </a:r>
            <a:r>
              <a:rPr lang="en-US" altLang="zh-CN" dirty="0" err="1" smtClean="0"/>
              <a:t>Sc</a:t>
            </a:r>
            <a:r>
              <a:rPr lang="en-US" altLang="zh-CN" dirty="0" smtClean="0"/>
              <a:t>’</a:t>
            </a:r>
            <a:r>
              <a:rPr lang="zh-CN" altLang="en-US" dirty="0" smtClean="0"/>
              <a:t>，如果</a:t>
            </a:r>
            <a:r>
              <a:rPr lang="en-US" altLang="zh-CN" dirty="0" err="1" smtClean="0"/>
              <a:t>Sc</a:t>
            </a:r>
            <a:r>
              <a:rPr lang="en-US" altLang="zh-CN" dirty="0" smtClean="0"/>
              <a:t>’</a:t>
            </a:r>
            <a:r>
              <a:rPr lang="zh-CN" altLang="en-US" dirty="0" smtClean="0"/>
              <a:t>是串行的，称调度</a:t>
            </a:r>
            <a:r>
              <a:rPr lang="en-US" altLang="zh-CN" dirty="0" err="1" smtClean="0"/>
              <a:t>Sc</a:t>
            </a:r>
            <a:r>
              <a:rPr lang="zh-CN" altLang="en-US" dirty="0" smtClean="0"/>
              <a:t>是</a:t>
            </a:r>
            <a:r>
              <a:rPr lang="zh-CN" altLang="en-US" dirty="0" smtClean="0">
                <a:solidFill>
                  <a:srgbClr val="FF00FF"/>
                </a:solidFill>
              </a:rPr>
              <a:t>冲突可串行化</a:t>
            </a:r>
            <a:r>
              <a:rPr lang="zh-CN" altLang="en-US" dirty="0" smtClean="0"/>
              <a:t>的调度</a:t>
            </a:r>
            <a:endParaRPr lang="en-US" altLang="zh-CN" dirty="0" smtClean="0"/>
          </a:p>
          <a:p>
            <a:pPr eaLnBrk="1" hangingPunct="1">
              <a:lnSpc>
                <a:spcPct val="130000"/>
              </a:lnSpc>
            </a:pPr>
            <a:r>
              <a:rPr lang="zh-CN" altLang="en-US" dirty="0" smtClean="0"/>
              <a:t>若一个调度是冲突可串行化，则一定是可串行化的调度</a:t>
            </a:r>
            <a:endParaRPr lang="en-US" altLang="zh-CN" dirty="0" smtClean="0"/>
          </a:p>
          <a:p>
            <a:pPr eaLnBrk="1" hangingPunct="1">
              <a:lnSpc>
                <a:spcPct val="130000"/>
              </a:lnSpc>
            </a:pPr>
            <a:r>
              <a:rPr lang="zh-CN" altLang="en-US" dirty="0" smtClean="0"/>
              <a:t>可用这种方法判断一个调度是否是冲突可串行化的</a:t>
            </a:r>
            <a:endParaRPr lang="en-US" altLang="zh-CN" dirty="0" smtClean="0"/>
          </a:p>
          <a:p>
            <a:r>
              <a:rPr lang="zh-CN" altLang="en-US" dirty="0">
                <a:solidFill>
                  <a:srgbClr val="FF0000"/>
                </a:solidFill>
              </a:rPr>
              <a:t>不能交换（</a:t>
            </a:r>
            <a:r>
              <a:rPr lang="en-US" altLang="zh-CN" dirty="0">
                <a:solidFill>
                  <a:srgbClr val="FF0000"/>
                </a:solidFill>
              </a:rPr>
              <a:t>Swap）</a:t>
            </a:r>
            <a:r>
              <a:rPr lang="zh-CN" altLang="en-US" dirty="0">
                <a:solidFill>
                  <a:srgbClr val="FF0000"/>
                </a:solidFill>
              </a:rPr>
              <a:t>的</a:t>
            </a:r>
            <a:r>
              <a:rPr lang="zh-CN" altLang="en-US" dirty="0" smtClean="0">
                <a:solidFill>
                  <a:srgbClr val="FF0000"/>
                </a:solidFill>
              </a:rPr>
              <a:t>动作 （在同一个数据的操作）</a:t>
            </a:r>
            <a:r>
              <a:rPr lang="en-US" altLang="zh-CN" dirty="0" smtClean="0">
                <a:solidFill>
                  <a:srgbClr val="FF0000"/>
                </a:solidFill>
              </a:rPr>
              <a:t>:</a:t>
            </a:r>
            <a:endParaRPr lang="en-US" altLang="zh-CN" dirty="0">
              <a:solidFill>
                <a:srgbClr val="FF0000"/>
              </a:solidFill>
            </a:endParaRPr>
          </a:p>
          <a:p>
            <a:pPr lvl="1">
              <a:lnSpc>
                <a:spcPct val="150000"/>
              </a:lnSpc>
            </a:pPr>
            <a:r>
              <a:rPr lang="zh-CN" altLang="en-US" sz="2800" dirty="0">
                <a:solidFill>
                  <a:srgbClr val="FF0000"/>
                </a:solidFill>
              </a:rPr>
              <a:t>同一事务的两个操作</a:t>
            </a:r>
            <a:endParaRPr lang="en-US" altLang="zh-CN" sz="2800" dirty="0">
              <a:solidFill>
                <a:srgbClr val="FF0000"/>
              </a:solidFill>
            </a:endParaRPr>
          </a:p>
          <a:p>
            <a:pPr lvl="1">
              <a:lnSpc>
                <a:spcPct val="150000"/>
              </a:lnSpc>
            </a:pPr>
            <a:r>
              <a:rPr lang="zh-CN" altLang="en-US" sz="2800" dirty="0">
                <a:solidFill>
                  <a:srgbClr val="FF0000"/>
                </a:solidFill>
              </a:rPr>
              <a:t>不同事务的冲突操作</a:t>
            </a:r>
            <a:endParaRPr lang="en-US" altLang="zh-CN" sz="2800" dirty="0">
              <a:solidFill>
                <a:srgbClr val="FF0000"/>
              </a:solidFill>
            </a:endParaRPr>
          </a:p>
          <a:p>
            <a:pPr eaLnBrk="1" hangingPunct="1">
              <a:lnSpc>
                <a:spcPct val="130000"/>
              </a:lnSpc>
            </a:pPr>
            <a:endParaRPr lang="en-US" altLang="zh-CN" dirty="0" smtClean="0"/>
          </a:p>
        </p:txBody>
      </p:sp>
      <p:sp>
        <p:nvSpPr>
          <p:cNvPr id="77827" name="Rectangle 5"/>
          <p:cNvSpPr>
            <a:spLocks noGrp="1" noChangeArrowheads="1"/>
          </p:cNvSpPr>
          <p:nvPr>
            <p:ph type="title" idx="4294967295"/>
          </p:nvPr>
        </p:nvSpPr>
        <p:spPr>
          <a:xfrm>
            <a:off x="71438" y="69850"/>
            <a:ext cx="8234362" cy="862013"/>
          </a:xfrm>
          <a:noFill/>
        </p:spPr>
        <p:txBody>
          <a:bodyPr/>
          <a:lstStyle/>
          <a:p>
            <a:pPr eaLnBrk="1" hangingPunct="1"/>
            <a:r>
              <a:rPr lang="zh-CN" altLang="en-US" sz="3700" smtClean="0"/>
              <a:t>冲突可串行化（续）</a:t>
            </a:r>
            <a:endParaRPr lang="en-US" altLang="zh-CN" smtClean="0"/>
          </a:p>
        </p:txBody>
      </p:sp>
    </p:spTree>
    <p:extLst>
      <p:ext uri="{BB962C8B-B14F-4D97-AF65-F5344CB8AC3E}">
        <p14:creationId xmlns:p14="http://schemas.microsoft.com/office/powerpoint/2010/main" val="569840541"/>
      </p:ext>
    </p:extLst>
  </p:cSld>
  <p:clrMapOvr>
    <a:masterClrMapping/>
  </p:clrMapOvr>
  <p:transition spd="med">
    <p:strips dir="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304800" y="3638550"/>
            <a:ext cx="8839200" cy="1698625"/>
          </a:xfrm>
        </p:spPr>
        <p:txBody>
          <a:bodyPr/>
          <a:lstStyle/>
          <a:p>
            <a:pPr>
              <a:lnSpc>
                <a:spcPct val="90000"/>
              </a:lnSpc>
              <a:buFont typeface="Wingdings" panose="05000000000000000000" pitchFamily="2" charset="2"/>
              <a:buNone/>
            </a:pPr>
            <a:r>
              <a:rPr lang="en-US" altLang="zh-CN" dirty="0" smtClean="0"/>
              <a:t>Sc</a:t>
            </a:r>
            <a:r>
              <a:rPr lang="en-US" altLang="zh-CN" baseline="-25000" dirty="0" smtClean="0"/>
              <a:t>2</a:t>
            </a:r>
            <a:r>
              <a:rPr lang="en-US" altLang="zh-CN" dirty="0" smtClean="0"/>
              <a:t>=r</a:t>
            </a:r>
            <a:r>
              <a:rPr lang="en-US" altLang="zh-CN" baseline="-25000" dirty="0" smtClean="0"/>
              <a:t>1</a:t>
            </a:r>
            <a:r>
              <a:rPr lang="en-US" altLang="zh-CN" dirty="0" smtClean="0"/>
              <a:t>(A)w</a:t>
            </a:r>
            <a:r>
              <a:rPr lang="en-US" altLang="zh-CN" baseline="-25000" dirty="0" smtClean="0"/>
              <a:t>1</a:t>
            </a:r>
            <a:r>
              <a:rPr lang="en-US" altLang="zh-CN" dirty="0" smtClean="0"/>
              <a:t>(A)</a:t>
            </a:r>
            <a:r>
              <a:rPr lang="en-US" altLang="zh-CN" dirty="0" smtClean="0">
                <a:solidFill>
                  <a:srgbClr val="0D51B5"/>
                </a:solidFill>
              </a:rPr>
              <a:t>r</a:t>
            </a:r>
            <a:r>
              <a:rPr lang="en-US" altLang="zh-CN" baseline="-25000" dirty="0" smtClean="0">
                <a:solidFill>
                  <a:srgbClr val="0D51B5"/>
                </a:solidFill>
              </a:rPr>
              <a:t>1</a:t>
            </a:r>
            <a:r>
              <a:rPr lang="en-US" altLang="zh-CN" dirty="0" smtClean="0">
                <a:solidFill>
                  <a:srgbClr val="0D51B5"/>
                </a:solidFill>
              </a:rPr>
              <a:t>(B)w</a:t>
            </a:r>
            <a:r>
              <a:rPr lang="en-US" altLang="zh-CN" baseline="-25000" dirty="0" smtClean="0">
                <a:solidFill>
                  <a:srgbClr val="0D51B5"/>
                </a:solidFill>
              </a:rPr>
              <a:t>1</a:t>
            </a:r>
            <a:r>
              <a:rPr lang="en-US" altLang="zh-CN" dirty="0" smtClean="0">
                <a:solidFill>
                  <a:srgbClr val="0D51B5"/>
                </a:solidFill>
              </a:rPr>
              <a:t>(B)</a:t>
            </a:r>
            <a:r>
              <a:rPr lang="en-US" altLang="zh-CN" dirty="0" smtClean="0">
                <a:solidFill>
                  <a:srgbClr val="DB0D3E"/>
                </a:solidFill>
              </a:rPr>
              <a:t>r</a:t>
            </a:r>
            <a:r>
              <a:rPr lang="en-US" altLang="zh-CN" baseline="-25000" dirty="0" smtClean="0">
                <a:solidFill>
                  <a:srgbClr val="DB0D3E"/>
                </a:solidFill>
              </a:rPr>
              <a:t>2</a:t>
            </a:r>
            <a:r>
              <a:rPr lang="en-US" altLang="zh-CN" dirty="0" smtClean="0">
                <a:solidFill>
                  <a:srgbClr val="DB0D3E"/>
                </a:solidFill>
              </a:rPr>
              <a:t>(A)w</a:t>
            </a:r>
            <a:r>
              <a:rPr lang="en-US" altLang="zh-CN" baseline="-25000" dirty="0" smtClean="0">
                <a:solidFill>
                  <a:srgbClr val="DB0D3E"/>
                </a:solidFill>
              </a:rPr>
              <a:t>2</a:t>
            </a:r>
            <a:r>
              <a:rPr lang="en-US" altLang="zh-CN" dirty="0" smtClean="0">
                <a:solidFill>
                  <a:srgbClr val="DB0D3E"/>
                </a:solidFill>
              </a:rPr>
              <a:t>(A)</a:t>
            </a:r>
            <a:r>
              <a:rPr lang="en-US" altLang="zh-CN" dirty="0" smtClean="0"/>
              <a:t>r</a:t>
            </a:r>
            <a:r>
              <a:rPr lang="en-US" altLang="zh-CN" baseline="-25000" dirty="0" smtClean="0"/>
              <a:t>2</a:t>
            </a:r>
            <a:r>
              <a:rPr lang="en-US" altLang="zh-CN" dirty="0" smtClean="0"/>
              <a:t>(B)w</a:t>
            </a:r>
            <a:r>
              <a:rPr lang="en-US" altLang="zh-CN" baseline="-25000" dirty="0" smtClean="0"/>
              <a:t>2</a:t>
            </a:r>
            <a:r>
              <a:rPr lang="en-US" altLang="zh-CN" dirty="0" smtClean="0"/>
              <a:t>(B)</a:t>
            </a:r>
          </a:p>
          <a:p>
            <a:pPr>
              <a:lnSpc>
                <a:spcPct val="90000"/>
              </a:lnSpc>
              <a:buFont typeface="Wingdings" panose="05000000000000000000" pitchFamily="2" charset="2"/>
              <a:buNone/>
            </a:pPr>
            <a:endParaRPr lang="en-US" altLang="zh-CN" sz="2400" dirty="0" smtClean="0"/>
          </a:p>
          <a:p>
            <a:pPr>
              <a:lnSpc>
                <a:spcPct val="90000"/>
              </a:lnSpc>
              <a:buFont typeface="Wingdings" panose="05000000000000000000" pitchFamily="2" charset="2"/>
              <a:buNone/>
            </a:pPr>
            <a:r>
              <a:rPr lang="en-US" altLang="zh-CN" sz="1600" dirty="0" smtClean="0"/>
              <a:t>			             </a:t>
            </a:r>
            <a:r>
              <a:rPr lang="en-US" altLang="zh-CN" dirty="0" smtClean="0"/>
              <a:t>T</a:t>
            </a:r>
            <a:r>
              <a:rPr lang="en-US" altLang="zh-CN" sz="1800" dirty="0" smtClean="0"/>
              <a:t>1                                                    </a:t>
            </a:r>
            <a:r>
              <a:rPr lang="en-US" altLang="zh-CN" dirty="0" smtClean="0"/>
              <a:t>T</a:t>
            </a:r>
            <a:r>
              <a:rPr lang="en-US" altLang="zh-CN" sz="1800" dirty="0" smtClean="0"/>
              <a:t>2</a:t>
            </a:r>
          </a:p>
        </p:txBody>
      </p:sp>
      <p:sp>
        <p:nvSpPr>
          <p:cNvPr id="78851" name="AutoShape 3"/>
          <p:cNvSpPr>
            <a:spLocks/>
          </p:cNvSpPr>
          <p:nvPr/>
        </p:nvSpPr>
        <p:spPr bwMode="auto">
          <a:xfrm rot="-5400000">
            <a:off x="2602707" y="2758281"/>
            <a:ext cx="381000" cy="3097213"/>
          </a:xfrm>
          <a:prstGeom prst="leftBrace">
            <a:avLst>
              <a:gd name="adj1" fmla="val 760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2" name="AutoShape 4"/>
          <p:cNvSpPr>
            <a:spLocks/>
          </p:cNvSpPr>
          <p:nvPr/>
        </p:nvSpPr>
        <p:spPr bwMode="auto">
          <a:xfrm rot="-5400000">
            <a:off x="5825332" y="2786856"/>
            <a:ext cx="469900" cy="3119437"/>
          </a:xfrm>
          <a:prstGeom prst="leftBrace">
            <a:avLst>
              <a:gd name="adj1" fmla="val 5993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3" name="Line 5"/>
          <p:cNvSpPr>
            <a:spLocks noChangeShapeType="1"/>
          </p:cNvSpPr>
          <p:nvPr/>
        </p:nvSpPr>
        <p:spPr bwMode="auto">
          <a:xfrm flipH="1">
            <a:off x="3492500" y="3046413"/>
            <a:ext cx="1752600" cy="533400"/>
          </a:xfrm>
          <a:prstGeom prst="line">
            <a:avLst/>
          </a:prstGeom>
          <a:noFill/>
          <a:ln w="9525">
            <a:solidFill>
              <a:srgbClr val="0D51B5"/>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4" name="Line 6"/>
          <p:cNvSpPr>
            <a:spLocks noChangeShapeType="1"/>
          </p:cNvSpPr>
          <p:nvPr/>
        </p:nvSpPr>
        <p:spPr bwMode="auto">
          <a:xfrm>
            <a:off x="3600450" y="3000375"/>
            <a:ext cx="1828800" cy="609600"/>
          </a:xfrm>
          <a:prstGeom prst="line">
            <a:avLst/>
          </a:prstGeom>
          <a:noFill/>
          <a:ln w="9525">
            <a:solidFill>
              <a:srgbClr val="DB0D3E"/>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5" name="Rectangle 7"/>
          <p:cNvSpPr>
            <a:spLocks noChangeArrowheads="1"/>
          </p:cNvSpPr>
          <p:nvPr/>
        </p:nvSpPr>
        <p:spPr bwMode="auto">
          <a:xfrm>
            <a:off x="285750" y="1214438"/>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800" b="1"/>
              <a:t>[</a:t>
            </a:r>
            <a:r>
              <a:rPr lang="zh-CN" altLang="en-US" sz="2800" b="1"/>
              <a:t>例</a:t>
            </a:r>
            <a:r>
              <a:rPr lang="en-US" altLang="zh-CN" sz="2800" b="1"/>
              <a:t>11.3] </a:t>
            </a:r>
            <a:r>
              <a:rPr lang="zh-CN" altLang="zh-CN" sz="2800" b="1"/>
              <a:t>今有调度</a:t>
            </a:r>
            <a:endParaRPr lang="en-US" altLang="zh-CN" sz="2800" b="1"/>
          </a:p>
          <a:p>
            <a:pPr eaLnBrk="1" hangingPunct="1">
              <a:buFont typeface="Wingdings" panose="05000000000000000000" pitchFamily="2" charset="2"/>
              <a:buNone/>
            </a:pPr>
            <a:endParaRPr lang="en-US" altLang="zh-CN" sz="2800" b="1"/>
          </a:p>
          <a:p>
            <a:pPr eaLnBrk="1" hangingPunct="1">
              <a:buFont typeface="Wingdings" panose="05000000000000000000" pitchFamily="2" charset="2"/>
              <a:buNone/>
            </a:pPr>
            <a:r>
              <a:rPr lang="en-US" altLang="zh-CN" sz="2800" b="1"/>
              <a:t>Sc</a:t>
            </a:r>
            <a:r>
              <a:rPr lang="en-US" altLang="zh-CN" sz="2800" b="1" baseline="-25000"/>
              <a:t>1</a:t>
            </a:r>
            <a:r>
              <a:rPr lang="en-US" altLang="zh-CN" sz="2800" b="1"/>
              <a:t>=r</a:t>
            </a:r>
            <a:r>
              <a:rPr lang="en-US" altLang="zh-CN" sz="2800" b="1" baseline="-25000"/>
              <a:t>1</a:t>
            </a:r>
            <a:r>
              <a:rPr lang="en-US" altLang="zh-CN" sz="2800" b="1"/>
              <a:t>(A)w</a:t>
            </a:r>
            <a:r>
              <a:rPr lang="en-US" altLang="zh-CN" sz="2800" b="1" baseline="-25000"/>
              <a:t>1</a:t>
            </a:r>
            <a:r>
              <a:rPr lang="en-US" altLang="zh-CN" sz="2800" b="1"/>
              <a:t>(A)</a:t>
            </a:r>
            <a:r>
              <a:rPr lang="en-US" altLang="zh-CN" sz="2800" b="1">
                <a:solidFill>
                  <a:srgbClr val="DB0D3E"/>
                </a:solidFill>
              </a:rPr>
              <a:t>r</a:t>
            </a:r>
            <a:r>
              <a:rPr lang="en-US" altLang="zh-CN" sz="2800" b="1" baseline="-25000">
                <a:solidFill>
                  <a:srgbClr val="DB0D3E"/>
                </a:solidFill>
              </a:rPr>
              <a:t>2</a:t>
            </a:r>
            <a:r>
              <a:rPr lang="en-US" altLang="zh-CN" sz="2800" b="1">
                <a:solidFill>
                  <a:srgbClr val="DB0D3E"/>
                </a:solidFill>
              </a:rPr>
              <a:t>(A)w</a:t>
            </a:r>
            <a:r>
              <a:rPr lang="en-US" altLang="zh-CN" sz="2800" b="1" baseline="-25000">
                <a:solidFill>
                  <a:srgbClr val="DB0D3E"/>
                </a:solidFill>
              </a:rPr>
              <a:t>2</a:t>
            </a:r>
            <a:r>
              <a:rPr lang="en-US" altLang="zh-CN" sz="2800" b="1">
                <a:solidFill>
                  <a:srgbClr val="DB0D3E"/>
                </a:solidFill>
              </a:rPr>
              <a:t>(A)</a:t>
            </a:r>
            <a:r>
              <a:rPr lang="en-US" altLang="zh-CN" sz="2800" b="1">
                <a:solidFill>
                  <a:srgbClr val="0D51B5"/>
                </a:solidFill>
              </a:rPr>
              <a:t>r</a:t>
            </a:r>
            <a:r>
              <a:rPr lang="en-US" altLang="zh-CN" sz="2800" b="1" baseline="-25000">
                <a:solidFill>
                  <a:srgbClr val="0D51B5"/>
                </a:solidFill>
              </a:rPr>
              <a:t>1</a:t>
            </a:r>
            <a:r>
              <a:rPr lang="en-US" altLang="zh-CN" sz="2800" b="1">
                <a:solidFill>
                  <a:srgbClr val="0D51B5"/>
                </a:solidFill>
              </a:rPr>
              <a:t>(B)w</a:t>
            </a:r>
            <a:r>
              <a:rPr lang="en-US" altLang="zh-CN" sz="2800" b="1" baseline="-25000">
                <a:solidFill>
                  <a:srgbClr val="0D51B5"/>
                </a:solidFill>
              </a:rPr>
              <a:t>1</a:t>
            </a:r>
            <a:r>
              <a:rPr lang="en-US" altLang="zh-CN" sz="2800" b="1">
                <a:solidFill>
                  <a:srgbClr val="0D51B5"/>
                </a:solidFill>
              </a:rPr>
              <a:t>(B)</a:t>
            </a:r>
            <a:r>
              <a:rPr lang="en-US" altLang="zh-CN" sz="2800" b="1"/>
              <a:t>r</a:t>
            </a:r>
            <a:r>
              <a:rPr lang="en-US" altLang="zh-CN" sz="2800" b="1" baseline="-25000"/>
              <a:t>2</a:t>
            </a:r>
            <a:r>
              <a:rPr lang="en-US" altLang="zh-CN" sz="2800" b="1"/>
              <a:t>(B)w</a:t>
            </a:r>
            <a:r>
              <a:rPr lang="en-US" altLang="zh-CN" sz="2800" b="1" baseline="-25000"/>
              <a:t>2</a:t>
            </a:r>
            <a:r>
              <a:rPr lang="en-US" altLang="zh-CN" sz="2800" b="1"/>
              <a:t>(B)</a:t>
            </a:r>
          </a:p>
        </p:txBody>
      </p:sp>
      <p:sp>
        <p:nvSpPr>
          <p:cNvPr id="78856" name="AutoShape 8"/>
          <p:cNvSpPr>
            <a:spLocks/>
          </p:cNvSpPr>
          <p:nvPr/>
        </p:nvSpPr>
        <p:spPr bwMode="auto">
          <a:xfrm rot="-5400000">
            <a:off x="3430588" y="2030413"/>
            <a:ext cx="304800" cy="1517650"/>
          </a:xfrm>
          <a:prstGeom prst="leftBrace">
            <a:avLst>
              <a:gd name="adj1" fmla="val 4495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8857" name="AutoShape 9"/>
          <p:cNvSpPr>
            <a:spLocks/>
          </p:cNvSpPr>
          <p:nvPr/>
        </p:nvSpPr>
        <p:spPr bwMode="auto">
          <a:xfrm rot="-5400000">
            <a:off x="5052219" y="2070894"/>
            <a:ext cx="304800" cy="1471612"/>
          </a:xfrm>
          <a:prstGeom prst="leftBrace">
            <a:avLst>
              <a:gd name="adj1" fmla="val 4358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97802" name="Rectangle 10"/>
          <p:cNvSpPr>
            <a:spLocks noChangeArrowheads="1"/>
          </p:cNvSpPr>
          <p:nvPr/>
        </p:nvSpPr>
        <p:spPr bwMode="auto">
          <a:xfrm>
            <a:off x="381000" y="5157788"/>
            <a:ext cx="8583613"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1"/>
              <a:t>Sc</a:t>
            </a:r>
            <a:r>
              <a:rPr lang="en-US" altLang="zh-CN" sz="2400" b="1" baseline="-25000"/>
              <a:t>2</a:t>
            </a:r>
            <a:r>
              <a:rPr lang="zh-CN" altLang="zh-CN" sz="2400" b="1"/>
              <a:t>等价于一个串行调度</a:t>
            </a:r>
            <a:r>
              <a:rPr lang="en-US" altLang="zh-CN" sz="2400" b="1"/>
              <a:t>T</a:t>
            </a:r>
            <a:r>
              <a:rPr lang="en-US" altLang="zh-CN" sz="2400" b="1" baseline="-25000"/>
              <a:t>1</a:t>
            </a:r>
            <a:r>
              <a:rPr lang="zh-CN" altLang="zh-CN" sz="2400" b="1"/>
              <a:t>，</a:t>
            </a:r>
            <a:r>
              <a:rPr lang="en-US" altLang="zh-CN" sz="2400" b="1"/>
              <a:t>T</a:t>
            </a:r>
            <a:r>
              <a:rPr lang="en-US" altLang="zh-CN" sz="2400" b="1" baseline="-25000"/>
              <a:t>2</a:t>
            </a:r>
            <a:r>
              <a:rPr lang="zh-CN" altLang="zh-CN" sz="2400" b="1"/>
              <a:t>。所以</a:t>
            </a:r>
            <a:r>
              <a:rPr lang="en-US" altLang="zh-CN" sz="2400" b="1"/>
              <a:t>Sc</a:t>
            </a:r>
            <a:r>
              <a:rPr lang="en-US" altLang="zh-CN" sz="2400" b="1" baseline="-25000"/>
              <a:t>1</a:t>
            </a:r>
            <a:r>
              <a:rPr lang="zh-CN" altLang="zh-CN" sz="2400" b="1"/>
              <a:t>冲突可串行化的调度</a:t>
            </a:r>
            <a:endParaRPr lang="en-US" altLang="zh-CN" sz="2400" b="1"/>
          </a:p>
        </p:txBody>
      </p:sp>
      <p:sp>
        <p:nvSpPr>
          <p:cNvPr id="78859" name="Rectangle 5"/>
          <p:cNvSpPr>
            <a:spLocks noGrp="1" noChangeArrowheads="1"/>
          </p:cNvSpPr>
          <p:nvPr>
            <p:ph type="title"/>
          </p:nvPr>
        </p:nvSpPr>
        <p:spPr>
          <a:xfrm>
            <a:off x="225425" y="44450"/>
            <a:ext cx="8234363" cy="862013"/>
          </a:xfrm>
          <a:noFill/>
        </p:spPr>
        <p:txBody>
          <a:bodyPr/>
          <a:lstStyle/>
          <a:p>
            <a:r>
              <a:rPr lang="zh-CN" altLang="en-US" sz="3600" dirty="0" smtClean="0"/>
              <a:t>冲突可串行化（续）</a:t>
            </a:r>
            <a:endParaRPr lang="en-US" altLang="zh-CN" sz="3600" dirty="0" smtClean="0"/>
          </a:p>
        </p:txBody>
      </p:sp>
    </p:spTree>
    <p:extLst>
      <p:ext uri="{BB962C8B-B14F-4D97-AF65-F5344CB8AC3E}">
        <p14:creationId xmlns:p14="http://schemas.microsoft.com/office/powerpoint/2010/main" val="1541130141"/>
      </p:ext>
    </p:extLst>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7802"/>
                                        </p:tgtEl>
                                        <p:attrNameLst>
                                          <p:attrName>style.visibility</p:attrName>
                                        </p:attrNameLst>
                                      </p:cBhvr>
                                      <p:to>
                                        <p:strVal val="visible"/>
                                      </p:to>
                                    </p:set>
                                    <p:anim calcmode="lin" valueType="num">
                                      <p:cBhvr additive="base">
                                        <p:cTn id="7" dur="500" fill="hold"/>
                                        <p:tgtEl>
                                          <p:spTgt spid="1697802"/>
                                        </p:tgtEl>
                                        <p:attrNameLst>
                                          <p:attrName>ppt_x</p:attrName>
                                        </p:attrNameLst>
                                      </p:cBhvr>
                                      <p:tavLst>
                                        <p:tav tm="0">
                                          <p:val>
                                            <p:strVal val="0-#ppt_w/2"/>
                                          </p:val>
                                        </p:tav>
                                        <p:tav tm="100000">
                                          <p:val>
                                            <p:strVal val="#ppt_x"/>
                                          </p:val>
                                        </p:tav>
                                      </p:tavLst>
                                    </p:anim>
                                    <p:anim calcmode="lin" valueType="num">
                                      <p:cBhvr additive="base">
                                        <p:cTn id="8" dur="500" fill="hold"/>
                                        <p:tgtEl>
                                          <p:spTgt spid="1697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802"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body" idx="1"/>
          </p:nvPr>
        </p:nvSpPr>
        <p:spPr>
          <a:xfrm>
            <a:off x="552596" y="1657350"/>
            <a:ext cx="8839200" cy="1698625"/>
          </a:xfrm>
        </p:spPr>
        <p:txBody>
          <a:bodyPr/>
          <a:lstStyle/>
          <a:p>
            <a:pPr>
              <a:lnSpc>
                <a:spcPct val="90000"/>
              </a:lnSpc>
              <a:buFont typeface="Wingdings" panose="05000000000000000000" pitchFamily="2" charset="2"/>
              <a:buNone/>
            </a:pPr>
            <a:r>
              <a:rPr lang="en-US" altLang="zh-CN" dirty="0" smtClean="0"/>
              <a:t>Sc</a:t>
            </a:r>
            <a:r>
              <a:rPr lang="en-US" altLang="zh-CN" baseline="-25000" dirty="0" smtClean="0"/>
              <a:t>0</a:t>
            </a:r>
            <a:r>
              <a:rPr lang="en-US" altLang="zh-CN" dirty="0" smtClean="0"/>
              <a:t>=r</a:t>
            </a:r>
            <a:r>
              <a:rPr lang="en-US" altLang="zh-CN" baseline="-25000" dirty="0" smtClean="0"/>
              <a:t>1</a:t>
            </a:r>
            <a:r>
              <a:rPr lang="en-US" altLang="zh-CN" dirty="0" smtClean="0"/>
              <a:t>(A)w</a:t>
            </a:r>
            <a:r>
              <a:rPr lang="en-US" altLang="zh-CN" baseline="-25000" dirty="0" smtClean="0"/>
              <a:t>1</a:t>
            </a:r>
            <a:r>
              <a:rPr lang="en-US" altLang="zh-CN" dirty="0" smtClean="0"/>
              <a:t>(A)</a:t>
            </a:r>
            <a:r>
              <a:rPr lang="en-US" altLang="zh-CN" dirty="0" smtClean="0">
                <a:solidFill>
                  <a:srgbClr val="0D51B5"/>
                </a:solidFill>
              </a:rPr>
              <a:t>r</a:t>
            </a:r>
            <a:r>
              <a:rPr lang="en-US" altLang="zh-CN" baseline="-25000" dirty="0" smtClean="0">
                <a:solidFill>
                  <a:srgbClr val="0D51B5"/>
                </a:solidFill>
              </a:rPr>
              <a:t>1</a:t>
            </a:r>
            <a:r>
              <a:rPr lang="en-US" altLang="zh-CN" dirty="0" smtClean="0">
                <a:solidFill>
                  <a:srgbClr val="0D51B5"/>
                </a:solidFill>
              </a:rPr>
              <a:t>(B)w</a:t>
            </a:r>
            <a:r>
              <a:rPr lang="en-US" altLang="zh-CN" baseline="-25000" dirty="0" smtClean="0">
                <a:solidFill>
                  <a:srgbClr val="0D51B5"/>
                </a:solidFill>
              </a:rPr>
              <a:t>1</a:t>
            </a:r>
            <a:r>
              <a:rPr lang="en-US" altLang="zh-CN" dirty="0" smtClean="0">
                <a:solidFill>
                  <a:srgbClr val="0D51B5"/>
                </a:solidFill>
              </a:rPr>
              <a:t>(B)</a:t>
            </a:r>
            <a:r>
              <a:rPr lang="en-US" altLang="zh-CN" dirty="0" smtClean="0">
                <a:solidFill>
                  <a:srgbClr val="DB0D3E"/>
                </a:solidFill>
              </a:rPr>
              <a:t>r</a:t>
            </a:r>
            <a:r>
              <a:rPr lang="en-US" altLang="zh-CN" baseline="-25000" dirty="0" smtClean="0">
                <a:solidFill>
                  <a:srgbClr val="DB0D3E"/>
                </a:solidFill>
              </a:rPr>
              <a:t>2</a:t>
            </a:r>
            <a:r>
              <a:rPr lang="en-US" altLang="zh-CN" dirty="0" smtClean="0">
                <a:solidFill>
                  <a:srgbClr val="DB0D3E"/>
                </a:solidFill>
              </a:rPr>
              <a:t>(A)w</a:t>
            </a:r>
            <a:r>
              <a:rPr lang="en-US" altLang="zh-CN" baseline="-25000" dirty="0" smtClean="0">
                <a:solidFill>
                  <a:srgbClr val="DB0D3E"/>
                </a:solidFill>
              </a:rPr>
              <a:t>2</a:t>
            </a:r>
            <a:r>
              <a:rPr lang="en-US" altLang="zh-CN" dirty="0" smtClean="0">
                <a:solidFill>
                  <a:srgbClr val="DB0D3E"/>
                </a:solidFill>
              </a:rPr>
              <a:t>(A)</a:t>
            </a:r>
            <a:r>
              <a:rPr lang="en-US" altLang="zh-CN" dirty="0" smtClean="0"/>
              <a:t>r</a:t>
            </a:r>
            <a:r>
              <a:rPr lang="en-US" altLang="zh-CN" baseline="-25000" dirty="0" smtClean="0"/>
              <a:t>2</a:t>
            </a:r>
            <a:r>
              <a:rPr lang="en-US" altLang="zh-CN" dirty="0" smtClean="0"/>
              <a:t>(B)w</a:t>
            </a:r>
            <a:r>
              <a:rPr lang="en-US" altLang="zh-CN" baseline="-25000" dirty="0" smtClean="0"/>
              <a:t>2</a:t>
            </a:r>
            <a:r>
              <a:rPr lang="en-US" altLang="zh-CN" dirty="0" smtClean="0"/>
              <a:t>(B)</a:t>
            </a:r>
          </a:p>
          <a:p>
            <a:pPr>
              <a:lnSpc>
                <a:spcPct val="90000"/>
              </a:lnSpc>
              <a:buFont typeface="Wingdings" panose="05000000000000000000" pitchFamily="2" charset="2"/>
              <a:buNone/>
            </a:pPr>
            <a:endParaRPr lang="en-US" altLang="zh-CN" sz="2400" dirty="0" smtClean="0"/>
          </a:p>
          <a:p>
            <a:pPr>
              <a:lnSpc>
                <a:spcPct val="90000"/>
              </a:lnSpc>
              <a:buFont typeface="Wingdings" panose="05000000000000000000" pitchFamily="2" charset="2"/>
              <a:buNone/>
            </a:pPr>
            <a:r>
              <a:rPr lang="en-US" altLang="zh-CN" sz="1600" dirty="0" smtClean="0"/>
              <a:t>			             </a:t>
            </a:r>
            <a:r>
              <a:rPr lang="en-US" altLang="zh-CN" dirty="0" smtClean="0"/>
              <a:t>T</a:t>
            </a:r>
            <a:r>
              <a:rPr lang="en-US" altLang="zh-CN" sz="1800" dirty="0" smtClean="0"/>
              <a:t>1                                                    </a:t>
            </a:r>
            <a:r>
              <a:rPr lang="en-US" altLang="zh-CN" dirty="0" smtClean="0"/>
              <a:t>T</a:t>
            </a:r>
            <a:r>
              <a:rPr lang="en-US" altLang="zh-CN" sz="1800" dirty="0" smtClean="0"/>
              <a:t>2</a:t>
            </a:r>
          </a:p>
        </p:txBody>
      </p:sp>
      <p:sp>
        <p:nvSpPr>
          <p:cNvPr id="78855" name="Rectangle 7"/>
          <p:cNvSpPr>
            <a:spLocks noChangeArrowheads="1"/>
          </p:cNvSpPr>
          <p:nvPr/>
        </p:nvSpPr>
        <p:spPr bwMode="auto">
          <a:xfrm>
            <a:off x="541338" y="3578021"/>
            <a:ext cx="8458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en-US" altLang="zh-CN" sz="2800" b="1" dirty="0"/>
          </a:p>
          <a:p>
            <a:pPr eaLnBrk="1" hangingPunct="1">
              <a:buFont typeface="Wingdings" panose="05000000000000000000" pitchFamily="2" charset="2"/>
              <a:buNone/>
            </a:pPr>
            <a:r>
              <a:rPr lang="en-US" altLang="zh-CN" sz="2800" b="1" dirty="0"/>
              <a:t>Sc</a:t>
            </a:r>
            <a:r>
              <a:rPr lang="en-US" altLang="zh-CN" sz="2800" b="1" baseline="-25000" dirty="0"/>
              <a:t>1</a:t>
            </a:r>
            <a:r>
              <a:rPr lang="en-US" altLang="zh-CN" sz="2800" b="1" dirty="0"/>
              <a:t>=r</a:t>
            </a:r>
            <a:r>
              <a:rPr lang="en-US" altLang="zh-CN" sz="2800" b="1" baseline="-25000" dirty="0"/>
              <a:t>1</a:t>
            </a:r>
            <a:r>
              <a:rPr lang="en-US" altLang="zh-CN" sz="2800" b="1" dirty="0"/>
              <a:t>(A)w</a:t>
            </a:r>
            <a:r>
              <a:rPr lang="en-US" altLang="zh-CN" sz="2800" b="1" baseline="-25000" dirty="0"/>
              <a:t>1</a:t>
            </a:r>
            <a:r>
              <a:rPr lang="en-US" altLang="zh-CN" sz="2800" b="1" dirty="0"/>
              <a:t>(A)</a:t>
            </a:r>
            <a:r>
              <a:rPr lang="en-US" altLang="zh-CN" sz="2800" b="1" dirty="0">
                <a:solidFill>
                  <a:srgbClr val="DB0D3E"/>
                </a:solidFill>
              </a:rPr>
              <a:t>r</a:t>
            </a:r>
            <a:r>
              <a:rPr lang="en-US" altLang="zh-CN" sz="2800" b="1" baseline="-25000" dirty="0">
                <a:solidFill>
                  <a:srgbClr val="DB0D3E"/>
                </a:solidFill>
              </a:rPr>
              <a:t>2</a:t>
            </a:r>
            <a:r>
              <a:rPr lang="en-US" altLang="zh-CN" sz="2800" b="1" dirty="0">
                <a:solidFill>
                  <a:srgbClr val="DB0D3E"/>
                </a:solidFill>
              </a:rPr>
              <a:t>(A</a:t>
            </a:r>
            <a:r>
              <a:rPr lang="en-US" altLang="zh-CN" sz="2800" b="1" dirty="0" smtClean="0">
                <a:solidFill>
                  <a:srgbClr val="DB0D3E"/>
                </a:solidFill>
              </a:rPr>
              <a:t>)</a:t>
            </a:r>
            <a:r>
              <a:rPr lang="en-US" altLang="zh-CN" sz="2800" b="1" dirty="0">
                <a:solidFill>
                  <a:srgbClr val="0D51B5"/>
                </a:solidFill>
              </a:rPr>
              <a:t> r</a:t>
            </a:r>
            <a:r>
              <a:rPr lang="en-US" altLang="zh-CN" sz="2800" b="1" baseline="-25000" dirty="0">
                <a:solidFill>
                  <a:srgbClr val="0D51B5"/>
                </a:solidFill>
              </a:rPr>
              <a:t>1</a:t>
            </a:r>
            <a:r>
              <a:rPr lang="en-US" altLang="zh-CN" sz="2800" b="1" dirty="0">
                <a:solidFill>
                  <a:srgbClr val="0D51B5"/>
                </a:solidFill>
              </a:rPr>
              <a:t>(B)</a:t>
            </a:r>
            <a:r>
              <a:rPr lang="en-US" altLang="zh-CN" sz="2800" b="1" dirty="0" smtClean="0">
                <a:solidFill>
                  <a:srgbClr val="DB0D3E"/>
                </a:solidFill>
              </a:rPr>
              <a:t>w</a:t>
            </a:r>
            <a:r>
              <a:rPr lang="en-US" altLang="zh-CN" sz="2800" b="1" baseline="-25000" dirty="0" smtClean="0">
                <a:solidFill>
                  <a:srgbClr val="DB0D3E"/>
                </a:solidFill>
              </a:rPr>
              <a:t>2</a:t>
            </a:r>
            <a:r>
              <a:rPr lang="en-US" altLang="zh-CN" sz="2800" b="1" dirty="0" smtClean="0">
                <a:solidFill>
                  <a:srgbClr val="DB0D3E"/>
                </a:solidFill>
              </a:rPr>
              <a:t>(A)</a:t>
            </a:r>
            <a:r>
              <a:rPr lang="en-US" altLang="zh-CN" sz="2800" b="1" dirty="0" smtClean="0">
                <a:solidFill>
                  <a:srgbClr val="0D51B5"/>
                </a:solidFill>
              </a:rPr>
              <a:t> w</a:t>
            </a:r>
            <a:r>
              <a:rPr lang="en-US" altLang="zh-CN" sz="2800" b="1" baseline="-25000" dirty="0" smtClean="0">
                <a:solidFill>
                  <a:srgbClr val="0D51B5"/>
                </a:solidFill>
              </a:rPr>
              <a:t>1</a:t>
            </a:r>
            <a:r>
              <a:rPr lang="en-US" altLang="zh-CN" sz="2800" b="1" dirty="0" smtClean="0">
                <a:solidFill>
                  <a:srgbClr val="0D51B5"/>
                </a:solidFill>
              </a:rPr>
              <a:t>(B)</a:t>
            </a:r>
            <a:r>
              <a:rPr lang="en-US" altLang="zh-CN" sz="2800" b="1" dirty="0" smtClean="0"/>
              <a:t>r</a:t>
            </a:r>
            <a:r>
              <a:rPr lang="en-US" altLang="zh-CN" sz="2800" b="1" baseline="-25000" dirty="0" smtClean="0"/>
              <a:t>2</a:t>
            </a:r>
            <a:r>
              <a:rPr lang="en-US" altLang="zh-CN" sz="2800" b="1" dirty="0" smtClean="0"/>
              <a:t>(B)w</a:t>
            </a:r>
            <a:r>
              <a:rPr lang="en-US" altLang="zh-CN" sz="2800" b="1" baseline="-25000" dirty="0" smtClean="0"/>
              <a:t>2</a:t>
            </a:r>
            <a:r>
              <a:rPr lang="en-US" altLang="zh-CN" sz="2800" b="1" dirty="0" smtClean="0"/>
              <a:t>(B</a:t>
            </a:r>
            <a:r>
              <a:rPr lang="en-US" altLang="zh-CN" sz="2800" b="1" dirty="0"/>
              <a:t>)</a:t>
            </a:r>
          </a:p>
        </p:txBody>
      </p:sp>
      <p:sp>
        <p:nvSpPr>
          <p:cNvPr id="1697802" name="Rectangle 10"/>
          <p:cNvSpPr>
            <a:spLocks noChangeArrowheads="1"/>
          </p:cNvSpPr>
          <p:nvPr/>
        </p:nvSpPr>
        <p:spPr bwMode="auto">
          <a:xfrm>
            <a:off x="680389" y="5095467"/>
            <a:ext cx="8583613"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2400" b="1" dirty="0" smtClean="0"/>
              <a:t>Sc</a:t>
            </a:r>
            <a:r>
              <a:rPr lang="en-US" altLang="zh-CN" sz="2400" b="1" baseline="-25000" dirty="0" smtClean="0"/>
              <a:t>1</a:t>
            </a:r>
            <a:r>
              <a:rPr lang="zh-CN" altLang="en-US" sz="2400" b="1" dirty="0" smtClean="0"/>
              <a:t>是否</a:t>
            </a:r>
            <a:r>
              <a:rPr lang="zh-CN" altLang="zh-CN" sz="2400" b="1" dirty="0" smtClean="0"/>
              <a:t>冲突</a:t>
            </a:r>
            <a:r>
              <a:rPr lang="zh-CN" altLang="zh-CN" sz="2400" b="1" dirty="0"/>
              <a:t>可串行化的</a:t>
            </a:r>
            <a:r>
              <a:rPr lang="zh-CN" altLang="zh-CN" sz="2400" b="1" dirty="0" smtClean="0"/>
              <a:t>调度</a:t>
            </a:r>
            <a:r>
              <a:rPr lang="zh-CN" altLang="en-US" sz="2400" b="1" dirty="0" smtClean="0"/>
              <a:t>？</a:t>
            </a:r>
            <a:endParaRPr lang="en-US" altLang="zh-CN" sz="2400" b="1" dirty="0"/>
          </a:p>
        </p:txBody>
      </p:sp>
      <p:sp>
        <p:nvSpPr>
          <p:cNvPr id="78859" name="Rectangle 5"/>
          <p:cNvSpPr>
            <a:spLocks noGrp="1" noChangeArrowheads="1"/>
          </p:cNvSpPr>
          <p:nvPr>
            <p:ph type="title"/>
          </p:nvPr>
        </p:nvSpPr>
        <p:spPr>
          <a:xfrm>
            <a:off x="225425" y="44450"/>
            <a:ext cx="8234363" cy="862013"/>
          </a:xfrm>
          <a:noFill/>
        </p:spPr>
        <p:txBody>
          <a:bodyPr/>
          <a:lstStyle/>
          <a:p>
            <a:r>
              <a:rPr lang="zh-CN" altLang="en-US" sz="3600" dirty="0" smtClean="0"/>
              <a:t>冲突可串行化（续）</a:t>
            </a:r>
            <a:endParaRPr lang="en-US" altLang="zh-CN" sz="3600" dirty="0" smtClean="0"/>
          </a:p>
        </p:txBody>
      </p:sp>
    </p:spTree>
    <p:extLst>
      <p:ext uri="{BB962C8B-B14F-4D97-AF65-F5344CB8AC3E}">
        <p14:creationId xmlns:p14="http://schemas.microsoft.com/office/powerpoint/2010/main" val="843921894"/>
      </p:ext>
    </p:extLst>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7802"/>
                                        </p:tgtEl>
                                        <p:attrNameLst>
                                          <p:attrName>style.visibility</p:attrName>
                                        </p:attrNameLst>
                                      </p:cBhvr>
                                      <p:to>
                                        <p:strVal val="visible"/>
                                      </p:to>
                                    </p:set>
                                    <p:anim calcmode="lin" valueType="num">
                                      <p:cBhvr additive="base">
                                        <p:cTn id="7" dur="500" fill="hold"/>
                                        <p:tgtEl>
                                          <p:spTgt spid="1697802"/>
                                        </p:tgtEl>
                                        <p:attrNameLst>
                                          <p:attrName>ppt_x</p:attrName>
                                        </p:attrNameLst>
                                      </p:cBhvr>
                                      <p:tavLst>
                                        <p:tav tm="0">
                                          <p:val>
                                            <p:strVal val="0-#ppt_w/2"/>
                                          </p:val>
                                        </p:tav>
                                        <p:tav tm="100000">
                                          <p:val>
                                            <p:strVal val="#ppt_x"/>
                                          </p:val>
                                        </p:tav>
                                      </p:tavLst>
                                    </p:anim>
                                    <p:anim calcmode="lin" valueType="num">
                                      <p:cBhvr additive="base">
                                        <p:cTn id="8" dur="500" fill="hold"/>
                                        <p:tgtEl>
                                          <p:spTgt spid="1697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802"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en-US" altLang="zh-CN" sz="3600" dirty="0" smtClean="0"/>
              <a:t> 5. </a:t>
            </a:r>
            <a:r>
              <a:rPr lang="zh-CN" altLang="en-US" sz="3600" dirty="0" smtClean="0"/>
              <a:t>两段锁协议</a:t>
            </a:r>
            <a:endParaRPr lang="zh-CN" altLang="zh-CN" sz="3600" dirty="0" smtClean="0"/>
          </a:p>
        </p:txBody>
      </p:sp>
      <p:sp>
        <p:nvSpPr>
          <p:cNvPr id="81923" name="Rectangle 3"/>
          <p:cNvSpPr>
            <a:spLocks noGrp="1" noChangeArrowheads="1"/>
          </p:cNvSpPr>
          <p:nvPr>
            <p:ph type="body" idx="4294967295"/>
          </p:nvPr>
        </p:nvSpPr>
        <p:spPr>
          <a:xfrm>
            <a:off x="457200" y="981075"/>
            <a:ext cx="8229600" cy="4984750"/>
          </a:xfrm>
        </p:spPr>
        <p:txBody>
          <a:bodyPr>
            <a:normAutofit fontScale="92500" lnSpcReduction="10000"/>
          </a:bodyPr>
          <a:lstStyle/>
          <a:p>
            <a:pPr eaLnBrk="1" hangingPunct="1">
              <a:lnSpc>
                <a:spcPct val="150000"/>
              </a:lnSpc>
            </a:pPr>
            <a:r>
              <a:rPr lang="zh-CN" altLang="en-US" dirty="0" smtClean="0"/>
              <a:t>数据库管理系统普遍采用两段锁协议的方法实现并发调度的可串行性，从而保证调度的正确性 </a:t>
            </a:r>
          </a:p>
          <a:p>
            <a:pPr eaLnBrk="1" hangingPunct="1">
              <a:lnSpc>
                <a:spcPct val="150000"/>
              </a:lnSpc>
            </a:pPr>
            <a:r>
              <a:rPr lang="zh-CN" altLang="en-US" dirty="0" smtClean="0"/>
              <a:t>两段锁协议，事务</a:t>
            </a:r>
            <a:r>
              <a:rPr lang="zh-CN" altLang="en-US" dirty="0"/>
              <a:t>分为两个阶段</a:t>
            </a:r>
          </a:p>
          <a:p>
            <a:pPr lvl="1">
              <a:lnSpc>
                <a:spcPct val="150000"/>
              </a:lnSpc>
            </a:pPr>
            <a:r>
              <a:rPr lang="zh-CN" altLang="en-US" dirty="0"/>
              <a:t> 第一阶段是获得封锁，也称为扩展阶段 </a:t>
            </a:r>
            <a:r>
              <a:rPr lang="en-GB" altLang="zh-CN" dirty="0">
                <a:latin typeface="Tahoma" panose="020B0604030504040204" pitchFamily="34" charset="0"/>
              </a:rPr>
              <a:t>Growing Phase</a:t>
            </a:r>
            <a:endParaRPr lang="zh-CN" altLang="en-US" dirty="0"/>
          </a:p>
          <a:p>
            <a:pPr lvl="2">
              <a:lnSpc>
                <a:spcPct val="150000"/>
              </a:lnSpc>
              <a:buSzPct val="87000"/>
              <a:buFont typeface="Wingdings" panose="05000000000000000000" pitchFamily="2" charset="2"/>
              <a:buChar char="l"/>
            </a:pPr>
            <a:r>
              <a:rPr lang="zh-CN" altLang="en-US" sz="2200" dirty="0"/>
              <a:t>事务可以申请获得任何数据项上的任何类型的锁，但是不能释放任何锁 </a:t>
            </a:r>
          </a:p>
          <a:p>
            <a:pPr lvl="1">
              <a:lnSpc>
                <a:spcPct val="150000"/>
              </a:lnSpc>
            </a:pPr>
            <a:r>
              <a:rPr lang="zh-CN" altLang="en-US" dirty="0"/>
              <a:t> 第二阶段是释放封锁，也称为收缩阶段</a:t>
            </a:r>
            <a:r>
              <a:rPr lang="en-GB" altLang="zh-CN" dirty="0">
                <a:latin typeface="Tahoma" panose="020B0604030504040204" pitchFamily="34" charset="0"/>
              </a:rPr>
              <a:t>Shrinking Phase</a:t>
            </a:r>
            <a:endParaRPr lang="zh-CN" altLang="en-US" dirty="0"/>
          </a:p>
          <a:p>
            <a:pPr lvl="2">
              <a:lnSpc>
                <a:spcPct val="150000"/>
              </a:lnSpc>
              <a:buSzPct val="87000"/>
              <a:buFont typeface="Wingdings" panose="05000000000000000000" pitchFamily="2" charset="2"/>
              <a:buChar char="l"/>
            </a:pPr>
            <a:r>
              <a:rPr lang="zh-CN" altLang="en-US" sz="2200" dirty="0"/>
              <a:t>事务可以释放任何数据项上的任何类型的锁，但是不能再申请任何锁 </a:t>
            </a:r>
          </a:p>
        </p:txBody>
      </p:sp>
    </p:spTree>
    <p:extLst>
      <p:ext uri="{BB962C8B-B14F-4D97-AF65-F5344CB8AC3E}">
        <p14:creationId xmlns:p14="http://schemas.microsoft.com/office/powerpoint/2010/main" val="4137244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115888"/>
            <a:ext cx="7772400" cy="649287"/>
          </a:xfrm>
        </p:spPr>
        <p:txBody>
          <a:bodyPr/>
          <a:lstStyle/>
          <a:p>
            <a:r>
              <a:rPr lang="zh-CN" altLang="zh-CN" sz="3200" dirty="0"/>
              <a:t>两段锁</a:t>
            </a:r>
            <a:r>
              <a:rPr lang="zh-CN" altLang="zh-CN" sz="3200" dirty="0" smtClean="0"/>
              <a:t>协议</a:t>
            </a:r>
            <a:r>
              <a:rPr lang="zh-CN" altLang="en-US" sz="3200" dirty="0" smtClean="0"/>
              <a:t>示例</a:t>
            </a:r>
            <a:endParaRPr lang="en-US" altLang="ko-KR" sz="3000" dirty="0" smtClean="0">
              <a:ea typeface="Gulim" pitchFamily="34" charset="-127"/>
            </a:endParaRPr>
          </a:p>
        </p:txBody>
      </p:sp>
      <p:grpSp>
        <p:nvGrpSpPr>
          <p:cNvPr id="54275" name="Group 3"/>
          <p:cNvGrpSpPr>
            <a:grpSpLocks/>
          </p:cNvGrpSpPr>
          <p:nvPr/>
        </p:nvGrpSpPr>
        <p:grpSpPr bwMode="auto">
          <a:xfrm>
            <a:off x="2282825" y="1248458"/>
            <a:ext cx="4953000" cy="5334000"/>
            <a:chOff x="1438" y="663"/>
            <a:chExt cx="3120" cy="3360"/>
          </a:xfrm>
        </p:grpSpPr>
        <p:sp>
          <p:nvSpPr>
            <p:cNvPr id="54296" name="Rectangle 4"/>
            <p:cNvSpPr>
              <a:spLocks noChangeArrowheads="1"/>
            </p:cNvSpPr>
            <p:nvPr/>
          </p:nvSpPr>
          <p:spPr bwMode="auto">
            <a:xfrm>
              <a:off x="1438" y="663"/>
              <a:ext cx="3072" cy="3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7" name="Line 5"/>
            <p:cNvSpPr>
              <a:spLocks noChangeShapeType="1"/>
            </p:cNvSpPr>
            <p:nvPr/>
          </p:nvSpPr>
          <p:spPr bwMode="auto">
            <a:xfrm>
              <a:off x="1534" y="961"/>
              <a:ext cx="288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8" name="Line 6"/>
            <p:cNvSpPr>
              <a:spLocks noChangeShapeType="1"/>
            </p:cNvSpPr>
            <p:nvPr/>
          </p:nvSpPr>
          <p:spPr bwMode="auto">
            <a:xfrm>
              <a:off x="2926" y="961"/>
              <a:ext cx="0" cy="301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9" name="Text Box 7"/>
            <p:cNvSpPr txBox="1">
              <a:spLocks noChangeArrowheads="1"/>
            </p:cNvSpPr>
            <p:nvPr/>
          </p:nvSpPr>
          <p:spPr bwMode="auto">
            <a:xfrm>
              <a:off x="1726" y="1047"/>
              <a:ext cx="1314" cy="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rPr>
                <a:t>lock</a:t>
              </a:r>
              <a:r>
                <a:rPr kumimoji="1" lang="en-US" altLang="ko-KR" u="sng">
                  <a:latin typeface="Times New Roman" panose="02020603050405020304" pitchFamily="18" charset="0"/>
                  <a:ea typeface="Gulim" pitchFamily="34" charset="-127"/>
                </a:rPr>
                <a:t>(x)</a:t>
              </a:r>
              <a:endParaRPr kumimoji="1" lang="en-US" altLang="ko-KR">
                <a:latin typeface="Times New Roman" panose="02020603050405020304" pitchFamily="18" charset="0"/>
                <a:ea typeface="Gulim" pitchFamily="34" charset="-127"/>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rPr>
                <a:t>read</a:t>
              </a:r>
              <a:r>
                <a:rPr kumimoji="1" lang="en-US" altLang="ko-KR">
                  <a:latin typeface="Times New Roman" panose="02020603050405020304" pitchFamily="18" charset="0"/>
                  <a:ea typeface="Gulim" pitchFamily="34" charset="-127"/>
                </a:rPr>
                <a:t>(x)</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rPr>
                <a:t>x </a:t>
              </a:r>
              <a:r>
                <a:rPr kumimoji="1" lang="en-US" altLang="ko-KR">
                  <a:latin typeface="Times New Roman" panose="02020603050405020304" pitchFamily="18" charset="0"/>
                  <a:ea typeface="Gulim" pitchFamily="34" charset="-127"/>
                  <a:sym typeface="Wingdings" panose="05000000000000000000" pitchFamily="2" charset="2"/>
                </a:rPr>
                <a:t> x  + 100</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lock</a:t>
              </a:r>
              <a:r>
                <a:rPr kumimoji="1" lang="en-US" altLang="ko-KR" u="sng">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(x)</a:t>
              </a: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read</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sym typeface="Wingdings" panose="05000000000000000000" pitchFamily="2" charset="2"/>
                </a:rPr>
                <a:t>y</a:t>
              </a:r>
              <a:r>
                <a:rPr kumimoji="1" lang="en-US" altLang="ko-KR">
                  <a:latin typeface="Times New Roman" panose="02020603050405020304" pitchFamily="18" charset="0"/>
                  <a:ea typeface="Gulim" pitchFamily="34" charset="-127"/>
                </a:rPr>
                <a:t> </a:t>
              </a:r>
              <a:r>
                <a:rPr kumimoji="1" lang="en-US" altLang="ko-KR">
                  <a:latin typeface="Times New Roman" panose="02020603050405020304" pitchFamily="18" charset="0"/>
                  <a:ea typeface="Gulim" pitchFamily="34" charset="-127"/>
                  <a:sym typeface="Wingdings" panose="05000000000000000000" pitchFamily="2" charset="2"/>
                </a:rPr>
                <a:t> y + 100</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(y)</a:t>
              </a:r>
              <a:endParaRPr kumimoji="1" lang="en-US" altLang="ko-KR">
                <a:latin typeface="Times New Roman" panose="02020603050405020304" pitchFamily="18" charset="0"/>
                <a:ea typeface="Gulim" pitchFamily="34" charset="-127"/>
                <a:sym typeface="Wingdings" panose="05000000000000000000" pitchFamily="2" charset="2"/>
              </a:endParaRPr>
            </a:p>
          </p:txBody>
        </p:sp>
        <p:sp>
          <p:nvSpPr>
            <p:cNvPr id="54300" name="Text Box 8"/>
            <p:cNvSpPr txBox="1">
              <a:spLocks noChangeArrowheads="1"/>
            </p:cNvSpPr>
            <p:nvPr/>
          </p:nvSpPr>
          <p:spPr bwMode="auto">
            <a:xfrm>
              <a:off x="2686" y="711"/>
              <a:ext cx="5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spcBef>
                  <a:spcPct val="50000"/>
                </a:spcBef>
              </a:pPr>
              <a:r>
                <a:rPr kumimoji="1" lang="en-US" altLang="ko-KR" sz="2000">
                  <a:latin typeface="Times New Roman" panose="02020603050405020304" pitchFamily="18" charset="0"/>
                  <a:ea typeface="Gulim" pitchFamily="34" charset="-127"/>
                </a:rPr>
                <a:t>Time</a:t>
              </a:r>
            </a:p>
          </p:txBody>
        </p:sp>
        <p:sp>
          <p:nvSpPr>
            <p:cNvPr id="54301" name="Text Box 9"/>
            <p:cNvSpPr txBox="1">
              <a:spLocks noChangeArrowheads="1"/>
            </p:cNvSpPr>
            <p:nvPr/>
          </p:nvSpPr>
          <p:spPr bwMode="auto">
            <a:xfrm>
              <a:off x="1726" y="711"/>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latinLnBrk="1" hangingPunct="1">
                <a:spcBef>
                  <a:spcPct val="50000"/>
                </a:spcBef>
              </a:pPr>
              <a:r>
                <a:rPr kumimoji="1" lang="en-US" altLang="ko-KR" sz="2000">
                  <a:latin typeface="Times New Roman" panose="02020603050405020304" pitchFamily="18" charset="0"/>
                  <a:ea typeface="Gulim" pitchFamily="34" charset="-127"/>
                </a:rPr>
                <a:t>T</a:t>
              </a:r>
              <a:r>
                <a:rPr kumimoji="1" lang="en-US" altLang="ko-KR" sz="2000" baseline="-25000">
                  <a:latin typeface="Times New Roman" panose="02020603050405020304" pitchFamily="18" charset="0"/>
                  <a:ea typeface="Gulim" pitchFamily="34" charset="-127"/>
                </a:rPr>
                <a:t>1</a:t>
              </a:r>
            </a:p>
          </p:txBody>
        </p:sp>
        <p:sp>
          <p:nvSpPr>
            <p:cNvPr id="54302" name="Text Box 10"/>
            <p:cNvSpPr txBox="1">
              <a:spLocks noChangeArrowheads="1"/>
            </p:cNvSpPr>
            <p:nvPr/>
          </p:nvSpPr>
          <p:spPr bwMode="auto">
            <a:xfrm>
              <a:off x="3166" y="711"/>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latinLnBrk="1" hangingPunct="1">
                <a:spcBef>
                  <a:spcPct val="50000"/>
                </a:spcBef>
              </a:pPr>
              <a:r>
                <a:rPr kumimoji="1" lang="en-US" altLang="ko-KR" sz="2000">
                  <a:latin typeface="Times New Roman" panose="02020603050405020304" pitchFamily="18" charset="0"/>
                  <a:ea typeface="Gulim" pitchFamily="34" charset="-127"/>
                </a:rPr>
                <a:t>T</a:t>
              </a:r>
              <a:r>
                <a:rPr kumimoji="1" lang="en-US" altLang="ko-KR" sz="2000" baseline="-25000">
                  <a:latin typeface="Times New Roman" panose="02020603050405020304" pitchFamily="18" charset="0"/>
                  <a:ea typeface="Gulim" pitchFamily="34" charset="-127"/>
                </a:rPr>
                <a:t>2</a:t>
              </a:r>
            </a:p>
          </p:txBody>
        </p:sp>
        <p:sp>
          <p:nvSpPr>
            <p:cNvPr id="54303" name="Text Box 11"/>
            <p:cNvSpPr txBox="1">
              <a:spLocks noChangeArrowheads="1"/>
            </p:cNvSpPr>
            <p:nvPr/>
          </p:nvSpPr>
          <p:spPr bwMode="auto">
            <a:xfrm>
              <a:off x="3244" y="1919"/>
              <a:ext cx="1314" cy="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rPr>
                <a:t>lock</a:t>
              </a:r>
              <a:r>
                <a:rPr kumimoji="1" lang="en-US" altLang="ko-KR" u="sng">
                  <a:latin typeface="Times New Roman" panose="02020603050405020304" pitchFamily="18" charset="0"/>
                  <a:ea typeface="Gulim" pitchFamily="34" charset="-127"/>
                </a:rPr>
                <a:t>(x)</a:t>
              </a:r>
              <a:endParaRPr kumimoji="1" lang="en-US" altLang="ko-KR">
                <a:latin typeface="Times New Roman" panose="02020603050405020304" pitchFamily="18" charset="0"/>
                <a:ea typeface="Gulim" pitchFamily="34" charset="-127"/>
              </a:endParaRP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rPr>
                <a:t>read</a:t>
              </a:r>
              <a:r>
                <a:rPr kumimoji="1" lang="en-US" altLang="ko-KR">
                  <a:latin typeface="Times New Roman" panose="02020603050405020304" pitchFamily="18" charset="0"/>
                  <a:ea typeface="Gulim" pitchFamily="34" charset="-127"/>
                </a:rPr>
                <a:t>(x)</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rPr>
                <a:t>x </a:t>
              </a:r>
              <a:r>
                <a:rPr kumimoji="1" lang="en-US" altLang="ko-KR">
                  <a:latin typeface="Times New Roman" panose="02020603050405020304" pitchFamily="18" charset="0"/>
                  <a:ea typeface="Gulim" pitchFamily="34" charset="-127"/>
                  <a:sym typeface="Wingdings" panose="05000000000000000000" pitchFamily="2" charset="2"/>
                </a:rPr>
                <a:t> x * 2</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endParaRPr kumimoji="1" lang="en-US" altLang="ko-KR">
                <a:latin typeface="Times New Roman" panose="02020603050405020304" pitchFamily="18" charset="0"/>
                <a:ea typeface="Gulim" pitchFamily="34" charset="-127"/>
                <a:sym typeface="Wingdings" panose="05000000000000000000" pitchFamily="2" charset="2"/>
              </a:endParaRP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lock</a:t>
              </a:r>
              <a:r>
                <a:rPr kumimoji="1" lang="en-US" altLang="ko-KR" u="sng">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(x)</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read</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a:latin typeface="Times New Roman" panose="02020603050405020304" pitchFamily="18" charset="0"/>
                  <a:ea typeface="Gulim" pitchFamily="34" charset="-127"/>
                  <a:sym typeface="Wingdings" panose="05000000000000000000" pitchFamily="2" charset="2"/>
                </a:rPr>
                <a:t>y</a:t>
              </a:r>
              <a:r>
                <a:rPr kumimoji="1" lang="en-US" altLang="ko-KR">
                  <a:latin typeface="Times New Roman" panose="02020603050405020304" pitchFamily="18" charset="0"/>
                  <a:ea typeface="Gulim" pitchFamily="34" charset="-127"/>
                </a:rPr>
                <a:t> </a:t>
              </a:r>
              <a:r>
                <a:rPr kumimoji="1" lang="en-US" altLang="ko-KR">
                  <a:latin typeface="Times New Roman" panose="02020603050405020304" pitchFamily="18" charset="0"/>
                  <a:ea typeface="Gulim" pitchFamily="34" charset="-127"/>
                  <a:sym typeface="Wingdings" panose="05000000000000000000" pitchFamily="2" charset="2"/>
                </a:rPr>
                <a:t> y * 2</a:t>
              </a:r>
            </a:p>
            <a:p>
              <a:pPr eaLnBrk="1" latinLnBrk="1" hangingPunct="1">
                <a:lnSpc>
                  <a:spcPct val="30000"/>
                </a:lnSpc>
                <a:spcBef>
                  <a:spcPct val="50000"/>
                </a:spcBef>
              </a:pPr>
              <a:r>
                <a:rPr kumimoji="1" lang="en-US" altLang="ko-KR" b="1">
                  <a:latin typeface="Times New Roman" panose="02020603050405020304" pitchFamily="18" charset="0"/>
                  <a:ea typeface="Gulim" pitchFamily="34" charset="-127"/>
                  <a:sym typeface="Wingdings" panose="05000000000000000000" pitchFamily="2" charset="2"/>
                </a:rPr>
                <a:t>write</a:t>
              </a:r>
              <a:r>
                <a:rPr kumimoji="1" lang="en-US" altLang="ko-KR">
                  <a:latin typeface="Times New Roman" panose="02020603050405020304" pitchFamily="18" charset="0"/>
                  <a:ea typeface="Gulim" pitchFamily="34" charset="-127"/>
                  <a:sym typeface="Wingdings" panose="05000000000000000000" pitchFamily="2" charset="2"/>
                </a:rPr>
                <a:t>(y)</a:t>
              </a:r>
            </a:p>
            <a:p>
              <a:pPr eaLnBrk="1" latinLnBrk="1" hangingPunct="1">
                <a:lnSpc>
                  <a:spcPct val="30000"/>
                </a:lnSpc>
                <a:spcBef>
                  <a:spcPct val="50000"/>
                </a:spcBef>
              </a:pPr>
              <a:r>
                <a:rPr kumimoji="1" lang="en-US" altLang="ko-KR" b="1" u="sng">
                  <a:latin typeface="Times New Roman" panose="02020603050405020304" pitchFamily="18" charset="0"/>
                  <a:ea typeface="Gulim" pitchFamily="34" charset="-127"/>
                  <a:sym typeface="Wingdings" panose="05000000000000000000" pitchFamily="2" charset="2"/>
                </a:rPr>
                <a:t>unlock</a:t>
              </a:r>
              <a:r>
                <a:rPr kumimoji="1" lang="en-US" altLang="ko-KR" u="sng">
                  <a:latin typeface="Times New Roman" panose="02020603050405020304" pitchFamily="18" charset="0"/>
                  <a:ea typeface="Gulim" pitchFamily="34" charset="-127"/>
                  <a:sym typeface="Wingdings" panose="05000000000000000000" pitchFamily="2" charset="2"/>
                </a:rPr>
                <a:t>(y)</a:t>
              </a:r>
            </a:p>
          </p:txBody>
        </p:sp>
      </p:grpSp>
      <p:sp>
        <p:nvSpPr>
          <p:cNvPr id="54276" name="Text Box 12"/>
          <p:cNvSpPr txBox="1">
            <a:spLocks noChangeArrowheads="1"/>
          </p:cNvSpPr>
          <p:nvPr/>
        </p:nvSpPr>
        <p:spPr bwMode="auto">
          <a:xfrm>
            <a:off x="204334" y="1232446"/>
            <a:ext cx="1498600" cy="854075"/>
          </a:xfrm>
          <a:prstGeom prst="rect">
            <a:avLst/>
          </a:prstGeom>
          <a:solidFill>
            <a:srgbClr val="00FFCC">
              <a:alpha val="49019"/>
            </a:srgbClr>
          </a:solidFill>
          <a:ln w="28575" algn="ctr">
            <a:solidFill>
              <a:srgbClr val="993366"/>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ko-KR" sz="1600" b="1">
                <a:latin typeface="Times New Roman" panose="02020603050405020304" pitchFamily="18" charset="0"/>
                <a:ea typeface="Gulim" pitchFamily="34" charset="-127"/>
              </a:rPr>
              <a:t>T1:</a:t>
            </a:r>
          </a:p>
          <a:p>
            <a:r>
              <a:rPr lang="en-US" altLang="ko-KR" sz="1600" b="1">
                <a:latin typeface="Times New Roman" panose="02020603050405020304" pitchFamily="18" charset="0"/>
                <a:ea typeface="Gulim" pitchFamily="34" charset="-127"/>
              </a:rPr>
              <a:t>     X = X + 100</a:t>
            </a:r>
          </a:p>
          <a:p>
            <a:r>
              <a:rPr lang="en-US" altLang="ko-KR" sz="1600" b="1">
                <a:latin typeface="Times New Roman" panose="02020603050405020304" pitchFamily="18" charset="0"/>
                <a:ea typeface="Gulim" pitchFamily="34" charset="-127"/>
              </a:rPr>
              <a:t>     Y = Y + 100</a:t>
            </a:r>
          </a:p>
        </p:txBody>
      </p:sp>
      <p:sp>
        <p:nvSpPr>
          <p:cNvPr id="54277" name="Text Box 13"/>
          <p:cNvSpPr txBox="1">
            <a:spLocks noChangeArrowheads="1"/>
          </p:cNvSpPr>
          <p:nvPr/>
        </p:nvSpPr>
        <p:spPr bwMode="auto">
          <a:xfrm>
            <a:off x="7753078" y="1324658"/>
            <a:ext cx="1281113" cy="854075"/>
          </a:xfrm>
          <a:prstGeom prst="rect">
            <a:avLst/>
          </a:prstGeom>
          <a:solidFill>
            <a:srgbClr val="00FFCC">
              <a:alpha val="49019"/>
            </a:srgbClr>
          </a:solidFill>
          <a:ln w="28575" algn="ctr">
            <a:solidFill>
              <a:srgbClr val="993366"/>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ko-KR" sz="1600" b="1">
                <a:latin typeface="Times New Roman" panose="02020603050405020304" pitchFamily="18" charset="0"/>
                <a:ea typeface="Gulim" pitchFamily="34" charset="-127"/>
              </a:rPr>
              <a:t>T2:</a:t>
            </a:r>
          </a:p>
          <a:p>
            <a:r>
              <a:rPr lang="en-US" altLang="ko-KR" sz="1600" b="1">
                <a:latin typeface="Times New Roman" panose="02020603050405020304" pitchFamily="18" charset="0"/>
                <a:ea typeface="Gulim" pitchFamily="34" charset="-127"/>
              </a:rPr>
              <a:t>     X = X * 2</a:t>
            </a:r>
          </a:p>
          <a:p>
            <a:r>
              <a:rPr lang="en-US" altLang="ko-KR" sz="1600" b="1">
                <a:latin typeface="Times New Roman" panose="02020603050405020304" pitchFamily="18" charset="0"/>
                <a:ea typeface="Gulim" pitchFamily="34" charset="-127"/>
              </a:rPr>
              <a:t>     Y = Y * 2</a:t>
            </a:r>
          </a:p>
        </p:txBody>
      </p:sp>
      <p:sp>
        <p:nvSpPr>
          <p:cNvPr id="54278" name="Rectangle 14"/>
          <p:cNvSpPr>
            <a:spLocks noChangeArrowheads="1"/>
          </p:cNvSpPr>
          <p:nvPr/>
        </p:nvSpPr>
        <p:spPr bwMode="auto">
          <a:xfrm>
            <a:off x="2733675" y="1786620"/>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79" name="Rectangle 15"/>
          <p:cNvSpPr>
            <a:spLocks noChangeArrowheads="1"/>
          </p:cNvSpPr>
          <p:nvPr/>
        </p:nvSpPr>
        <p:spPr bwMode="auto">
          <a:xfrm>
            <a:off x="2744788" y="2688320"/>
            <a:ext cx="819150" cy="204788"/>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80" name="Line 16"/>
          <p:cNvSpPr>
            <a:spLocks noChangeShapeType="1"/>
          </p:cNvSpPr>
          <p:nvPr/>
        </p:nvSpPr>
        <p:spPr bwMode="auto">
          <a:xfrm>
            <a:off x="1116013" y="2904220"/>
            <a:ext cx="1584325"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1" name="Line 17"/>
          <p:cNvSpPr>
            <a:spLocks noChangeShapeType="1"/>
          </p:cNvSpPr>
          <p:nvPr/>
        </p:nvSpPr>
        <p:spPr bwMode="auto">
          <a:xfrm>
            <a:off x="2268538" y="1753283"/>
            <a:ext cx="0" cy="1150937"/>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54282" name="Line 18"/>
          <p:cNvSpPr>
            <a:spLocks noChangeShapeType="1"/>
          </p:cNvSpPr>
          <p:nvPr/>
        </p:nvSpPr>
        <p:spPr bwMode="auto">
          <a:xfrm>
            <a:off x="2268538" y="2904220"/>
            <a:ext cx="0" cy="3600450"/>
          </a:xfrm>
          <a:prstGeom prst="line">
            <a:avLst/>
          </a:prstGeom>
          <a:noFill/>
          <a:ln w="38100">
            <a:solidFill>
              <a:srgbClr val="6633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3" name="Text Box 19"/>
          <p:cNvSpPr txBox="1">
            <a:spLocks noChangeArrowheads="1"/>
          </p:cNvSpPr>
          <p:nvPr/>
        </p:nvSpPr>
        <p:spPr bwMode="auto">
          <a:xfrm>
            <a:off x="1209675" y="2112058"/>
            <a:ext cx="100012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Growing</a:t>
            </a:r>
          </a:p>
          <a:p>
            <a:pPr algn="ctr"/>
            <a:r>
              <a:rPr lang="en-US" altLang="ko-KR" sz="1400" b="1">
                <a:latin typeface="Times New Roman" panose="02020603050405020304" pitchFamily="18" charset="0"/>
                <a:ea typeface="Gulim" pitchFamily="34" charset="-127"/>
              </a:rPr>
              <a:t>Phase</a:t>
            </a:r>
          </a:p>
        </p:txBody>
      </p:sp>
      <p:sp>
        <p:nvSpPr>
          <p:cNvPr id="54284" name="Text Box 20"/>
          <p:cNvSpPr txBox="1">
            <a:spLocks noChangeArrowheads="1"/>
          </p:cNvSpPr>
          <p:nvPr/>
        </p:nvSpPr>
        <p:spPr bwMode="auto">
          <a:xfrm>
            <a:off x="1293813" y="3828145"/>
            <a:ext cx="94297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Shrinking</a:t>
            </a:r>
          </a:p>
          <a:p>
            <a:pPr algn="ctr"/>
            <a:r>
              <a:rPr lang="en-US" altLang="ko-KR" sz="1400" b="1">
                <a:latin typeface="Times New Roman" panose="02020603050405020304" pitchFamily="18" charset="0"/>
                <a:ea typeface="Gulim" pitchFamily="34" charset="-127"/>
              </a:rPr>
              <a:t>Phase</a:t>
            </a:r>
          </a:p>
        </p:txBody>
      </p:sp>
      <p:sp>
        <p:nvSpPr>
          <p:cNvPr id="54285" name="Line 21"/>
          <p:cNvSpPr>
            <a:spLocks noChangeShapeType="1"/>
          </p:cNvSpPr>
          <p:nvPr/>
        </p:nvSpPr>
        <p:spPr bwMode="auto">
          <a:xfrm>
            <a:off x="6084888" y="5353733"/>
            <a:ext cx="1584325" cy="0"/>
          </a:xfrm>
          <a:prstGeom prst="line">
            <a:avLst/>
          </a:prstGeom>
          <a:noFill/>
          <a:ln w="38100">
            <a:solidFill>
              <a:schemeClr val="accent2"/>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6" name="Line 22"/>
          <p:cNvSpPr>
            <a:spLocks noChangeShapeType="1"/>
          </p:cNvSpPr>
          <p:nvPr/>
        </p:nvSpPr>
        <p:spPr bwMode="auto">
          <a:xfrm>
            <a:off x="6659563" y="1753283"/>
            <a:ext cx="0" cy="3598862"/>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7" name="Line 23"/>
          <p:cNvSpPr>
            <a:spLocks noChangeShapeType="1"/>
          </p:cNvSpPr>
          <p:nvPr/>
        </p:nvSpPr>
        <p:spPr bwMode="auto">
          <a:xfrm>
            <a:off x="6659563" y="5353733"/>
            <a:ext cx="0" cy="1223962"/>
          </a:xfrm>
          <a:prstGeom prst="line">
            <a:avLst/>
          </a:prstGeom>
          <a:noFill/>
          <a:ln w="38100">
            <a:solidFill>
              <a:srgbClr val="6633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88" name="Text Box 24"/>
          <p:cNvSpPr txBox="1">
            <a:spLocks noChangeArrowheads="1"/>
          </p:cNvSpPr>
          <p:nvPr/>
        </p:nvSpPr>
        <p:spPr bwMode="auto">
          <a:xfrm>
            <a:off x="6732588" y="3769408"/>
            <a:ext cx="100012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Growing</a:t>
            </a:r>
          </a:p>
          <a:p>
            <a:pPr algn="ctr"/>
            <a:r>
              <a:rPr lang="en-US" altLang="ko-KR" sz="1400" b="1">
                <a:latin typeface="Times New Roman" panose="02020603050405020304" pitchFamily="18" charset="0"/>
                <a:ea typeface="Gulim" pitchFamily="34" charset="-127"/>
              </a:rPr>
              <a:t>Phase</a:t>
            </a:r>
          </a:p>
        </p:txBody>
      </p:sp>
      <p:sp>
        <p:nvSpPr>
          <p:cNvPr id="54289" name="Text Box 25"/>
          <p:cNvSpPr txBox="1">
            <a:spLocks noChangeArrowheads="1"/>
          </p:cNvSpPr>
          <p:nvPr/>
        </p:nvSpPr>
        <p:spPr bwMode="auto">
          <a:xfrm>
            <a:off x="6732588" y="5712508"/>
            <a:ext cx="942975" cy="517525"/>
          </a:xfrm>
          <a:prstGeom prst="rect">
            <a:avLst/>
          </a:prstGeom>
          <a:solidFill>
            <a:srgbClr val="FF99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ko-KR" sz="1400" b="1">
                <a:latin typeface="Times New Roman" panose="02020603050405020304" pitchFamily="18" charset="0"/>
                <a:ea typeface="Gulim" pitchFamily="34" charset="-127"/>
              </a:rPr>
              <a:t>Shrinking</a:t>
            </a:r>
          </a:p>
          <a:p>
            <a:pPr algn="ctr"/>
            <a:r>
              <a:rPr lang="en-US" altLang="ko-KR" sz="1400" b="1">
                <a:latin typeface="Times New Roman" panose="02020603050405020304" pitchFamily="18" charset="0"/>
                <a:ea typeface="Gulim" pitchFamily="34" charset="-127"/>
              </a:rPr>
              <a:t>Phase</a:t>
            </a:r>
          </a:p>
        </p:txBody>
      </p:sp>
      <p:sp>
        <p:nvSpPr>
          <p:cNvPr id="54290" name="Rectangle 26"/>
          <p:cNvSpPr>
            <a:spLocks noChangeArrowheads="1"/>
          </p:cNvSpPr>
          <p:nvPr/>
        </p:nvSpPr>
        <p:spPr bwMode="auto">
          <a:xfrm>
            <a:off x="5148263" y="3182033"/>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1" name="Rectangle 27"/>
          <p:cNvSpPr>
            <a:spLocks noChangeArrowheads="1"/>
          </p:cNvSpPr>
          <p:nvPr/>
        </p:nvSpPr>
        <p:spPr bwMode="auto">
          <a:xfrm>
            <a:off x="5148263" y="5148945"/>
            <a:ext cx="793750" cy="215900"/>
          </a:xfrm>
          <a:prstGeom prst="rect">
            <a:avLst/>
          </a:prstGeom>
          <a:solidFill>
            <a:srgbClr val="663300">
              <a:alpha val="20000"/>
            </a:srgbClr>
          </a:solidFill>
          <a:ln w="19050" algn="ctr">
            <a:solidFill>
              <a:srgbClr val="FF0000"/>
            </a:solidFill>
            <a:miter lim="800000"/>
            <a:headEnd/>
            <a:tailEnd/>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4292" name="Line 28"/>
          <p:cNvSpPr>
            <a:spLocks noChangeShapeType="1"/>
          </p:cNvSpPr>
          <p:nvPr/>
        </p:nvSpPr>
        <p:spPr bwMode="auto">
          <a:xfrm>
            <a:off x="2771775" y="3120120"/>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3" name="Line 29"/>
          <p:cNvSpPr>
            <a:spLocks noChangeShapeType="1"/>
          </p:cNvSpPr>
          <p:nvPr/>
        </p:nvSpPr>
        <p:spPr bwMode="auto">
          <a:xfrm>
            <a:off x="2749550" y="5098145"/>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4" name="Line 30"/>
          <p:cNvSpPr>
            <a:spLocks noChangeShapeType="1"/>
          </p:cNvSpPr>
          <p:nvPr/>
        </p:nvSpPr>
        <p:spPr bwMode="auto">
          <a:xfrm>
            <a:off x="5197475" y="5591858"/>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4295" name="Line 31"/>
          <p:cNvSpPr>
            <a:spLocks noChangeShapeType="1"/>
          </p:cNvSpPr>
          <p:nvPr/>
        </p:nvSpPr>
        <p:spPr bwMode="auto">
          <a:xfrm>
            <a:off x="5197475" y="6493558"/>
            <a:ext cx="1008063"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Tree>
    <p:extLst>
      <p:ext uri="{BB962C8B-B14F-4D97-AF65-F5344CB8AC3E}">
        <p14:creationId xmlns:p14="http://schemas.microsoft.com/office/powerpoint/2010/main" val="1108968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smtClean="0"/>
              <a:t>总结</a:t>
            </a:r>
            <a:endParaRPr lang="zh-CN" altLang="zh-CN" sz="3600" dirty="0" smtClean="0"/>
          </a:p>
        </p:txBody>
      </p:sp>
      <p:sp>
        <p:nvSpPr>
          <p:cNvPr id="96259" name="Rectangle 3"/>
          <p:cNvSpPr>
            <a:spLocks noGrp="1" noChangeArrowheads="1"/>
          </p:cNvSpPr>
          <p:nvPr>
            <p:ph type="body" idx="4294967295"/>
          </p:nvPr>
        </p:nvSpPr>
        <p:spPr>
          <a:xfrm>
            <a:off x="457200" y="1196975"/>
            <a:ext cx="8229600" cy="4840288"/>
          </a:xfrm>
        </p:spPr>
        <p:txBody>
          <a:bodyPr/>
          <a:lstStyle/>
          <a:p>
            <a:pPr marL="457200" indent="-457200" eaLnBrk="1" hangingPunct="1">
              <a:lnSpc>
                <a:spcPct val="130000"/>
              </a:lnSpc>
              <a:buFont typeface="Wingdings" panose="05000000000000000000" pitchFamily="2" charset="2"/>
              <a:buAutoNum type="arabicPeriod"/>
            </a:pPr>
            <a:r>
              <a:rPr lang="zh-CN" altLang="en-US" sz="2400" dirty="0" smtClean="0"/>
              <a:t>掌握 </a:t>
            </a:r>
            <a:r>
              <a:rPr lang="en-US" altLang="zh-CN" sz="2400" dirty="0" smtClean="0"/>
              <a:t>X</a:t>
            </a:r>
            <a:r>
              <a:rPr lang="zh-CN" altLang="en-US" sz="2400" dirty="0" smtClean="0"/>
              <a:t>，</a:t>
            </a:r>
            <a:r>
              <a:rPr lang="en-US" altLang="zh-CN" sz="2400" dirty="0" smtClean="0"/>
              <a:t>S</a:t>
            </a:r>
            <a:r>
              <a:rPr lang="zh-CN" altLang="en-US" sz="2400" dirty="0" smtClean="0"/>
              <a:t>锁的使用方法</a:t>
            </a:r>
            <a:endParaRPr lang="en-US" altLang="zh-CN" sz="2400" dirty="0" smtClean="0"/>
          </a:p>
          <a:p>
            <a:pPr marL="457200" indent="-457200" eaLnBrk="1" hangingPunct="1">
              <a:lnSpc>
                <a:spcPct val="130000"/>
              </a:lnSpc>
              <a:buFont typeface="Wingdings" panose="05000000000000000000" pitchFamily="2" charset="2"/>
              <a:buAutoNum type="arabicPeriod"/>
            </a:pPr>
            <a:r>
              <a:rPr lang="zh-CN" altLang="en-US" sz="2400" dirty="0" smtClean="0"/>
              <a:t>判断调度是否产生死锁？</a:t>
            </a:r>
            <a:endParaRPr lang="en-US" altLang="zh-CN" sz="2400" dirty="0" smtClean="0"/>
          </a:p>
          <a:p>
            <a:pPr marL="457200" indent="-457200" eaLnBrk="1" hangingPunct="1">
              <a:lnSpc>
                <a:spcPct val="130000"/>
              </a:lnSpc>
              <a:buFont typeface="Wingdings" panose="05000000000000000000" pitchFamily="2" charset="2"/>
              <a:buAutoNum type="arabicPeriod"/>
            </a:pPr>
            <a:r>
              <a:rPr lang="zh-CN" altLang="en-US" sz="2400" dirty="0" smtClean="0"/>
              <a:t>调度的可串行化判断</a:t>
            </a:r>
            <a:endParaRPr lang="en-US" altLang="zh-CN" sz="2400" dirty="0" smtClean="0"/>
          </a:p>
          <a:p>
            <a:pPr marL="457200" indent="-457200" eaLnBrk="1" hangingPunct="1">
              <a:lnSpc>
                <a:spcPct val="130000"/>
              </a:lnSpc>
              <a:buFont typeface="Wingdings" panose="05000000000000000000" pitchFamily="2" charset="2"/>
              <a:buAutoNum type="arabicPeriod"/>
            </a:pPr>
            <a:r>
              <a:rPr lang="zh-CN" altLang="en-US" sz="2400" dirty="0" smtClean="0"/>
              <a:t>两段锁协议调度</a:t>
            </a:r>
            <a:endParaRPr lang="en-US" altLang="zh-CN" sz="2400" dirty="0" smtClean="0"/>
          </a:p>
          <a:p>
            <a:pPr marL="457200" indent="-457200" eaLnBrk="1" hangingPunct="1">
              <a:lnSpc>
                <a:spcPct val="130000"/>
              </a:lnSpc>
              <a:buFont typeface="Wingdings" panose="05000000000000000000" pitchFamily="2" charset="2"/>
              <a:buAutoNum type="arabicPeriod"/>
            </a:pPr>
            <a:r>
              <a:rPr lang="zh-CN" altLang="en-US" sz="2400" dirty="0" smtClean="0"/>
              <a:t>会设计不包含，或包含死锁的调度</a:t>
            </a:r>
            <a:endParaRPr lang="en-US" altLang="zh-CN" sz="2400" dirty="0" smtClean="0"/>
          </a:p>
          <a:p>
            <a:pPr marL="457200" indent="-457200" eaLnBrk="1" hangingPunct="1">
              <a:lnSpc>
                <a:spcPct val="130000"/>
              </a:lnSpc>
              <a:buFont typeface="Wingdings" panose="05000000000000000000" pitchFamily="2" charset="2"/>
              <a:buAutoNum type="arabicPeriod"/>
            </a:pPr>
            <a:endParaRPr lang="zh-CN" altLang="zh-CN" sz="2400" dirty="0" smtClean="0"/>
          </a:p>
        </p:txBody>
      </p:sp>
    </p:spTree>
    <p:extLst>
      <p:ext uri="{BB962C8B-B14F-4D97-AF65-F5344CB8AC3E}">
        <p14:creationId xmlns:p14="http://schemas.microsoft.com/office/powerpoint/2010/main" val="33577524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smtClean="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smtClean="0"/>
              <a:t>课后练习题</a:t>
            </a:r>
            <a:r>
              <a:rPr lang="en-US" altLang="zh-CN" dirty="0" smtClean="0"/>
              <a:t>9</a:t>
            </a:r>
          </a:p>
        </p:txBody>
      </p:sp>
      <p:pic>
        <p:nvPicPr>
          <p:cNvPr id="2" name="图片 1"/>
          <p:cNvPicPr>
            <a:picLocks noChangeAspect="1"/>
          </p:cNvPicPr>
          <p:nvPr/>
        </p:nvPicPr>
        <p:blipFill rotWithShape="1">
          <a:blip r:embed="rId2" cstate="email">
            <a:extLst>
              <a:ext uri="{28A0092B-C50C-407E-A947-70E740481C1C}">
                <a14:useLocalDpi xmlns:a14="http://schemas.microsoft.com/office/drawing/2010/main"/>
              </a:ext>
            </a:extLst>
          </a:blip>
          <a:srcRect l="-14750"/>
          <a:stretch/>
        </p:blipFill>
        <p:spPr>
          <a:xfrm>
            <a:off x="-744583" y="1581342"/>
            <a:ext cx="9349497" cy="4691169"/>
          </a:xfrm>
          <a:prstGeom prst="rect">
            <a:avLst/>
          </a:prstGeom>
        </p:spPr>
      </p:pic>
    </p:spTree>
    <p:extLst>
      <p:ext uri="{BB962C8B-B14F-4D97-AF65-F5344CB8AC3E}">
        <p14:creationId xmlns:p14="http://schemas.microsoft.com/office/powerpoint/2010/main" val="192616821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smtClean="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smtClean="0"/>
              <a:t>课后练习题</a:t>
            </a:r>
            <a:r>
              <a:rPr lang="en-US" altLang="zh-CN" dirty="0" smtClean="0"/>
              <a:t>9</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717" y="1209178"/>
            <a:ext cx="5827586" cy="5669634"/>
          </a:xfrm>
          <a:prstGeom prst="rect">
            <a:avLst/>
          </a:prstGeom>
        </p:spPr>
      </p:pic>
    </p:spTree>
    <p:extLst>
      <p:ext uri="{BB962C8B-B14F-4D97-AF65-F5344CB8AC3E}">
        <p14:creationId xmlns:p14="http://schemas.microsoft.com/office/powerpoint/2010/main" val="420646189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smtClean="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smtClean="0"/>
              <a:t>课后练习题</a:t>
            </a:r>
            <a:r>
              <a:rPr lang="en-US" altLang="zh-CN" dirty="0" smtClean="0"/>
              <a:t>9</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3717" y="1197208"/>
            <a:ext cx="6029167" cy="5517101"/>
          </a:xfrm>
          <a:prstGeom prst="rect">
            <a:avLst/>
          </a:prstGeom>
        </p:spPr>
      </p:pic>
    </p:spTree>
    <p:extLst>
      <p:ext uri="{BB962C8B-B14F-4D97-AF65-F5344CB8AC3E}">
        <p14:creationId xmlns:p14="http://schemas.microsoft.com/office/powerpoint/2010/main" val="17054445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smtClean="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smtClean="0"/>
              <a:t>课后练习题</a:t>
            </a:r>
            <a:r>
              <a:rPr lang="en-US" altLang="zh-CN" dirty="0" smtClean="0"/>
              <a:t>9</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785" y="1681088"/>
            <a:ext cx="6576630" cy="4854361"/>
          </a:xfrm>
          <a:prstGeom prst="rect">
            <a:avLst/>
          </a:prstGeom>
        </p:spPr>
      </p:pic>
    </p:spTree>
    <p:extLst>
      <p:ext uri="{BB962C8B-B14F-4D97-AF65-F5344CB8AC3E}">
        <p14:creationId xmlns:p14="http://schemas.microsoft.com/office/powerpoint/2010/main" val="30571753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914400" y="255588"/>
            <a:ext cx="7391400" cy="563562"/>
          </a:xfrm>
        </p:spPr>
        <p:txBody>
          <a:bodyPr>
            <a:normAutofit fontScale="90000"/>
          </a:bodyPr>
          <a:lstStyle/>
          <a:p>
            <a:pPr eaLnBrk="1" hangingPunct="1"/>
            <a:r>
              <a:rPr lang="zh-CN" altLang="en-US" sz="3600" dirty="0"/>
              <a:t>练习</a:t>
            </a:r>
            <a:endParaRPr lang="zh-CN" altLang="zh-CN" sz="3600" dirty="0" smtClean="0"/>
          </a:p>
        </p:txBody>
      </p:sp>
      <p:sp>
        <p:nvSpPr>
          <p:cNvPr id="109571" name="Rectangle 3"/>
          <p:cNvSpPr>
            <a:spLocks noGrp="1" noChangeArrowheads="1"/>
          </p:cNvSpPr>
          <p:nvPr>
            <p:ph type="body" idx="4294967295"/>
          </p:nvPr>
        </p:nvSpPr>
        <p:spPr>
          <a:xfrm>
            <a:off x="457200" y="1052513"/>
            <a:ext cx="8229600" cy="4841875"/>
          </a:xfrm>
        </p:spPr>
        <p:txBody>
          <a:bodyPr/>
          <a:lstStyle/>
          <a:p>
            <a:pPr eaLnBrk="1" hangingPunct="1">
              <a:lnSpc>
                <a:spcPct val="130000"/>
              </a:lnSpc>
            </a:pPr>
            <a:r>
              <a:rPr lang="zh-CN" altLang="en-US" dirty="0" smtClean="0"/>
              <a:t>课后练习题</a:t>
            </a:r>
            <a:r>
              <a:rPr lang="en-US" altLang="zh-CN" dirty="0" smtClean="0"/>
              <a:t>9</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728" y="1750918"/>
            <a:ext cx="7985072" cy="4871949"/>
          </a:xfrm>
          <a:prstGeom prst="rect">
            <a:avLst/>
          </a:prstGeom>
        </p:spPr>
      </p:pic>
    </p:spTree>
    <p:extLst>
      <p:ext uri="{BB962C8B-B14F-4D97-AF65-F5344CB8AC3E}">
        <p14:creationId xmlns:p14="http://schemas.microsoft.com/office/powerpoint/2010/main" val="160957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2965</TotalTime>
  <Words>3635</Words>
  <Application>Microsoft Office PowerPoint</Application>
  <PresentationFormat>全屏显示(4:3)</PresentationFormat>
  <Paragraphs>601</Paragraphs>
  <Slides>55</Slides>
  <Notes>2</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66" baseType="lpstr">
      <vt:lpstr>Gulim</vt:lpstr>
      <vt:lpstr>宋体</vt:lpstr>
      <vt:lpstr>Arial</vt:lpstr>
      <vt:lpstr>Calibri</vt:lpstr>
      <vt:lpstr>Calibri Light</vt:lpstr>
      <vt:lpstr>Courier New</vt:lpstr>
      <vt:lpstr>Tahoma</vt:lpstr>
      <vt:lpstr>Times New Roman</vt:lpstr>
      <vt:lpstr>Wingdings</vt:lpstr>
      <vt:lpstr>Office 主题</vt:lpstr>
      <vt:lpstr>Picture</vt:lpstr>
      <vt:lpstr>数据库管理2 并发控制</vt:lpstr>
      <vt:lpstr>目录</vt:lpstr>
      <vt:lpstr>1.事务</vt:lpstr>
      <vt:lpstr>定义事务</vt:lpstr>
      <vt:lpstr>事务的特性（ACID特性）</vt:lpstr>
      <vt:lpstr> 2.并发控制（对应第11章）</vt:lpstr>
      <vt:lpstr> 并发控制（续）</vt:lpstr>
      <vt:lpstr>并发控制（续）</vt:lpstr>
      <vt:lpstr>并发控制（续）</vt:lpstr>
      <vt:lpstr>并发控制（续）</vt:lpstr>
      <vt:lpstr>并发控制概述（续）</vt:lpstr>
      <vt:lpstr>T1的修改被T2覆盖了！</vt:lpstr>
      <vt:lpstr>并发控制概述（续）</vt:lpstr>
      <vt:lpstr>（1）丢失修改</vt:lpstr>
      <vt:lpstr>（2） 不可重复读</vt:lpstr>
      <vt:lpstr>不可重复读（续）</vt:lpstr>
      <vt:lpstr>（3） 读“脏”数据</vt:lpstr>
      <vt:lpstr>读“脏”数据（续）</vt:lpstr>
      <vt:lpstr>并发控制概述（续）</vt:lpstr>
      <vt:lpstr>3.什么是封锁</vt:lpstr>
      <vt:lpstr>排它锁</vt:lpstr>
      <vt:lpstr>共享锁</vt:lpstr>
      <vt:lpstr>使用封锁机制解决丢失修改问题</vt:lpstr>
      <vt:lpstr>使用封锁机制解决不可重复读问题</vt:lpstr>
      <vt:lpstr>使用封锁机制解决读“脏”数据问题</vt:lpstr>
      <vt:lpstr>PowerPoint 演示文稿</vt:lpstr>
      <vt:lpstr>活锁（续）</vt:lpstr>
      <vt:lpstr>活锁（续）</vt:lpstr>
      <vt:lpstr>死锁</vt:lpstr>
      <vt:lpstr>死锁（续）</vt:lpstr>
      <vt:lpstr>解决死锁的方法</vt:lpstr>
      <vt:lpstr>（1） 超时法</vt:lpstr>
      <vt:lpstr>（2）等待图法</vt:lpstr>
      <vt:lpstr>等待图法（续）</vt:lpstr>
      <vt:lpstr>那个发生了死锁？？</vt:lpstr>
      <vt:lpstr>死锁的诊断与解除（续）</vt:lpstr>
      <vt:lpstr>4.并发调度的可串行性</vt:lpstr>
      <vt:lpstr>可串行化调度</vt:lpstr>
      <vt:lpstr>可串行化调度（续）</vt:lpstr>
      <vt:lpstr>串行调度,正确的调度</vt:lpstr>
      <vt:lpstr>串行调度,正确的调度</vt:lpstr>
      <vt:lpstr>不可串行化调度，错误的调度</vt:lpstr>
      <vt:lpstr>可串行化调度，正确的调度</vt:lpstr>
      <vt:lpstr>冲突可串行化调度</vt:lpstr>
      <vt:lpstr>冲突可串行化（续）</vt:lpstr>
      <vt:lpstr>冲突可串行化（续）</vt:lpstr>
      <vt:lpstr>冲突可串行化（续）</vt:lpstr>
      <vt:lpstr> 5. 两段锁协议</vt:lpstr>
      <vt:lpstr>两段锁协议示例</vt:lpstr>
      <vt:lpstr>总结</vt:lpstr>
      <vt:lpstr>练习</vt:lpstr>
      <vt:lpstr>练习</vt:lpstr>
      <vt:lpstr>练习</vt:lpstr>
      <vt:lpstr>练习</vt:lpstr>
      <vt:lpstr>练习</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829</cp:revision>
  <cp:lastPrinted>2020-11-03T04:09:11Z</cp:lastPrinted>
  <dcterms:created xsi:type="dcterms:W3CDTF">2020-09-13T01:44:02Z</dcterms:created>
  <dcterms:modified xsi:type="dcterms:W3CDTF">2025-12-15T05:00:48Z</dcterms:modified>
</cp:coreProperties>
</file>