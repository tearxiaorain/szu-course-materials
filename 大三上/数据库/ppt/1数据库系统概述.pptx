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8"/>
  </p:notesMasterIdLst>
  <p:sldIdLst>
    <p:sldId id="256" r:id="rId2"/>
    <p:sldId id="259" r:id="rId3"/>
    <p:sldId id="338" r:id="rId4"/>
    <p:sldId id="282" r:id="rId5"/>
    <p:sldId id="283" r:id="rId6"/>
    <p:sldId id="284" r:id="rId7"/>
    <p:sldId id="339" r:id="rId8"/>
    <p:sldId id="340" r:id="rId9"/>
    <p:sldId id="341" r:id="rId10"/>
    <p:sldId id="342" r:id="rId11"/>
    <p:sldId id="274" r:id="rId12"/>
    <p:sldId id="275" r:id="rId13"/>
    <p:sldId id="277" r:id="rId14"/>
    <p:sldId id="280" r:id="rId15"/>
    <p:sldId id="333" r:id="rId16"/>
    <p:sldId id="285" r:id="rId17"/>
    <p:sldId id="286" r:id="rId18"/>
    <p:sldId id="287" r:id="rId19"/>
    <p:sldId id="288" r:id="rId20"/>
    <p:sldId id="289" r:id="rId21"/>
    <p:sldId id="337" r:id="rId22"/>
    <p:sldId id="291" r:id="rId23"/>
    <p:sldId id="292" r:id="rId24"/>
    <p:sldId id="293" r:id="rId25"/>
    <p:sldId id="295" r:id="rId26"/>
    <p:sldId id="296" r:id="rId27"/>
    <p:sldId id="298" r:id="rId28"/>
    <p:sldId id="299" r:id="rId29"/>
    <p:sldId id="302" r:id="rId30"/>
    <p:sldId id="304" r:id="rId31"/>
    <p:sldId id="336" r:id="rId32"/>
    <p:sldId id="316" r:id="rId33"/>
    <p:sldId id="321" r:id="rId34"/>
    <p:sldId id="322" r:id="rId35"/>
    <p:sldId id="325" r:id="rId36"/>
    <p:sldId id="331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0475" autoAdjust="0"/>
  </p:normalViewPr>
  <p:slideViewPr>
    <p:cSldViewPr snapToGrid="0">
      <p:cViewPr varScale="1">
        <p:scale>
          <a:sx n="103" d="100"/>
          <a:sy n="103" d="100"/>
        </p:scale>
        <p:origin x="11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5%B0%E6%8D%AE%E5%AE%9A%E4%B9%89%E8%AF%AD%E8%A8%80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ike.baidu.com/item/%E6%95%B0%E6%8D%AE%E6%8E%A7%E5%88%B6%E8%AF%AD%E8%A8%80" TargetMode="External"/><Relationship Id="rId4" Type="http://schemas.openxmlformats.org/officeDocument/2006/relationships/hyperlink" Target="https://baike.baidu.com/item/%E6%95%B0%E6%8D%AE%E6%93%8D%E4%BD%9C%E8%AF%AD%E8%A8%80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71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F5E86E-DBD1-4DD9-9191-7A7E7F16473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501339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F5E86E-DBD1-4DD9-9191-7A7E7F164731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06774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F5E86E-DBD1-4DD9-9191-7A7E7F164731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74920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结构化数据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是指那些以固定格式或模式存储的信息，通常可以被快速检索和处理。这类数据最典型的例子就是数据库表格中的信息，例如客户名单、销售记录等。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格式固定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：每条数据都有明确的字段和定义。例如，在一个客户数据库中，每个客户记录可能包含姓名、地址、电话号码等字段。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易于查询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：通过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等查询语言可以高效地进行搜索和筛选。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：数据格式统一，便于管理和分析。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半结构化数据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介于完全结构化数据（如关系型数据库中的表格数据）和非结构化数据（如图像、音频等）之间的一种数据形式。它具有一定的结构性，但这种结构并不固定，且数据的结构和内容通常混合在一起，缺乏严格的表格化约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183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结构化数据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是指那些以固定格式或模式存储的信息，通常可以被快速检索和处理。这类数据最典型的例子就是数据库表格中的信息，例如客户名单、销售记录等。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格式固定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：每条数据都有明确的字段和定义。例如，在一个客户数据库中，每个客户记录可能包含姓名、地址、电话号码等字段。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易于查询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：通过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等查询语言可以高效地进行搜索和筛选。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：数据格式统一，便于管理和分析。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半结构化数据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介于完全结构化数据（如关系型数据库中的表格数据）和非结构化数据（如图像、音频等）之间的一种数据形式。它具有一定的结构性，但这种结构并不固定，且数据的结构和内容通常混合在一起，缺乏严格的表格化约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65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结构化数据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是指那些以固定格式或模式存储的信息，通常可以被快速检索和处理。这类数据最典型的例子就是数据库表格中的信息，例如客户名单、销售记录等。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格式固定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：每条数据都有明确的字段和定义。例如，在一个客户数据库中，每个客户记录可能包含姓名、地址、电话号码等字段。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易于查询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：通过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等查询语言可以高效地进行搜索和筛选。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：数据格式统一，便于管理和分析。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半结构化数据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介于完全结构化数据（如关系型数据库中的表格数据）和非结构化数据（如图像、音频等）之间的一种数据形式。它具有一定的结构性，但这种结构并不固定，且数据的结构和内容通常混合在一起，缺乏严格的表格化约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16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据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研究表明，到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年，全球数据量将会从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 ZB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上升至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163ZB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。著名研究机构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Garter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也表示，全球信息量正在以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59%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以上的年增长率快速增长。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而在这些数据中，结构化数据仅占到全部数据量的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，其余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都是以文件形式存在的非结构化和半结构化数据，日志文件、机器数据等又占据非结构化数据的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841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D8A8B3-09C2-4692-BB13-619E74E7BE7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263910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BAB19D-9247-402D-A302-4578924E8546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49352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A49CCF-D65B-4948-B49B-70424AC0315C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50000"/>
              </a:lnSpc>
              <a:spcAft>
                <a:spcPct val="20000"/>
              </a:spcAft>
            </a:pPr>
            <a:r>
              <a:rPr lang="zh-CN" altLang="en-US" sz="2900" i="1" dirty="0" smtClean="0"/>
              <a:t>数据库的事务管理和运行管理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数据库在建立、运行和维护时由数据库管理系统统一管理和控制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保证数据的安全性、完整性、多用户对数据的并发使用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发生故障后的系统恢复</a:t>
            </a:r>
            <a:endParaRPr lang="en-US" altLang="zh-CN" sz="2600" i="1" dirty="0" smtClean="0"/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i="1" dirty="0" smtClean="0"/>
              <a:t>数据库的建立和维护功能</a:t>
            </a:r>
            <a:endParaRPr lang="en-US" altLang="zh-CN" i="1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数据库初始数据的装载和转换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数据库转储、恢复功能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数据库的重组织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性能监视、分析等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i="1" dirty="0" smtClean="0"/>
              <a:t>其它功能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数据库管理系统与网络中其它软件系统的通信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i="1" dirty="0" smtClean="0"/>
              <a:t>数据库管理系统系统之间的数据转换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dirty="0" smtClean="0"/>
              <a:t>异构数据库之间的互访和互操作</a:t>
            </a:r>
            <a:endParaRPr lang="en-US" altLang="zh-CN" sz="2600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endParaRPr lang="en-US" altLang="zh-CN" sz="2600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endParaRPr lang="en-US" altLang="zh-CN" sz="2600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语言包括四种主要程序设计语言类别的语句：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数据定义语言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(DDL)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数据操作语言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(DML)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数据控制语言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(DCL)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和事务控制语言（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zh-CN" altLang="en-US" sz="2600" dirty="0" smtClean="0"/>
          </a:p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15974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68F6E0-0EA1-4939-B8DB-AA07E7A3BFEE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699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1699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32913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71DC3E-7D94-4293-872C-B792D257FF1D}" type="slidenum">
              <a:rPr lang="en-US" altLang="zh-CN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v"/>
              <a:defRPr/>
            </a:pPr>
            <a:r>
              <a:rPr lang="zh-CN" altLang="en-US" sz="2800" b="1" dirty="0" smtClean="0">
                <a:latin typeface="+mn-lt"/>
                <a:ea typeface="+mn-ea"/>
              </a:rPr>
              <a:t>文件系统阶段特点</a:t>
            </a:r>
          </a:p>
          <a:p>
            <a:pPr marL="742950" lvl="1" indent="-28575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n"/>
              <a:defRPr/>
            </a:pPr>
            <a:r>
              <a:rPr lang="zh-CN" altLang="en-US" sz="2400" b="1" dirty="0" smtClean="0">
                <a:latin typeface="+mn-lt"/>
                <a:ea typeface="+mn-ea"/>
              </a:rPr>
              <a:t>数据的管理者：文件系统，数据可长期保存</a:t>
            </a:r>
          </a:p>
          <a:p>
            <a:pPr marL="742950" lvl="1" indent="-28575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n"/>
              <a:defRPr/>
            </a:pPr>
            <a:r>
              <a:rPr lang="zh-CN" altLang="en-US" sz="2400" b="1" dirty="0" smtClean="0">
                <a:latin typeface="+mn-lt"/>
                <a:ea typeface="+mn-ea"/>
              </a:rPr>
              <a:t>数据面向的对象：某一应用   </a:t>
            </a:r>
          </a:p>
          <a:p>
            <a:pPr marL="742950" lvl="1" indent="-28575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n"/>
              <a:defRPr/>
            </a:pPr>
            <a:r>
              <a:rPr lang="zh-CN" altLang="en-US" sz="2400" b="1" dirty="0" smtClean="0">
                <a:latin typeface="+mn-lt"/>
                <a:ea typeface="+mn-ea"/>
              </a:rPr>
              <a:t>数据的共享程度：共享性差、冗余度大</a:t>
            </a:r>
          </a:p>
          <a:p>
            <a:pPr marL="742950" lvl="1" indent="-28575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n"/>
              <a:defRPr/>
            </a:pPr>
            <a:r>
              <a:rPr lang="zh-CN" altLang="en-US" sz="2400" b="1" dirty="0" smtClean="0">
                <a:latin typeface="+mn-lt"/>
                <a:ea typeface="+mn-ea"/>
              </a:rPr>
              <a:t>数据的结构化：记录内有结构，整体无结构</a:t>
            </a:r>
          </a:p>
          <a:p>
            <a:pPr marL="742950" lvl="1" indent="-28575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n"/>
              <a:defRPr/>
            </a:pPr>
            <a:r>
              <a:rPr lang="zh-CN" altLang="en-US" sz="2400" b="1" dirty="0" smtClean="0">
                <a:latin typeface="+mn-lt"/>
                <a:ea typeface="+mn-ea"/>
              </a:rPr>
              <a:t>数据的独立性：独立性差</a:t>
            </a:r>
            <a:endParaRPr lang="en-US" altLang="zh-CN" sz="2400" b="1" dirty="0" smtClean="0">
              <a:latin typeface="+mn-lt"/>
              <a:ea typeface="+mn-ea"/>
            </a:endParaRPr>
          </a:p>
          <a:p>
            <a:pPr marL="742950" lvl="1" indent="-285750" eaLnBrk="1" hangingPunct="1">
              <a:lnSpc>
                <a:spcPct val="130000"/>
              </a:lnSpc>
              <a:spcBef>
                <a:spcPct val="20000"/>
              </a:spcBef>
              <a:buSzPct val="100000"/>
              <a:buFont typeface="Wingdings" pitchFamily="2" charset="2"/>
              <a:buChar char="n"/>
              <a:defRPr/>
            </a:pPr>
            <a:r>
              <a:rPr lang="zh-CN" altLang="en-US" sz="2400" b="1" dirty="0" smtClean="0">
                <a:latin typeface="+mn-lt"/>
                <a:ea typeface="+mn-ea"/>
              </a:rPr>
              <a:t>数据控制能力：应用程序自己控制</a:t>
            </a:r>
          </a:p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28289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167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物流系统： 用户，快递人员系统，运输系统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73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225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就业 方向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597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的工资统计数据看，随着工作经验的积累，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工资的增长幅度会远大于其它的计算机方向。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从工作的稳定性上看，系统的复杂性和经验的重要性已经决定了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职位的不可替代性。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146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21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数据库系统概述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内容目录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数据库</a:t>
            </a:r>
            <a:r>
              <a:rPr lang="zh-CN" altLang="en-US" dirty="0"/>
              <a:t>的</a:t>
            </a:r>
            <a:r>
              <a:rPr lang="en-US" altLang="zh-CN" dirty="0"/>
              <a:t>4</a:t>
            </a:r>
            <a:r>
              <a:rPr lang="zh-CN" altLang="en-US" dirty="0"/>
              <a:t>个基本概念</a:t>
            </a:r>
          </a:p>
          <a:p>
            <a:r>
              <a:rPr lang="zh-CN" altLang="en-US" dirty="0" smtClean="0"/>
              <a:t>数据管理技术的发展</a:t>
            </a:r>
            <a:endParaRPr lang="en-US" altLang="zh-CN" dirty="0" smtClean="0"/>
          </a:p>
          <a:p>
            <a:r>
              <a:rPr lang="zh-CN" altLang="zh-CN" dirty="0" smtClean="0"/>
              <a:t>数据库系统</a:t>
            </a:r>
            <a:r>
              <a:rPr lang="zh-CN" altLang="en-US" dirty="0"/>
              <a:t>的</a:t>
            </a:r>
            <a:r>
              <a:rPr lang="zh-CN" altLang="zh-CN" dirty="0" smtClean="0"/>
              <a:t>结构</a:t>
            </a:r>
            <a:endParaRPr lang="en-US" altLang="zh-CN" dirty="0" smtClean="0"/>
          </a:p>
          <a:p>
            <a:r>
              <a:rPr lang="zh-CN" altLang="en-US" dirty="0" smtClean="0"/>
              <a:t>数据库系统的组成</a:t>
            </a:r>
            <a:endParaRPr lang="en-US" altLang="zh-CN" dirty="0" smtClean="0"/>
          </a:p>
          <a:p>
            <a:pPr lvl="2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7643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数据库的</a:t>
            </a:r>
            <a:r>
              <a:rPr lang="en-US" altLang="zh-CN" dirty="0"/>
              <a:t>4</a:t>
            </a:r>
            <a:r>
              <a:rPr lang="zh-CN" altLang="en-US" dirty="0"/>
              <a:t>个基本概念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数据库的基本</a:t>
            </a:r>
            <a:r>
              <a:rPr kumimoji="1" lang="zh-CN" altLang="en-US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概念</a:t>
            </a:r>
            <a:endParaRPr kumimoji="1" lang="en-US" altLang="zh-CN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914400" lvl="2" indent="0">
              <a:buNone/>
            </a:pP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Shape18">
            <a:extLst>
              <a:ext uri="{FF2B5EF4-FFF2-40B4-BE49-F238E27FC236}">
                <a16:creationId xmlns:a16="http://schemas.microsoft.com/office/drawing/2014/main" xmlns="" id="{2289156A-9F94-40BD-8E58-4686FDDB5136}"/>
              </a:ext>
            </a:extLst>
          </p:cNvPr>
          <p:cNvSpPr/>
          <p:nvPr/>
        </p:nvSpPr>
        <p:spPr>
          <a:xfrm>
            <a:off x="145002" y="2351082"/>
            <a:ext cx="3843524" cy="353332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xmlns="" id="{99E90919-814E-29FD-7353-AFE98BE01B5D}"/>
              </a:ext>
            </a:extLst>
          </p:cNvPr>
          <p:cNvSpPr txBox="1">
            <a:spLocks/>
          </p:cNvSpPr>
          <p:nvPr/>
        </p:nvSpPr>
        <p:spPr>
          <a:xfrm>
            <a:off x="198519" y="2781795"/>
            <a:ext cx="3749173" cy="27975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数据（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Data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1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数据库（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Database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，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DB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1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数据库管理系统（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Database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Management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System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，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DBMS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1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数据库系统（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Database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System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，</a:t>
            </a:r>
            <a:r>
              <a:rPr lang="en-US" altLang="zh-CN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DBS</a:t>
            </a:r>
            <a:r>
              <a:rPr lang="zh-CN" altLang="en-US" sz="1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1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微软雅黑" panose="020B0503020204020204" pitchFamily="82" charset="2"/>
              <a:ea typeface="微软雅黑" panose="020B0503020204020204" pitchFamily="82" charset="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948817C1-E45D-DF6A-5945-61B02ABDF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211" y="2351082"/>
            <a:ext cx="5007352" cy="37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1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28588"/>
            <a:ext cx="7042150" cy="708025"/>
          </a:xfrm>
        </p:spPr>
        <p:txBody>
          <a:bodyPr/>
          <a:lstStyle/>
          <a:p>
            <a:pPr eaLnBrk="1" hangingPunct="1"/>
            <a:r>
              <a:rPr lang="en-US" altLang="zh-CN" sz="3600" smtClean="0"/>
              <a:t>1.  </a:t>
            </a:r>
            <a:r>
              <a:rPr lang="zh-CN" altLang="en-US" sz="3600" smtClean="0"/>
              <a:t>数据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41438"/>
            <a:ext cx="7764462" cy="482441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我们生活在一个“信息（</a:t>
            </a:r>
            <a:r>
              <a:rPr lang="en-US" altLang="zh-CN" dirty="0" smtClean="0"/>
              <a:t>Information</a:t>
            </a:r>
            <a:r>
              <a:rPr lang="zh-CN" altLang="en-US" dirty="0" smtClean="0"/>
              <a:t>）”世界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什么是信息</a:t>
            </a:r>
            <a:r>
              <a:rPr lang="en-US" altLang="zh-CN" dirty="0" smtClean="0"/>
              <a:t>?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信息，指音讯、消息、通讯系统传输和处理的</a:t>
            </a:r>
            <a:r>
              <a:rPr lang="zh-CN" altLang="en-US" dirty="0" smtClean="0"/>
              <a:t>对象。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Information </a:t>
            </a:r>
            <a:r>
              <a:rPr lang="en-US" altLang="zh-CN" dirty="0"/>
              <a:t>can be defined as knowledge or idea that is derived from study, experience, about events or things. 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信息需要被表现出来，才能被</a:t>
            </a:r>
            <a:r>
              <a:rPr lang="zh-CN" altLang="en-US" dirty="0" smtClean="0"/>
              <a:t>人类获取、加工，</a:t>
            </a:r>
            <a:r>
              <a:rPr lang="zh-CN" altLang="en-US" dirty="0"/>
              <a:t>这可以</a:t>
            </a:r>
            <a:r>
              <a:rPr lang="zh-CN" altLang="en-US" dirty="0" smtClean="0"/>
              <a:t>称为媒体（</a:t>
            </a:r>
            <a:r>
              <a:rPr lang="en-US" altLang="zh-CN" dirty="0" smtClean="0"/>
              <a:t>Media</a:t>
            </a:r>
            <a:r>
              <a:rPr lang="zh-CN" altLang="en-US" dirty="0" smtClean="0"/>
              <a:t>），如文本、图像、视频、音频等。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媒体</a:t>
            </a:r>
            <a:r>
              <a:rPr lang="zh-CN" altLang="en-US" dirty="0"/>
              <a:t>可以转换成比特或符号，因此更容易被计算机</a:t>
            </a:r>
            <a:r>
              <a:rPr lang="zh-CN" altLang="en-US" dirty="0" smtClean="0"/>
              <a:t>操纵，比特或符号称为数据</a:t>
            </a:r>
            <a:r>
              <a:rPr lang="en-US" altLang="zh-CN" dirty="0" smtClean="0"/>
              <a:t>(Data)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305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28588"/>
            <a:ext cx="7042150" cy="708025"/>
          </a:xfrm>
        </p:spPr>
        <p:txBody>
          <a:bodyPr/>
          <a:lstStyle/>
          <a:p>
            <a:pPr eaLnBrk="1" hangingPunct="1"/>
            <a:r>
              <a:rPr lang="en-US" altLang="zh-CN" sz="3600" smtClean="0"/>
              <a:t>1.  </a:t>
            </a:r>
            <a:r>
              <a:rPr lang="zh-CN" altLang="en-US" sz="3600" smtClean="0"/>
              <a:t>数据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41438"/>
            <a:ext cx="7764462" cy="4824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/>
              <a:t>信息（</a:t>
            </a:r>
            <a:r>
              <a:rPr lang="en-US" altLang="zh-CN" sz="2000" dirty="0" smtClean="0"/>
              <a:t>Information</a:t>
            </a:r>
            <a:r>
              <a:rPr lang="zh-CN" altLang="en-US" sz="2000" dirty="0" smtClean="0"/>
              <a:t>）、媒体（</a:t>
            </a:r>
            <a:r>
              <a:rPr lang="en-US" altLang="zh-CN" sz="2000" dirty="0" smtClean="0"/>
              <a:t>Media</a:t>
            </a:r>
            <a:r>
              <a:rPr lang="zh-CN" altLang="en-US" sz="2000" dirty="0" smtClean="0"/>
              <a:t>），数据</a:t>
            </a:r>
            <a:r>
              <a:rPr lang="en-US" altLang="zh-CN" sz="2000" dirty="0" smtClean="0"/>
              <a:t>(Data)</a:t>
            </a:r>
            <a:r>
              <a:rPr lang="zh-CN" altLang="en-US" sz="2000" dirty="0" smtClean="0"/>
              <a:t>之间的关系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8175" y="1965325"/>
            <a:ext cx="5400675" cy="4530725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352461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28588"/>
            <a:ext cx="7042150" cy="708025"/>
          </a:xfrm>
        </p:spPr>
        <p:txBody>
          <a:bodyPr/>
          <a:lstStyle/>
          <a:p>
            <a:pPr eaLnBrk="1" hangingPunct="1"/>
            <a:r>
              <a:rPr lang="en-US" altLang="zh-CN" sz="3600" smtClean="0"/>
              <a:t>1.  </a:t>
            </a:r>
            <a:r>
              <a:rPr lang="zh-CN" altLang="en-US" sz="3600" smtClean="0"/>
              <a:t>数据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41438"/>
            <a:ext cx="7764462" cy="48244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 smtClean="0"/>
              <a:t>信息的特点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/>
              <a:t>爆炸式增长：越来越多的存储设备需要存储不断增长的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无限复制：复制粘贴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派生：相关</a:t>
            </a:r>
            <a:r>
              <a:rPr lang="zh-CN" altLang="en-US" dirty="0"/>
              <a:t>信息会产生新的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数据继承了这些</a:t>
            </a:r>
            <a:r>
              <a:rPr lang="zh-CN" altLang="en-US" dirty="0" smtClean="0"/>
              <a:t>特征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数据不断增长，需要存储和处理</a:t>
            </a:r>
            <a:r>
              <a:rPr lang="zh-CN" altLang="en-US" dirty="0" smtClean="0"/>
              <a:t>技术，即数据库系统</a:t>
            </a:r>
          </a:p>
        </p:txBody>
      </p:sp>
    </p:spTree>
    <p:extLst>
      <p:ext uri="{BB962C8B-B14F-4D97-AF65-F5344CB8AC3E}">
        <p14:creationId xmlns:p14="http://schemas.microsoft.com/office/powerpoint/2010/main" val="274280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 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720" y="1325562"/>
            <a:ext cx="8717279" cy="5040403"/>
          </a:xfrm>
        </p:spPr>
        <p:txBody>
          <a:bodyPr>
            <a:normAutofit fontScale="92500" lnSpcReduction="10000"/>
          </a:bodyPr>
          <a:lstStyle/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kumimoji="1" lang="zh-CN" altLang="en-US" sz="2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r>
              <a:rPr kumimoji="1" lang="en-US" altLang="zh-CN" sz="2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:</a:t>
            </a: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r>
              <a:rPr lang="zh-CN" altLang="en-US" dirty="0"/>
              <a:t>数字，例如 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</a:p>
          <a:p>
            <a:pPr lvl="1"/>
            <a:r>
              <a:rPr lang="zh-CN" altLang="en-US" dirty="0"/>
              <a:t>文本，例如张三、李四</a:t>
            </a:r>
          </a:p>
          <a:p>
            <a:pPr lvl="1"/>
            <a:r>
              <a:rPr lang="zh-CN" altLang="en-US" dirty="0"/>
              <a:t>时间，例如</a:t>
            </a:r>
            <a:r>
              <a:rPr lang="en-US" altLang="zh-CN" dirty="0"/>
              <a:t>2022</a:t>
            </a:r>
            <a:r>
              <a:rPr lang="zh-CN" altLang="en-US" dirty="0"/>
              <a:t>年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</a:t>
            </a:r>
          </a:p>
          <a:p>
            <a:pPr lvl="1"/>
            <a:r>
              <a:rPr lang="zh-CN" altLang="en-US" dirty="0"/>
              <a:t>向量，例如图片或文本的表征</a:t>
            </a:r>
          </a:p>
          <a:p>
            <a:pPr lvl="1"/>
            <a:r>
              <a:rPr lang="zh-CN" altLang="en-US" dirty="0"/>
              <a:t>图片，例如</a:t>
            </a:r>
            <a:r>
              <a:rPr lang="en-US" altLang="zh-CN" dirty="0"/>
              <a:t>logo</a:t>
            </a:r>
          </a:p>
          <a:p>
            <a:pPr lvl="1"/>
            <a:r>
              <a:rPr lang="zh-CN" altLang="en-US" dirty="0"/>
              <a:t>音频，例如电视</a:t>
            </a:r>
            <a:r>
              <a:rPr lang="zh-CN" altLang="en-US" dirty="0" smtClean="0"/>
              <a:t>语音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视频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</a:t>
            </a:r>
          </a:p>
          <a:p>
            <a:pPr lvl="1"/>
            <a:endParaRPr lang="en-US" altLang="zh-CN" dirty="0" smtClean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kumimoji="1"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数据类型</a:t>
            </a:r>
            <a:r>
              <a:rPr kumimoji="1" lang="zh-CN" altLang="en-US" sz="28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分类</a:t>
            </a:r>
            <a:endParaRPr kumimoji="1" lang="en-US" altLang="zh-CN" sz="2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r>
              <a:rPr lang="zh-CN" altLang="en-US" dirty="0"/>
              <a:t>结构化数据：关系数据（表）</a:t>
            </a:r>
            <a:endParaRPr lang="en-US" altLang="zh-CN" dirty="0"/>
          </a:p>
          <a:p>
            <a:pPr lvl="1"/>
            <a:r>
              <a:rPr lang="zh-CN" altLang="en-US" dirty="0"/>
              <a:t>半结构化数据，如图，向量</a:t>
            </a:r>
            <a:endParaRPr lang="en-US" altLang="zh-CN" dirty="0"/>
          </a:p>
          <a:p>
            <a:pPr lvl="1"/>
            <a:r>
              <a:rPr lang="zh-CN" altLang="en-US" dirty="0"/>
              <a:t>非结构化数据，如文本文档、电子邮件、图像、音频、视频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lang="en-US" altLang="zh-CN" sz="2800" b="1" dirty="0" smtClean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1455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 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720" y="1325562"/>
            <a:ext cx="8717279" cy="5040403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/>
              <a:t>结构化数据</a:t>
            </a:r>
            <a:r>
              <a:rPr lang="zh-CN" altLang="en-US" sz="2800" dirty="0" smtClean="0"/>
              <a:t>：</a:t>
            </a: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 smtClean="0"/>
              <a:t>指</a:t>
            </a:r>
            <a:r>
              <a:rPr lang="zh-CN" altLang="en-US" dirty="0"/>
              <a:t>那些以固定格式或模式存储的信息，通常可以被快速检索和处理。</a:t>
            </a:r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b="1" dirty="0"/>
              <a:t>格式</a:t>
            </a:r>
            <a:r>
              <a:rPr lang="zh-CN" altLang="en-US" b="1" dirty="0" smtClean="0"/>
              <a:t>固定</a:t>
            </a:r>
            <a:endParaRPr lang="en-US" altLang="zh-CN" b="1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b="1" dirty="0"/>
              <a:t>易于</a:t>
            </a:r>
            <a:r>
              <a:rPr lang="zh-CN" altLang="en-US" b="1" dirty="0" smtClean="0"/>
              <a:t>查询</a:t>
            </a:r>
            <a:endParaRPr lang="en-US" altLang="zh-CN" b="1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b="1" dirty="0"/>
              <a:t>标准化</a:t>
            </a:r>
            <a:endParaRPr kumimoji="1" lang="en-US" altLang="zh-CN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graphicFrame>
        <p:nvGraphicFramePr>
          <p:cNvPr id="4" name="Group 27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123962"/>
              </p:ext>
            </p:extLst>
          </p:nvPr>
        </p:nvGraphicFramePr>
        <p:xfrm>
          <a:off x="847383" y="3626498"/>
          <a:ext cx="7214265" cy="26436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43132"/>
                <a:gridCol w="1443131"/>
                <a:gridCol w="1441739"/>
                <a:gridCol w="1443132"/>
                <a:gridCol w="1443131"/>
              </a:tblGrid>
              <a:tr h="8413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姓名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Sname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性别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Ssex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年龄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Sage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所在系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Sdept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201215121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李勇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男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201215122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刘晨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女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201215123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王敏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女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5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201215125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张立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男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49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 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720" y="1325562"/>
            <a:ext cx="8717279" cy="5040403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/>
              <a:t>半结构化</a:t>
            </a:r>
            <a:r>
              <a:rPr lang="zh-CN" altLang="en-US" sz="2800" dirty="0"/>
              <a:t>数据</a:t>
            </a:r>
            <a:r>
              <a:rPr lang="zh-CN" altLang="en-US" sz="2800" dirty="0" smtClean="0"/>
              <a:t>：</a:t>
            </a: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介于完全结构化数据和完全无结构的数据之间的数据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kumimoji="1" lang="en-US" altLang="zh-CN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HTML</a:t>
            </a:r>
            <a:r>
              <a:rPr kumimoji="1" lang="zh-CN" altLang="en-US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文档属于半结构化数据，数据的结构和内容混在一起。</a:t>
            </a:r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它是结构化的数据，但是结构变化</a:t>
            </a:r>
            <a:r>
              <a:rPr lang="zh-CN" altLang="en-US" dirty="0" smtClean="0"/>
              <a:t>很大</a:t>
            </a: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kumimoji="1" lang="zh-CN" altLang="en-US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如简历</a:t>
            </a:r>
            <a:endParaRPr kumimoji="1" lang="en-US" altLang="zh-CN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lvl="1" indent="0">
              <a:spcBef>
                <a:spcPts val="1000"/>
              </a:spcBef>
              <a:buNone/>
            </a:pP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4880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 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720" y="1325562"/>
            <a:ext cx="8717279" cy="5040403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/>
              <a:t>非结构化</a:t>
            </a:r>
            <a:r>
              <a:rPr lang="zh-CN" altLang="en-US" sz="2800" dirty="0"/>
              <a:t>数据</a:t>
            </a:r>
            <a:r>
              <a:rPr lang="zh-CN" altLang="en-US" sz="2800" dirty="0" smtClean="0"/>
              <a:t>：</a:t>
            </a: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就是没有固定结构的数据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kumimoji="1" lang="en-US" altLang="zh-CN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HTML</a:t>
            </a:r>
            <a:r>
              <a:rPr kumimoji="1" lang="zh-CN" altLang="en-US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文档属于半结构化数据，数据的结构和内容混在一起。</a:t>
            </a:r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一般直接整体进行存储，而且一般存储为二进制的</a:t>
            </a:r>
            <a:r>
              <a:rPr lang="zh-CN" altLang="en-US" dirty="0" smtClean="0"/>
              <a:t>数据格式</a:t>
            </a: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如文本文档、电子邮件、图像、音频、</a:t>
            </a:r>
            <a:r>
              <a:rPr lang="zh-CN" altLang="en-US" dirty="0" smtClean="0"/>
              <a:t>视频</a:t>
            </a: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非结构化数据在各行各业中占比越来越多，比如医疗行业的影像资料、教育行业的教学文档、传媒行业的音视频</a:t>
            </a:r>
            <a:r>
              <a:rPr lang="zh-CN" altLang="en-US" dirty="0" smtClean="0"/>
              <a:t>素材。</a:t>
            </a: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dirty="0"/>
              <a:t>如何更好地掌握和利用非结构化数据，成为众多企业亟需解决的</a:t>
            </a:r>
            <a:r>
              <a:rPr lang="zh-CN" altLang="en-US" dirty="0" smtClean="0"/>
              <a:t>问题。</a:t>
            </a:r>
            <a:endParaRPr lang="zh-CN" altLang="en-US" dirty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lang="en-US" altLang="zh-CN" dirty="0" smtClean="0"/>
          </a:p>
          <a:p>
            <a:pPr marL="685800" lvl="2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endParaRPr kumimoji="1" lang="en-US" altLang="zh-CN" sz="2800" dirty="0" smtClean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lvl="1" indent="0">
              <a:spcBef>
                <a:spcPts val="1000"/>
              </a:spcBef>
              <a:buNone/>
            </a:pPr>
            <a:endParaRPr kumimoji="1"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0441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2.  </a:t>
            </a:r>
            <a:r>
              <a:rPr lang="zh-CN" altLang="en-US" sz="3600" smtClean="0"/>
              <a:t>数据库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98550"/>
            <a:ext cx="8229600" cy="49974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mtClean="0"/>
              <a:t>数据库的定义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mtClean="0"/>
              <a:t>数据库（</a:t>
            </a:r>
            <a:r>
              <a:rPr lang="en-US" altLang="zh-CN" smtClean="0"/>
              <a:t>Database</a:t>
            </a:r>
            <a:r>
              <a:rPr lang="zh-CN" altLang="en-US" smtClean="0"/>
              <a:t>，简称</a:t>
            </a:r>
            <a:r>
              <a:rPr lang="en-US" altLang="zh-CN" smtClean="0"/>
              <a:t>DB</a:t>
            </a:r>
            <a:r>
              <a:rPr lang="zh-CN" altLang="en-US" smtClean="0"/>
              <a:t>）是</a:t>
            </a:r>
            <a:r>
              <a:rPr lang="zh-CN" altLang="en-US" smtClean="0">
                <a:solidFill>
                  <a:srgbClr val="FF00FF"/>
                </a:solidFill>
              </a:rPr>
              <a:t>长期储存</a:t>
            </a:r>
            <a:r>
              <a:rPr lang="zh-CN" altLang="en-US" smtClean="0"/>
              <a:t>在计算机内、</a:t>
            </a:r>
            <a:r>
              <a:rPr lang="zh-CN" altLang="en-US" smtClean="0">
                <a:solidFill>
                  <a:srgbClr val="FF00FF"/>
                </a:solidFill>
              </a:rPr>
              <a:t>有组织</a:t>
            </a:r>
            <a:r>
              <a:rPr lang="zh-CN" altLang="en-US" smtClean="0"/>
              <a:t>的、</a:t>
            </a:r>
            <a:r>
              <a:rPr lang="zh-CN" altLang="en-US" smtClean="0">
                <a:solidFill>
                  <a:srgbClr val="FF00FF"/>
                </a:solidFill>
              </a:rPr>
              <a:t>可共享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FF"/>
                </a:solidFill>
              </a:rPr>
              <a:t>大量</a:t>
            </a:r>
            <a:r>
              <a:rPr lang="zh-CN" altLang="en-US" smtClean="0"/>
              <a:t>数据的集合。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smtClean="0"/>
              <a:t>数据库的基本特征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mtClean="0"/>
              <a:t>数据按一定的数据模型组织、描述和储存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mtClean="0"/>
              <a:t>可为各种用户共享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mtClean="0"/>
              <a:t>冗余度较小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mtClean="0"/>
              <a:t>数据独立性较高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mtClean="0"/>
              <a:t>易扩展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70718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3.  </a:t>
            </a:r>
            <a:r>
              <a:rPr lang="zh-CN" altLang="en-US" sz="3600" dirty="0" smtClean="0"/>
              <a:t>数据库管理系统</a:t>
            </a:r>
            <a:endParaRPr lang="zh-CN" altLang="en-US" sz="3600" dirty="0" smtClean="0">
              <a:solidFill>
                <a:schemeClr val="tx1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7772400" cy="448945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 smtClean="0"/>
              <a:t>什么是数据库管理系统</a:t>
            </a:r>
            <a:endParaRPr lang="en-US" altLang="zh-CN" dirty="0" smtClean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000" dirty="0" smtClean="0"/>
              <a:t>位于用户与操作系统之间的一层数据管理软件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000" dirty="0" smtClean="0">
                <a:latin typeface="宋体" panose="02010600030101010101" pitchFamily="2" charset="-122"/>
              </a:rPr>
              <a:t>是基础软件，是一个大型复杂的软件系统</a:t>
            </a:r>
            <a:r>
              <a:rPr lang="zh-CN" altLang="en-US" sz="2000" dirty="0" smtClean="0"/>
              <a:t> 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sz="2000" dirty="0" smtClean="0"/>
              <a:t>功能：科学地组织和存储数据、高效地获取和维护数据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23900" y="5833534"/>
            <a:ext cx="5105400" cy="685800"/>
          </a:xfrm>
          <a:prstGeom prst="rect">
            <a:avLst/>
          </a:prstGeom>
          <a:gradFill rotWithShape="0">
            <a:gsLst>
              <a:gs pos="0">
                <a:srgbClr val="CCFFCC"/>
              </a:gs>
              <a:gs pos="100000">
                <a:srgbClr val="5E765E"/>
              </a:gs>
            </a:gsLst>
            <a:path path="rect">
              <a:fillToRect r="100000" b="100000"/>
            </a:path>
          </a:gra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CCFFCC"/>
            </a:extrusionClr>
            <a:contourClr>
              <a:srgbClr val="CCFFCC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76300" y="5300134"/>
            <a:ext cx="4495800" cy="533400"/>
          </a:xfrm>
          <a:prstGeom prst="rect">
            <a:avLst/>
          </a:prstGeom>
          <a:gradFill rotWithShape="0">
            <a:gsLst>
              <a:gs pos="0">
                <a:srgbClr val="66FF99"/>
              </a:gs>
              <a:gs pos="100000">
                <a:srgbClr val="2F7647"/>
              </a:gs>
            </a:gsLst>
            <a:path path="rect">
              <a:fillToRect r="100000" b="100000"/>
            </a:path>
          </a:gra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66FF99"/>
            </a:extrusionClr>
            <a:contourClr>
              <a:srgbClr val="66FF99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endParaRPr kumimoji="1" lang="zh-CN" altLang="zh-CN" sz="2000" b="1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257300" y="4766734"/>
            <a:ext cx="3733800" cy="533400"/>
          </a:xfrm>
          <a:prstGeom prst="rect">
            <a:avLst/>
          </a:prstGeom>
          <a:gradFill rotWithShape="0">
            <a:gsLst>
              <a:gs pos="0">
                <a:srgbClr val="33CC33"/>
              </a:gs>
              <a:gs pos="100000">
                <a:srgbClr val="185E18"/>
              </a:gs>
            </a:gsLst>
            <a:path path="rect">
              <a:fillToRect r="100000" b="100000"/>
            </a:path>
          </a:gra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33CC33"/>
            </a:extrusionClr>
            <a:contourClr>
              <a:srgbClr val="33CC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47900" y="4080934"/>
            <a:ext cx="2819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409700" y="4309534"/>
            <a:ext cx="3276600" cy="457200"/>
          </a:xfrm>
          <a:prstGeom prst="rect">
            <a:avLst/>
          </a:prstGeom>
          <a:gradFill rotWithShape="0">
            <a:gsLst>
              <a:gs pos="0">
                <a:srgbClr val="00CC99"/>
              </a:gs>
              <a:gs pos="100000">
                <a:srgbClr val="005E47"/>
              </a:gs>
            </a:gsLst>
            <a:path path="rect">
              <a:fillToRect r="100000" b="100000"/>
            </a:path>
          </a:gra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00CC99"/>
            </a:extrusionClr>
            <a:contourClr>
              <a:srgbClr val="00CC99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019300" y="5909734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硬件平台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333500" y="5300134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基础软件平台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257300" y="4766734"/>
            <a:ext cx="289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软件基础构架平台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257300" y="4309534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应用软件平台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714500" y="3776134"/>
            <a:ext cx="2438400" cy="457200"/>
          </a:xfrm>
          <a:prstGeom prst="rect">
            <a:avLst/>
          </a:prstGeom>
          <a:gradFill rotWithShape="0">
            <a:gsLst>
              <a:gs pos="0">
                <a:srgbClr val="00CC99"/>
              </a:gs>
              <a:gs pos="100000">
                <a:srgbClr val="005E47"/>
              </a:gs>
            </a:gsLst>
            <a:path path="rect">
              <a:fillToRect r="100000" b="100000"/>
            </a:path>
          </a:gra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00CC99"/>
            </a:extrusionClr>
            <a:contourClr>
              <a:srgbClr val="00CC99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1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866900" y="3776134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软件产品</a:t>
            </a:r>
          </a:p>
        </p:txBody>
      </p:sp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5219700" y="3471334"/>
            <a:ext cx="2971800" cy="1066800"/>
          </a:xfrm>
          <a:prstGeom prst="cloudCallout">
            <a:avLst>
              <a:gd name="adj1" fmla="val -83389"/>
              <a:gd name="adj2" fmla="val 52829"/>
            </a:avLst>
          </a:prstGeom>
          <a:solidFill>
            <a:srgbClr val="746A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协同软件</a:t>
            </a:r>
          </a:p>
          <a:p>
            <a:pPr eaLnBrk="1" fontAlgn="t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办公软件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5372100" y="5681134"/>
            <a:ext cx="3613150" cy="1066800"/>
          </a:xfrm>
          <a:prstGeom prst="cloudCallout">
            <a:avLst>
              <a:gd name="adj1" fmla="val -95199"/>
              <a:gd name="adj2" fmla="val -62352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t">
              <a:spcBef>
                <a:spcPct val="50000"/>
              </a:spcBef>
              <a:defRPr/>
            </a:pPr>
            <a:r>
              <a:rPr kumimoji="1" lang="zh-CN" altLang="en-US" sz="20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数据库管理系统</a:t>
            </a:r>
            <a:endParaRPr kumimoji="1" lang="zh-CN" altLang="en-US" sz="2000" b="1" dirty="0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kumimoji="1" lang="zh-CN" alt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操作系统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5372100" y="4538134"/>
            <a:ext cx="2971800" cy="1066800"/>
          </a:xfrm>
          <a:prstGeom prst="cloudCallout">
            <a:avLst>
              <a:gd name="adj1" fmla="val -80394"/>
              <a:gd name="adj2" fmla="val 2231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中间件</a:t>
            </a:r>
          </a:p>
          <a:p>
            <a:pPr eaLnBrk="1" fontAlgn="t" hangingPunct="1">
              <a:spcBef>
                <a:spcPct val="50000"/>
              </a:spcBef>
            </a:pPr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  应用服务器</a:t>
            </a:r>
          </a:p>
        </p:txBody>
      </p:sp>
    </p:spTree>
    <p:extLst>
      <p:ext uri="{BB962C8B-B14F-4D97-AF65-F5344CB8AC3E}">
        <p14:creationId xmlns:p14="http://schemas.microsoft.com/office/powerpoint/2010/main" val="273065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  </a:t>
            </a:r>
            <a:r>
              <a:rPr lang="zh-CN" altLang="en-US" sz="3600" dirty="0"/>
              <a:t>数据库管理系统</a:t>
            </a:r>
            <a:endParaRPr lang="zh-CN" altLang="en-US" sz="3600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68413"/>
            <a:ext cx="7993062" cy="463073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主要功能：</a:t>
            </a:r>
            <a:endParaRPr lang="en-US" altLang="zh-CN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数据定义功能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提供数据定义语言（</a:t>
            </a:r>
            <a:r>
              <a:rPr lang="en-US" altLang="zh-CN" sz="2200" dirty="0" smtClean="0"/>
              <a:t>DDL</a:t>
            </a:r>
            <a:r>
              <a:rPr lang="zh-CN" altLang="en-US" sz="2200" dirty="0" smtClean="0"/>
              <a:t>）</a:t>
            </a:r>
            <a:endParaRPr lang="en-US" altLang="zh-CN" sz="2200" dirty="0" smtClean="0"/>
          </a:p>
          <a:p>
            <a:pPr lvl="2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定义数据库中的数据对象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数据组织、存储和管理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500" dirty="0"/>
              <a:t>数据操纵功能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提供数据操纵语言（</a:t>
            </a:r>
            <a:r>
              <a:rPr lang="en-US" altLang="zh-CN" sz="2200" dirty="0"/>
              <a:t>DML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lvl="2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实现对数据库的基本操作 </a:t>
            </a:r>
            <a:r>
              <a:rPr lang="zh-CN" altLang="en-US" sz="2200" dirty="0" smtClean="0"/>
              <a:t>（查询</a:t>
            </a:r>
            <a:r>
              <a:rPr lang="zh-CN" altLang="en-US" sz="2200" dirty="0"/>
              <a:t>、插入、删除和修改</a:t>
            </a:r>
            <a:r>
              <a:rPr lang="zh-CN" altLang="en-US" sz="2200" dirty="0" smtClean="0"/>
              <a:t>）</a:t>
            </a:r>
            <a:endParaRPr lang="en-US" altLang="zh-CN" sz="2200" dirty="0" smtClean="0"/>
          </a:p>
          <a:p>
            <a:pPr lvl="1" algn="just">
              <a:lnSpc>
                <a:spcPct val="150000"/>
              </a:lnSpc>
              <a:buSzPct val="87000"/>
            </a:pPr>
            <a:r>
              <a:rPr lang="zh-CN" altLang="en-US" sz="2500" dirty="0"/>
              <a:t>数据库的事务管理和运行管理</a:t>
            </a:r>
            <a:endParaRPr lang="en-US" altLang="zh-CN" sz="2500" dirty="0"/>
          </a:p>
          <a:p>
            <a:pPr lvl="1" algn="just">
              <a:lnSpc>
                <a:spcPct val="150000"/>
              </a:lnSpc>
              <a:buSzPct val="87000"/>
            </a:pPr>
            <a:r>
              <a:rPr lang="zh-CN" altLang="en-US" sz="2500" dirty="0"/>
              <a:t>数据库的建立和维护</a:t>
            </a:r>
            <a:r>
              <a:rPr lang="zh-CN" altLang="en-US" sz="2500" dirty="0" smtClean="0"/>
              <a:t>功能</a:t>
            </a:r>
            <a:endParaRPr lang="en-US" altLang="zh-CN" sz="2500" dirty="0" smtClean="0"/>
          </a:p>
          <a:p>
            <a:pPr lvl="1" algn="just">
              <a:lnSpc>
                <a:spcPct val="150000"/>
              </a:lnSpc>
              <a:buSzPct val="87000"/>
            </a:pPr>
            <a:r>
              <a:rPr lang="zh-CN" altLang="en-US" sz="2500" dirty="0"/>
              <a:t>其他</a:t>
            </a:r>
            <a:endParaRPr lang="en-US" altLang="zh-CN" sz="2500" dirty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137080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4.</a:t>
            </a:r>
            <a:r>
              <a:rPr lang="zh-CN" altLang="en-US" sz="3600" dirty="0" smtClean="0"/>
              <a:t>数据库系统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772400" cy="461803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 smtClean="0"/>
              <a:t>数据库系统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DBS</a:t>
            </a:r>
            <a:r>
              <a:rPr lang="zh-CN" altLang="en-US" sz="2400" dirty="0" smtClean="0"/>
              <a:t>）</a:t>
            </a:r>
            <a:endParaRPr lang="zh-CN" altLang="en-US" dirty="0" smtClean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 smtClean="0"/>
              <a:t>数据库系统的构成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 smtClean="0"/>
              <a:t>数据库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 smtClean="0"/>
              <a:t>数据库管理系统</a:t>
            </a:r>
            <a:endParaRPr lang="en-US" altLang="zh-CN" dirty="0" smtClean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 smtClean="0"/>
              <a:t>应用程序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 smtClean="0"/>
              <a:t>数据库管理员  </a:t>
            </a:r>
          </a:p>
        </p:txBody>
      </p:sp>
      <p:sp>
        <p:nvSpPr>
          <p:cNvPr id="4" name="AutoShape 1029"/>
          <p:cNvSpPr>
            <a:spLocks noChangeArrowheads="1"/>
          </p:cNvSpPr>
          <p:nvPr/>
        </p:nvSpPr>
        <p:spPr bwMode="auto">
          <a:xfrm>
            <a:off x="4839277" y="5551199"/>
            <a:ext cx="1276350" cy="801687"/>
          </a:xfrm>
          <a:prstGeom prst="flowChartMagneticDisk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6000"/>
              </a:lnSpc>
            </a:pPr>
            <a:r>
              <a:rPr lang="en-US" altLang="zh-CN" sz="2000" b="1">
                <a:solidFill>
                  <a:srgbClr val="FF3300"/>
                </a:solidFill>
              </a:rPr>
              <a:t>   </a:t>
            </a:r>
            <a:r>
              <a:rPr lang="zh-CN" altLang="en-US" sz="2000" b="1">
                <a:solidFill>
                  <a:srgbClr val="FF3300"/>
                </a:solidFill>
              </a:rPr>
              <a:t>数据库</a:t>
            </a:r>
          </a:p>
        </p:txBody>
      </p:sp>
      <p:sp>
        <p:nvSpPr>
          <p:cNvPr id="5" name="AutoShape 1030"/>
          <p:cNvSpPr>
            <a:spLocks noChangeArrowheads="1"/>
          </p:cNvSpPr>
          <p:nvPr/>
        </p:nvSpPr>
        <p:spPr bwMode="auto">
          <a:xfrm>
            <a:off x="4426527" y="1809461"/>
            <a:ext cx="2046288" cy="568325"/>
          </a:xfrm>
          <a:prstGeom prst="hexagon">
            <a:avLst>
              <a:gd name="adj" fmla="val 73761"/>
              <a:gd name="vf" fmla="val 11547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 dirty="0">
                <a:solidFill>
                  <a:srgbClr val="FF3300"/>
                </a:solidFill>
              </a:rPr>
              <a:t> </a:t>
            </a:r>
            <a:r>
              <a:rPr lang="zh-CN" altLang="en-US" sz="2000" b="1" dirty="0">
                <a:solidFill>
                  <a:srgbClr val="FF3300"/>
                </a:solidFill>
              </a:rPr>
              <a:t>应用系统</a:t>
            </a:r>
          </a:p>
        </p:txBody>
      </p:sp>
      <p:sp>
        <p:nvSpPr>
          <p:cNvPr id="6" name="AutoShape 1031"/>
          <p:cNvSpPr>
            <a:spLocks noChangeArrowheads="1"/>
          </p:cNvSpPr>
          <p:nvPr/>
        </p:nvSpPr>
        <p:spPr bwMode="auto">
          <a:xfrm>
            <a:off x="4199515" y="2625436"/>
            <a:ext cx="2789237" cy="665163"/>
          </a:xfrm>
          <a:prstGeom prst="hexagon">
            <a:avLst>
              <a:gd name="adj" fmla="val 79226"/>
              <a:gd name="vf" fmla="val 11547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zh-CN" altLang="en-US" sz="2000" b="1" dirty="0"/>
              <a:t>应用开发工具</a:t>
            </a:r>
          </a:p>
        </p:txBody>
      </p:sp>
      <p:sp>
        <p:nvSpPr>
          <p:cNvPr id="7" name="AutoShape 1032"/>
          <p:cNvSpPr>
            <a:spLocks noChangeArrowheads="1"/>
          </p:cNvSpPr>
          <p:nvPr/>
        </p:nvSpPr>
        <p:spPr bwMode="auto">
          <a:xfrm>
            <a:off x="4336040" y="4509799"/>
            <a:ext cx="2309812" cy="738187"/>
          </a:xfrm>
          <a:prstGeom prst="hexagon">
            <a:avLst>
              <a:gd name="adj" fmla="val 64102"/>
              <a:gd name="vf" fmla="val 11547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/>
              <a:t>   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/>
              <a:t>    </a:t>
            </a:r>
            <a:r>
              <a:rPr lang="zh-CN" altLang="en-US" sz="2000" b="1"/>
              <a:t>操作系统</a:t>
            </a:r>
          </a:p>
        </p:txBody>
      </p:sp>
      <p:sp>
        <p:nvSpPr>
          <p:cNvPr id="8" name="AutoShape 1033"/>
          <p:cNvSpPr>
            <a:spLocks noChangeArrowheads="1"/>
          </p:cNvSpPr>
          <p:nvPr/>
        </p:nvSpPr>
        <p:spPr bwMode="auto">
          <a:xfrm>
            <a:off x="3928052" y="3533486"/>
            <a:ext cx="3094038" cy="738188"/>
          </a:xfrm>
          <a:prstGeom prst="hexagon">
            <a:avLst>
              <a:gd name="adj" fmla="val 83440"/>
              <a:gd name="vf" fmla="val 11547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endParaRPr lang="en-US" altLang="zh-CN" sz="2000" b="1">
              <a:solidFill>
                <a:schemeClr val="accent2"/>
              </a:solidFill>
            </a:endParaRPr>
          </a:p>
          <a:p>
            <a:pPr algn="just">
              <a:lnSpc>
                <a:spcPct val="80000"/>
              </a:lnSpc>
            </a:pPr>
            <a:r>
              <a:rPr lang="en-US" altLang="zh-CN" sz="2000" b="1">
                <a:solidFill>
                  <a:schemeClr val="accent2"/>
                </a:solidFill>
              </a:rPr>
              <a:t> </a:t>
            </a:r>
            <a:r>
              <a:rPr lang="zh-CN" altLang="en-US" sz="2000" b="1">
                <a:solidFill>
                  <a:srgbClr val="FF3300"/>
                </a:solidFill>
              </a:rPr>
              <a:t>数据库管理系统</a:t>
            </a:r>
          </a:p>
        </p:txBody>
      </p:sp>
      <p:sp>
        <p:nvSpPr>
          <p:cNvPr id="9" name="Line 1036"/>
          <p:cNvSpPr>
            <a:spLocks noChangeShapeType="1"/>
          </p:cNvSpPr>
          <p:nvPr/>
        </p:nvSpPr>
        <p:spPr bwMode="auto">
          <a:xfrm flipH="1">
            <a:off x="7033202" y="3900199"/>
            <a:ext cx="388938" cy="476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37"/>
          <p:cNvSpPr>
            <a:spLocks noChangeShapeType="1"/>
          </p:cNvSpPr>
          <p:nvPr/>
        </p:nvSpPr>
        <p:spPr bwMode="auto">
          <a:xfrm>
            <a:off x="5450465" y="2411124"/>
            <a:ext cx="0" cy="2286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038"/>
          <p:cNvSpPr>
            <a:spLocks noChangeShapeType="1"/>
          </p:cNvSpPr>
          <p:nvPr/>
        </p:nvSpPr>
        <p:spPr bwMode="auto">
          <a:xfrm>
            <a:off x="5450465" y="5247986"/>
            <a:ext cx="0" cy="30162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39"/>
          <p:cNvSpPr>
            <a:spLocks noChangeShapeType="1"/>
          </p:cNvSpPr>
          <p:nvPr/>
        </p:nvSpPr>
        <p:spPr bwMode="auto">
          <a:xfrm>
            <a:off x="5450465" y="4271674"/>
            <a:ext cx="0" cy="2413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40"/>
          <p:cNvSpPr>
            <a:spLocks noChangeShapeType="1"/>
          </p:cNvSpPr>
          <p:nvPr/>
        </p:nvSpPr>
        <p:spPr bwMode="auto">
          <a:xfrm flipH="1">
            <a:off x="5450465" y="3290599"/>
            <a:ext cx="0" cy="25241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041"/>
          <p:cNvSpPr>
            <a:spLocks noChangeShapeType="1"/>
          </p:cNvSpPr>
          <p:nvPr/>
        </p:nvSpPr>
        <p:spPr bwMode="auto">
          <a:xfrm>
            <a:off x="4497965" y="1588799"/>
            <a:ext cx="231775" cy="3048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042"/>
          <p:cNvSpPr>
            <a:spLocks noChangeShapeType="1"/>
          </p:cNvSpPr>
          <p:nvPr/>
        </p:nvSpPr>
        <p:spPr bwMode="auto">
          <a:xfrm flipH="1">
            <a:off x="6241040" y="1571336"/>
            <a:ext cx="519112" cy="37782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043"/>
          <p:cNvSpPr>
            <a:spLocks noChangeShapeType="1"/>
          </p:cNvSpPr>
          <p:nvPr/>
        </p:nvSpPr>
        <p:spPr bwMode="auto">
          <a:xfrm>
            <a:off x="5439352" y="1542761"/>
            <a:ext cx="0" cy="252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044"/>
          <p:cNvSpPr>
            <a:spLocks noChangeArrowheads="1"/>
          </p:cNvSpPr>
          <p:nvPr/>
        </p:nvSpPr>
        <p:spPr bwMode="auto">
          <a:xfrm>
            <a:off x="7393565" y="3614449"/>
            <a:ext cx="1947862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sz="2000" b="1"/>
              <a:t>  </a:t>
            </a:r>
          </a:p>
          <a:p>
            <a:pPr algn="just">
              <a:lnSpc>
                <a:spcPct val="80000"/>
              </a:lnSpc>
            </a:pPr>
            <a:r>
              <a:rPr lang="en-US" altLang="zh-CN" sz="2000" b="1"/>
              <a:t>  </a:t>
            </a:r>
            <a:r>
              <a:rPr lang="zh-CN" altLang="en-US" sz="2000" b="1">
                <a:solidFill>
                  <a:srgbClr val="FF3300"/>
                </a:solidFill>
              </a:rPr>
              <a:t>数据库管理员</a:t>
            </a:r>
          </a:p>
        </p:txBody>
      </p:sp>
      <p:sp>
        <p:nvSpPr>
          <p:cNvPr id="18" name="Rectangle 1045"/>
          <p:cNvSpPr>
            <a:spLocks noChangeArrowheads="1"/>
          </p:cNvSpPr>
          <p:nvPr/>
        </p:nvSpPr>
        <p:spPr bwMode="auto">
          <a:xfrm>
            <a:off x="6456940" y="1218911"/>
            <a:ext cx="1001712" cy="4429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000" b="1"/>
              <a:t>用户</a:t>
            </a:r>
          </a:p>
        </p:txBody>
      </p:sp>
      <p:sp>
        <p:nvSpPr>
          <p:cNvPr id="19" name="Rectangle 1046"/>
          <p:cNvSpPr>
            <a:spLocks noChangeArrowheads="1"/>
          </p:cNvSpPr>
          <p:nvPr/>
        </p:nvSpPr>
        <p:spPr bwMode="auto">
          <a:xfrm>
            <a:off x="5007552" y="1198274"/>
            <a:ext cx="1000125" cy="463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000" b="1" dirty="0"/>
              <a:t>用户</a:t>
            </a:r>
          </a:p>
        </p:txBody>
      </p:sp>
      <p:sp>
        <p:nvSpPr>
          <p:cNvPr id="20" name="Rectangle 1047"/>
          <p:cNvSpPr>
            <a:spLocks noChangeArrowheads="1"/>
          </p:cNvSpPr>
          <p:nvPr/>
        </p:nvSpPr>
        <p:spPr bwMode="auto">
          <a:xfrm>
            <a:off x="3855027" y="1191924"/>
            <a:ext cx="1000125" cy="469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000" b="1"/>
              <a:t>用户</a:t>
            </a:r>
          </a:p>
        </p:txBody>
      </p:sp>
      <p:sp>
        <p:nvSpPr>
          <p:cNvPr id="21" name="TextBox 23"/>
          <p:cNvSpPr txBox="1">
            <a:spLocks noChangeArrowheads="1"/>
          </p:cNvSpPr>
          <p:nvPr/>
        </p:nvSpPr>
        <p:spPr bwMode="auto">
          <a:xfrm>
            <a:off x="5953702" y="1147474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…</a:t>
            </a:r>
            <a:endParaRPr lang="zh-CN" altLang="en-US" b="1"/>
          </a:p>
        </p:txBody>
      </p:sp>
      <p:cxnSp>
        <p:nvCxnSpPr>
          <p:cNvPr id="22" name="直接箭头连接符 25"/>
          <p:cNvCxnSpPr>
            <a:cxnSpLocks noChangeShapeType="1"/>
          </p:cNvCxnSpPr>
          <p:nvPr/>
        </p:nvCxnSpPr>
        <p:spPr bwMode="auto">
          <a:xfrm rot="10800000">
            <a:off x="6123565" y="5973474"/>
            <a:ext cx="2260600" cy="22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连接符 28"/>
          <p:cNvCxnSpPr>
            <a:cxnSpLocks noChangeShapeType="1"/>
            <a:endCxn id="17" idx="2"/>
          </p:cNvCxnSpPr>
          <p:nvPr/>
        </p:nvCxnSpPr>
        <p:spPr bwMode="auto">
          <a:xfrm flipH="1" flipV="1">
            <a:off x="8367496" y="4195474"/>
            <a:ext cx="16670" cy="180022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5574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数据管理技术的发展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772400" cy="5024438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zh-CN" altLang="en-US" dirty="0" smtClean="0"/>
              <a:t>数据管理技术的发展过程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 smtClean="0"/>
              <a:t>人工管理阶段（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世纪</a:t>
            </a:r>
            <a:r>
              <a:rPr lang="en-US" altLang="zh-CN" dirty="0" smtClean="0"/>
              <a:t>50</a:t>
            </a:r>
            <a:r>
              <a:rPr lang="zh-CN" altLang="en-US" dirty="0" smtClean="0"/>
              <a:t>年代中之前）</a:t>
            </a:r>
            <a:endParaRPr lang="en-US" altLang="zh-CN" dirty="0" smtClean="0"/>
          </a:p>
          <a:p>
            <a:pPr lvl="2" algn="just">
              <a:lnSpc>
                <a:spcPct val="160000"/>
              </a:lnSpc>
            </a:pPr>
            <a:r>
              <a:rPr lang="zh-CN" altLang="en-US" dirty="0" smtClean="0"/>
              <a:t>计算机发展的初期，科学计算，无</a:t>
            </a:r>
            <a:r>
              <a:rPr lang="zh-CN" altLang="en-US" dirty="0"/>
              <a:t>直接存取</a:t>
            </a:r>
            <a:r>
              <a:rPr lang="zh-CN" altLang="en-US" dirty="0" smtClean="0"/>
              <a:t>存储设备，没有操作系统，</a:t>
            </a:r>
            <a:r>
              <a:rPr lang="zh-CN" altLang="en-US" dirty="0"/>
              <a:t>数据的管理者：用户（程序员）</a:t>
            </a:r>
            <a:endParaRPr lang="en-US" altLang="zh-CN" dirty="0" smtClean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 smtClean="0"/>
              <a:t>文件系统阶段（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世纪</a:t>
            </a:r>
            <a:r>
              <a:rPr lang="en-US" altLang="zh-CN" dirty="0" smtClean="0"/>
              <a:t>50</a:t>
            </a:r>
            <a:r>
              <a:rPr lang="zh-CN" altLang="en-US" dirty="0" smtClean="0"/>
              <a:t>年代末</a:t>
            </a:r>
            <a:r>
              <a:rPr lang="en-US" altLang="zh-CN" dirty="0" smtClean="0"/>
              <a:t>--60</a:t>
            </a:r>
            <a:r>
              <a:rPr lang="zh-CN" altLang="en-US" dirty="0" smtClean="0"/>
              <a:t>年代中）</a:t>
            </a:r>
            <a:endParaRPr lang="en-US" altLang="zh-CN" dirty="0" smtClean="0"/>
          </a:p>
          <a:p>
            <a:pPr lvl="2">
              <a:lnSpc>
                <a:spcPct val="130000"/>
              </a:lnSpc>
            </a:pPr>
            <a:r>
              <a:rPr lang="zh-CN" altLang="en-US" dirty="0"/>
              <a:t>计算机发展的第二个阶段，有操作系统，有文件系统，磁盘、磁鼓存储，数据的管理者：</a:t>
            </a:r>
            <a:r>
              <a:rPr lang="zh-CN" altLang="en-US" dirty="0" smtClean="0"/>
              <a:t>文件系统	</a:t>
            </a:r>
          </a:p>
          <a:p>
            <a:pPr lvl="1">
              <a:lnSpc>
                <a:spcPct val="130000"/>
              </a:lnSpc>
            </a:pPr>
            <a:r>
              <a:rPr lang="zh-CN" altLang="en-US" dirty="0" smtClean="0"/>
              <a:t>数据库系统阶段（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世纪</a:t>
            </a:r>
            <a:r>
              <a:rPr lang="en-US" altLang="zh-CN" dirty="0" smtClean="0"/>
              <a:t>60</a:t>
            </a:r>
            <a:r>
              <a:rPr lang="zh-CN" altLang="en-US" dirty="0" smtClean="0"/>
              <a:t>年代末</a:t>
            </a:r>
            <a:r>
              <a:rPr lang="en-US" altLang="zh-CN" dirty="0" smtClean="0"/>
              <a:t>--</a:t>
            </a:r>
            <a:r>
              <a:rPr lang="zh-CN" altLang="en-US" dirty="0" smtClean="0"/>
              <a:t>现在）</a:t>
            </a:r>
            <a:endParaRPr lang="en-US" altLang="zh-CN" dirty="0" smtClean="0"/>
          </a:p>
          <a:p>
            <a:pPr lvl="2">
              <a:lnSpc>
                <a:spcPct val="130000"/>
              </a:lnSpc>
            </a:pPr>
            <a:r>
              <a:rPr lang="zh-CN" altLang="en-US" dirty="0"/>
              <a:t>超大规模集成电路的计算机</a:t>
            </a:r>
            <a:r>
              <a:rPr lang="zh-CN" altLang="en-US" dirty="0" smtClean="0"/>
              <a:t>时代，</a:t>
            </a:r>
            <a:r>
              <a:rPr lang="zh-CN" altLang="en-US" dirty="0"/>
              <a:t>大规模</a:t>
            </a:r>
            <a:r>
              <a:rPr lang="zh-CN" altLang="en-US" dirty="0" smtClean="0"/>
              <a:t>数据管理，大</a:t>
            </a:r>
            <a:r>
              <a:rPr lang="zh-CN" altLang="en-US" dirty="0"/>
              <a:t>容量磁盘、磁盘</a:t>
            </a:r>
            <a:r>
              <a:rPr lang="zh-CN" altLang="en-US" dirty="0" smtClean="0"/>
              <a:t>阵列，有</a:t>
            </a:r>
            <a:r>
              <a:rPr lang="zh-CN" altLang="en-US" dirty="0"/>
              <a:t>数据库管理系统</a:t>
            </a:r>
            <a:endParaRPr lang="en-US" altLang="zh-CN" dirty="0" smtClean="0"/>
          </a:p>
          <a:p>
            <a:pPr algn="just"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7810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数据库系统的特点举例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3546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 smtClean="0"/>
              <a:t>学生的信息包括学号、姓名、性别、年龄、专业和奖励</a:t>
            </a:r>
            <a:endParaRPr lang="en-US" altLang="zh-CN" sz="2400" dirty="0" smtClean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用文件系统实现学籍管理</a:t>
            </a:r>
            <a:endParaRPr lang="en-US" altLang="zh-CN" dirty="0" smtClean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数据存储</a:t>
            </a:r>
            <a:endParaRPr lang="en-US" altLang="zh-CN" sz="2200" dirty="0" smtClean="0"/>
          </a:p>
          <a:p>
            <a:pPr lvl="3">
              <a:lnSpc>
                <a:spcPct val="12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定长记录 存储在“学生基本信息”文件中</a:t>
            </a:r>
            <a:endParaRPr lang="en-US" altLang="zh-CN" sz="2200" dirty="0" smtClean="0"/>
          </a:p>
          <a:p>
            <a:pPr lvl="3">
              <a:lnSpc>
                <a:spcPct val="12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变长记录 存放在另一个</a:t>
            </a:r>
            <a:r>
              <a:rPr lang="en-US" altLang="zh-CN" sz="2200" dirty="0" smtClean="0"/>
              <a:t>”</a:t>
            </a:r>
            <a:r>
              <a:rPr lang="zh-CN" altLang="en-US" sz="2200" dirty="0" smtClean="0"/>
              <a:t>奖励</a:t>
            </a:r>
            <a:r>
              <a:rPr lang="en-US" altLang="zh-CN" sz="2200" dirty="0" smtClean="0"/>
              <a:t>”</a:t>
            </a:r>
            <a:r>
              <a:rPr lang="zh-CN" altLang="en-US" sz="2200" dirty="0" smtClean="0"/>
              <a:t>文件</a:t>
            </a:r>
            <a:endParaRPr lang="en-US" altLang="zh-CN" sz="2200" dirty="0" smtClean="0"/>
          </a:p>
          <a:p>
            <a:pPr lvl="3">
              <a:lnSpc>
                <a:spcPct val="12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“学生基本信息”表中的</a:t>
            </a:r>
            <a:r>
              <a:rPr lang="zh-CN" altLang="zh-CN" sz="2200" dirty="0" smtClean="0"/>
              <a:t>位置和长度描述</a:t>
            </a:r>
            <a:r>
              <a:rPr lang="zh-CN" altLang="en-US" sz="2200" dirty="0" smtClean="0"/>
              <a:t>“</a:t>
            </a:r>
            <a:r>
              <a:rPr lang="zh-CN" altLang="zh-CN" sz="2200" dirty="0" smtClean="0"/>
              <a:t>奖励</a:t>
            </a:r>
            <a:r>
              <a:rPr lang="zh-CN" altLang="en-US" sz="2200" dirty="0" smtClean="0"/>
              <a:t>”</a:t>
            </a:r>
            <a:r>
              <a:rPr lang="zh-CN" altLang="zh-CN" sz="2200" dirty="0" smtClean="0"/>
              <a:t>文件中记录的开始位置和长度</a:t>
            </a:r>
            <a:endParaRPr lang="en-US" altLang="zh-CN" sz="2200" dirty="0" smtClean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查询数据</a:t>
            </a:r>
            <a:endParaRPr lang="en-US" altLang="zh-CN" sz="2200" dirty="0" smtClean="0"/>
          </a:p>
          <a:p>
            <a:pPr lvl="3">
              <a:lnSpc>
                <a:spcPct val="120000"/>
              </a:lnSpc>
              <a:spcBef>
                <a:spcPct val="0"/>
              </a:spcBef>
              <a:buSzPct val="85000"/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编写应用程序，实现数据的录入和查找</a:t>
            </a:r>
            <a:endParaRPr lang="en-US" altLang="zh-CN" sz="2200" dirty="0" smtClean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缺点：</a:t>
            </a:r>
            <a:r>
              <a:rPr lang="zh-CN" altLang="zh-CN" dirty="0" smtClean="0"/>
              <a:t>程序员</a:t>
            </a:r>
            <a:r>
              <a:rPr lang="zh-CN" altLang="en-US" dirty="0" smtClean="0"/>
              <a:t>必须</a:t>
            </a:r>
            <a:r>
              <a:rPr lang="zh-CN" altLang="zh-CN" dirty="0" smtClean="0"/>
              <a:t>关注记录结构和不同文件中记录之间的联系，工作量大，编程复杂，开发速度慢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28349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数据库系统的特点举例</a:t>
            </a:r>
            <a:endParaRPr lang="zh-CN" altLang="en-US" sz="3600" dirty="0" smtClean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2700338" y="4076700"/>
          <a:ext cx="3992562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562"/>
              </a:tblGrid>
              <a:tr h="3709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奖励</a:t>
                      </a:r>
                    </a:p>
                  </a:txBody>
                  <a:tcPr marL="68588" marR="68588" marT="0" marB="0"/>
                </a:tc>
              </a:tr>
              <a:tr h="3709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2011</a:t>
                      </a: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校奖学金，</a:t>
                      </a: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2012</a:t>
                      </a: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国家奖学金</a:t>
                      </a:r>
                    </a:p>
                  </a:txBody>
                  <a:tcPr marL="68588" marR="68588" marT="0" marB="0"/>
                </a:tc>
              </a:tr>
              <a:tr h="3709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2012</a:t>
                      </a: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校优秀学生</a:t>
                      </a:r>
                    </a:p>
                  </a:txBody>
                  <a:tcPr marL="68588" marR="68588" marT="0" marB="0"/>
                </a:tc>
              </a:tr>
            </a:tbl>
          </a:graphicData>
        </a:graphic>
      </p:graphicFrame>
      <p:sp>
        <p:nvSpPr>
          <p:cNvPr id="44045" name="矩形 7"/>
          <p:cNvSpPr>
            <a:spLocks noChangeArrowheads="1"/>
          </p:cNvSpPr>
          <p:nvPr/>
        </p:nvSpPr>
        <p:spPr bwMode="auto">
          <a:xfrm>
            <a:off x="2987675" y="5322888"/>
            <a:ext cx="2973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="1"/>
              <a:t>“奖励”文件的结构和内容</a:t>
            </a:r>
            <a:endParaRPr lang="zh-CN" altLang="en-US" b="1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403350" y="1484313"/>
          <a:ext cx="681037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30"/>
                <a:gridCol w="931224"/>
                <a:gridCol w="931224"/>
                <a:gridCol w="931224"/>
                <a:gridCol w="931224"/>
                <a:gridCol w="931224"/>
                <a:gridCol w="931224"/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学号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姓名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性别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年龄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专业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位置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  <a:cs typeface="Times New Roman"/>
                        </a:rPr>
                        <a:t>长度</a:t>
                      </a:r>
                    </a:p>
                  </a:txBody>
                  <a:tcPr marL="68581" marR="68581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20100001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史玉明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女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20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计算机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0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latin typeface="Calibri"/>
                          <a:ea typeface="宋体"/>
                          <a:cs typeface="Times New Roman"/>
                        </a:rPr>
                        <a:t>30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20100100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latin typeface="Calibri"/>
                          <a:ea typeface="宋体"/>
                          <a:cs typeface="Times New Roman"/>
                        </a:rPr>
                        <a:t>李明虎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男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21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机械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30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15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Calibri"/>
                          <a:ea typeface="宋体"/>
                          <a:cs typeface="Times New Roman"/>
                        </a:rPr>
                        <a:t>20100234</a:t>
                      </a:r>
                      <a:endParaRPr lang="zh-CN" sz="20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latin typeface="Calibri"/>
                          <a:ea typeface="宋体"/>
                          <a:cs typeface="Times New Roman"/>
                        </a:rPr>
                        <a:t>张翔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latin typeface="Calibri"/>
                          <a:ea typeface="宋体"/>
                          <a:cs typeface="Times New Roman"/>
                        </a:rPr>
                        <a:t>男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21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Calibri"/>
                          <a:ea typeface="宋体"/>
                          <a:cs typeface="Times New Roman"/>
                        </a:rPr>
                        <a:t>化工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45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Calibri"/>
                          <a:ea typeface="宋体"/>
                          <a:cs typeface="Times New Roman"/>
                        </a:rPr>
                        <a:t>……</a:t>
                      </a:r>
                      <a:endParaRPr lang="zh-CN" sz="2000" b="1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1" marR="68581" marT="0" marB="0"/>
                </a:tc>
              </a:tr>
            </a:tbl>
          </a:graphicData>
        </a:graphic>
      </p:graphicFrame>
      <p:sp>
        <p:nvSpPr>
          <p:cNvPr id="44096" name="矩形 10"/>
          <p:cNvSpPr>
            <a:spLocks noChangeArrowheads="1"/>
          </p:cNvSpPr>
          <p:nvPr/>
        </p:nvSpPr>
        <p:spPr bwMode="auto">
          <a:xfrm>
            <a:off x="2339975" y="3429000"/>
            <a:ext cx="4352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lang="zh-CN" altLang="zh-CN" b="1"/>
              <a:t>“学生基本信息”文件的结构和内容</a:t>
            </a:r>
          </a:p>
        </p:txBody>
      </p:sp>
    </p:spTree>
    <p:extLst>
      <p:ext uri="{BB962C8B-B14F-4D97-AF65-F5344CB8AC3E}">
        <p14:creationId xmlns:p14="http://schemas.microsoft.com/office/powerpoint/2010/main" val="4104673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数据库系统的特点举例</a:t>
            </a:r>
            <a:endParaRPr lang="zh-CN" altLang="en-US" sz="3600" dirty="0" smtClean="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457200" y="1098550"/>
            <a:ext cx="8229600" cy="48545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数据库系统管理</a:t>
            </a:r>
            <a:endParaRPr lang="en-US" altLang="zh-CN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600" dirty="0" smtClean="0"/>
              <a:t>存储数据</a:t>
            </a:r>
            <a:endParaRPr lang="en-US" altLang="zh-CN" sz="2600" dirty="0" smtClean="0"/>
          </a:p>
          <a:p>
            <a:pPr lvl="2">
              <a:lnSpc>
                <a:spcPct val="150000"/>
              </a:lnSpc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建立两张表</a:t>
            </a:r>
            <a:r>
              <a:rPr lang="en-US" altLang="zh-CN" sz="2400" dirty="0" smtClean="0"/>
              <a:t>:</a:t>
            </a:r>
          </a:p>
          <a:p>
            <a:pPr lvl="2">
              <a:lnSpc>
                <a:spcPct val="150000"/>
              </a:lnSpc>
              <a:buSzPct val="85000"/>
              <a:buFont typeface="Arial" panose="020B0604020202020204" pitchFamily="34" charset="0"/>
              <a:buNone/>
            </a:pPr>
            <a:r>
              <a:rPr lang="en-US" altLang="zh-CN" sz="2400" dirty="0" smtClean="0"/>
              <a:t>   STUDENT</a:t>
            </a:r>
            <a:r>
              <a:rPr lang="zh-CN" altLang="en-US" sz="2400" dirty="0" smtClean="0"/>
              <a:t>表</a:t>
            </a:r>
            <a:r>
              <a:rPr lang="en-US" altLang="zh-CN" sz="2400" dirty="0" smtClean="0"/>
              <a:t>-</a:t>
            </a:r>
            <a:r>
              <a:rPr lang="zh-CN" altLang="zh-CN" sz="2400" dirty="0" smtClean="0"/>
              <a:t>存放学生的基本信息，</a:t>
            </a:r>
            <a:endParaRPr lang="en-US" altLang="zh-CN" sz="2400" dirty="0" smtClean="0"/>
          </a:p>
          <a:p>
            <a:pPr lvl="2">
              <a:lnSpc>
                <a:spcPct val="150000"/>
              </a:lnSpc>
              <a:buSzPct val="85000"/>
              <a:buFont typeface="Arial" panose="020B0604020202020204" pitchFamily="34" charset="0"/>
              <a:buNone/>
            </a:pPr>
            <a:r>
              <a:rPr lang="en-US" altLang="zh-CN" sz="2400" dirty="0" smtClean="0"/>
              <a:t>   AWARD</a:t>
            </a:r>
            <a:r>
              <a:rPr lang="zh-CN" altLang="en-US" sz="2400" dirty="0" smtClean="0"/>
              <a:t>表</a:t>
            </a:r>
            <a:r>
              <a:rPr lang="en-US" altLang="zh-CN" sz="2400" dirty="0" smtClean="0"/>
              <a:t>-</a:t>
            </a:r>
            <a:r>
              <a:rPr lang="zh-CN" altLang="zh-CN" sz="2400" dirty="0" smtClean="0"/>
              <a:t>存放学生的奖励情况</a:t>
            </a:r>
            <a:endParaRPr lang="en-US" altLang="zh-CN" sz="2400" dirty="0" smtClean="0"/>
          </a:p>
          <a:p>
            <a:pPr lvl="2">
              <a:lnSpc>
                <a:spcPct val="150000"/>
              </a:lnSpc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使用</a:t>
            </a:r>
            <a:r>
              <a:rPr lang="zh-CN" altLang="zh-CN" sz="2400" dirty="0" smtClean="0"/>
              <a:t>两条插入命令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完成</a:t>
            </a:r>
            <a:r>
              <a:rPr lang="zh-CN" altLang="zh-CN" sz="2400" dirty="0" smtClean="0"/>
              <a:t>学生基本信息和奖励情况</a:t>
            </a:r>
            <a:r>
              <a:rPr lang="zh-CN" altLang="en-US" sz="2400" dirty="0" smtClean="0"/>
              <a:t>的数据</a:t>
            </a:r>
            <a:r>
              <a:rPr lang="zh-CN" altLang="zh-CN" sz="2400" dirty="0" smtClean="0"/>
              <a:t>录入功能</a:t>
            </a:r>
            <a:endParaRPr lang="en-US" altLang="zh-CN" sz="2400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zh-CN" sz="2600" dirty="0" smtClean="0"/>
              <a:t>查询功能</a:t>
            </a:r>
            <a:endParaRPr lang="en-US" altLang="zh-CN" sz="2600" dirty="0" smtClean="0"/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87000"/>
              <a:buFont typeface="Arial" panose="020B0604020202020204" pitchFamily="34" charset="0"/>
              <a:buNone/>
            </a:pPr>
            <a:r>
              <a:rPr lang="en-US" altLang="zh-CN" sz="2600" dirty="0" smtClean="0"/>
              <a:t>       </a:t>
            </a:r>
            <a:r>
              <a:rPr lang="zh-CN" altLang="zh-CN" sz="2600" dirty="0" smtClean="0"/>
              <a:t>可以用一条查询语句实现</a:t>
            </a:r>
            <a:endParaRPr lang="zh-CN" alt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3914493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数据库系统的</a:t>
            </a:r>
            <a:r>
              <a:rPr lang="zh-CN" altLang="en-US" sz="3600" dirty="0" smtClean="0"/>
              <a:t>特点</a:t>
            </a: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31150" cy="449580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smtClean="0"/>
              <a:t>数据结构化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mtClean="0"/>
              <a:t>数据的共享性高，冗余度低且易扩充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mtClean="0"/>
              <a:t>数据独立性高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mtClean="0"/>
              <a:t>数据由数据库管理系统统一管理和控制</a:t>
            </a:r>
          </a:p>
        </p:txBody>
      </p:sp>
    </p:spTree>
    <p:extLst>
      <p:ext uri="{BB962C8B-B14F-4D97-AF65-F5344CB8AC3E}">
        <p14:creationId xmlns:p14="http://schemas.microsoft.com/office/powerpoint/2010/main" val="425921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z="3600" dirty="0" smtClean="0"/>
              <a:t>数据库系统</a:t>
            </a:r>
            <a:r>
              <a:rPr lang="zh-CN" altLang="en-US" sz="3600" dirty="0" smtClean="0"/>
              <a:t>的</a:t>
            </a:r>
            <a:r>
              <a:rPr lang="zh-CN" altLang="zh-CN" sz="3600" dirty="0" smtClean="0"/>
              <a:t>结构</a:t>
            </a:r>
            <a:endParaRPr lang="zh-CN" altLang="en-US" sz="3600" dirty="0" smtClean="0"/>
          </a:p>
        </p:txBody>
      </p:sp>
      <p:sp>
        <p:nvSpPr>
          <p:cNvPr id="1075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435975" cy="4495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/>
              <a:t>从</a:t>
            </a:r>
            <a:r>
              <a:rPr lang="zh-CN" altLang="en-US" sz="2400" dirty="0" smtClean="0">
                <a:solidFill>
                  <a:srgbClr val="FF00FF"/>
                </a:solidFill>
              </a:rPr>
              <a:t>数据库应用开发人员角度</a:t>
            </a:r>
            <a:r>
              <a:rPr lang="zh-CN" altLang="en-US" sz="2400" dirty="0" smtClean="0"/>
              <a:t>看，数据库系统通常采用三级模式结构，是数据库系统内部的系统结构 </a:t>
            </a:r>
            <a:endParaRPr lang="en-US" altLang="zh-CN" sz="2400" dirty="0" smtClean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/>
              <a:t>数据库系统</a:t>
            </a:r>
            <a:r>
              <a:rPr lang="zh-CN" altLang="en-US" sz="2000" dirty="0"/>
              <a:t>模式的概念 </a:t>
            </a:r>
            <a:endParaRPr lang="en-US" altLang="zh-CN" sz="2000" dirty="0" smtClean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dirty="0" smtClean="0"/>
              <a:t>数据库系统</a:t>
            </a:r>
            <a:r>
              <a:rPr lang="zh-CN" altLang="en-US" sz="2000" dirty="0"/>
              <a:t>的三级模式结构 </a:t>
            </a:r>
          </a:p>
        </p:txBody>
      </p:sp>
    </p:spTree>
    <p:extLst>
      <p:ext uri="{BB962C8B-B14F-4D97-AF65-F5344CB8AC3E}">
        <p14:creationId xmlns:p14="http://schemas.microsoft.com/office/powerpoint/2010/main" val="229874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z="3600" dirty="0" smtClean="0"/>
              <a:t>数据库系统</a:t>
            </a:r>
            <a:r>
              <a:rPr lang="zh-CN" altLang="en-US" sz="3600" dirty="0" smtClean="0"/>
              <a:t>的</a:t>
            </a:r>
            <a:r>
              <a:rPr lang="zh-CN" altLang="zh-CN" sz="3600" dirty="0" smtClean="0"/>
              <a:t>结构</a:t>
            </a:r>
            <a:endParaRPr lang="zh-CN" altLang="en-US" sz="3600" dirty="0" smtClean="0"/>
          </a:p>
        </p:txBody>
      </p:sp>
      <p:sp>
        <p:nvSpPr>
          <p:cNvPr id="2" name="矩形 1"/>
          <p:cNvSpPr/>
          <p:nvPr/>
        </p:nvSpPr>
        <p:spPr>
          <a:xfrm>
            <a:off x="3316165" y="2102019"/>
            <a:ext cx="2259623" cy="650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新建数据库</a:t>
            </a:r>
            <a:endParaRPr lang="zh-CN" altLang="en-US" dirty="0"/>
          </a:p>
        </p:txBody>
      </p:sp>
      <p:sp>
        <p:nvSpPr>
          <p:cNvPr id="9" name="Rectangle 1027"/>
          <p:cNvSpPr txBox="1">
            <a:spLocks noChangeArrowheads="1"/>
          </p:cNvSpPr>
          <p:nvPr/>
        </p:nvSpPr>
        <p:spPr>
          <a:xfrm>
            <a:off x="432897" y="1268411"/>
            <a:ext cx="8435975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smtClean="0"/>
              <a:t>当我们新建一个数据库，涉及哪些步骤？？</a:t>
            </a:r>
            <a:endParaRPr lang="zh-CN" altLang="en-US" sz="2000" dirty="0"/>
          </a:p>
        </p:txBody>
      </p:sp>
      <p:grpSp>
        <p:nvGrpSpPr>
          <p:cNvPr id="44" name="组合 43"/>
          <p:cNvGrpSpPr/>
          <p:nvPr/>
        </p:nvGrpSpPr>
        <p:grpSpPr>
          <a:xfrm>
            <a:off x="1641231" y="2752650"/>
            <a:ext cx="5689728" cy="1029020"/>
            <a:chOff x="1641231" y="2752650"/>
            <a:chExt cx="5689728" cy="1029020"/>
          </a:xfrm>
        </p:grpSpPr>
        <p:sp>
          <p:nvSpPr>
            <p:cNvPr id="5" name="矩形 4"/>
            <p:cNvSpPr/>
            <p:nvPr/>
          </p:nvSpPr>
          <p:spPr>
            <a:xfrm>
              <a:off x="1641231" y="3260787"/>
              <a:ext cx="1471246" cy="5120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新建表格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675185" y="3260299"/>
              <a:ext cx="1471246" cy="5120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新建表格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5859713" y="3269641"/>
              <a:ext cx="1471246" cy="5120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新建表格</a:t>
              </a:r>
              <a:endParaRPr lang="zh-CN" altLang="en-US" dirty="0"/>
            </a:p>
          </p:txBody>
        </p:sp>
        <p:cxnSp>
          <p:nvCxnSpPr>
            <p:cNvPr id="19" name="直接箭头连接符 18"/>
            <p:cNvCxnSpPr>
              <a:stCxn id="2" idx="2"/>
            </p:cNvCxnSpPr>
            <p:nvPr/>
          </p:nvCxnSpPr>
          <p:spPr>
            <a:xfrm flipH="1">
              <a:off x="4445976" y="2752650"/>
              <a:ext cx="1" cy="507649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endCxn id="7" idx="0"/>
            </p:cNvCxnSpPr>
            <p:nvPr/>
          </p:nvCxnSpPr>
          <p:spPr>
            <a:xfrm>
              <a:off x="4445976" y="3006474"/>
              <a:ext cx="2149360" cy="263167"/>
            </a:xfrm>
            <a:prstGeom prst="bentConnector2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endCxn id="5" idx="0"/>
            </p:cNvCxnSpPr>
            <p:nvPr/>
          </p:nvCxnSpPr>
          <p:spPr>
            <a:xfrm rot="10800000" flipV="1">
              <a:off x="2376855" y="3006475"/>
              <a:ext cx="2059535" cy="254312"/>
            </a:xfrm>
            <a:prstGeom prst="bentConnector2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3604785" y="3772328"/>
            <a:ext cx="1617846" cy="926160"/>
            <a:chOff x="3604785" y="3772328"/>
            <a:chExt cx="1617846" cy="926160"/>
          </a:xfrm>
        </p:grpSpPr>
        <p:sp>
          <p:nvSpPr>
            <p:cNvPr id="12" name="矩形 11"/>
            <p:cNvSpPr/>
            <p:nvPr/>
          </p:nvSpPr>
          <p:spPr>
            <a:xfrm>
              <a:off x="3604785" y="4108108"/>
              <a:ext cx="1617846" cy="59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名字、字段数</a:t>
              </a:r>
              <a:endParaRPr lang="zh-CN" altLang="en-US" dirty="0"/>
            </a:p>
          </p:txBody>
        </p:sp>
        <p:cxnSp>
          <p:nvCxnSpPr>
            <p:cNvPr id="29" name="直接箭头连接符 28"/>
            <p:cNvCxnSpPr>
              <a:stCxn id="6" idx="2"/>
              <a:endCxn id="12" idx="0"/>
            </p:cNvCxnSpPr>
            <p:nvPr/>
          </p:nvCxnSpPr>
          <p:spPr>
            <a:xfrm>
              <a:off x="4410808" y="3772328"/>
              <a:ext cx="2900" cy="33578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5712039" y="4108108"/>
            <a:ext cx="1705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描述的对象，有哪些属性</a:t>
            </a: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2222751" y="4108108"/>
            <a:ext cx="1093414" cy="1656104"/>
            <a:chOff x="2222751" y="4108108"/>
            <a:chExt cx="1093414" cy="1656104"/>
          </a:xfrm>
        </p:grpSpPr>
        <p:sp>
          <p:nvSpPr>
            <p:cNvPr id="37" name="左大括号 36"/>
            <p:cNvSpPr/>
            <p:nvPr/>
          </p:nvSpPr>
          <p:spPr>
            <a:xfrm>
              <a:off x="2964803" y="4108108"/>
              <a:ext cx="351362" cy="1656104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222751" y="4767645"/>
              <a:ext cx="517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型</a:t>
              </a:r>
              <a:endParaRPr lang="zh-CN" altLang="en-US" dirty="0"/>
            </a:p>
          </p:txBody>
        </p:sp>
      </p:grpSp>
      <p:sp>
        <p:nvSpPr>
          <p:cNvPr id="41" name="左大括号 40"/>
          <p:cNvSpPr/>
          <p:nvPr/>
        </p:nvSpPr>
        <p:spPr>
          <a:xfrm>
            <a:off x="2964803" y="6134386"/>
            <a:ext cx="351362" cy="477146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57966" y="6188293"/>
            <a:ext cx="517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值</a:t>
            </a:r>
            <a:endParaRPr lang="zh-CN" altLang="en-US" dirty="0"/>
          </a:p>
        </p:txBody>
      </p:sp>
      <p:grpSp>
        <p:nvGrpSpPr>
          <p:cNvPr id="56" name="组合 55"/>
          <p:cNvGrpSpPr/>
          <p:nvPr/>
        </p:nvGrpSpPr>
        <p:grpSpPr>
          <a:xfrm>
            <a:off x="7567370" y="3182594"/>
            <a:ext cx="1332519" cy="2581617"/>
            <a:chOff x="7567370" y="3182594"/>
            <a:chExt cx="1332519" cy="2581617"/>
          </a:xfrm>
        </p:grpSpPr>
        <p:sp>
          <p:nvSpPr>
            <p:cNvPr id="38" name="右大括号 37"/>
            <p:cNvSpPr/>
            <p:nvPr/>
          </p:nvSpPr>
          <p:spPr>
            <a:xfrm>
              <a:off x="7567370" y="3182594"/>
              <a:ext cx="360485" cy="2581617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117735" y="4288736"/>
              <a:ext cx="7821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模式</a:t>
              </a:r>
              <a:endParaRPr lang="zh-CN" altLang="en-US" dirty="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541102" y="5760170"/>
            <a:ext cx="1901337" cy="1069767"/>
            <a:chOff x="3541102" y="5760170"/>
            <a:chExt cx="1901337" cy="1069767"/>
          </a:xfrm>
        </p:grpSpPr>
        <p:sp>
          <p:nvSpPr>
            <p:cNvPr id="14" name="矩形 13"/>
            <p:cNvSpPr/>
            <p:nvPr/>
          </p:nvSpPr>
          <p:spPr>
            <a:xfrm>
              <a:off x="3541102" y="6018036"/>
              <a:ext cx="1901337" cy="8119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插入具体值</a:t>
              </a:r>
              <a:endParaRPr lang="zh-CN" altLang="en-US" dirty="0"/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H="1">
              <a:off x="4490711" y="5760170"/>
              <a:ext cx="1059" cy="25200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/>
          <p:cNvGrpSpPr/>
          <p:nvPr/>
        </p:nvGrpSpPr>
        <p:grpSpPr>
          <a:xfrm>
            <a:off x="3541102" y="4700311"/>
            <a:ext cx="1901337" cy="1063901"/>
            <a:chOff x="3541102" y="4700311"/>
            <a:chExt cx="1901337" cy="1063901"/>
          </a:xfrm>
        </p:grpSpPr>
        <p:sp>
          <p:nvSpPr>
            <p:cNvPr id="13" name="矩形 12"/>
            <p:cNvSpPr/>
            <p:nvPr/>
          </p:nvSpPr>
          <p:spPr>
            <a:xfrm>
              <a:off x="3541102" y="4952311"/>
              <a:ext cx="1901337" cy="8119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每个字段属性（类型、长度等）</a:t>
              </a:r>
              <a:endParaRPr lang="zh-CN" altLang="en-US" dirty="0"/>
            </a:p>
          </p:txBody>
        </p:sp>
        <p:cxnSp>
          <p:nvCxnSpPr>
            <p:cNvPr id="54" name="直接箭头连接符 53"/>
            <p:cNvCxnSpPr/>
            <p:nvPr/>
          </p:nvCxnSpPr>
          <p:spPr>
            <a:xfrm flipH="1">
              <a:off x="4435331" y="4700311"/>
              <a:ext cx="1059" cy="25200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391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6" grpId="0"/>
      <p:bldP spid="41" grpId="0" animBg="1"/>
      <p:bldP spid="4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数据库系统模式的概念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002587" cy="4787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 smtClean="0"/>
              <a:t>“</a:t>
            </a:r>
            <a:r>
              <a:rPr lang="zh-CN" altLang="en-US" dirty="0" smtClean="0"/>
              <a:t>型” 和“值” 的概念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chemeClr val="hlink"/>
                </a:solidFill>
              </a:rPr>
              <a:t>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Type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对某一类数据的结构和属性的说明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chemeClr val="hlink"/>
                </a:solidFill>
              </a:rPr>
              <a:t>值</a:t>
            </a:r>
            <a:r>
              <a:rPr lang="zh-CN" altLang="en-US" dirty="0" smtClean="0"/>
              <a:t>（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是型的一个具体赋值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例如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学生记录型：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  （学号，姓名，性别，系别，年龄，籍贯）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一个记录值：</a:t>
            </a:r>
            <a:endParaRPr lang="en-US" altLang="zh-CN" dirty="0" smtClean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 smtClean="0"/>
              <a:t>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201315130</a:t>
            </a:r>
            <a:r>
              <a:rPr lang="zh-CN" altLang="en-US" dirty="0" smtClean="0"/>
              <a:t>，李明，男，计算机系，</a:t>
            </a:r>
            <a:r>
              <a:rPr lang="en-US" altLang="zh-CN" dirty="0" smtClean="0"/>
              <a:t>19</a:t>
            </a:r>
            <a:r>
              <a:rPr lang="zh-CN" altLang="en-US" dirty="0" smtClean="0"/>
              <a:t>，江苏南京市）</a:t>
            </a:r>
          </a:p>
        </p:txBody>
      </p:sp>
    </p:spTree>
    <p:extLst>
      <p:ext uri="{BB962C8B-B14F-4D97-AF65-F5344CB8AC3E}">
        <p14:creationId xmlns:p14="http://schemas.microsoft.com/office/powerpoint/2010/main" val="257148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数据库系统模式的概念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098550"/>
            <a:ext cx="7772400" cy="51498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模式（</a:t>
            </a:r>
            <a:r>
              <a:rPr lang="en-US" altLang="zh-CN" dirty="0" smtClean="0"/>
              <a:t>Schema</a:t>
            </a:r>
            <a:r>
              <a:rPr lang="zh-CN" altLang="en-US" dirty="0" smtClean="0"/>
              <a:t>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数据库逻辑结构和特征的描述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是型的描述，不涉及具体值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反映的是数据的结构及其联系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模式是相对稳定的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实例（</a:t>
            </a:r>
            <a:r>
              <a:rPr lang="en-US" altLang="zh-CN" dirty="0" smtClean="0"/>
              <a:t>Instance</a:t>
            </a:r>
            <a:r>
              <a:rPr lang="zh-CN" altLang="en-US" dirty="0" smtClean="0"/>
              <a:t>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模式的一个具体值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反映数据库某一时刻的状态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同一个模式可以有很多实例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实例随数据库中的数据的更新而变动</a:t>
            </a:r>
          </a:p>
        </p:txBody>
      </p:sp>
    </p:spTree>
    <p:extLst>
      <p:ext uri="{BB962C8B-B14F-4D97-AF65-F5344CB8AC3E}">
        <p14:creationId xmlns:p14="http://schemas.microsoft.com/office/powerpoint/2010/main" val="281674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数据库系统模式的概念（续）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例如：在学生选课数据库模式中，包含学生记录、课程记录和学生选课记录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mtClean="0"/>
              <a:t> </a:t>
            </a:r>
            <a:r>
              <a:rPr lang="en-US" altLang="zh-CN" smtClean="0"/>
              <a:t>2013</a:t>
            </a:r>
            <a:r>
              <a:rPr lang="zh-CN" altLang="en-US" smtClean="0"/>
              <a:t>年的一个学生数据库实例，包含：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smtClean="0"/>
              <a:t>2013</a:t>
            </a:r>
            <a:r>
              <a:rPr lang="zh-CN" altLang="en-US" sz="2200" smtClean="0"/>
              <a:t>年学校中所有学生的记录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学校开设的所有课程的记录</a:t>
            </a:r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smtClean="0"/>
              <a:t>所有学生选课的记录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mtClean="0"/>
              <a:t>2012</a:t>
            </a:r>
            <a:r>
              <a:rPr lang="zh-CN" altLang="en-US" smtClean="0"/>
              <a:t>年度学生数据库模式对应的实例与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 </a:t>
            </a:r>
            <a:r>
              <a:rPr lang="en-US" altLang="zh-CN" smtClean="0"/>
              <a:t>2013</a:t>
            </a:r>
            <a:r>
              <a:rPr lang="zh-CN" altLang="en-US" smtClean="0"/>
              <a:t>年度学生数据库模式对应的实例是</a:t>
            </a:r>
            <a:r>
              <a:rPr lang="zh-CN" altLang="en-US" smtClean="0">
                <a:solidFill>
                  <a:srgbClr val="FF00FF"/>
                </a:solidFill>
              </a:rPr>
              <a:t>不同</a:t>
            </a:r>
            <a:r>
              <a:rPr lang="zh-CN" altLang="en-US" smtClean="0"/>
              <a:t>的 </a:t>
            </a:r>
          </a:p>
        </p:txBody>
      </p:sp>
    </p:spTree>
    <p:extLst>
      <p:ext uri="{BB962C8B-B14F-4D97-AF65-F5344CB8AC3E}">
        <p14:creationId xmlns:p14="http://schemas.microsoft.com/office/powerpoint/2010/main" val="393951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数据库系统的三级模式结构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931150" cy="4495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模式（</a:t>
            </a:r>
            <a:r>
              <a:rPr lang="en-US" altLang="zh-CN" dirty="0" smtClean="0"/>
              <a:t>Schema</a:t>
            </a:r>
            <a:r>
              <a:rPr lang="zh-CN" altLang="en-US" dirty="0" smtClean="0"/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</a:t>
            </a:r>
          </a:p>
          <a:p>
            <a:pPr eaLnBrk="1" hangingPunct="1"/>
            <a:r>
              <a:rPr lang="zh-CN" altLang="en-US" dirty="0" smtClean="0"/>
              <a:t>外模式（</a:t>
            </a:r>
            <a:r>
              <a:rPr lang="en-US" altLang="zh-CN" dirty="0" smtClean="0"/>
              <a:t>External Schema</a:t>
            </a:r>
            <a:r>
              <a:rPr lang="zh-CN" altLang="en-US" dirty="0" smtClean="0"/>
              <a:t>）</a:t>
            </a:r>
          </a:p>
          <a:p>
            <a:pPr eaLnBrk="1" hangingPunct="1"/>
            <a:endParaRPr lang="zh-CN" altLang="en-US" dirty="0" smtClean="0"/>
          </a:p>
          <a:p>
            <a:pPr eaLnBrk="1" hangingPunct="1"/>
            <a:r>
              <a:rPr lang="zh-CN" altLang="en-US" dirty="0" smtClean="0"/>
              <a:t>内模式（</a:t>
            </a:r>
            <a:r>
              <a:rPr lang="en-US" altLang="zh-CN" dirty="0" smtClean="0"/>
              <a:t>Internal Schema</a:t>
            </a:r>
            <a:r>
              <a:rPr lang="zh-CN" altLang="en-US" dirty="0" smtClean="0"/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204293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数据库系统的三级模式结构（续）</a:t>
            </a:r>
          </a:p>
        </p:txBody>
      </p:sp>
      <p:sp>
        <p:nvSpPr>
          <p:cNvPr id="114691" name="Rectangle 2050"/>
          <p:cNvSpPr>
            <a:spLocks noGrp="1" noChangeArrowheads="1"/>
          </p:cNvSpPr>
          <p:nvPr>
            <p:ph type="body" idx="1"/>
          </p:nvPr>
        </p:nvSpPr>
        <p:spPr>
          <a:xfrm>
            <a:off x="2195513" y="5661025"/>
            <a:ext cx="4176712" cy="2889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smtClean="0"/>
              <a:t>图</a:t>
            </a:r>
            <a:r>
              <a:rPr lang="en-US" altLang="zh-CN" sz="1800" smtClean="0"/>
              <a:t>1.16  </a:t>
            </a:r>
            <a:r>
              <a:rPr lang="zh-CN" altLang="en-US" sz="1800" smtClean="0"/>
              <a:t>数据库系统的三级模式结构 </a:t>
            </a:r>
          </a:p>
        </p:txBody>
      </p:sp>
      <p:pic>
        <p:nvPicPr>
          <p:cNvPr id="114692" name="Picture 2055" descr="data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412875"/>
            <a:ext cx="6480175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834746" y="14859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用户</a:t>
            </a:r>
          </a:p>
        </p:txBody>
      </p:sp>
    </p:spTree>
    <p:extLst>
      <p:ext uri="{BB962C8B-B14F-4D97-AF65-F5344CB8AC3E}">
        <p14:creationId xmlns:p14="http://schemas.microsoft.com/office/powerpoint/2010/main" val="62519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模式</a:t>
            </a:r>
          </a:p>
        </p:txBody>
      </p:sp>
      <p:sp>
        <p:nvSpPr>
          <p:cNvPr id="1167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40000"/>
              </a:lnSpc>
            </a:pPr>
            <a:r>
              <a:rPr lang="zh-CN" altLang="en-US" dirty="0"/>
              <a:t>一个数据库只有一个模式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 smtClean="0"/>
              <a:t>模式的定义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 smtClean="0"/>
              <a:t>数据的逻辑结构（数据项的名字、类型、取值范围等）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 smtClean="0"/>
              <a:t>数据之间的联系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 smtClean="0"/>
              <a:t>数据有关的安全性、完整性要求</a:t>
            </a:r>
          </a:p>
          <a:p>
            <a:pPr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8370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 </a:t>
            </a:r>
            <a:r>
              <a:rPr lang="zh-CN" altLang="en-US" sz="3600" dirty="0" smtClean="0"/>
              <a:t>外模式（</a:t>
            </a:r>
            <a:r>
              <a:rPr lang="en-US" altLang="zh-CN" sz="3600" dirty="0" smtClean="0"/>
              <a:t>External Schema</a:t>
            </a:r>
            <a:r>
              <a:rPr lang="zh-CN" altLang="en-US" sz="3600" dirty="0" smtClean="0"/>
              <a:t>）</a:t>
            </a:r>
          </a:p>
        </p:txBody>
      </p:sp>
      <p:sp>
        <p:nvSpPr>
          <p:cNvPr id="1177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algn="just" eaLnBrk="1" hangingPunct="1">
              <a:lnSpc>
                <a:spcPct val="180000"/>
              </a:lnSpc>
            </a:pPr>
            <a:r>
              <a:rPr lang="zh-CN" altLang="en-US" dirty="0" smtClean="0"/>
              <a:t>外模式（也称子模式或用户模式）</a:t>
            </a:r>
          </a:p>
          <a:p>
            <a:pPr lvl="1" algn="just" eaLnBrk="1" hangingPunct="1">
              <a:lnSpc>
                <a:spcPct val="180000"/>
              </a:lnSpc>
            </a:pPr>
            <a:r>
              <a:rPr lang="zh-CN" altLang="en-US" dirty="0" smtClean="0"/>
              <a:t>数据库用户（包括应用程序员和最终用户）使用的</a:t>
            </a:r>
            <a:r>
              <a:rPr lang="zh-CN" altLang="en-US" dirty="0" smtClean="0">
                <a:solidFill>
                  <a:srgbClr val="FF00FF"/>
                </a:solidFill>
              </a:rPr>
              <a:t>局部</a:t>
            </a:r>
            <a:r>
              <a:rPr lang="zh-CN" altLang="en-US" dirty="0" smtClean="0"/>
              <a:t>数据的逻辑结构和特征的描述</a:t>
            </a:r>
          </a:p>
          <a:p>
            <a:pPr lvl="1" algn="just" eaLnBrk="1" hangingPunct="1">
              <a:lnSpc>
                <a:spcPct val="180000"/>
              </a:lnSpc>
            </a:pPr>
            <a:r>
              <a:rPr lang="zh-CN" altLang="en-US" dirty="0" smtClean="0"/>
              <a:t>数据库用户的数据视图，是与某一应用有关的数据的逻辑表示</a:t>
            </a:r>
            <a:endParaRPr lang="en-US" altLang="zh-CN" dirty="0" smtClean="0"/>
          </a:p>
          <a:p>
            <a:pPr lvl="1" algn="just">
              <a:lnSpc>
                <a:spcPct val="180000"/>
              </a:lnSpc>
            </a:pPr>
            <a:r>
              <a:rPr lang="zh-CN" altLang="en-US" dirty="0"/>
              <a:t>模式与外模式的关系：一对</a:t>
            </a:r>
            <a:r>
              <a:rPr lang="zh-CN" altLang="en-US" dirty="0" smtClean="0"/>
              <a:t>多</a:t>
            </a:r>
            <a:endParaRPr lang="en-US" altLang="zh-CN" dirty="0" smtClean="0"/>
          </a:p>
          <a:p>
            <a:pPr lvl="1" algn="just">
              <a:lnSpc>
                <a:spcPct val="180000"/>
              </a:lnSpc>
            </a:pPr>
            <a:r>
              <a:rPr lang="zh-CN" altLang="en-US" dirty="0"/>
              <a:t>外模式与应用的关系：一对</a:t>
            </a:r>
            <a:r>
              <a:rPr lang="zh-CN" altLang="en-US" dirty="0" smtClean="0"/>
              <a:t>多</a:t>
            </a:r>
            <a:endParaRPr lang="en-US" altLang="zh-CN" dirty="0" smtClean="0"/>
          </a:p>
          <a:p>
            <a:pPr algn="just"/>
            <a:r>
              <a:rPr lang="zh-CN" altLang="en-US" dirty="0"/>
              <a:t>外模式的用途</a:t>
            </a: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保证数据库安全性的一个有力措施</a:t>
            </a: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每个用户只能看见和访问所对应的外模式中的数据</a:t>
            </a:r>
          </a:p>
          <a:p>
            <a:pPr lvl="1" algn="just">
              <a:lnSpc>
                <a:spcPct val="180000"/>
              </a:lnSpc>
            </a:pPr>
            <a:endParaRPr lang="zh-CN" altLang="en-US" dirty="0"/>
          </a:p>
          <a:p>
            <a:pPr lvl="1" algn="just">
              <a:lnSpc>
                <a:spcPct val="180000"/>
              </a:lnSpc>
            </a:pPr>
            <a:endParaRPr lang="zh-CN" altLang="en-US" dirty="0"/>
          </a:p>
          <a:p>
            <a:pPr lvl="1" algn="just" eaLnBrk="1" hangingPunct="1">
              <a:lnSpc>
                <a:spcPct val="180000"/>
              </a:lnSpc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8775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内模式（</a:t>
            </a:r>
            <a:r>
              <a:rPr lang="en-US" altLang="zh-CN" sz="3600" dirty="0" smtClean="0"/>
              <a:t>Internal Schema</a:t>
            </a:r>
            <a:r>
              <a:rPr lang="zh-CN" altLang="en-US" sz="3600" dirty="0" smtClean="0"/>
              <a:t>）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98550"/>
            <a:ext cx="8229600" cy="51498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 smtClean="0"/>
              <a:t>内模式（也称存储模式）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 smtClean="0"/>
              <a:t>是数据物理结构和存储方式的描述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 smtClean="0"/>
              <a:t>是数据在数据库内部的表示方式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记录的存储方式</a:t>
            </a:r>
            <a:endParaRPr lang="en-US" altLang="zh-CN" sz="2200" dirty="0" smtClean="0"/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索引的组织方式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数据是否压缩存储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数据是否加密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数据存储记录结构的规定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 smtClean="0"/>
              <a:t>一个数据库只有一个内模式</a:t>
            </a:r>
          </a:p>
        </p:txBody>
      </p:sp>
    </p:spTree>
    <p:extLst>
      <p:ext uri="{BB962C8B-B14F-4D97-AF65-F5344CB8AC3E}">
        <p14:creationId xmlns:p14="http://schemas.microsoft.com/office/powerpoint/2010/main" val="233427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数据库的二级映像功能与数据独立性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4633" y="1612901"/>
            <a:ext cx="7886700" cy="4720166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 smtClean="0"/>
              <a:t>二级映象在数据库管理系统内部实现这三个抽象层次的联系和转换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 smtClean="0"/>
              <a:t>外模式／模式映像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 smtClean="0"/>
              <a:t>模式／内模式映像 </a:t>
            </a:r>
            <a:endParaRPr lang="en-US" altLang="zh-CN" dirty="0" smtClean="0"/>
          </a:p>
          <a:p>
            <a:pPr>
              <a:lnSpc>
                <a:spcPct val="160000"/>
              </a:lnSpc>
            </a:pPr>
            <a:r>
              <a:rPr lang="zh-CN" altLang="en-US" dirty="0"/>
              <a:t>保证数据的逻辑独立性</a:t>
            </a:r>
          </a:p>
          <a:p>
            <a:pPr>
              <a:lnSpc>
                <a:spcPct val="160000"/>
              </a:lnSpc>
            </a:pPr>
            <a:r>
              <a:rPr lang="zh-CN" altLang="en-US" dirty="0"/>
              <a:t>保证数据的物理</a:t>
            </a:r>
            <a:r>
              <a:rPr lang="zh-CN" altLang="en-US" dirty="0" smtClean="0"/>
              <a:t>独立性</a:t>
            </a:r>
            <a:endParaRPr lang="en-US" altLang="zh-CN" dirty="0" smtClean="0"/>
          </a:p>
          <a:p>
            <a:pPr>
              <a:lnSpc>
                <a:spcPct val="160000"/>
              </a:lnSpc>
            </a:pPr>
            <a:r>
              <a:rPr lang="zh-CN" altLang="en-US" dirty="0"/>
              <a:t>保证了数据库外模式的</a:t>
            </a:r>
            <a:r>
              <a:rPr lang="zh-CN" altLang="en-US" dirty="0" smtClean="0"/>
              <a:t>稳定性</a:t>
            </a:r>
            <a:endParaRPr lang="en-US" altLang="zh-CN" sz="2400" dirty="0" smtClean="0"/>
          </a:p>
        </p:txBody>
      </p:sp>
      <p:pic>
        <p:nvPicPr>
          <p:cNvPr id="4" name="Picture 2055" descr="databas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983" y="2686440"/>
            <a:ext cx="4245490" cy="2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691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例子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62467" y="1432719"/>
            <a:ext cx="6104466" cy="50188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3100" b="1" dirty="0" smtClean="0">
                <a:ea typeface="宋体" panose="02010600030101010101" pitchFamily="2" charset="-122"/>
              </a:rPr>
              <a:t>三级</a:t>
            </a:r>
            <a:r>
              <a:rPr lang="zh-CN" altLang="en-US" sz="3000" b="1" dirty="0" smtClean="0">
                <a:ea typeface="宋体" panose="02010600030101010101" pitchFamily="2" charset="-122"/>
              </a:rPr>
              <a:t>模式</a:t>
            </a:r>
            <a:endParaRPr lang="en-US" altLang="zh-CN" sz="31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ea typeface="宋体" panose="02010600030101010101" pitchFamily="2" charset="-122"/>
              </a:rPr>
              <a:t>模式</a:t>
            </a:r>
            <a:r>
              <a:rPr lang="en-US" altLang="zh-CN" sz="1600" b="1" dirty="0" smtClean="0">
                <a:ea typeface="宋体" panose="02010600030101010101" pitchFamily="2" charset="-122"/>
              </a:rPr>
              <a:t>: 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student</a:t>
            </a:r>
            <a:r>
              <a:rPr lang="en-US" altLang="zh-CN" sz="1600" b="1" dirty="0" smtClean="0">
                <a:ea typeface="宋体" panose="02010600030101010101" pitchFamily="2" charset="-122"/>
              </a:rPr>
              <a:t>s:  S</a:t>
            </a:r>
            <a:r>
              <a:rPr lang="zh-CN" altLang="en-US" sz="1600" b="1" dirty="0" smtClean="0">
                <a:ea typeface="宋体" panose="02010600030101010101" pitchFamily="2" charset="-122"/>
              </a:rPr>
              <a:t>tudent</a:t>
            </a:r>
            <a:r>
              <a:rPr lang="en-US" altLang="zh-CN" sz="1600" b="1" dirty="0" smtClean="0">
                <a:ea typeface="宋体" panose="02010600030101010101" pitchFamily="2" charset="-122"/>
              </a:rPr>
              <a:t>_</a:t>
            </a:r>
            <a:r>
              <a:rPr lang="zh-CN" altLang="en-US" sz="1600" b="1" dirty="0" smtClean="0">
                <a:ea typeface="宋体" panose="02010600030101010101" pitchFamily="2" charset="-122"/>
              </a:rPr>
              <a:t>ID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      char(6)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</a:t>
            </a:r>
            <a:r>
              <a:rPr lang="en-US" altLang="zh-CN" sz="1600" b="1" dirty="0" err="1" smtClean="0">
                <a:ea typeface="宋体" panose="02010600030101010101" pitchFamily="2" charset="-122"/>
              </a:rPr>
              <a:t>Department_number</a:t>
            </a:r>
            <a:r>
              <a:rPr lang="en-US" altLang="zh-CN" sz="1600" b="1" dirty="0" smtClean="0">
                <a:ea typeface="宋体" panose="02010600030101010101" pitchFamily="2" charset="-122"/>
              </a:rPr>
              <a:t>   char(4)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ea typeface="宋体" panose="02010600030101010101" pitchFamily="2" charset="-122"/>
              </a:rPr>
              <a:t>                               GRADE</a:t>
            </a:r>
            <a:r>
              <a:rPr lang="en-US" altLang="zh-CN" sz="1600" b="1" dirty="0" smtClean="0">
                <a:ea typeface="宋体" panose="02010600030101010101" pitchFamily="2" charset="-122"/>
              </a:rPr>
              <a:t>  numeric(5)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ea typeface="宋体" panose="02010600030101010101" pitchFamily="2" charset="-122"/>
              </a:rPr>
              <a:t>内模式</a:t>
            </a:r>
            <a:r>
              <a:rPr lang="en-US" altLang="zh-CN" sz="1600" b="1" dirty="0" smtClean="0">
                <a:ea typeface="宋体" panose="02010600030101010101" pitchFamily="2" charset="-122"/>
              </a:rPr>
              <a:t>:    Stored_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: length = 20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 Header  Type = byte(6), offset = 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#    Type = byte(6), offset = 6, Index =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 </a:t>
            </a:r>
            <a:r>
              <a:rPr lang="en-US" altLang="zh-CN" sz="1600" b="1" dirty="0" err="1" smtClean="0">
                <a:ea typeface="宋体" panose="02010600030101010101" pitchFamily="2" charset="-122"/>
              </a:rPr>
              <a:t>Dept</a:t>
            </a:r>
            <a:r>
              <a:rPr lang="en-US" altLang="zh-CN" sz="1600" b="1" dirty="0" smtClean="0">
                <a:ea typeface="宋体" panose="02010600030101010101" pitchFamily="2" charset="-122"/>
              </a:rPr>
              <a:t>#    Type = byte(4), offset = 12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GRD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       Type = byte(4), offset = 16</a:t>
            </a:r>
            <a:endParaRPr lang="en-US" altLang="zh-CN" sz="16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6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ea typeface="宋体" panose="02010600030101010101" pitchFamily="2" charset="-122"/>
              </a:rPr>
              <a:t>外模式 </a:t>
            </a:r>
            <a:r>
              <a:rPr lang="en-US" altLang="zh-CN" sz="1600" b="1" dirty="0" smtClean="0">
                <a:ea typeface="宋体" panose="02010600030101010101" pitchFamily="2" charset="-122"/>
              </a:rPr>
              <a:t>1: 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_</a:t>
            </a:r>
            <a:r>
              <a:rPr lang="zh-CN" altLang="en-US" sz="1600" b="1" dirty="0" smtClean="0">
                <a:ea typeface="宋体" panose="02010600030101010101" pitchFamily="2" charset="-122"/>
              </a:rPr>
              <a:t>GRD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: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No  char(6)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                      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GRD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   integer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ea typeface="宋体" panose="02010600030101010101" pitchFamily="2" charset="-122"/>
              </a:rPr>
              <a:t>外模式 </a:t>
            </a:r>
            <a:r>
              <a:rPr lang="en-US" altLang="zh-CN" sz="1600" b="1" dirty="0" smtClean="0">
                <a:ea typeface="宋体" panose="02010600030101010101" pitchFamily="2" charset="-122"/>
              </a:rPr>
              <a:t>2:  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_</a:t>
            </a:r>
            <a:r>
              <a:rPr lang="en-US" altLang="zh-CN" sz="1600" b="1" dirty="0" err="1" smtClean="0">
                <a:ea typeface="宋体" panose="02010600030101010101" pitchFamily="2" charset="-122"/>
              </a:rPr>
              <a:t>Dept</a:t>
            </a:r>
            <a:r>
              <a:rPr lang="en-US" altLang="zh-CN" sz="1600" b="1" dirty="0" smtClean="0">
                <a:ea typeface="宋体" panose="02010600030101010101" pitchFamily="2" charset="-122"/>
              </a:rPr>
              <a:t>: </a:t>
            </a:r>
            <a:r>
              <a:rPr lang="zh-CN" altLang="en-US" sz="16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1600" b="1" dirty="0" smtClean="0">
                <a:ea typeface="宋体" panose="02010600030101010101" pitchFamily="2" charset="-122"/>
              </a:rPr>
              <a:t>No  char(6)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ea typeface="宋体" panose="02010600030101010101" pitchFamily="2" charset="-122"/>
              </a:rPr>
              <a:t>                                                       </a:t>
            </a:r>
            <a:r>
              <a:rPr lang="en-US" altLang="zh-CN" sz="1600" b="1" dirty="0" err="1" smtClean="0">
                <a:ea typeface="宋体" panose="02010600030101010101" pitchFamily="2" charset="-122"/>
              </a:rPr>
              <a:t>DeptNo</a:t>
            </a:r>
            <a:r>
              <a:rPr lang="en-US" altLang="zh-CN" sz="1600" b="1" dirty="0" smtClean="0">
                <a:ea typeface="宋体" panose="02010600030101010101" pitchFamily="2" charset="-122"/>
              </a:rPr>
              <a:t>  char(4)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638800" y="1325563"/>
            <a:ext cx="3970867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3000" b="1" dirty="0" smtClean="0">
                <a:ea typeface="宋体" panose="02010600030101010101" pitchFamily="2" charset="-122"/>
              </a:rPr>
              <a:t>二级映像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000" b="1" dirty="0" smtClean="0">
              <a:ea typeface="宋体" panose="02010600030101010101" pitchFamily="2" charset="-122"/>
            </a:endParaRPr>
          </a:p>
          <a:p>
            <a:r>
              <a:rPr lang="zh-CN" altLang="en-US" sz="2400" b="1" dirty="0"/>
              <a:t>外模式／模式映像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Ex: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2400" b="1" dirty="0" smtClean="0">
                <a:ea typeface="宋体" panose="02010600030101010101" pitchFamily="2" charset="-122"/>
              </a:rPr>
              <a:t>No</a:t>
            </a:r>
            <a:r>
              <a:rPr lang="zh-CN" altLang="en-US" sz="2400" b="1" dirty="0" smtClean="0">
                <a:ea typeface="宋体" panose="02010600030101010101" pitchFamily="2" charset="-122"/>
              </a:rPr>
              <a:t> to Student</a:t>
            </a:r>
            <a:r>
              <a:rPr lang="en-US" altLang="zh-CN" sz="2400" b="1" dirty="0" smtClean="0">
                <a:ea typeface="宋体" panose="02010600030101010101" pitchFamily="2" charset="-122"/>
              </a:rPr>
              <a:t>_ID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/>
              <a:t>模式／内模式映像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Ex: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Student</a:t>
            </a:r>
            <a:r>
              <a:rPr lang="en-US" altLang="zh-CN" sz="2400" b="1" dirty="0" smtClean="0">
                <a:ea typeface="宋体" panose="02010600030101010101" pitchFamily="2" charset="-122"/>
              </a:rPr>
              <a:t>_ID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 to</a:t>
            </a:r>
            <a:r>
              <a:rPr lang="en-US" altLang="zh-CN" sz="2400" b="1" dirty="0" smtClean="0">
                <a:ea typeface="宋体" panose="02010600030101010101" pitchFamily="2" charset="-122"/>
              </a:rPr>
              <a:t> 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STD</a:t>
            </a:r>
            <a:r>
              <a:rPr lang="en-US" altLang="zh-CN" sz="2400" b="1" dirty="0" smtClean="0">
                <a:ea typeface="宋体" panose="02010600030101010101" pitchFamily="2" charset="-122"/>
              </a:rPr>
              <a:t>#</a:t>
            </a: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312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数据库系统的组成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484313"/>
            <a:ext cx="6769100" cy="453707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mtClean="0"/>
              <a:t>数据库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mtClean="0"/>
              <a:t>数据库管理系统（及其开发工具）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mtClean="0"/>
              <a:t>应用程序</a:t>
            </a:r>
          </a:p>
          <a:p>
            <a:pPr algn="just" eaLnBrk="1" hangingPunct="1">
              <a:lnSpc>
                <a:spcPct val="140000"/>
              </a:lnSpc>
            </a:pPr>
            <a:r>
              <a:rPr lang="zh-CN" altLang="en-US" smtClean="0"/>
              <a:t>数据库管理员</a:t>
            </a:r>
          </a:p>
        </p:txBody>
      </p:sp>
    </p:spTree>
    <p:extLst>
      <p:ext uri="{BB962C8B-B14F-4D97-AF65-F5344CB8AC3E}">
        <p14:creationId xmlns:p14="http://schemas.microsoft.com/office/powerpoint/2010/main" val="323911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人 员</a:t>
            </a:r>
          </a:p>
        </p:txBody>
      </p:sp>
      <p:sp>
        <p:nvSpPr>
          <p:cNvPr id="14029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43213" y="5949950"/>
            <a:ext cx="3455987" cy="304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/>
              <a:t>图</a:t>
            </a:r>
            <a:r>
              <a:rPr lang="en-US" altLang="zh-CN" sz="1800" dirty="0" smtClean="0"/>
              <a:t>1.17  </a:t>
            </a:r>
            <a:r>
              <a:rPr lang="zh-CN" altLang="en-US" sz="1800" dirty="0" smtClean="0"/>
              <a:t>各种人员的数据视图 </a:t>
            </a:r>
          </a:p>
        </p:txBody>
      </p:sp>
      <p:sp>
        <p:nvSpPr>
          <p:cNvPr id="140292" name="Rectangle 1029"/>
          <p:cNvSpPr>
            <a:spLocks noChangeArrowheads="1"/>
          </p:cNvSpPr>
          <p:nvPr/>
        </p:nvSpPr>
        <p:spPr bwMode="auto">
          <a:xfrm>
            <a:off x="611188" y="1081088"/>
            <a:ext cx="8075612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400" b="1" dirty="0"/>
              <a:t>不同的人员涉及不同的数据抽象级别，具有不同的数据视图，如下图所示</a:t>
            </a:r>
          </a:p>
        </p:txBody>
      </p:sp>
      <p:pic>
        <p:nvPicPr>
          <p:cNvPr id="140293" name="Picture 10" descr="C:\Users\hp\Documents\Fetion\202314472\temp\8c372cb507a0610f2153c395677ccc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205038"/>
            <a:ext cx="498157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869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人 员（续）</a:t>
            </a:r>
            <a:endParaRPr lang="en-US" altLang="zh-CN" sz="3600" dirty="0" smtClean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7847012" cy="4983162"/>
          </a:xfrm>
        </p:spPr>
        <p:txBody>
          <a:bodyPr/>
          <a:lstStyle/>
          <a:p>
            <a:pPr algn="just">
              <a:lnSpc>
                <a:spcPct val="190000"/>
              </a:lnSpc>
              <a:spcAft>
                <a:spcPct val="30000"/>
              </a:spcAft>
            </a:pPr>
            <a:r>
              <a:rPr lang="zh-CN" altLang="en-US" dirty="0"/>
              <a:t>数据库管理员（</a:t>
            </a:r>
            <a:r>
              <a:rPr lang="en-US" altLang="zh-CN" dirty="0"/>
              <a:t>DBA</a:t>
            </a:r>
            <a:r>
              <a:rPr lang="zh-CN" altLang="en-US" dirty="0"/>
              <a:t>）具体职责： </a:t>
            </a:r>
          </a:p>
          <a:p>
            <a:pPr lvl="1" algn="just">
              <a:lnSpc>
                <a:spcPct val="70000"/>
              </a:lnSpc>
              <a:spcAft>
                <a:spcPct val="30000"/>
              </a:spcAft>
            </a:pPr>
            <a:r>
              <a:rPr lang="zh-CN" altLang="en-US" sz="2000" dirty="0" smtClean="0"/>
              <a:t>决定</a:t>
            </a:r>
            <a:r>
              <a:rPr lang="zh-CN" altLang="en-US" sz="2000" dirty="0"/>
              <a:t>数据库中的信息内容和结构</a:t>
            </a:r>
          </a:p>
          <a:p>
            <a:pPr lvl="1" algn="just">
              <a:lnSpc>
                <a:spcPct val="70000"/>
              </a:lnSpc>
              <a:spcAft>
                <a:spcPct val="30000"/>
              </a:spcAft>
            </a:pPr>
            <a:r>
              <a:rPr lang="en-US" altLang="zh-CN" sz="2000" dirty="0" smtClean="0"/>
              <a:t> </a:t>
            </a:r>
            <a:r>
              <a:rPr lang="zh-CN" altLang="en-US" sz="2000" dirty="0"/>
              <a:t>决定数据库的存储结构和存取策略</a:t>
            </a:r>
          </a:p>
          <a:p>
            <a:pPr lvl="1" algn="just">
              <a:lnSpc>
                <a:spcPct val="70000"/>
              </a:lnSpc>
              <a:spcAft>
                <a:spcPct val="30000"/>
              </a:spcAft>
            </a:pPr>
            <a:r>
              <a:rPr lang="en-US" altLang="zh-CN" sz="2000" dirty="0" smtClean="0"/>
              <a:t> </a:t>
            </a:r>
            <a:r>
              <a:rPr lang="zh-CN" altLang="en-US" sz="2000" dirty="0"/>
              <a:t>定义数据的安全性要求和完整性约束条件</a:t>
            </a:r>
            <a:endParaRPr lang="en-US" altLang="zh-CN" sz="2000" dirty="0"/>
          </a:p>
          <a:p>
            <a:pPr lvl="1" algn="just">
              <a:lnSpc>
                <a:spcPct val="70000"/>
              </a:lnSpc>
              <a:spcAft>
                <a:spcPct val="30000"/>
              </a:spcAft>
            </a:pPr>
            <a:r>
              <a:rPr lang="zh-CN" altLang="en-US" sz="2000" dirty="0" smtClean="0"/>
              <a:t>监控</a:t>
            </a:r>
            <a:r>
              <a:rPr lang="zh-CN" altLang="en-US" sz="2000" dirty="0"/>
              <a:t>数据库的使用和运行</a:t>
            </a:r>
            <a:endParaRPr lang="en-US" altLang="zh-CN" sz="2000" dirty="0"/>
          </a:p>
          <a:p>
            <a:pPr lvl="1" algn="just">
              <a:lnSpc>
                <a:spcPct val="70000"/>
              </a:lnSpc>
              <a:spcAft>
                <a:spcPct val="30000"/>
              </a:spcAft>
            </a:pPr>
            <a:r>
              <a:rPr lang="zh-CN" altLang="en-US" sz="2000" dirty="0" smtClean="0"/>
              <a:t>数据库</a:t>
            </a:r>
            <a:r>
              <a:rPr lang="zh-CN" altLang="en-US" sz="2000" dirty="0"/>
              <a:t>的改进和重组</a:t>
            </a:r>
          </a:p>
          <a:p>
            <a:pPr algn="just">
              <a:lnSpc>
                <a:spcPct val="160000"/>
              </a:lnSpc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8880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人 员（续）</a:t>
            </a:r>
            <a:endParaRPr lang="zh-CN" altLang="en-US" sz="3600" dirty="0" smtClean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97000"/>
            <a:ext cx="7886700" cy="5257799"/>
          </a:xfrm>
        </p:spPr>
        <p:txBody>
          <a:bodyPr>
            <a:normAutofit fontScale="62500" lnSpcReduction="20000"/>
          </a:bodyPr>
          <a:lstStyle/>
          <a:p>
            <a:pPr algn="just" eaLnBrk="1" hangingPunct="1">
              <a:lnSpc>
                <a:spcPct val="210000"/>
              </a:lnSpc>
              <a:spcAft>
                <a:spcPct val="30000"/>
              </a:spcAft>
            </a:pPr>
            <a:r>
              <a:rPr lang="zh-CN" altLang="en-US" dirty="0" smtClean="0"/>
              <a:t>系统分析员 </a:t>
            </a:r>
          </a:p>
          <a:p>
            <a:pPr lvl="1" algn="just" eaLnBrk="1" hangingPunct="1">
              <a:spcAft>
                <a:spcPct val="30000"/>
              </a:spcAft>
            </a:pPr>
            <a:r>
              <a:rPr lang="zh-CN" altLang="en-US" dirty="0" smtClean="0"/>
              <a:t>负责应用系统的需求分析和规范说明</a:t>
            </a:r>
          </a:p>
          <a:p>
            <a:pPr lvl="1" algn="just" eaLnBrk="1" hangingPunct="1">
              <a:spcAft>
                <a:spcPct val="30000"/>
              </a:spcAft>
            </a:pPr>
            <a:r>
              <a:rPr lang="zh-CN" altLang="en-US" dirty="0" smtClean="0"/>
              <a:t>与用户及数据库管理员结合，确定系统的硬软件配置</a:t>
            </a:r>
          </a:p>
          <a:p>
            <a:pPr lvl="1" algn="just" eaLnBrk="1" hangingPunct="1">
              <a:spcAft>
                <a:spcPct val="30000"/>
              </a:spcAft>
            </a:pPr>
            <a:r>
              <a:rPr lang="zh-CN" altLang="en-US" dirty="0" smtClean="0"/>
              <a:t>参与数据库系统的概要设计</a:t>
            </a:r>
            <a:endParaRPr lang="en-US" altLang="zh-CN" dirty="0" smtClean="0"/>
          </a:p>
          <a:p>
            <a:pPr algn="just">
              <a:lnSpc>
                <a:spcPct val="200000"/>
              </a:lnSpc>
            </a:pPr>
            <a:r>
              <a:rPr lang="zh-CN" altLang="en-US" dirty="0"/>
              <a:t>数据库设计人员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参加用户需求调查和系统分析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确定数据库中的数据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设计数据库各级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pPr algn="just">
              <a:lnSpc>
                <a:spcPct val="150000"/>
              </a:lnSpc>
            </a:pPr>
            <a:r>
              <a:rPr lang="zh-CN" altLang="en-US" dirty="0"/>
              <a:t>应用程序员</a:t>
            </a:r>
            <a:endParaRPr lang="en-US" altLang="zh-CN" dirty="0" smtClean="0"/>
          </a:p>
          <a:p>
            <a:pPr lvl="1" algn="just">
              <a:lnSpc>
                <a:spcPct val="190000"/>
              </a:lnSpc>
            </a:pPr>
            <a:r>
              <a:rPr lang="zh-CN" altLang="en-US" dirty="0"/>
              <a:t>设计和编写应用系统的程序模块</a:t>
            </a:r>
          </a:p>
          <a:p>
            <a:pPr lvl="1" algn="just">
              <a:lnSpc>
                <a:spcPct val="190000"/>
              </a:lnSpc>
            </a:pPr>
            <a:r>
              <a:rPr lang="zh-CN" altLang="en-US" dirty="0"/>
              <a:t>进行调试和</a:t>
            </a:r>
            <a:r>
              <a:rPr lang="zh-CN" altLang="en-US" dirty="0" smtClean="0"/>
              <a:t>安装</a:t>
            </a:r>
            <a:endParaRPr lang="en-US" altLang="zh-CN" dirty="0" smtClean="0"/>
          </a:p>
          <a:p>
            <a:pPr algn="just">
              <a:lnSpc>
                <a:spcPct val="190000"/>
              </a:lnSpc>
            </a:pPr>
            <a:r>
              <a:rPr lang="zh-CN" altLang="en-US" dirty="0" smtClean="0"/>
              <a:t>用户：</a:t>
            </a:r>
            <a:r>
              <a:rPr lang="zh-CN" altLang="en-US" dirty="0"/>
              <a:t>最终用户通过应用系统的用户接口使用数据库</a:t>
            </a:r>
          </a:p>
          <a:p>
            <a:pPr lvl="1" algn="just">
              <a:lnSpc>
                <a:spcPct val="150000"/>
              </a:lnSpc>
            </a:pPr>
            <a:endParaRPr lang="zh-CN" altLang="en-US" dirty="0"/>
          </a:p>
          <a:p>
            <a:endParaRPr lang="en-US" altLang="zh-CN" dirty="0"/>
          </a:p>
          <a:p>
            <a:pPr lvl="1" algn="just" eaLnBrk="1" hangingPunct="1">
              <a:spcAft>
                <a:spcPct val="30000"/>
              </a:spcAft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7044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小结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dirty="0" smtClean="0"/>
              <a:t>数据库系统概述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 smtClean="0"/>
              <a:t>数据库的基本概念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 smtClean="0"/>
              <a:t>数据管理的发展过程</a:t>
            </a:r>
            <a:endParaRPr lang="en-US" altLang="zh-CN" dirty="0" smtClean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 smtClean="0"/>
              <a:t>数据库系统的特点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数据库系统内部的系统结构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数据库系统三级模式结构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数据库系统两层映像系统结构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数据库系统的组成</a:t>
            </a:r>
          </a:p>
        </p:txBody>
      </p:sp>
    </p:spTree>
    <p:extLst>
      <p:ext uri="{BB962C8B-B14F-4D97-AF65-F5344CB8AC3E}">
        <p14:creationId xmlns:p14="http://schemas.microsoft.com/office/powerpoint/2010/main" val="428704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1045</TotalTime>
  <Words>2862</Words>
  <Application>Microsoft Office PowerPoint</Application>
  <PresentationFormat>全屏显示(4:3)</PresentationFormat>
  <Paragraphs>459</Paragraphs>
  <Slides>36</Slides>
  <Notes>19</Notes>
  <HiddenSlides>5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楷体_GB2312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数据库系统概述 </vt:lpstr>
      <vt:lpstr>内容目录</vt:lpstr>
      <vt:lpstr>数据库的4个基本概念</vt:lpstr>
      <vt:lpstr>1.  数据</vt:lpstr>
      <vt:lpstr>1.  数据</vt:lpstr>
      <vt:lpstr>1.  数据</vt:lpstr>
      <vt:lpstr>1.  数据</vt:lpstr>
      <vt:lpstr>1.  数据</vt:lpstr>
      <vt:lpstr>1.  数据</vt:lpstr>
      <vt:lpstr>1.  数据</vt:lpstr>
      <vt:lpstr>2.  数据库</vt:lpstr>
      <vt:lpstr>3.  数据库管理系统</vt:lpstr>
      <vt:lpstr>3.  数据库管理系统</vt:lpstr>
      <vt:lpstr>4.数据库系统</vt:lpstr>
      <vt:lpstr>数据管理技术的发展</vt:lpstr>
      <vt:lpstr>数据库系统的特点举例</vt:lpstr>
      <vt:lpstr>数据库系统的特点举例</vt:lpstr>
      <vt:lpstr>数据库系统的特点举例</vt:lpstr>
      <vt:lpstr>数据库系统的特点</vt:lpstr>
      <vt:lpstr>数据库系统的结构</vt:lpstr>
      <vt:lpstr>数据库系统的结构</vt:lpstr>
      <vt:lpstr>数据库系统模式的概念</vt:lpstr>
      <vt:lpstr>数据库系统模式的概念</vt:lpstr>
      <vt:lpstr>数据库系统模式的概念（续）</vt:lpstr>
      <vt:lpstr>数据库系统的三级模式结构</vt:lpstr>
      <vt:lpstr>数据库系统的三级模式结构（续）</vt:lpstr>
      <vt:lpstr>模式</vt:lpstr>
      <vt:lpstr> 外模式（External Schema）</vt:lpstr>
      <vt:lpstr>内模式（Internal Schema）</vt:lpstr>
      <vt:lpstr>数据库的二级映像功能与数据独立性</vt:lpstr>
      <vt:lpstr>例子</vt:lpstr>
      <vt:lpstr>数据库系统的组成</vt:lpstr>
      <vt:lpstr>人 员</vt:lpstr>
      <vt:lpstr>人 员（续）</vt:lpstr>
      <vt:lpstr>人 员（续）</vt:lpstr>
      <vt:lpstr>小结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202</cp:revision>
  <dcterms:created xsi:type="dcterms:W3CDTF">2020-09-13T01:44:02Z</dcterms:created>
  <dcterms:modified xsi:type="dcterms:W3CDTF">2025-09-05T06:04:39Z</dcterms:modified>
</cp:coreProperties>
</file>