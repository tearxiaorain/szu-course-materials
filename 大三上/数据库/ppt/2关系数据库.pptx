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6"/>
  </p:notesMasterIdLst>
  <p:sldIdLst>
    <p:sldId id="256" r:id="rId2"/>
    <p:sldId id="259" r:id="rId3"/>
    <p:sldId id="393" r:id="rId4"/>
    <p:sldId id="376" r:id="rId5"/>
    <p:sldId id="325" r:id="rId6"/>
    <p:sldId id="361" r:id="rId7"/>
    <p:sldId id="394" r:id="rId8"/>
    <p:sldId id="365" r:id="rId9"/>
    <p:sldId id="368" r:id="rId10"/>
    <p:sldId id="260" r:id="rId11"/>
    <p:sldId id="386" r:id="rId12"/>
    <p:sldId id="397" r:id="rId13"/>
    <p:sldId id="371" r:id="rId14"/>
    <p:sldId id="395" r:id="rId15"/>
    <p:sldId id="396" r:id="rId16"/>
    <p:sldId id="265" r:id="rId17"/>
    <p:sldId id="377" r:id="rId18"/>
    <p:sldId id="378" r:id="rId19"/>
    <p:sldId id="398" r:id="rId20"/>
    <p:sldId id="379" r:id="rId21"/>
    <p:sldId id="380" r:id="rId22"/>
    <p:sldId id="381" r:id="rId23"/>
    <p:sldId id="284" r:id="rId24"/>
    <p:sldId id="293" r:id="rId25"/>
    <p:sldId id="383" r:id="rId26"/>
    <p:sldId id="384" r:id="rId27"/>
    <p:sldId id="385" r:id="rId28"/>
    <p:sldId id="296" r:id="rId29"/>
    <p:sldId id="298" r:id="rId30"/>
    <p:sldId id="399" r:id="rId31"/>
    <p:sldId id="400" r:id="rId32"/>
    <p:sldId id="301" r:id="rId33"/>
    <p:sldId id="302" r:id="rId34"/>
    <p:sldId id="305" r:id="rId35"/>
    <p:sldId id="307" r:id="rId36"/>
    <p:sldId id="310" r:id="rId37"/>
    <p:sldId id="401" r:id="rId38"/>
    <p:sldId id="315" r:id="rId39"/>
    <p:sldId id="390" r:id="rId40"/>
    <p:sldId id="387" r:id="rId41"/>
    <p:sldId id="388" r:id="rId42"/>
    <p:sldId id="389" r:id="rId43"/>
    <p:sldId id="391" r:id="rId44"/>
    <p:sldId id="392" r:id="rId4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783" autoAdjust="0"/>
  </p:normalViewPr>
  <p:slideViewPr>
    <p:cSldViewPr snapToGrid="0">
      <p:cViewPr varScale="1">
        <p:scale>
          <a:sx n="123" d="100"/>
          <a:sy n="123" d="100"/>
        </p:scale>
        <p:origin x="26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E75F52-5827-9E44-A515-E2E9713CD925}" type="doc">
      <dgm:prSet loTypeId="urn:microsoft.com/office/officeart/2005/8/layout/hierarchy3" loCatId="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0F4CCE8C-6129-2244-A3B8-7CD3313CAD58}">
      <dgm:prSet phldrT="[文本]" custT="1"/>
      <dgm:spPr/>
      <dgm:t>
        <a:bodyPr/>
        <a:lstStyle/>
        <a:p>
          <a:r>
            <a: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rPr>
            <a:t>程序设计语言</a:t>
          </a:r>
        </a:p>
      </dgm:t>
    </dgm:pt>
    <dgm:pt modelId="{2B191209-0910-7A45-B5F8-76E7921EA856}" type="parTrans" cxnId="{54902BAA-5761-A845-9B8C-AFF7B87FBC6D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2065791-2E70-D841-B879-CCAAA3FBD20C}" type="sibTrans" cxnId="{54902BAA-5761-A845-9B8C-AFF7B87FBC6D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E69B3F0-3E56-D043-BDE4-D6BC35ED0157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数据类型</a:t>
          </a:r>
        </a:p>
      </dgm:t>
    </dgm:pt>
    <dgm:pt modelId="{9014F8B6-4952-1C4F-A57F-8DED15C08D6B}" type="parTrans" cxnId="{AEE55F1D-C42F-CC42-9E77-1C79B75E9728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865B023-2117-8F48-96ED-4E2D27232C45}" type="sibTrans" cxnId="{AEE55F1D-C42F-CC42-9E77-1C79B75E9728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F39B85F-6DD2-2A4D-A8A0-114B6FA51C66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变量</a:t>
          </a:r>
          <a:endParaRPr lang="en-US" altLang="zh-CN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184EA67-5EBE-7A49-B9AC-8FB8B29C3D1F}" type="parTrans" cxnId="{DC9EFAE8-19A0-D649-BE3C-38E669498524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1854735-9F07-9940-9130-D61FE1303183}" type="sibTrans" cxnId="{DC9EFAE8-19A0-D649-BE3C-38E669498524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2CE4025-F6EC-5B41-A5F4-2DB73CF897B5}">
      <dgm:prSet phldrT="[文本]" custT="1"/>
      <dgm:spPr/>
      <dgm:t>
        <a:bodyPr/>
        <a:lstStyle/>
        <a:p>
          <a:r>
            <a: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rPr>
            <a:t>关系模型</a:t>
          </a:r>
        </a:p>
      </dgm:t>
    </dgm:pt>
    <dgm:pt modelId="{AFC8B89E-673D-C847-B165-9A80D2F26AF8}" type="parTrans" cxnId="{41DF9F7F-7ACA-0F4D-99B0-5FF1A84E2C1C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5E8867F-2B44-034F-A76D-57AA6E6852AA}" type="sibTrans" cxnId="{41DF9F7F-7ACA-0F4D-99B0-5FF1A84E2C1C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13069C4-7C5D-BA43-8719-674648CAE05F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关系模式</a:t>
          </a:r>
        </a:p>
      </dgm:t>
    </dgm:pt>
    <dgm:pt modelId="{CCB04AF8-0CBF-8746-87F5-BED5CCCB9147}" type="parTrans" cxnId="{25DA954B-B267-7547-B3B2-7117F290CB44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64ED11C-03D5-874D-8949-F45E55756F91}" type="sibTrans" cxnId="{25DA954B-B267-7547-B3B2-7117F290CB44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62BDA3-7FC1-9743-B481-3BEC30457C30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关系</a:t>
          </a:r>
        </a:p>
      </dgm:t>
    </dgm:pt>
    <dgm:pt modelId="{B55F0C53-DD89-6A48-808D-0FB017B0D6CA}" type="parTrans" cxnId="{7FA4530A-5148-5D4F-80D5-31EB16EA8DFF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199587C-98B7-1444-97C9-A89586F530AE}" type="sibTrans" cxnId="{7FA4530A-5148-5D4F-80D5-31EB16EA8DFF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8C8BF25-AF97-6E4D-819B-D6412041FAE2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值</a:t>
          </a:r>
          <a:endParaRPr lang="en-US" altLang="zh-CN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000621A-D145-FD43-8A82-9EC77F47BBA8}" type="parTrans" cxnId="{76D8F22A-009A-0248-AC9D-ED982A2B8C3E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E3FD078-5843-8144-A193-E48E2605A981}" type="sibTrans" cxnId="{76D8F22A-009A-0248-AC9D-ED982A2B8C3E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A5499B5-8596-DE4E-B9B0-C76817DA0070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关系实例</a:t>
          </a:r>
        </a:p>
      </dgm:t>
    </dgm:pt>
    <dgm:pt modelId="{8224D027-DEEA-3847-AB7B-E91A22F24B38}" type="parTrans" cxnId="{89627D1D-585F-6547-8601-340065FD67B5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35FABBE-BE21-FE42-83A3-B8FCE26F234C}" type="sibTrans" cxnId="{89627D1D-585F-6547-8601-340065FD67B5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407CC2C-55FC-3A42-B421-0ECCC45FC218}" type="pres">
      <dgm:prSet presAssocID="{6EE75F52-5827-9E44-A515-E2E9713CD92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D419D032-033C-E347-9AD3-9D7F820FCBA4}" type="pres">
      <dgm:prSet presAssocID="{0F4CCE8C-6129-2244-A3B8-7CD3313CAD58}" presName="root" presStyleCnt="0"/>
      <dgm:spPr/>
    </dgm:pt>
    <dgm:pt modelId="{FAFEAE00-C331-3748-8ADB-1C52218FC787}" type="pres">
      <dgm:prSet presAssocID="{0F4CCE8C-6129-2244-A3B8-7CD3313CAD58}" presName="rootComposite" presStyleCnt="0"/>
      <dgm:spPr/>
    </dgm:pt>
    <dgm:pt modelId="{FA46D5B8-837C-9C4C-98B1-BADBF3C37054}" type="pres">
      <dgm:prSet presAssocID="{0F4CCE8C-6129-2244-A3B8-7CD3313CAD58}" presName="rootText" presStyleLbl="node1" presStyleIdx="0" presStyleCnt="2" custScaleX="139572"/>
      <dgm:spPr/>
      <dgm:t>
        <a:bodyPr/>
        <a:lstStyle/>
        <a:p>
          <a:endParaRPr lang="zh-CN" altLang="en-US"/>
        </a:p>
      </dgm:t>
    </dgm:pt>
    <dgm:pt modelId="{3860E848-80B5-5B4C-9E1D-93D3A70F917A}" type="pres">
      <dgm:prSet presAssocID="{0F4CCE8C-6129-2244-A3B8-7CD3313CAD58}" presName="rootConnector" presStyleLbl="node1" presStyleIdx="0" presStyleCnt="2"/>
      <dgm:spPr/>
      <dgm:t>
        <a:bodyPr/>
        <a:lstStyle/>
        <a:p>
          <a:endParaRPr lang="zh-CN" altLang="en-US"/>
        </a:p>
      </dgm:t>
    </dgm:pt>
    <dgm:pt modelId="{B4F71B52-F060-9C45-9A0B-660548423EBF}" type="pres">
      <dgm:prSet presAssocID="{0F4CCE8C-6129-2244-A3B8-7CD3313CAD58}" presName="childShape" presStyleCnt="0"/>
      <dgm:spPr/>
    </dgm:pt>
    <dgm:pt modelId="{B9BFAFC3-C2B0-3A45-AD1C-6C543FBD8320}" type="pres">
      <dgm:prSet presAssocID="{9014F8B6-4952-1C4F-A57F-8DED15C08D6B}" presName="Name13" presStyleLbl="parChTrans1D2" presStyleIdx="0" presStyleCnt="6"/>
      <dgm:spPr/>
      <dgm:t>
        <a:bodyPr/>
        <a:lstStyle/>
        <a:p>
          <a:endParaRPr lang="zh-CN" altLang="en-US"/>
        </a:p>
      </dgm:t>
    </dgm:pt>
    <dgm:pt modelId="{15D69B04-A143-064C-8E64-C527C708B1F9}" type="pres">
      <dgm:prSet presAssocID="{7E69B3F0-3E56-D043-BDE4-D6BC35ED0157}" presName="childText" presStyleLbl="bgAcc1" presStyleIdx="0" presStyleCnt="6" custScaleX="13416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BAC50FA-4B61-F74C-B32B-D688658AC37C}" type="pres">
      <dgm:prSet presAssocID="{0184EA67-5EBE-7A49-B9AC-8FB8B29C3D1F}" presName="Name13" presStyleLbl="parChTrans1D2" presStyleIdx="1" presStyleCnt="6"/>
      <dgm:spPr/>
      <dgm:t>
        <a:bodyPr/>
        <a:lstStyle/>
        <a:p>
          <a:endParaRPr lang="zh-CN" altLang="en-US"/>
        </a:p>
      </dgm:t>
    </dgm:pt>
    <dgm:pt modelId="{022F1423-485A-DD45-BF12-831A7B48C4A1}" type="pres">
      <dgm:prSet presAssocID="{4F39B85F-6DD2-2A4D-A8A0-114B6FA51C66}" presName="childText" presStyleLbl="bgAcc1" presStyleIdx="1" presStyleCnt="6" custScaleX="13225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177C97D-35F3-4E4B-B243-E30B7736AA3B}" type="pres">
      <dgm:prSet presAssocID="{5000621A-D145-FD43-8A82-9EC77F47BBA8}" presName="Name13" presStyleLbl="parChTrans1D2" presStyleIdx="2" presStyleCnt="6"/>
      <dgm:spPr/>
      <dgm:t>
        <a:bodyPr/>
        <a:lstStyle/>
        <a:p>
          <a:endParaRPr lang="zh-CN" altLang="en-US"/>
        </a:p>
      </dgm:t>
    </dgm:pt>
    <dgm:pt modelId="{AA132B9D-EAB2-F94A-9E6C-0FCB2B20A839}" type="pres">
      <dgm:prSet presAssocID="{A8C8BF25-AF97-6E4D-819B-D6412041FAE2}" presName="childText" presStyleLbl="bgAcc1" presStyleIdx="2" presStyleCnt="6" custScaleX="13035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484A7B0-53BA-8F4B-A245-6164F3033A5A}" type="pres">
      <dgm:prSet presAssocID="{A2CE4025-F6EC-5B41-A5F4-2DB73CF897B5}" presName="root" presStyleCnt="0"/>
      <dgm:spPr/>
    </dgm:pt>
    <dgm:pt modelId="{CCEB710D-3FC6-0F49-B3CE-D431889F201E}" type="pres">
      <dgm:prSet presAssocID="{A2CE4025-F6EC-5B41-A5F4-2DB73CF897B5}" presName="rootComposite" presStyleCnt="0"/>
      <dgm:spPr/>
    </dgm:pt>
    <dgm:pt modelId="{60D58A86-47E0-604A-8E3C-F6563FE3EA14}" type="pres">
      <dgm:prSet presAssocID="{A2CE4025-F6EC-5B41-A5F4-2DB73CF897B5}" presName="rootText" presStyleLbl="node1" presStyleIdx="1" presStyleCnt="2" custScaleX="122331"/>
      <dgm:spPr/>
      <dgm:t>
        <a:bodyPr/>
        <a:lstStyle/>
        <a:p>
          <a:endParaRPr lang="zh-CN" altLang="en-US"/>
        </a:p>
      </dgm:t>
    </dgm:pt>
    <dgm:pt modelId="{29D9C6D1-11E7-514A-AC39-E76D47F0572A}" type="pres">
      <dgm:prSet presAssocID="{A2CE4025-F6EC-5B41-A5F4-2DB73CF897B5}" presName="rootConnector" presStyleLbl="node1" presStyleIdx="1" presStyleCnt="2"/>
      <dgm:spPr/>
      <dgm:t>
        <a:bodyPr/>
        <a:lstStyle/>
        <a:p>
          <a:endParaRPr lang="zh-CN" altLang="en-US"/>
        </a:p>
      </dgm:t>
    </dgm:pt>
    <dgm:pt modelId="{AD011C05-69A9-8C4C-8536-E30E4EB821AD}" type="pres">
      <dgm:prSet presAssocID="{A2CE4025-F6EC-5B41-A5F4-2DB73CF897B5}" presName="childShape" presStyleCnt="0"/>
      <dgm:spPr/>
    </dgm:pt>
    <dgm:pt modelId="{E4E81A0C-055B-0A4D-880E-F49882DD7C59}" type="pres">
      <dgm:prSet presAssocID="{CCB04AF8-0CBF-8746-87F5-BED5CCCB9147}" presName="Name13" presStyleLbl="parChTrans1D2" presStyleIdx="3" presStyleCnt="6"/>
      <dgm:spPr/>
      <dgm:t>
        <a:bodyPr/>
        <a:lstStyle/>
        <a:p>
          <a:endParaRPr lang="zh-CN" altLang="en-US"/>
        </a:p>
      </dgm:t>
    </dgm:pt>
    <dgm:pt modelId="{8F1AA522-D78C-5E41-8261-EA163F99DB8E}" type="pres">
      <dgm:prSet presAssocID="{F13069C4-7C5D-BA43-8719-674648CAE05F}" presName="childText" presStyleLbl="bgAcc1" presStyleIdx="3" presStyleCnt="6" custScaleX="13413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30F9866-31A0-744D-94DE-9C737A3F2A83}" type="pres">
      <dgm:prSet presAssocID="{B55F0C53-DD89-6A48-808D-0FB017B0D6CA}" presName="Name13" presStyleLbl="parChTrans1D2" presStyleIdx="4" presStyleCnt="6"/>
      <dgm:spPr/>
      <dgm:t>
        <a:bodyPr/>
        <a:lstStyle/>
        <a:p>
          <a:endParaRPr lang="zh-CN" altLang="en-US"/>
        </a:p>
      </dgm:t>
    </dgm:pt>
    <dgm:pt modelId="{B8E86A7C-1436-6B4A-99A4-6D961B509A17}" type="pres">
      <dgm:prSet presAssocID="{9862BDA3-7FC1-9743-B481-3BEC30457C30}" presName="childText" presStyleLbl="bgAcc1" presStyleIdx="4" presStyleCnt="6" custScaleX="13287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AAA566F-A526-3A40-AB86-7C7D934B6EC4}" type="pres">
      <dgm:prSet presAssocID="{8224D027-DEEA-3847-AB7B-E91A22F24B38}" presName="Name13" presStyleLbl="parChTrans1D2" presStyleIdx="5" presStyleCnt="6"/>
      <dgm:spPr/>
      <dgm:t>
        <a:bodyPr/>
        <a:lstStyle/>
        <a:p>
          <a:endParaRPr lang="zh-CN" altLang="en-US"/>
        </a:p>
      </dgm:t>
    </dgm:pt>
    <dgm:pt modelId="{9CA17CAD-0F1C-A749-B5EA-D6F50D083943}" type="pres">
      <dgm:prSet presAssocID="{EA5499B5-8596-DE4E-B9B0-C76817DA0070}" presName="childText" presStyleLbl="bgAcc1" presStyleIdx="5" presStyleCnt="6" custScaleX="13831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C9EFAE8-19A0-D649-BE3C-38E669498524}" srcId="{0F4CCE8C-6129-2244-A3B8-7CD3313CAD58}" destId="{4F39B85F-6DD2-2A4D-A8A0-114B6FA51C66}" srcOrd="1" destOrd="0" parTransId="{0184EA67-5EBE-7A49-B9AC-8FB8B29C3D1F}" sibTransId="{D1854735-9F07-9940-9130-D61FE1303183}"/>
    <dgm:cxn modelId="{7FA4530A-5148-5D4F-80D5-31EB16EA8DFF}" srcId="{A2CE4025-F6EC-5B41-A5F4-2DB73CF897B5}" destId="{9862BDA3-7FC1-9743-B481-3BEC30457C30}" srcOrd="1" destOrd="0" parTransId="{B55F0C53-DD89-6A48-808D-0FB017B0D6CA}" sibTransId="{6199587C-98B7-1444-97C9-A89586F530AE}"/>
    <dgm:cxn modelId="{29D512C3-8E49-4D4D-ACD7-F5ED437A7D9C}" type="presOf" srcId="{6EE75F52-5827-9E44-A515-E2E9713CD925}" destId="{B407CC2C-55FC-3A42-B421-0ECCC45FC218}" srcOrd="0" destOrd="0" presId="urn:microsoft.com/office/officeart/2005/8/layout/hierarchy3"/>
    <dgm:cxn modelId="{54902BAA-5761-A845-9B8C-AFF7B87FBC6D}" srcId="{6EE75F52-5827-9E44-A515-E2E9713CD925}" destId="{0F4CCE8C-6129-2244-A3B8-7CD3313CAD58}" srcOrd="0" destOrd="0" parTransId="{2B191209-0910-7A45-B5F8-76E7921EA856}" sibTransId="{E2065791-2E70-D841-B879-CCAAA3FBD20C}"/>
    <dgm:cxn modelId="{9E83905E-31E5-4232-863A-59D52969A0D2}" type="presOf" srcId="{9014F8B6-4952-1C4F-A57F-8DED15C08D6B}" destId="{B9BFAFC3-C2B0-3A45-AD1C-6C543FBD8320}" srcOrd="0" destOrd="0" presId="urn:microsoft.com/office/officeart/2005/8/layout/hierarchy3"/>
    <dgm:cxn modelId="{89627D1D-585F-6547-8601-340065FD67B5}" srcId="{A2CE4025-F6EC-5B41-A5F4-2DB73CF897B5}" destId="{EA5499B5-8596-DE4E-B9B0-C76817DA0070}" srcOrd="2" destOrd="0" parTransId="{8224D027-DEEA-3847-AB7B-E91A22F24B38}" sibTransId="{B35FABBE-BE21-FE42-83A3-B8FCE26F234C}"/>
    <dgm:cxn modelId="{4A240247-9C5A-4106-BC23-8FB87C386158}" type="presOf" srcId="{9862BDA3-7FC1-9743-B481-3BEC30457C30}" destId="{B8E86A7C-1436-6B4A-99A4-6D961B509A17}" srcOrd="0" destOrd="0" presId="urn:microsoft.com/office/officeart/2005/8/layout/hierarchy3"/>
    <dgm:cxn modelId="{4CE049AD-A7C9-4000-A7F2-E9BD2909C40E}" type="presOf" srcId="{F13069C4-7C5D-BA43-8719-674648CAE05F}" destId="{8F1AA522-D78C-5E41-8261-EA163F99DB8E}" srcOrd="0" destOrd="0" presId="urn:microsoft.com/office/officeart/2005/8/layout/hierarchy3"/>
    <dgm:cxn modelId="{A68BED16-62FA-4A83-8643-93BBAB52CD63}" type="presOf" srcId="{4F39B85F-6DD2-2A4D-A8A0-114B6FA51C66}" destId="{022F1423-485A-DD45-BF12-831A7B48C4A1}" srcOrd="0" destOrd="0" presId="urn:microsoft.com/office/officeart/2005/8/layout/hierarchy3"/>
    <dgm:cxn modelId="{A944BEF0-C234-49A2-961A-25B4BC77F981}" type="presOf" srcId="{A2CE4025-F6EC-5B41-A5F4-2DB73CF897B5}" destId="{60D58A86-47E0-604A-8E3C-F6563FE3EA14}" srcOrd="0" destOrd="0" presId="urn:microsoft.com/office/officeart/2005/8/layout/hierarchy3"/>
    <dgm:cxn modelId="{6E9ADF45-8F19-472D-8604-56AB08CC28DF}" type="presOf" srcId="{CCB04AF8-0CBF-8746-87F5-BED5CCCB9147}" destId="{E4E81A0C-055B-0A4D-880E-F49882DD7C59}" srcOrd="0" destOrd="0" presId="urn:microsoft.com/office/officeart/2005/8/layout/hierarchy3"/>
    <dgm:cxn modelId="{6157A457-97C5-41D7-AD17-484A17D8761A}" type="presOf" srcId="{B55F0C53-DD89-6A48-808D-0FB017B0D6CA}" destId="{430F9866-31A0-744D-94DE-9C737A3F2A83}" srcOrd="0" destOrd="0" presId="urn:microsoft.com/office/officeart/2005/8/layout/hierarchy3"/>
    <dgm:cxn modelId="{AF453FF7-5B33-4FE1-AA6C-4768D31478EF}" type="presOf" srcId="{0F4CCE8C-6129-2244-A3B8-7CD3313CAD58}" destId="{3860E848-80B5-5B4C-9E1D-93D3A70F917A}" srcOrd="1" destOrd="0" presId="urn:microsoft.com/office/officeart/2005/8/layout/hierarchy3"/>
    <dgm:cxn modelId="{563F8815-DF66-46CD-993A-82B03236FDA3}" type="presOf" srcId="{0184EA67-5EBE-7A49-B9AC-8FB8B29C3D1F}" destId="{0BAC50FA-4B61-F74C-B32B-D688658AC37C}" srcOrd="0" destOrd="0" presId="urn:microsoft.com/office/officeart/2005/8/layout/hierarchy3"/>
    <dgm:cxn modelId="{41DF9F7F-7ACA-0F4D-99B0-5FF1A84E2C1C}" srcId="{6EE75F52-5827-9E44-A515-E2E9713CD925}" destId="{A2CE4025-F6EC-5B41-A5F4-2DB73CF897B5}" srcOrd="1" destOrd="0" parTransId="{AFC8B89E-673D-C847-B165-9A80D2F26AF8}" sibTransId="{15E8867F-2B44-034F-A76D-57AA6E6852AA}"/>
    <dgm:cxn modelId="{76D8F22A-009A-0248-AC9D-ED982A2B8C3E}" srcId="{0F4CCE8C-6129-2244-A3B8-7CD3313CAD58}" destId="{A8C8BF25-AF97-6E4D-819B-D6412041FAE2}" srcOrd="2" destOrd="0" parTransId="{5000621A-D145-FD43-8A82-9EC77F47BBA8}" sibTransId="{8E3FD078-5843-8144-A193-E48E2605A981}"/>
    <dgm:cxn modelId="{191FD854-B758-40E2-8BAE-5A2BF1B725AC}" type="presOf" srcId="{8224D027-DEEA-3847-AB7B-E91A22F24B38}" destId="{3AAA566F-A526-3A40-AB86-7C7D934B6EC4}" srcOrd="0" destOrd="0" presId="urn:microsoft.com/office/officeart/2005/8/layout/hierarchy3"/>
    <dgm:cxn modelId="{25DA954B-B267-7547-B3B2-7117F290CB44}" srcId="{A2CE4025-F6EC-5B41-A5F4-2DB73CF897B5}" destId="{F13069C4-7C5D-BA43-8719-674648CAE05F}" srcOrd="0" destOrd="0" parTransId="{CCB04AF8-0CBF-8746-87F5-BED5CCCB9147}" sibTransId="{164ED11C-03D5-874D-8949-F45E55756F91}"/>
    <dgm:cxn modelId="{AEE55F1D-C42F-CC42-9E77-1C79B75E9728}" srcId="{0F4CCE8C-6129-2244-A3B8-7CD3313CAD58}" destId="{7E69B3F0-3E56-D043-BDE4-D6BC35ED0157}" srcOrd="0" destOrd="0" parTransId="{9014F8B6-4952-1C4F-A57F-8DED15C08D6B}" sibTransId="{6865B023-2117-8F48-96ED-4E2D27232C45}"/>
    <dgm:cxn modelId="{36709079-A9C5-4E4F-927C-4787744E3710}" type="presOf" srcId="{A2CE4025-F6EC-5B41-A5F4-2DB73CF897B5}" destId="{29D9C6D1-11E7-514A-AC39-E76D47F0572A}" srcOrd="1" destOrd="0" presId="urn:microsoft.com/office/officeart/2005/8/layout/hierarchy3"/>
    <dgm:cxn modelId="{B82BBB1F-21CF-45DA-9B97-5F4BB5B75E67}" type="presOf" srcId="{0F4CCE8C-6129-2244-A3B8-7CD3313CAD58}" destId="{FA46D5B8-837C-9C4C-98B1-BADBF3C37054}" srcOrd="0" destOrd="0" presId="urn:microsoft.com/office/officeart/2005/8/layout/hierarchy3"/>
    <dgm:cxn modelId="{ACD8B2AB-F2B3-4D8D-BB10-25A2EC10BB78}" type="presOf" srcId="{EA5499B5-8596-DE4E-B9B0-C76817DA0070}" destId="{9CA17CAD-0F1C-A749-B5EA-D6F50D083943}" srcOrd="0" destOrd="0" presId="urn:microsoft.com/office/officeart/2005/8/layout/hierarchy3"/>
    <dgm:cxn modelId="{F40649DA-59D0-4825-9CC9-74A7454EE6B5}" type="presOf" srcId="{A8C8BF25-AF97-6E4D-819B-D6412041FAE2}" destId="{AA132B9D-EAB2-F94A-9E6C-0FCB2B20A839}" srcOrd="0" destOrd="0" presId="urn:microsoft.com/office/officeart/2005/8/layout/hierarchy3"/>
    <dgm:cxn modelId="{B363EFC6-F7A1-4399-BD52-3EA071402FBC}" type="presOf" srcId="{5000621A-D145-FD43-8A82-9EC77F47BBA8}" destId="{1177C97D-35F3-4E4B-B243-E30B7736AA3B}" srcOrd="0" destOrd="0" presId="urn:microsoft.com/office/officeart/2005/8/layout/hierarchy3"/>
    <dgm:cxn modelId="{AE6A37D8-D3D5-490A-A5E7-711E2D0F187A}" type="presOf" srcId="{7E69B3F0-3E56-D043-BDE4-D6BC35ED0157}" destId="{15D69B04-A143-064C-8E64-C527C708B1F9}" srcOrd="0" destOrd="0" presId="urn:microsoft.com/office/officeart/2005/8/layout/hierarchy3"/>
    <dgm:cxn modelId="{AE63A7AB-2227-4E44-9F8B-3B5C309758C5}" type="presParOf" srcId="{B407CC2C-55FC-3A42-B421-0ECCC45FC218}" destId="{D419D032-033C-E347-9AD3-9D7F820FCBA4}" srcOrd="0" destOrd="0" presId="urn:microsoft.com/office/officeart/2005/8/layout/hierarchy3"/>
    <dgm:cxn modelId="{31220C75-7DEF-48E3-B923-13464EA17C1A}" type="presParOf" srcId="{D419D032-033C-E347-9AD3-9D7F820FCBA4}" destId="{FAFEAE00-C331-3748-8ADB-1C52218FC787}" srcOrd="0" destOrd="0" presId="urn:microsoft.com/office/officeart/2005/8/layout/hierarchy3"/>
    <dgm:cxn modelId="{89065B9E-4FE3-4CBA-A195-169B4655DAF8}" type="presParOf" srcId="{FAFEAE00-C331-3748-8ADB-1C52218FC787}" destId="{FA46D5B8-837C-9C4C-98B1-BADBF3C37054}" srcOrd="0" destOrd="0" presId="urn:microsoft.com/office/officeart/2005/8/layout/hierarchy3"/>
    <dgm:cxn modelId="{E1C4C91B-83FB-4F8D-9DE0-18C63A92B659}" type="presParOf" srcId="{FAFEAE00-C331-3748-8ADB-1C52218FC787}" destId="{3860E848-80B5-5B4C-9E1D-93D3A70F917A}" srcOrd="1" destOrd="0" presId="urn:microsoft.com/office/officeart/2005/8/layout/hierarchy3"/>
    <dgm:cxn modelId="{D6DE8DA1-8819-4597-B898-3052EA3988A5}" type="presParOf" srcId="{D419D032-033C-E347-9AD3-9D7F820FCBA4}" destId="{B4F71B52-F060-9C45-9A0B-660548423EBF}" srcOrd="1" destOrd="0" presId="urn:microsoft.com/office/officeart/2005/8/layout/hierarchy3"/>
    <dgm:cxn modelId="{C8ECFF65-29BA-4B82-9125-F23CDEBDAA7F}" type="presParOf" srcId="{B4F71B52-F060-9C45-9A0B-660548423EBF}" destId="{B9BFAFC3-C2B0-3A45-AD1C-6C543FBD8320}" srcOrd="0" destOrd="0" presId="urn:microsoft.com/office/officeart/2005/8/layout/hierarchy3"/>
    <dgm:cxn modelId="{34A93B7A-1C73-41DF-BCE3-C014F214AD49}" type="presParOf" srcId="{B4F71B52-F060-9C45-9A0B-660548423EBF}" destId="{15D69B04-A143-064C-8E64-C527C708B1F9}" srcOrd="1" destOrd="0" presId="urn:microsoft.com/office/officeart/2005/8/layout/hierarchy3"/>
    <dgm:cxn modelId="{48F021B5-C592-4EB9-88C6-698FB07AE125}" type="presParOf" srcId="{B4F71B52-F060-9C45-9A0B-660548423EBF}" destId="{0BAC50FA-4B61-F74C-B32B-D688658AC37C}" srcOrd="2" destOrd="0" presId="urn:microsoft.com/office/officeart/2005/8/layout/hierarchy3"/>
    <dgm:cxn modelId="{643912B6-8063-41E2-8F7A-3EDA99986130}" type="presParOf" srcId="{B4F71B52-F060-9C45-9A0B-660548423EBF}" destId="{022F1423-485A-DD45-BF12-831A7B48C4A1}" srcOrd="3" destOrd="0" presId="urn:microsoft.com/office/officeart/2005/8/layout/hierarchy3"/>
    <dgm:cxn modelId="{D1796247-C1BD-42F1-8AF7-FCA1D9A8E0CC}" type="presParOf" srcId="{B4F71B52-F060-9C45-9A0B-660548423EBF}" destId="{1177C97D-35F3-4E4B-B243-E30B7736AA3B}" srcOrd="4" destOrd="0" presId="urn:microsoft.com/office/officeart/2005/8/layout/hierarchy3"/>
    <dgm:cxn modelId="{44F3A9D0-EE33-4BCB-AF1D-2741E13345B1}" type="presParOf" srcId="{B4F71B52-F060-9C45-9A0B-660548423EBF}" destId="{AA132B9D-EAB2-F94A-9E6C-0FCB2B20A839}" srcOrd="5" destOrd="0" presId="urn:microsoft.com/office/officeart/2005/8/layout/hierarchy3"/>
    <dgm:cxn modelId="{ED987C8B-0B4E-42D8-8F02-1989F978EA91}" type="presParOf" srcId="{B407CC2C-55FC-3A42-B421-0ECCC45FC218}" destId="{C484A7B0-53BA-8F4B-A245-6164F3033A5A}" srcOrd="1" destOrd="0" presId="urn:microsoft.com/office/officeart/2005/8/layout/hierarchy3"/>
    <dgm:cxn modelId="{3D94D205-C024-4D3A-9583-3568FAA75EAB}" type="presParOf" srcId="{C484A7B0-53BA-8F4B-A245-6164F3033A5A}" destId="{CCEB710D-3FC6-0F49-B3CE-D431889F201E}" srcOrd="0" destOrd="0" presId="urn:microsoft.com/office/officeart/2005/8/layout/hierarchy3"/>
    <dgm:cxn modelId="{0220C61D-F319-48DA-AECA-4F0AA8A16056}" type="presParOf" srcId="{CCEB710D-3FC6-0F49-B3CE-D431889F201E}" destId="{60D58A86-47E0-604A-8E3C-F6563FE3EA14}" srcOrd="0" destOrd="0" presId="urn:microsoft.com/office/officeart/2005/8/layout/hierarchy3"/>
    <dgm:cxn modelId="{BC363D16-0288-42D9-8519-72CD99546FFB}" type="presParOf" srcId="{CCEB710D-3FC6-0F49-B3CE-D431889F201E}" destId="{29D9C6D1-11E7-514A-AC39-E76D47F0572A}" srcOrd="1" destOrd="0" presId="urn:microsoft.com/office/officeart/2005/8/layout/hierarchy3"/>
    <dgm:cxn modelId="{082AF805-80BE-4ADE-8103-29F0A3D12EE7}" type="presParOf" srcId="{C484A7B0-53BA-8F4B-A245-6164F3033A5A}" destId="{AD011C05-69A9-8C4C-8536-E30E4EB821AD}" srcOrd="1" destOrd="0" presId="urn:microsoft.com/office/officeart/2005/8/layout/hierarchy3"/>
    <dgm:cxn modelId="{450A96B9-0CA9-4734-AF9A-8C37C3519577}" type="presParOf" srcId="{AD011C05-69A9-8C4C-8536-E30E4EB821AD}" destId="{E4E81A0C-055B-0A4D-880E-F49882DD7C59}" srcOrd="0" destOrd="0" presId="urn:microsoft.com/office/officeart/2005/8/layout/hierarchy3"/>
    <dgm:cxn modelId="{3EE4905D-B569-4B45-A266-B8929CEBCB69}" type="presParOf" srcId="{AD011C05-69A9-8C4C-8536-E30E4EB821AD}" destId="{8F1AA522-D78C-5E41-8261-EA163F99DB8E}" srcOrd="1" destOrd="0" presId="urn:microsoft.com/office/officeart/2005/8/layout/hierarchy3"/>
    <dgm:cxn modelId="{A4D7B5A1-E6B6-4240-9327-DEF05137A4DA}" type="presParOf" srcId="{AD011C05-69A9-8C4C-8536-E30E4EB821AD}" destId="{430F9866-31A0-744D-94DE-9C737A3F2A83}" srcOrd="2" destOrd="0" presId="urn:microsoft.com/office/officeart/2005/8/layout/hierarchy3"/>
    <dgm:cxn modelId="{252FD858-1FB1-49A7-BC34-AC91E5B8866E}" type="presParOf" srcId="{AD011C05-69A9-8C4C-8536-E30E4EB821AD}" destId="{B8E86A7C-1436-6B4A-99A4-6D961B509A17}" srcOrd="3" destOrd="0" presId="urn:microsoft.com/office/officeart/2005/8/layout/hierarchy3"/>
    <dgm:cxn modelId="{29A3B551-B503-44CE-8544-C2BF489E63B5}" type="presParOf" srcId="{AD011C05-69A9-8C4C-8536-E30E4EB821AD}" destId="{3AAA566F-A526-3A40-AB86-7C7D934B6EC4}" srcOrd="4" destOrd="0" presId="urn:microsoft.com/office/officeart/2005/8/layout/hierarchy3"/>
    <dgm:cxn modelId="{BC5127C9-3E54-4828-A663-4ABBEB66EF08}" type="presParOf" srcId="{AD011C05-69A9-8C4C-8536-E30E4EB821AD}" destId="{9CA17CAD-0F1C-A749-B5EA-D6F50D083943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6D5B8-837C-9C4C-98B1-BADBF3C37054}">
      <dsp:nvSpPr>
        <dsp:cNvPr id="0" name=""/>
        <dsp:cNvSpPr/>
      </dsp:nvSpPr>
      <dsp:spPr>
        <a:xfrm>
          <a:off x="2306293" y="1593"/>
          <a:ext cx="2329204" cy="8344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程序设计语言</a:t>
          </a:r>
        </a:p>
      </dsp:txBody>
      <dsp:txXfrm>
        <a:off x="2330732" y="26032"/>
        <a:ext cx="2280326" cy="785531"/>
      </dsp:txXfrm>
    </dsp:sp>
    <dsp:sp modelId="{B9BFAFC3-C2B0-3A45-AD1C-6C543FBD8320}">
      <dsp:nvSpPr>
        <dsp:cNvPr id="0" name=""/>
        <dsp:cNvSpPr/>
      </dsp:nvSpPr>
      <dsp:spPr>
        <a:xfrm>
          <a:off x="2539213" y="836003"/>
          <a:ext cx="232920" cy="6258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5807"/>
              </a:lnTo>
              <a:lnTo>
                <a:pt x="232920" y="625807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D69B04-A143-064C-8E64-C527C708B1F9}">
      <dsp:nvSpPr>
        <dsp:cNvPr id="0" name=""/>
        <dsp:cNvSpPr/>
      </dsp:nvSpPr>
      <dsp:spPr>
        <a:xfrm>
          <a:off x="2772133" y="1044605"/>
          <a:ext cx="1791136" cy="834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数据类型</a:t>
          </a:r>
        </a:p>
      </dsp:txBody>
      <dsp:txXfrm>
        <a:off x="2796572" y="1069044"/>
        <a:ext cx="1742258" cy="785531"/>
      </dsp:txXfrm>
    </dsp:sp>
    <dsp:sp modelId="{0BAC50FA-4B61-F74C-B32B-D688658AC37C}">
      <dsp:nvSpPr>
        <dsp:cNvPr id="0" name=""/>
        <dsp:cNvSpPr/>
      </dsp:nvSpPr>
      <dsp:spPr>
        <a:xfrm>
          <a:off x="2539213" y="836003"/>
          <a:ext cx="232920" cy="16688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8819"/>
              </a:lnTo>
              <a:lnTo>
                <a:pt x="232920" y="1668819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2F1423-485A-DD45-BF12-831A7B48C4A1}">
      <dsp:nvSpPr>
        <dsp:cNvPr id="0" name=""/>
        <dsp:cNvSpPr/>
      </dsp:nvSpPr>
      <dsp:spPr>
        <a:xfrm>
          <a:off x="2772133" y="2087617"/>
          <a:ext cx="1765730" cy="834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变量</a:t>
          </a:r>
          <a:endParaRPr lang="en-US" altLang="zh-CN" sz="20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96572" y="2112056"/>
        <a:ext cx="1716852" cy="785531"/>
      </dsp:txXfrm>
    </dsp:sp>
    <dsp:sp modelId="{1177C97D-35F3-4E4B-B243-E30B7736AA3B}">
      <dsp:nvSpPr>
        <dsp:cNvPr id="0" name=""/>
        <dsp:cNvSpPr/>
      </dsp:nvSpPr>
      <dsp:spPr>
        <a:xfrm>
          <a:off x="2539213" y="836003"/>
          <a:ext cx="232920" cy="2711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1830"/>
              </a:lnTo>
              <a:lnTo>
                <a:pt x="232920" y="271183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32B9D-EAB2-F94A-9E6C-0FCB2B20A839}">
      <dsp:nvSpPr>
        <dsp:cNvPr id="0" name=""/>
        <dsp:cNvSpPr/>
      </dsp:nvSpPr>
      <dsp:spPr>
        <a:xfrm>
          <a:off x="2772133" y="3130629"/>
          <a:ext cx="1740324" cy="834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值</a:t>
          </a:r>
          <a:endParaRPr lang="en-US" altLang="zh-CN" sz="20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96572" y="3155068"/>
        <a:ext cx="1691446" cy="785531"/>
      </dsp:txXfrm>
    </dsp:sp>
    <dsp:sp modelId="{60D58A86-47E0-604A-8E3C-F6563FE3EA14}">
      <dsp:nvSpPr>
        <dsp:cNvPr id="0" name=""/>
        <dsp:cNvSpPr/>
      </dsp:nvSpPr>
      <dsp:spPr>
        <a:xfrm>
          <a:off x="5052701" y="1593"/>
          <a:ext cx="2041483" cy="8344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关系模型</a:t>
          </a:r>
        </a:p>
      </dsp:txBody>
      <dsp:txXfrm>
        <a:off x="5077140" y="26032"/>
        <a:ext cx="1992605" cy="785531"/>
      </dsp:txXfrm>
    </dsp:sp>
    <dsp:sp modelId="{E4E81A0C-055B-0A4D-880E-F49882DD7C59}">
      <dsp:nvSpPr>
        <dsp:cNvPr id="0" name=""/>
        <dsp:cNvSpPr/>
      </dsp:nvSpPr>
      <dsp:spPr>
        <a:xfrm>
          <a:off x="5256850" y="836003"/>
          <a:ext cx="204148" cy="6258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5807"/>
              </a:lnTo>
              <a:lnTo>
                <a:pt x="204148" y="625807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1AA522-D78C-5E41-8261-EA163F99DB8E}">
      <dsp:nvSpPr>
        <dsp:cNvPr id="0" name=""/>
        <dsp:cNvSpPr/>
      </dsp:nvSpPr>
      <dsp:spPr>
        <a:xfrm>
          <a:off x="5460998" y="1044605"/>
          <a:ext cx="1790816" cy="834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关系模式</a:t>
          </a:r>
        </a:p>
      </dsp:txBody>
      <dsp:txXfrm>
        <a:off x="5485437" y="1069044"/>
        <a:ext cx="1741938" cy="785531"/>
      </dsp:txXfrm>
    </dsp:sp>
    <dsp:sp modelId="{430F9866-31A0-744D-94DE-9C737A3F2A83}">
      <dsp:nvSpPr>
        <dsp:cNvPr id="0" name=""/>
        <dsp:cNvSpPr/>
      </dsp:nvSpPr>
      <dsp:spPr>
        <a:xfrm>
          <a:off x="5256850" y="836003"/>
          <a:ext cx="204148" cy="16688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8819"/>
              </a:lnTo>
              <a:lnTo>
                <a:pt x="204148" y="1668819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E86A7C-1436-6B4A-99A4-6D961B509A17}">
      <dsp:nvSpPr>
        <dsp:cNvPr id="0" name=""/>
        <dsp:cNvSpPr/>
      </dsp:nvSpPr>
      <dsp:spPr>
        <a:xfrm>
          <a:off x="5460998" y="2087617"/>
          <a:ext cx="1773954" cy="834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关系</a:t>
          </a:r>
        </a:p>
      </dsp:txBody>
      <dsp:txXfrm>
        <a:off x="5485437" y="2112056"/>
        <a:ext cx="1725076" cy="785531"/>
      </dsp:txXfrm>
    </dsp:sp>
    <dsp:sp modelId="{3AAA566F-A526-3A40-AB86-7C7D934B6EC4}">
      <dsp:nvSpPr>
        <dsp:cNvPr id="0" name=""/>
        <dsp:cNvSpPr/>
      </dsp:nvSpPr>
      <dsp:spPr>
        <a:xfrm>
          <a:off x="5256850" y="836003"/>
          <a:ext cx="204148" cy="2711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1830"/>
              </a:lnTo>
              <a:lnTo>
                <a:pt x="204148" y="271183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A17CAD-0F1C-A749-B5EA-D6F50D083943}">
      <dsp:nvSpPr>
        <dsp:cNvPr id="0" name=""/>
        <dsp:cNvSpPr/>
      </dsp:nvSpPr>
      <dsp:spPr>
        <a:xfrm>
          <a:off x="5460998" y="3130629"/>
          <a:ext cx="1846608" cy="834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关系实例</a:t>
          </a:r>
        </a:p>
      </dsp:txBody>
      <dsp:txXfrm>
        <a:off x="5485437" y="3155068"/>
        <a:ext cx="1797730" cy="7855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14743-55CB-4535-BFA3-9EBD9B1C88C9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58177-CB7F-483B-8710-93D2E5EA7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39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329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430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412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447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492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962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890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360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221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9344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095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689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629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532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注意：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以上的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代表的并不是存储在数据库中的具体的长度，如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(4)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并不是只能存储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个长度的数字。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实际上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(size)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所占多少存储空间并无任何关系。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(4)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(8)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在磁盘上都是占用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btyes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的存储空间。就是在显示给用户的方式有点不同外，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(M)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跟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数据类型是相同的。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例如：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的值为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（指定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zerofill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</a:p>
          <a:p>
            <a:r>
              <a:rPr lang="en-US" altLang="zh-CN" dirty="0" err="1" smtClean="0">
                <a:effectLst/>
              </a:rPr>
              <a:t>int</a:t>
            </a:r>
            <a:r>
              <a:rPr lang="zh-CN" altLang="en-US" dirty="0" smtClean="0">
                <a:effectLst/>
              </a:rPr>
              <a:t>（</a:t>
            </a:r>
            <a:r>
              <a:rPr lang="en-US" altLang="zh-CN" dirty="0" smtClean="0">
                <a:effectLst/>
              </a:rPr>
              <a:t>9</a:t>
            </a:r>
            <a:r>
              <a:rPr lang="zh-CN" altLang="en-US" dirty="0" smtClean="0">
                <a:effectLst/>
              </a:rPr>
              <a:t>）显示结果为</a:t>
            </a:r>
            <a:r>
              <a:rPr lang="en-US" altLang="zh-CN" dirty="0" smtClean="0">
                <a:effectLst/>
              </a:rPr>
              <a:t>000000010 </a:t>
            </a:r>
            <a:r>
              <a:rPr lang="en-US" altLang="zh-CN" dirty="0" err="1" smtClean="0">
                <a:effectLst/>
              </a:rPr>
              <a:t>int</a:t>
            </a:r>
            <a:r>
              <a:rPr lang="zh-CN" altLang="en-US" dirty="0" smtClean="0">
                <a:effectLst/>
              </a:rPr>
              <a:t>（</a:t>
            </a:r>
            <a:r>
              <a:rPr lang="en-US" altLang="zh-CN" dirty="0" smtClean="0">
                <a:effectLst/>
              </a:rPr>
              <a:t>3</a:t>
            </a:r>
            <a:r>
              <a:rPr lang="zh-CN" altLang="en-US" dirty="0" smtClean="0">
                <a:effectLst/>
              </a:rPr>
              <a:t>）显示结果为</a:t>
            </a:r>
            <a:r>
              <a:rPr lang="en-US" altLang="zh-CN" dirty="0" smtClean="0">
                <a:effectLst/>
              </a:rPr>
              <a:t>010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就是显示的长度不一样而已 都是占用四个字节的空间</a:t>
            </a:r>
          </a:p>
          <a:p>
            <a:endParaRPr lang="en-US" altLang="zh-CN" dirty="0" smtClean="0"/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它以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'YYYY-MM-DD HH:MM:SS'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的格式存储日期和时间的组合，长度固定为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292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 dirty="0" smtClean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08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72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23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1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78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20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78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24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34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2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43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xfrm>
            <a:off x="5219700" y="6381750"/>
            <a:ext cx="360045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8434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xfrm>
            <a:off x="5219700" y="6381750"/>
            <a:ext cx="360045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033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6637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zh-CN" dirty="0" smtClean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82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3" r:id="rId12"/>
    <p:sldLayoutId id="214748373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关系数据库</a:t>
            </a:r>
            <a:endParaRPr lang="zh-CN" altLang="en-US" sz="4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授课教师：张小燕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邮箱：</a:t>
            </a:r>
            <a:r>
              <a:rPr lang="en-US" altLang="zh-CN" dirty="0" smtClean="0"/>
              <a:t>xyzhang15@szu.edu.cn</a:t>
            </a:r>
          </a:p>
          <a:p>
            <a:pPr>
              <a:lnSpc>
                <a:spcPct val="110000"/>
              </a:lnSpc>
            </a:pPr>
            <a:r>
              <a:rPr lang="zh-CN" altLang="en-US" dirty="0" smtClean="0"/>
              <a:t>深圳大学 计算机与软件学院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4279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内容目录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关系模型</a:t>
            </a:r>
            <a:endParaRPr lang="zh-CN" altLang="en-US" dirty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关系数据库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关系的完整性</a:t>
            </a:r>
            <a:endParaRPr lang="en-US" altLang="zh-CN" dirty="0" smtClean="0"/>
          </a:p>
          <a:p>
            <a:pPr lvl="2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7643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知识框架</a:t>
            </a:r>
            <a:endParaRPr lang="en-US" altLang="zh-CN" dirty="0"/>
          </a:p>
        </p:txBody>
      </p:sp>
      <p:sp>
        <p:nvSpPr>
          <p:cNvPr id="9" name="矩形: 圆角 42">
            <a:extLst>
              <a:ext uri="{FF2B5EF4-FFF2-40B4-BE49-F238E27FC236}">
                <a16:creationId xmlns:a16="http://schemas.microsoft.com/office/drawing/2014/main" xmlns="" id="{DC178D55-282F-8368-3356-FEB989294A38}"/>
              </a:ext>
            </a:extLst>
          </p:cNvPr>
          <p:cNvSpPr/>
          <p:nvPr/>
        </p:nvSpPr>
        <p:spPr bwMode="auto">
          <a:xfrm>
            <a:off x="5727669" y="2222474"/>
            <a:ext cx="1656349" cy="164566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10" name="流程图: 磁盘 3">
            <a:extLst>
              <a:ext uri="{FF2B5EF4-FFF2-40B4-BE49-F238E27FC236}">
                <a16:creationId xmlns:a16="http://schemas.microsoft.com/office/drawing/2014/main" xmlns="" id="{88C5545C-4BE4-0213-8566-FA6D87718721}"/>
              </a:ext>
            </a:extLst>
          </p:cNvPr>
          <p:cNvSpPr/>
          <p:nvPr/>
        </p:nvSpPr>
        <p:spPr bwMode="auto">
          <a:xfrm>
            <a:off x="52381" y="2424068"/>
            <a:ext cx="1100452" cy="1120175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1" name="矩形: 圆角 11">
            <a:extLst>
              <a:ext uri="{FF2B5EF4-FFF2-40B4-BE49-F238E27FC236}">
                <a16:creationId xmlns:a16="http://schemas.microsoft.com/office/drawing/2014/main" xmlns="" id="{EEA16D5A-DC51-4C9B-074A-A6C3D6C65EB5}"/>
              </a:ext>
            </a:extLst>
          </p:cNvPr>
          <p:cNvSpPr/>
          <p:nvPr/>
        </p:nvSpPr>
        <p:spPr bwMode="auto">
          <a:xfrm>
            <a:off x="2167941" y="2484686"/>
            <a:ext cx="988566" cy="1059558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关系</a:t>
            </a:r>
            <a:endParaRPr kumimoji="1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模型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02C0A7EA-57C1-6807-617E-24D5845CC458}"/>
              </a:ext>
            </a:extLst>
          </p:cNvPr>
          <p:cNvSpPr txBox="1"/>
          <p:nvPr/>
        </p:nvSpPr>
        <p:spPr>
          <a:xfrm>
            <a:off x="126425" y="2791888"/>
            <a:ext cx="952364" cy="718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关系</a:t>
            </a: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ctr"/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数据库</a:t>
            </a:r>
          </a:p>
        </p:txBody>
      </p:sp>
      <p:cxnSp>
        <p:nvCxnSpPr>
          <p:cNvPr id="13" name="直接箭头连接符 14">
            <a:extLst>
              <a:ext uri="{FF2B5EF4-FFF2-40B4-BE49-F238E27FC236}">
                <a16:creationId xmlns:a16="http://schemas.microsoft.com/office/drawing/2014/main" xmlns="" id="{6588F069-2D58-D310-78E3-A8F61DA3B53C}"/>
              </a:ext>
            </a:extLst>
          </p:cNvPr>
          <p:cNvCxnSpPr/>
          <p:nvPr/>
        </p:nvCxnSpPr>
        <p:spPr bwMode="auto">
          <a:xfrm>
            <a:off x="1192007" y="3014464"/>
            <a:ext cx="906699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350C2ED7-05D7-20F1-3044-0A7CF3FEEA75}"/>
              </a:ext>
            </a:extLst>
          </p:cNvPr>
          <p:cNvSpPr txBox="1"/>
          <p:nvPr/>
        </p:nvSpPr>
        <p:spPr>
          <a:xfrm>
            <a:off x="1086201" y="2458166"/>
            <a:ext cx="1164758" cy="513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ctr"/>
            <a:r>
              <a:rPr lang="zh-CN" altLang="en-US" sz="1200" dirty="0">
                <a:latin typeface="微软雅黑" panose="020B0503020204020204" pitchFamily="82" charset="2"/>
                <a:ea typeface="微软雅黑" panose="020B0503020204020204" pitchFamily="82" charset="2"/>
              </a:rPr>
              <a:t>组织方式</a:t>
            </a:r>
          </a:p>
        </p:txBody>
      </p:sp>
      <p:sp>
        <p:nvSpPr>
          <p:cNvPr id="15" name="流程图: 磁盘 16">
            <a:extLst>
              <a:ext uri="{FF2B5EF4-FFF2-40B4-BE49-F238E27FC236}">
                <a16:creationId xmlns:a16="http://schemas.microsoft.com/office/drawing/2014/main" xmlns="" id="{36E80929-E1E3-7888-153E-CE0D16D6EDDC}"/>
              </a:ext>
            </a:extLst>
          </p:cNvPr>
          <p:cNvSpPr/>
          <p:nvPr/>
        </p:nvSpPr>
        <p:spPr bwMode="auto">
          <a:xfrm>
            <a:off x="94404" y="4247750"/>
            <a:ext cx="1100452" cy="1120175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6" name="矩形: 圆角 17">
            <a:extLst>
              <a:ext uri="{FF2B5EF4-FFF2-40B4-BE49-F238E27FC236}">
                <a16:creationId xmlns:a16="http://schemas.microsoft.com/office/drawing/2014/main" xmlns="" id="{E34D9F51-3387-E22E-48F5-201ABBE53BC9}"/>
              </a:ext>
            </a:extLst>
          </p:cNvPr>
          <p:cNvSpPr/>
          <p:nvPr/>
        </p:nvSpPr>
        <p:spPr bwMode="auto">
          <a:xfrm>
            <a:off x="2209964" y="4308367"/>
            <a:ext cx="988566" cy="1059558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</a:t>
            </a:r>
            <a:endParaRPr kumimoji="1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模型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A651F3CA-7CFB-C2CB-CDDD-F17F0E4DBDC0}"/>
              </a:ext>
            </a:extLst>
          </p:cNvPr>
          <p:cNvSpPr txBox="1"/>
          <p:nvPr/>
        </p:nvSpPr>
        <p:spPr>
          <a:xfrm>
            <a:off x="168447" y="4741013"/>
            <a:ext cx="952364" cy="410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数据库</a:t>
            </a:r>
          </a:p>
        </p:txBody>
      </p:sp>
      <p:cxnSp>
        <p:nvCxnSpPr>
          <p:cNvPr id="18" name="直接箭头连接符 19">
            <a:extLst>
              <a:ext uri="{FF2B5EF4-FFF2-40B4-BE49-F238E27FC236}">
                <a16:creationId xmlns:a16="http://schemas.microsoft.com/office/drawing/2014/main" xmlns="" id="{7C40ADDB-C8B2-41A1-0979-095946598FA1}"/>
              </a:ext>
            </a:extLst>
          </p:cNvPr>
          <p:cNvCxnSpPr/>
          <p:nvPr/>
        </p:nvCxnSpPr>
        <p:spPr bwMode="auto">
          <a:xfrm>
            <a:off x="1234030" y="4838146"/>
            <a:ext cx="906699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xmlns="" id="{0D414FE4-97CF-1CB0-EB81-9240D00ECE08}"/>
              </a:ext>
            </a:extLst>
          </p:cNvPr>
          <p:cNvSpPr txBox="1"/>
          <p:nvPr/>
        </p:nvSpPr>
        <p:spPr>
          <a:xfrm>
            <a:off x="1128224" y="4281848"/>
            <a:ext cx="1164758" cy="513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ctr"/>
            <a:r>
              <a:rPr lang="zh-CN" altLang="en-US" sz="1200" dirty="0">
                <a:latin typeface="微软雅黑" panose="020B0503020204020204" pitchFamily="82" charset="2"/>
                <a:ea typeface="微软雅黑" panose="020B0503020204020204" pitchFamily="82" charset="2"/>
              </a:rPr>
              <a:t>组织方式</a:t>
            </a:r>
          </a:p>
        </p:txBody>
      </p:sp>
      <p:sp>
        <p:nvSpPr>
          <p:cNvPr id="20" name="矩形: 圆角 21">
            <a:extLst>
              <a:ext uri="{FF2B5EF4-FFF2-40B4-BE49-F238E27FC236}">
                <a16:creationId xmlns:a16="http://schemas.microsoft.com/office/drawing/2014/main" xmlns="" id="{8BF13DE6-C56F-7CAD-6CA1-142506FB30D1}"/>
              </a:ext>
            </a:extLst>
          </p:cNvPr>
          <p:cNvSpPr/>
          <p:nvPr/>
        </p:nvSpPr>
        <p:spPr bwMode="auto">
          <a:xfrm>
            <a:off x="3691982" y="1486443"/>
            <a:ext cx="1670432" cy="374571"/>
          </a:xfrm>
          <a:prstGeom prst="roundRect">
            <a:avLst/>
          </a:prstGeom>
          <a:solidFill>
            <a:srgbClr val="6F1787">
              <a:alpha val="50000"/>
            </a:srgb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关系</a:t>
            </a:r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数据结构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21" name="矩形: 圆角 22">
            <a:extLst>
              <a:ext uri="{FF2B5EF4-FFF2-40B4-BE49-F238E27FC236}">
                <a16:creationId xmlns:a16="http://schemas.microsoft.com/office/drawing/2014/main" xmlns="" id="{FB4D1881-DD72-8753-B723-A1580B8F9F10}"/>
              </a:ext>
            </a:extLst>
          </p:cNvPr>
          <p:cNvSpPr/>
          <p:nvPr/>
        </p:nvSpPr>
        <p:spPr bwMode="auto">
          <a:xfrm>
            <a:off x="3735046" y="2854834"/>
            <a:ext cx="1621838" cy="374571"/>
          </a:xfrm>
          <a:prstGeom prst="roundRect">
            <a:avLst/>
          </a:prstGeom>
          <a:solidFill>
            <a:srgbClr val="6F1787">
              <a:alpha val="50000"/>
            </a:srgb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关系</a:t>
            </a:r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操作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22" name="矩形: 圆角 23">
            <a:extLst>
              <a:ext uri="{FF2B5EF4-FFF2-40B4-BE49-F238E27FC236}">
                <a16:creationId xmlns:a16="http://schemas.microsoft.com/office/drawing/2014/main" xmlns="" id="{9A82A4CB-F34E-5BED-8D22-FCD83D26B8A4}"/>
              </a:ext>
            </a:extLst>
          </p:cNvPr>
          <p:cNvSpPr/>
          <p:nvPr/>
        </p:nvSpPr>
        <p:spPr bwMode="auto">
          <a:xfrm>
            <a:off x="3741529" y="4325683"/>
            <a:ext cx="1742641" cy="374571"/>
          </a:xfrm>
          <a:prstGeom prst="roundRect">
            <a:avLst/>
          </a:prstGeom>
          <a:solidFill>
            <a:srgbClr val="6F1787">
              <a:alpha val="50000"/>
            </a:srgb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关系</a:t>
            </a:r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完整性约束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cxnSp>
        <p:nvCxnSpPr>
          <p:cNvPr id="23" name="直接箭头连接符 24">
            <a:extLst>
              <a:ext uri="{FF2B5EF4-FFF2-40B4-BE49-F238E27FC236}">
                <a16:creationId xmlns:a16="http://schemas.microsoft.com/office/drawing/2014/main" xmlns="" id="{35B2B942-4A3F-605F-FB76-CF23204F7F39}"/>
              </a:ext>
            </a:extLst>
          </p:cNvPr>
          <p:cNvCxnSpPr>
            <a:cxnSpLocks/>
          </p:cNvCxnSpPr>
          <p:nvPr/>
        </p:nvCxnSpPr>
        <p:spPr bwMode="auto">
          <a:xfrm>
            <a:off x="3162836" y="3025119"/>
            <a:ext cx="508952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箭头连接符 26">
            <a:extLst>
              <a:ext uri="{FF2B5EF4-FFF2-40B4-BE49-F238E27FC236}">
                <a16:creationId xmlns:a16="http://schemas.microsoft.com/office/drawing/2014/main" xmlns="" id="{07701A49-EC33-7315-8F67-2BDC6255F3F0}"/>
              </a:ext>
            </a:extLst>
          </p:cNvPr>
          <p:cNvCxnSpPr>
            <a:cxnSpLocks/>
          </p:cNvCxnSpPr>
          <p:nvPr/>
        </p:nvCxnSpPr>
        <p:spPr bwMode="auto">
          <a:xfrm>
            <a:off x="3450382" y="4517049"/>
            <a:ext cx="247993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接箭头连接符 28">
            <a:extLst>
              <a:ext uri="{FF2B5EF4-FFF2-40B4-BE49-F238E27FC236}">
                <a16:creationId xmlns:a16="http://schemas.microsoft.com/office/drawing/2014/main" xmlns="" id="{8C30A053-50C0-7B4A-CF29-6B7BC20C9E95}"/>
              </a:ext>
            </a:extLst>
          </p:cNvPr>
          <p:cNvCxnSpPr>
            <a:cxnSpLocks/>
          </p:cNvCxnSpPr>
          <p:nvPr/>
        </p:nvCxnSpPr>
        <p:spPr bwMode="auto">
          <a:xfrm>
            <a:off x="3442633" y="1674852"/>
            <a:ext cx="247993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连接符 30">
            <a:extLst>
              <a:ext uri="{FF2B5EF4-FFF2-40B4-BE49-F238E27FC236}">
                <a16:creationId xmlns:a16="http://schemas.microsoft.com/office/drawing/2014/main" xmlns="" id="{DDD32FD0-3BDB-064C-D4D7-76FA051216A5}"/>
              </a:ext>
            </a:extLst>
          </p:cNvPr>
          <p:cNvCxnSpPr/>
          <p:nvPr/>
        </p:nvCxnSpPr>
        <p:spPr bwMode="auto">
          <a:xfrm>
            <a:off x="3454876" y="1674852"/>
            <a:ext cx="0" cy="2826698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箭头连接符 31">
            <a:extLst>
              <a:ext uri="{FF2B5EF4-FFF2-40B4-BE49-F238E27FC236}">
                <a16:creationId xmlns:a16="http://schemas.microsoft.com/office/drawing/2014/main" xmlns="" id="{4D0F755A-6018-AC84-614A-557A96E94E34}"/>
              </a:ext>
            </a:extLst>
          </p:cNvPr>
          <p:cNvCxnSpPr>
            <a:cxnSpLocks/>
          </p:cNvCxnSpPr>
          <p:nvPr/>
        </p:nvCxnSpPr>
        <p:spPr bwMode="auto">
          <a:xfrm>
            <a:off x="5359934" y="3028635"/>
            <a:ext cx="301707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接箭头连接符 33">
            <a:extLst>
              <a:ext uri="{FF2B5EF4-FFF2-40B4-BE49-F238E27FC236}">
                <a16:creationId xmlns:a16="http://schemas.microsoft.com/office/drawing/2014/main" xmlns="" id="{C3823044-2CCD-2C6E-E25A-090C94B181F9}"/>
              </a:ext>
            </a:extLst>
          </p:cNvPr>
          <p:cNvCxnSpPr>
            <a:cxnSpLocks/>
          </p:cNvCxnSpPr>
          <p:nvPr/>
        </p:nvCxnSpPr>
        <p:spPr bwMode="auto">
          <a:xfrm>
            <a:off x="5359934" y="1656729"/>
            <a:ext cx="301707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接箭头连接符 34">
            <a:extLst>
              <a:ext uri="{FF2B5EF4-FFF2-40B4-BE49-F238E27FC236}">
                <a16:creationId xmlns:a16="http://schemas.microsoft.com/office/drawing/2014/main" xmlns="" id="{ACA759F1-C722-C2BE-F75E-A3DF3E2E1D8A}"/>
              </a:ext>
            </a:extLst>
          </p:cNvPr>
          <p:cNvCxnSpPr>
            <a:cxnSpLocks/>
            <a:stCxn id="22" idx="3"/>
          </p:cNvCxnSpPr>
          <p:nvPr/>
        </p:nvCxnSpPr>
        <p:spPr bwMode="auto">
          <a:xfrm flipV="1">
            <a:off x="5484170" y="4501551"/>
            <a:ext cx="177471" cy="11418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矩形: 圆角 35">
            <a:extLst>
              <a:ext uri="{FF2B5EF4-FFF2-40B4-BE49-F238E27FC236}">
                <a16:creationId xmlns:a16="http://schemas.microsoft.com/office/drawing/2014/main" xmlns="" id="{56C80A97-8770-0B0E-FE6E-7E4577F4BC6D}"/>
              </a:ext>
            </a:extLst>
          </p:cNvPr>
          <p:cNvSpPr/>
          <p:nvPr/>
        </p:nvSpPr>
        <p:spPr bwMode="auto">
          <a:xfrm>
            <a:off x="5727669" y="1488980"/>
            <a:ext cx="1273573" cy="34057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关系</a:t>
            </a:r>
            <a:endParaRPr kumimoji="1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1" name="矩形: 圆角 36">
            <a:extLst>
              <a:ext uri="{FF2B5EF4-FFF2-40B4-BE49-F238E27FC236}">
                <a16:creationId xmlns:a16="http://schemas.microsoft.com/office/drawing/2014/main" xmlns="" id="{C24FB391-F416-3F66-E6AC-3AB06B523481}"/>
              </a:ext>
            </a:extLst>
          </p:cNvPr>
          <p:cNvSpPr/>
          <p:nvPr/>
        </p:nvSpPr>
        <p:spPr bwMode="auto">
          <a:xfrm>
            <a:off x="5897842" y="2325427"/>
            <a:ext cx="1273573" cy="34057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查询</a:t>
            </a:r>
            <a:endParaRPr kumimoji="1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2" name="矩形: 圆角 37">
            <a:extLst>
              <a:ext uri="{FF2B5EF4-FFF2-40B4-BE49-F238E27FC236}">
                <a16:creationId xmlns:a16="http://schemas.microsoft.com/office/drawing/2014/main" xmlns="" id="{34B50121-9BAC-21A0-7E6D-94E911AAB001}"/>
              </a:ext>
            </a:extLst>
          </p:cNvPr>
          <p:cNvSpPr/>
          <p:nvPr/>
        </p:nvSpPr>
        <p:spPr bwMode="auto">
          <a:xfrm>
            <a:off x="5877840" y="2933907"/>
            <a:ext cx="403774" cy="558641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更新</a:t>
            </a:r>
            <a:endParaRPr kumimoji="1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3" name="左大括号 32">
            <a:extLst>
              <a:ext uri="{FF2B5EF4-FFF2-40B4-BE49-F238E27FC236}">
                <a16:creationId xmlns:a16="http://schemas.microsoft.com/office/drawing/2014/main" xmlns="" id="{2A4C2C7D-B05A-C292-F6C0-A0B68D441444}"/>
              </a:ext>
            </a:extLst>
          </p:cNvPr>
          <p:cNvSpPr/>
          <p:nvPr/>
        </p:nvSpPr>
        <p:spPr bwMode="auto">
          <a:xfrm>
            <a:off x="6294358" y="2797872"/>
            <a:ext cx="133359" cy="830712"/>
          </a:xfrm>
          <a:prstGeom prst="leftBrac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34" name="矩形: 圆角 39">
            <a:extLst>
              <a:ext uri="{FF2B5EF4-FFF2-40B4-BE49-F238E27FC236}">
                <a16:creationId xmlns:a16="http://schemas.microsoft.com/office/drawing/2014/main" xmlns="" id="{5ED06DDD-1975-4441-846F-BC84E8E61A64}"/>
              </a:ext>
            </a:extLst>
          </p:cNvPr>
          <p:cNvSpPr/>
          <p:nvPr/>
        </p:nvSpPr>
        <p:spPr bwMode="auto">
          <a:xfrm>
            <a:off x="6551932" y="2712310"/>
            <a:ext cx="619483" cy="34057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删除</a:t>
            </a:r>
          </a:p>
        </p:txBody>
      </p:sp>
      <p:sp>
        <p:nvSpPr>
          <p:cNvPr id="35" name="矩形: 圆角 40">
            <a:extLst>
              <a:ext uri="{FF2B5EF4-FFF2-40B4-BE49-F238E27FC236}">
                <a16:creationId xmlns:a16="http://schemas.microsoft.com/office/drawing/2014/main" xmlns="" id="{B39FC6FD-23C2-C85C-DE3A-216898C24F1C}"/>
              </a:ext>
            </a:extLst>
          </p:cNvPr>
          <p:cNvSpPr/>
          <p:nvPr/>
        </p:nvSpPr>
        <p:spPr bwMode="auto">
          <a:xfrm>
            <a:off x="6551932" y="3086779"/>
            <a:ext cx="619483" cy="34057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插入</a:t>
            </a:r>
          </a:p>
        </p:txBody>
      </p:sp>
      <p:sp>
        <p:nvSpPr>
          <p:cNvPr id="36" name="矩形: 圆角 41">
            <a:extLst>
              <a:ext uri="{FF2B5EF4-FFF2-40B4-BE49-F238E27FC236}">
                <a16:creationId xmlns:a16="http://schemas.microsoft.com/office/drawing/2014/main" xmlns="" id="{D25D406A-B9F0-6847-9977-243E504E0987}"/>
              </a:ext>
            </a:extLst>
          </p:cNvPr>
          <p:cNvSpPr/>
          <p:nvPr/>
        </p:nvSpPr>
        <p:spPr bwMode="auto">
          <a:xfrm>
            <a:off x="6551932" y="3458298"/>
            <a:ext cx="619483" cy="34057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修改</a:t>
            </a:r>
          </a:p>
        </p:txBody>
      </p:sp>
      <p:sp>
        <p:nvSpPr>
          <p:cNvPr id="37" name="矩形: 圆角 43">
            <a:extLst>
              <a:ext uri="{FF2B5EF4-FFF2-40B4-BE49-F238E27FC236}">
                <a16:creationId xmlns:a16="http://schemas.microsoft.com/office/drawing/2014/main" xmlns="" id="{9D604217-BF9C-EA73-EFFA-C6C4DF90CA4A}"/>
              </a:ext>
            </a:extLst>
          </p:cNvPr>
          <p:cNvSpPr/>
          <p:nvPr/>
        </p:nvSpPr>
        <p:spPr bwMode="auto">
          <a:xfrm>
            <a:off x="5727669" y="3966987"/>
            <a:ext cx="1656349" cy="136021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38" name="矩形: 圆角 44">
            <a:extLst>
              <a:ext uri="{FF2B5EF4-FFF2-40B4-BE49-F238E27FC236}">
                <a16:creationId xmlns:a16="http://schemas.microsoft.com/office/drawing/2014/main" xmlns="" id="{DD88E4C3-F0EC-1936-C27B-88D678ABCDDB}"/>
              </a:ext>
            </a:extLst>
          </p:cNvPr>
          <p:cNvSpPr/>
          <p:nvPr/>
        </p:nvSpPr>
        <p:spPr bwMode="auto">
          <a:xfrm>
            <a:off x="5877840" y="4099089"/>
            <a:ext cx="1371294" cy="34057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实体完整性</a:t>
            </a:r>
          </a:p>
        </p:txBody>
      </p:sp>
      <p:sp>
        <p:nvSpPr>
          <p:cNvPr id="39" name="矩形: 圆角 45">
            <a:extLst>
              <a:ext uri="{FF2B5EF4-FFF2-40B4-BE49-F238E27FC236}">
                <a16:creationId xmlns:a16="http://schemas.microsoft.com/office/drawing/2014/main" xmlns="" id="{D3A1B1EA-675E-1A45-E663-F1810B99B28D}"/>
              </a:ext>
            </a:extLst>
          </p:cNvPr>
          <p:cNvSpPr/>
          <p:nvPr/>
        </p:nvSpPr>
        <p:spPr bwMode="auto">
          <a:xfrm>
            <a:off x="5877840" y="4491041"/>
            <a:ext cx="1371294" cy="34057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参照完整性</a:t>
            </a:r>
          </a:p>
        </p:txBody>
      </p:sp>
      <p:sp>
        <p:nvSpPr>
          <p:cNvPr id="40" name="矩形: 圆角 46">
            <a:extLst>
              <a:ext uri="{FF2B5EF4-FFF2-40B4-BE49-F238E27FC236}">
                <a16:creationId xmlns:a16="http://schemas.microsoft.com/office/drawing/2014/main" xmlns="" id="{0D6E2F3A-DE66-4465-9DBF-D34B2DCE319F}"/>
              </a:ext>
            </a:extLst>
          </p:cNvPr>
          <p:cNvSpPr/>
          <p:nvPr/>
        </p:nvSpPr>
        <p:spPr bwMode="auto">
          <a:xfrm>
            <a:off x="5787043" y="4869352"/>
            <a:ext cx="1562032" cy="340519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用户定义完整性</a:t>
            </a:r>
          </a:p>
        </p:txBody>
      </p:sp>
      <p:sp>
        <p:nvSpPr>
          <p:cNvPr id="47" name="矩形: 圆角 54">
            <a:extLst>
              <a:ext uri="{FF2B5EF4-FFF2-40B4-BE49-F238E27FC236}">
                <a16:creationId xmlns:a16="http://schemas.microsoft.com/office/drawing/2014/main" xmlns="" id="{F39EAA78-3986-5BD3-456E-0136742F1FDA}"/>
              </a:ext>
            </a:extLst>
          </p:cNvPr>
          <p:cNvSpPr/>
          <p:nvPr/>
        </p:nvSpPr>
        <p:spPr bwMode="auto">
          <a:xfrm rot="5400000">
            <a:off x="6960461" y="3199831"/>
            <a:ext cx="3426719" cy="340519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关系数据库</a:t>
            </a:r>
            <a:r>
              <a:rPr kumimoji="1" lang="zh-CN" altLang="en-US" sz="14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语言</a:t>
            </a:r>
            <a:r>
              <a:rPr kumimoji="1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SQL</a:t>
            </a:r>
            <a:endParaRPr kumimoji="1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8F64F366-6FC0-5D88-4225-8F87FCB90C21}"/>
              </a:ext>
            </a:extLst>
          </p:cNvPr>
          <p:cNvSpPr txBox="1"/>
          <p:nvPr/>
        </p:nvSpPr>
        <p:spPr>
          <a:xfrm>
            <a:off x="7449447" y="1286933"/>
            <a:ext cx="1164758" cy="307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数据定义</a:t>
            </a:r>
          </a:p>
        </p:txBody>
      </p:sp>
      <p:cxnSp>
        <p:nvCxnSpPr>
          <p:cNvPr id="52" name="连接符: 肘形 66">
            <a:extLst>
              <a:ext uri="{FF2B5EF4-FFF2-40B4-BE49-F238E27FC236}">
                <a16:creationId xmlns:a16="http://schemas.microsoft.com/office/drawing/2014/main" xmlns="" id="{9EA0A783-C5FE-4035-E49E-4EF683B2A1F1}"/>
              </a:ext>
            </a:extLst>
          </p:cNvPr>
          <p:cNvCxnSpPr>
            <a:endCxn id="37" idx="3"/>
          </p:cNvCxnSpPr>
          <p:nvPr/>
        </p:nvCxnSpPr>
        <p:spPr bwMode="auto">
          <a:xfrm rot="10800000" flipV="1">
            <a:off x="7384019" y="4647092"/>
            <a:ext cx="1114013" cy="1"/>
          </a:xfrm>
          <a:prstGeom prst="bentConnector3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直接箭头连接符 70">
            <a:extLst>
              <a:ext uri="{FF2B5EF4-FFF2-40B4-BE49-F238E27FC236}">
                <a16:creationId xmlns:a16="http://schemas.microsoft.com/office/drawing/2014/main" xmlns="" id="{C852AA14-CFB0-A00A-4C12-86CE364BEA29}"/>
              </a:ext>
            </a:extLst>
          </p:cNvPr>
          <p:cNvCxnSpPr>
            <a:cxnSpLocks/>
          </p:cNvCxnSpPr>
          <p:nvPr/>
        </p:nvCxnSpPr>
        <p:spPr bwMode="auto">
          <a:xfrm flipH="1">
            <a:off x="7356459" y="2446438"/>
            <a:ext cx="1113068" cy="9266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连接符: 肘形 79">
            <a:extLst>
              <a:ext uri="{FF2B5EF4-FFF2-40B4-BE49-F238E27FC236}">
                <a16:creationId xmlns:a16="http://schemas.microsoft.com/office/drawing/2014/main" xmlns="" id="{B167D718-C49A-91B9-3952-918CE2E860C3}"/>
              </a:ext>
            </a:extLst>
          </p:cNvPr>
          <p:cNvCxnSpPr>
            <a:endCxn id="30" idx="3"/>
          </p:cNvCxnSpPr>
          <p:nvPr/>
        </p:nvCxnSpPr>
        <p:spPr bwMode="auto">
          <a:xfrm rot="10800000">
            <a:off x="7001243" y="1659266"/>
            <a:ext cx="1468285" cy="201748"/>
          </a:xfrm>
          <a:prstGeom prst="bentConnector3">
            <a:avLst>
              <a:gd name="adj1" fmla="val 50000"/>
            </a:avLst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4933EB34-D95A-3673-2708-B6B955FD82A4}"/>
              </a:ext>
            </a:extLst>
          </p:cNvPr>
          <p:cNvSpPr txBox="1"/>
          <p:nvPr/>
        </p:nvSpPr>
        <p:spPr>
          <a:xfrm>
            <a:off x="7356459" y="2132967"/>
            <a:ext cx="1164758" cy="307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数据查询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C4DA3761-2715-4043-EFBE-823F98BB941C}"/>
              </a:ext>
            </a:extLst>
          </p:cNvPr>
          <p:cNvSpPr txBox="1"/>
          <p:nvPr/>
        </p:nvSpPr>
        <p:spPr>
          <a:xfrm>
            <a:off x="7356459" y="2663382"/>
            <a:ext cx="1164758" cy="307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数据操纵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2778633A-02C4-4A2A-B5F4-2AC0B6D67539}"/>
              </a:ext>
            </a:extLst>
          </p:cNvPr>
          <p:cNvSpPr txBox="1"/>
          <p:nvPr/>
        </p:nvSpPr>
        <p:spPr>
          <a:xfrm>
            <a:off x="7356459" y="4299081"/>
            <a:ext cx="1164758" cy="307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数据定义</a:t>
            </a:r>
          </a:p>
        </p:txBody>
      </p:sp>
      <p:cxnSp>
        <p:nvCxnSpPr>
          <p:cNvPr id="70" name="直接箭头连接符 70">
            <a:extLst>
              <a:ext uri="{FF2B5EF4-FFF2-40B4-BE49-F238E27FC236}">
                <a16:creationId xmlns:a16="http://schemas.microsoft.com/office/drawing/2014/main" xmlns="" id="{C852AA14-CFB0-A00A-4C12-86CE364BEA29}"/>
              </a:ext>
            </a:extLst>
          </p:cNvPr>
          <p:cNvCxnSpPr>
            <a:cxnSpLocks/>
          </p:cNvCxnSpPr>
          <p:nvPr/>
        </p:nvCxnSpPr>
        <p:spPr bwMode="auto">
          <a:xfrm flipH="1">
            <a:off x="7384963" y="3080118"/>
            <a:ext cx="1113068" cy="9266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4361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/>
              <a:t>1.  </a:t>
            </a:r>
            <a:r>
              <a:rPr lang="zh-CN" altLang="en-US" sz="3600" dirty="0" smtClean="0"/>
              <a:t>关系模型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098550"/>
            <a:ext cx="7777163" cy="4994275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什么是数据模型？？</a:t>
            </a:r>
            <a:endParaRPr lang="en-US" altLang="zh-CN" dirty="0" smtClean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数据模型是对现实世界数据特征的抽象。</a:t>
            </a:r>
            <a:endParaRPr lang="en-US" altLang="zh-CN" dirty="0" smtClean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通俗地讲数据模型就是</a:t>
            </a:r>
            <a:r>
              <a:rPr lang="zh-CN" altLang="en-US" dirty="0" smtClean="0">
                <a:solidFill>
                  <a:srgbClr val="FF00FF"/>
                </a:solidFill>
              </a:rPr>
              <a:t>现实世界的模拟</a:t>
            </a:r>
            <a:r>
              <a:rPr lang="zh-CN" altLang="en-US" dirty="0" smtClean="0"/>
              <a:t>。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数据模型应满足三方面要求</a:t>
            </a:r>
          </a:p>
          <a:p>
            <a:pPr lvl="2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能比较</a:t>
            </a:r>
            <a:r>
              <a:rPr lang="zh-CN" altLang="en-US" dirty="0" smtClean="0">
                <a:solidFill>
                  <a:srgbClr val="5F9F25"/>
                </a:solidFill>
              </a:rPr>
              <a:t>真实</a:t>
            </a:r>
            <a:r>
              <a:rPr lang="zh-CN" altLang="en-US" dirty="0" smtClean="0"/>
              <a:t>地模拟现实世界</a:t>
            </a:r>
          </a:p>
          <a:p>
            <a:pPr lvl="2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>
                <a:solidFill>
                  <a:srgbClr val="5F9F25"/>
                </a:solidFill>
              </a:rPr>
              <a:t>容易</a:t>
            </a:r>
            <a:r>
              <a:rPr lang="zh-CN" altLang="en-US" dirty="0" smtClean="0"/>
              <a:t>为人所</a:t>
            </a:r>
            <a:r>
              <a:rPr lang="zh-CN" altLang="en-US" dirty="0" smtClean="0">
                <a:solidFill>
                  <a:srgbClr val="5F9F25"/>
                </a:solidFill>
              </a:rPr>
              <a:t>理解</a:t>
            </a:r>
          </a:p>
          <a:p>
            <a:pPr lvl="2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便于在计算机上</a:t>
            </a:r>
            <a:r>
              <a:rPr lang="zh-CN" altLang="en-US" dirty="0" smtClean="0">
                <a:solidFill>
                  <a:srgbClr val="5F9F25"/>
                </a:solidFill>
              </a:rPr>
              <a:t>实现</a:t>
            </a:r>
            <a:endParaRPr lang="en-US" altLang="zh-CN" dirty="0" smtClean="0">
              <a:solidFill>
                <a:srgbClr val="5F9F25"/>
              </a:solidFill>
            </a:endParaRPr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数据模型是数据库系统的</a:t>
            </a:r>
            <a:r>
              <a:rPr lang="zh-CN" altLang="en-US" dirty="0" smtClean="0">
                <a:solidFill>
                  <a:srgbClr val="FF00FF"/>
                </a:solidFill>
              </a:rPr>
              <a:t>核心和基础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200" dirty="0" smtClean="0"/>
          </a:p>
        </p:txBody>
      </p:sp>
    </p:spTree>
    <p:extLst>
      <p:ext uri="{BB962C8B-B14F-4D97-AF65-F5344CB8AC3E}">
        <p14:creationId xmlns:p14="http://schemas.microsoft.com/office/powerpoint/2010/main" val="394061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smtClean="0"/>
              <a:t>1.</a:t>
            </a:r>
            <a:r>
              <a:rPr lang="zh-CN" altLang="en-US" sz="3600" dirty="0"/>
              <a:t>关系模型</a:t>
            </a:r>
            <a:endParaRPr lang="zh-CN" altLang="en-US" sz="3600" dirty="0" smtClean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96975"/>
            <a:ext cx="7210425" cy="502267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sz="3600" dirty="0"/>
              <a:t>信息世界中的基本概念</a:t>
            </a:r>
            <a:endParaRPr lang="en-US" altLang="zh-CN" sz="3600" dirty="0"/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）实体（</a:t>
            </a:r>
            <a:r>
              <a:rPr lang="en-US" altLang="zh-CN" dirty="0" smtClean="0"/>
              <a:t>Entity</a:t>
            </a:r>
            <a:r>
              <a:rPr lang="zh-CN" altLang="en-US" dirty="0" smtClean="0"/>
              <a:t>）</a:t>
            </a:r>
            <a:r>
              <a:rPr lang="zh-CN" altLang="en-US" sz="2600" dirty="0" smtClean="0"/>
              <a:t>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可以是具体的人、事、物或抽象的概念。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）属性（</a:t>
            </a:r>
            <a:r>
              <a:rPr lang="en-US" altLang="zh-CN" dirty="0" smtClean="0"/>
              <a:t>Attribute</a:t>
            </a:r>
            <a:r>
              <a:rPr lang="zh-CN" altLang="en-US" dirty="0" smtClean="0"/>
              <a:t>）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实体所具有的某一特性称为属性。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）码（</a:t>
            </a:r>
            <a:r>
              <a:rPr lang="en-US" altLang="zh-CN" dirty="0" smtClean="0"/>
              <a:t>Key</a:t>
            </a:r>
            <a:r>
              <a:rPr lang="zh-CN" altLang="en-US" dirty="0" smtClean="0"/>
              <a:t>）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唯一标识实体的属性集称为码。</a:t>
            </a:r>
            <a:endParaRPr lang="en-US" altLang="zh-CN" dirty="0" smtClean="0"/>
          </a:p>
          <a:p>
            <a:pPr algn="just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 smtClean="0"/>
              <a:t>）</a:t>
            </a:r>
            <a:r>
              <a:rPr lang="zh-CN" altLang="en-US" sz="2600" dirty="0" smtClean="0"/>
              <a:t>联系</a:t>
            </a:r>
            <a:r>
              <a:rPr lang="zh-CN" altLang="en-US" sz="2600" dirty="0" smtClean="0"/>
              <a:t>（</a:t>
            </a:r>
            <a:r>
              <a:rPr lang="en-US" altLang="zh-CN" sz="2600" dirty="0" smtClean="0"/>
              <a:t>Relationship</a:t>
            </a:r>
            <a:r>
              <a:rPr lang="zh-CN" altLang="en-US" sz="2600" dirty="0" smtClean="0"/>
              <a:t>）</a:t>
            </a:r>
            <a:r>
              <a:rPr lang="zh-CN" altLang="en-US" sz="3600" dirty="0" smtClean="0"/>
              <a:t>  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>
                <a:solidFill>
                  <a:srgbClr val="70BB2B"/>
                </a:solidFill>
              </a:rPr>
              <a:t>实体</a:t>
            </a:r>
            <a:r>
              <a:rPr lang="zh-CN" altLang="en-US" dirty="0">
                <a:solidFill>
                  <a:srgbClr val="70BB2B"/>
                </a:solidFill>
              </a:rPr>
              <a:t>内部的联系</a:t>
            </a:r>
            <a:r>
              <a:rPr lang="zh-CN" altLang="en-US" dirty="0"/>
              <a:t>通常是指组成实体的各属性之间的联系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70BB2B"/>
                </a:solidFill>
              </a:rPr>
              <a:t>实体之间的联系</a:t>
            </a:r>
            <a:r>
              <a:rPr lang="zh-CN" altLang="en-US" dirty="0"/>
              <a:t>通常是指不同实体集之间的联系</a:t>
            </a:r>
            <a:endParaRPr lang="en-US" altLang="zh-CN" dirty="0"/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实体之间的联系有</a:t>
            </a:r>
            <a:r>
              <a:rPr lang="zh-CN" altLang="en-US" dirty="0">
                <a:solidFill>
                  <a:srgbClr val="70BB2B"/>
                </a:solidFill>
              </a:rPr>
              <a:t>一对一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70BB2B"/>
                </a:solidFill>
              </a:rPr>
              <a:t>一对多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70BB2B"/>
                </a:solidFill>
              </a:rPr>
              <a:t>多对多</a:t>
            </a:r>
            <a:r>
              <a:rPr lang="zh-CN" altLang="en-US" dirty="0"/>
              <a:t>等多种</a:t>
            </a:r>
            <a:r>
              <a:rPr lang="zh-CN" altLang="en-US" dirty="0" smtClean="0"/>
              <a:t>类型</a:t>
            </a:r>
          </a:p>
        </p:txBody>
      </p:sp>
    </p:spTree>
    <p:extLst>
      <p:ext uri="{BB962C8B-B14F-4D97-AF65-F5344CB8AC3E}">
        <p14:creationId xmlns:p14="http://schemas.microsoft.com/office/powerpoint/2010/main" val="408708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125538"/>
            <a:ext cx="8435975" cy="1008062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sz="2400" dirty="0" smtClean="0"/>
              <a:t>在</a:t>
            </a:r>
            <a:r>
              <a:rPr lang="zh-CN" altLang="en-US" sz="2400" dirty="0" smtClean="0">
                <a:solidFill>
                  <a:srgbClr val="746AFC"/>
                </a:solidFill>
              </a:rPr>
              <a:t>用户观点</a:t>
            </a:r>
            <a:r>
              <a:rPr lang="zh-CN" altLang="en-US" sz="2400" dirty="0" smtClean="0"/>
              <a:t>下，关系模型中数据的逻辑结构是一张二维表，它由行和列组成。</a:t>
            </a:r>
          </a:p>
        </p:txBody>
      </p:sp>
      <p:graphicFrame>
        <p:nvGraphicFramePr>
          <p:cNvPr id="144644" name="Group 1284"/>
          <p:cNvGraphicFramePr>
            <a:graphicFrameLocks noGrp="1"/>
          </p:cNvGraphicFramePr>
          <p:nvPr>
            <p:ph sz="half" idx="2"/>
          </p:nvPr>
        </p:nvGraphicFramePr>
        <p:xfrm>
          <a:off x="1331913" y="3197225"/>
          <a:ext cx="6481762" cy="2535239"/>
        </p:xfrm>
        <a:graphic>
          <a:graphicData uri="http://schemas.openxmlformats.org/drawingml/2006/table">
            <a:tbl>
              <a:tblPr/>
              <a:tblGrid>
                <a:gridCol w="1081087"/>
                <a:gridCol w="1079500"/>
                <a:gridCol w="1081088"/>
                <a:gridCol w="1079500"/>
                <a:gridCol w="1081087"/>
                <a:gridCol w="1079500"/>
              </a:tblGrid>
              <a:tr h="5080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学  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姓  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年  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性  别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系  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年  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4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2013004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60E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王小明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60E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60E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60E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社会学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60E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960EE"/>
                    </a:solidFill>
                  </a:tcPr>
                </a:tc>
              </a:tr>
              <a:tr h="5064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2013006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黄大鹏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商品学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4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2013008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张文斌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法律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6000" name="Text Box 1224"/>
          <p:cNvSpPr txBox="1">
            <a:spLocks noChangeArrowheads="1"/>
          </p:cNvSpPr>
          <p:nvPr/>
        </p:nvSpPr>
        <p:spPr bwMode="auto">
          <a:xfrm>
            <a:off x="755650" y="2270125"/>
            <a:ext cx="1731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2400"/>
              <a:t>学生登记表</a:t>
            </a:r>
          </a:p>
        </p:txBody>
      </p:sp>
      <p:sp>
        <p:nvSpPr>
          <p:cNvPr id="126001" name="AutoShape 1285"/>
          <p:cNvSpPr>
            <a:spLocks noChangeArrowheads="1"/>
          </p:cNvSpPr>
          <p:nvPr/>
        </p:nvSpPr>
        <p:spPr bwMode="auto">
          <a:xfrm>
            <a:off x="2627313" y="2117725"/>
            <a:ext cx="914400" cy="609600"/>
          </a:xfrm>
          <a:prstGeom prst="wedgeRectCallout">
            <a:avLst>
              <a:gd name="adj1" fmla="val -148611"/>
              <a:gd name="adj2" fmla="val 126301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属性</a:t>
            </a:r>
          </a:p>
        </p:txBody>
      </p:sp>
      <p:sp>
        <p:nvSpPr>
          <p:cNvPr id="126002" name="AutoShape 1286"/>
          <p:cNvSpPr>
            <a:spLocks noChangeArrowheads="1"/>
          </p:cNvSpPr>
          <p:nvPr/>
        </p:nvSpPr>
        <p:spPr bwMode="auto">
          <a:xfrm>
            <a:off x="7956550" y="2333625"/>
            <a:ext cx="914400" cy="609600"/>
          </a:xfrm>
          <a:prstGeom prst="wedgeRectCallout">
            <a:avLst>
              <a:gd name="adj1" fmla="val -70315"/>
              <a:gd name="adj2" fmla="val 204426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元组</a:t>
            </a:r>
          </a:p>
        </p:txBody>
      </p:sp>
      <p:sp>
        <p:nvSpPr>
          <p:cNvPr id="9" name="Rectangle 1026"/>
          <p:cNvSpPr txBox="1">
            <a:spLocks noChangeArrowheads="1"/>
          </p:cNvSpPr>
          <p:nvPr/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 smtClean="0"/>
              <a:t>1.</a:t>
            </a:r>
            <a:r>
              <a:rPr lang="zh-CN" altLang="en-US" sz="3600" dirty="0" smtClean="0"/>
              <a:t>关系模型</a:t>
            </a:r>
          </a:p>
        </p:txBody>
      </p:sp>
    </p:spTree>
    <p:extLst>
      <p:ext uri="{BB962C8B-B14F-4D97-AF65-F5344CB8AC3E}">
        <p14:creationId xmlns:p14="http://schemas.microsoft.com/office/powerpoint/2010/main" val="359120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86" name="Text Box 167"/>
          <p:cNvSpPr txBox="1">
            <a:spLocks noChangeArrowheads="1"/>
          </p:cNvSpPr>
          <p:nvPr/>
        </p:nvSpPr>
        <p:spPr bwMode="auto">
          <a:xfrm>
            <a:off x="1028686" y="1261119"/>
            <a:ext cx="3273653" cy="49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28600" indent="-228600" algn="just">
              <a:lnSpc>
                <a:spcPct val="130000"/>
              </a:lnSpc>
              <a:spcBef>
                <a:spcPts val="1000"/>
              </a:spcBef>
              <a:buSzTx/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+mn-lt"/>
                <a:ea typeface="+mn-ea"/>
              </a:rPr>
              <a:t>关系模型的形象化类比</a:t>
            </a:r>
          </a:p>
        </p:txBody>
      </p:sp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 smtClean="0"/>
              <a:t>1.</a:t>
            </a:r>
            <a:r>
              <a:rPr lang="zh-CN" altLang="en-US" sz="3600" dirty="0" smtClean="0"/>
              <a:t>关系模型</a:t>
            </a:r>
          </a:p>
        </p:txBody>
      </p:sp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xmlns="" id="{F42908F3-AFAB-6C37-9F82-C7FE2D8178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6320714"/>
              </p:ext>
            </p:extLst>
          </p:nvPr>
        </p:nvGraphicFramePr>
        <p:xfrm>
          <a:off x="-139700" y="1963252"/>
          <a:ext cx="9613900" cy="39666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475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046" name="Group 16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1850836"/>
              </p:ext>
            </p:extLst>
          </p:nvPr>
        </p:nvGraphicFramePr>
        <p:xfrm>
          <a:off x="1116013" y="1752600"/>
          <a:ext cx="6985000" cy="4358640"/>
        </p:xfrm>
        <a:graphic>
          <a:graphicData uri="http://schemas.openxmlformats.org/drawingml/2006/table">
            <a:tbl>
              <a:tblPr/>
              <a:tblGrid>
                <a:gridCol w="3278262"/>
                <a:gridCol w="3706738"/>
              </a:tblGrid>
              <a:tr h="3968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关系术语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一般表格的术语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关系名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表名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关系模式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表头（表格的描述）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关系</a:t>
                      </a:r>
                      <a:r>
                        <a:rPr lang="zh-CN" altLang="en-US" sz="2400" dirty="0" smtClean="0"/>
                        <a:t>（</a:t>
                      </a:r>
                      <a:r>
                        <a:rPr lang="en-US" altLang="zh-CN" sz="2400" dirty="0" smtClean="0"/>
                        <a:t>Relation</a:t>
                      </a:r>
                      <a:r>
                        <a:rPr lang="zh-CN" altLang="en-US" sz="2400" dirty="0" smtClean="0"/>
                        <a:t>）</a:t>
                      </a:r>
                      <a:endParaRPr kumimoji="1" lang="zh-CN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（一张）二维表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元组</a:t>
                      </a:r>
                      <a:r>
                        <a:rPr lang="zh-CN" altLang="en-US" sz="2400" dirty="0" smtClean="0"/>
                        <a:t>（</a:t>
                      </a:r>
                      <a:r>
                        <a:rPr lang="en-US" altLang="zh-CN" sz="2400" dirty="0" smtClean="0"/>
                        <a:t>Tuple</a:t>
                      </a:r>
                      <a:r>
                        <a:rPr lang="zh-CN" altLang="en-US" sz="2400" dirty="0" smtClean="0"/>
                        <a:t>）</a:t>
                      </a:r>
                      <a:endParaRPr kumimoji="1" lang="zh-CN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记录或行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属性</a:t>
                      </a:r>
                      <a:r>
                        <a:rPr lang="zh-CN" altLang="en-US" sz="2400" dirty="0" smtClean="0"/>
                        <a:t>（</a:t>
                      </a:r>
                      <a:r>
                        <a:rPr lang="en-US" altLang="zh-CN" sz="2400" dirty="0" smtClean="0"/>
                        <a:t>Attribute</a:t>
                      </a:r>
                      <a:r>
                        <a:rPr lang="zh-CN" altLang="en-US" sz="2400" dirty="0" smtClean="0"/>
                        <a:t>）</a:t>
                      </a:r>
                      <a:endParaRPr kumimoji="1" lang="zh-CN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属性名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列名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属性值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列值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分量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一条记录中的一个列值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非规范关系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表中有表（大表中嵌有小表）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0086" name="Text Box 167"/>
          <p:cNvSpPr txBox="1">
            <a:spLocks noChangeArrowheads="1"/>
          </p:cNvSpPr>
          <p:nvPr/>
        </p:nvSpPr>
        <p:spPr bwMode="auto">
          <a:xfrm>
            <a:off x="571029" y="1261119"/>
            <a:ext cx="4188967" cy="49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28600" indent="-228600" algn="just">
              <a:lnSpc>
                <a:spcPct val="130000"/>
              </a:lnSpc>
              <a:spcBef>
                <a:spcPts val="1000"/>
              </a:spcBef>
              <a:buSzTx/>
              <a:buFont typeface="Wingdings" panose="05000000000000000000" pitchFamily="2" charset="2"/>
              <a:buChar char="p"/>
            </a:pPr>
            <a:r>
              <a:rPr lang="zh-CN" altLang="en-US" sz="2200" dirty="0">
                <a:latin typeface="+mn-lt"/>
                <a:ea typeface="+mn-ea"/>
              </a:rPr>
              <a:t>关系模型的数据结构术语对比 </a:t>
            </a:r>
          </a:p>
        </p:txBody>
      </p:sp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 smtClean="0"/>
              <a:t>1.</a:t>
            </a:r>
            <a:r>
              <a:rPr lang="zh-CN" altLang="en-US" sz="3600" dirty="0" smtClean="0"/>
              <a:t>关系模型</a:t>
            </a:r>
          </a:p>
        </p:txBody>
      </p:sp>
    </p:spTree>
    <p:extLst>
      <p:ext uri="{BB962C8B-B14F-4D97-AF65-F5344CB8AC3E}">
        <p14:creationId xmlns:p14="http://schemas.microsoft.com/office/powerpoint/2010/main" val="36384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98550"/>
            <a:ext cx="8229600" cy="5095875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 smtClean="0"/>
              <a:t>  </a:t>
            </a:r>
            <a:r>
              <a:rPr lang="zh-CN" altLang="en-US" dirty="0"/>
              <a:t>关系模型的优缺点</a:t>
            </a:r>
            <a:endParaRPr lang="en-US" altLang="zh-CN" dirty="0" smtClean="0"/>
          </a:p>
          <a:p>
            <a:pPr lvl="1" algn="just">
              <a:lnSpc>
                <a:spcPct val="150000"/>
              </a:lnSpc>
            </a:pPr>
            <a:r>
              <a:rPr lang="zh-CN" altLang="en-US" dirty="0" smtClean="0"/>
              <a:t>优点</a:t>
            </a:r>
          </a:p>
          <a:p>
            <a:pPr lvl="2" algn="just">
              <a:lnSpc>
                <a:spcPct val="150000"/>
              </a:lnSpc>
            </a:pPr>
            <a:r>
              <a:rPr lang="zh-CN" altLang="en-US" dirty="0" smtClean="0"/>
              <a:t>建立在严格的数学概念的基础上</a:t>
            </a:r>
          </a:p>
          <a:p>
            <a:pPr lvl="2" algn="just">
              <a:lnSpc>
                <a:spcPct val="150000"/>
              </a:lnSpc>
            </a:pPr>
            <a:r>
              <a:rPr lang="zh-CN" altLang="en-US" dirty="0" smtClean="0"/>
              <a:t>概念单一</a:t>
            </a:r>
          </a:p>
          <a:p>
            <a:pPr lvl="3" algn="just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 smtClean="0"/>
              <a:t>实体和各类联系都用关系来表示</a:t>
            </a:r>
          </a:p>
          <a:p>
            <a:pPr lvl="3" algn="just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 smtClean="0"/>
              <a:t>对数据的检索结果也是关系</a:t>
            </a:r>
          </a:p>
          <a:p>
            <a:pPr lvl="2" algn="just">
              <a:lnSpc>
                <a:spcPct val="150000"/>
              </a:lnSpc>
            </a:pPr>
            <a:r>
              <a:rPr lang="zh-CN" altLang="en-US" dirty="0" smtClean="0"/>
              <a:t>关系模型的存取路径对用户透明</a:t>
            </a:r>
          </a:p>
          <a:p>
            <a:pPr lvl="3" algn="just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 smtClean="0"/>
              <a:t>具有更高的数据独立性，更好的安全保密性</a:t>
            </a:r>
          </a:p>
          <a:p>
            <a:pPr lvl="3" algn="just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 smtClean="0"/>
              <a:t>简化了程序员的工作和数据库开发建立的工作</a:t>
            </a:r>
            <a:endParaRPr lang="en-US" altLang="zh-CN" dirty="0" smtClean="0"/>
          </a:p>
          <a:p>
            <a:pPr lvl="1" algn="just">
              <a:lnSpc>
                <a:spcPct val="160000"/>
              </a:lnSpc>
            </a:pPr>
            <a:r>
              <a:rPr lang="zh-CN" altLang="en-US" dirty="0"/>
              <a:t>缺点</a:t>
            </a:r>
          </a:p>
          <a:p>
            <a:pPr lvl="2" algn="just">
              <a:lnSpc>
                <a:spcPct val="160000"/>
              </a:lnSpc>
            </a:pPr>
            <a:r>
              <a:rPr lang="zh-CN" altLang="en-US" dirty="0"/>
              <a:t>存取路径对用户透明，查询效率往往不如格式化数据模型</a:t>
            </a:r>
          </a:p>
          <a:p>
            <a:pPr lvl="2" algn="just">
              <a:lnSpc>
                <a:spcPct val="160000"/>
              </a:lnSpc>
            </a:pPr>
            <a:r>
              <a:rPr lang="zh-CN" altLang="en-US" dirty="0"/>
              <a:t>为提高性能，必须对用户的查询请求进行优化，增加了开发数据库管理系统的难度</a:t>
            </a:r>
            <a:endParaRPr lang="zh-CN" altLang="en-US" sz="1600" dirty="0"/>
          </a:p>
          <a:p>
            <a:pPr lvl="3" algn="just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endParaRPr lang="zh-CN" altLang="en-US" dirty="0" smtClean="0"/>
          </a:p>
        </p:txBody>
      </p:sp>
      <p:sp>
        <p:nvSpPr>
          <p:cNvPr id="5" name="Rectangle 1026"/>
          <p:cNvSpPr txBox="1">
            <a:spLocks noChangeArrowheads="1"/>
          </p:cNvSpPr>
          <p:nvPr/>
        </p:nvSpPr>
        <p:spPr>
          <a:xfrm>
            <a:off x="8001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 smtClean="0"/>
              <a:t>1.</a:t>
            </a:r>
            <a:r>
              <a:rPr lang="zh-CN" altLang="en-US" sz="3600" dirty="0" smtClean="0"/>
              <a:t>关系模型</a:t>
            </a:r>
          </a:p>
        </p:txBody>
      </p:sp>
    </p:spTree>
    <p:extLst>
      <p:ext uri="{BB962C8B-B14F-4D97-AF65-F5344CB8AC3E}">
        <p14:creationId xmlns:p14="http://schemas.microsoft.com/office/powerpoint/2010/main" val="149190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/>
              <a:t>2.</a:t>
            </a:r>
            <a:r>
              <a:rPr lang="zh-CN" altLang="en-US" sz="3600" dirty="0" smtClean="0"/>
              <a:t>关系数据库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686800" cy="4854575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sz="2400" dirty="0" smtClean="0"/>
              <a:t>提出关系模型的是美国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IBM</a:t>
            </a:r>
            <a:r>
              <a:rPr lang="zh-CN" altLang="en-US" sz="2400" dirty="0" smtClean="0"/>
              <a:t>公司的</a:t>
            </a:r>
            <a:r>
              <a:rPr lang="en-US" altLang="zh-CN" sz="2400" dirty="0" err="1" smtClean="0">
                <a:latin typeface="Times New Roman" panose="02020603050405020304" pitchFamily="18" charset="0"/>
              </a:rPr>
              <a:t>E.F.Codd</a:t>
            </a:r>
            <a:endParaRPr lang="en-US" altLang="zh-CN" sz="2400" dirty="0" smtClean="0"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40000"/>
              </a:lnSpc>
            </a:pPr>
            <a:r>
              <a:rPr lang="en-US" altLang="zh-CN" dirty="0" smtClean="0"/>
              <a:t>1970</a:t>
            </a:r>
            <a:r>
              <a:rPr lang="zh-CN" altLang="en-US" dirty="0" smtClean="0"/>
              <a:t>年提出关系数据模型</a:t>
            </a:r>
          </a:p>
          <a:p>
            <a:pPr lvl="2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dirty="0" err="1" smtClean="0"/>
              <a:t>E.F.Codd</a:t>
            </a:r>
            <a:r>
              <a:rPr lang="en-US" altLang="zh-CN" sz="2400" dirty="0" smtClean="0"/>
              <a:t>, “A Relational Model of Data for Large </a:t>
            </a:r>
          </a:p>
          <a:p>
            <a:pPr lvl="2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Shared Data Banks”, 《Communication of the </a:t>
            </a:r>
          </a:p>
          <a:p>
            <a:pPr lvl="2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/>
              <a:t>ACM》,1970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 smtClean="0"/>
              <a:t>之后，提出了关系代数和关系演算的概念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en-US" altLang="zh-CN" dirty="0" smtClean="0"/>
              <a:t>1972</a:t>
            </a:r>
            <a:r>
              <a:rPr lang="zh-CN" altLang="en-US" dirty="0" smtClean="0"/>
              <a:t>年提出了关系的第一、第二、第三范式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en-US" altLang="zh-CN" dirty="0" smtClean="0"/>
              <a:t>1974</a:t>
            </a:r>
            <a:r>
              <a:rPr lang="zh-CN" altLang="en-US" dirty="0" smtClean="0"/>
              <a:t>年提出了关系的</a:t>
            </a:r>
            <a:r>
              <a:rPr lang="en-US" altLang="zh-CN" dirty="0" smtClean="0">
                <a:latin typeface="Times New Roman" panose="02020603050405020304" pitchFamily="18" charset="0"/>
              </a:rPr>
              <a:t>BC</a:t>
            </a:r>
            <a:r>
              <a:rPr lang="zh-CN" altLang="en-US" dirty="0" smtClean="0"/>
              <a:t>范式</a:t>
            </a:r>
          </a:p>
        </p:txBody>
      </p:sp>
    </p:spTree>
    <p:extLst>
      <p:ext uri="{BB962C8B-B14F-4D97-AF65-F5344CB8AC3E}">
        <p14:creationId xmlns:p14="http://schemas.microsoft.com/office/powerpoint/2010/main" val="331687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2.</a:t>
            </a:r>
            <a:r>
              <a:rPr lang="zh-CN" altLang="en-US" sz="3600" dirty="0"/>
              <a:t>关系数据库</a:t>
            </a:r>
            <a:endParaRPr lang="zh-CN" altLang="en-US" sz="3600" dirty="0" smtClean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098550"/>
            <a:ext cx="7777163" cy="4994275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200" dirty="0" smtClean="0"/>
          </a:p>
        </p:txBody>
      </p:sp>
      <p:pic>
        <p:nvPicPr>
          <p:cNvPr id="6146" name="Picture 2" descr="https://img-blog.csdn.net/20140717112018401?watermark/2/text/aHR0cDovL2Jsb2cuY3Nkbi5uZXQveXVtdXNodWk=/font/5a6L5L2T/fontsize/400/fill/I0JBQkFCMA==/dissolve/70/gravity/SouthEas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35"/>
          <a:stretch/>
        </p:blipFill>
        <p:spPr bwMode="auto">
          <a:xfrm>
            <a:off x="1484496" y="1325563"/>
            <a:ext cx="6096000" cy="430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312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知识框架</a:t>
            </a:r>
            <a:endParaRPr lang="en-US" altLang="zh-CN" dirty="0"/>
          </a:p>
        </p:txBody>
      </p:sp>
      <p:sp>
        <p:nvSpPr>
          <p:cNvPr id="9" name="矩形: 圆角 42">
            <a:extLst>
              <a:ext uri="{FF2B5EF4-FFF2-40B4-BE49-F238E27FC236}">
                <a16:creationId xmlns:a16="http://schemas.microsoft.com/office/drawing/2014/main" xmlns="" id="{DC178D55-282F-8368-3356-FEB989294A38}"/>
              </a:ext>
            </a:extLst>
          </p:cNvPr>
          <p:cNvSpPr/>
          <p:nvPr/>
        </p:nvSpPr>
        <p:spPr bwMode="auto">
          <a:xfrm>
            <a:off x="5727669" y="2222474"/>
            <a:ext cx="1656349" cy="164566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10" name="流程图: 磁盘 3">
            <a:extLst>
              <a:ext uri="{FF2B5EF4-FFF2-40B4-BE49-F238E27FC236}">
                <a16:creationId xmlns:a16="http://schemas.microsoft.com/office/drawing/2014/main" xmlns="" id="{88C5545C-4BE4-0213-8566-FA6D87718721}"/>
              </a:ext>
            </a:extLst>
          </p:cNvPr>
          <p:cNvSpPr/>
          <p:nvPr/>
        </p:nvSpPr>
        <p:spPr bwMode="auto">
          <a:xfrm>
            <a:off x="52381" y="2424068"/>
            <a:ext cx="1100452" cy="1120175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1" name="矩形: 圆角 11">
            <a:extLst>
              <a:ext uri="{FF2B5EF4-FFF2-40B4-BE49-F238E27FC236}">
                <a16:creationId xmlns:a16="http://schemas.microsoft.com/office/drawing/2014/main" xmlns="" id="{EEA16D5A-DC51-4C9B-074A-A6C3D6C65EB5}"/>
              </a:ext>
            </a:extLst>
          </p:cNvPr>
          <p:cNvSpPr/>
          <p:nvPr/>
        </p:nvSpPr>
        <p:spPr bwMode="auto">
          <a:xfrm>
            <a:off x="2167941" y="2484686"/>
            <a:ext cx="988566" cy="1059558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关系</a:t>
            </a:r>
            <a:endParaRPr kumimoji="1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模型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02C0A7EA-57C1-6807-617E-24D5845CC458}"/>
              </a:ext>
            </a:extLst>
          </p:cNvPr>
          <p:cNvSpPr txBox="1"/>
          <p:nvPr/>
        </p:nvSpPr>
        <p:spPr>
          <a:xfrm>
            <a:off x="126425" y="2791888"/>
            <a:ext cx="952364" cy="718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关系</a:t>
            </a: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ctr"/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数据库</a:t>
            </a:r>
          </a:p>
        </p:txBody>
      </p:sp>
      <p:cxnSp>
        <p:nvCxnSpPr>
          <p:cNvPr id="13" name="直接箭头连接符 14">
            <a:extLst>
              <a:ext uri="{FF2B5EF4-FFF2-40B4-BE49-F238E27FC236}">
                <a16:creationId xmlns:a16="http://schemas.microsoft.com/office/drawing/2014/main" xmlns="" id="{6588F069-2D58-D310-78E3-A8F61DA3B53C}"/>
              </a:ext>
            </a:extLst>
          </p:cNvPr>
          <p:cNvCxnSpPr/>
          <p:nvPr/>
        </p:nvCxnSpPr>
        <p:spPr bwMode="auto">
          <a:xfrm>
            <a:off x="1192007" y="3014464"/>
            <a:ext cx="906699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350C2ED7-05D7-20F1-3044-0A7CF3FEEA75}"/>
              </a:ext>
            </a:extLst>
          </p:cNvPr>
          <p:cNvSpPr txBox="1"/>
          <p:nvPr/>
        </p:nvSpPr>
        <p:spPr>
          <a:xfrm>
            <a:off x="1086201" y="2458166"/>
            <a:ext cx="1164758" cy="513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ctr"/>
            <a:r>
              <a:rPr lang="zh-CN" altLang="en-US" sz="1200" dirty="0">
                <a:latin typeface="微软雅黑" panose="020B0503020204020204" pitchFamily="82" charset="2"/>
                <a:ea typeface="微软雅黑" panose="020B0503020204020204" pitchFamily="82" charset="2"/>
              </a:rPr>
              <a:t>组织方式</a:t>
            </a:r>
          </a:p>
        </p:txBody>
      </p:sp>
      <p:sp>
        <p:nvSpPr>
          <p:cNvPr id="15" name="流程图: 磁盘 16">
            <a:extLst>
              <a:ext uri="{FF2B5EF4-FFF2-40B4-BE49-F238E27FC236}">
                <a16:creationId xmlns:a16="http://schemas.microsoft.com/office/drawing/2014/main" xmlns="" id="{36E80929-E1E3-7888-153E-CE0D16D6EDDC}"/>
              </a:ext>
            </a:extLst>
          </p:cNvPr>
          <p:cNvSpPr/>
          <p:nvPr/>
        </p:nvSpPr>
        <p:spPr bwMode="auto">
          <a:xfrm>
            <a:off x="94404" y="4247750"/>
            <a:ext cx="1100452" cy="1120175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6" name="矩形: 圆角 17">
            <a:extLst>
              <a:ext uri="{FF2B5EF4-FFF2-40B4-BE49-F238E27FC236}">
                <a16:creationId xmlns:a16="http://schemas.microsoft.com/office/drawing/2014/main" xmlns="" id="{E34D9F51-3387-E22E-48F5-201ABBE53BC9}"/>
              </a:ext>
            </a:extLst>
          </p:cNvPr>
          <p:cNvSpPr/>
          <p:nvPr/>
        </p:nvSpPr>
        <p:spPr bwMode="auto">
          <a:xfrm>
            <a:off x="2209964" y="4308367"/>
            <a:ext cx="988566" cy="1059558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</a:t>
            </a:r>
            <a:endParaRPr kumimoji="1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模型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A651F3CA-7CFB-C2CB-CDDD-F17F0E4DBDC0}"/>
              </a:ext>
            </a:extLst>
          </p:cNvPr>
          <p:cNvSpPr txBox="1"/>
          <p:nvPr/>
        </p:nvSpPr>
        <p:spPr>
          <a:xfrm>
            <a:off x="168447" y="4741013"/>
            <a:ext cx="952364" cy="410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数据库</a:t>
            </a:r>
          </a:p>
        </p:txBody>
      </p:sp>
      <p:cxnSp>
        <p:nvCxnSpPr>
          <p:cNvPr id="18" name="直接箭头连接符 19">
            <a:extLst>
              <a:ext uri="{FF2B5EF4-FFF2-40B4-BE49-F238E27FC236}">
                <a16:creationId xmlns:a16="http://schemas.microsoft.com/office/drawing/2014/main" xmlns="" id="{7C40ADDB-C8B2-41A1-0979-095946598FA1}"/>
              </a:ext>
            </a:extLst>
          </p:cNvPr>
          <p:cNvCxnSpPr/>
          <p:nvPr/>
        </p:nvCxnSpPr>
        <p:spPr bwMode="auto">
          <a:xfrm>
            <a:off x="1234030" y="4838146"/>
            <a:ext cx="906699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xmlns="" id="{0D414FE4-97CF-1CB0-EB81-9240D00ECE08}"/>
              </a:ext>
            </a:extLst>
          </p:cNvPr>
          <p:cNvSpPr txBox="1"/>
          <p:nvPr/>
        </p:nvSpPr>
        <p:spPr>
          <a:xfrm>
            <a:off x="1128224" y="4281848"/>
            <a:ext cx="1164758" cy="513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ctr"/>
            <a:r>
              <a:rPr lang="zh-CN" altLang="en-US" sz="1200" dirty="0">
                <a:latin typeface="微软雅黑" panose="020B0503020204020204" pitchFamily="82" charset="2"/>
                <a:ea typeface="微软雅黑" panose="020B0503020204020204" pitchFamily="82" charset="2"/>
              </a:rPr>
              <a:t>组织方式</a:t>
            </a:r>
          </a:p>
        </p:txBody>
      </p:sp>
      <p:sp>
        <p:nvSpPr>
          <p:cNvPr id="20" name="矩形: 圆角 21">
            <a:extLst>
              <a:ext uri="{FF2B5EF4-FFF2-40B4-BE49-F238E27FC236}">
                <a16:creationId xmlns:a16="http://schemas.microsoft.com/office/drawing/2014/main" xmlns="" id="{8BF13DE6-C56F-7CAD-6CA1-142506FB30D1}"/>
              </a:ext>
            </a:extLst>
          </p:cNvPr>
          <p:cNvSpPr/>
          <p:nvPr/>
        </p:nvSpPr>
        <p:spPr bwMode="auto">
          <a:xfrm>
            <a:off x="3691982" y="1486443"/>
            <a:ext cx="1670432" cy="374571"/>
          </a:xfrm>
          <a:prstGeom prst="roundRect">
            <a:avLst/>
          </a:prstGeom>
          <a:solidFill>
            <a:srgbClr val="6F1787">
              <a:alpha val="50000"/>
            </a:srgb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关系</a:t>
            </a:r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数据结构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21" name="矩形: 圆角 22">
            <a:extLst>
              <a:ext uri="{FF2B5EF4-FFF2-40B4-BE49-F238E27FC236}">
                <a16:creationId xmlns:a16="http://schemas.microsoft.com/office/drawing/2014/main" xmlns="" id="{FB4D1881-DD72-8753-B723-A1580B8F9F10}"/>
              </a:ext>
            </a:extLst>
          </p:cNvPr>
          <p:cNvSpPr/>
          <p:nvPr/>
        </p:nvSpPr>
        <p:spPr bwMode="auto">
          <a:xfrm>
            <a:off x="3735046" y="2854834"/>
            <a:ext cx="1621838" cy="374571"/>
          </a:xfrm>
          <a:prstGeom prst="roundRect">
            <a:avLst/>
          </a:prstGeom>
          <a:solidFill>
            <a:srgbClr val="6F1787">
              <a:alpha val="50000"/>
            </a:srgb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关系</a:t>
            </a:r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操作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22" name="矩形: 圆角 23">
            <a:extLst>
              <a:ext uri="{FF2B5EF4-FFF2-40B4-BE49-F238E27FC236}">
                <a16:creationId xmlns:a16="http://schemas.microsoft.com/office/drawing/2014/main" xmlns="" id="{9A82A4CB-F34E-5BED-8D22-FCD83D26B8A4}"/>
              </a:ext>
            </a:extLst>
          </p:cNvPr>
          <p:cNvSpPr/>
          <p:nvPr/>
        </p:nvSpPr>
        <p:spPr bwMode="auto">
          <a:xfrm>
            <a:off x="3741529" y="4325683"/>
            <a:ext cx="1742641" cy="374571"/>
          </a:xfrm>
          <a:prstGeom prst="roundRect">
            <a:avLst/>
          </a:prstGeom>
          <a:solidFill>
            <a:srgbClr val="6F1787">
              <a:alpha val="50000"/>
            </a:srgb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关系</a:t>
            </a:r>
            <a:r>
              <a:rPr kumimoji="1" lang="zh-CN" altLang="en-US" sz="1600" b="1" dirty="0">
                <a:solidFill>
                  <a:schemeClr val="bg1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完整性约束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cxnSp>
        <p:nvCxnSpPr>
          <p:cNvPr id="23" name="直接箭头连接符 24">
            <a:extLst>
              <a:ext uri="{FF2B5EF4-FFF2-40B4-BE49-F238E27FC236}">
                <a16:creationId xmlns:a16="http://schemas.microsoft.com/office/drawing/2014/main" xmlns="" id="{35B2B942-4A3F-605F-FB76-CF23204F7F39}"/>
              </a:ext>
            </a:extLst>
          </p:cNvPr>
          <p:cNvCxnSpPr>
            <a:cxnSpLocks/>
          </p:cNvCxnSpPr>
          <p:nvPr/>
        </p:nvCxnSpPr>
        <p:spPr bwMode="auto">
          <a:xfrm>
            <a:off x="3162836" y="3025119"/>
            <a:ext cx="508952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箭头连接符 26">
            <a:extLst>
              <a:ext uri="{FF2B5EF4-FFF2-40B4-BE49-F238E27FC236}">
                <a16:creationId xmlns:a16="http://schemas.microsoft.com/office/drawing/2014/main" xmlns="" id="{07701A49-EC33-7315-8F67-2BDC6255F3F0}"/>
              </a:ext>
            </a:extLst>
          </p:cNvPr>
          <p:cNvCxnSpPr>
            <a:cxnSpLocks/>
          </p:cNvCxnSpPr>
          <p:nvPr/>
        </p:nvCxnSpPr>
        <p:spPr bwMode="auto">
          <a:xfrm>
            <a:off x="3450382" y="4517049"/>
            <a:ext cx="247993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接箭头连接符 28">
            <a:extLst>
              <a:ext uri="{FF2B5EF4-FFF2-40B4-BE49-F238E27FC236}">
                <a16:creationId xmlns:a16="http://schemas.microsoft.com/office/drawing/2014/main" xmlns="" id="{8C30A053-50C0-7B4A-CF29-6B7BC20C9E95}"/>
              </a:ext>
            </a:extLst>
          </p:cNvPr>
          <p:cNvCxnSpPr>
            <a:cxnSpLocks/>
          </p:cNvCxnSpPr>
          <p:nvPr/>
        </p:nvCxnSpPr>
        <p:spPr bwMode="auto">
          <a:xfrm>
            <a:off x="3442633" y="1674852"/>
            <a:ext cx="247993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连接符 30">
            <a:extLst>
              <a:ext uri="{FF2B5EF4-FFF2-40B4-BE49-F238E27FC236}">
                <a16:creationId xmlns:a16="http://schemas.microsoft.com/office/drawing/2014/main" xmlns="" id="{DDD32FD0-3BDB-064C-D4D7-76FA051216A5}"/>
              </a:ext>
            </a:extLst>
          </p:cNvPr>
          <p:cNvCxnSpPr/>
          <p:nvPr/>
        </p:nvCxnSpPr>
        <p:spPr bwMode="auto">
          <a:xfrm>
            <a:off x="3454876" y="1674852"/>
            <a:ext cx="0" cy="2826698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箭头连接符 31">
            <a:extLst>
              <a:ext uri="{FF2B5EF4-FFF2-40B4-BE49-F238E27FC236}">
                <a16:creationId xmlns:a16="http://schemas.microsoft.com/office/drawing/2014/main" xmlns="" id="{4D0F755A-6018-AC84-614A-557A96E94E34}"/>
              </a:ext>
            </a:extLst>
          </p:cNvPr>
          <p:cNvCxnSpPr>
            <a:cxnSpLocks/>
          </p:cNvCxnSpPr>
          <p:nvPr/>
        </p:nvCxnSpPr>
        <p:spPr bwMode="auto">
          <a:xfrm>
            <a:off x="5359934" y="3028635"/>
            <a:ext cx="301707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接箭头连接符 33">
            <a:extLst>
              <a:ext uri="{FF2B5EF4-FFF2-40B4-BE49-F238E27FC236}">
                <a16:creationId xmlns:a16="http://schemas.microsoft.com/office/drawing/2014/main" xmlns="" id="{C3823044-2CCD-2C6E-E25A-090C94B181F9}"/>
              </a:ext>
            </a:extLst>
          </p:cNvPr>
          <p:cNvCxnSpPr>
            <a:cxnSpLocks/>
          </p:cNvCxnSpPr>
          <p:nvPr/>
        </p:nvCxnSpPr>
        <p:spPr bwMode="auto">
          <a:xfrm>
            <a:off x="5359934" y="1656729"/>
            <a:ext cx="301707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接箭头连接符 34">
            <a:extLst>
              <a:ext uri="{FF2B5EF4-FFF2-40B4-BE49-F238E27FC236}">
                <a16:creationId xmlns:a16="http://schemas.microsoft.com/office/drawing/2014/main" xmlns="" id="{ACA759F1-C722-C2BE-F75E-A3DF3E2E1D8A}"/>
              </a:ext>
            </a:extLst>
          </p:cNvPr>
          <p:cNvCxnSpPr>
            <a:cxnSpLocks/>
            <a:stCxn id="22" idx="3"/>
          </p:cNvCxnSpPr>
          <p:nvPr/>
        </p:nvCxnSpPr>
        <p:spPr bwMode="auto">
          <a:xfrm flipV="1">
            <a:off x="5484170" y="4501551"/>
            <a:ext cx="177471" cy="11418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矩形: 圆角 35">
            <a:extLst>
              <a:ext uri="{FF2B5EF4-FFF2-40B4-BE49-F238E27FC236}">
                <a16:creationId xmlns:a16="http://schemas.microsoft.com/office/drawing/2014/main" xmlns="" id="{56C80A97-8770-0B0E-FE6E-7E4577F4BC6D}"/>
              </a:ext>
            </a:extLst>
          </p:cNvPr>
          <p:cNvSpPr/>
          <p:nvPr/>
        </p:nvSpPr>
        <p:spPr bwMode="auto">
          <a:xfrm>
            <a:off x="5727669" y="1488980"/>
            <a:ext cx="1273573" cy="34057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关系</a:t>
            </a:r>
            <a:endParaRPr kumimoji="1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1" name="矩形: 圆角 36">
            <a:extLst>
              <a:ext uri="{FF2B5EF4-FFF2-40B4-BE49-F238E27FC236}">
                <a16:creationId xmlns:a16="http://schemas.microsoft.com/office/drawing/2014/main" xmlns="" id="{C24FB391-F416-3F66-E6AC-3AB06B523481}"/>
              </a:ext>
            </a:extLst>
          </p:cNvPr>
          <p:cNvSpPr/>
          <p:nvPr/>
        </p:nvSpPr>
        <p:spPr bwMode="auto">
          <a:xfrm>
            <a:off x="5897842" y="2325427"/>
            <a:ext cx="1273573" cy="34057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查询</a:t>
            </a:r>
            <a:endParaRPr kumimoji="1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2" name="矩形: 圆角 37">
            <a:extLst>
              <a:ext uri="{FF2B5EF4-FFF2-40B4-BE49-F238E27FC236}">
                <a16:creationId xmlns:a16="http://schemas.microsoft.com/office/drawing/2014/main" xmlns="" id="{34B50121-9BAC-21A0-7E6D-94E911AAB001}"/>
              </a:ext>
            </a:extLst>
          </p:cNvPr>
          <p:cNvSpPr/>
          <p:nvPr/>
        </p:nvSpPr>
        <p:spPr bwMode="auto">
          <a:xfrm>
            <a:off x="5877840" y="2933907"/>
            <a:ext cx="403774" cy="558641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更新</a:t>
            </a:r>
            <a:endParaRPr kumimoji="1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3" name="左大括号 32">
            <a:extLst>
              <a:ext uri="{FF2B5EF4-FFF2-40B4-BE49-F238E27FC236}">
                <a16:creationId xmlns:a16="http://schemas.microsoft.com/office/drawing/2014/main" xmlns="" id="{2A4C2C7D-B05A-C292-F6C0-A0B68D441444}"/>
              </a:ext>
            </a:extLst>
          </p:cNvPr>
          <p:cNvSpPr/>
          <p:nvPr/>
        </p:nvSpPr>
        <p:spPr bwMode="auto">
          <a:xfrm>
            <a:off x="6294358" y="2797872"/>
            <a:ext cx="133359" cy="830712"/>
          </a:xfrm>
          <a:prstGeom prst="leftBrac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34" name="矩形: 圆角 39">
            <a:extLst>
              <a:ext uri="{FF2B5EF4-FFF2-40B4-BE49-F238E27FC236}">
                <a16:creationId xmlns:a16="http://schemas.microsoft.com/office/drawing/2014/main" xmlns="" id="{5ED06DDD-1975-4441-846F-BC84E8E61A64}"/>
              </a:ext>
            </a:extLst>
          </p:cNvPr>
          <p:cNvSpPr/>
          <p:nvPr/>
        </p:nvSpPr>
        <p:spPr bwMode="auto">
          <a:xfrm>
            <a:off x="6551932" y="2712310"/>
            <a:ext cx="619483" cy="34057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删除</a:t>
            </a:r>
          </a:p>
        </p:txBody>
      </p:sp>
      <p:sp>
        <p:nvSpPr>
          <p:cNvPr id="35" name="矩形: 圆角 40">
            <a:extLst>
              <a:ext uri="{FF2B5EF4-FFF2-40B4-BE49-F238E27FC236}">
                <a16:creationId xmlns:a16="http://schemas.microsoft.com/office/drawing/2014/main" xmlns="" id="{B39FC6FD-23C2-C85C-DE3A-216898C24F1C}"/>
              </a:ext>
            </a:extLst>
          </p:cNvPr>
          <p:cNvSpPr/>
          <p:nvPr/>
        </p:nvSpPr>
        <p:spPr bwMode="auto">
          <a:xfrm>
            <a:off x="6551932" y="3086779"/>
            <a:ext cx="619483" cy="34057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插入</a:t>
            </a:r>
          </a:p>
        </p:txBody>
      </p:sp>
      <p:sp>
        <p:nvSpPr>
          <p:cNvPr id="36" name="矩形: 圆角 41">
            <a:extLst>
              <a:ext uri="{FF2B5EF4-FFF2-40B4-BE49-F238E27FC236}">
                <a16:creationId xmlns:a16="http://schemas.microsoft.com/office/drawing/2014/main" xmlns="" id="{D25D406A-B9F0-6847-9977-243E504E0987}"/>
              </a:ext>
            </a:extLst>
          </p:cNvPr>
          <p:cNvSpPr/>
          <p:nvPr/>
        </p:nvSpPr>
        <p:spPr bwMode="auto">
          <a:xfrm>
            <a:off x="6551932" y="3458298"/>
            <a:ext cx="619483" cy="34057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修改</a:t>
            </a:r>
          </a:p>
        </p:txBody>
      </p:sp>
      <p:sp>
        <p:nvSpPr>
          <p:cNvPr id="37" name="矩形: 圆角 43">
            <a:extLst>
              <a:ext uri="{FF2B5EF4-FFF2-40B4-BE49-F238E27FC236}">
                <a16:creationId xmlns:a16="http://schemas.microsoft.com/office/drawing/2014/main" xmlns="" id="{9D604217-BF9C-EA73-EFFA-C6C4DF90CA4A}"/>
              </a:ext>
            </a:extLst>
          </p:cNvPr>
          <p:cNvSpPr/>
          <p:nvPr/>
        </p:nvSpPr>
        <p:spPr bwMode="auto">
          <a:xfrm>
            <a:off x="5727669" y="3966987"/>
            <a:ext cx="1656349" cy="136021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38" name="矩形: 圆角 44">
            <a:extLst>
              <a:ext uri="{FF2B5EF4-FFF2-40B4-BE49-F238E27FC236}">
                <a16:creationId xmlns:a16="http://schemas.microsoft.com/office/drawing/2014/main" xmlns="" id="{DD88E4C3-F0EC-1936-C27B-88D678ABCDDB}"/>
              </a:ext>
            </a:extLst>
          </p:cNvPr>
          <p:cNvSpPr/>
          <p:nvPr/>
        </p:nvSpPr>
        <p:spPr bwMode="auto">
          <a:xfrm>
            <a:off x="5877840" y="4099089"/>
            <a:ext cx="1371294" cy="34057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实体完整性</a:t>
            </a:r>
          </a:p>
        </p:txBody>
      </p:sp>
      <p:sp>
        <p:nvSpPr>
          <p:cNvPr id="39" name="矩形: 圆角 45">
            <a:extLst>
              <a:ext uri="{FF2B5EF4-FFF2-40B4-BE49-F238E27FC236}">
                <a16:creationId xmlns:a16="http://schemas.microsoft.com/office/drawing/2014/main" xmlns="" id="{D3A1B1EA-675E-1A45-E663-F1810B99B28D}"/>
              </a:ext>
            </a:extLst>
          </p:cNvPr>
          <p:cNvSpPr/>
          <p:nvPr/>
        </p:nvSpPr>
        <p:spPr bwMode="auto">
          <a:xfrm>
            <a:off x="5877840" y="4491041"/>
            <a:ext cx="1371294" cy="340572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参照完整性</a:t>
            </a:r>
          </a:p>
        </p:txBody>
      </p:sp>
      <p:sp>
        <p:nvSpPr>
          <p:cNvPr id="40" name="矩形: 圆角 46">
            <a:extLst>
              <a:ext uri="{FF2B5EF4-FFF2-40B4-BE49-F238E27FC236}">
                <a16:creationId xmlns:a16="http://schemas.microsoft.com/office/drawing/2014/main" xmlns="" id="{0D6E2F3A-DE66-4465-9DBF-D34B2DCE319F}"/>
              </a:ext>
            </a:extLst>
          </p:cNvPr>
          <p:cNvSpPr/>
          <p:nvPr/>
        </p:nvSpPr>
        <p:spPr bwMode="auto">
          <a:xfrm>
            <a:off x="5787043" y="4869352"/>
            <a:ext cx="1562032" cy="340519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用户定义完整性</a:t>
            </a:r>
          </a:p>
        </p:txBody>
      </p:sp>
      <p:sp>
        <p:nvSpPr>
          <p:cNvPr id="47" name="矩形: 圆角 54">
            <a:extLst>
              <a:ext uri="{FF2B5EF4-FFF2-40B4-BE49-F238E27FC236}">
                <a16:creationId xmlns:a16="http://schemas.microsoft.com/office/drawing/2014/main" xmlns="" id="{F39EAA78-3986-5BD3-456E-0136742F1FDA}"/>
              </a:ext>
            </a:extLst>
          </p:cNvPr>
          <p:cNvSpPr/>
          <p:nvPr/>
        </p:nvSpPr>
        <p:spPr bwMode="auto">
          <a:xfrm rot="5400000">
            <a:off x="6960461" y="3199831"/>
            <a:ext cx="3426719" cy="340519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关系数据库</a:t>
            </a:r>
            <a:r>
              <a:rPr kumimoji="1" lang="zh-CN" altLang="en-US" sz="1400" dirty="0" smtClean="0">
                <a:latin typeface="微软雅黑" panose="020B0503020204020204" pitchFamily="82" charset="2"/>
                <a:ea typeface="微软雅黑" panose="020B0503020204020204" pitchFamily="82" charset="2"/>
              </a:rPr>
              <a:t>语言</a:t>
            </a:r>
            <a:r>
              <a:rPr kumimoji="1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SQL</a:t>
            </a:r>
            <a:endParaRPr kumimoji="1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8F64F366-6FC0-5D88-4225-8F87FCB90C21}"/>
              </a:ext>
            </a:extLst>
          </p:cNvPr>
          <p:cNvSpPr txBox="1"/>
          <p:nvPr/>
        </p:nvSpPr>
        <p:spPr>
          <a:xfrm>
            <a:off x="7449447" y="1286933"/>
            <a:ext cx="1164758" cy="307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数据定义</a:t>
            </a:r>
          </a:p>
        </p:txBody>
      </p:sp>
      <p:cxnSp>
        <p:nvCxnSpPr>
          <p:cNvPr id="52" name="连接符: 肘形 66">
            <a:extLst>
              <a:ext uri="{FF2B5EF4-FFF2-40B4-BE49-F238E27FC236}">
                <a16:creationId xmlns:a16="http://schemas.microsoft.com/office/drawing/2014/main" xmlns="" id="{9EA0A783-C5FE-4035-E49E-4EF683B2A1F1}"/>
              </a:ext>
            </a:extLst>
          </p:cNvPr>
          <p:cNvCxnSpPr>
            <a:endCxn id="37" idx="3"/>
          </p:cNvCxnSpPr>
          <p:nvPr/>
        </p:nvCxnSpPr>
        <p:spPr bwMode="auto">
          <a:xfrm rot="10800000" flipV="1">
            <a:off x="7384019" y="4647092"/>
            <a:ext cx="1114013" cy="1"/>
          </a:xfrm>
          <a:prstGeom prst="bentConnector3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直接箭头连接符 70">
            <a:extLst>
              <a:ext uri="{FF2B5EF4-FFF2-40B4-BE49-F238E27FC236}">
                <a16:creationId xmlns:a16="http://schemas.microsoft.com/office/drawing/2014/main" xmlns="" id="{C852AA14-CFB0-A00A-4C12-86CE364BEA29}"/>
              </a:ext>
            </a:extLst>
          </p:cNvPr>
          <p:cNvCxnSpPr>
            <a:cxnSpLocks/>
          </p:cNvCxnSpPr>
          <p:nvPr/>
        </p:nvCxnSpPr>
        <p:spPr bwMode="auto">
          <a:xfrm flipH="1">
            <a:off x="7356459" y="2446438"/>
            <a:ext cx="1113068" cy="9266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连接符: 肘形 79">
            <a:extLst>
              <a:ext uri="{FF2B5EF4-FFF2-40B4-BE49-F238E27FC236}">
                <a16:creationId xmlns:a16="http://schemas.microsoft.com/office/drawing/2014/main" xmlns="" id="{B167D718-C49A-91B9-3952-918CE2E860C3}"/>
              </a:ext>
            </a:extLst>
          </p:cNvPr>
          <p:cNvCxnSpPr>
            <a:endCxn id="30" idx="3"/>
          </p:cNvCxnSpPr>
          <p:nvPr/>
        </p:nvCxnSpPr>
        <p:spPr bwMode="auto">
          <a:xfrm rot="10800000">
            <a:off x="7001243" y="1659266"/>
            <a:ext cx="1468285" cy="201748"/>
          </a:xfrm>
          <a:prstGeom prst="bentConnector3">
            <a:avLst>
              <a:gd name="adj1" fmla="val 50000"/>
            </a:avLst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4933EB34-D95A-3673-2708-B6B955FD82A4}"/>
              </a:ext>
            </a:extLst>
          </p:cNvPr>
          <p:cNvSpPr txBox="1"/>
          <p:nvPr/>
        </p:nvSpPr>
        <p:spPr>
          <a:xfrm>
            <a:off x="7356459" y="2132967"/>
            <a:ext cx="1164758" cy="307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数据查询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C4DA3761-2715-4043-EFBE-823F98BB941C}"/>
              </a:ext>
            </a:extLst>
          </p:cNvPr>
          <p:cNvSpPr txBox="1"/>
          <p:nvPr/>
        </p:nvSpPr>
        <p:spPr>
          <a:xfrm>
            <a:off x="7356459" y="2663382"/>
            <a:ext cx="1164758" cy="307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数据操纵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2778633A-02C4-4A2A-B5F4-2AC0B6D67539}"/>
              </a:ext>
            </a:extLst>
          </p:cNvPr>
          <p:cNvSpPr txBox="1"/>
          <p:nvPr/>
        </p:nvSpPr>
        <p:spPr>
          <a:xfrm>
            <a:off x="7356459" y="4299081"/>
            <a:ext cx="1164758" cy="307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82" charset="2"/>
                <a:ea typeface="微软雅黑" panose="020B0503020204020204" pitchFamily="82" charset="2"/>
              </a:rPr>
              <a:t>数据定义</a:t>
            </a:r>
          </a:p>
        </p:txBody>
      </p:sp>
      <p:cxnSp>
        <p:nvCxnSpPr>
          <p:cNvPr id="70" name="直接箭头连接符 70">
            <a:extLst>
              <a:ext uri="{FF2B5EF4-FFF2-40B4-BE49-F238E27FC236}">
                <a16:creationId xmlns:a16="http://schemas.microsoft.com/office/drawing/2014/main" xmlns="" id="{C852AA14-CFB0-A00A-4C12-86CE364BEA29}"/>
              </a:ext>
            </a:extLst>
          </p:cNvPr>
          <p:cNvCxnSpPr>
            <a:cxnSpLocks/>
          </p:cNvCxnSpPr>
          <p:nvPr/>
        </p:nvCxnSpPr>
        <p:spPr bwMode="auto">
          <a:xfrm flipH="1">
            <a:off x="7384963" y="3080118"/>
            <a:ext cx="1113068" cy="9266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39661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 descr="databas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773238"/>
            <a:ext cx="7827962" cy="4152900"/>
          </a:xfrm>
          <a:noFill/>
        </p:spPr>
      </p:pic>
      <p:sp>
        <p:nvSpPr>
          <p:cNvPr id="2" name="矩形 1"/>
          <p:cNvSpPr/>
          <p:nvPr/>
        </p:nvSpPr>
        <p:spPr>
          <a:xfrm>
            <a:off x="542896" y="1325563"/>
            <a:ext cx="4572000" cy="55540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 algn="just">
              <a:lnSpc>
                <a:spcPct val="140000"/>
              </a:lnSpc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/>
              <a:t>关系数据库包含很多关系表格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2.</a:t>
            </a:r>
            <a:r>
              <a:rPr lang="zh-CN" altLang="en-US" sz="3600" dirty="0"/>
              <a:t>关系数据库</a:t>
            </a:r>
          </a:p>
        </p:txBody>
      </p:sp>
    </p:spTree>
    <p:extLst>
      <p:ext uri="{BB962C8B-B14F-4D97-AF65-F5344CB8AC3E}">
        <p14:creationId xmlns:p14="http://schemas.microsoft.com/office/powerpoint/2010/main" val="1655545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18">
            <a:extLst>
              <a:ext uri="{FF2B5EF4-FFF2-40B4-BE49-F238E27FC236}">
                <a16:creationId xmlns:a16="http://schemas.microsoft.com/office/drawing/2014/main" xmlns="" id="{F2326854-0875-4CF0-85D8-C5E01DA77D83}"/>
              </a:ext>
            </a:extLst>
          </p:cNvPr>
          <p:cNvSpPr/>
          <p:nvPr/>
        </p:nvSpPr>
        <p:spPr>
          <a:xfrm>
            <a:off x="364485" y="1697893"/>
            <a:ext cx="5879153" cy="3266567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92529EF-BEAC-9D49-A1D1-47474DBA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关系数据库</a:t>
            </a:r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F44A9C91-DC4E-1309-2A87-05CEEAE3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34C0-35A8-654C-9FBA-7B4E017BD630}" type="slidenum">
              <a:rPr lang="en-US" altLang="zh-CN" smtClean="0"/>
              <a:t>14</a:t>
            </a:fld>
            <a:endParaRPr kumimoji="1" lang="zh-CN" altLang="en-US" dirty="0"/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xmlns="" id="{F0A6AD5C-EEBA-EF7A-F10A-2157C70A72C5}"/>
              </a:ext>
            </a:extLst>
          </p:cNvPr>
          <p:cNvSpPr txBox="1">
            <a:spLocks/>
          </p:cNvSpPr>
          <p:nvPr/>
        </p:nvSpPr>
        <p:spPr bwMode="auto">
          <a:xfrm>
            <a:off x="558910" y="1826461"/>
            <a:ext cx="5992241" cy="383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16531" indent="-31653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p"/>
              <a:defRPr kumimoji="1" sz="32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1pPr>
            <a:lvl2pPr marL="685817" indent="-26377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2pPr>
            <a:lvl3pPr marL="1055103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3pPr>
            <a:lvl4pPr marL="1477145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4pPr>
            <a:lvl5pPr marL="1899186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5pPr>
            <a:lvl6pPr marL="2321227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69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310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351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15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  <a:endParaRPr lang="en-US" altLang="zh-CN" sz="1500" b="1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zh-CN" sz="1350" b="1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关系数据库</a:t>
            </a: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是由</a:t>
            </a:r>
            <a:r>
              <a:rPr lang="zh-CN" altLang="zh-CN" sz="1350" b="1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的集合构成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35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在关系理论里面又称为</a:t>
            </a:r>
            <a:r>
              <a:rPr lang="zh-CN" altLang="zh-CN" sz="13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zh-CN" altLang="zh-CN" sz="135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都有唯一的名字，称之为</a:t>
            </a:r>
            <a:r>
              <a:rPr lang="zh-CN" altLang="zh-CN" sz="1350" b="1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关系名</a:t>
            </a:r>
            <a:endParaRPr lang="en-US" altLang="zh-CN" sz="1350" b="1" u="sng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135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中的每一列则被称为</a:t>
            </a:r>
            <a:r>
              <a:rPr lang="zh-CN" altLang="zh-CN" sz="1350" b="1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1350" b="1" u="sng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表格中的每一行则被称为</a:t>
            </a:r>
            <a:r>
              <a:rPr lang="zh-CN" altLang="zh-CN" sz="1350" b="1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</a:t>
            </a: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，即关系是元组的集合 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元组中一个属性值，在关系中称为</a:t>
            </a:r>
            <a:r>
              <a:rPr lang="zh-CN" altLang="zh-CN" sz="1350" b="1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分量</a:t>
            </a: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350" b="1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一个有</a:t>
            </a:r>
            <a:r>
              <a:rPr lang="en-US" altLang="zh-CN" sz="135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个属性的关系称为</a:t>
            </a:r>
            <a:r>
              <a:rPr lang="en-US" altLang="zh-CN" sz="1350" b="1" i="1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1350" b="1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元关系</a:t>
            </a:r>
            <a:endParaRPr lang="en-US" altLang="zh-CN" sz="1350" b="1" u="sng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zh-CN" sz="1500" b="1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实际上就是一个</a:t>
            </a:r>
            <a:r>
              <a:rPr lang="zh-CN" altLang="zh-CN" sz="1500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二维表</a:t>
            </a:r>
            <a:endParaRPr lang="en-US" altLang="zh-CN" sz="1500" u="sng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表格的每一行是一个元组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表格的每一列是一个属性</a:t>
            </a:r>
            <a:endParaRPr lang="zh-CN" altLang="en-US" sz="1350" u="sng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xmlns="" id="{76FC2FBF-7088-4C44-D52A-943FE67EA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137054"/>
              </p:ext>
            </p:extLst>
          </p:nvPr>
        </p:nvGraphicFramePr>
        <p:xfrm>
          <a:off x="4708464" y="3181452"/>
          <a:ext cx="3830596" cy="17175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02661">
                  <a:extLst>
                    <a:ext uri="{9D8B030D-6E8A-4147-A177-3AD203B41FA5}">
                      <a16:colId xmlns:a16="http://schemas.microsoft.com/office/drawing/2014/main" xmlns="" val="1565780314"/>
                    </a:ext>
                  </a:extLst>
                </a:gridCol>
                <a:gridCol w="643180">
                  <a:extLst>
                    <a:ext uri="{9D8B030D-6E8A-4147-A177-3AD203B41FA5}">
                      <a16:colId xmlns:a16="http://schemas.microsoft.com/office/drawing/2014/main" xmlns="" val="1474837805"/>
                    </a:ext>
                  </a:extLst>
                </a:gridCol>
                <a:gridCol w="726658">
                  <a:extLst>
                    <a:ext uri="{9D8B030D-6E8A-4147-A177-3AD203B41FA5}">
                      <a16:colId xmlns:a16="http://schemas.microsoft.com/office/drawing/2014/main" xmlns="" val="1388851519"/>
                    </a:ext>
                  </a:extLst>
                </a:gridCol>
                <a:gridCol w="722870">
                  <a:extLst>
                    <a:ext uri="{9D8B030D-6E8A-4147-A177-3AD203B41FA5}">
                      <a16:colId xmlns:a16="http://schemas.microsoft.com/office/drawing/2014/main" xmlns="" val="2368670554"/>
                    </a:ext>
                  </a:extLst>
                </a:gridCol>
                <a:gridCol w="735227">
                  <a:extLst>
                    <a:ext uri="{9D8B030D-6E8A-4147-A177-3AD203B41FA5}">
                      <a16:colId xmlns:a16="http://schemas.microsoft.com/office/drawing/2014/main" xmlns="" val="3585179622"/>
                    </a:ext>
                  </a:extLst>
                </a:gridCol>
              </a:tblGrid>
              <a:tr h="48563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b="1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Sno</a:t>
                      </a:r>
                      <a:endParaRPr lang="zh-CN" sz="9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（学号）</a:t>
                      </a:r>
                      <a:endParaRPr lang="zh-CN" sz="9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b="1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Sname</a:t>
                      </a:r>
                      <a:endParaRPr lang="zh-CN" sz="9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（姓名）</a:t>
                      </a:r>
                      <a:endParaRPr lang="zh-CN" sz="9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b="1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Sgender</a:t>
                      </a:r>
                      <a:endParaRPr lang="zh-CN" sz="9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（性别）</a:t>
                      </a:r>
                      <a:endParaRPr lang="zh-CN" sz="9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Sage</a:t>
                      </a:r>
                      <a:endParaRPr lang="zh-CN" sz="9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（年龄）</a:t>
                      </a:r>
                      <a:endParaRPr lang="zh-CN" sz="9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b="1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Sdept</a:t>
                      </a:r>
                      <a:endParaRPr lang="zh-CN" sz="9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（所在系）</a:t>
                      </a:r>
                      <a:endParaRPr lang="zh-CN" sz="9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20608433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2021310721</a:t>
                      </a:r>
                      <a:endParaRPr lang="zh-CN" sz="9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李博</a:t>
                      </a:r>
                      <a:endParaRPr lang="zh-CN" sz="9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男</a:t>
                      </a:r>
                      <a:endParaRPr lang="zh-CN" sz="9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zh-CN" sz="9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</a:t>
                      </a:r>
                      <a:endParaRPr lang="zh-CN" sz="9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3364775266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2021310722</a:t>
                      </a:r>
                      <a:endParaRPr lang="zh-CN" sz="9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赵宇</a:t>
                      </a:r>
                      <a:endParaRPr lang="zh-CN" sz="9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男</a:t>
                      </a:r>
                      <a:endParaRPr lang="zh-CN" sz="9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zh-CN" sz="9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</a:t>
                      </a:r>
                      <a:endParaRPr lang="zh-CN" sz="9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3418054805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2021310723</a:t>
                      </a:r>
                      <a:endParaRPr lang="zh-CN" sz="9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张敏</a:t>
                      </a:r>
                      <a:endParaRPr lang="zh-CN" sz="9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女</a:t>
                      </a:r>
                      <a:endParaRPr lang="zh-CN" sz="9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zh-CN" sz="9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</a:t>
                      </a:r>
                      <a:endParaRPr lang="zh-CN" sz="9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35951013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2021310724</a:t>
                      </a:r>
                      <a:endParaRPr lang="zh-CN" sz="9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王勇</a:t>
                      </a:r>
                      <a:endParaRPr lang="zh-CN" sz="9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男</a:t>
                      </a:r>
                      <a:endParaRPr lang="zh-CN" sz="9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zh-CN" sz="9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</a:t>
                      </a:r>
                      <a:endParaRPr lang="zh-CN" sz="9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412511321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2021310725</a:t>
                      </a:r>
                      <a:endParaRPr lang="zh-CN" sz="9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刘佳</a:t>
                      </a:r>
                      <a:endParaRPr lang="zh-CN" sz="9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9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女</a:t>
                      </a:r>
                      <a:endParaRPr lang="zh-CN" sz="9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zh-CN" sz="9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9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</a:t>
                      </a:r>
                      <a:endParaRPr lang="zh-CN" sz="9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191235399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AAF38ABA-F9CF-43FB-331D-B18BDDDB1E07}"/>
              </a:ext>
            </a:extLst>
          </p:cNvPr>
          <p:cNvSpPr txBox="1"/>
          <p:nvPr/>
        </p:nvSpPr>
        <p:spPr>
          <a:xfrm>
            <a:off x="6191275" y="2904452"/>
            <a:ext cx="10194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Student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标注 2">
            <a:extLst>
              <a:ext uri="{FF2B5EF4-FFF2-40B4-BE49-F238E27FC236}">
                <a16:creationId xmlns:a16="http://schemas.microsoft.com/office/drawing/2014/main" xmlns="" id="{9266EF67-234C-4009-621D-5FC0C2A71D0D}"/>
              </a:ext>
            </a:extLst>
          </p:cNvPr>
          <p:cNvSpPr/>
          <p:nvPr/>
        </p:nvSpPr>
        <p:spPr bwMode="auto">
          <a:xfrm>
            <a:off x="7547572" y="2559122"/>
            <a:ext cx="965200" cy="306467"/>
          </a:xfrm>
          <a:prstGeom prst="wedgeRoundRectCallout">
            <a:avLst>
              <a:gd name="adj1" fmla="val -48026"/>
              <a:gd name="adj2" fmla="val 126594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</a:p>
        </p:txBody>
      </p:sp>
      <p:sp>
        <p:nvSpPr>
          <p:cNvPr id="7" name="圆角矩形标注 6">
            <a:extLst>
              <a:ext uri="{FF2B5EF4-FFF2-40B4-BE49-F238E27FC236}">
                <a16:creationId xmlns:a16="http://schemas.microsoft.com/office/drawing/2014/main" xmlns="" id="{A4B85CAE-9357-72B2-5ACC-49476BE47377}"/>
              </a:ext>
            </a:extLst>
          </p:cNvPr>
          <p:cNvSpPr/>
          <p:nvPr/>
        </p:nvSpPr>
        <p:spPr bwMode="auto">
          <a:xfrm>
            <a:off x="3743265" y="3717036"/>
            <a:ext cx="965200" cy="306467"/>
          </a:xfrm>
          <a:prstGeom prst="wedgeRoundRectCallout">
            <a:avLst>
              <a:gd name="adj1" fmla="val 59869"/>
              <a:gd name="adj2" fmla="val 91232"/>
              <a:gd name="adj3" fmla="val 16667"/>
            </a:avLst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</a:t>
            </a:r>
          </a:p>
        </p:txBody>
      </p:sp>
      <p:sp>
        <p:nvSpPr>
          <p:cNvPr id="8" name="圆角矩形标注 7">
            <a:extLst>
              <a:ext uri="{FF2B5EF4-FFF2-40B4-BE49-F238E27FC236}">
                <a16:creationId xmlns:a16="http://schemas.microsoft.com/office/drawing/2014/main" xmlns="" id="{1E2D69BA-55EC-49CA-BD06-8E8C8B7E4DAA}"/>
              </a:ext>
            </a:extLst>
          </p:cNvPr>
          <p:cNvSpPr/>
          <p:nvPr/>
        </p:nvSpPr>
        <p:spPr bwMode="auto">
          <a:xfrm>
            <a:off x="3743264" y="4284832"/>
            <a:ext cx="965200" cy="306467"/>
          </a:xfrm>
          <a:prstGeom prst="wedgeRoundRectCallout">
            <a:avLst>
              <a:gd name="adj1" fmla="val 59869"/>
              <a:gd name="adj2" fmla="val 73551"/>
              <a:gd name="adj3" fmla="val 16667"/>
            </a:avLst>
          </a:prstGeom>
          <a:solidFill>
            <a:srgbClr val="7030A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135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分量</a:t>
            </a:r>
          </a:p>
        </p:txBody>
      </p:sp>
    </p:spTree>
    <p:extLst>
      <p:ext uri="{BB962C8B-B14F-4D97-AF65-F5344CB8AC3E}">
        <p14:creationId xmlns:p14="http://schemas.microsoft.com/office/powerpoint/2010/main" val="327061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xmlns="" id="{1A915DA6-F298-47A0-BE2C-11F472A5038A}"/>
              </a:ext>
            </a:extLst>
          </p:cNvPr>
          <p:cNvSpPr/>
          <p:nvPr/>
        </p:nvSpPr>
        <p:spPr>
          <a:xfrm>
            <a:off x="287304" y="1693450"/>
            <a:ext cx="8139209" cy="1892714"/>
          </a:xfrm>
          <a:prstGeom prst="roundRect">
            <a:avLst>
              <a:gd name="adj" fmla="val 15489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92529EF-BEAC-9D49-A1D1-47474DBA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关系数据库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85D7789C-AFAD-5420-CDCB-8464254A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34C0-35A8-654C-9FBA-7B4E017BD630}" type="slidenum">
              <a:rPr lang="en-US" altLang="zh-CN" smtClean="0"/>
              <a:t>15</a:t>
            </a:fld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内容占位符 2">
                <a:extLst>
                  <a:ext uri="{FF2B5EF4-FFF2-40B4-BE49-F238E27FC236}">
                    <a16:creationId xmlns:a16="http://schemas.microsoft.com/office/drawing/2014/main" xmlns="" id="{F0A6AD5C-EEBA-EF7A-F10A-2157C70A72C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21718" y="1856435"/>
                <a:ext cx="8004795" cy="20101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lvl1pPr marL="316531" indent="-31653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charset="2"/>
                  <a:buChar char="p"/>
                  <a:defRPr kumimoji="1" sz="32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1pPr>
                <a:lvl2pPr marL="685817" indent="-263776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2pPr>
                <a:lvl3pPr marL="1055103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3pPr>
                <a:lvl4pPr marL="1477145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SimHei" panose="02010609060101010101" pitchFamily="49" charset="-122"/>
                    <a:ea typeface="SimHei" panose="02010609060101010101" pitchFamily="49" charset="-122"/>
                  </a:defRPr>
                </a:lvl4pPr>
                <a:lvl5pPr marL="1899186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SimHei" panose="02010609060101010101" pitchFamily="49" charset="-122"/>
                    <a:ea typeface="SimHei" panose="02010609060101010101" pitchFamily="49" charset="-122"/>
                  </a:defRPr>
                </a:lvl5pPr>
                <a:lvl6pPr marL="2321227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6pPr>
                <a:lvl7pPr marL="2743269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7pPr>
                <a:lvl8pPr marL="3165310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8pPr>
                <a:lvl9pPr marL="3587351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zh-CN" sz="15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关系模式</a:t>
                </a:r>
                <a:endParaRPr lang="en-US" altLang="zh-CN" sz="15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buFont typeface="Wingdings" panose="05000000000000000000" pitchFamily="2" charset="2"/>
                  <a:buChar char="l"/>
                </a:pPr>
                <a:r>
                  <a:rPr lang="zh-CN" altLang="en-US" sz="1350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关系模式</a:t>
                </a:r>
                <a:r>
                  <a:rPr lang="zh-CN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是对关系的描述，由关系名和其属性集合组成，是相对不变的。记做</a:t>
                </a:r>
                <a14:m>
                  <m:oMath xmlns:m="http://schemas.openxmlformats.org/officeDocument/2006/math">
                    <m:r>
                      <a:rPr lang="en-US" altLang="zh-CN" sz="135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35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35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zh-CN" altLang="zh-CN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350" i="1"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zh-CN" altLang="zh-CN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3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buFont typeface="Wingdings" panose="05000000000000000000" pitchFamily="2" charset="2"/>
                  <a:buChar char="l"/>
                </a:pPr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Student</a:t>
                </a:r>
                <a:r>
                  <a:rPr lang="zh-CN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关系可以写为</a:t>
                </a:r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Student(</a:t>
                </a:r>
                <a:r>
                  <a:rPr lang="en-US" altLang="zh-CN" sz="135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Sno</a:t>
                </a:r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:r>
                  <a:rPr lang="en-US" altLang="zh-CN" sz="135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Sname</a:t>
                </a:r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:r>
                  <a:rPr lang="en-US" altLang="zh-CN" sz="135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Sgender</a:t>
                </a:r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Sage, </a:t>
                </a:r>
                <a:r>
                  <a:rPr lang="en-US" altLang="zh-CN" sz="135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Sdept</a:t>
                </a:r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zh-CN" sz="15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关系实例</a:t>
                </a:r>
                <a:endParaRPr lang="en-US" altLang="zh-CN" sz="15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buFont typeface="Wingdings" panose="05000000000000000000" pitchFamily="2" charset="2"/>
                  <a:buChar char="l"/>
                </a:pPr>
                <a:r>
                  <a:rPr lang="zh-CN" altLang="en-US" sz="1350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关系实例</a:t>
                </a:r>
                <a:r>
                  <a:rPr lang="zh-CN" altLang="en-US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zh-CN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关系元组集合，表示特定实例，会根据业务状态发生变化。</a:t>
                </a:r>
                <a:endPara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buFont typeface="Wingdings" panose="05000000000000000000" pitchFamily="2" charset="2"/>
                  <a:buChar char="u"/>
                </a:pPr>
                <a:r>
                  <a:rPr lang="en-US" altLang="zh-CN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Student</a:t>
                </a:r>
                <a:r>
                  <a:rPr lang="zh-CN" altLang="zh-CN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关系的实例有</a:t>
                </a:r>
                <a:r>
                  <a:rPr lang="en-US" altLang="zh-CN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zh-CN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个元组，对应</a:t>
                </a:r>
                <a:r>
                  <a:rPr lang="en-US" altLang="zh-CN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zh-CN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个学生。</a:t>
                </a:r>
                <a:r>
                  <a:rPr lang="zh-CN" altLang="en-US" sz="10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如果有新学生，则其元组数会增加。</a:t>
                </a:r>
                <a:endParaRPr lang="zh-CN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endParaRPr lang="en-US" altLang="zh-CN" sz="1050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内容占位符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0A6AD5C-EEBA-EF7A-F10A-2157C70A7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2290" y="1332247"/>
                <a:ext cx="10673060" cy="2680134"/>
              </a:xfrm>
              <a:prstGeom prst="rect">
                <a:avLst/>
              </a:prstGeom>
              <a:blipFill rotWithShape="0">
                <a:blip r:embed="rId2"/>
                <a:stretch>
                  <a:fillRect l="-514" t="-13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xmlns="" id="{76FC2FBF-7088-4C44-D52A-943FE67EA6E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87303" y="3700463"/>
          <a:ext cx="8139210" cy="169306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42910">
                  <a:extLst>
                    <a:ext uri="{9D8B030D-6E8A-4147-A177-3AD203B41FA5}">
                      <a16:colId xmlns:a16="http://schemas.microsoft.com/office/drawing/2014/main" xmlns="" val="1565780314"/>
                    </a:ext>
                  </a:extLst>
                </a:gridCol>
                <a:gridCol w="1496564">
                  <a:extLst>
                    <a:ext uri="{9D8B030D-6E8A-4147-A177-3AD203B41FA5}">
                      <a16:colId xmlns:a16="http://schemas.microsoft.com/office/drawing/2014/main" xmlns="" val="1474837805"/>
                    </a:ext>
                  </a:extLst>
                </a:gridCol>
                <a:gridCol w="1601586">
                  <a:extLst>
                    <a:ext uri="{9D8B030D-6E8A-4147-A177-3AD203B41FA5}">
                      <a16:colId xmlns:a16="http://schemas.microsoft.com/office/drawing/2014/main" xmlns="" val="1388851519"/>
                    </a:ext>
                  </a:extLst>
                </a:gridCol>
                <a:gridCol w="1535948">
                  <a:extLst>
                    <a:ext uri="{9D8B030D-6E8A-4147-A177-3AD203B41FA5}">
                      <a16:colId xmlns:a16="http://schemas.microsoft.com/office/drawing/2014/main" xmlns="" val="2368670554"/>
                    </a:ext>
                  </a:extLst>
                </a:gridCol>
                <a:gridCol w="1562202">
                  <a:extLst>
                    <a:ext uri="{9D8B030D-6E8A-4147-A177-3AD203B41FA5}">
                      <a16:colId xmlns:a16="http://schemas.microsoft.com/office/drawing/2014/main" xmlns="" val="3585179622"/>
                    </a:ext>
                  </a:extLst>
                </a:gridCol>
              </a:tblGrid>
              <a:tr h="284334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b="1" kern="100" dirty="0" err="1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Sno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1787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b="1" kern="100" dirty="0" err="1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Sname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1787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b="1" kern="100" dirty="0" err="1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Sgender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1787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Sage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1787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b="1" kern="100" dirty="0" err="1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Sdept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17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20608433"/>
                  </a:ext>
                </a:extLst>
              </a:tr>
              <a:tr h="281747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2021310721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李博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男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4775266"/>
                  </a:ext>
                </a:extLst>
              </a:tr>
              <a:tr h="281747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2021310722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赵宇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男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18054805"/>
                  </a:ext>
                </a:extLst>
              </a:tr>
              <a:tr h="281747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2021310723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张敏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女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35951013"/>
                  </a:ext>
                </a:extLst>
              </a:tr>
              <a:tr h="281747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2021310724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王勇</a:t>
                      </a:r>
                      <a:endParaRPr lang="zh-CN" sz="12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男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2511321"/>
                  </a:ext>
                </a:extLst>
              </a:tr>
              <a:tr h="281747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2021310725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刘佳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女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</a:t>
                      </a:r>
                      <a:endParaRPr lang="zh-CN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1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91235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271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 dirty="0"/>
              <a:t>2.</a:t>
            </a:r>
            <a:r>
              <a:rPr lang="zh-CN" altLang="en-US" sz="3600" dirty="0"/>
              <a:t>关系数据库</a:t>
            </a:r>
            <a:endParaRPr lang="zh-CN" altLang="en-US" sz="3600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几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个重点概念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/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域</a:t>
            </a:r>
            <a:r>
              <a:rPr lang="zh-CN" altLang="en-US" dirty="0"/>
              <a:t>（</a:t>
            </a:r>
            <a:r>
              <a:rPr lang="en-US" altLang="zh-CN" dirty="0"/>
              <a:t>Domain</a:t>
            </a:r>
            <a:r>
              <a:rPr lang="zh-CN" altLang="en-US" dirty="0"/>
              <a:t>）</a:t>
            </a:r>
            <a:r>
              <a:rPr lang="zh-CN" altLang="en-US" dirty="0" smtClean="0"/>
              <a:t>是一组具有相同数据类型的值的集合。例</a:t>
            </a:r>
            <a:r>
              <a:rPr lang="en-US" altLang="zh-CN" dirty="0" smtClean="0"/>
              <a:t>:</a:t>
            </a:r>
          </a:p>
          <a:p>
            <a:pPr lvl="3" algn="just">
              <a:lnSpc>
                <a:spcPct val="160000"/>
              </a:lnSpc>
              <a:buSzPct val="85000"/>
              <a:buFont typeface="Wingdings" panose="05000000000000000000" pitchFamily="2" charset="2"/>
              <a:buChar char="n"/>
            </a:pPr>
            <a:r>
              <a:rPr lang="zh-CN" altLang="en-US" sz="2200" dirty="0" smtClean="0"/>
              <a:t>整数</a:t>
            </a:r>
          </a:p>
          <a:p>
            <a:pPr lvl="3" algn="just">
              <a:lnSpc>
                <a:spcPct val="160000"/>
              </a:lnSpc>
              <a:buSzPct val="85000"/>
              <a:buFont typeface="Wingdings" panose="05000000000000000000" pitchFamily="2" charset="2"/>
              <a:buChar char="n"/>
            </a:pPr>
            <a:r>
              <a:rPr lang="zh-CN" altLang="en-US" sz="2200" dirty="0" smtClean="0"/>
              <a:t>实数</a:t>
            </a:r>
          </a:p>
          <a:p>
            <a:pPr lvl="3">
              <a:lnSpc>
                <a:spcPct val="160000"/>
              </a:lnSpc>
              <a:buSzPct val="85000"/>
              <a:buFont typeface="Wingdings" panose="05000000000000000000" pitchFamily="2" charset="2"/>
              <a:buChar char="n"/>
            </a:pPr>
            <a:r>
              <a:rPr lang="zh-CN" altLang="en-US" sz="2200" dirty="0" smtClean="0"/>
              <a:t>介于某个取值范围的整数</a:t>
            </a:r>
          </a:p>
          <a:p>
            <a:pPr lvl="3" algn="just">
              <a:lnSpc>
                <a:spcPct val="160000"/>
              </a:lnSpc>
              <a:buSzPct val="85000"/>
              <a:buFont typeface="Wingdings" panose="05000000000000000000" pitchFamily="2" charset="2"/>
              <a:buChar char="n"/>
            </a:pPr>
            <a:r>
              <a:rPr lang="zh-CN" altLang="en-US" sz="2200" dirty="0" smtClean="0"/>
              <a:t>指定长度的字符串集合</a:t>
            </a:r>
          </a:p>
          <a:p>
            <a:pPr lvl="3" algn="just">
              <a:lnSpc>
                <a:spcPct val="160000"/>
              </a:lnSpc>
              <a:buSzPct val="85000"/>
              <a:buFont typeface="Wingdings" panose="05000000000000000000" pitchFamily="2" charset="2"/>
              <a:buChar char="n"/>
            </a:pPr>
            <a:r>
              <a:rPr lang="en-US" altLang="zh-CN" sz="2200" dirty="0" smtClean="0"/>
              <a:t>{‘</a:t>
            </a:r>
            <a:r>
              <a:rPr lang="zh-CN" altLang="en-US" sz="2200" dirty="0" smtClean="0"/>
              <a:t>男’，‘女’</a:t>
            </a:r>
            <a:r>
              <a:rPr lang="en-US" altLang="zh-CN" sz="2200" dirty="0" smtClean="0"/>
              <a:t>}</a:t>
            </a:r>
          </a:p>
          <a:p>
            <a:pPr lvl="3" algn="just">
              <a:lnSpc>
                <a:spcPct val="160000"/>
              </a:lnSpc>
              <a:buSzPct val="85000"/>
              <a:buFont typeface="Wingdings" panose="05000000000000000000" pitchFamily="2" charset="2"/>
              <a:buChar char="n"/>
            </a:pPr>
            <a:r>
              <a:rPr lang="en-US" altLang="zh-CN" sz="2200" dirty="0" smtClean="0"/>
              <a:t>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394441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 dirty="0"/>
              <a:t>2.</a:t>
            </a:r>
            <a:r>
              <a:rPr lang="zh-CN" altLang="en-US" sz="3600" dirty="0"/>
              <a:t>关系数据库</a:t>
            </a:r>
            <a:endParaRPr lang="zh-CN" altLang="en-US" sz="3600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几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个重点概念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>
              <a:lnSpc>
                <a:spcPct val="150000"/>
              </a:lnSpc>
              <a:buSzPct val="75000"/>
            </a:pPr>
            <a:r>
              <a:rPr lang="zh-CN" altLang="en-US" dirty="0" smtClean="0"/>
              <a:t>候选</a:t>
            </a:r>
            <a:r>
              <a:rPr lang="zh-CN" altLang="en-US" dirty="0"/>
              <a:t>码（</a:t>
            </a:r>
            <a:r>
              <a:rPr lang="en-US" altLang="zh-CN" dirty="0"/>
              <a:t>Candidate key</a:t>
            </a:r>
            <a:r>
              <a:rPr lang="zh-CN" altLang="en-US" dirty="0"/>
              <a:t>）</a:t>
            </a:r>
          </a:p>
          <a:p>
            <a:pPr lvl="1">
              <a:lnSpc>
                <a:spcPct val="130000"/>
              </a:lnSpc>
              <a:buNone/>
            </a:pPr>
            <a:r>
              <a:rPr lang="zh-CN" altLang="en-US" dirty="0"/>
              <a:t>    若关系中的</a:t>
            </a:r>
            <a:r>
              <a:rPr lang="zh-CN" altLang="en-US" dirty="0">
                <a:solidFill>
                  <a:srgbClr val="FF0000"/>
                </a:solidFill>
              </a:rPr>
              <a:t>某一属性</a:t>
            </a:r>
            <a:r>
              <a:rPr lang="zh-CN" altLang="en-US" dirty="0" smtClean="0">
                <a:solidFill>
                  <a:srgbClr val="FF0000"/>
                </a:solidFill>
              </a:rPr>
              <a:t>组（一个或多个属性）</a:t>
            </a:r>
            <a:r>
              <a:rPr lang="zh-CN" altLang="en-US" dirty="0" smtClean="0"/>
              <a:t>的</a:t>
            </a:r>
            <a:r>
              <a:rPr lang="zh-CN" altLang="en-US" dirty="0"/>
              <a:t>值能唯一地标识一个元组，则称该属性组为候选</a:t>
            </a:r>
            <a:r>
              <a:rPr lang="zh-CN" altLang="en-US" dirty="0" smtClean="0"/>
              <a:t>码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296785" y="3593851"/>
            <a:ext cx="7215448" cy="2613023"/>
            <a:chOff x="1296785" y="3593851"/>
            <a:chExt cx="7215448" cy="2613023"/>
          </a:xfrm>
        </p:grpSpPr>
        <p:sp>
          <p:nvSpPr>
            <p:cNvPr id="2" name="矩形 1"/>
            <p:cNvSpPr/>
            <p:nvPr/>
          </p:nvSpPr>
          <p:spPr>
            <a:xfrm>
              <a:off x="1296785" y="3593851"/>
              <a:ext cx="7215448" cy="26130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buFont typeface="Wingdings" panose="05000000000000000000" pitchFamily="2" charset="2"/>
                <a:buNone/>
              </a:pPr>
              <a:r>
                <a:rPr lang="en-US" altLang="zh-CN" b="1" dirty="0"/>
                <a:t>Example: Find all possible candidate keys for the following relation based on its current tuples</a:t>
              </a:r>
              <a:r>
                <a:rPr lang="en-US" altLang="zh-CN" b="1" dirty="0" smtClean="0"/>
                <a:t>.</a:t>
              </a:r>
            </a:p>
            <a:p>
              <a:pPr>
                <a:lnSpc>
                  <a:spcPct val="110000"/>
                </a:lnSpc>
                <a:buFont typeface="Wingdings" panose="05000000000000000000" pitchFamily="2" charset="2"/>
                <a:buNone/>
              </a:pPr>
              <a:endParaRPr lang="en-US" altLang="zh-CN" b="1" dirty="0"/>
            </a:p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b="1" dirty="0"/>
                <a:t>                      A       B       C       D</a:t>
              </a:r>
            </a:p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b="1" dirty="0"/>
                <a:t>                     a1      b1      c1      d1</a:t>
              </a:r>
            </a:p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b="1" dirty="0"/>
                <a:t>                     a1      b2      c2      d1</a:t>
              </a:r>
            </a:p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b="1" dirty="0"/>
                <a:t>                     a2      b2      c1      d1</a:t>
              </a:r>
            </a:p>
            <a:p>
              <a:pPr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b="1" dirty="0"/>
                <a:t>                     a2      b1      c2      d1</a:t>
              </a:r>
            </a:p>
            <a:p>
              <a:pPr>
                <a:lnSpc>
                  <a:spcPct val="130000"/>
                </a:lnSpc>
                <a:buFont typeface="Wingdings" panose="05000000000000000000" pitchFamily="2" charset="2"/>
                <a:buNone/>
              </a:pPr>
              <a:endParaRPr lang="en-US" altLang="zh-CN" b="1" dirty="0" smtClean="0"/>
            </a:p>
          </p:txBody>
        </p:sp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2377439" y="4529744"/>
              <a:ext cx="2028306" cy="1295400"/>
              <a:chOff x="0" y="0"/>
              <a:chExt cx="2496" cy="1632"/>
            </a:xfrm>
          </p:grpSpPr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496" cy="16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" name="Line 6"/>
              <p:cNvSpPr>
                <a:spLocks noChangeShapeType="1"/>
              </p:cNvSpPr>
              <p:nvPr/>
            </p:nvSpPr>
            <p:spPr bwMode="auto">
              <a:xfrm>
                <a:off x="0" y="336"/>
                <a:ext cx="2496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" name="Line 7"/>
              <p:cNvSpPr>
                <a:spLocks noChangeShapeType="1"/>
              </p:cNvSpPr>
              <p:nvPr/>
            </p:nvSpPr>
            <p:spPr bwMode="auto">
              <a:xfrm>
                <a:off x="0" y="672"/>
                <a:ext cx="2496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Line 8"/>
              <p:cNvSpPr>
                <a:spLocks noChangeShapeType="1"/>
              </p:cNvSpPr>
              <p:nvPr/>
            </p:nvSpPr>
            <p:spPr bwMode="auto">
              <a:xfrm>
                <a:off x="0" y="1008"/>
                <a:ext cx="2496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Line 9"/>
              <p:cNvSpPr>
                <a:spLocks noChangeShapeType="1"/>
              </p:cNvSpPr>
              <p:nvPr/>
            </p:nvSpPr>
            <p:spPr bwMode="auto">
              <a:xfrm>
                <a:off x="0" y="1344"/>
                <a:ext cx="2496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Line 10"/>
              <p:cNvSpPr>
                <a:spLocks noChangeShapeType="1"/>
              </p:cNvSpPr>
              <p:nvPr/>
            </p:nvSpPr>
            <p:spPr bwMode="auto">
              <a:xfrm>
                <a:off x="1872" y="0"/>
                <a:ext cx="2" cy="16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Line 11"/>
              <p:cNvSpPr>
                <a:spLocks noChangeShapeType="1"/>
              </p:cNvSpPr>
              <p:nvPr/>
            </p:nvSpPr>
            <p:spPr bwMode="auto">
              <a:xfrm>
                <a:off x="624" y="0"/>
                <a:ext cx="2" cy="16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Line 12"/>
              <p:cNvSpPr>
                <a:spLocks noChangeShapeType="1"/>
              </p:cNvSpPr>
              <p:nvPr/>
            </p:nvSpPr>
            <p:spPr bwMode="auto">
              <a:xfrm>
                <a:off x="1248" y="0"/>
                <a:ext cx="2" cy="16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296785" y="6078970"/>
            <a:ext cx="2909643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Answer: {A, B}, {A, C}, {B, C}.</a:t>
            </a:r>
          </a:p>
        </p:txBody>
      </p:sp>
    </p:spTree>
    <p:extLst>
      <p:ext uri="{BB962C8B-B14F-4D97-AF65-F5344CB8AC3E}">
        <p14:creationId xmlns:p14="http://schemas.microsoft.com/office/powerpoint/2010/main" val="401489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 dirty="0"/>
              <a:t>2</a:t>
            </a:r>
            <a:r>
              <a:rPr lang="en-US" altLang="zh-CN" sz="3600" dirty="0" smtClean="0"/>
              <a:t>. </a:t>
            </a:r>
            <a:r>
              <a:rPr lang="zh-CN" altLang="en-US" sz="3600" dirty="0" smtClean="0"/>
              <a:t>关系数据库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几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个重点概念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>
              <a:lnSpc>
                <a:spcPct val="150000"/>
              </a:lnSpc>
              <a:buSzPct val="75000"/>
            </a:pPr>
            <a:r>
              <a:rPr lang="zh-CN" altLang="en-US" dirty="0"/>
              <a:t>主</a:t>
            </a:r>
            <a:r>
              <a:rPr lang="zh-CN" altLang="en-US" dirty="0" smtClean="0"/>
              <a:t>码（</a:t>
            </a:r>
            <a:r>
              <a:rPr lang="en-US" altLang="zh-CN" dirty="0"/>
              <a:t> Primary key </a:t>
            </a:r>
            <a:r>
              <a:rPr lang="zh-CN" altLang="en-US" dirty="0" smtClean="0"/>
              <a:t>）</a:t>
            </a:r>
            <a:endParaRPr lang="zh-CN" altLang="en-US" dirty="0"/>
          </a:p>
          <a:p>
            <a:pPr lvl="2">
              <a:lnSpc>
                <a:spcPct val="130000"/>
              </a:lnSpc>
            </a:pPr>
            <a:r>
              <a:rPr lang="zh-CN" altLang="en-US" dirty="0"/>
              <a:t>若一个关系有多个候选码，则选定其中一个为</a:t>
            </a:r>
            <a:r>
              <a:rPr lang="zh-CN" altLang="en-US" dirty="0">
                <a:ea typeface="黑体" panose="02010609060101010101" pitchFamily="49" charset="-122"/>
              </a:rPr>
              <a:t>主码</a:t>
            </a:r>
            <a:r>
              <a:rPr lang="zh-CN" altLang="en-US" dirty="0"/>
              <a:t>（</a:t>
            </a:r>
            <a:r>
              <a:rPr lang="en-US" altLang="zh-CN" dirty="0"/>
              <a:t>Primary key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>
              <a:lnSpc>
                <a:spcPct val="130000"/>
              </a:lnSpc>
            </a:pPr>
            <a:r>
              <a:rPr lang="zh-CN" altLang="en-US" dirty="0"/>
              <a:t>每个关系的</a:t>
            </a:r>
            <a:r>
              <a:rPr lang="zh-CN" altLang="en-US" dirty="0" smtClean="0"/>
              <a:t>主码在</a:t>
            </a:r>
            <a:r>
              <a:rPr lang="zh-CN" altLang="en-US" dirty="0"/>
              <a:t>定义关系时被选择和声明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>
              <a:lnSpc>
                <a:spcPct val="130000"/>
              </a:lnSpc>
            </a:pPr>
            <a:r>
              <a:rPr lang="zh-CN" altLang="en-US" dirty="0" smtClean="0"/>
              <a:t>为了</a:t>
            </a:r>
            <a:r>
              <a:rPr lang="zh-CN" altLang="en-US" dirty="0"/>
              <a:t>提高存储效率和查询处理效率，通常</a:t>
            </a:r>
            <a:r>
              <a:rPr lang="zh-CN" altLang="en-US" dirty="0" smtClean="0"/>
              <a:t>选择属性</a:t>
            </a:r>
            <a:r>
              <a:rPr lang="zh-CN" altLang="en-US" dirty="0"/>
              <a:t>数最少的候选</a:t>
            </a:r>
            <a:r>
              <a:rPr lang="zh-CN" altLang="en-US" dirty="0" smtClean="0"/>
              <a:t>键为主码。</a:t>
            </a:r>
            <a:endParaRPr lang="en-US" altLang="zh-CN" dirty="0" smtClean="0"/>
          </a:p>
          <a:p>
            <a:pPr lvl="2">
              <a:lnSpc>
                <a:spcPct val="130000"/>
              </a:lnSpc>
            </a:pPr>
            <a:r>
              <a:rPr lang="zh-CN" altLang="en-US" dirty="0"/>
              <a:t>定义</a:t>
            </a:r>
            <a:r>
              <a:rPr lang="zh-CN" altLang="en-US" dirty="0" smtClean="0"/>
              <a:t>了</a:t>
            </a:r>
            <a:r>
              <a:rPr lang="zh-CN" altLang="en-US" dirty="0"/>
              <a:t>主码</a:t>
            </a:r>
            <a:r>
              <a:rPr lang="zh-CN" altLang="en-US" dirty="0" smtClean="0"/>
              <a:t>后</a:t>
            </a:r>
            <a:r>
              <a:rPr lang="zh-CN" altLang="en-US" dirty="0"/>
              <a:t>，当插入新元组时，只需要</a:t>
            </a:r>
            <a:r>
              <a:rPr lang="zh-CN" altLang="en-US" dirty="0" smtClean="0"/>
              <a:t>检查</a:t>
            </a:r>
            <a:r>
              <a:rPr lang="zh-CN" altLang="en-US" dirty="0"/>
              <a:t>主</a:t>
            </a:r>
            <a:r>
              <a:rPr lang="zh-CN" altLang="en-US" dirty="0" smtClean="0"/>
              <a:t>码属性</a:t>
            </a:r>
            <a:r>
              <a:rPr lang="zh-CN" altLang="en-US" dirty="0"/>
              <a:t>下的值以识别重复</a:t>
            </a:r>
            <a:r>
              <a:rPr lang="zh-CN" altLang="en-US" dirty="0" smtClean="0"/>
              <a:t>项。</a:t>
            </a:r>
            <a:endParaRPr lang="zh-CN" altLang="en-US" dirty="0"/>
          </a:p>
          <a:p>
            <a:pPr lvl="1" algn="just">
              <a:lnSpc>
                <a:spcPct val="150000"/>
              </a:lnSpc>
              <a:buSzPct val="75000"/>
            </a:pPr>
            <a:r>
              <a:rPr lang="zh-CN" altLang="en-US" dirty="0"/>
              <a:t>主属性</a:t>
            </a:r>
          </a:p>
          <a:p>
            <a:pPr lvl="1" algn="just">
              <a:lnSpc>
                <a:spcPct val="130000"/>
              </a:lnSpc>
              <a:buNone/>
            </a:pPr>
            <a:r>
              <a:rPr lang="zh-CN" altLang="en-US" dirty="0"/>
              <a:t>候选码的诸属性称为主属性（</a:t>
            </a:r>
            <a:r>
              <a:rPr lang="en-US" altLang="zh-CN" dirty="0"/>
              <a:t>Prime attribute</a:t>
            </a:r>
            <a:r>
              <a:rPr lang="zh-CN" altLang="en-US" dirty="0"/>
              <a:t>）</a:t>
            </a:r>
          </a:p>
          <a:p>
            <a:pPr lvl="1">
              <a:lnSpc>
                <a:spcPct val="130000"/>
              </a:lnSpc>
              <a:buNone/>
            </a:pPr>
            <a:r>
              <a:rPr lang="zh-CN" altLang="en-US" dirty="0"/>
              <a:t>不包含在任何侯选码中的属性称为非主属性（</a:t>
            </a:r>
            <a:r>
              <a:rPr lang="en-US" altLang="zh-CN" dirty="0"/>
              <a:t>Non-Prime attribute</a:t>
            </a:r>
            <a:r>
              <a:rPr lang="zh-CN" altLang="en-US" dirty="0"/>
              <a:t>）或非码属性（</a:t>
            </a:r>
            <a:r>
              <a:rPr lang="en-US" altLang="zh-CN" dirty="0"/>
              <a:t>Non-key attribute</a:t>
            </a:r>
            <a:r>
              <a:rPr lang="zh-CN" altLang="en-US" dirty="0"/>
              <a:t>） </a:t>
            </a:r>
          </a:p>
        </p:txBody>
      </p:sp>
    </p:spTree>
    <p:extLst>
      <p:ext uri="{BB962C8B-B14F-4D97-AF65-F5344CB8AC3E}">
        <p14:creationId xmlns:p14="http://schemas.microsoft.com/office/powerpoint/2010/main" val="416951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92529EF-BEAC-9D49-A1D1-47474DBA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关系数据库</a:t>
            </a:r>
            <a:endParaRPr kumimoji="1" lang="zh-CN" altLang="en-US" dirty="0"/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xmlns="" id="{F0A6AD5C-EEBA-EF7A-F10A-2157C70A72C5}"/>
              </a:ext>
            </a:extLst>
          </p:cNvPr>
          <p:cNvSpPr txBox="1">
            <a:spLocks/>
          </p:cNvSpPr>
          <p:nvPr/>
        </p:nvSpPr>
        <p:spPr bwMode="auto">
          <a:xfrm>
            <a:off x="324969" y="1368051"/>
            <a:ext cx="8453051" cy="71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16531" indent="-31653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p"/>
              <a:defRPr kumimoji="1" sz="32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1pPr>
            <a:lvl2pPr marL="685817" indent="-26377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2pPr>
            <a:lvl3pPr marL="1055103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3pPr>
            <a:lvl4pPr marL="1477145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4pPr>
            <a:lvl5pPr marL="1899186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5pPr>
            <a:lvl6pPr marL="2321227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69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310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351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algn="just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几个重点概念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algn="just">
              <a:lnSpc>
                <a:spcPct val="15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sz="1800" dirty="0" smtClean="0"/>
              <a:t>外码</a:t>
            </a:r>
            <a:endParaRPr lang="en-US" altLang="zh-CN" sz="1800" dirty="0" smtClean="0"/>
          </a:p>
          <a:p>
            <a:pPr lvl="1" algn="just">
              <a:lnSpc>
                <a:spcPct val="150000"/>
              </a:lnSpc>
              <a:buSzPct val="75000"/>
              <a:buFont typeface="Wingdings" panose="05000000000000000000" pitchFamily="2" charset="2"/>
              <a:buChar char="n"/>
            </a:pPr>
            <a:r>
              <a:rPr lang="en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SC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</a:t>
            </a:r>
            <a:r>
              <a:rPr lang="en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Sno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" altLang="zh-CN" sz="1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Cno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属性分别是</a:t>
            </a:r>
            <a:r>
              <a:rPr lang="en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Student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Course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主码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这种一个关系模式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中的属性是另一个关系模式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主码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这样的属性在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上称作参照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外码</a:t>
            </a:r>
            <a:r>
              <a:rPr lang="zh-CN" altLang="e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zh-CN" altLang="en-US" sz="1500" b="1" u="sng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外码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xmlns="" id="{DD85EC0F-0427-BE07-CC06-D6AEF644D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82989"/>
              </p:ext>
            </p:extLst>
          </p:nvPr>
        </p:nvGraphicFramePr>
        <p:xfrm>
          <a:off x="168716" y="3487322"/>
          <a:ext cx="4511493" cy="17602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76938">
                  <a:extLst>
                    <a:ext uri="{9D8B030D-6E8A-4147-A177-3AD203B41FA5}">
                      <a16:colId xmlns:a16="http://schemas.microsoft.com/office/drawing/2014/main" xmlns="" val="1565780314"/>
                    </a:ext>
                  </a:extLst>
                </a:gridCol>
                <a:gridCol w="829533">
                  <a:extLst>
                    <a:ext uri="{9D8B030D-6E8A-4147-A177-3AD203B41FA5}">
                      <a16:colId xmlns:a16="http://schemas.microsoft.com/office/drawing/2014/main" xmlns="" val="1474837805"/>
                    </a:ext>
                  </a:extLst>
                </a:gridCol>
                <a:gridCol w="887745">
                  <a:extLst>
                    <a:ext uri="{9D8B030D-6E8A-4147-A177-3AD203B41FA5}">
                      <a16:colId xmlns:a16="http://schemas.microsoft.com/office/drawing/2014/main" xmlns="" val="1388851519"/>
                    </a:ext>
                  </a:extLst>
                </a:gridCol>
                <a:gridCol w="851362">
                  <a:extLst>
                    <a:ext uri="{9D8B030D-6E8A-4147-A177-3AD203B41FA5}">
                      <a16:colId xmlns:a16="http://schemas.microsoft.com/office/drawing/2014/main" xmlns="" val="2368670554"/>
                    </a:ext>
                  </a:extLst>
                </a:gridCol>
                <a:gridCol w="865915">
                  <a:extLst>
                    <a:ext uri="{9D8B030D-6E8A-4147-A177-3AD203B41FA5}">
                      <a16:colId xmlns:a16="http://schemas.microsoft.com/office/drawing/2014/main" xmlns="" val="3585179622"/>
                    </a:ext>
                  </a:extLst>
                </a:gridCol>
              </a:tblGrid>
              <a:tr h="48563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b="1" u="sng" kern="100" dirty="0" err="1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Sno</a:t>
                      </a:r>
                      <a:endParaRPr lang="zh-CN" sz="1100" b="1" u="sng" kern="10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b="1" kern="10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（学号）</a:t>
                      </a:r>
                      <a:endParaRPr lang="zh-CN" sz="1100" b="1" kern="10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Sname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（姓名）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Sgender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（性别）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Sage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（年龄）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Sdept</a:t>
                      </a:r>
                      <a:endParaRPr lang="zh-CN" sz="11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（所在系）</a:t>
                      </a:r>
                      <a:endParaRPr lang="zh-CN" sz="11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2420608433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2021310721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李博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男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3364775266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2021310722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赵宇</a:t>
                      </a:r>
                      <a:endParaRPr lang="zh-CN" sz="11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男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3418054805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2021310723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张敏</a:t>
                      </a:r>
                      <a:endParaRPr lang="zh-CN" sz="11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女</a:t>
                      </a:r>
                      <a:endParaRPr lang="zh-CN" sz="11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3235951013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2021310724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王勇</a:t>
                      </a:r>
                      <a:endParaRPr lang="zh-CN" sz="11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男</a:t>
                      </a:r>
                      <a:endParaRPr lang="zh-CN" sz="11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412511321"/>
                  </a:ext>
                </a:extLst>
              </a:tr>
              <a:tr h="24638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2021310725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刘佳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女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191235399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xmlns="" id="{DC58E2E0-073F-360E-8BF7-B23F04892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19884"/>
              </p:ext>
            </p:extLst>
          </p:nvPr>
        </p:nvGraphicFramePr>
        <p:xfrm>
          <a:off x="4975568" y="3495611"/>
          <a:ext cx="4099910" cy="12573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12228">
                  <a:extLst>
                    <a:ext uri="{9D8B030D-6E8A-4147-A177-3AD203B41FA5}">
                      <a16:colId xmlns:a16="http://schemas.microsoft.com/office/drawing/2014/main" xmlns="" val="2536890443"/>
                    </a:ext>
                  </a:extLst>
                </a:gridCol>
                <a:gridCol w="1357746">
                  <a:extLst>
                    <a:ext uri="{9D8B030D-6E8A-4147-A177-3AD203B41FA5}">
                      <a16:colId xmlns:a16="http://schemas.microsoft.com/office/drawing/2014/main" xmlns="" val="425296931"/>
                    </a:ext>
                  </a:extLst>
                </a:gridCol>
                <a:gridCol w="968370">
                  <a:extLst>
                    <a:ext uri="{9D8B030D-6E8A-4147-A177-3AD203B41FA5}">
                      <a16:colId xmlns:a16="http://schemas.microsoft.com/office/drawing/2014/main" xmlns="" val="2312191696"/>
                    </a:ext>
                  </a:extLst>
                </a:gridCol>
                <a:gridCol w="861566">
                  <a:extLst>
                    <a:ext uri="{9D8B030D-6E8A-4147-A177-3AD203B41FA5}">
                      <a16:colId xmlns:a16="http://schemas.microsoft.com/office/drawing/2014/main" xmlns="" val="368490255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b="1" u="sng" kern="100" dirty="0" err="1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Cno</a:t>
                      </a:r>
                      <a:endParaRPr lang="zh-CN" sz="1100" b="1" u="sng" kern="10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b="1" kern="10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（课程号）</a:t>
                      </a:r>
                      <a:endParaRPr lang="zh-CN" sz="1100" b="1" kern="10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Cname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（课程名）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Cpno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（先</a:t>
                      </a:r>
                      <a:r>
                        <a:rPr lang="zh-CN" alt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</a:t>
                      </a: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课）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Ccredit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（学分）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417151455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数据库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sz="11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174285095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数据结构与算法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1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sz="11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728006256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操作系统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411511136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xmlns="" id="{80135CF4-A737-BD8B-7C65-684E8E3C1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652934"/>
              </p:ext>
            </p:extLst>
          </p:nvPr>
        </p:nvGraphicFramePr>
        <p:xfrm>
          <a:off x="4975568" y="5090827"/>
          <a:ext cx="4099911" cy="15087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65815">
                  <a:extLst>
                    <a:ext uri="{9D8B030D-6E8A-4147-A177-3AD203B41FA5}">
                      <a16:colId xmlns:a16="http://schemas.microsoft.com/office/drawing/2014/main" xmlns="" val="1148736445"/>
                    </a:ext>
                  </a:extLst>
                </a:gridCol>
                <a:gridCol w="1153325">
                  <a:extLst>
                    <a:ext uri="{9D8B030D-6E8A-4147-A177-3AD203B41FA5}">
                      <a16:colId xmlns:a16="http://schemas.microsoft.com/office/drawing/2014/main" xmlns="" val="1188199480"/>
                    </a:ext>
                  </a:extLst>
                </a:gridCol>
                <a:gridCol w="1280771">
                  <a:extLst>
                    <a:ext uri="{9D8B030D-6E8A-4147-A177-3AD203B41FA5}">
                      <a16:colId xmlns:a16="http://schemas.microsoft.com/office/drawing/2014/main" xmlns="" val="1673479976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b="1" kern="100" dirty="0" err="1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Sno</a:t>
                      </a:r>
                      <a:endParaRPr lang="zh-CN" sz="1100" b="1" kern="10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b="1" kern="10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（学号）</a:t>
                      </a:r>
                      <a:endParaRPr lang="zh-CN" sz="1100" b="1" kern="10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b="1" kern="100" dirty="0" err="1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Cno</a:t>
                      </a:r>
                      <a:endParaRPr lang="zh-CN" sz="1100" b="1" kern="10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b="1" kern="100" dirty="0">
                          <a:solidFill>
                            <a:srgbClr val="7030A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（课程号）</a:t>
                      </a:r>
                      <a:endParaRPr lang="zh-CN" sz="1100" b="1" kern="100" dirty="0">
                        <a:solidFill>
                          <a:srgbClr val="7030A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Grade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（成绩）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554453174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2021310721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</a:t>
                      </a:r>
                      <a:endParaRPr lang="zh-CN" sz="11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671416227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2021310722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1699671958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2021310723</a:t>
                      </a:r>
                      <a:endParaRPr lang="zh-CN" sz="11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94418798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2021310723</a:t>
                      </a:r>
                      <a:endParaRPr lang="zh-CN" sz="11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1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</a:t>
                      </a:r>
                      <a:endParaRPr lang="zh-CN" sz="11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xmlns="" val="4276025019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6FAE1649-0E0F-0804-A221-84E8621B1351}"/>
              </a:ext>
            </a:extLst>
          </p:cNvPr>
          <p:cNvSpPr txBox="1"/>
          <p:nvPr/>
        </p:nvSpPr>
        <p:spPr>
          <a:xfrm>
            <a:off x="2067535" y="3194030"/>
            <a:ext cx="101943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dirty="0">
                <a:ea typeface="KaiTi" panose="02010609060101010101" pitchFamily="49" charset="-122"/>
                <a:cs typeface="Times New Roman" panose="02020603050405020304" pitchFamily="18" charset="0"/>
              </a:rPr>
              <a:t>Student</a:t>
            </a:r>
            <a:r>
              <a:rPr lang="zh-CN" altLang="en-US" sz="1500" b="1" dirty="0">
                <a:ea typeface="KaiTi" panose="02010609060101010101" pitchFamily="49" charset="-122"/>
                <a:cs typeface="Times New Roman" panose="02020603050405020304" pitchFamily="18" charset="0"/>
              </a:rPr>
              <a:t>表</a:t>
            </a:r>
            <a:endParaRPr lang="zh-CN" altLang="en-US" sz="15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1F3CD78C-2414-BECA-ADF6-83D7BBBEF7BF}"/>
              </a:ext>
            </a:extLst>
          </p:cNvPr>
          <p:cNvSpPr txBox="1"/>
          <p:nvPr/>
        </p:nvSpPr>
        <p:spPr>
          <a:xfrm>
            <a:off x="7018733" y="3224628"/>
            <a:ext cx="101943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dirty="0">
                <a:ea typeface="KaiTi" panose="02010609060101010101" pitchFamily="49" charset="-122"/>
                <a:cs typeface="Times New Roman" panose="02020603050405020304" pitchFamily="18" charset="0"/>
              </a:rPr>
              <a:t>Course</a:t>
            </a:r>
            <a:r>
              <a:rPr lang="zh-CN" altLang="en-US" sz="1500" b="1" dirty="0">
                <a:ea typeface="KaiTi" panose="02010609060101010101" pitchFamily="49" charset="-122"/>
                <a:cs typeface="Times New Roman" panose="02020603050405020304" pitchFamily="18" charset="0"/>
              </a:rPr>
              <a:t>表</a:t>
            </a:r>
            <a:endParaRPr lang="zh-CN" altLang="en-US" sz="15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D3F0C71B-780E-ADD1-DC0F-973286CD5961}"/>
              </a:ext>
            </a:extLst>
          </p:cNvPr>
          <p:cNvSpPr txBox="1"/>
          <p:nvPr/>
        </p:nvSpPr>
        <p:spPr>
          <a:xfrm>
            <a:off x="7165874" y="4813664"/>
            <a:ext cx="58975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dirty="0">
                <a:ea typeface="KaiTi" panose="02010609060101010101" pitchFamily="49" charset="-122"/>
                <a:cs typeface="Times New Roman" panose="02020603050405020304" pitchFamily="18" charset="0"/>
              </a:rPr>
              <a:t>SC</a:t>
            </a:r>
            <a:r>
              <a:rPr lang="zh-CN" altLang="en-US" sz="1500" b="1" dirty="0">
                <a:ea typeface="KaiTi" panose="02010609060101010101" pitchFamily="49" charset="-122"/>
                <a:cs typeface="Times New Roman" panose="02020603050405020304" pitchFamily="18" charset="0"/>
              </a:rPr>
              <a:t>表</a:t>
            </a:r>
            <a:endParaRPr lang="zh-CN" altLang="en-US" sz="1500" b="1" dirty="0"/>
          </a:p>
        </p:txBody>
      </p:sp>
      <p:cxnSp>
        <p:nvCxnSpPr>
          <p:cNvPr id="6" name="肘形连接符 5">
            <a:extLst>
              <a:ext uri="{FF2B5EF4-FFF2-40B4-BE49-F238E27FC236}">
                <a16:creationId xmlns:a16="http://schemas.microsoft.com/office/drawing/2014/main" xmlns="" id="{825AB512-8A62-1217-4063-B6BE8BAAD864}"/>
              </a:ext>
            </a:extLst>
          </p:cNvPr>
          <p:cNvCxnSpPr>
            <a:cxnSpLocks/>
          </p:cNvCxnSpPr>
          <p:nvPr/>
        </p:nvCxnSpPr>
        <p:spPr bwMode="auto">
          <a:xfrm rot="10800000">
            <a:off x="168718" y="3986827"/>
            <a:ext cx="5007437" cy="1453788"/>
          </a:xfrm>
          <a:prstGeom prst="bentConnector3">
            <a:avLst>
              <a:gd name="adj1" fmla="val 102394"/>
            </a:avLst>
          </a:prstGeom>
          <a:ln w="19050"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肘形连接符 17">
            <a:extLst>
              <a:ext uri="{FF2B5EF4-FFF2-40B4-BE49-F238E27FC236}">
                <a16:creationId xmlns:a16="http://schemas.microsoft.com/office/drawing/2014/main" xmlns="" id="{47D04BB3-8715-CF95-5D60-8858357E4193}"/>
              </a:ext>
            </a:extLst>
          </p:cNvPr>
          <p:cNvCxnSpPr>
            <a:cxnSpLocks/>
            <a:stCxn id="12" idx="0"/>
            <a:endCxn id="11" idx="1"/>
          </p:cNvCxnSpPr>
          <p:nvPr/>
        </p:nvCxnSpPr>
        <p:spPr bwMode="auto">
          <a:xfrm rot="16200000" flipV="1">
            <a:off x="5517263" y="3582566"/>
            <a:ext cx="966566" cy="2049955"/>
          </a:xfrm>
          <a:prstGeom prst="bentConnector4">
            <a:avLst>
              <a:gd name="adj1" fmla="val 17480"/>
              <a:gd name="adj2" fmla="val 111151"/>
            </a:avLst>
          </a:prstGeom>
          <a:ln w="19050"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51F4AD19-7D58-9C54-111A-D64C39FA0BAC}"/>
              </a:ext>
            </a:extLst>
          </p:cNvPr>
          <p:cNvSpPr/>
          <p:nvPr/>
        </p:nvSpPr>
        <p:spPr bwMode="auto">
          <a:xfrm>
            <a:off x="4975568" y="5136829"/>
            <a:ext cx="2980856" cy="43858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88342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 dirty="0"/>
              <a:t>2.</a:t>
            </a:r>
            <a:r>
              <a:rPr lang="zh-CN" altLang="en-US" sz="3600" dirty="0"/>
              <a:t>关系数据库</a:t>
            </a:r>
            <a:endParaRPr lang="zh-CN" altLang="en-US" sz="3600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基本关系的性质</a:t>
            </a:r>
          </a:p>
          <a:p>
            <a:pPr lvl="1">
              <a:lnSpc>
                <a:spcPct val="130000"/>
              </a:lnSpc>
              <a:buNone/>
            </a:pPr>
            <a:r>
              <a:rPr lang="zh-CN" altLang="en-US" dirty="0" smtClean="0"/>
              <a:t>①列</a:t>
            </a:r>
            <a:r>
              <a:rPr lang="zh-CN" altLang="en-US" dirty="0"/>
              <a:t>是同质的（</a:t>
            </a:r>
            <a:r>
              <a:rPr lang="en-US" altLang="zh-CN" dirty="0"/>
              <a:t>Homogeneous</a:t>
            </a:r>
            <a:r>
              <a:rPr lang="zh-CN" altLang="en-US" dirty="0"/>
              <a:t>）</a:t>
            </a:r>
          </a:p>
          <a:p>
            <a:pPr lvl="1">
              <a:lnSpc>
                <a:spcPct val="130000"/>
              </a:lnSpc>
              <a:buNone/>
            </a:pPr>
            <a:r>
              <a:rPr lang="zh-CN" altLang="en-US" dirty="0"/>
              <a:t>② 不同的列可出自同一个域</a:t>
            </a:r>
          </a:p>
          <a:p>
            <a:pPr lvl="2" algn="just">
              <a:lnSpc>
                <a:spcPct val="130000"/>
              </a:lnSpc>
              <a:buSzPct val="75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不同</a:t>
            </a:r>
            <a:r>
              <a:rPr lang="zh-CN" altLang="en-US" sz="2200" dirty="0"/>
              <a:t>的属性要给予不同的属性名</a:t>
            </a:r>
          </a:p>
          <a:p>
            <a:pPr lvl="1" algn="just">
              <a:lnSpc>
                <a:spcPct val="130000"/>
              </a:lnSpc>
              <a:buSzPct val="75000"/>
              <a:buNone/>
            </a:pPr>
            <a:r>
              <a:rPr lang="zh-CN" altLang="en-US" dirty="0"/>
              <a:t>③ </a:t>
            </a:r>
            <a:r>
              <a:rPr lang="zh-CN" altLang="en-US" dirty="0" smtClean="0"/>
              <a:t>任意</a:t>
            </a:r>
            <a:r>
              <a:rPr lang="zh-CN" altLang="en-US" dirty="0"/>
              <a:t>两个元组的候选码不能相同</a:t>
            </a:r>
          </a:p>
          <a:p>
            <a:pPr lvl="1" algn="just">
              <a:lnSpc>
                <a:spcPct val="14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618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 dirty="0"/>
              <a:t>2.</a:t>
            </a:r>
            <a:r>
              <a:rPr lang="zh-CN" altLang="en-US" sz="3600" dirty="0"/>
              <a:t>关系数据库</a:t>
            </a:r>
            <a:endParaRPr lang="zh-CN" altLang="en-US" sz="3600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基本关系的性质</a:t>
            </a:r>
          </a:p>
          <a:p>
            <a:pPr lvl="1" algn="just">
              <a:lnSpc>
                <a:spcPct val="150000"/>
              </a:lnSpc>
              <a:buSzPct val="75000"/>
            </a:pPr>
            <a:r>
              <a:rPr lang="zh-CN" altLang="en-US" dirty="0"/>
              <a:t>列的顺序无所谓</a:t>
            </a:r>
            <a:r>
              <a:rPr lang="en-US" altLang="zh-CN" dirty="0"/>
              <a:t>,</a:t>
            </a:r>
            <a:r>
              <a:rPr lang="zh-CN" altLang="en-US" dirty="0"/>
              <a:t>，列的次序可以任意</a:t>
            </a:r>
            <a:r>
              <a:rPr lang="zh-CN" altLang="en-US" dirty="0" smtClean="0"/>
              <a:t>交换</a:t>
            </a:r>
            <a:endParaRPr lang="en-US" altLang="zh-CN" dirty="0" smtClean="0"/>
          </a:p>
          <a:p>
            <a:pPr lvl="1" algn="just">
              <a:lnSpc>
                <a:spcPct val="150000"/>
              </a:lnSpc>
              <a:buSzPct val="75000"/>
            </a:pPr>
            <a:r>
              <a:rPr lang="zh-CN" altLang="en-US" dirty="0"/>
              <a:t>行的顺序无所谓，行的次序可以任意</a:t>
            </a:r>
            <a:r>
              <a:rPr lang="zh-CN" altLang="en-US" dirty="0" smtClean="0"/>
              <a:t>交换</a:t>
            </a:r>
            <a:endParaRPr lang="zh-CN" altLang="en-US" dirty="0"/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22915"/>
              </p:ext>
            </p:extLst>
          </p:nvPr>
        </p:nvGraphicFramePr>
        <p:xfrm>
          <a:off x="190500" y="3601244"/>
          <a:ext cx="4105275" cy="2498725"/>
        </p:xfrm>
        <a:graphic>
          <a:graphicData uri="http://schemas.openxmlformats.org/drawingml/2006/table">
            <a:tbl>
              <a:tblPr/>
              <a:tblGrid>
                <a:gridCol w="1025525"/>
                <a:gridCol w="1208087"/>
                <a:gridCol w="754063"/>
                <a:gridCol w="11176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group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Smith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alpha 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Jones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alpha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Patel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beta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Smith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alpha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Group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695712"/>
              </p:ext>
            </p:extLst>
          </p:nvPr>
        </p:nvGraphicFramePr>
        <p:xfrm>
          <a:off x="4462463" y="3500438"/>
          <a:ext cx="4681537" cy="2700338"/>
        </p:xfrm>
        <a:graphic>
          <a:graphicData uri="http://schemas.openxmlformats.org/drawingml/2006/table">
            <a:tbl>
              <a:tblPr/>
              <a:tblGrid>
                <a:gridCol w="1150937"/>
                <a:gridCol w="936625"/>
                <a:gridCol w="1296988"/>
                <a:gridCol w="1296987"/>
              </a:tblGrid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group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Smith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alpha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Patel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beta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Smith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alpha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Jones 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alpha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35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 dirty="0"/>
              <a:t>2</a:t>
            </a:r>
            <a:r>
              <a:rPr lang="en-US" altLang="zh-CN" sz="3600" dirty="0" smtClean="0"/>
              <a:t>. </a:t>
            </a:r>
            <a:r>
              <a:rPr lang="zh-CN" altLang="en-US" sz="3600" dirty="0" smtClean="0"/>
              <a:t>关系数据库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基本关系的性质</a:t>
            </a:r>
          </a:p>
          <a:p>
            <a:pPr>
              <a:lnSpc>
                <a:spcPct val="120000"/>
              </a:lnSpc>
              <a:buNone/>
            </a:pPr>
            <a:endParaRPr lang="en-US" altLang="zh-CN" b="1" dirty="0" smtClean="0"/>
          </a:p>
          <a:p>
            <a:pPr lvl="1">
              <a:lnSpc>
                <a:spcPct val="120000"/>
              </a:lnSpc>
              <a:buNone/>
            </a:pPr>
            <a:r>
              <a:rPr lang="zh-CN" altLang="en-US" b="1" dirty="0" smtClean="0"/>
              <a:t>给一个元组</a:t>
            </a:r>
            <a:r>
              <a:rPr lang="en-US" altLang="zh-CN" b="1" dirty="0" smtClean="0"/>
              <a:t>t </a:t>
            </a:r>
            <a:r>
              <a:rPr lang="zh-CN" altLang="en-US" b="1" dirty="0" smtClean="0"/>
              <a:t>和属性</a:t>
            </a:r>
            <a:r>
              <a:rPr lang="en-US" altLang="zh-CN" b="1" dirty="0" smtClean="0"/>
              <a:t> A, </a:t>
            </a:r>
            <a:r>
              <a:rPr lang="zh-CN" altLang="en-US" b="1" dirty="0" smtClean="0"/>
              <a:t>当插入 </a:t>
            </a:r>
            <a:r>
              <a:rPr lang="en-US" altLang="zh-CN" b="1" dirty="0" smtClean="0"/>
              <a:t>t </a:t>
            </a:r>
            <a:r>
              <a:rPr lang="zh-CN" altLang="en-US" b="1" dirty="0" smtClean="0"/>
              <a:t>到关系</a:t>
            </a:r>
            <a:r>
              <a:rPr lang="en-US" altLang="zh-CN" b="1" dirty="0" smtClean="0"/>
              <a:t>R</a:t>
            </a:r>
            <a:r>
              <a:rPr lang="zh-CN" altLang="en-US" b="1" dirty="0" smtClean="0"/>
              <a:t>中时，如有下属情况：</a:t>
            </a:r>
            <a:endParaRPr lang="en-US" altLang="zh-CN" b="1" dirty="0" smtClean="0"/>
          </a:p>
          <a:p>
            <a:pPr lvl="1">
              <a:lnSpc>
                <a:spcPct val="120000"/>
              </a:lnSpc>
              <a:buNone/>
            </a:pP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t[A] is </a:t>
            </a:r>
            <a:r>
              <a:rPr lang="en-US" altLang="zh-CN" b="1" dirty="0" smtClean="0"/>
              <a:t>unknown </a:t>
            </a:r>
            <a:r>
              <a:rPr lang="zh-CN" altLang="en-US" b="1" dirty="0" smtClean="0"/>
              <a:t>（未知）</a:t>
            </a:r>
            <a:r>
              <a:rPr lang="en-US" altLang="zh-CN" b="1" dirty="0" smtClean="0"/>
              <a:t>. 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t[A] is yet to be </a:t>
            </a:r>
            <a:r>
              <a:rPr lang="en-US" altLang="zh-CN" b="1" dirty="0" smtClean="0"/>
              <a:t>assigned</a:t>
            </a:r>
            <a:r>
              <a:rPr lang="zh-CN" altLang="en-US" b="1" dirty="0"/>
              <a:t> （</a:t>
            </a:r>
            <a:r>
              <a:rPr lang="zh-CN" altLang="en-US" b="1" dirty="0" smtClean="0"/>
              <a:t>未分配）</a:t>
            </a:r>
            <a:r>
              <a:rPr lang="en-US" altLang="zh-CN" b="1" dirty="0" smtClean="0"/>
              <a:t>.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t[A] is </a:t>
            </a:r>
            <a:r>
              <a:rPr lang="en-US" altLang="zh-CN" b="1" dirty="0" smtClean="0"/>
              <a:t>inapplicable </a:t>
            </a:r>
            <a:r>
              <a:rPr lang="zh-CN" altLang="en-US" b="1" dirty="0" smtClean="0"/>
              <a:t>（不适用）</a:t>
            </a:r>
            <a:r>
              <a:rPr lang="en-US" altLang="zh-CN" b="1" dirty="0" smtClean="0"/>
              <a:t>.</a:t>
            </a:r>
            <a:endParaRPr lang="en-US" altLang="zh-CN" b="1" dirty="0"/>
          </a:p>
          <a:p>
            <a:pPr>
              <a:lnSpc>
                <a:spcPct val="120000"/>
              </a:lnSpc>
              <a:buNone/>
            </a:pPr>
            <a:endParaRPr lang="en-US" altLang="zh-CN" b="1" dirty="0" smtClean="0"/>
          </a:p>
          <a:p>
            <a:pPr>
              <a:lnSpc>
                <a:spcPct val="120000"/>
              </a:lnSpc>
              <a:buNone/>
            </a:pPr>
            <a:r>
              <a:rPr lang="en-US" altLang="zh-CN" b="1" dirty="0"/>
              <a:t> </a:t>
            </a:r>
            <a:r>
              <a:rPr lang="en-US" altLang="zh-CN" b="1" dirty="0" smtClean="0"/>
              <a:t>    </a:t>
            </a:r>
            <a:r>
              <a:rPr lang="zh-CN" altLang="en-US" b="1" dirty="0" smtClean="0"/>
              <a:t>设置为空值，即 </a:t>
            </a:r>
            <a:r>
              <a:rPr lang="en-US" altLang="zh-CN" b="1" dirty="0" smtClean="0"/>
              <a:t> </a:t>
            </a:r>
            <a:r>
              <a:rPr lang="en-US" altLang="zh-CN" b="1" dirty="0"/>
              <a:t>t[A]: t[A] = null</a:t>
            </a:r>
            <a:r>
              <a:rPr lang="en-US" altLang="zh-CN" b="1" dirty="0" smtClean="0"/>
              <a:t>.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b="1" dirty="0" smtClean="0"/>
              <a:t>     注意</a:t>
            </a:r>
            <a:r>
              <a:rPr lang="zh-CN" altLang="en-US" b="1" dirty="0"/>
              <a:t>：空值与</a:t>
            </a:r>
            <a:r>
              <a:rPr lang="en-US" altLang="zh-CN" b="1" dirty="0"/>
              <a:t>0</a:t>
            </a:r>
            <a:r>
              <a:rPr lang="zh-CN" altLang="en-US" b="1" dirty="0"/>
              <a:t>或空格不同！在</a:t>
            </a:r>
            <a:r>
              <a:rPr lang="en-US" altLang="zh-CN" b="1" dirty="0"/>
              <a:t>SQL</a:t>
            </a:r>
            <a:r>
              <a:rPr lang="zh-CN" altLang="en-US" b="1" dirty="0"/>
              <a:t>中，任何涉及</a:t>
            </a:r>
            <a:r>
              <a:rPr lang="en-US" altLang="zh-CN" b="1" dirty="0"/>
              <a:t>null</a:t>
            </a:r>
            <a:r>
              <a:rPr lang="zh-CN" altLang="en-US" b="1" dirty="0"/>
              <a:t>的算术表达式都将被计算为</a:t>
            </a:r>
            <a:r>
              <a:rPr lang="en-US" altLang="zh-CN" b="1" dirty="0"/>
              <a:t>null</a:t>
            </a:r>
            <a:r>
              <a:rPr lang="zh-CN" altLang="en-US" b="1" dirty="0"/>
              <a:t>。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03927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smtClean="0"/>
              <a:t>2</a:t>
            </a:r>
            <a:r>
              <a:rPr lang="zh-CN" altLang="en-US" sz="3600" dirty="0" smtClean="0"/>
              <a:t>．</a:t>
            </a:r>
            <a:r>
              <a:rPr lang="zh-CN" altLang="en-US" sz="3600" dirty="0"/>
              <a:t>关系数据库</a:t>
            </a:r>
            <a:endParaRPr lang="zh-CN" altLang="en-US" sz="3600" dirty="0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422632"/>
            <a:ext cx="7886700" cy="4351338"/>
          </a:xfrm>
        </p:spPr>
        <p:txBody>
          <a:bodyPr>
            <a:normAutofit fontScale="77500" lnSpcReduction="20000"/>
          </a:bodyPr>
          <a:lstStyle/>
          <a:p>
            <a:pPr algn="just" eaLnBrk="1" hangingPunct="1"/>
            <a:r>
              <a:rPr lang="zh-CN" altLang="en-US" dirty="0" smtClean="0"/>
              <a:t>关系模式可以形式化地表示为：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79710F"/>
                </a:solidFill>
              </a:rPr>
              <a:t>    </a:t>
            </a:r>
            <a:r>
              <a:rPr lang="zh-CN" altLang="en-US" sz="2800" i="1" dirty="0" smtClean="0">
                <a:solidFill>
                  <a:srgbClr val="79710F"/>
                </a:solidFill>
              </a:rPr>
              <a:t>	</a:t>
            </a:r>
            <a:r>
              <a:rPr lang="en-US" altLang="zh-CN" sz="2800" i="1" dirty="0" smtClean="0">
                <a:solidFill>
                  <a:srgbClr val="79710F"/>
                </a:solidFill>
              </a:rPr>
              <a:t>R</a:t>
            </a:r>
            <a:r>
              <a:rPr lang="zh-CN" altLang="en-US" sz="2800" i="1" dirty="0" smtClean="0">
                <a:solidFill>
                  <a:srgbClr val="79710F"/>
                </a:solidFill>
              </a:rPr>
              <a:t>（</a:t>
            </a:r>
            <a:r>
              <a:rPr lang="en-US" altLang="zh-CN" sz="2800" i="1" dirty="0" smtClean="0">
                <a:solidFill>
                  <a:srgbClr val="79710F"/>
                </a:solidFill>
              </a:rPr>
              <a:t>U</a:t>
            </a:r>
            <a:r>
              <a:rPr lang="zh-CN" altLang="en-US" sz="2800" i="1" dirty="0" smtClean="0">
                <a:solidFill>
                  <a:srgbClr val="79710F"/>
                </a:solidFill>
              </a:rPr>
              <a:t>，</a:t>
            </a:r>
            <a:r>
              <a:rPr lang="en-US" altLang="zh-CN" sz="2800" i="1" dirty="0" smtClean="0">
                <a:solidFill>
                  <a:srgbClr val="79710F"/>
                </a:solidFill>
              </a:rPr>
              <a:t>D</a:t>
            </a:r>
            <a:r>
              <a:rPr lang="zh-CN" altLang="en-US" sz="2800" i="1" dirty="0" smtClean="0">
                <a:solidFill>
                  <a:srgbClr val="79710F"/>
                </a:solidFill>
              </a:rPr>
              <a:t>，</a:t>
            </a:r>
            <a:r>
              <a:rPr lang="en-US" altLang="zh-CN" sz="2800" i="1" dirty="0" smtClean="0">
                <a:solidFill>
                  <a:srgbClr val="79710F"/>
                </a:solidFill>
              </a:rPr>
              <a:t>DOM</a:t>
            </a:r>
            <a:r>
              <a:rPr lang="zh-CN" altLang="en-US" sz="2800" i="1" dirty="0" smtClean="0">
                <a:solidFill>
                  <a:srgbClr val="79710F"/>
                </a:solidFill>
              </a:rPr>
              <a:t>，</a:t>
            </a:r>
            <a:r>
              <a:rPr lang="en-US" altLang="zh-CN" sz="2800" i="1" dirty="0" smtClean="0">
                <a:solidFill>
                  <a:srgbClr val="79710F"/>
                </a:solidFill>
              </a:rPr>
              <a:t>F</a:t>
            </a:r>
            <a:r>
              <a:rPr lang="zh-CN" altLang="en-US" sz="2800" i="1" dirty="0" smtClean="0">
                <a:solidFill>
                  <a:srgbClr val="79710F"/>
                </a:solidFill>
              </a:rPr>
              <a:t>）</a:t>
            </a:r>
            <a:endParaRPr lang="zh-CN" altLang="en-US" i="1" dirty="0" smtClean="0">
              <a:solidFill>
                <a:srgbClr val="79710F"/>
              </a:solidFill>
            </a:endParaRP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i="1" dirty="0" smtClean="0"/>
              <a:t>		</a:t>
            </a:r>
            <a:r>
              <a:rPr lang="en-US" altLang="zh-CN" i="1" dirty="0" smtClean="0"/>
              <a:t>R       	     </a:t>
            </a:r>
            <a:r>
              <a:rPr lang="zh-CN" altLang="en-US" dirty="0" smtClean="0"/>
              <a:t>关系名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i="1" dirty="0" smtClean="0"/>
              <a:t>		</a:t>
            </a:r>
            <a:r>
              <a:rPr lang="en-US" altLang="zh-CN" i="1" dirty="0" smtClean="0"/>
              <a:t>U</a:t>
            </a:r>
            <a:r>
              <a:rPr lang="en-US" altLang="zh-CN" dirty="0" smtClean="0"/>
              <a:t>       	     </a:t>
            </a:r>
            <a:r>
              <a:rPr lang="zh-CN" altLang="en-US" dirty="0" smtClean="0"/>
              <a:t>组成该关系的属性名集合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i="1" dirty="0" smtClean="0"/>
              <a:t>		</a:t>
            </a:r>
            <a:r>
              <a:rPr lang="en-US" altLang="zh-CN" i="1" dirty="0" smtClean="0"/>
              <a:t>D</a:t>
            </a:r>
            <a:r>
              <a:rPr lang="en-US" altLang="zh-CN" dirty="0" smtClean="0"/>
              <a:t>       	     </a:t>
            </a:r>
            <a:r>
              <a:rPr lang="en-US" altLang="zh-CN" i="1" dirty="0" smtClean="0"/>
              <a:t>U</a:t>
            </a:r>
            <a:r>
              <a:rPr lang="zh-CN" altLang="en-US" dirty="0" smtClean="0"/>
              <a:t>中属性所来自的域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dirty="0" smtClean="0"/>
              <a:t>		</a:t>
            </a:r>
            <a:r>
              <a:rPr lang="en-US" altLang="zh-CN" dirty="0" smtClean="0"/>
              <a:t>DOM  	     </a:t>
            </a:r>
            <a:r>
              <a:rPr lang="zh-CN" altLang="en-US" dirty="0" smtClean="0"/>
              <a:t>属性向域的映象集合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i="1" dirty="0" smtClean="0"/>
              <a:t>		</a:t>
            </a:r>
            <a:r>
              <a:rPr lang="en-US" altLang="zh-CN" i="1" dirty="0" smtClean="0"/>
              <a:t>F</a:t>
            </a:r>
            <a:r>
              <a:rPr lang="en-US" altLang="zh-CN" dirty="0" smtClean="0"/>
              <a:t>        	     </a:t>
            </a:r>
            <a:r>
              <a:rPr lang="zh-CN" altLang="en-US" dirty="0" smtClean="0"/>
              <a:t>属性间数据的依赖关系的集合</a:t>
            </a:r>
            <a:endParaRPr lang="en-US" altLang="zh-CN" dirty="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en-US" altLang="zh-CN" dirty="0"/>
          </a:p>
          <a:p>
            <a:r>
              <a:rPr lang="zh-CN" altLang="en-US" dirty="0"/>
              <a:t>关系模式通常可以简记为</a:t>
            </a:r>
          </a:p>
          <a:p>
            <a:pPr>
              <a:buNone/>
            </a:pPr>
            <a:r>
              <a:rPr lang="zh-CN" altLang="en-US" dirty="0"/>
              <a:t> 	</a:t>
            </a:r>
            <a:r>
              <a:rPr lang="en-US" altLang="zh-CN" i="1" dirty="0"/>
              <a:t>R (U)    </a:t>
            </a:r>
            <a:r>
              <a:rPr lang="zh-CN" altLang="en-US" i="1" dirty="0"/>
              <a:t>或    </a:t>
            </a:r>
            <a:r>
              <a:rPr lang="en-US" altLang="zh-CN" i="1" dirty="0"/>
              <a:t>R (A</a:t>
            </a:r>
            <a:r>
              <a:rPr lang="en-US" altLang="zh-CN" i="1" baseline="-25000" dirty="0"/>
              <a:t>1</a:t>
            </a:r>
            <a:r>
              <a:rPr lang="zh-CN" altLang="en-US" i="1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2</a:t>
            </a:r>
            <a:r>
              <a:rPr lang="zh-CN" altLang="en-US" i="1" dirty="0"/>
              <a:t>，</a:t>
            </a:r>
            <a:r>
              <a:rPr lang="en-US" altLang="zh-CN" i="1" dirty="0"/>
              <a:t>…</a:t>
            </a:r>
            <a:r>
              <a:rPr lang="zh-CN" altLang="en-US" i="1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)</a:t>
            </a:r>
          </a:p>
          <a:p>
            <a:pPr lvl="1">
              <a:lnSpc>
                <a:spcPct val="130000"/>
              </a:lnSpc>
              <a:buSzPct val="85000"/>
            </a:pPr>
            <a:r>
              <a:rPr lang="en-US" altLang="zh-CN" i="1" dirty="0"/>
              <a:t>R: </a:t>
            </a:r>
            <a:r>
              <a:rPr lang="zh-CN" altLang="en-US" dirty="0"/>
              <a:t>关系名</a:t>
            </a:r>
          </a:p>
          <a:p>
            <a:pPr lvl="1">
              <a:lnSpc>
                <a:spcPct val="130000"/>
              </a:lnSpc>
              <a:buSzPct val="75000"/>
            </a:pP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  </a:t>
            </a:r>
            <a:r>
              <a:rPr lang="en-US" altLang="zh-CN" dirty="0"/>
              <a:t>: </a:t>
            </a:r>
            <a:r>
              <a:rPr lang="zh-CN" altLang="en-US" dirty="0"/>
              <a:t>属性名</a:t>
            </a:r>
          </a:p>
          <a:p>
            <a:pPr lvl="1">
              <a:lnSpc>
                <a:spcPct val="170000"/>
              </a:lnSpc>
              <a:buNone/>
            </a:pPr>
            <a:r>
              <a:rPr lang="zh-CN" altLang="en-US" dirty="0"/>
              <a:t>注：域名及属性向域的映象常常直接说明</a:t>
            </a:r>
            <a:r>
              <a:rPr lang="zh-CN" altLang="en-US" dirty="0" smtClean="0"/>
              <a:t>为属性</a:t>
            </a:r>
            <a:r>
              <a:rPr lang="zh-CN" altLang="en-US" dirty="0"/>
              <a:t>的类型、长度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zh-CN" alt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90012"/>
            <a:ext cx="9144000" cy="126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3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smtClean="0"/>
              <a:t>2. </a:t>
            </a:r>
            <a:r>
              <a:rPr lang="zh-CN" altLang="en-US" sz="3600" dirty="0" smtClean="0"/>
              <a:t>关系数据库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458200" cy="51847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400" dirty="0" smtClean="0"/>
              <a:t> </a:t>
            </a:r>
            <a:r>
              <a:rPr lang="zh-CN" altLang="en-US" dirty="0" smtClean="0"/>
              <a:t>常用的关系操作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查询操作：选择、投影、连接、除、并、差、交、笛卡尔积</a:t>
            </a:r>
            <a:endParaRPr lang="en-US" altLang="zh-CN" dirty="0" smtClean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 smtClean="0"/>
              <a:t>选择、投影、并、差、笛卡尔基是</a:t>
            </a:r>
            <a:r>
              <a:rPr lang="en-US" altLang="zh-CN" sz="2200" dirty="0" smtClean="0"/>
              <a:t>5</a:t>
            </a:r>
            <a:r>
              <a:rPr lang="zh-CN" altLang="en-US" sz="2200" dirty="0" smtClean="0"/>
              <a:t>种基本操作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数据更新：插入、删除、修改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关系操作的特点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 smtClean="0"/>
              <a:t>集合操作方式：操作的对象和结果都是集合，</a:t>
            </a:r>
            <a:r>
              <a:rPr lang="zh-CN" altLang="en-US" dirty="0" smtClean="0">
                <a:solidFill>
                  <a:srgbClr val="FF00FF"/>
                </a:solidFill>
              </a:rPr>
              <a:t>一次一集合</a:t>
            </a:r>
            <a:r>
              <a:rPr lang="zh-CN" altLang="en-US" dirty="0" smtClean="0"/>
              <a:t>的方式</a:t>
            </a:r>
          </a:p>
        </p:txBody>
      </p:sp>
    </p:spTree>
    <p:extLst>
      <p:ext uri="{BB962C8B-B14F-4D97-AF65-F5344CB8AC3E}">
        <p14:creationId xmlns:p14="http://schemas.microsoft.com/office/powerpoint/2010/main" val="393932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</a:t>
            </a:r>
            <a:r>
              <a:rPr lang="zh-CN" altLang="en-US" sz="3600" dirty="0"/>
              <a:t>关系的三类完整性约束</a:t>
            </a:r>
            <a:endParaRPr lang="zh-CN" altLang="en-US" sz="36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1220275"/>
            <a:ext cx="9144000" cy="271727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5250" y="5319423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</a:t>
            </a:r>
            <a:r>
              <a:rPr lang="zh-CN" altLang="en-US" dirty="0" smtClean="0"/>
              <a:t>下面语句插入数据，会不会出错？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30" y="5829729"/>
            <a:ext cx="8396270" cy="45738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836" y="3680894"/>
            <a:ext cx="4582164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47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</a:t>
            </a:r>
            <a:r>
              <a:rPr lang="zh-CN" altLang="en-US" sz="3600" dirty="0"/>
              <a:t>关系的三类完整性约束</a:t>
            </a:r>
            <a:endParaRPr lang="zh-CN" altLang="en-US" sz="36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1220275"/>
            <a:ext cx="9144000" cy="271727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41" y="5214354"/>
            <a:ext cx="8549633" cy="63780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8296" y="4508390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</a:t>
            </a:r>
            <a:r>
              <a:rPr lang="zh-CN" altLang="en-US" dirty="0" smtClean="0"/>
              <a:t>下面语句插入数据，会不会出错？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087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</a:t>
            </a:r>
            <a:r>
              <a:rPr lang="zh-CN" altLang="en-US" sz="3600" dirty="0"/>
              <a:t>关系的三类完整性约束</a:t>
            </a:r>
            <a:endParaRPr lang="zh-CN" altLang="en-US" sz="3600" dirty="0" smtClean="0"/>
          </a:p>
        </p:txBody>
      </p:sp>
      <p:sp>
        <p:nvSpPr>
          <p:cNvPr id="5" name="文本框 4"/>
          <p:cNvSpPr txBox="1"/>
          <p:nvPr/>
        </p:nvSpPr>
        <p:spPr>
          <a:xfrm>
            <a:off x="208868" y="4842345"/>
            <a:ext cx="7241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如果在</a:t>
            </a:r>
            <a:r>
              <a:rPr lang="en-US" altLang="zh-CN" dirty="0" smtClean="0"/>
              <a:t>SC</a:t>
            </a:r>
            <a:r>
              <a:rPr lang="zh-CN" altLang="en-US" dirty="0" smtClean="0"/>
              <a:t>表格插入“</a:t>
            </a:r>
            <a:r>
              <a:rPr lang="en-US" altLang="zh-CN" b="1" dirty="0" smtClean="0">
                <a:latin typeface="Arial" panose="020B0604020202020204" pitchFamily="34" charset="0"/>
              </a:rPr>
              <a:t>201215122</a:t>
            </a:r>
            <a:r>
              <a:rPr lang="zh-CN" altLang="en-US" b="1" dirty="0" smtClean="0">
                <a:latin typeface="Arial" panose="020B0604020202020204" pitchFamily="34" charset="0"/>
              </a:rPr>
              <a:t>，</a:t>
            </a:r>
            <a:r>
              <a:rPr lang="en-US" altLang="zh-CN" b="1" dirty="0" smtClean="0">
                <a:latin typeface="Arial" panose="020B0604020202020204" pitchFamily="34" charset="0"/>
              </a:rPr>
              <a:t>8</a:t>
            </a:r>
            <a:r>
              <a:rPr lang="zh-CN" altLang="en-US" b="1" dirty="0" smtClean="0">
                <a:latin typeface="Arial" panose="020B0604020202020204" pitchFamily="34" charset="0"/>
              </a:rPr>
              <a:t>，</a:t>
            </a:r>
            <a:r>
              <a:rPr lang="en-US" altLang="zh-CN" b="1" dirty="0" smtClean="0">
                <a:latin typeface="Arial" panose="020B0604020202020204" pitchFamily="34" charset="0"/>
              </a:rPr>
              <a:t>90</a:t>
            </a:r>
            <a:r>
              <a:rPr lang="zh-CN" altLang="en-US" dirty="0" smtClean="0"/>
              <a:t>”，是否可以？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6" name="Group 57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4566921"/>
              </p:ext>
            </p:extLst>
          </p:nvPr>
        </p:nvGraphicFramePr>
        <p:xfrm>
          <a:off x="278296" y="1557544"/>
          <a:ext cx="5086102" cy="2582781"/>
        </p:xfrm>
        <a:graphic>
          <a:graphicData uri="http://schemas.openxmlformats.org/drawingml/2006/table">
            <a:tbl>
              <a:tblPr/>
              <a:tblGrid>
                <a:gridCol w="1272081"/>
                <a:gridCol w="1346451"/>
                <a:gridCol w="1196599"/>
                <a:gridCol w="1270971"/>
              </a:tblGrid>
              <a:tr h="4655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Cname</a:t>
                      </a:r>
                      <a:endParaRPr kumimoji="0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先行课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Cpno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Ccredit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5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5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数学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5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信息系统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5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操作系统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5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数据结构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5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数据处理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9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PASCAL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语言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502"/>
          <p:cNvSpPr txBox="1">
            <a:spLocks noChangeArrowheads="1"/>
          </p:cNvSpPr>
          <p:nvPr/>
        </p:nvSpPr>
        <p:spPr bwMode="auto">
          <a:xfrm>
            <a:off x="1042988" y="1052513"/>
            <a:ext cx="1154112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1" dirty="0"/>
              <a:t>Course</a:t>
            </a:r>
          </a:p>
        </p:txBody>
      </p:sp>
      <p:sp>
        <p:nvSpPr>
          <p:cNvPr id="8" name="Rectangle 185"/>
          <p:cNvSpPr>
            <a:spLocks noChangeArrowheads="1"/>
          </p:cNvSpPr>
          <p:nvPr/>
        </p:nvSpPr>
        <p:spPr bwMode="auto">
          <a:xfrm>
            <a:off x="5528250" y="1196296"/>
            <a:ext cx="886976" cy="23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200" b="1" dirty="0"/>
              <a:t>SC</a:t>
            </a:r>
          </a:p>
        </p:txBody>
      </p:sp>
      <p:graphicFrame>
        <p:nvGraphicFramePr>
          <p:cNvPr id="9" name="Group 38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6229018"/>
              </p:ext>
            </p:extLst>
          </p:nvPr>
        </p:nvGraphicFramePr>
        <p:xfrm>
          <a:off x="5475716" y="1664208"/>
          <a:ext cx="3668284" cy="2097780"/>
        </p:xfrm>
        <a:graphic>
          <a:graphicData uri="http://schemas.openxmlformats.org/drawingml/2006/table">
            <a:tbl>
              <a:tblPr/>
              <a:tblGrid>
                <a:gridCol w="1222761"/>
                <a:gridCol w="1222762"/>
                <a:gridCol w="1222761"/>
              </a:tblGrid>
              <a:tr h="56097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Grade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83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83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85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83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88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83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83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74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</a:t>
            </a:r>
            <a:r>
              <a:rPr lang="zh-CN" altLang="en-US" sz="3600" dirty="0"/>
              <a:t>关系的三类完整性约束</a:t>
            </a:r>
            <a:endParaRPr lang="zh-CN" altLang="en-US" sz="3600" dirty="0" smtClean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098550"/>
            <a:ext cx="8204200" cy="4932363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dirty="0"/>
              <a:t>现实世界中仍然有许多事物很难用现有的方法进行建模。因此，我们在信息世界中建模这些事物的时候，通常需要附加一定的约束。</a:t>
            </a:r>
          </a:p>
          <a:p>
            <a:pPr algn="just">
              <a:lnSpc>
                <a:spcPct val="140000"/>
              </a:lnSpc>
            </a:pPr>
            <a:r>
              <a:rPr lang="zh-CN" altLang="en-US" dirty="0"/>
              <a:t>在关系模型中，有三类完整性约束：</a:t>
            </a:r>
          </a:p>
          <a:p>
            <a:pPr lvl="1" algn="just">
              <a:lnSpc>
                <a:spcPct val="140000"/>
              </a:lnSpc>
            </a:pPr>
            <a:r>
              <a:rPr lang="zh-CN" altLang="en-US" dirty="0"/>
              <a:t>实体完整性约束（</a:t>
            </a:r>
            <a:r>
              <a:rPr lang="en-US" altLang="zh-CN" dirty="0"/>
              <a:t>entity integrity constraint</a:t>
            </a:r>
            <a:r>
              <a:rPr lang="zh-CN" altLang="en-US" dirty="0"/>
              <a:t>）</a:t>
            </a:r>
          </a:p>
          <a:p>
            <a:pPr lvl="1" algn="just">
              <a:lnSpc>
                <a:spcPct val="140000"/>
              </a:lnSpc>
            </a:pPr>
            <a:r>
              <a:rPr lang="zh-CN" altLang="en-US" dirty="0"/>
              <a:t>参照完整性约束（</a:t>
            </a:r>
            <a:r>
              <a:rPr lang="en-US" altLang="zh-CN" dirty="0"/>
              <a:t>referential integrity constraint</a:t>
            </a:r>
            <a:r>
              <a:rPr lang="zh-CN" altLang="en-US" dirty="0"/>
              <a:t>）</a:t>
            </a:r>
          </a:p>
          <a:p>
            <a:pPr lvl="1" algn="just">
              <a:lnSpc>
                <a:spcPct val="140000"/>
              </a:lnSpc>
            </a:pPr>
            <a:r>
              <a:rPr lang="zh-CN" altLang="en-US" dirty="0"/>
              <a:t>用户定义完整性约束（</a:t>
            </a:r>
            <a:r>
              <a:rPr lang="en-US" altLang="zh-CN" dirty="0"/>
              <a:t>user-defined integrity constraint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4467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/>
              <a:t>3.1 </a:t>
            </a:r>
            <a:r>
              <a:rPr lang="zh-CN" altLang="en-US" sz="3600" dirty="0" smtClean="0"/>
              <a:t>实体完整性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40000"/>
              </a:lnSpc>
            </a:pPr>
            <a:r>
              <a:rPr lang="zh-CN" altLang="en-US" b="1" dirty="0"/>
              <a:t>实体完整性约束</a:t>
            </a:r>
            <a:endParaRPr lang="en-US" altLang="zh-CN" b="1" dirty="0"/>
          </a:p>
          <a:p>
            <a:pPr lvl="1" algn="just">
              <a:lnSpc>
                <a:spcPct val="140000"/>
              </a:lnSpc>
            </a:pPr>
            <a:r>
              <a:rPr lang="zh-CN" altLang="en-US" dirty="0"/>
              <a:t>规范设计的关系数据库中的每个元组都应该是唯一且可区分的。例如，在学生关系数据库中，不应该出现两个表示学生实体的</a:t>
            </a:r>
            <a:r>
              <a:rPr lang="zh-CN" altLang="en-US" dirty="0">
                <a:solidFill>
                  <a:srgbClr val="FF0000"/>
                </a:solidFill>
              </a:rPr>
              <a:t>相同元组</a:t>
            </a:r>
            <a:r>
              <a:rPr lang="zh-CN" altLang="en-US" dirty="0"/>
              <a:t>，并且在学生关系数据库中的学生实体之间是</a:t>
            </a:r>
            <a:r>
              <a:rPr lang="zh-CN" altLang="en-US" dirty="0">
                <a:solidFill>
                  <a:srgbClr val="FF0000"/>
                </a:solidFill>
              </a:rPr>
              <a:t>可以相互区分</a:t>
            </a:r>
            <a:r>
              <a:rPr lang="zh-CN" altLang="en-US" dirty="0"/>
              <a:t>的。</a:t>
            </a:r>
            <a:endParaRPr lang="en-US" altLang="zh-CN" dirty="0"/>
          </a:p>
          <a:p>
            <a:pPr lvl="1" algn="just">
              <a:lnSpc>
                <a:spcPct val="140000"/>
              </a:lnSpc>
            </a:pPr>
            <a:r>
              <a:rPr lang="zh-CN" altLang="en-US" dirty="0"/>
              <a:t>实体完整性约束可以保证关系数据库的上述特性，实体完整性约束主要是</a:t>
            </a:r>
            <a:r>
              <a:rPr lang="zh-CN" altLang="en-US" dirty="0">
                <a:solidFill>
                  <a:srgbClr val="FF0000"/>
                </a:solidFill>
              </a:rPr>
              <a:t>通过在关系表中实施主键取值约束</a:t>
            </a:r>
            <a:r>
              <a:rPr lang="zh-CN" altLang="en-US" dirty="0"/>
              <a:t>，来保证关系中的每个元组可以被唯一识别。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2347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/>
              <a:t>3.1 </a:t>
            </a:r>
            <a:r>
              <a:rPr lang="zh-CN" altLang="en-US" sz="3600" dirty="0" smtClean="0"/>
              <a:t>实体完整性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17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23900" y="1441342"/>
                <a:ext cx="7886700" cy="4967207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>
                  <a:lnSpc>
                    <a:spcPct val="140000"/>
                  </a:lnSpc>
                </a:pPr>
                <a:r>
                  <a:rPr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实体完整性约束规则</a:t>
                </a:r>
                <a:endParaRPr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685800" lvl="2" algn="just">
                  <a:lnSpc>
                    <a:spcPct val="15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如果键</a:t>
                </a:r>
                <a14:m>
                  <m:oMath xmlns:m="http://schemas.openxmlformats.org/officeDocument/2006/math">
                    <m:r>
                      <a:rPr lang="en-US" altLang="zh-CN"/>
                      <m:t>𝐾</m:t>
                    </m:r>
                  </m:oMath>
                </a14:m>
                <a:r>
                  <a:rPr lang="zh-CN" altLang="zh-CN" dirty="0"/>
                  <a:t>是关系</a:t>
                </a:r>
                <a14:m>
                  <m:oMath xmlns:m="http://schemas.openxmlformats.org/officeDocument/2006/math">
                    <m:r>
                      <a:rPr lang="en-US" altLang="zh-CN"/>
                      <m:t>𝑅</m:t>
                    </m:r>
                  </m:oMath>
                </a14:m>
                <a:r>
                  <a:rPr lang="zh-CN" altLang="zh-CN" dirty="0"/>
                  <a:t>的主键，则</a:t>
                </a:r>
                <a14:m>
                  <m:oMath xmlns:m="http://schemas.openxmlformats.org/officeDocument/2006/math">
                    <m:r>
                      <a:rPr lang="en-US" altLang="zh-CN"/>
                      <m:t>𝐾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不能取空值</a:t>
                </a:r>
                <a:r>
                  <a:rPr lang="zh-CN" altLang="zh-CN" dirty="0"/>
                  <a:t>；</a:t>
                </a:r>
              </a:p>
              <a:p>
                <a:pPr marL="685800" lvl="2" algn="just">
                  <a:lnSpc>
                    <a:spcPct val="15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如果关系</a:t>
                </a:r>
                <a14:m>
                  <m:oMath xmlns:m="http://schemas.openxmlformats.org/officeDocument/2006/math">
                    <m:r>
                      <a:rPr lang="en-US" altLang="zh-CN"/>
                      <m:t>𝑅</m:t>
                    </m:r>
                  </m:oMath>
                </a14:m>
                <a:r>
                  <a:rPr lang="zh-CN" altLang="zh-CN" dirty="0"/>
                  <a:t>的主键</a:t>
                </a:r>
                <a14:m>
                  <m:oMath xmlns:m="http://schemas.openxmlformats.org/officeDocument/2006/math">
                    <m:r>
                      <a:rPr lang="en-US" altLang="zh-CN" smtClean="0">
                        <a:solidFill>
                          <a:srgbClr val="FF0000"/>
                        </a:solidFill>
                      </a:rPr>
                      <m:t>𝐾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是复合键</a:t>
                </a:r>
                <a:r>
                  <a:rPr lang="zh-CN" altLang="zh-CN" dirty="0"/>
                  <a:t>，则构成复合键的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多个属性均不能取空值</a:t>
                </a:r>
                <a:r>
                  <a:rPr lang="zh-CN" altLang="en-US" dirty="0"/>
                  <a:t>；</a:t>
                </a:r>
                <a:endParaRPr lang="zh-CN" altLang="zh-CN" dirty="0"/>
              </a:p>
              <a:p>
                <a:pPr marL="685800" lvl="2" algn="just">
                  <a:lnSpc>
                    <a:spcPct val="15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如果键</a:t>
                </a:r>
                <a14:m>
                  <m:oMath xmlns:m="http://schemas.openxmlformats.org/officeDocument/2006/math">
                    <m:r>
                      <a:rPr lang="en-US" altLang="zh-CN"/>
                      <m:t>𝐾</m:t>
                    </m:r>
                  </m:oMath>
                </a14:m>
                <a:r>
                  <a:rPr lang="zh-CN" altLang="zh-CN" dirty="0"/>
                  <a:t>是关系</a:t>
                </a:r>
                <a14:m>
                  <m:oMath xmlns:m="http://schemas.openxmlformats.org/officeDocument/2006/math">
                    <m:r>
                      <a:rPr lang="en-US" altLang="zh-CN"/>
                      <m:t>𝑅</m:t>
                    </m:r>
                  </m:oMath>
                </a14:m>
                <a:r>
                  <a:rPr lang="zh-CN" altLang="zh-CN" dirty="0"/>
                  <a:t>的主键，则</a:t>
                </a:r>
                <a14:m>
                  <m:oMath xmlns:m="http://schemas.openxmlformats.org/officeDocument/2006/math">
                    <m:r>
                      <a:rPr lang="en-US" altLang="zh-CN"/>
                      <m:t>𝐾</m:t>
                    </m:r>
                  </m:oMath>
                </a14:m>
                <a:r>
                  <a:rPr lang="zh-CN" altLang="zh-CN" dirty="0"/>
                  <a:t>的取值</a:t>
                </a:r>
                <a:r>
                  <a:rPr lang="zh-CN" altLang="zh-CN" dirty="0" smtClean="0">
                    <a:solidFill>
                      <a:srgbClr val="FF0000"/>
                    </a:solidFill>
                  </a:rPr>
                  <a:t>不能在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FF0000"/>
                        </a:solidFill>
                      </a:rPr>
                      <m:t>𝑅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中重复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b="1" dirty="0"/>
                  <a:t>实体完整性检查规则</a:t>
                </a:r>
                <a:endParaRPr lang="en-US" altLang="zh-CN" b="1" dirty="0"/>
              </a:p>
              <a:p>
                <a:pPr marL="685800" lvl="2" algn="just">
                  <a:lnSpc>
                    <a:spcPct val="15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检查关系</a:t>
                </a:r>
                <a14:m>
                  <m:oMath xmlns:m="http://schemas.openxmlformats.org/officeDocument/2006/math">
                    <m:r>
                      <a:rPr lang="en-US" altLang="zh-CN"/>
                      <m:t>𝑅</m:t>
                    </m:r>
                  </m:oMath>
                </a14:m>
                <a:r>
                  <a:rPr lang="zh-CN" altLang="zh-CN" dirty="0"/>
                  <a:t>的主键</a:t>
                </a:r>
                <a14:m>
                  <m:oMath xmlns:m="http://schemas.openxmlformats.org/officeDocument/2006/math">
                    <m:r>
                      <a:rPr lang="en-US" altLang="zh-CN"/>
                      <m:t>𝐾</m:t>
                    </m:r>
                  </m:oMath>
                </a14:m>
                <a:r>
                  <a:rPr lang="zh-CN" altLang="zh-CN" dirty="0"/>
                  <a:t>的值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是否唯一</a:t>
                </a:r>
                <a:r>
                  <a:rPr lang="zh-CN" altLang="zh-CN" dirty="0"/>
                  <a:t>，如果不唯一或者为空，则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拒绝</a:t>
                </a:r>
                <a:r>
                  <a:rPr lang="zh-CN" altLang="zh-CN" dirty="0"/>
                  <a:t>插入或者修改元组数据；</a:t>
                </a:r>
                <a:endParaRPr lang="en-US" altLang="zh-CN" dirty="0"/>
              </a:p>
              <a:p>
                <a:pPr marL="685800" lvl="2" algn="just">
                  <a:lnSpc>
                    <a:spcPct val="15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如果关系</a:t>
                </a:r>
                <a14:m>
                  <m:oMath xmlns:m="http://schemas.openxmlformats.org/officeDocument/2006/math">
                    <m:r>
                      <a:rPr lang="en-US" altLang="zh-CN"/>
                      <m:t>𝑅</m:t>
                    </m:r>
                  </m:oMath>
                </a14:m>
                <a:r>
                  <a:rPr lang="zh-CN" altLang="zh-CN" dirty="0"/>
                  <a:t>的主键</a:t>
                </a:r>
                <a14:m>
                  <m:oMath xmlns:m="http://schemas.openxmlformats.org/officeDocument/2006/math">
                    <m:r>
                      <a:rPr lang="en-US" altLang="zh-CN"/>
                      <m:t>𝐾</m:t>
                    </m:r>
                  </m:oMath>
                </a14:m>
                <a:r>
                  <a:rPr lang="zh-CN" altLang="zh-CN" dirty="0"/>
                  <a:t>是复合键，检查</a:t>
                </a:r>
                <a14:m>
                  <m:oMath xmlns:m="http://schemas.openxmlformats.org/officeDocument/2006/math">
                    <m:r>
                      <a:rPr lang="en-US" altLang="zh-CN"/>
                      <m:t>𝐾</m:t>
                    </m:r>
                  </m:oMath>
                </a14:m>
                <a:r>
                  <a:rPr lang="zh-CN" altLang="zh-CN" dirty="0"/>
                  <a:t>的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各个属性是否为空</a:t>
                </a:r>
                <a:r>
                  <a:rPr lang="zh-CN" altLang="zh-CN" dirty="0"/>
                  <a:t>。如果有一个为空或者复合键不唯一，则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拒绝插入或修改元组数据</a:t>
                </a:r>
                <a:r>
                  <a:rPr lang="zh-CN" altLang="zh-CN" dirty="0"/>
                  <a:t>。</a:t>
                </a:r>
              </a:p>
            </p:txBody>
          </p:sp>
        </mc:Choice>
        <mc:Fallback>
          <p:sp>
            <p:nvSpPr>
              <p:cNvPr id="501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3900" y="1441342"/>
                <a:ext cx="7886700" cy="4967207"/>
              </a:xfrm>
              <a:blipFill rotWithShape="0">
                <a:blip r:embed="rId2"/>
                <a:stretch>
                  <a:fillRect l="-1236" t="-245" r="-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31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9">
            <a:extLst>
              <a:ext uri="{FF2B5EF4-FFF2-40B4-BE49-F238E27FC236}">
                <a16:creationId xmlns:a16="http://schemas.microsoft.com/office/drawing/2014/main" xmlns="" id="{4BFABE2B-B80E-4DE0-871A-388ED0B099A5}"/>
              </a:ext>
            </a:extLst>
          </p:cNvPr>
          <p:cNvSpPr/>
          <p:nvPr/>
        </p:nvSpPr>
        <p:spPr>
          <a:xfrm rot="10800000">
            <a:off x="2000295" y="4074847"/>
            <a:ext cx="4700543" cy="1325828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6000"/>
                </a:srgbClr>
              </a:gs>
              <a:gs pos="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2" name="Shape9">
            <a:extLst>
              <a:ext uri="{FF2B5EF4-FFF2-40B4-BE49-F238E27FC236}">
                <a16:creationId xmlns:a16="http://schemas.microsoft.com/office/drawing/2014/main" xmlns="" id="{4BFABE2B-B80E-4DE0-871A-388ED0B099A5}"/>
              </a:ext>
            </a:extLst>
          </p:cNvPr>
          <p:cNvSpPr/>
          <p:nvPr/>
        </p:nvSpPr>
        <p:spPr>
          <a:xfrm rot="10800000">
            <a:off x="33287" y="2215607"/>
            <a:ext cx="4711596" cy="1336471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6000"/>
                </a:srgbClr>
              </a:gs>
              <a:gs pos="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4" name="Shape9">
            <a:extLst>
              <a:ext uri="{FF2B5EF4-FFF2-40B4-BE49-F238E27FC236}">
                <a16:creationId xmlns:a16="http://schemas.microsoft.com/office/drawing/2014/main" xmlns="" id="{4BFABE2B-B80E-4DE0-871A-388ED0B099A5}"/>
              </a:ext>
            </a:extLst>
          </p:cNvPr>
          <p:cNvSpPr/>
          <p:nvPr/>
        </p:nvSpPr>
        <p:spPr>
          <a:xfrm rot="10800000">
            <a:off x="4883046" y="2237633"/>
            <a:ext cx="4203804" cy="1336471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6000"/>
                </a:srgbClr>
              </a:gs>
              <a:gs pos="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500" b="1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8" name="内容占位符 4">
            <a:extLst>
              <a:ext uri="{FF2B5EF4-FFF2-40B4-BE49-F238E27FC236}">
                <a16:creationId xmlns:a16="http://schemas.microsoft.com/office/drawing/2014/main" xmlns="" id="{4C8AC452-71F5-FA55-E040-EFB37917C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758203"/>
            <a:ext cx="7911935" cy="50885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b="1" dirty="0"/>
              <a:t>实体完整性约束示例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111EB470-3A57-AEA7-4694-DE7F7AD47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6" y="2330826"/>
            <a:ext cx="4581392" cy="117509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409178A0-683C-1E32-9B02-AF3D2C794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678" y="2320193"/>
            <a:ext cx="4343400" cy="117509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B440FB28-FD4A-3172-8044-00947C451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951" y="4153660"/>
            <a:ext cx="3682940" cy="157488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CBFCEF9D-45C6-2808-4219-1F4233F4CFA6}"/>
              </a:ext>
            </a:extLst>
          </p:cNvPr>
          <p:cNvSpPr txBox="1"/>
          <p:nvPr/>
        </p:nvSpPr>
        <p:spPr>
          <a:xfrm>
            <a:off x="251464" y="3552079"/>
            <a:ext cx="4572000" cy="40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zh-CN" sz="13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违反实体完整性约束规则（</a:t>
            </a:r>
            <a:r>
              <a:rPr lang="en-US" altLang="zh-CN" sz="13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3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）的</a:t>
            </a:r>
            <a:r>
              <a:rPr lang="en-US" altLang="zh-CN" sz="13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</a:t>
            </a:r>
            <a:r>
              <a:rPr lang="zh-CN" altLang="zh-CN" sz="13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关系表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B4BFA9AE-548F-55B7-CE6F-E7F761966431}"/>
              </a:ext>
            </a:extLst>
          </p:cNvPr>
          <p:cNvSpPr txBox="1"/>
          <p:nvPr/>
        </p:nvSpPr>
        <p:spPr>
          <a:xfrm>
            <a:off x="4883046" y="3539592"/>
            <a:ext cx="4572000" cy="40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0025" indent="95250" algn="ctr">
              <a:lnSpc>
                <a:spcPct val="150000"/>
              </a:lnSpc>
            </a:pPr>
            <a:r>
              <a:rPr lang="zh-CN" altLang="zh-CN" sz="13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违反实体完整性约束规则（</a:t>
            </a:r>
            <a:r>
              <a:rPr lang="en-US" altLang="zh-CN" sz="13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3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）的</a:t>
            </a:r>
            <a:r>
              <a:rPr lang="en-US" altLang="zh-CN" sz="13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</a:t>
            </a:r>
            <a:r>
              <a:rPr lang="zh-CN" altLang="zh-CN" sz="13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关系表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F10A83E7-58C0-0023-6B45-CB365D499389}"/>
              </a:ext>
            </a:extLst>
          </p:cNvPr>
          <p:cNvSpPr txBox="1"/>
          <p:nvPr/>
        </p:nvSpPr>
        <p:spPr>
          <a:xfrm>
            <a:off x="3432522" y="5407498"/>
            <a:ext cx="315753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符合</a:t>
            </a:r>
            <a:r>
              <a:rPr lang="zh-CN" altLang="zh-CN" sz="13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实体完整性约束的</a:t>
            </a:r>
            <a:r>
              <a:rPr lang="en-US" altLang="zh-CN" sz="135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</a:t>
            </a:r>
            <a:r>
              <a:rPr lang="zh-CN" altLang="zh-CN" sz="135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关系表</a:t>
            </a:r>
            <a:r>
              <a:rPr lang="zh-CN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zh-CN" sz="3600" dirty="0" smtClean="0"/>
              <a:t>3.1 </a:t>
            </a:r>
            <a:r>
              <a:rPr lang="zh-CN" altLang="en-US" sz="3600" dirty="0" smtClean="0"/>
              <a:t>实体完整性</a:t>
            </a:r>
          </a:p>
        </p:txBody>
      </p:sp>
    </p:spTree>
    <p:extLst>
      <p:ext uri="{BB962C8B-B14F-4D97-AF65-F5344CB8AC3E}">
        <p14:creationId xmlns:p14="http://schemas.microsoft.com/office/powerpoint/2010/main" val="390179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/>
              <a:t>3.2 </a:t>
            </a:r>
            <a:r>
              <a:rPr lang="zh-CN" altLang="en-US" sz="3600" dirty="0" smtClean="0"/>
              <a:t>参照完整性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700213"/>
            <a:ext cx="6172200" cy="4267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1. </a:t>
            </a:r>
            <a:r>
              <a:rPr lang="zh-CN" altLang="en-US" smtClean="0"/>
              <a:t>关系间的引用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2. </a:t>
            </a:r>
            <a:r>
              <a:rPr lang="zh-CN" altLang="en-US" smtClean="0"/>
              <a:t>外码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3. </a:t>
            </a:r>
            <a:r>
              <a:rPr lang="zh-CN" altLang="en-US" smtClean="0"/>
              <a:t>参照完整性规则</a:t>
            </a:r>
          </a:p>
        </p:txBody>
      </p:sp>
    </p:spTree>
    <p:extLst>
      <p:ext uri="{BB962C8B-B14F-4D97-AF65-F5344CB8AC3E}">
        <p14:creationId xmlns:p14="http://schemas.microsoft.com/office/powerpoint/2010/main" val="3563967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3.2 </a:t>
            </a:r>
            <a:r>
              <a:rPr lang="zh-CN" altLang="en-US" sz="3600" dirty="0" smtClean="0"/>
              <a:t>参照完整性</a:t>
            </a:r>
            <a:r>
              <a:rPr lang="en-US" altLang="zh-CN" sz="3600" dirty="0" smtClean="0"/>
              <a:t>---</a:t>
            </a:r>
            <a:r>
              <a:rPr lang="zh-CN" altLang="en-US" sz="3600" dirty="0" smtClean="0"/>
              <a:t>关系间的引用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219200"/>
            <a:ext cx="8316912" cy="3433763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 smtClean="0"/>
              <a:t>在关系模型中实体及实体间的联系都是用关系来描述的，自然存在着关系与关系间的引用。</a:t>
            </a: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黑体" panose="02010609060101010101" pitchFamily="49" charset="-122"/>
              </a:rPr>
              <a:t>[</a:t>
            </a:r>
            <a:r>
              <a:rPr lang="zh-CN" altLang="en-US" dirty="0" smtClean="0">
                <a:ea typeface="黑体" panose="02010609060101010101" pitchFamily="49" charset="-122"/>
              </a:rPr>
              <a:t>例</a:t>
            </a:r>
            <a:r>
              <a:rPr lang="en-US" altLang="zh-CN" dirty="0" smtClean="0">
                <a:ea typeface="黑体" panose="02010609060101010101" pitchFamily="49" charset="-122"/>
              </a:rPr>
              <a:t>2.</a:t>
            </a:r>
            <a:r>
              <a:rPr lang="en-US" altLang="zh-CN" dirty="0" smtClean="0"/>
              <a:t>1]  </a:t>
            </a:r>
            <a:r>
              <a:rPr lang="zh-CN" altLang="en-US" dirty="0" smtClean="0"/>
              <a:t>学生实体、专业实体</a:t>
            </a: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　学生（</a:t>
            </a:r>
            <a:r>
              <a:rPr lang="zh-CN" altLang="en-US" u="sng" dirty="0" smtClean="0"/>
              <a:t>学号</a:t>
            </a:r>
            <a:r>
              <a:rPr lang="zh-CN" altLang="en-US" dirty="0" smtClean="0"/>
              <a:t>，姓名，性别，</a:t>
            </a:r>
            <a:r>
              <a:rPr lang="zh-CN" altLang="en-US" dirty="0" smtClean="0">
                <a:solidFill>
                  <a:schemeClr val="hlink"/>
                </a:solidFill>
              </a:rPr>
              <a:t>专业号</a:t>
            </a:r>
            <a:r>
              <a:rPr lang="zh-CN" altLang="en-US" dirty="0" smtClean="0"/>
              <a:t>，年龄）</a:t>
            </a:r>
          </a:p>
          <a:p>
            <a:pPr lvl="1" algn="just" eaLnBrk="1" hangingPunct="1">
              <a:lnSpc>
                <a:spcPct val="16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　  专业（</a:t>
            </a:r>
            <a:r>
              <a:rPr lang="zh-CN" altLang="en-US" u="sng" dirty="0" smtClean="0">
                <a:solidFill>
                  <a:schemeClr val="hlink"/>
                </a:solidFill>
              </a:rPr>
              <a:t>专业号</a:t>
            </a:r>
            <a:r>
              <a:rPr lang="zh-CN" altLang="en-US" dirty="0" smtClean="0"/>
              <a:t>，专业名）</a:t>
            </a:r>
          </a:p>
        </p:txBody>
      </p:sp>
      <p:sp>
        <p:nvSpPr>
          <p:cNvPr id="50183" name="Rectangle 6"/>
          <p:cNvSpPr>
            <a:spLocks noChangeArrowheads="1"/>
          </p:cNvSpPr>
          <p:nvPr/>
        </p:nvSpPr>
        <p:spPr bwMode="auto">
          <a:xfrm>
            <a:off x="611188" y="4899025"/>
            <a:ext cx="8532812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kumimoji="1" lang="zh-CN" altLang="en-US" sz="2400" b="1" dirty="0"/>
              <a:t>学生关系引用了专业关系的主码“专业号”。</a:t>
            </a:r>
          </a:p>
          <a:p>
            <a:pPr eaLnBrk="1" hangingPunct="1">
              <a:lnSpc>
                <a:spcPct val="150000"/>
              </a:lnSpc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kumimoji="1" lang="zh-CN" altLang="en-US" sz="2400" b="1" dirty="0"/>
              <a:t> 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学生关系中的“专业号”值必须是确实存在的专业的专业号</a:t>
            </a:r>
          </a:p>
        </p:txBody>
      </p:sp>
      <p:sp>
        <p:nvSpPr>
          <p:cNvPr id="9" name="椭圆形标注 8"/>
          <p:cNvSpPr>
            <a:spLocks noChangeArrowheads="1"/>
          </p:cNvSpPr>
          <p:nvPr/>
        </p:nvSpPr>
        <p:spPr bwMode="auto">
          <a:xfrm>
            <a:off x="5003800" y="4329113"/>
            <a:ext cx="1212850" cy="612775"/>
          </a:xfrm>
          <a:prstGeom prst="wedgeEllipseCallout">
            <a:avLst>
              <a:gd name="adj1" fmla="val -209505"/>
              <a:gd name="adj2" fmla="val -48333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</a:gra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FF"/>
                </a:solidFill>
              </a:rPr>
              <a:t>主码</a:t>
            </a:r>
          </a:p>
        </p:txBody>
      </p:sp>
      <p:sp>
        <p:nvSpPr>
          <p:cNvPr id="8" name="椭圆形标注 7"/>
          <p:cNvSpPr>
            <a:spLocks noChangeArrowheads="1"/>
          </p:cNvSpPr>
          <p:nvPr/>
        </p:nvSpPr>
        <p:spPr bwMode="auto">
          <a:xfrm>
            <a:off x="153988" y="2708275"/>
            <a:ext cx="914400" cy="612775"/>
          </a:xfrm>
          <a:prstGeom prst="wedgeEllipseCallout">
            <a:avLst>
              <a:gd name="adj1" fmla="val 174755"/>
              <a:gd name="adj2" fmla="val 60306"/>
            </a:avLst>
          </a:prstGeom>
          <a:solidFill>
            <a:schemeClr val="accent1"/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FF"/>
                </a:solidFill>
              </a:rPr>
              <a:t>主码</a:t>
            </a:r>
          </a:p>
        </p:txBody>
      </p:sp>
    </p:spTree>
    <p:extLst>
      <p:ext uri="{BB962C8B-B14F-4D97-AF65-F5344CB8AC3E}">
        <p14:creationId xmlns:p14="http://schemas.microsoft.com/office/powerpoint/2010/main" val="284302051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3" grpId="0"/>
      <p:bldP spid="9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3.2 </a:t>
            </a:r>
            <a:r>
              <a:rPr lang="zh-CN" altLang="en-US" sz="3600" dirty="0" smtClean="0"/>
              <a:t>参照完整性</a:t>
            </a:r>
            <a:r>
              <a:rPr lang="en-US" altLang="zh-CN" sz="3600" dirty="0" smtClean="0"/>
              <a:t>--</a:t>
            </a:r>
            <a:r>
              <a:rPr lang="zh-CN" altLang="en-US" sz="3600" dirty="0" smtClean="0"/>
              <a:t>外码（</a:t>
            </a:r>
            <a:r>
              <a:rPr lang="en-US" altLang="zh-CN" sz="3600" dirty="0" smtClean="0"/>
              <a:t>Foreign Key</a:t>
            </a:r>
            <a:r>
              <a:rPr lang="zh-CN" altLang="en-US" sz="3600" dirty="0" smtClean="0"/>
              <a:t>）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268413"/>
            <a:ext cx="8154988" cy="4691062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2400" dirty="0" smtClean="0"/>
              <a:t>设</a:t>
            </a:r>
            <a:r>
              <a:rPr lang="en-US" altLang="zh-CN" sz="2400" i="1" dirty="0" smtClean="0"/>
              <a:t>F</a:t>
            </a:r>
            <a:r>
              <a:rPr lang="zh-CN" altLang="en-US" sz="2400" dirty="0" smtClean="0"/>
              <a:t>是基本关系</a:t>
            </a:r>
            <a:r>
              <a:rPr lang="en-US" altLang="zh-CN" sz="2400" i="1" dirty="0" smtClean="0"/>
              <a:t>R</a:t>
            </a:r>
            <a:r>
              <a:rPr lang="zh-CN" altLang="en-US" sz="2400" dirty="0" smtClean="0"/>
              <a:t>的一个或一组属性，但不是关系</a:t>
            </a:r>
            <a:r>
              <a:rPr lang="en-US" altLang="zh-CN" sz="2400" i="1" dirty="0" smtClean="0"/>
              <a:t>R</a:t>
            </a:r>
            <a:r>
              <a:rPr lang="zh-CN" altLang="en-US" sz="2400" dirty="0" smtClean="0"/>
              <a:t>的码。如果</a:t>
            </a:r>
            <a:r>
              <a:rPr lang="en-US" altLang="zh-CN" sz="2400" dirty="0" smtClean="0"/>
              <a:t>F</a:t>
            </a:r>
            <a:r>
              <a:rPr lang="zh-CN" altLang="en-US" sz="2400" dirty="0" smtClean="0"/>
              <a:t>与基本关系</a:t>
            </a:r>
            <a:r>
              <a:rPr lang="en-US" altLang="zh-CN" sz="2400" i="1" dirty="0" smtClean="0"/>
              <a:t>S</a:t>
            </a:r>
            <a:r>
              <a:rPr lang="zh-CN" altLang="en-US" sz="2400" dirty="0" smtClean="0"/>
              <a:t>的主码</a:t>
            </a:r>
            <a:r>
              <a:rPr lang="en-US" altLang="zh-CN" sz="2400" dirty="0" smtClean="0"/>
              <a:t>K</a:t>
            </a:r>
            <a:r>
              <a:rPr lang="en-US" altLang="zh-CN" sz="2400" baseline="-25000" dirty="0" smtClean="0"/>
              <a:t>s</a:t>
            </a:r>
            <a:r>
              <a:rPr lang="zh-CN" altLang="en-US" sz="2400" dirty="0" smtClean="0"/>
              <a:t>相对应，则称</a:t>
            </a:r>
            <a:r>
              <a:rPr lang="en-US" altLang="zh-CN" sz="2400" dirty="0" smtClean="0"/>
              <a:t>F</a:t>
            </a:r>
            <a:r>
              <a:rPr lang="zh-CN" altLang="en-US" sz="2400" dirty="0" smtClean="0"/>
              <a:t>是</a:t>
            </a:r>
            <a:r>
              <a:rPr lang="en-US" altLang="zh-CN" sz="2400" i="1" dirty="0" smtClean="0"/>
              <a:t>R</a:t>
            </a:r>
            <a:r>
              <a:rPr lang="zh-CN" altLang="en-US" sz="2400" dirty="0" smtClean="0"/>
              <a:t>的</a:t>
            </a:r>
            <a:r>
              <a:rPr lang="zh-CN" altLang="en-US" sz="2400" dirty="0" smtClean="0">
                <a:solidFill>
                  <a:schemeClr val="hlink"/>
                </a:solidFill>
                <a:ea typeface="黑体" panose="02010609060101010101" pitchFamily="49" charset="-122"/>
              </a:rPr>
              <a:t>外码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 smtClean="0"/>
              <a:t>基本关系</a:t>
            </a:r>
            <a:r>
              <a:rPr lang="en-US" altLang="zh-CN" sz="2400" i="1" dirty="0" smtClean="0"/>
              <a:t>R</a:t>
            </a:r>
            <a:r>
              <a:rPr lang="zh-CN" altLang="en-US" sz="2400" i="1" dirty="0" smtClean="0"/>
              <a:t>称</a:t>
            </a:r>
            <a:r>
              <a:rPr lang="zh-CN" altLang="en-US" sz="2400" dirty="0" smtClean="0"/>
              <a:t>为</a:t>
            </a:r>
            <a:r>
              <a:rPr lang="zh-CN" altLang="en-US" sz="2400" dirty="0" smtClean="0">
                <a:solidFill>
                  <a:schemeClr val="hlink"/>
                </a:solidFill>
                <a:ea typeface="黑体" panose="02010609060101010101" pitchFamily="49" charset="-122"/>
              </a:rPr>
              <a:t>参照关系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Referencing  Relation</a:t>
            </a:r>
            <a:r>
              <a:rPr lang="zh-CN" altLang="en-US" sz="2400" dirty="0" smtClean="0"/>
              <a:t>）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 smtClean="0"/>
              <a:t>基本关系</a:t>
            </a:r>
            <a:r>
              <a:rPr lang="en-US" altLang="zh-CN" sz="2400" i="1" dirty="0" smtClean="0"/>
              <a:t>S</a:t>
            </a:r>
            <a:r>
              <a:rPr lang="zh-CN" altLang="en-US" sz="2400" i="1" dirty="0" smtClean="0"/>
              <a:t>称</a:t>
            </a:r>
            <a:r>
              <a:rPr lang="zh-CN" altLang="en-US" sz="2400" dirty="0" smtClean="0"/>
              <a:t>为</a:t>
            </a:r>
            <a:r>
              <a:rPr lang="zh-CN" altLang="en-US" sz="2400" dirty="0" smtClean="0">
                <a:solidFill>
                  <a:schemeClr val="hlink"/>
                </a:solidFill>
                <a:ea typeface="黑体" panose="02010609060101010101" pitchFamily="49" charset="-122"/>
              </a:rPr>
              <a:t>被参照关系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Referenced Relation</a:t>
            </a:r>
            <a:r>
              <a:rPr lang="zh-CN" altLang="en-US" sz="2400" dirty="0" smtClean="0"/>
              <a:t>）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或</a:t>
            </a:r>
            <a:r>
              <a:rPr lang="zh-CN" altLang="en-US" sz="2400" dirty="0" smtClean="0">
                <a:solidFill>
                  <a:schemeClr val="hlink"/>
                </a:solidFill>
                <a:ea typeface="黑体" panose="02010609060101010101" pitchFamily="49" charset="-122"/>
              </a:rPr>
              <a:t>目标关系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Target Relation</a:t>
            </a:r>
            <a:r>
              <a:rPr lang="zh-CN" altLang="en-US" sz="2400" dirty="0" smtClean="0"/>
              <a:t>）</a:t>
            </a:r>
          </a:p>
          <a:p>
            <a:pPr eaLnBrk="1" hangingPunct="1"/>
            <a:endParaRPr lang="en-US" altLang="zh-CN" sz="2400" dirty="0" smtClean="0"/>
          </a:p>
        </p:txBody>
      </p:sp>
      <p:sp>
        <p:nvSpPr>
          <p:cNvPr id="2" name="矩形 1"/>
          <p:cNvSpPr/>
          <p:nvPr/>
        </p:nvSpPr>
        <p:spPr>
          <a:xfrm>
            <a:off x="1013988" y="4759382"/>
            <a:ext cx="6590923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zh-CN" altLang="en-US" dirty="0" smtClean="0"/>
              <a:t>             学生</a:t>
            </a:r>
            <a:r>
              <a:rPr lang="zh-CN" altLang="en-US" dirty="0"/>
              <a:t>（</a:t>
            </a:r>
            <a:r>
              <a:rPr lang="zh-CN" altLang="en-US" u="sng" dirty="0"/>
              <a:t>学号</a:t>
            </a:r>
            <a:r>
              <a:rPr lang="zh-CN" altLang="en-US" dirty="0"/>
              <a:t>，姓名，性别，</a:t>
            </a:r>
            <a:r>
              <a:rPr lang="zh-CN" altLang="en-US" dirty="0">
                <a:solidFill>
                  <a:schemeClr val="hlink"/>
                </a:solidFill>
              </a:rPr>
              <a:t>专业号</a:t>
            </a:r>
            <a:r>
              <a:rPr lang="zh-CN" altLang="en-US" dirty="0"/>
              <a:t>，年龄</a:t>
            </a:r>
            <a:r>
              <a:rPr lang="zh-CN" altLang="en-US" dirty="0" smtClean="0"/>
              <a:t>）     </a:t>
            </a:r>
            <a:endParaRPr lang="zh-CN" altLang="en-US" dirty="0"/>
          </a:p>
          <a:p>
            <a:pPr lvl="1" algn="just">
              <a:lnSpc>
                <a:spcPct val="160000"/>
              </a:lnSpc>
              <a:spcBef>
                <a:spcPct val="0"/>
              </a:spcBef>
            </a:pPr>
            <a:r>
              <a:rPr lang="zh-CN" altLang="en-US" dirty="0"/>
              <a:t>　  专业（</a:t>
            </a:r>
            <a:r>
              <a:rPr lang="zh-CN" altLang="en-US" u="sng" dirty="0">
                <a:solidFill>
                  <a:schemeClr val="hlink"/>
                </a:solidFill>
              </a:rPr>
              <a:t>专业号</a:t>
            </a:r>
            <a:r>
              <a:rPr lang="zh-CN" altLang="en-US" dirty="0"/>
              <a:t>，专业名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 algn="just">
              <a:lnSpc>
                <a:spcPct val="160000"/>
              </a:lnSpc>
              <a:spcBef>
                <a:spcPct val="0"/>
              </a:spcBef>
            </a:pPr>
            <a:endParaRPr lang="en-US" altLang="zh-CN" dirty="0">
              <a:solidFill>
                <a:schemeClr val="hlink"/>
              </a:solidFill>
            </a:endParaRPr>
          </a:p>
          <a:p>
            <a:pPr lvl="1" algn="just">
              <a:lnSpc>
                <a:spcPct val="160000"/>
              </a:lnSpc>
              <a:spcBef>
                <a:spcPct val="0"/>
              </a:spcBef>
            </a:pPr>
            <a:r>
              <a:rPr lang="zh-CN" altLang="en-US" dirty="0" smtClean="0">
                <a:solidFill>
                  <a:schemeClr val="hlink"/>
                </a:solidFill>
              </a:rPr>
              <a:t>专业号是外码， 学生是参照关系，专业为被参照关系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6548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96119" y="307080"/>
            <a:ext cx="7391400" cy="563562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3.2 </a:t>
            </a:r>
            <a:r>
              <a:rPr lang="zh-CN" altLang="en-US" sz="3600" dirty="0"/>
              <a:t>参照完整性</a:t>
            </a:r>
            <a:r>
              <a:rPr lang="en-US" altLang="zh-CN" sz="3600" dirty="0"/>
              <a:t>--</a:t>
            </a:r>
            <a:r>
              <a:rPr lang="zh-CN" altLang="en-US" sz="3600" dirty="0"/>
              <a:t>外码（</a:t>
            </a:r>
            <a:r>
              <a:rPr lang="en-US" altLang="zh-CN" sz="3600" dirty="0"/>
              <a:t>Foreign Key</a:t>
            </a:r>
            <a:r>
              <a:rPr lang="zh-CN" altLang="en-US" sz="3600" dirty="0"/>
              <a:t>）</a:t>
            </a:r>
            <a:endParaRPr lang="en-US" altLang="zh-CN" sz="3600" dirty="0" smtClean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125537"/>
            <a:ext cx="8713788" cy="3828847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2.2]</a:t>
            </a:r>
            <a:endParaRPr lang="zh-CN" altLang="en-US" sz="2400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</a:t>
            </a:r>
            <a:endParaRPr lang="en-US" altLang="zh-CN" sz="2400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400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400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“学号”和“课程号”是选修关系的</a:t>
            </a:r>
            <a:r>
              <a:rPr lang="zh-CN" altLang="en-US" dirty="0" smtClean="0">
                <a:solidFill>
                  <a:srgbClr val="FF0000"/>
                </a:solidFill>
              </a:rPr>
              <a:t>外码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 smtClean="0"/>
              <a:t>学生关系和课程关系均为被参照关系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 smtClean="0"/>
              <a:t>选修关系为参照关系 </a:t>
            </a:r>
          </a:p>
        </p:txBody>
      </p:sp>
      <p:graphicFrame>
        <p:nvGraphicFramePr>
          <p:cNvPr id="39117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75781025"/>
              </p:ext>
            </p:extLst>
          </p:nvPr>
        </p:nvGraphicFramePr>
        <p:xfrm>
          <a:off x="1187450" y="5096914"/>
          <a:ext cx="6408738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7" name="Image" r:id="rId3" imgW="18044444" imgH="2590476" progId="Photoshop.Image.7">
                  <p:embed/>
                </p:oleObj>
              </mc:Choice>
              <mc:Fallback>
                <p:oleObj name="Image" r:id="rId3" imgW="18044444" imgH="2590476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096914"/>
                        <a:ext cx="6408738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FFFF"/>
                                </a:gs>
                                <a:gs pos="100000">
                                  <a:srgbClr val="BBBBBB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25400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80235" y="1535256"/>
            <a:ext cx="7001466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/>
              <a:t>学生、课程、学生与课程之间的多对多联系</a:t>
            </a:r>
          </a:p>
          <a:p>
            <a:pPr lvl="1" algn="just">
              <a:lnSpc>
                <a:spcPct val="150000"/>
              </a:lnSpc>
            </a:pPr>
            <a:r>
              <a:rPr lang="zh-CN" altLang="en-US" dirty="0"/>
              <a:t>     学生（</a:t>
            </a:r>
            <a:r>
              <a:rPr lang="zh-CN" altLang="en-US" u="sng" dirty="0">
                <a:solidFill>
                  <a:srgbClr val="FF00FF"/>
                </a:solidFill>
              </a:rPr>
              <a:t>学号</a:t>
            </a:r>
            <a:r>
              <a:rPr lang="zh-CN" altLang="en-US" dirty="0">
                <a:solidFill>
                  <a:schemeClr val="accent2"/>
                </a:solidFill>
              </a:rPr>
              <a:t>，</a:t>
            </a:r>
            <a:r>
              <a:rPr lang="zh-CN" altLang="en-US" dirty="0"/>
              <a:t>姓名，性别，专业号，年龄）</a:t>
            </a:r>
          </a:p>
          <a:p>
            <a:pPr lvl="1" algn="just">
              <a:lnSpc>
                <a:spcPct val="150000"/>
              </a:lnSpc>
            </a:pPr>
            <a:r>
              <a:rPr lang="zh-CN" altLang="en-US" dirty="0"/>
              <a:t>     课程（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，课程名，学分）</a:t>
            </a:r>
          </a:p>
          <a:p>
            <a:pPr lvl="1" algn="just">
              <a:lnSpc>
                <a:spcPct val="150000"/>
              </a:lnSpc>
            </a:pPr>
            <a:r>
              <a:rPr lang="zh-CN" altLang="en-US" dirty="0"/>
              <a:t>     选修（</a:t>
            </a:r>
            <a:r>
              <a:rPr lang="zh-CN" altLang="en-US" u="sng" dirty="0">
                <a:solidFill>
                  <a:srgbClr val="FF00FF"/>
                </a:solidFill>
              </a:rPr>
              <a:t>学号</a:t>
            </a:r>
            <a:r>
              <a:rPr lang="zh-CN" altLang="en-US" dirty="0"/>
              <a:t>，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，成绩）</a:t>
            </a:r>
          </a:p>
        </p:txBody>
      </p:sp>
    </p:spTree>
    <p:extLst>
      <p:ext uri="{BB962C8B-B14F-4D97-AF65-F5344CB8AC3E}">
        <p14:creationId xmlns:p14="http://schemas.microsoft.com/office/powerpoint/2010/main" val="259574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3.2 </a:t>
            </a:r>
            <a:r>
              <a:rPr lang="zh-CN" altLang="en-US" sz="3600" dirty="0" smtClean="0"/>
              <a:t>参照完整性规则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2400" dirty="0" smtClean="0"/>
              <a:t>参照完整性规则</a:t>
            </a:r>
          </a:p>
          <a:p>
            <a:pPr algn="just" eaLnBrk="1" hangingPunct="1">
              <a:lnSpc>
                <a:spcPct val="170000"/>
              </a:lnSpc>
              <a:buClr>
                <a:schemeClr val="accent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dirty="0" smtClean="0"/>
              <a:t>   若属性（或属性组）</a:t>
            </a:r>
            <a:r>
              <a:rPr lang="en-US" altLang="zh-CN" sz="2400" i="1" dirty="0" smtClean="0"/>
              <a:t>F</a:t>
            </a:r>
            <a:r>
              <a:rPr lang="zh-CN" altLang="en-US" sz="2400" dirty="0" smtClean="0"/>
              <a:t>是基本关系</a:t>
            </a:r>
            <a:r>
              <a:rPr lang="en-US" altLang="zh-CN" sz="2400" i="1" dirty="0" smtClean="0"/>
              <a:t>R</a:t>
            </a:r>
            <a:r>
              <a:rPr lang="zh-CN" altLang="en-US" sz="2400" dirty="0" smtClean="0"/>
              <a:t>的外码，它与基本关系</a:t>
            </a:r>
            <a:r>
              <a:rPr lang="en-US" altLang="zh-CN" sz="2400" i="1" dirty="0" smtClean="0"/>
              <a:t>S</a:t>
            </a:r>
            <a:r>
              <a:rPr lang="zh-CN" altLang="en-US" sz="2400" dirty="0" smtClean="0"/>
              <a:t>的主码</a:t>
            </a:r>
            <a:r>
              <a:rPr lang="en-US" altLang="zh-CN" sz="2400" dirty="0" smtClean="0"/>
              <a:t>K</a:t>
            </a:r>
            <a:r>
              <a:rPr lang="en-US" altLang="zh-CN" sz="2400" baseline="-25000" dirty="0" smtClean="0"/>
              <a:t>s</a:t>
            </a:r>
            <a:r>
              <a:rPr lang="zh-CN" altLang="en-US" sz="2400" dirty="0" smtClean="0"/>
              <a:t>相对应，则对于</a:t>
            </a:r>
            <a:r>
              <a:rPr lang="en-US" altLang="zh-CN" sz="2400" i="1" dirty="0" smtClean="0"/>
              <a:t>R</a:t>
            </a:r>
            <a:r>
              <a:rPr lang="zh-CN" altLang="en-US" sz="2400" dirty="0" smtClean="0"/>
              <a:t>中每个元组在</a:t>
            </a:r>
            <a:r>
              <a:rPr lang="en-US" altLang="zh-CN" sz="2400" i="1" dirty="0" smtClean="0"/>
              <a:t>F</a:t>
            </a:r>
            <a:r>
              <a:rPr lang="zh-CN" altLang="en-US" sz="2400" dirty="0" smtClean="0"/>
              <a:t>上的值必须为：</a:t>
            </a:r>
          </a:p>
          <a:p>
            <a:pPr lvl="1" algn="just" eaLnBrk="1" hangingPunct="1">
              <a:lnSpc>
                <a:spcPct val="170000"/>
              </a:lnSpc>
              <a:buSzPct val="75000"/>
            </a:pPr>
            <a:r>
              <a:rPr lang="zh-CN" altLang="en-US" dirty="0" smtClean="0"/>
              <a:t>或者取空值（</a:t>
            </a:r>
            <a:r>
              <a:rPr lang="en-US" altLang="zh-CN" i="1" dirty="0" smtClean="0"/>
              <a:t>F</a:t>
            </a:r>
            <a:r>
              <a:rPr lang="zh-CN" altLang="en-US" dirty="0" smtClean="0"/>
              <a:t>的每个属性值均为空值）</a:t>
            </a:r>
          </a:p>
          <a:p>
            <a:pPr lvl="1" algn="just" eaLnBrk="1" hangingPunct="1">
              <a:lnSpc>
                <a:spcPct val="170000"/>
              </a:lnSpc>
              <a:buSzPct val="75000"/>
            </a:pPr>
            <a:r>
              <a:rPr lang="zh-CN" altLang="en-US" dirty="0" smtClean="0"/>
              <a:t>或者等于</a:t>
            </a:r>
            <a:r>
              <a:rPr lang="en-US" altLang="zh-CN" i="1" dirty="0" smtClean="0"/>
              <a:t>S</a:t>
            </a:r>
            <a:r>
              <a:rPr lang="zh-CN" altLang="en-US" dirty="0" smtClean="0"/>
              <a:t>中某个元组的主码值</a:t>
            </a:r>
            <a:endParaRPr lang="en-US" altLang="zh-CN" dirty="0" smtClean="0"/>
          </a:p>
          <a:p>
            <a:pPr>
              <a:lnSpc>
                <a:spcPct val="160000"/>
              </a:lnSpc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2.3] </a:t>
            </a:r>
            <a:r>
              <a:rPr lang="zh-CN" altLang="en-US" sz="2400" dirty="0"/>
              <a:t>中</a:t>
            </a:r>
          </a:p>
          <a:p>
            <a:pPr>
              <a:buNone/>
            </a:pPr>
            <a:r>
              <a:rPr lang="zh-CN" altLang="en-US" sz="2400" dirty="0"/>
              <a:t>学生（</a:t>
            </a:r>
            <a:r>
              <a:rPr lang="zh-CN" altLang="en-US" sz="2400" u="sng" dirty="0">
                <a:solidFill>
                  <a:srgbClr val="3333FF"/>
                </a:solidFill>
              </a:rPr>
              <a:t>学号</a:t>
            </a:r>
            <a:r>
              <a:rPr lang="zh-CN" altLang="en-US" sz="2400" dirty="0"/>
              <a:t>，姓名，性别，专业号，年龄，</a:t>
            </a:r>
            <a:r>
              <a:rPr lang="zh-CN" altLang="en-US" sz="2400" dirty="0">
                <a:solidFill>
                  <a:srgbClr val="3333FF"/>
                </a:solidFill>
              </a:rPr>
              <a:t>班长</a:t>
            </a:r>
            <a:r>
              <a:rPr lang="zh-CN" altLang="en-US" sz="2400" dirty="0"/>
              <a:t>）</a:t>
            </a:r>
            <a:endParaRPr lang="zh-CN" altLang="en-US" sz="3200" dirty="0"/>
          </a:p>
          <a:p>
            <a:pPr>
              <a:lnSpc>
                <a:spcPct val="140000"/>
              </a:lnSpc>
              <a:buNone/>
            </a:pPr>
            <a:r>
              <a:rPr lang="zh-CN" altLang="en-US" sz="2400" dirty="0"/>
              <a:t>“班长”属性值可以取两类值：</a:t>
            </a:r>
          </a:p>
          <a:p>
            <a:pPr>
              <a:lnSpc>
                <a:spcPct val="14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）空值，表示该学生所在班级尚未选出班长</a:t>
            </a:r>
          </a:p>
          <a:p>
            <a:pPr>
              <a:lnSpc>
                <a:spcPct val="14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）非空值，该值必须是本关系中某个元组的学号值</a:t>
            </a:r>
            <a:endParaRPr lang="zh-CN" altLang="en-US" dirty="0"/>
          </a:p>
          <a:p>
            <a:pPr lvl="1" algn="just" eaLnBrk="1" hangingPunct="1">
              <a:lnSpc>
                <a:spcPct val="170000"/>
              </a:lnSpc>
              <a:buSzPct val="75000"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904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3.2 </a:t>
            </a:r>
            <a:r>
              <a:rPr lang="zh-CN" altLang="en-US" sz="3600" dirty="0" smtClean="0"/>
              <a:t>参照完整性规则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25563"/>
            <a:ext cx="7886700" cy="4351338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2400" dirty="0" smtClean="0"/>
              <a:t>参照完整性规则</a:t>
            </a:r>
          </a:p>
          <a:p>
            <a:pPr lvl="1">
              <a:lnSpc>
                <a:spcPct val="150000"/>
              </a:lnSpc>
            </a:pPr>
            <a:r>
              <a:rPr lang="zh-CN" altLang="zh-CN" b="1" dirty="0" smtClean="0">
                <a:latin typeface="Times" pitchFamily="2" charset="0"/>
              </a:rPr>
              <a:t>（</a:t>
            </a:r>
            <a:r>
              <a:rPr lang="en-US" altLang="zh-CN" b="1" dirty="0">
                <a:latin typeface="Times" pitchFamily="2" charset="0"/>
              </a:rPr>
              <a:t>1</a:t>
            </a:r>
            <a:r>
              <a:rPr lang="zh-CN" altLang="zh-CN" b="1" dirty="0">
                <a:latin typeface="Times" pitchFamily="2" charset="0"/>
              </a:rPr>
              <a:t>）删除规则</a:t>
            </a:r>
            <a:r>
              <a:rPr lang="zh-CN" altLang="zh-CN" dirty="0">
                <a:latin typeface="Times" pitchFamily="2" charset="0"/>
              </a:rPr>
              <a:t>：如果一个实体</a:t>
            </a:r>
            <a:r>
              <a:rPr lang="en-US" altLang="zh-CN" i="1" dirty="0">
                <a:latin typeface="Times" pitchFamily="2" charset="0"/>
              </a:rPr>
              <a:t>E</a:t>
            </a:r>
            <a:r>
              <a:rPr lang="zh-CN" altLang="zh-CN" dirty="0">
                <a:latin typeface="Times" pitchFamily="2" charset="0"/>
              </a:rPr>
              <a:t>被另一个实体</a:t>
            </a:r>
            <a:r>
              <a:rPr lang="en-US" altLang="zh-CN" i="1" dirty="0">
                <a:latin typeface="Times" pitchFamily="2" charset="0"/>
              </a:rPr>
              <a:t>F</a:t>
            </a:r>
            <a:r>
              <a:rPr lang="zh-CN" altLang="zh-CN" dirty="0">
                <a:latin typeface="Times" pitchFamily="2" charset="0"/>
              </a:rPr>
              <a:t>引用，</a:t>
            </a:r>
            <a:r>
              <a:rPr lang="zh-CN" altLang="zh-CN" dirty="0">
                <a:solidFill>
                  <a:srgbClr val="3B20FF"/>
                </a:solidFill>
                <a:latin typeface="Times" pitchFamily="2" charset="0"/>
              </a:rPr>
              <a:t>可以禁止删除该实体</a:t>
            </a:r>
            <a:r>
              <a:rPr lang="en-US" altLang="zh-CN" i="1" dirty="0">
                <a:solidFill>
                  <a:srgbClr val="3B20FF"/>
                </a:solidFill>
                <a:latin typeface="Times" pitchFamily="2" charset="0"/>
              </a:rPr>
              <a:t>E</a:t>
            </a:r>
            <a:r>
              <a:rPr lang="zh-CN" altLang="zh-CN" dirty="0">
                <a:latin typeface="Times" pitchFamily="2" charset="0"/>
              </a:rPr>
              <a:t>。例如，某所学校录取了</a:t>
            </a:r>
            <a:r>
              <a:rPr lang="en-US" altLang="zh-CN" dirty="0">
                <a:latin typeface="Times" pitchFamily="2" charset="0"/>
              </a:rPr>
              <a:t>1000</a:t>
            </a:r>
            <a:r>
              <a:rPr lang="zh-CN" altLang="zh-CN" dirty="0">
                <a:latin typeface="Times" pitchFamily="2" charset="0"/>
              </a:rPr>
              <a:t>名学生，则不能将该学校删除；如果要删除该学校，则必须同时把隶属于该学校的</a:t>
            </a:r>
            <a:r>
              <a:rPr lang="en-US" altLang="zh-CN" dirty="0">
                <a:latin typeface="Times" pitchFamily="2" charset="0"/>
              </a:rPr>
              <a:t>1000</a:t>
            </a:r>
            <a:r>
              <a:rPr lang="zh-CN" altLang="zh-CN" dirty="0">
                <a:latin typeface="Times" pitchFamily="2" charset="0"/>
              </a:rPr>
              <a:t>名学生的信息也删除。</a:t>
            </a:r>
            <a:r>
              <a:rPr lang="zh-CN" altLang="en-US" dirty="0">
                <a:latin typeface="Times" pitchFamily="2" charset="0"/>
              </a:rPr>
              <a:t>（</a:t>
            </a:r>
            <a:r>
              <a:rPr lang="zh-CN" altLang="en-US" dirty="0">
                <a:solidFill>
                  <a:srgbClr val="3B20FF"/>
                </a:solidFill>
                <a:latin typeface="Times" pitchFamily="2" charset="0"/>
              </a:rPr>
              <a:t>被参照实体后删除</a:t>
            </a:r>
            <a:r>
              <a:rPr lang="zh-CN" altLang="en-US" dirty="0">
                <a:latin typeface="Times" pitchFamily="2" charset="0"/>
              </a:rPr>
              <a:t>）</a:t>
            </a:r>
            <a:endParaRPr lang="zh-CN" altLang="zh-CN" dirty="0">
              <a:latin typeface="Times" pitchFamily="2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b="1" dirty="0">
                <a:latin typeface="Times" pitchFamily="2" charset="0"/>
              </a:rPr>
              <a:t>（</a:t>
            </a:r>
            <a:r>
              <a:rPr lang="en-US" altLang="zh-CN" b="1" dirty="0">
                <a:latin typeface="Times" pitchFamily="2" charset="0"/>
              </a:rPr>
              <a:t>2</a:t>
            </a:r>
            <a:r>
              <a:rPr lang="zh-CN" altLang="zh-CN" b="1" dirty="0">
                <a:latin typeface="Times" pitchFamily="2" charset="0"/>
              </a:rPr>
              <a:t>）插入规则</a:t>
            </a:r>
            <a:r>
              <a:rPr lang="zh-CN" altLang="zh-CN" dirty="0">
                <a:latin typeface="Times" pitchFamily="2" charset="0"/>
              </a:rPr>
              <a:t>：如果一个实体</a:t>
            </a:r>
            <a:r>
              <a:rPr lang="en-US" altLang="zh-CN" dirty="0">
                <a:latin typeface="Times" pitchFamily="2" charset="0"/>
              </a:rPr>
              <a:t>F</a:t>
            </a:r>
            <a:r>
              <a:rPr lang="zh-CN" altLang="zh-CN" dirty="0">
                <a:latin typeface="Times" pitchFamily="2" charset="0"/>
              </a:rPr>
              <a:t>引用了另一个实体</a:t>
            </a:r>
            <a:r>
              <a:rPr lang="en-US" altLang="zh-CN" dirty="0">
                <a:latin typeface="Times" pitchFamily="2" charset="0"/>
              </a:rPr>
              <a:t>E</a:t>
            </a:r>
            <a:r>
              <a:rPr lang="zh-CN" altLang="zh-CN" dirty="0">
                <a:latin typeface="Times" pitchFamily="2" charset="0"/>
              </a:rPr>
              <a:t>，</a:t>
            </a:r>
            <a:r>
              <a:rPr lang="zh-CN" altLang="zh-CN" dirty="0">
                <a:solidFill>
                  <a:srgbClr val="3B20FF"/>
                </a:solidFill>
                <a:latin typeface="Times" pitchFamily="2" charset="0"/>
              </a:rPr>
              <a:t>那么实体</a:t>
            </a:r>
            <a:r>
              <a:rPr lang="en-US" altLang="zh-CN" dirty="0">
                <a:solidFill>
                  <a:srgbClr val="3B20FF"/>
                </a:solidFill>
                <a:latin typeface="Times" pitchFamily="2" charset="0"/>
              </a:rPr>
              <a:t>E</a:t>
            </a:r>
            <a:r>
              <a:rPr lang="zh-CN" altLang="zh-CN" dirty="0">
                <a:solidFill>
                  <a:srgbClr val="3B20FF"/>
                </a:solidFill>
                <a:latin typeface="Times" pitchFamily="2" charset="0"/>
              </a:rPr>
              <a:t>必须存在数据库中</a:t>
            </a:r>
            <a:r>
              <a:rPr lang="zh-CN" altLang="zh-CN" dirty="0">
                <a:latin typeface="Times" pitchFamily="2" charset="0"/>
              </a:rPr>
              <a:t>。例如，某位学生被某所学校录取，那么该学校必须已经存在学校实体集中；否则，需要先将学校实体集中的信息存到数据库后，才能将该学生的信息插入到数据库中。</a:t>
            </a:r>
            <a:r>
              <a:rPr lang="zh-CN" altLang="en-US" dirty="0">
                <a:latin typeface="Times" pitchFamily="2" charset="0"/>
              </a:rPr>
              <a:t>（</a:t>
            </a:r>
            <a:r>
              <a:rPr lang="zh-CN" altLang="en-US" dirty="0">
                <a:solidFill>
                  <a:srgbClr val="3B20FF"/>
                </a:solidFill>
                <a:latin typeface="Times" pitchFamily="2" charset="0"/>
              </a:rPr>
              <a:t>被参照实体先插入</a:t>
            </a:r>
            <a:r>
              <a:rPr lang="zh-CN" altLang="en-US" dirty="0">
                <a:latin typeface="Times" pitchFamily="2" charset="0"/>
              </a:rPr>
              <a:t>）</a:t>
            </a:r>
            <a:endParaRPr lang="zh-CN" altLang="zh-CN" dirty="0">
              <a:latin typeface="Times" pitchFamily="2" charset="0"/>
            </a:endParaRPr>
          </a:p>
          <a:p>
            <a:pPr lvl="1" algn="just" eaLnBrk="1" hangingPunct="1">
              <a:lnSpc>
                <a:spcPct val="170000"/>
              </a:lnSpc>
              <a:buSzPct val="75000"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3521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/>
              <a:t>3.3 </a:t>
            </a:r>
            <a:r>
              <a:rPr lang="zh-CN" altLang="en-US" sz="3600" dirty="0" smtClean="0"/>
              <a:t>用户定义的完整性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8800" y="1098550"/>
            <a:ext cx="8128000" cy="5033963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60000"/>
              </a:lnSpc>
            </a:pPr>
            <a:r>
              <a:rPr lang="zh-CN" altLang="en-US" dirty="0" smtClean="0"/>
              <a:t>针对某一具体关系数据库的约束条件，关系模型应提供定义和检验这类完整性的机制。</a:t>
            </a:r>
            <a:endParaRPr lang="en-US" altLang="zh-CN" dirty="0" smtClean="0"/>
          </a:p>
          <a:p>
            <a:pPr algn="just">
              <a:buNone/>
            </a:pPr>
            <a:endParaRPr lang="en-US" altLang="zh-CN" dirty="0" smtClean="0"/>
          </a:p>
          <a:p>
            <a:pPr algn="just">
              <a:buNone/>
            </a:pPr>
            <a:r>
              <a:rPr lang="zh-CN" altLang="en-US" dirty="0" smtClean="0"/>
              <a:t>例</a:t>
            </a:r>
            <a:r>
              <a:rPr lang="en-US" altLang="zh-CN" dirty="0"/>
              <a:t>:</a:t>
            </a:r>
          </a:p>
          <a:p>
            <a:pPr algn="just">
              <a:lnSpc>
                <a:spcPct val="140000"/>
              </a:lnSpc>
              <a:buNone/>
            </a:pPr>
            <a:r>
              <a:rPr lang="en-US" altLang="zh-CN" dirty="0"/>
              <a:t>	 </a:t>
            </a:r>
            <a:r>
              <a:rPr lang="zh-CN" altLang="en-US" dirty="0"/>
              <a:t>课程（</a:t>
            </a:r>
            <a:r>
              <a:rPr lang="zh-CN" altLang="en-US" u="sng" dirty="0"/>
              <a:t>课程号</a:t>
            </a:r>
            <a:r>
              <a:rPr lang="zh-CN" altLang="en-US" dirty="0"/>
              <a:t>，课程名，学分）</a:t>
            </a:r>
            <a:endParaRPr lang="en-US" altLang="zh-CN" dirty="0"/>
          </a:p>
          <a:p>
            <a:pPr lvl="1" algn="just">
              <a:lnSpc>
                <a:spcPct val="140000"/>
              </a:lnSpc>
            </a:pPr>
            <a:r>
              <a:rPr lang="en-US" altLang="zh-CN" dirty="0"/>
              <a:t>“</a:t>
            </a:r>
            <a:r>
              <a:rPr lang="zh-CN" altLang="en-US" dirty="0"/>
              <a:t>课程号”属性必须取唯一值</a:t>
            </a:r>
          </a:p>
          <a:p>
            <a:pPr lvl="1" algn="just">
              <a:lnSpc>
                <a:spcPct val="140000"/>
              </a:lnSpc>
            </a:pPr>
            <a:r>
              <a:rPr lang="zh-CN" altLang="en-US" dirty="0"/>
              <a:t>非主属性“课程名”也不能取空值</a:t>
            </a:r>
          </a:p>
          <a:p>
            <a:pPr lvl="1" algn="just">
              <a:lnSpc>
                <a:spcPct val="140000"/>
              </a:lnSpc>
            </a:pPr>
            <a:r>
              <a:rPr lang="zh-CN" altLang="en-US" dirty="0"/>
              <a:t>“学分”属性只能取值</a:t>
            </a:r>
            <a:r>
              <a:rPr lang="en-US" altLang="zh-CN" dirty="0"/>
              <a:t>{1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4}</a:t>
            </a:r>
          </a:p>
          <a:p>
            <a:pPr algn="just" eaLnBrk="1" hangingPunct="1">
              <a:lnSpc>
                <a:spcPct val="160000"/>
              </a:lnSpc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119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88913"/>
            <a:ext cx="7391400" cy="5635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600" dirty="0" smtClean="0"/>
              <a:t>数据表示例</a:t>
            </a:r>
            <a:endParaRPr lang="en-US" altLang="zh-CN" sz="3600" dirty="0" smtClean="0"/>
          </a:p>
        </p:txBody>
      </p:sp>
      <p:sp>
        <p:nvSpPr>
          <p:cNvPr id="84996" name="Rectangle 83"/>
          <p:cNvSpPr>
            <a:spLocks noChangeArrowheads="1"/>
          </p:cNvSpPr>
          <p:nvPr/>
        </p:nvSpPr>
        <p:spPr bwMode="auto">
          <a:xfrm>
            <a:off x="468313" y="2133600"/>
            <a:ext cx="914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200" dirty="0"/>
              <a:t> </a:t>
            </a:r>
            <a:r>
              <a:rPr lang="en-US" altLang="zh-CN" sz="2200" b="1" dirty="0"/>
              <a:t>Student</a:t>
            </a:r>
          </a:p>
        </p:txBody>
      </p:sp>
      <p:sp>
        <p:nvSpPr>
          <p:cNvPr id="84997" name="Rectangle 91"/>
          <p:cNvSpPr>
            <a:spLocks noChangeArrowheads="1"/>
          </p:cNvSpPr>
          <p:nvPr/>
        </p:nvSpPr>
        <p:spPr bwMode="auto">
          <a:xfrm>
            <a:off x="539750" y="1127125"/>
            <a:ext cx="7488238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/>
              <a:t>学生</a:t>
            </a:r>
            <a:r>
              <a:rPr lang="en-US" altLang="zh-CN" sz="2400" b="1"/>
              <a:t>-</a:t>
            </a:r>
            <a:r>
              <a:rPr lang="zh-CN" altLang="en-US" sz="2400" b="1"/>
              <a:t>课程数据库</a:t>
            </a:r>
            <a:r>
              <a:rPr lang="en-US" altLang="zh-CN" sz="2400" b="1"/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/>
              <a:t>     </a:t>
            </a:r>
            <a:r>
              <a:rPr lang="zh-CN" altLang="en-US" sz="2400" b="1"/>
              <a:t>学生关系</a:t>
            </a:r>
            <a:r>
              <a:rPr lang="en-US" altLang="zh-CN" sz="2400" b="1"/>
              <a:t>Student</a:t>
            </a:r>
            <a:r>
              <a:rPr lang="zh-CN" altLang="en-US" sz="2400" b="1"/>
              <a:t>、课程关系</a:t>
            </a:r>
            <a:r>
              <a:rPr lang="en-US" altLang="zh-CN" sz="2400" b="1"/>
              <a:t>Course</a:t>
            </a:r>
            <a:r>
              <a:rPr lang="zh-CN" altLang="en-US" sz="2400" b="1"/>
              <a:t>和选修</a:t>
            </a:r>
            <a:r>
              <a:rPr lang="zh-CN" altLang="en-US" sz="2200" b="1"/>
              <a:t>关系</a:t>
            </a:r>
            <a:r>
              <a:rPr lang="en-US" altLang="zh-CN" sz="2200" b="1"/>
              <a:t>SC</a:t>
            </a:r>
          </a:p>
        </p:txBody>
      </p:sp>
      <p:graphicFrame>
        <p:nvGraphicFramePr>
          <p:cNvPr id="341263" name="Group 271"/>
          <p:cNvGraphicFramePr>
            <a:graphicFrameLocks noGrp="1"/>
          </p:cNvGraphicFramePr>
          <p:nvPr>
            <p:ph idx="1"/>
            <p:extLst/>
          </p:nvPr>
        </p:nvGraphicFramePr>
        <p:xfrm>
          <a:off x="1892411" y="2133600"/>
          <a:ext cx="5970490" cy="19796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94329"/>
                <a:gridCol w="1194328"/>
                <a:gridCol w="1193176"/>
                <a:gridCol w="1194329"/>
                <a:gridCol w="1194328"/>
              </a:tblGrid>
              <a:tr h="5309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学号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Sno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姓名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Sname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性别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Ssex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年龄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Sage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所在系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Sdept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66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201215121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李勇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男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CS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66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201215122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刘晨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女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CS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66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201215123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王敏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女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66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201215125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张立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男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19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IS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786" marB="467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7" name="Group 575"/>
          <p:cNvGraphicFramePr>
            <a:graphicFrameLocks/>
          </p:cNvGraphicFramePr>
          <p:nvPr>
            <p:extLst/>
          </p:nvPr>
        </p:nvGraphicFramePr>
        <p:xfrm>
          <a:off x="230743" y="4326269"/>
          <a:ext cx="4277647" cy="2431296"/>
        </p:xfrm>
        <a:graphic>
          <a:graphicData uri="http://schemas.openxmlformats.org/drawingml/2006/table">
            <a:tbl>
              <a:tblPr/>
              <a:tblGrid>
                <a:gridCol w="1069879"/>
                <a:gridCol w="1132428"/>
                <a:gridCol w="1006395"/>
                <a:gridCol w="1068945"/>
              </a:tblGrid>
              <a:tr h="38177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Cname</a:t>
                      </a:r>
                      <a:endParaRPr kumimoji="0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先行课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Cpno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Ccredit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8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8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数学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8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信息系统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8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操作系统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8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数据结构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8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数据处理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8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PASCAL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语言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Text Box 502"/>
          <p:cNvSpPr txBox="1">
            <a:spLocks noChangeArrowheads="1"/>
          </p:cNvSpPr>
          <p:nvPr/>
        </p:nvSpPr>
        <p:spPr bwMode="auto">
          <a:xfrm>
            <a:off x="198938" y="3786381"/>
            <a:ext cx="1154112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1" dirty="0"/>
              <a:t>Course</a:t>
            </a:r>
          </a:p>
        </p:txBody>
      </p:sp>
      <p:graphicFrame>
        <p:nvGraphicFramePr>
          <p:cNvPr id="9" name="Group 384"/>
          <p:cNvGraphicFramePr>
            <a:graphicFrameLocks/>
          </p:cNvGraphicFramePr>
          <p:nvPr>
            <p:extLst/>
          </p:nvPr>
        </p:nvGraphicFramePr>
        <p:xfrm>
          <a:off x="4877656" y="4440329"/>
          <a:ext cx="3729163" cy="2317236"/>
        </p:xfrm>
        <a:graphic>
          <a:graphicData uri="http://schemas.openxmlformats.org/drawingml/2006/table">
            <a:tbl>
              <a:tblPr/>
              <a:tblGrid>
                <a:gridCol w="1907375"/>
                <a:gridCol w="874213"/>
                <a:gridCol w="947575"/>
              </a:tblGrid>
              <a:tr h="60539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Grade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85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201215121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88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2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201215122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</a:t>
                      </a:r>
                    </a:p>
                  </a:txBody>
                  <a:tcPr marL="90000" marR="90000" marT="46799" marB="467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Rectangle 185"/>
          <p:cNvSpPr>
            <a:spLocks noChangeArrowheads="1"/>
          </p:cNvSpPr>
          <p:nvPr/>
        </p:nvSpPr>
        <p:spPr bwMode="auto">
          <a:xfrm>
            <a:off x="4610100" y="4073856"/>
            <a:ext cx="10795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200" b="1" dirty="0"/>
              <a:t>SC</a:t>
            </a:r>
          </a:p>
        </p:txBody>
      </p:sp>
    </p:spTree>
    <p:extLst>
      <p:ext uri="{BB962C8B-B14F-4D97-AF65-F5344CB8AC3E}">
        <p14:creationId xmlns:p14="http://schemas.microsoft.com/office/powerpoint/2010/main" val="119284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学生表</a:t>
            </a:r>
            <a:r>
              <a:rPr lang="en-US" altLang="zh-CN" sz="3600" smtClean="0"/>
              <a:t>Student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2486" y="1325563"/>
            <a:ext cx="8867775" cy="4276725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3.5]  </a:t>
            </a:r>
            <a:r>
              <a:rPr lang="zh-CN" altLang="en-US" sz="2400" dirty="0" smtClean="0"/>
              <a:t>建立“学生”表</a:t>
            </a:r>
            <a:r>
              <a:rPr lang="en-US" altLang="zh-CN" sz="2400" dirty="0" smtClean="0"/>
              <a:t>Student</a:t>
            </a:r>
            <a:r>
              <a:rPr lang="zh-CN" altLang="en-US" sz="2400" dirty="0" smtClean="0"/>
              <a:t>。学号是主码，姓名取值唯一。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 dirty="0" smtClean="0"/>
              <a:t>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CREATE TABLE Student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</a:t>
            </a:r>
            <a:r>
              <a:rPr lang="zh-CN" altLang="en-US" sz="2400" dirty="0" smtClean="0"/>
              <a:t>(</a:t>
            </a:r>
            <a:r>
              <a:rPr lang="en-US" altLang="zh-CN" sz="2400" dirty="0" err="1" smtClean="0"/>
              <a:t>Sno</a:t>
            </a:r>
            <a:r>
              <a:rPr lang="en-US" altLang="zh-CN" sz="2400" dirty="0" smtClean="0"/>
              <a:t>   CHAR</a:t>
            </a:r>
            <a:r>
              <a:rPr lang="zh-CN" altLang="en-US" sz="2400" dirty="0" smtClean="0"/>
              <a:t>(</a:t>
            </a:r>
            <a:r>
              <a:rPr lang="en-US" altLang="zh-CN" sz="2400" dirty="0" smtClean="0"/>
              <a:t>9</a:t>
            </a:r>
            <a:r>
              <a:rPr lang="zh-CN" altLang="en-US" sz="2400" dirty="0" smtClean="0"/>
              <a:t>)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00FF"/>
                </a:solidFill>
              </a:rPr>
              <a:t>PRIMARY KEY</a:t>
            </a:r>
            <a:r>
              <a:rPr lang="zh-CN" altLang="en-US" sz="2400" dirty="0" smtClean="0"/>
              <a:t>, </a:t>
            </a:r>
            <a:r>
              <a:rPr lang="en-US" altLang="zh-CN" sz="2400" dirty="0" smtClean="0"/>
              <a:t/>
            </a:r>
            <a:br>
              <a:rPr lang="en-US" altLang="zh-CN" sz="2400" dirty="0" smtClean="0"/>
            </a:br>
            <a:r>
              <a:rPr lang="en-US" altLang="zh-CN" sz="2400" dirty="0" smtClean="0">
                <a:solidFill>
                  <a:srgbClr val="FF0000"/>
                </a:solidFill>
              </a:rPr>
              <a:t>                               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/* </a:t>
            </a:r>
            <a:r>
              <a:rPr lang="zh-CN" altLang="en-US" sz="2000" dirty="0" smtClean="0">
                <a:solidFill>
                  <a:srgbClr val="FF0000"/>
                </a:solidFill>
              </a:rPr>
              <a:t>列级完整性约束条件</a:t>
            </a:r>
            <a:r>
              <a:rPr lang="en-US" altLang="zh-CN" sz="2000" dirty="0" smtClean="0">
                <a:solidFill>
                  <a:srgbClr val="FF0000"/>
                </a:solidFill>
              </a:rPr>
              <a:t>,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Sno</a:t>
            </a:r>
            <a:r>
              <a:rPr lang="zh-CN" altLang="en-US" sz="2000" dirty="0" smtClean="0">
                <a:solidFill>
                  <a:srgbClr val="FF0000"/>
                </a:solidFill>
              </a:rPr>
              <a:t>是主码*</a:t>
            </a:r>
            <a:r>
              <a:rPr lang="en-US" altLang="zh-CN" sz="2000" dirty="0" smtClean="0">
                <a:solidFill>
                  <a:srgbClr val="FF0000"/>
                </a:solidFill>
              </a:rPr>
              <a:t>/        </a:t>
            </a:r>
            <a:r>
              <a:rPr lang="en-US" altLang="zh-CN" sz="2400" dirty="0" smtClean="0">
                <a:solidFill>
                  <a:srgbClr val="FF0000"/>
                </a:solidFill>
              </a:rPr>
              <a:t>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</a:t>
            </a:r>
            <a:r>
              <a:rPr lang="zh-CN" altLang="en-US" sz="2400" dirty="0" smtClean="0"/>
              <a:t>       </a:t>
            </a:r>
            <a:r>
              <a:rPr lang="en-US" altLang="zh-CN" sz="2400" dirty="0" err="1" smtClean="0"/>
              <a:t>Sname</a:t>
            </a:r>
            <a:r>
              <a:rPr lang="en-US" altLang="zh-CN" sz="2400" dirty="0" smtClean="0"/>
              <a:t> CHAR</a:t>
            </a:r>
            <a:r>
              <a:rPr lang="zh-CN" altLang="en-US" sz="2400" dirty="0" smtClean="0"/>
              <a:t>(</a:t>
            </a:r>
            <a:r>
              <a:rPr lang="en-US" altLang="zh-CN" sz="2400" dirty="0" smtClean="0"/>
              <a:t>20</a:t>
            </a:r>
            <a:r>
              <a:rPr lang="zh-CN" altLang="en-US" sz="2400" dirty="0" smtClean="0"/>
              <a:t>)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00FF"/>
                </a:solidFill>
              </a:rPr>
              <a:t>UNIQUE</a:t>
            </a:r>
            <a:r>
              <a:rPr lang="zh-CN" altLang="en-US" sz="2400" dirty="0" smtClean="0"/>
              <a:t>,            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/* </a:t>
            </a:r>
            <a:r>
              <a:rPr lang="en-US" altLang="zh-CN" sz="2000" dirty="0" err="1" smtClean="0"/>
              <a:t>Sname</a:t>
            </a:r>
            <a:r>
              <a:rPr lang="zh-CN" altLang="en-US" sz="2000" dirty="0" smtClean="0"/>
              <a:t>取唯一值*</a:t>
            </a:r>
            <a:r>
              <a:rPr lang="en-US" altLang="zh-CN" sz="2000" dirty="0" smtClean="0"/>
              <a:t>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 </a:t>
            </a:r>
            <a:r>
              <a:rPr lang="en-US" altLang="zh-CN" sz="2400" dirty="0" err="1" smtClean="0"/>
              <a:t>Ssex</a:t>
            </a:r>
            <a:r>
              <a:rPr lang="en-US" altLang="zh-CN" sz="2400" dirty="0" smtClean="0"/>
              <a:t>    CHAR</a:t>
            </a:r>
            <a:r>
              <a:rPr lang="zh-CN" altLang="en-US" sz="2400" dirty="0" smtClean="0"/>
              <a:t>(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),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</a:t>
            </a:r>
            <a:r>
              <a:rPr lang="en-US" altLang="zh-CN" sz="2400" dirty="0" smtClean="0"/>
              <a:t>Sage   SMALLINT</a:t>
            </a:r>
            <a:r>
              <a:rPr lang="zh-CN" altLang="en-US" sz="2400" dirty="0" smtClean="0"/>
              <a:t>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</a:t>
            </a:r>
            <a:r>
              <a:rPr lang="en-US" altLang="zh-CN" sz="2400" dirty="0" err="1" smtClean="0"/>
              <a:t>Sdept</a:t>
            </a:r>
            <a:r>
              <a:rPr lang="en-US" altLang="zh-CN" sz="2400" dirty="0" smtClean="0"/>
              <a:t>  CHAR</a:t>
            </a:r>
            <a:r>
              <a:rPr lang="zh-CN" altLang="en-US" sz="2400" dirty="0" smtClean="0"/>
              <a:t>(</a:t>
            </a:r>
            <a:r>
              <a:rPr lang="en-US" altLang="zh-CN" sz="2400" dirty="0" smtClean="0"/>
              <a:t>20</a:t>
            </a:r>
            <a:r>
              <a:rPr lang="zh-CN" altLang="en-US" sz="2400" dirty="0" smtClean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</a:t>
            </a:r>
            <a:r>
              <a:rPr lang="zh-CN" altLang="en-US" sz="2400" dirty="0" smtClean="0"/>
              <a:t>); </a:t>
            </a:r>
          </a:p>
        </p:txBody>
      </p:sp>
      <p:sp>
        <p:nvSpPr>
          <p:cNvPr id="36868" name="AutoShape 7"/>
          <p:cNvSpPr>
            <a:spLocks noChangeArrowheads="1"/>
          </p:cNvSpPr>
          <p:nvPr/>
        </p:nvSpPr>
        <p:spPr bwMode="auto">
          <a:xfrm>
            <a:off x="5596152" y="1798638"/>
            <a:ext cx="914400" cy="609600"/>
          </a:xfrm>
          <a:prstGeom prst="wedgeRoundRectCallout">
            <a:avLst>
              <a:gd name="adj1" fmla="val -151287"/>
              <a:gd name="adj2" fmla="val 79306"/>
              <a:gd name="adj3" fmla="val 16667"/>
            </a:avLst>
          </a:prstGeom>
          <a:gradFill rotWithShape="1">
            <a:gsLst>
              <a:gs pos="0">
                <a:srgbClr val="CCFFFF">
                  <a:alpha val="73000"/>
                </a:srgbClr>
              </a:gs>
              <a:gs pos="100000">
                <a:srgbClr val="B9CC4A"/>
              </a:gs>
            </a:gsLst>
            <a:lin ang="5400000" scaled="1"/>
          </a:gradFill>
          <a:ln w="25400">
            <a:solidFill>
              <a:srgbClr val="FF99CC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主码</a:t>
            </a:r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6156325" y="3700463"/>
            <a:ext cx="1079500" cy="609600"/>
          </a:xfrm>
          <a:prstGeom prst="wedgeRoundRectCallout">
            <a:avLst>
              <a:gd name="adj1" fmla="val -196079"/>
              <a:gd name="adj2" fmla="val -87884"/>
              <a:gd name="adj3" fmla="val 16667"/>
            </a:avLst>
          </a:prstGeom>
          <a:gradFill rotWithShape="1">
            <a:gsLst>
              <a:gs pos="0">
                <a:srgbClr val="CCFFFF">
                  <a:alpha val="73000"/>
                </a:srgbClr>
              </a:gs>
              <a:gs pos="100000">
                <a:srgbClr val="B9CC4A"/>
              </a:gs>
            </a:gsLst>
            <a:lin ang="5400000" scaled="1"/>
          </a:gradFill>
          <a:ln w="25400">
            <a:solidFill>
              <a:srgbClr val="FF99CC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1"/>
              <a:t>UNIQUE</a:t>
            </a:r>
          </a:p>
          <a:p>
            <a:pPr algn="ctr" eaLnBrk="1" hangingPunct="1"/>
            <a:r>
              <a:rPr lang="zh-CN" altLang="en-US" sz="1600" b="1"/>
              <a:t>约束</a:t>
            </a:r>
          </a:p>
        </p:txBody>
      </p:sp>
    </p:spTree>
    <p:extLst>
      <p:ext uri="{BB962C8B-B14F-4D97-AF65-F5344CB8AC3E}">
        <p14:creationId xmlns:p14="http://schemas.microsoft.com/office/powerpoint/2010/main" val="269644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nimBg="1" autoUpdateAnimBg="0"/>
      <p:bldP spid="5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课程表</a:t>
            </a:r>
            <a:r>
              <a:rPr lang="en-US" altLang="zh-CN" sz="3600" smtClean="0"/>
              <a:t>Course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7950" y="1325563"/>
            <a:ext cx="903605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宋体" panose="02010600030101010101" pitchFamily="2" charset="-122"/>
              </a:rPr>
              <a:t> </a:t>
            </a: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3.6 ]</a:t>
            </a:r>
            <a:r>
              <a:rPr lang="en-US" altLang="zh-CN" sz="2400" dirty="0" smtClean="0">
                <a:latin typeface="宋体" panose="02010600030101010101" pitchFamily="2" charset="-122"/>
              </a:rPr>
              <a:t> </a:t>
            </a:r>
            <a:r>
              <a:rPr lang="zh-CN" altLang="en-US" sz="2400" dirty="0" smtClean="0">
                <a:latin typeface="宋体" panose="02010600030101010101" pitchFamily="2" charset="-122"/>
              </a:rPr>
              <a:t>建立一个“课程”表</a:t>
            </a:r>
            <a:r>
              <a:rPr lang="en-US" altLang="zh-CN" sz="2400" dirty="0" smtClean="0"/>
              <a:t>Course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CREATE TABLE  Course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</a:t>
            </a:r>
            <a:r>
              <a:rPr lang="zh-CN" altLang="en-US" sz="2400" dirty="0" smtClean="0"/>
              <a:t>  </a:t>
            </a:r>
            <a:r>
              <a:rPr lang="en-US" altLang="zh-CN" sz="2400" dirty="0" smtClean="0"/>
              <a:t>  </a:t>
            </a:r>
            <a:r>
              <a:rPr lang="zh-CN" altLang="en-US" sz="2400" dirty="0" smtClean="0"/>
              <a:t> (</a:t>
            </a:r>
            <a:r>
              <a:rPr lang="en-US" altLang="zh-CN" sz="2400" dirty="0" err="1" smtClean="0"/>
              <a:t>Cno</a:t>
            </a:r>
            <a:r>
              <a:rPr lang="en-US" altLang="zh-CN" sz="2400" dirty="0" smtClean="0"/>
              <a:t>       CHAR</a:t>
            </a:r>
            <a:r>
              <a:rPr lang="zh-CN" altLang="en-US" sz="2400" dirty="0" smtClean="0"/>
              <a:t>(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)</a:t>
            </a:r>
            <a:r>
              <a:rPr lang="en-US" altLang="zh-CN" sz="2400" dirty="0" smtClean="0"/>
              <a:t> PRIMARY KEY</a:t>
            </a:r>
            <a:r>
              <a:rPr lang="zh-CN" altLang="en-US" sz="2400" dirty="0" smtClean="0"/>
              <a:t>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</a:t>
            </a:r>
            <a:r>
              <a:rPr lang="en-US" altLang="zh-CN" sz="2400" dirty="0" smtClean="0"/>
              <a:t>	</a:t>
            </a:r>
            <a:r>
              <a:rPr lang="zh-CN" altLang="en-US" sz="2400" dirty="0" smtClean="0"/>
              <a:t> </a:t>
            </a:r>
            <a:r>
              <a:rPr lang="en-US" altLang="zh-CN" sz="2400" dirty="0" err="1" smtClean="0"/>
              <a:t>Cname</a:t>
            </a:r>
            <a:r>
              <a:rPr lang="en-US" altLang="zh-CN" sz="2400" dirty="0" smtClean="0"/>
              <a:t>  CHAR</a:t>
            </a:r>
            <a:r>
              <a:rPr lang="zh-CN" altLang="en-US" sz="2400" dirty="0" smtClean="0"/>
              <a:t>(</a:t>
            </a:r>
            <a:r>
              <a:rPr lang="en-US" altLang="zh-CN" sz="2400" dirty="0" smtClean="0"/>
              <a:t>40</a:t>
            </a:r>
            <a:r>
              <a:rPr lang="zh-CN" altLang="en-US" sz="2400" dirty="0" smtClean="0"/>
              <a:t>),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 </a:t>
            </a:r>
            <a:r>
              <a:rPr lang="en-US" altLang="zh-CN" sz="2400" dirty="0" smtClean="0"/>
              <a:t>	</a:t>
            </a:r>
            <a:r>
              <a:rPr lang="zh-CN" altLang="en-US" sz="2400" dirty="0" smtClean="0"/>
              <a:t> </a:t>
            </a:r>
            <a:r>
              <a:rPr lang="en-US" altLang="zh-CN" sz="2400" dirty="0" err="1" smtClean="0"/>
              <a:t>Cpno</a:t>
            </a:r>
            <a:r>
              <a:rPr lang="en-US" altLang="zh-CN" sz="2400" dirty="0" smtClean="0"/>
              <a:t>     CHAR</a:t>
            </a:r>
            <a:r>
              <a:rPr lang="zh-CN" altLang="en-US" sz="2400" dirty="0" smtClean="0"/>
              <a:t>(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),               	          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    </a:t>
            </a:r>
            <a:r>
              <a:rPr lang="en-US" altLang="zh-CN" sz="2400" dirty="0" err="1" smtClean="0"/>
              <a:t>Ccredit</a:t>
            </a:r>
            <a:r>
              <a:rPr lang="en-US" altLang="zh-CN" sz="2400" dirty="0" smtClean="0"/>
              <a:t>  SMALLINT</a:t>
            </a:r>
            <a:r>
              <a:rPr lang="zh-CN" altLang="en-US" sz="2400" dirty="0" smtClean="0"/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            </a:t>
            </a:r>
            <a:r>
              <a:rPr lang="en-US" altLang="zh-CN" sz="2400" dirty="0" smtClean="0"/>
              <a:t>FOREIGN KEY </a:t>
            </a:r>
            <a:r>
              <a:rPr lang="zh-CN" altLang="en-US" sz="2400" dirty="0" smtClean="0"/>
              <a:t>(</a:t>
            </a:r>
            <a:r>
              <a:rPr lang="en-US" altLang="zh-CN" sz="2400" dirty="0" err="1" smtClean="0"/>
              <a:t>Cpno</a:t>
            </a:r>
            <a:r>
              <a:rPr lang="zh-CN" altLang="en-US" sz="2400" dirty="0" smtClean="0"/>
              <a:t>)</a:t>
            </a:r>
            <a:r>
              <a:rPr lang="en-US" altLang="zh-CN" sz="2400" dirty="0" smtClean="0"/>
              <a:t> REFERENCES  Course</a:t>
            </a:r>
            <a:r>
              <a:rPr lang="zh-CN" altLang="en-US" sz="2400" dirty="0" smtClean="0"/>
              <a:t>(</a:t>
            </a:r>
            <a:r>
              <a:rPr lang="en-US" altLang="zh-CN" sz="2400" dirty="0" err="1" smtClean="0"/>
              <a:t>Cno</a:t>
            </a:r>
            <a:r>
              <a:rPr lang="zh-CN" altLang="en-US" sz="2400" dirty="0" smtClean="0"/>
              <a:t>)</a:t>
            </a:r>
            <a:r>
              <a:rPr lang="en-US" altLang="zh-CN" sz="2400" dirty="0" smtClean="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       </a:t>
            </a:r>
            <a:r>
              <a:rPr lang="zh-CN" altLang="en-US" sz="2400" dirty="0" smtClean="0"/>
              <a:t>   )</a:t>
            </a:r>
            <a:r>
              <a:rPr lang="en-US" altLang="zh-CN" sz="2400" dirty="0" smtClean="0"/>
              <a:t>; </a:t>
            </a:r>
          </a:p>
        </p:txBody>
      </p:sp>
      <p:sp>
        <p:nvSpPr>
          <p:cNvPr id="37892" name="AutoShape 6"/>
          <p:cNvSpPr>
            <a:spLocks noChangeArrowheads="1"/>
          </p:cNvSpPr>
          <p:nvPr/>
        </p:nvSpPr>
        <p:spPr bwMode="auto">
          <a:xfrm>
            <a:off x="5727357" y="2688926"/>
            <a:ext cx="1008063" cy="528638"/>
          </a:xfrm>
          <a:prstGeom prst="wedgeRoundRectCallout">
            <a:avLst>
              <a:gd name="adj1" fmla="val -211301"/>
              <a:gd name="adj2" fmla="val 58407"/>
              <a:gd name="adj3" fmla="val 16667"/>
            </a:avLst>
          </a:prstGeom>
          <a:gradFill rotWithShape="1">
            <a:gsLst>
              <a:gs pos="0">
                <a:srgbClr val="C4F2D2"/>
              </a:gs>
              <a:gs pos="100000">
                <a:srgbClr val="F6FDF8"/>
              </a:gs>
            </a:gsLst>
            <a:lin ang="5400000" scaled="1"/>
          </a:gra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先修课</a:t>
            </a:r>
            <a:r>
              <a:rPr lang="zh-CN" altLang="en-US"/>
              <a:t> </a:t>
            </a:r>
          </a:p>
        </p:txBody>
      </p:sp>
      <p:sp>
        <p:nvSpPr>
          <p:cNvPr id="37893" name="AutoShape 8"/>
          <p:cNvSpPr>
            <a:spLocks noChangeArrowheads="1"/>
          </p:cNvSpPr>
          <p:nvPr/>
        </p:nvSpPr>
        <p:spPr bwMode="auto">
          <a:xfrm>
            <a:off x="4714875" y="4586288"/>
            <a:ext cx="2447925" cy="1008062"/>
          </a:xfrm>
          <a:prstGeom prst="wedgeRoundRectCallout">
            <a:avLst>
              <a:gd name="adj1" fmla="val -58755"/>
              <a:gd name="adj2" fmla="val -83856"/>
              <a:gd name="adj3" fmla="val 16667"/>
            </a:avLst>
          </a:prstGeom>
          <a:gradFill rotWithShape="1">
            <a:gsLst>
              <a:gs pos="0">
                <a:srgbClr val="C4F2D2"/>
              </a:gs>
              <a:gs pos="100000">
                <a:srgbClr val="E9FAEE"/>
              </a:gs>
            </a:gsLst>
            <a:lin ang="5400000" scaled="1"/>
          </a:gradFill>
          <a:ln w="25400">
            <a:solidFill>
              <a:srgbClr val="00FFFF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   </a:t>
            </a:r>
            <a:r>
              <a:rPr lang="en-US" altLang="zh-CN" b="1"/>
              <a:t>Cpno</a:t>
            </a:r>
            <a:r>
              <a:rPr lang="zh-CN" altLang="en-US" b="1"/>
              <a:t>是外码</a:t>
            </a:r>
          </a:p>
          <a:p>
            <a:pPr eaLnBrk="1" hangingPunct="1"/>
            <a:r>
              <a:rPr lang="zh-CN" altLang="en-US" b="1"/>
              <a:t>   被参照表是</a:t>
            </a:r>
            <a:r>
              <a:rPr lang="en-US" altLang="zh-CN" b="1"/>
              <a:t>Course</a:t>
            </a:r>
          </a:p>
          <a:p>
            <a:pPr eaLnBrk="1" hangingPunct="1"/>
            <a:r>
              <a:rPr lang="zh-CN" altLang="en-US" b="1"/>
              <a:t>   被参照列是</a:t>
            </a:r>
            <a:r>
              <a:rPr lang="en-US" altLang="zh-CN" b="1"/>
              <a:t>Cno</a:t>
            </a:r>
          </a:p>
        </p:txBody>
      </p:sp>
    </p:spTree>
    <p:extLst>
      <p:ext uri="{BB962C8B-B14F-4D97-AF65-F5344CB8AC3E}">
        <p14:creationId xmlns:p14="http://schemas.microsoft.com/office/powerpoint/2010/main" val="233649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 autoUpdateAnimBg="0"/>
      <p:bldP spid="37893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学生选课表</a:t>
            </a:r>
            <a:r>
              <a:rPr lang="en-US" altLang="zh-CN" sz="3600" smtClean="0"/>
              <a:t>SC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3676" y="1255069"/>
            <a:ext cx="8229600" cy="485457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[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3.7]  </a:t>
            </a:r>
            <a:r>
              <a:rPr lang="zh-CN" altLang="en-US" sz="2400" dirty="0" smtClean="0">
                <a:latin typeface="宋体" panose="02010600030101010101" pitchFamily="2" charset="-122"/>
              </a:rPr>
              <a:t>建立一个学生选课表</a:t>
            </a:r>
            <a:r>
              <a:rPr lang="en-US" altLang="zh-CN" sz="2400" dirty="0" smtClean="0"/>
              <a:t>SC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 smtClean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 smtClean="0"/>
              <a:t> 	</a:t>
            </a:r>
            <a:r>
              <a:rPr lang="en-US" altLang="zh-CN" sz="2200" dirty="0" smtClean="0"/>
              <a:t>CREATE TABLE  SC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 smtClean="0"/>
              <a:t>          </a:t>
            </a:r>
            <a:r>
              <a:rPr lang="zh-CN" altLang="en-US" sz="2200" dirty="0" smtClean="0"/>
              <a:t>(</a:t>
            </a:r>
            <a:r>
              <a:rPr lang="en-US" altLang="zh-CN" sz="2200" dirty="0" err="1" smtClean="0"/>
              <a:t>Sno</a:t>
            </a:r>
            <a:r>
              <a:rPr lang="en-US" altLang="zh-CN" sz="2200" dirty="0" smtClean="0"/>
              <a:t>  CHAR</a:t>
            </a:r>
            <a:r>
              <a:rPr lang="zh-CN" altLang="en-US" sz="2200" dirty="0" smtClean="0"/>
              <a:t>(</a:t>
            </a:r>
            <a:r>
              <a:rPr lang="en-US" altLang="zh-CN" sz="2200" dirty="0" smtClean="0"/>
              <a:t>9</a:t>
            </a:r>
            <a:r>
              <a:rPr lang="zh-CN" altLang="en-US" sz="2200" dirty="0" smtClean="0"/>
              <a:t>),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      </a:t>
            </a:r>
            <a:r>
              <a:rPr lang="en-US" altLang="zh-CN" sz="2200" dirty="0" err="1" smtClean="0"/>
              <a:t>Cno</a:t>
            </a:r>
            <a:r>
              <a:rPr lang="en-US" altLang="zh-CN" sz="2200" dirty="0" smtClean="0"/>
              <a:t>  CHAR</a:t>
            </a:r>
            <a:r>
              <a:rPr lang="zh-CN" altLang="en-US" sz="2200" dirty="0" smtClean="0"/>
              <a:t>(</a:t>
            </a:r>
            <a:r>
              <a:rPr lang="en-US" altLang="zh-CN" sz="2200" dirty="0" smtClean="0"/>
              <a:t>4</a:t>
            </a:r>
            <a:r>
              <a:rPr lang="zh-CN" altLang="en-US" sz="2200" dirty="0" smtClean="0"/>
              <a:t>),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      </a:t>
            </a:r>
            <a:r>
              <a:rPr lang="en-US" altLang="zh-CN" sz="2200" dirty="0" smtClean="0"/>
              <a:t>Grade  SMALLINT</a:t>
            </a:r>
            <a:r>
              <a:rPr lang="zh-CN" altLang="en-US" sz="2200" dirty="0" smtClean="0"/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      </a:t>
            </a:r>
            <a:r>
              <a:rPr lang="en-US" altLang="zh-CN" sz="2200" dirty="0" smtClean="0"/>
              <a:t>PRIMARY KEY </a:t>
            </a:r>
            <a:r>
              <a:rPr lang="zh-CN" altLang="en-US" sz="2200" dirty="0" smtClean="0"/>
              <a:t>(</a:t>
            </a:r>
            <a:r>
              <a:rPr lang="en-US" altLang="zh-CN" sz="2200" dirty="0" err="1" smtClean="0"/>
              <a:t>Sno</a:t>
            </a:r>
            <a:r>
              <a:rPr lang="zh-CN" altLang="en-US" sz="2200" dirty="0" smtClean="0"/>
              <a:t>,</a:t>
            </a:r>
            <a:r>
              <a:rPr lang="en-US" altLang="zh-CN" sz="2200" dirty="0" err="1" smtClean="0"/>
              <a:t>Cno</a:t>
            </a:r>
            <a:r>
              <a:rPr lang="zh-CN" altLang="en-US" sz="2200" dirty="0" smtClean="0"/>
              <a:t>),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 dirty="0" smtClean="0"/>
              <a:t>                          </a:t>
            </a:r>
            <a:r>
              <a:rPr lang="en-US" altLang="zh-CN" sz="1800" dirty="0" smtClean="0"/>
              <a:t>/* </a:t>
            </a:r>
            <a:r>
              <a:rPr lang="zh-CN" altLang="en-US" sz="1800" dirty="0" smtClean="0"/>
              <a:t>主码由两个属性构成，必须作为表级完整性进行定义*</a:t>
            </a:r>
            <a:r>
              <a:rPr lang="en-US" altLang="zh-CN" sz="1800" dirty="0" smtClean="0"/>
              <a:t>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 smtClean="0"/>
              <a:t>      </a:t>
            </a:r>
            <a:r>
              <a:rPr lang="zh-CN" altLang="en-US" sz="2200" dirty="0" smtClean="0"/>
              <a:t>     </a:t>
            </a:r>
            <a:r>
              <a:rPr lang="en-US" altLang="zh-CN" sz="2200" dirty="0" smtClean="0"/>
              <a:t>FOREIGN KEY </a:t>
            </a:r>
            <a:r>
              <a:rPr lang="zh-CN" altLang="en-US" sz="2200" dirty="0" smtClean="0"/>
              <a:t>(</a:t>
            </a:r>
            <a:r>
              <a:rPr lang="en-US" altLang="zh-CN" sz="2200" dirty="0" err="1" smtClean="0"/>
              <a:t>Sno</a:t>
            </a:r>
            <a:r>
              <a:rPr lang="zh-CN" altLang="en-US" sz="2200" dirty="0" smtClean="0"/>
              <a:t>)</a:t>
            </a:r>
            <a:r>
              <a:rPr lang="en-US" altLang="zh-CN" sz="2200" dirty="0" smtClean="0"/>
              <a:t> REFERENCES Student</a:t>
            </a:r>
            <a:r>
              <a:rPr lang="zh-CN" altLang="en-US" sz="2200" dirty="0" smtClean="0"/>
              <a:t>(</a:t>
            </a:r>
            <a:r>
              <a:rPr lang="en-US" altLang="zh-CN" sz="2200" dirty="0" err="1" smtClean="0"/>
              <a:t>Sno</a:t>
            </a:r>
            <a:r>
              <a:rPr lang="zh-CN" altLang="en-US" sz="2200" dirty="0" smtClean="0"/>
              <a:t>),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 dirty="0" smtClean="0"/>
              <a:t>                         </a:t>
            </a:r>
            <a:r>
              <a:rPr lang="en-US" altLang="zh-CN" sz="1800" dirty="0" smtClean="0"/>
              <a:t>/* </a:t>
            </a:r>
            <a:r>
              <a:rPr lang="zh-CN" altLang="en-US" sz="1800" dirty="0" smtClean="0"/>
              <a:t>表级完整性约束条件，</a:t>
            </a:r>
            <a:r>
              <a:rPr lang="en-US" altLang="zh-CN" sz="1800" dirty="0" err="1" smtClean="0"/>
              <a:t>Sno</a:t>
            </a:r>
            <a:r>
              <a:rPr lang="zh-CN" altLang="en-US" sz="1800" dirty="0" smtClean="0"/>
              <a:t>是外码，被参照表是</a:t>
            </a:r>
            <a:r>
              <a:rPr lang="en-US" altLang="zh-CN" sz="1800" dirty="0" smtClean="0"/>
              <a:t>Student */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200" dirty="0" smtClean="0"/>
              <a:t>      </a:t>
            </a:r>
            <a:r>
              <a:rPr lang="zh-CN" altLang="en-US" sz="2200" dirty="0" smtClean="0"/>
              <a:t>     </a:t>
            </a:r>
            <a:r>
              <a:rPr lang="en-US" altLang="zh-CN" sz="2200" dirty="0" smtClean="0"/>
              <a:t>FOREIGN KEY </a:t>
            </a:r>
            <a:r>
              <a:rPr lang="zh-CN" altLang="en-US" sz="2200" dirty="0" smtClean="0"/>
              <a:t>(</a:t>
            </a:r>
            <a:r>
              <a:rPr lang="en-US" altLang="zh-CN" sz="2200" dirty="0" err="1" smtClean="0"/>
              <a:t>Cno</a:t>
            </a:r>
            <a:r>
              <a:rPr lang="zh-CN" altLang="en-US" sz="2200" dirty="0" smtClean="0"/>
              <a:t>)</a:t>
            </a:r>
            <a:r>
              <a:rPr lang="en-US" altLang="zh-CN" sz="2200" dirty="0" smtClean="0"/>
              <a:t>REFERENCES Course</a:t>
            </a:r>
            <a:r>
              <a:rPr lang="zh-CN" altLang="en-US" sz="2200" dirty="0" smtClean="0"/>
              <a:t>(</a:t>
            </a:r>
            <a:r>
              <a:rPr lang="en-US" altLang="zh-CN" sz="2200" dirty="0" err="1" smtClean="0"/>
              <a:t>Cno</a:t>
            </a:r>
            <a:r>
              <a:rPr lang="zh-CN" altLang="en-US" sz="2200" dirty="0" smtClean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                    /* </a:t>
            </a:r>
            <a:r>
              <a:rPr lang="zh-CN" altLang="en-US" sz="1800" dirty="0" smtClean="0"/>
              <a:t>表级完整性约束条件， </a:t>
            </a:r>
            <a:r>
              <a:rPr lang="en-US" altLang="zh-CN" sz="1800" dirty="0" err="1" smtClean="0"/>
              <a:t>Cno</a:t>
            </a:r>
            <a:r>
              <a:rPr lang="zh-CN" altLang="en-US" sz="1800" dirty="0" smtClean="0"/>
              <a:t>是外码，被参照表是</a:t>
            </a:r>
            <a:r>
              <a:rPr lang="en-US" altLang="zh-CN" sz="1800" dirty="0" smtClean="0"/>
              <a:t>Course*/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   )</a:t>
            </a:r>
            <a:r>
              <a:rPr lang="en-US" altLang="zh-CN" sz="2200" dirty="0" smtClean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810066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dirty="0" smtClean="0"/>
              <a:t>约束 （</a:t>
            </a:r>
            <a:r>
              <a:rPr lang="en-US" altLang="zh-CN" sz="3600" dirty="0"/>
              <a:t> </a:t>
            </a:r>
            <a:r>
              <a:rPr lang="en-US" altLang="zh-CN" sz="3600" dirty="0" smtClean="0"/>
              <a:t>Constraint </a:t>
            </a:r>
            <a:r>
              <a:rPr lang="zh-CN" altLang="en-US" sz="3600" dirty="0" smtClean="0"/>
              <a:t>）</a:t>
            </a:r>
            <a:endParaRPr lang="en-US" altLang="zh-CN" sz="3600" dirty="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3676" y="1255069"/>
            <a:ext cx="8229600" cy="5602931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altLang="zh-CN" sz="2400" dirty="0" smtClean="0"/>
              <a:t>PRIMARY </a:t>
            </a:r>
            <a:r>
              <a:rPr lang="en-US" altLang="zh-CN" sz="2400" dirty="0"/>
              <a:t>KEY </a:t>
            </a:r>
            <a:r>
              <a:rPr lang="zh-CN" altLang="en-US" sz="2400" dirty="0" smtClean="0"/>
              <a:t>、</a:t>
            </a:r>
            <a:r>
              <a:rPr lang="en-US" altLang="zh-CN" sz="2400" dirty="0"/>
              <a:t> FOREIGN KEY 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UNIQUE 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NOT NULL</a:t>
            </a:r>
          </a:p>
          <a:p>
            <a:pPr lvl="2">
              <a:buNone/>
            </a:pPr>
            <a:endParaRPr lang="en-US" altLang="zh-CN" sz="1800" dirty="0" smtClean="0"/>
          </a:p>
          <a:p>
            <a:pPr lvl="2">
              <a:buNone/>
            </a:pPr>
            <a:r>
              <a:rPr lang="en-US" altLang="zh-CN" sz="1800" dirty="0" smtClean="0"/>
              <a:t>CREATE </a:t>
            </a:r>
            <a:r>
              <a:rPr lang="en-US" altLang="zh-CN" sz="1800" dirty="0"/>
              <a:t>TABLE student</a:t>
            </a:r>
          </a:p>
          <a:p>
            <a:pPr lvl="2">
              <a:buNone/>
            </a:pPr>
            <a:r>
              <a:rPr lang="en-US" altLang="zh-CN" sz="1800" dirty="0"/>
              <a:t>	(SSN	NUMBER	NOT NULL UNIQUE,</a:t>
            </a:r>
          </a:p>
          <a:p>
            <a:pPr lvl="2">
              <a:buNone/>
            </a:pPr>
            <a:r>
              <a:rPr lang="en-US" altLang="zh-CN" sz="1800" dirty="0"/>
              <a:t>	SNAME		CHAR(10) NOT NULL ,</a:t>
            </a:r>
          </a:p>
          <a:p>
            <a:pPr lvl="2"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BirthDate</a:t>
            </a:r>
            <a:r>
              <a:rPr lang="en-US" altLang="zh-CN" sz="1800" dirty="0"/>
              <a:t>	 DATE ,</a:t>
            </a:r>
          </a:p>
          <a:p>
            <a:pPr lvl="2">
              <a:buNone/>
            </a:pPr>
            <a:r>
              <a:rPr lang="en-US" altLang="zh-CN" sz="1800" dirty="0"/>
              <a:t>	DEPTNO NUMBER</a:t>
            </a:r>
            <a:r>
              <a:rPr lang="en-US" altLang="zh-CN" sz="1800" dirty="0" smtClean="0"/>
              <a:t>);</a:t>
            </a:r>
          </a:p>
          <a:p>
            <a:pPr lvl="2">
              <a:buNone/>
            </a:pPr>
            <a:endParaRPr lang="en-US" altLang="zh-CN" sz="1800" dirty="0"/>
          </a:p>
          <a:p>
            <a:pPr>
              <a:buNone/>
            </a:pPr>
            <a:r>
              <a:rPr lang="en-US" altLang="zh-CN" sz="2400" dirty="0" smtClean="0"/>
              <a:t>CHECK </a:t>
            </a:r>
            <a:r>
              <a:rPr lang="en-US" altLang="zh-CN" sz="2400" dirty="0"/>
              <a:t>constraint </a:t>
            </a:r>
            <a:r>
              <a:rPr lang="zh-CN" altLang="en-US" sz="2400" dirty="0"/>
              <a:t>：</a:t>
            </a:r>
            <a:r>
              <a:rPr lang="zh-CN" altLang="en-US" sz="2400" dirty="0" smtClean="0"/>
              <a:t>限制列的取值</a:t>
            </a:r>
            <a:r>
              <a:rPr lang="zh-CN" altLang="en-US" sz="2400" dirty="0"/>
              <a:t>范围</a:t>
            </a:r>
            <a:endParaRPr lang="en-US" altLang="zh-CN" sz="2400" dirty="0" smtClean="0"/>
          </a:p>
          <a:p>
            <a:pPr>
              <a:buNone/>
            </a:pPr>
            <a:r>
              <a:rPr lang="en-US" altLang="zh-CN" sz="1600" dirty="0" smtClean="0"/>
              <a:t>	</a:t>
            </a:r>
          </a:p>
          <a:p>
            <a:pPr lvl="1">
              <a:buNone/>
            </a:pPr>
            <a:r>
              <a:rPr lang="zh-CN" altLang="en-US" sz="2200" dirty="0" smtClean="0"/>
              <a:t> 	</a:t>
            </a:r>
            <a:r>
              <a:rPr lang="en-US" altLang="zh-CN" sz="2000" dirty="0"/>
              <a:t>CREATE TABLE student</a:t>
            </a:r>
          </a:p>
          <a:p>
            <a:pPr lvl="1">
              <a:buNone/>
            </a:pPr>
            <a:r>
              <a:rPr lang="en-US" altLang="zh-CN" sz="2000" dirty="0"/>
              <a:t>	(</a:t>
            </a:r>
            <a:r>
              <a:rPr lang="en-US" altLang="zh-CN" sz="2000" dirty="0" smtClean="0"/>
              <a:t>SSN NUMBER</a:t>
            </a:r>
            <a:r>
              <a:rPr lang="en-US" altLang="zh-CN" sz="2000" dirty="0"/>
              <a:t>	PRIMARY KEY CHECK (SSN &gt;0),</a:t>
            </a:r>
          </a:p>
          <a:p>
            <a:pPr lvl="1">
              <a:buNone/>
            </a:pPr>
            <a:r>
              <a:rPr lang="en-US" altLang="zh-CN" sz="2000" dirty="0"/>
              <a:t>	SNAME		CHAR(10) NOT NULL ,</a:t>
            </a:r>
          </a:p>
          <a:p>
            <a:pPr lvl="1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BirthDate</a:t>
            </a:r>
            <a:r>
              <a:rPr lang="en-US" altLang="zh-CN" sz="2000" dirty="0"/>
              <a:t> 	DATE ,</a:t>
            </a:r>
          </a:p>
          <a:p>
            <a:pPr lvl="1">
              <a:buNone/>
            </a:pPr>
            <a:r>
              <a:rPr lang="en-US" altLang="zh-CN" sz="2000" dirty="0"/>
              <a:t>	DEPTNO 	NUMBER</a:t>
            </a:r>
            <a:r>
              <a:rPr lang="en-US" altLang="zh-CN" sz="2000" dirty="0" smtClean="0"/>
              <a:t>);</a:t>
            </a:r>
          </a:p>
          <a:p>
            <a:pPr lvl="1">
              <a:buNone/>
            </a:pPr>
            <a:endParaRPr lang="en-US" altLang="zh-CN" sz="2000" dirty="0"/>
          </a:p>
          <a:p>
            <a:pPr>
              <a:buNone/>
            </a:pPr>
            <a:r>
              <a:rPr lang="en-US" altLang="zh-CN" sz="2400" dirty="0"/>
              <a:t>DEFAULT </a:t>
            </a:r>
            <a:r>
              <a:rPr lang="en-US" altLang="zh-CN" sz="2400" dirty="0" smtClean="0"/>
              <a:t>constraint</a:t>
            </a:r>
            <a:r>
              <a:rPr lang="zh-CN" altLang="en-US" sz="2400" dirty="0"/>
              <a:t>：用于将默认值插入列</a:t>
            </a:r>
            <a:r>
              <a:rPr lang="zh-CN" altLang="en-US" sz="2400" dirty="0" smtClean="0"/>
              <a:t>中</a:t>
            </a:r>
            <a:endParaRPr lang="en-US" altLang="zh-CN" sz="2400" dirty="0" smtClean="0"/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CREATE TABLE student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	(SSN	NUMBER	</a:t>
            </a:r>
            <a:r>
              <a:rPr lang="en-US" altLang="zh-CN" dirty="0" smtClean="0"/>
              <a:t>    PRIMARY </a:t>
            </a:r>
            <a:r>
              <a:rPr lang="en-US" altLang="zh-CN" dirty="0"/>
              <a:t>KEY CHECK (</a:t>
            </a:r>
            <a:r>
              <a:rPr lang="en-US" altLang="zh-CN" dirty="0" err="1"/>
              <a:t>sno</a:t>
            </a:r>
            <a:r>
              <a:rPr lang="en-US" altLang="zh-CN" dirty="0"/>
              <a:t> &gt;0),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SNAME CHAR(20</a:t>
            </a:r>
            <a:r>
              <a:rPr lang="en-US" altLang="zh-CN" dirty="0"/>
              <a:t>) </a:t>
            </a:r>
            <a:r>
              <a:rPr lang="en-US" altLang="zh-CN" dirty="0" smtClean="0"/>
              <a:t> NOT </a:t>
            </a:r>
            <a:r>
              <a:rPr lang="en-US" altLang="zh-CN" dirty="0"/>
              <a:t>NULL ,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en-US" altLang="zh-CN" dirty="0" err="1" smtClean="0"/>
              <a:t>BirthDate</a:t>
            </a:r>
            <a:r>
              <a:rPr lang="en-US" altLang="zh-CN" dirty="0" smtClean="0"/>
              <a:t> DATE </a:t>
            </a:r>
            <a:r>
              <a:rPr lang="en-US" altLang="zh-CN" dirty="0"/>
              <a:t>,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	DEPTNO </a:t>
            </a:r>
            <a:r>
              <a:rPr lang="en-US" altLang="zh-CN" dirty="0" smtClean="0"/>
              <a:t>NUMBER </a:t>
            </a:r>
            <a:r>
              <a:rPr lang="en-US" altLang="zh-CN" dirty="0"/>
              <a:t>DEFAULT 00);</a:t>
            </a:r>
            <a:endParaRPr lang="zh-CN" altLang="en-US" dirty="0"/>
          </a:p>
          <a:p>
            <a:pPr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284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188913"/>
            <a:ext cx="7391400" cy="5635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600" dirty="0" smtClean="0"/>
              <a:t>数据类型</a:t>
            </a:r>
            <a:endParaRPr lang="en-US" altLang="zh-CN" sz="3600" dirty="0" smtClean="0"/>
          </a:p>
        </p:txBody>
      </p:sp>
      <p:graphicFrame>
        <p:nvGraphicFramePr>
          <p:cNvPr id="40963" name="Group 3"/>
          <p:cNvGraphicFramePr>
            <a:graphicFrameLocks noGrp="1"/>
          </p:cNvGraphicFramePr>
          <p:nvPr>
            <p:ph idx="4294967295"/>
            <p:extLst/>
          </p:nvPr>
        </p:nvGraphicFramePr>
        <p:xfrm>
          <a:off x="546893" y="1859603"/>
          <a:ext cx="8126413" cy="4998397"/>
        </p:xfrm>
        <a:graphic>
          <a:graphicData uri="http://schemas.openxmlformats.org/drawingml/2006/table">
            <a:tbl>
              <a:tblPr/>
              <a:tblGrid>
                <a:gridCol w="3136900"/>
                <a:gridCol w="4989513"/>
              </a:tblGrid>
              <a:tr h="28803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数据类型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含义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CHAR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(</a:t>
                      </a:r>
                      <a:r>
                        <a:rPr kumimoji="0" lang="en-US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)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,CHARACTER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(</a:t>
                      </a:r>
                      <a:r>
                        <a:rPr kumimoji="0" lang="en-US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长度为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的定长字符串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47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VARCHAR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(</a:t>
                      </a:r>
                      <a:r>
                        <a:rPr kumimoji="0" lang="en-US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)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 CHARACTERVARYING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(</a:t>
                      </a:r>
                      <a:r>
                        <a:rPr kumimoji="0" lang="en-US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最大长度为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的变长字符串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CLOB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字符串大对象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BLOB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二进制大对象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INT</a:t>
                      </a: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INTEGER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长整数（</a:t>
                      </a: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字节）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SMALLINT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短整数（</a:t>
                      </a: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字节）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BIGINT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大整数（</a:t>
                      </a: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字节）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NUMERIC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(</a:t>
                      </a:r>
                      <a:r>
                        <a:rPr kumimoji="0" lang="en-US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0" lang="en-US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定点数，由</a:t>
                      </a:r>
                      <a:r>
                        <a:rPr kumimoji="0" lang="en-US" sz="1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位数字（不包括符号、小数点）组成，小数后面有</a:t>
                      </a:r>
                      <a:r>
                        <a:rPr kumimoji="0" lang="en-US" sz="1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位数字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DECIMAL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(</a:t>
                      </a:r>
                      <a:r>
                        <a:rPr kumimoji="0" lang="en-US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)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 DEC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(</a:t>
                      </a:r>
                      <a:r>
                        <a:rPr kumimoji="0" lang="en-US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同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NUMERIC</a:t>
                      </a:r>
                      <a:endParaRPr kumimoji="0" lang="zh-CN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REAL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取决于机器精度的单精度浮点数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DOUBLE PRECISION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取决于机器精度的双精度浮点数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FLOAT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(</a:t>
                      </a:r>
                      <a:r>
                        <a:rPr kumimoji="0" lang="en-US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可选精度的浮点数，精度至少为</a:t>
                      </a:r>
                      <a:r>
                        <a:rPr kumimoji="0" lang="en-US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位数字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BOOLEAN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逻辑布尔量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日期，包含年、月、日，格式为</a:t>
                      </a: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YYYY-MM-DD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时间，包含一日的时、分、秒，格式为</a:t>
                      </a: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HH:MM:SS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TIMESTAMP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时间戳类型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22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INTERVAL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Times New Roman" pitchFamily="18" charset="0"/>
                        </a:rPr>
                        <a:t>时间间隔类型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349131" y="1055335"/>
            <a:ext cx="6630341" cy="8679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定义表的属性时需要指明其数据类型及</a:t>
            </a:r>
            <a:r>
              <a:rPr lang="zh-CN" altLang="en-US" dirty="0" smtClean="0"/>
              <a:t>长度</a:t>
            </a:r>
            <a:endParaRPr lang="en-US" altLang="zh-CN" dirty="0" smtClean="0"/>
          </a:p>
          <a:p>
            <a:pPr>
              <a:lnSpc>
                <a:spcPct val="140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注：不同的关系数据库管理系统中支持的数据类型不完全相同 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70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1248</TotalTime>
  <Words>3265</Words>
  <Application>Microsoft Office PowerPoint</Application>
  <PresentationFormat>全屏显示(4:3)</PresentationFormat>
  <Paragraphs>821</Paragraphs>
  <Slides>44</Slides>
  <Notes>15</Notes>
  <HiddenSlides>5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1" baseType="lpstr">
      <vt:lpstr>KaiTi</vt:lpstr>
      <vt:lpstr>OPPOSans M</vt:lpstr>
      <vt:lpstr>黑体</vt:lpstr>
      <vt:lpstr>黑体</vt:lpstr>
      <vt:lpstr>华文楷体</vt:lpstr>
      <vt:lpstr>宋体</vt:lpstr>
      <vt:lpstr>Microsoft YaHei</vt:lpstr>
      <vt:lpstr>Microsoft YaHei</vt:lpstr>
      <vt:lpstr>Arial</vt:lpstr>
      <vt:lpstr>Calibri</vt:lpstr>
      <vt:lpstr>Calibri Light</vt:lpstr>
      <vt:lpstr>Cambria Math</vt:lpstr>
      <vt:lpstr>Times</vt:lpstr>
      <vt:lpstr>Times New Roman</vt:lpstr>
      <vt:lpstr>Wingdings</vt:lpstr>
      <vt:lpstr>Office 主题</vt:lpstr>
      <vt:lpstr>Image</vt:lpstr>
      <vt:lpstr>关系数据库</vt:lpstr>
      <vt:lpstr>内容目录</vt:lpstr>
      <vt:lpstr>知识框架</vt:lpstr>
      <vt:lpstr>1.  关系模型</vt:lpstr>
      <vt:lpstr>1.关系模型</vt:lpstr>
      <vt:lpstr>PowerPoint 演示文稿</vt:lpstr>
      <vt:lpstr>PowerPoint 演示文稿</vt:lpstr>
      <vt:lpstr>PowerPoint 演示文稿</vt:lpstr>
      <vt:lpstr>PowerPoint 演示文稿</vt:lpstr>
      <vt:lpstr>2.关系数据库</vt:lpstr>
      <vt:lpstr>2.关系数据库</vt:lpstr>
      <vt:lpstr>知识框架</vt:lpstr>
      <vt:lpstr>2.关系数据库</vt:lpstr>
      <vt:lpstr>2.关系数据库</vt:lpstr>
      <vt:lpstr>2.关系数据库</vt:lpstr>
      <vt:lpstr>2.关系数据库</vt:lpstr>
      <vt:lpstr>2.关系数据库</vt:lpstr>
      <vt:lpstr>2. 关系数据库</vt:lpstr>
      <vt:lpstr>2. 关系数据库</vt:lpstr>
      <vt:lpstr>2.关系数据库</vt:lpstr>
      <vt:lpstr>2.关系数据库</vt:lpstr>
      <vt:lpstr>2. 关系数据库</vt:lpstr>
      <vt:lpstr>2．关系数据库</vt:lpstr>
      <vt:lpstr>2. 关系数据库</vt:lpstr>
      <vt:lpstr>3.关系的三类完整性约束</vt:lpstr>
      <vt:lpstr>3.关系的三类完整性约束</vt:lpstr>
      <vt:lpstr>3.关系的三类完整性约束</vt:lpstr>
      <vt:lpstr>3.关系的三类完整性约束</vt:lpstr>
      <vt:lpstr>3.1 实体完整性</vt:lpstr>
      <vt:lpstr>3.1 实体完整性</vt:lpstr>
      <vt:lpstr>3.1 实体完整性</vt:lpstr>
      <vt:lpstr>3.2 参照完整性</vt:lpstr>
      <vt:lpstr>3.2 参照完整性---关系间的引用</vt:lpstr>
      <vt:lpstr>3.2 参照完整性--外码（Foreign Key）</vt:lpstr>
      <vt:lpstr>3.2 参照完整性--外码（Foreign Key）</vt:lpstr>
      <vt:lpstr>3.2 参照完整性规则</vt:lpstr>
      <vt:lpstr>3.2 参照完整性规则</vt:lpstr>
      <vt:lpstr>3.3 用户定义的完整性</vt:lpstr>
      <vt:lpstr>数据表示例</vt:lpstr>
      <vt:lpstr>学生表Student</vt:lpstr>
      <vt:lpstr>课程表Course</vt:lpstr>
      <vt:lpstr>学生选课表SC</vt:lpstr>
      <vt:lpstr>约束 （ Constraint ）</vt:lpstr>
      <vt:lpstr>数据类型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317</cp:revision>
  <dcterms:created xsi:type="dcterms:W3CDTF">2020-09-13T01:44:02Z</dcterms:created>
  <dcterms:modified xsi:type="dcterms:W3CDTF">2025-09-12T07:29:13Z</dcterms:modified>
</cp:coreProperties>
</file>