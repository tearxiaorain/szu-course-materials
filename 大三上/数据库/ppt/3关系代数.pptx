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68"/>
  </p:notesMasterIdLst>
  <p:sldIdLst>
    <p:sldId id="256" r:id="rId2"/>
    <p:sldId id="259" r:id="rId3"/>
    <p:sldId id="338" r:id="rId4"/>
    <p:sldId id="339" r:id="rId5"/>
    <p:sldId id="408" r:id="rId6"/>
    <p:sldId id="386" r:id="rId7"/>
    <p:sldId id="341" r:id="rId8"/>
    <p:sldId id="342" r:id="rId9"/>
    <p:sldId id="343" r:id="rId10"/>
    <p:sldId id="344" r:id="rId11"/>
    <p:sldId id="385" r:id="rId12"/>
    <p:sldId id="345" r:id="rId13"/>
    <p:sldId id="346" r:id="rId14"/>
    <p:sldId id="394" r:id="rId15"/>
    <p:sldId id="347" r:id="rId16"/>
    <p:sldId id="348" r:id="rId17"/>
    <p:sldId id="402" r:id="rId18"/>
    <p:sldId id="398" r:id="rId19"/>
    <p:sldId id="405" r:id="rId20"/>
    <p:sldId id="406" r:id="rId21"/>
    <p:sldId id="407" r:id="rId22"/>
    <p:sldId id="387" r:id="rId23"/>
    <p:sldId id="403" r:id="rId24"/>
    <p:sldId id="350" r:id="rId25"/>
    <p:sldId id="351" r:id="rId26"/>
    <p:sldId id="352" r:id="rId27"/>
    <p:sldId id="353" r:id="rId28"/>
    <p:sldId id="355" r:id="rId29"/>
    <p:sldId id="356" r:id="rId30"/>
    <p:sldId id="359" r:id="rId31"/>
    <p:sldId id="361" r:id="rId32"/>
    <p:sldId id="362" r:id="rId33"/>
    <p:sldId id="363" r:id="rId34"/>
    <p:sldId id="364" r:id="rId35"/>
    <p:sldId id="365" r:id="rId36"/>
    <p:sldId id="395" r:id="rId37"/>
    <p:sldId id="366" r:id="rId38"/>
    <p:sldId id="367" r:id="rId39"/>
    <p:sldId id="396" r:id="rId40"/>
    <p:sldId id="400" r:id="rId41"/>
    <p:sldId id="368" r:id="rId42"/>
    <p:sldId id="399" r:id="rId43"/>
    <p:sldId id="369" r:id="rId44"/>
    <p:sldId id="370" r:id="rId45"/>
    <p:sldId id="371" r:id="rId46"/>
    <p:sldId id="372" r:id="rId47"/>
    <p:sldId id="373" r:id="rId48"/>
    <p:sldId id="374" r:id="rId49"/>
    <p:sldId id="375" r:id="rId50"/>
    <p:sldId id="376" r:id="rId51"/>
    <p:sldId id="377" r:id="rId52"/>
    <p:sldId id="379" r:id="rId53"/>
    <p:sldId id="378" r:id="rId54"/>
    <p:sldId id="380" r:id="rId55"/>
    <p:sldId id="381" r:id="rId56"/>
    <p:sldId id="388" r:id="rId57"/>
    <p:sldId id="382" r:id="rId58"/>
    <p:sldId id="383" r:id="rId59"/>
    <p:sldId id="389" r:id="rId60"/>
    <p:sldId id="390" r:id="rId61"/>
    <p:sldId id="401" r:id="rId62"/>
    <p:sldId id="384" r:id="rId63"/>
    <p:sldId id="391" r:id="rId64"/>
    <p:sldId id="392" r:id="rId65"/>
    <p:sldId id="393" r:id="rId66"/>
    <p:sldId id="404" r:id="rId6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4783" autoAdjust="0"/>
  </p:normalViewPr>
  <p:slideViewPr>
    <p:cSldViewPr snapToGrid="0">
      <p:cViewPr varScale="1">
        <p:scale>
          <a:sx n="109" d="100"/>
          <a:sy n="109" d="100"/>
        </p:scale>
        <p:origin x="100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2.wmf"/><Relationship Id="rId7" Type="http://schemas.openxmlformats.org/officeDocument/2006/relationships/image" Target="../media/image16.wmf"/><Relationship Id="rId2" Type="http://schemas.openxmlformats.org/officeDocument/2006/relationships/image" Target="../media/image11.wmf"/><Relationship Id="rId1" Type="http://schemas.openxmlformats.org/officeDocument/2006/relationships/image" Target="../media/image10.wmf"/><Relationship Id="rId6" Type="http://schemas.openxmlformats.org/officeDocument/2006/relationships/image" Target="../media/image15.wmf"/><Relationship Id="rId5" Type="http://schemas.openxmlformats.org/officeDocument/2006/relationships/image" Target="../media/image14.wmf"/><Relationship Id="rId4"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wmf"/><Relationship Id="rId1" Type="http://schemas.openxmlformats.org/officeDocument/2006/relationships/image" Target="../media/image18.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image" Target="../media/image2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014743-55CB-4535-BFA3-9EBD9B1C88C9}" type="datetimeFigureOut">
              <a:rPr lang="zh-CN" altLang="en-US" smtClean="0"/>
              <a:t>2025/10/9</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358177-CB7F-483B-8710-93D2E5EA7162}" type="slidenum">
              <a:rPr lang="zh-CN" altLang="en-US" smtClean="0"/>
              <a:t>‹#›</a:t>
            </a:fld>
            <a:endParaRPr lang="zh-CN" altLang="en-US"/>
          </a:p>
        </p:txBody>
      </p:sp>
    </p:spTree>
    <p:extLst>
      <p:ext uri="{BB962C8B-B14F-4D97-AF65-F5344CB8AC3E}">
        <p14:creationId xmlns:p14="http://schemas.microsoft.com/office/powerpoint/2010/main" val="4185390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SQL</a:t>
            </a:r>
            <a:r>
              <a:rPr lang="zh-CN" altLang="en-US" dirty="0" smtClean="0"/>
              <a:t>适用于面向应用程序开发人员和数据分析人员等使用，而关系代数主要适用于数据库理论研究人员和数据库系统设计人员等使用。</a:t>
            </a:r>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2</a:t>
            </a:fld>
            <a:endParaRPr lang="zh-CN" altLang="en-US"/>
          </a:p>
        </p:txBody>
      </p:sp>
    </p:spTree>
    <p:extLst>
      <p:ext uri="{BB962C8B-B14F-4D97-AF65-F5344CB8AC3E}">
        <p14:creationId xmlns:p14="http://schemas.microsoft.com/office/powerpoint/2010/main" val="764615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11</a:t>
            </a:fld>
            <a:endParaRPr lang="zh-CN" altLang="en-US"/>
          </a:p>
        </p:txBody>
      </p:sp>
    </p:spTree>
    <p:extLst>
      <p:ext uri="{BB962C8B-B14F-4D97-AF65-F5344CB8AC3E}">
        <p14:creationId xmlns:p14="http://schemas.microsoft.com/office/powerpoint/2010/main" val="6668603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18</a:t>
            </a:fld>
            <a:endParaRPr lang="zh-CN" altLang="en-US"/>
          </a:p>
        </p:txBody>
      </p:sp>
    </p:spTree>
    <p:extLst>
      <p:ext uri="{BB962C8B-B14F-4D97-AF65-F5344CB8AC3E}">
        <p14:creationId xmlns:p14="http://schemas.microsoft.com/office/powerpoint/2010/main" val="31853861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20</a:t>
            </a:fld>
            <a:endParaRPr lang="zh-CN" altLang="en-US"/>
          </a:p>
        </p:txBody>
      </p:sp>
    </p:spTree>
    <p:extLst>
      <p:ext uri="{BB962C8B-B14F-4D97-AF65-F5344CB8AC3E}">
        <p14:creationId xmlns:p14="http://schemas.microsoft.com/office/powerpoint/2010/main" val="7798352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Sigma</a:t>
            </a:r>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30</a:t>
            </a:fld>
            <a:endParaRPr lang="zh-CN" altLang="en-US"/>
          </a:p>
        </p:txBody>
      </p:sp>
    </p:spTree>
    <p:extLst>
      <p:ext uri="{BB962C8B-B14F-4D97-AF65-F5344CB8AC3E}">
        <p14:creationId xmlns:p14="http://schemas.microsoft.com/office/powerpoint/2010/main" val="12099214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31</a:t>
            </a:fld>
            <a:endParaRPr lang="zh-CN" altLang="en-US"/>
          </a:p>
        </p:txBody>
      </p:sp>
    </p:spTree>
    <p:extLst>
      <p:ext uri="{BB962C8B-B14F-4D97-AF65-F5344CB8AC3E}">
        <p14:creationId xmlns:p14="http://schemas.microsoft.com/office/powerpoint/2010/main" val="10901411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41</a:t>
            </a:fld>
            <a:endParaRPr lang="zh-CN" altLang="en-US"/>
          </a:p>
        </p:txBody>
      </p:sp>
    </p:spTree>
    <p:extLst>
      <p:ext uri="{BB962C8B-B14F-4D97-AF65-F5344CB8AC3E}">
        <p14:creationId xmlns:p14="http://schemas.microsoft.com/office/powerpoint/2010/main" val="1220319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42</a:t>
            </a:fld>
            <a:endParaRPr lang="zh-CN" altLang="en-US"/>
          </a:p>
        </p:txBody>
      </p:sp>
    </p:spTree>
    <p:extLst>
      <p:ext uri="{BB962C8B-B14F-4D97-AF65-F5344CB8AC3E}">
        <p14:creationId xmlns:p14="http://schemas.microsoft.com/office/powerpoint/2010/main" val="42250680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r" eaLnBrk="1" hangingPunct="1"/>
            <a:fld id="{35145C6C-CD5D-4D58-B651-1F6BC6C38935}" type="slidenum">
              <a:rPr lang="en-US" altLang="zh-CN" sz="1200"/>
              <a:pPr algn="r" eaLnBrk="1" hangingPunct="1"/>
              <a:t>56</a:t>
            </a:fld>
            <a:endParaRPr lang="en-US" altLang="zh-CN" sz="1200"/>
          </a:p>
        </p:txBody>
      </p:sp>
      <p:sp>
        <p:nvSpPr>
          <p:cNvPr id="235523" name="Rectangle 2"/>
          <p:cNvSpPr>
            <a:spLocks noChangeArrowheads="1"/>
          </p:cNvSpPr>
          <p:nvPr/>
        </p:nvSpPr>
        <p:spPr bwMode="auto">
          <a:xfrm>
            <a:off x="3884613" y="0"/>
            <a:ext cx="2973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endParaRPr lang="zh-CN" altLang="zh-CN" sz="1800">
              <a:latin typeface="Comic Sans MS" panose="030F0702030302020204" pitchFamily="66" charset="0"/>
            </a:endParaRPr>
          </a:p>
        </p:txBody>
      </p:sp>
      <p:sp>
        <p:nvSpPr>
          <p:cNvPr id="235524" name="Rectangle 3"/>
          <p:cNvSpPr>
            <a:spLocks noChangeArrowheads="1"/>
          </p:cNvSpPr>
          <p:nvPr/>
        </p:nvSpPr>
        <p:spPr bwMode="auto">
          <a:xfrm>
            <a:off x="3884613" y="8686800"/>
            <a:ext cx="2973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r" eaLnBrk="1" hangingPunct="1"/>
            <a:r>
              <a:rPr lang="en-US" altLang="zh-CN" sz="1000" i="1">
                <a:latin typeface="Comic Sans MS" panose="030F0702030302020204" pitchFamily="66" charset="0"/>
              </a:rPr>
              <a:t>14</a:t>
            </a:r>
          </a:p>
        </p:txBody>
      </p:sp>
      <p:sp>
        <p:nvSpPr>
          <p:cNvPr id="235525"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endParaRPr lang="zh-CN" altLang="zh-CN" sz="1800">
              <a:latin typeface="Comic Sans MS" panose="030F0702030302020204" pitchFamily="66" charset="0"/>
            </a:endParaRPr>
          </a:p>
        </p:txBody>
      </p:sp>
      <p:sp>
        <p:nvSpPr>
          <p:cNvPr id="235526"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endParaRPr lang="zh-CN" altLang="zh-CN" sz="1800">
              <a:latin typeface="Comic Sans MS" panose="030F0702030302020204" pitchFamily="66" charset="0"/>
            </a:endParaRPr>
          </a:p>
        </p:txBody>
      </p:sp>
      <p:sp>
        <p:nvSpPr>
          <p:cNvPr id="235527" name="Rectangle 6"/>
          <p:cNvSpPr>
            <a:spLocks noGrp="1" noRot="1" noChangeAspect="1" noChangeArrowheads="1" noTextEdit="1"/>
          </p:cNvSpPr>
          <p:nvPr>
            <p:ph type="sldImg"/>
          </p:nvPr>
        </p:nvSpPr>
        <p:spPr>
          <a:xfrm>
            <a:off x="1150938" y="692150"/>
            <a:ext cx="4556125" cy="3416300"/>
          </a:xfrm>
        </p:spPr>
      </p:sp>
      <p:sp>
        <p:nvSpPr>
          <p:cNvPr id="235528"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eaLnBrk="1" hangingPunct="1"/>
            <a:endParaRPr lang="zh-CN" altLang="zh-CN" smtClean="0"/>
          </a:p>
        </p:txBody>
      </p:sp>
    </p:spTree>
    <p:extLst>
      <p:ext uri="{BB962C8B-B14F-4D97-AF65-F5344CB8AC3E}">
        <p14:creationId xmlns:p14="http://schemas.microsoft.com/office/powerpoint/2010/main" val="17015370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60</a:t>
            </a:fld>
            <a:endParaRPr lang="zh-CN" altLang="en-US"/>
          </a:p>
        </p:txBody>
      </p:sp>
    </p:spTree>
    <p:extLst>
      <p:ext uri="{BB962C8B-B14F-4D97-AF65-F5344CB8AC3E}">
        <p14:creationId xmlns:p14="http://schemas.microsoft.com/office/powerpoint/2010/main" val="18751405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solidFill>
                  <a:schemeClr val="tx1"/>
                </a:solidFill>
              </a:defRPr>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2025/10/9</a:t>
            </a:fld>
            <a:endParaRPr lang="zh-CN" altLang="en-US"/>
          </a:p>
        </p:txBody>
      </p:sp>
      <p:sp>
        <p:nvSpPr>
          <p:cNvPr id="5" name="Footer Placeholder 4"/>
          <p:cNvSpPr>
            <a:spLocks noGrp="1"/>
          </p:cNvSpPr>
          <p:nvPr>
            <p:ph type="ftr" sz="quarter" idx="11"/>
          </p:nvPr>
        </p:nvSpPr>
        <p:spPr/>
        <p:txBody>
          <a:bodyPr/>
          <a:lstStyle/>
          <a:p>
            <a:r>
              <a:rPr lang="zh-CN" altLang="zh-CN" dirty="0" smtClean="0"/>
              <a:t>数据库系统</a:t>
            </a:r>
            <a:endParaRPr lang="zh-CN" altLang="en-US" dirty="0"/>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22808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2025/10/9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91728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D997B5FA-0921-464F-AAE1-844C04324D75}" type="datetimeFigureOut">
              <a:rPr lang="zh-CN" altLang="en-US" smtClean="0"/>
              <a:t>2025/10/9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508235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D997B5FA-0921-464F-AAE1-844C04324D75}" type="datetimeFigureOut">
              <a:rPr lang="zh-CN" altLang="en-US" smtClean="0"/>
              <a:t>2025/10/9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206612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D997B5FA-0921-464F-AAE1-844C04324D75}" type="datetimeFigureOut">
              <a:rPr lang="zh-CN" altLang="en-US" smtClean="0"/>
              <a:t>2025/10/9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5278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D997B5FA-0921-464F-AAE1-844C04324D75}" type="datetimeFigureOut">
              <a:rPr lang="zh-CN" altLang="en-US" smtClean="0"/>
              <a:t>2025/10/9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216205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97B5FA-0921-464F-AAE1-844C04324D75}" type="datetimeFigureOut">
              <a:rPr lang="zh-CN" altLang="en-US" smtClean="0"/>
              <a:t>2025/10/9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313788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D997B5FA-0921-464F-AAE1-844C04324D75}" type="datetimeFigureOut">
              <a:rPr lang="zh-CN" altLang="en-US" smtClean="0"/>
              <a:t>2025/10/9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894247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D997B5FA-0921-464F-AAE1-844C04324D75}" type="datetimeFigureOut">
              <a:rPr lang="zh-CN" altLang="en-US" smtClean="0"/>
              <a:t>2025/10/9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23342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2025/10/9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939427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2025/10/9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4089431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828800"/>
            <a:ext cx="4038600" cy="4495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828800"/>
            <a:ext cx="4038600" cy="21717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4152900"/>
            <a:ext cx="4038600" cy="21717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15"/>
          <p:cNvSpPr>
            <a:spLocks noGrp="1" noChangeArrowheads="1"/>
          </p:cNvSpPr>
          <p:nvPr>
            <p:ph type="dt" sz="half" idx="10"/>
          </p:nvPr>
        </p:nvSpPr>
        <p:spPr>
          <a:xfrm>
            <a:off x="457200" y="6400800"/>
            <a:ext cx="2133600" cy="320675"/>
          </a:xfrm>
          <a:prstGeom prst="rect">
            <a:avLst/>
          </a:prstGeom>
        </p:spPr>
        <p:txBody>
          <a:bodyPr/>
          <a:lstStyle>
            <a:lvl1pPr>
              <a:defRPr/>
            </a:lvl1pPr>
          </a:lstStyle>
          <a:p>
            <a:pPr>
              <a:defRPr/>
            </a:pPr>
            <a:endParaRPr lang="en-US" altLang="zh-CN"/>
          </a:p>
        </p:txBody>
      </p:sp>
      <p:sp>
        <p:nvSpPr>
          <p:cNvPr id="7" name="Rectangle 16"/>
          <p:cNvSpPr>
            <a:spLocks noGrp="1" noChangeArrowheads="1"/>
          </p:cNvSpPr>
          <p:nvPr>
            <p:ph type="ftr" sz="quarter" idx="11"/>
          </p:nvPr>
        </p:nvSpPr>
        <p:spPr>
          <a:xfrm>
            <a:off x="5219700" y="6381750"/>
            <a:ext cx="3600450" cy="320675"/>
          </a:xfrm>
          <a:prstGeom prst="rect">
            <a:avLst/>
          </a:prstGeom>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39859703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828800"/>
            <a:ext cx="8229600" cy="4495800"/>
          </a:xfrm>
        </p:spPr>
        <p:txBody>
          <a:bodyPr/>
          <a:lstStyle/>
          <a:p>
            <a:pPr lvl="0"/>
            <a:endParaRPr lang="zh-CN" altLang="en-US" noProof="0" smtClean="0"/>
          </a:p>
        </p:txBody>
      </p:sp>
      <p:sp>
        <p:nvSpPr>
          <p:cNvPr id="4" name="Rectangle 15"/>
          <p:cNvSpPr>
            <a:spLocks noGrp="1" noChangeArrowheads="1"/>
          </p:cNvSpPr>
          <p:nvPr>
            <p:ph type="dt" sz="half" idx="10"/>
          </p:nvPr>
        </p:nvSpPr>
        <p:spPr>
          <a:xfrm>
            <a:off x="457200" y="6400800"/>
            <a:ext cx="2133600" cy="320675"/>
          </a:xfrm>
          <a:prstGeom prst="rect">
            <a:avLst/>
          </a:prstGeom>
        </p:spPr>
        <p:txBody>
          <a:bodyPr/>
          <a:lstStyle>
            <a:lvl1pPr>
              <a:defRPr/>
            </a:lvl1pPr>
          </a:lstStyle>
          <a:p>
            <a:pPr>
              <a:defRPr/>
            </a:pPr>
            <a:endParaRPr lang="en-US" altLang="zh-CN"/>
          </a:p>
        </p:txBody>
      </p:sp>
      <p:sp>
        <p:nvSpPr>
          <p:cNvPr id="5" name="Rectangle 16"/>
          <p:cNvSpPr>
            <a:spLocks noGrp="1" noChangeArrowheads="1"/>
          </p:cNvSpPr>
          <p:nvPr>
            <p:ph type="ftr" sz="quarter" idx="11"/>
          </p:nvPr>
        </p:nvSpPr>
        <p:spPr>
          <a:xfrm>
            <a:off x="5219700" y="6381750"/>
            <a:ext cx="3600450" cy="320675"/>
          </a:xfrm>
          <a:prstGeom prst="rect">
            <a:avLst/>
          </a:prstGeom>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41816559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828800"/>
            <a:ext cx="4038600" cy="4495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828800"/>
            <a:ext cx="4038600" cy="4495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5"/>
          <p:cNvSpPr>
            <a:spLocks noGrp="1" noChangeArrowheads="1"/>
          </p:cNvSpPr>
          <p:nvPr>
            <p:ph type="dt" sz="half" idx="10"/>
          </p:nvPr>
        </p:nvSpPr>
        <p:spPr>
          <a:xfrm>
            <a:off x="457200" y="6400800"/>
            <a:ext cx="2133600" cy="320675"/>
          </a:xfrm>
          <a:prstGeom prst="rect">
            <a:avLst/>
          </a:prstGeom>
        </p:spPr>
        <p:txBody>
          <a:bodyPr/>
          <a:lstStyle>
            <a:lvl1pPr>
              <a:defRPr/>
            </a:lvl1pPr>
          </a:lstStyle>
          <a:p>
            <a:pPr>
              <a:defRPr/>
            </a:pPr>
            <a:endParaRPr lang="en-US" altLang="zh-CN"/>
          </a:p>
        </p:txBody>
      </p:sp>
      <p:sp>
        <p:nvSpPr>
          <p:cNvPr id="6" name="Rectangle 16"/>
          <p:cNvSpPr>
            <a:spLocks noGrp="1" noChangeArrowheads="1"/>
          </p:cNvSpPr>
          <p:nvPr>
            <p:ph type="ftr" sz="quarter" idx="11"/>
          </p:nvPr>
        </p:nvSpPr>
        <p:spPr>
          <a:xfrm>
            <a:off x="5219700" y="6381750"/>
            <a:ext cx="3600450" cy="320675"/>
          </a:xfrm>
          <a:prstGeom prst="rect">
            <a:avLst/>
          </a:prstGeom>
        </p:spPr>
        <p:txBody>
          <a:bodyPr/>
          <a:lstStyle>
            <a:lvl1pPr>
              <a:defRPr/>
            </a:lvl1pPr>
          </a:lstStyle>
          <a:p>
            <a:pPr>
              <a:defRPr/>
            </a:pPr>
            <a:r>
              <a:rPr lang="en-US" altLang="zh-CN"/>
              <a:t>An Introduction to Database System</a:t>
            </a:r>
            <a:endParaRPr lang="en-US" altLang="zh-CN" dirty="0"/>
          </a:p>
        </p:txBody>
      </p:sp>
    </p:spTree>
    <p:extLst>
      <p:ext uri="{BB962C8B-B14F-4D97-AF65-F5344CB8AC3E}">
        <p14:creationId xmlns:p14="http://schemas.microsoft.com/office/powerpoint/2010/main" val="3188197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微软雅黑" panose="020B0503020204020204" pitchFamily="82" charset="2"/>
                <a:ea typeface="微软雅黑" panose="020B0503020204020204" pitchFamily="82" charset="2"/>
              </a:defRPr>
            </a:lvl1pPr>
          </a:lstStyle>
          <a:p>
            <a:r>
              <a:rPr kumimoji="1" lang="zh-CN" altLang="en-US" dirty="0"/>
              <a:t>单击此处编辑母版标题样式</a:t>
            </a:r>
          </a:p>
        </p:txBody>
      </p:sp>
      <p:sp>
        <p:nvSpPr>
          <p:cNvPr id="5" name="页脚占位符 4"/>
          <p:cNvSpPr>
            <a:spLocks noGrp="1"/>
          </p:cNvSpPr>
          <p:nvPr>
            <p:ph type="ftr" sz="quarter" idx="11"/>
          </p:nvPr>
        </p:nvSpPr>
        <p:spPr>
          <a:xfrm>
            <a:off x="3028950" y="6547119"/>
            <a:ext cx="3086100" cy="310881"/>
          </a:xfrm>
          <a:prstGeom prst="rect">
            <a:avLst/>
          </a:prstGeom>
        </p:spPr>
        <p:txBody>
          <a:bodyPr vert="horz" lIns="91440" tIns="45720" rIns="91440" bIns="45720" rtlCol="0" anchor="ctr"/>
          <a:lstStyle>
            <a:defPPr>
              <a:defRPr lang="zh-CN"/>
            </a:defPPr>
            <a:lvl1pPr marL="0" algn="ctr" defTabSz="685800" rtl="0" eaLnBrk="1" latinLnBrk="0" hangingPunct="1">
              <a:defRPr sz="900" kern="1200">
                <a:solidFill>
                  <a:schemeClr val="tx1">
                    <a:tint val="75000"/>
                  </a:schemeClr>
                </a:solidFill>
                <a:latin typeface="SimHei" panose="02010609060101010101" pitchFamily="49" charset="-122"/>
                <a:ea typeface="SimHei" panose="02010609060101010101" pitchFamily="49" charset="-122"/>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p:cNvSpPr>
            <a:spLocks noGrp="1"/>
          </p:cNvSpPr>
          <p:nvPr>
            <p:ph type="sldNum" sz="quarter" idx="12"/>
          </p:nvPr>
        </p:nvSpPr>
        <p:spPr/>
        <p:txBody>
          <a:bodyPr/>
          <a:lstStyle/>
          <a:p>
            <a:fld id="{4B0D34C0-35A8-654C-9FBA-7B4E017BD630}" type="slidenum">
              <a:rPr/>
              <a:t>‹#›</a:t>
            </a:fld>
            <a:endParaRPr kumimoji="1" lang="zh-CN" altLang="en-US"/>
          </a:p>
        </p:txBody>
      </p:sp>
    </p:spTree>
    <p:extLst>
      <p:ext uri="{BB962C8B-B14F-4D97-AF65-F5344CB8AC3E}">
        <p14:creationId xmlns:p14="http://schemas.microsoft.com/office/powerpoint/2010/main" val="1637963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l="-3000" r="-3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23900" y="0"/>
            <a:ext cx="7886700" cy="1325563"/>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723900" y="1663701"/>
            <a:ext cx="7886700" cy="4351338"/>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2025/10/9</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zh-CN" dirty="0" smtClean="0"/>
              <a:t>数据库系统</a:t>
            </a:r>
            <a:endParaRPr lang="zh-CN" alt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dirty="0"/>
          </a:p>
        </p:txBody>
      </p:sp>
    </p:spTree>
    <p:extLst>
      <p:ext uri="{BB962C8B-B14F-4D97-AF65-F5344CB8AC3E}">
        <p14:creationId xmlns:p14="http://schemas.microsoft.com/office/powerpoint/2010/main" val="131982165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p"/>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n"/>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localhost/phpmyadmin/url.php?url=http://dev.mysql.com/doc/refman/5.5/en/select.html&amp;server=0&amp;token=a8c8eee66b2d285100f6723f9429cc83"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localhost/phpmyadmin/url.php?url=http://dev.mysql.com/doc/refman/5.5/en/select.html&amp;server=0&amp;token=a8c8eee66b2d285100f6723f9429cc83"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localhost/phpmyadmin/url.php?url=http://dev.mysql.com/doc/refman/5.5/en/select.html&amp;server=0&amp;token=a8c8eee66b2d285100f6723f9429cc83"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localhost/phpmyadmin/url.php?url=http://dev.mysql.com/doc/refman/5.5/en/string-functions.html&amp;server=0&amp;token=a8c8eee66b2d285100f6723f9429cc83#function_left" TargetMode="External"/><Relationship Id="rId2" Type="http://schemas.openxmlformats.org/officeDocument/2006/relationships/hyperlink" Target="http://localhost/phpmyadmin/url.php?url=http://dev.mysql.com/doc/refman/5.5/en/select.html&amp;server=0&amp;token=a8c8eee66b2d285100f6723f9429cc83" TargetMode="External"/><Relationship Id="rId1" Type="http://schemas.openxmlformats.org/officeDocument/2006/relationships/slideLayout" Target="../slideLayouts/slideLayout2.xml"/><Relationship Id="rId4" Type="http://schemas.openxmlformats.org/officeDocument/2006/relationships/hyperlink" Target="http://localhost/phpmyadmin/url.php?url=http://dev.mysql.com/doc/refman/5.5/en/string-functions.html&amp;server=0&amp;token=a8c8eee66b2d285100f6723f9429cc83#function_right"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14.wmf"/><Relationship Id="rId3" Type="http://schemas.openxmlformats.org/officeDocument/2006/relationships/notesSlide" Target="../notesSlides/notesSlide9.xml"/><Relationship Id="rId7" Type="http://schemas.openxmlformats.org/officeDocument/2006/relationships/image" Target="../media/image11.wmf"/><Relationship Id="rId12" Type="http://schemas.openxmlformats.org/officeDocument/2006/relationships/oleObject" Target="../embeddings/oleObject5.bin"/><Relationship Id="rId17" Type="http://schemas.openxmlformats.org/officeDocument/2006/relationships/image" Target="../media/image16.wmf"/><Relationship Id="rId2" Type="http://schemas.openxmlformats.org/officeDocument/2006/relationships/slideLayout" Target="../slideLayouts/slideLayout7.xml"/><Relationship Id="rId16" Type="http://schemas.openxmlformats.org/officeDocument/2006/relationships/oleObject" Target="../embeddings/oleObject7.bin"/><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13.wmf"/><Relationship Id="rId5" Type="http://schemas.openxmlformats.org/officeDocument/2006/relationships/image" Target="../media/image10.wmf"/><Relationship Id="rId15" Type="http://schemas.openxmlformats.org/officeDocument/2006/relationships/image" Target="../media/image15.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12.wmf"/><Relationship Id="rId14" Type="http://schemas.openxmlformats.org/officeDocument/2006/relationships/oleObject" Target="../embeddings/oleObject6.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notesSlide" Target="../notesSlides/notesSlide10.xml"/><Relationship Id="rId7" Type="http://schemas.openxmlformats.org/officeDocument/2006/relationships/image" Target="../media/image19.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9.bin"/><Relationship Id="rId5" Type="http://schemas.openxmlformats.org/officeDocument/2006/relationships/image" Target="../media/image18.emf"/><Relationship Id="rId4" Type="http://schemas.openxmlformats.org/officeDocument/2006/relationships/oleObject" Target="../embeddings/oleObject8.bin"/><Relationship Id="rId9" Type="http://schemas.openxmlformats.org/officeDocument/2006/relationships/image" Target="../media/image20.em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11.bin"/><Relationship Id="rId7" Type="http://schemas.openxmlformats.org/officeDocument/2006/relationships/image" Target="../media/image21.png"/><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23.emf"/><Relationship Id="rId5" Type="http://schemas.openxmlformats.org/officeDocument/2006/relationships/oleObject" Target="../embeddings/oleObject12.bin"/><Relationship Id="rId4" Type="http://schemas.openxmlformats.org/officeDocument/2006/relationships/image" Target="../media/image22.emf"/></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21.png"/><Relationship Id="rId5" Type="http://schemas.openxmlformats.org/officeDocument/2006/relationships/image" Target="../media/image25.png"/><Relationship Id="rId4" Type="http://schemas.openxmlformats.org/officeDocument/2006/relationships/image" Target="../media/image24.emf"/></Relationships>
</file>

<file path=ppt/slides/_rels/slide6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914545"/>
            <a:ext cx="7772400" cy="2387600"/>
          </a:xfrm>
        </p:spPr>
        <p:txBody>
          <a:bodyPr>
            <a:normAutofit/>
          </a:bodyPr>
          <a:lstStyle/>
          <a:p>
            <a:r>
              <a:rPr lang="zh-CN" altLang="en-US" dirty="0" smtClean="0"/>
              <a:t>关系</a:t>
            </a:r>
            <a:r>
              <a:rPr lang="zh-CN" altLang="en-US" dirty="0"/>
              <a:t>代数</a:t>
            </a:r>
            <a:endParaRPr lang="zh-CN" altLang="en-US" sz="4400" dirty="0"/>
          </a:p>
        </p:txBody>
      </p:sp>
      <p:sp>
        <p:nvSpPr>
          <p:cNvPr id="3" name="副标题 2"/>
          <p:cNvSpPr>
            <a:spLocks noGrp="1"/>
          </p:cNvSpPr>
          <p:nvPr>
            <p:ph type="subTitle" idx="1"/>
          </p:nvPr>
        </p:nvSpPr>
        <p:spPr/>
        <p:txBody>
          <a:bodyPr/>
          <a:lstStyle/>
          <a:p>
            <a:pPr>
              <a:lnSpc>
                <a:spcPct val="110000"/>
              </a:lnSpc>
            </a:pPr>
            <a:r>
              <a:rPr lang="zh-CN" altLang="en-US" dirty="0"/>
              <a:t>授课教师：张小燕</a:t>
            </a:r>
            <a:endParaRPr lang="en-US" altLang="zh-CN" dirty="0"/>
          </a:p>
          <a:p>
            <a:pPr>
              <a:lnSpc>
                <a:spcPct val="110000"/>
              </a:lnSpc>
            </a:pPr>
            <a:r>
              <a:rPr lang="zh-CN" altLang="en-US" dirty="0" smtClean="0"/>
              <a:t>邮箱：</a:t>
            </a:r>
            <a:r>
              <a:rPr lang="en-US" altLang="zh-CN" dirty="0" smtClean="0"/>
              <a:t>xyzhang15@szu.edu.cn</a:t>
            </a:r>
          </a:p>
          <a:p>
            <a:pPr>
              <a:lnSpc>
                <a:spcPct val="110000"/>
              </a:lnSpc>
            </a:pPr>
            <a:r>
              <a:rPr lang="zh-CN" altLang="en-US" dirty="0" smtClean="0"/>
              <a:t>深圳大学 计算机与软件学院</a:t>
            </a:r>
            <a:endParaRPr lang="en-US" altLang="zh-CN" dirty="0" smtClean="0"/>
          </a:p>
        </p:txBody>
      </p:sp>
    </p:spTree>
    <p:extLst>
      <p:ext uri="{BB962C8B-B14F-4D97-AF65-F5344CB8AC3E}">
        <p14:creationId xmlns:p14="http://schemas.microsoft.com/office/powerpoint/2010/main" val="22427916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内容目录</a:t>
            </a:r>
            <a:endParaRPr lang="en-US" altLang="zh-CN" dirty="0"/>
          </a:p>
        </p:txBody>
      </p:sp>
      <p:sp>
        <p:nvSpPr>
          <p:cNvPr id="3" name="内容占位符 2"/>
          <p:cNvSpPr>
            <a:spLocks noGrp="1"/>
          </p:cNvSpPr>
          <p:nvPr>
            <p:ph idx="1"/>
          </p:nvPr>
        </p:nvSpPr>
        <p:spPr/>
        <p:txBody>
          <a:bodyPr>
            <a:normAutofit lnSpcReduction="10000"/>
          </a:bodyPr>
          <a:lstStyle/>
          <a:p>
            <a:r>
              <a:rPr lang="zh-CN" altLang="en-US" dirty="0" smtClean="0"/>
              <a:t>传统的</a:t>
            </a:r>
            <a:r>
              <a:rPr lang="zh-CN" altLang="en-US" dirty="0"/>
              <a:t>集合</a:t>
            </a:r>
            <a:r>
              <a:rPr lang="zh-CN" altLang="en-US" dirty="0" smtClean="0"/>
              <a:t>运算</a:t>
            </a:r>
            <a:endParaRPr lang="en-US" altLang="zh-CN" dirty="0" smtClean="0"/>
          </a:p>
          <a:p>
            <a:pPr lvl="1"/>
            <a:r>
              <a:rPr lang="zh-CN" altLang="en-US" dirty="0" smtClean="0"/>
              <a:t>并</a:t>
            </a:r>
            <a:endParaRPr lang="en-US" altLang="zh-CN" dirty="0" smtClean="0"/>
          </a:p>
          <a:p>
            <a:pPr lvl="1"/>
            <a:r>
              <a:rPr lang="zh-CN" altLang="en-US" dirty="0" smtClean="0"/>
              <a:t>差</a:t>
            </a:r>
            <a:endParaRPr lang="en-US" altLang="zh-CN" dirty="0" smtClean="0"/>
          </a:p>
          <a:p>
            <a:pPr lvl="1"/>
            <a:r>
              <a:rPr lang="zh-CN" altLang="en-US" dirty="0" smtClean="0"/>
              <a:t>交</a:t>
            </a:r>
            <a:endParaRPr lang="en-US" altLang="zh-CN" dirty="0" smtClean="0"/>
          </a:p>
          <a:p>
            <a:pPr lvl="1"/>
            <a:r>
              <a:rPr lang="zh-CN" altLang="en-US" dirty="0"/>
              <a:t>笛卡尔积</a:t>
            </a:r>
            <a:endParaRPr lang="en-US" altLang="zh-CN" dirty="0" smtClean="0"/>
          </a:p>
          <a:p>
            <a:r>
              <a:rPr lang="zh-CN" altLang="en-US" dirty="0" smtClean="0"/>
              <a:t>专门的关系运算</a:t>
            </a:r>
            <a:endParaRPr lang="en-US" altLang="zh-CN" dirty="0" smtClean="0"/>
          </a:p>
          <a:p>
            <a:pPr lvl="1"/>
            <a:r>
              <a:rPr lang="zh-CN" altLang="en-US" dirty="0" smtClean="0"/>
              <a:t>选择</a:t>
            </a:r>
            <a:endParaRPr lang="en-US" altLang="zh-CN" dirty="0" smtClean="0"/>
          </a:p>
          <a:p>
            <a:pPr lvl="1"/>
            <a:r>
              <a:rPr lang="zh-CN" altLang="en-US" dirty="0" smtClean="0"/>
              <a:t>投影</a:t>
            </a:r>
            <a:endParaRPr lang="en-US" altLang="zh-CN" dirty="0" smtClean="0"/>
          </a:p>
          <a:p>
            <a:pPr lvl="1"/>
            <a:r>
              <a:rPr lang="zh-CN" altLang="en-US" dirty="0" smtClean="0"/>
              <a:t>连接</a:t>
            </a:r>
            <a:endParaRPr lang="en-US" altLang="zh-CN" dirty="0" smtClean="0"/>
          </a:p>
          <a:p>
            <a:pPr lvl="1"/>
            <a:r>
              <a:rPr lang="zh-CN" altLang="en-US" dirty="0" smtClean="0"/>
              <a:t>除运算</a:t>
            </a:r>
            <a:endParaRPr lang="en-US" altLang="zh-CN" dirty="0" smtClean="0"/>
          </a:p>
          <a:p>
            <a:r>
              <a:rPr lang="zh-CN" altLang="en-US" dirty="0" smtClean="0"/>
              <a:t>小结</a:t>
            </a:r>
            <a:endParaRPr lang="en-US" altLang="zh-CN" dirty="0" smtClean="0"/>
          </a:p>
        </p:txBody>
      </p:sp>
    </p:spTree>
    <p:extLst>
      <p:ext uri="{BB962C8B-B14F-4D97-AF65-F5344CB8AC3E}">
        <p14:creationId xmlns:p14="http://schemas.microsoft.com/office/powerpoint/2010/main" val="22764378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p:txBody>
          <a:bodyPr/>
          <a:lstStyle/>
          <a:p>
            <a:pPr eaLnBrk="1" hangingPunct="1"/>
            <a:r>
              <a:rPr lang="en-US" altLang="zh-CN" sz="3600" dirty="0" smtClean="0"/>
              <a:t> </a:t>
            </a:r>
            <a:r>
              <a:rPr lang="zh-CN" altLang="en-US" sz="3600" dirty="0" smtClean="0"/>
              <a:t>关系代数</a:t>
            </a:r>
          </a:p>
        </p:txBody>
      </p:sp>
      <p:sp>
        <p:nvSpPr>
          <p:cNvPr id="66563" name="内容占位符 2"/>
          <p:cNvSpPr>
            <a:spLocks noGrp="1"/>
          </p:cNvSpPr>
          <p:nvPr>
            <p:ph idx="1"/>
          </p:nvPr>
        </p:nvSpPr>
        <p:spPr>
          <a:xfrm>
            <a:off x="457200" y="1098550"/>
            <a:ext cx="8229600" cy="5095875"/>
          </a:xfrm>
        </p:spPr>
        <p:txBody>
          <a:bodyPr>
            <a:normAutofit/>
          </a:bodyPr>
          <a:lstStyle/>
          <a:p>
            <a:pPr eaLnBrk="1" hangingPunct="1">
              <a:lnSpc>
                <a:spcPct val="120000"/>
              </a:lnSpc>
              <a:spcBef>
                <a:spcPct val="0"/>
              </a:spcBef>
            </a:pPr>
            <a:r>
              <a:rPr lang="zh-CN" altLang="zh-CN" dirty="0" smtClean="0"/>
              <a:t>关系代数是一种抽象的查询语言，它用对关系的运算来表达查询</a:t>
            </a:r>
            <a:endParaRPr lang="en-US" altLang="zh-CN" dirty="0" smtClean="0"/>
          </a:p>
          <a:p>
            <a:pPr>
              <a:lnSpc>
                <a:spcPct val="120000"/>
              </a:lnSpc>
              <a:spcBef>
                <a:spcPct val="0"/>
              </a:spcBef>
            </a:pPr>
            <a:r>
              <a:rPr lang="zh-CN" altLang="en-US" dirty="0" smtClean="0"/>
              <a:t>任何</a:t>
            </a:r>
            <a:r>
              <a:rPr lang="zh-CN" altLang="en-US" dirty="0"/>
              <a:t>关系代数运算的输出总是一个关系。</a:t>
            </a:r>
            <a:endParaRPr lang="zh-CN" altLang="zh-CN" dirty="0" smtClean="0"/>
          </a:p>
          <a:p>
            <a:pPr eaLnBrk="1" hangingPunct="1">
              <a:lnSpc>
                <a:spcPct val="120000"/>
              </a:lnSpc>
              <a:spcBef>
                <a:spcPct val="0"/>
              </a:spcBef>
            </a:pPr>
            <a:r>
              <a:rPr lang="zh-CN" altLang="zh-CN" dirty="0" smtClean="0"/>
              <a:t>关系代数</a:t>
            </a:r>
            <a:endParaRPr lang="en-US" altLang="zh-CN" dirty="0" smtClean="0"/>
          </a:p>
          <a:p>
            <a:pPr lvl="1">
              <a:lnSpc>
                <a:spcPct val="120000"/>
              </a:lnSpc>
              <a:spcBef>
                <a:spcPct val="0"/>
              </a:spcBef>
            </a:pPr>
            <a:r>
              <a:rPr lang="zh-CN" altLang="zh-CN" dirty="0" smtClean="0"/>
              <a:t>运算对象是关系</a:t>
            </a:r>
            <a:endParaRPr lang="en-US" altLang="zh-CN" dirty="0" smtClean="0"/>
          </a:p>
          <a:p>
            <a:pPr lvl="1">
              <a:lnSpc>
                <a:spcPct val="120000"/>
              </a:lnSpc>
              <a:spcBef>
                <a:spcPct val="0"/>
              </a:spcBef>
            </a:pPr>
            <a:r>
              <a:rPr lang="zh-CN" altLang="zh-CN" dirty="0" smtClean="0"/>
              <a:t>运算结果亦为关系</a:t>
            </a:r>
          </a:p>
          <a:p>
            <a:pPr lvl="1">
              <a:lnSpc>
                <a:spcPct val="120000"/>
              </a:lnSpc>
              <a:spcBef>
                <a:spcPct val="0"/>
              </a:spcBef>
            </a:pPr>
            <a:r>
              <a:rPr lang="zh-CN" altLang="zh-CN" dirty="0" smtClean="0"/>
              <a:t>关系代数的运算符</a:t>
            </a:r>
            <a:r>
              <a:rPr lang="zh-CN" altLang="en-US" dirty="0" smtClean="0"/>
              <a:t>有</a:t>
            </a:r>
            <a:r>
              <a:rPr lang="zh-CN" altLang="zh-CN" dirty="0" smtClean="0"/>
              <a:t>两类：</a:t>
            </a:r>
            <a:endParaRPr lang="en-US" altLang="zh-CN" dirty="0" smtClean="0"/>
          </a:p>
          <a:p>
            <a:pPr lvl="2">
              <a:lnSpc>
                <a:spcPct val="120000"/>
              </a:lnSpc>
              <a:spcBef>
                <a:spcPct val="0"/>
              </a:spcBef>
            </a:pPr>
            <a:r>
              <a:rPr lang="zh-CN" altLang="zh-CN" dirty="0" smtClean="0"/>
              <a:t>集合运算符</a:t>
            </a:r>
            <a:r>
              <a:rPr lang="en-US" altLang="zh-CN" dirty="0" smtClean="0"/>
              <a:t> </a:t>
            </a:r>
            <a:r>
              <a:rPr lang="zh-CN" altLang="en-US" dirty="0" smtClean="0"/>
              <a:t>（关系看成元组的集合，以行为单位，</a:t>
            </a:r>
            <a:r>
              <a:rPr lang="zh-CN" altLang="en-US" dirty="0" smtClean="0">
                <a:solidFill>
                  <a:srgbClr val="FF0000"/>
                </a:solidFill>
              </a:rPr>
              <a:t>表与表之间的运算</a:t>
            </a:r>
            <a:r>
              <a:rPr lang="zh-CN" altLang="en-US" dirty="0" smtClean="0"/>
              <a:t>）</a:t>
            </a:r>
            <a:endParaRPr lang="en-US" altLang="zh-CN" dirty="0" smtClean="0"/>
          </a:p>
          <a:p>
            <a:pPr lvl="2">
              <a:lnSpc>
                <a:spcPct val="120000"/>
              </a:lnSpc>
              <a:spcBef>
                <a:spcPct val="0"/>
              </a:spcBef>
            </a:pPr>
            <a:r>
              <a:rPr lang="zh-CN" altLang="zh-CN" dirty="0" smtClean="0"/>
              <a:t>专门的关系运算符</a:t>
            </a:r>
            <a:r>
              <a:rPr lang="en-US" altLang="zh-CN" dirty="0" smtClean="0"/>
              <a:t> </a:t>
            </a:r>
            <a:r>
              <a:rPr lang="zh-CN" altLang="en-US" dirty="0" smtClean="0"/>
              <a:t>（涉及行和列，</a:t>
            </a:r>
            <a:r>
              <a:rPr lang="zh-CN" altLang="en-US" dirty="0" smtClean="0">
                <a:solidFill>
                  <a:srgbClr val="FF0000"/>
                </a:solidFill>
              </a:rPr>
              <a:t>表之间或内部运算</a:t>
            </a:r>
            <a:r>
              <a:rPr lang="zh-CN" altLang="en-US" dirty="0" smtClean="0"/>
              <a:t>）</a:t>
            </a:r>
            <a:endParaRPr lang="en-US" altLang="zh-CN" dirty="0" smtClean="0"/>
          </a:p>
        </p:txBody>
      </p:sp>
    </p:spTree>
    <p:extLst>
      <p:ext uri="{BB962C8B-B14F-4D97-AF65-F5344CB8AC3E}">
        <p14:creationId xmlns:p14="http://schemas.microsoft.com/office/powerpoint/2010/main" val="18351759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49"/>
          <p:cNvSpPr>
            <a:spLocks noChangeArrowheads="1"/>
          </p:cNvSpPr>
          <p:nvPr/>
        </p:nvSpPr>
        <p:spPr bwMode="auto">
          <a:xfrm>
            <a:off x="2039938" y="1147763"/>
            <a:ext cx="4403725" cy="52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200" b="1"/>
              <a:t>表</a:t>
            </a:r>
            <a:r>
              <a:rPr lang="en-US" altLang="zh-CN" sz="2200" b="1"/>
              <a:t>2.4  </a:t>
            </a:r>
            <a:r>
              <a:rPr lang="zh-CN" altLang="en-US" sz="2200" b="1"/>
              <a:t>关系代数运算符</a:t>
            </a:r>
          </a:p>
        </p:txBody>
      </p:sp>
      <p:sp>
        <p:nvSpPr>
          <p:cNvPr id="67587" name="Rectangle 52"/>
          <p:cNvSpPr>
            <a:spLocks noGrp="1" noChangeArrowheads="1"/>
          </p:cNvSpPr>
          <p:nvPr>
            <p:ph type="title"/>
          </p:nvPr>
        </p:nvSpPr>
        <p:spPr/>
        <p:txBody>
          <a:bodyPr/>
          <a:lstStyle/>
          <a:p>
            <a:pPr eaLnBrk="1" hangingPunct="1"/>
            <a:r>
              <a:rPr lang="en-US" altLang="zh-CN" sz="3600" dirty="0" smtClean="0"/>
              <a:t> </a:t>
            </a:r>
            <a:r>
              <a:rPr lang="zh-CN" altLang="en-US" sz="3600" dirty="0" smtClean="0"/>
              <a:t>关系代数</a:t>
            </a:r>
            <a:endParaRPr lang="en-US" altLang="zh-CN" sz="3600" dirty="0" smtClean="0"/>
          </a:p>
        </p:txBody>
      </p:sp>
      <p:graphicFrame>
        <p:nvGraphicFramePr>
          <p:cNvPr id="11" name="表格 10"/>
          <p:cNvGraphicFramePr>
            <a:graphicFrameLocks noGrp="1"/>
          </p:cNvGraphicFramePr>
          <p:nvPr/>
        </p:nvGraphicFramePr>
        <p:xfrm>
          <a:off x="1403350" y="2060575"/>
          <a:ext cx="6048375" cy="3651246"/>
        </p:xfrm>
        <a:graphic>
          <a:graphicData uri="http://schemas.openxmlformats.org/drawingml/2006/table">
            <a:tbl>
              <a:tblPr/>
              <a:tblGrid>
                <a:gridCol w="2015656"/>
                <a:gridCol w="2015656"/>
                <a:gridCol w="2017063"/>
              </a:tblGrid>
              <a:tr h="405694">
                <a:tc gridSpan="2">
                  <a:txBody>
                    <a:bodyPr/>
                    <a:lstStyle/>
                    <a:p>
                      <a:pPr algn="ctr">
                        <a:spcAft>
                          <a:spcPts val="0"/>
                        </a:spcAft>
                      </a:pPr>
                      <a:r>
                        <a:rPr lang="zh-CN" sz="2400" b="1" kern="100" dirty="0">
                          <a:latin typeface="Calibri"/>
                          <a:ea typeface="宋体"/>
                          <a:cs typeface="Times New Roman"/>
                        </a:rPr>
                        <a:t>运　算　符</a:t>
                      </a: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a:spcAft>
                          <a:spcPts val="0"/>
                        </a:spcAft>
                      </a:pPr>
                      <a:r>
                        <a:rPr lang="zh-CN" sz="2400" b="1" kern="100">
                          <a:latin typeface="Calibri"/>
                          <a:ea typeface="宋体"/>
                          <a:cs typeface="Times New Roman"/>
                        </a:rPr>
                        <a:t>含　义</a:t>
                      </a: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5694">
                <a:tc rowSpan="4">
                  <a:txBody>
                    <a:bodyPr/>
                    <a:lstStyle/>
                    <a:p>
                      <a:pPr algn="ctr">
                        <a:spcAft>
                          <a:spcPts val="0"/>
                        </a:spcAft>
                      </a:pPr>
                      <a:r>
                        <a:rPr lang="zh-CN" sz="2400" b="1" kern="100" dirty="0">
                          <a:latin typeface="Calibri"/>
                          <a:ea typeface="宋体"/>
                          <a:cs typeface="Times New Roman"/>
                        </a:rPr>
                        <a:t>集合</a:t>
                      </a:r>
                    </a:p>
                    <a:p>
                      <a:pPr algn="ctr">
                        <a:spcAft>
                          <a:spcPts val="0"/>
                        </a:spcAft>
                      </a:pPr>
                      <a:r>
                        <a:rPr lang="zh-CN" sz="2400" b="1" kern="100" dirty="0">
                          <a:latin typeface="Times New Roman"/>
                          <a:cs typeface="Times New Roman"/>
                        </a:rPr>
                        <a:t>运算符</a:t>
                      </a:r>
                      <a:endParaRPr lang="zh-CN" sz="2400" b="1" kern="100" dirty="0">
                        <a:latin typeface="宋体"/>
                        <a:cs typeface="Courier New"/>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b="1" kern="100" dirty="0">
                          <a:latin typeface="Calibri"/>
                          <a:ea typeface="宋体"/>
                          <a:cs typeface="Times New Roman"/>
                        </a:rPr>
                        <a:t>∪</a:t>
                      </a: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b="1" kern="100" dirty="0">
                          <a:latin typeface="Calibri"/>
                          <a:ea typeface="宋体"/>
                          <a:cs typeface="Times New Roman"/>
                        </a:rPr>
                        <a:t>并</a:t>
                      </a:r>
                    </a:p>
                  </a:txBody>
                  <a:tcPr marL="68572" marR="68572" marT="0" marB="0">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5694">
                <a:tc vMerge="1">
                  <a:txBody>
                    <a:bodyPr/>
                    <a:lstStyle/>
                    <a:p>
                      <a:pPr algn="ctr">
                        <a:spcAft>
                          <a:spcPts val="0"/>
                        </a:spcAft>
                      </a:pP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b="1" kern="100" dirty="0">
                          <a:latin typeface="Calibri"/>
                          <a:ea typeface="宋体"/>
                          <a:cs typeface="Times New Roman"/>
                        </a:rPr>
                        <a:t>-</a:t>
                      </a:r>
                      <a:endParaRPr lang="zh-CN" sz="2400" b="1" kern="100" dirty="0">
                        <a:latin typeface="Calibri"/>
                        <a:ea typeface="宋体"/>
                        <a:cs typeface="Times New Roman"/>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b="1" kern="100" dirty="0">
                          <a:latin typeface="Calibri"/>
                          <a:ea typeface="宋体"/>
                          <a:cs typeface="Times New Roman"/>
                        </a:rPr>
                        <a:t>差</a:t>
                      </a:r>
                    </a:p>
                  </a:txBody>
                  <a:tcPr marL="68572" marR="68572" marT="0" marB="0">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5694">
                <a:tc vMerge="1">
                  <a:txBody>
                    <a:bodyPr/>
                    <a:lstStyle/>
                    <a:p>
                      <a:pPr algn="ctr">
                        <a:spcAft>
                          <a:spcPts val="0"/>
                        </a:spcAft>
                      </a:pPr>
                      <a:endParaRPr lang="en-US" sz="2000" kern="100" dirty="0">
                        <a:latin typeface="Times New Roman"/>
                        <a:cs typeface="Courier New"/>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b="1" kern="100" dirty="0">
                          <a:latin typeface="Times New Roman"/>
                          <a:cs typeface="Times New Roman"/>
                        </a:rPr>
                        <a:t>∩</a:t>
                      </a:r>
                      <a:endParaRPr lang="zh-CN" sz="2400" b="1" kern="100" dirty="0">
                        <a:latin typeface="宋体"/>
                        <a:cs typeface="Courier New"/>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b="1" kern="100" dirty="0">
                          <a:latin typeface="Times New Roman"/>
                          <a:cs typeface="Times New Roman"/>
                        </a:rPr>
                        <a:t>交</a:t>
                      </a:r>
                      <a:endParaRPr lang="zh-CN" sz="2400" b="1" kern="100" dirty="0">
                        <a:latin typeface="宋体"/>
                        <a:cs typeface="Courier New"/>
                      </a:endParaRPr>
                    </a:p>
                  </a:txBody>
                  <a:tcPr marL="68572" marR="68572" marT="0" marB="0">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5694">
                <a:tc vMerge="1">
                  <a:txBody>
                    <a:bodyPr/>
                    <a:lstStyle/>
                    <a:p>
                      <a:pPr algn="ctr">
                        <a:spcAft>
                          <a:spcPts val="0"/>
                        </a:spcAft>
                      </a:pPr>
                      <a:endParaRPr lang="zh-CN" sz="2000" kern="100" dirty="0">
                        <a:latin typeface="宋体"/>
                        <a:cs typeface="Courier New"/>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b="1" kern="100" dirty="0">
                          <a:latin typeface="Times New Roman"/>
                          <a:cs typeface="Times New Roman"/>
                        </a:rPr>
                        <a:t>×</a:t>
                      </a:r>
                      <a:endParaRPr lang="zh-CN" sz="2400" b="1" kern="100" dirty="0">
                        <a:latin typeface="宋体"/>
                        <a:cs typeface="Courier New"/>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b="1" kern="100" dirty="0">
                          <a:latin typeface="Times New Roman"/>
                          <a:cs typeface="Times New Roman"/>
                        </a:rPr>
                        <a:t>笛卡尔积</a:t>
                      </a:r>
                      <a:endParaRPr lang="zh-CN" sz="2400" b="1" kern="100" dirty="0">
                        <a:latin typeface="宋体"/>
                        <a:cs typeface="Courier New"/>
                      </a:endParaRPr>
                    </a:p>
                  </a:txBody>
                  <a:tcPr marL="68572" marR="68572" marT="0" marB="0">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5694">
                <a:tc rowSpan="4">
                  <a:txBody>
                    <a:bodyPr/>
                    <a:lstStyle/>
                    <a:p>
                      <a:pPr algn="ctr">
                        <a:spcAft>
                          <a:spcPts val="0"/>
                        </a:spcAft>
                      </a:pPr>
                      <a:r>
                        <a:rPr lang="zh-CN" sz="2400" b="1" kern="100" dirty="0">
                          <a:latin typeface="Times New Roman"/>
                          <a:cs typeface="Times New Roman"/>
                        </a:rPr>
                        <a:t>专门的</a:t>
                      </a:r>
                      <a:endParaRPr lang="zh-CN" sz="2400" b="1" kern="100" dirty="0">
                        <a:latin typeface="宋体"/>
                        <a:cs typeface="Courier New"/>
                      </a:endParaRPr>
                    </a:p>
                    <a:p>
                      <a:pPr algn="ctr">
                        <a:spcAft>
                          <a:spcPts val="0"/>
                        </a:spcAft>
                      </a:pPr>
                      <a:r>
                        <a:rPr lang="zh-CN" sz="2400" b="1" kern="100" dirty="0">
                          <a:latin typeface="Times New Roman"/>
                          <a:cs typeface="Times New Roman"/>
                        </a:rPr>
                        <a:t>关系</a:t>
                      </a:r>
                      <a:endParaRPr lang="zh-CN" sz="2400" b="1" kern="100" dirty="0">
                        <a:latin typeface="宋体"/>
                        <a:cs typeface="Courier New"/>
                      </a:endParaRPr>
                    </a:p>
                    <a:p>
                      <a:pPr algn="ctr">
                        <a:spcAft>
                          <a:spcPts val="0"/>
                        </a:spcAft>
                      </a:pPr>
                      <a:r>
                        <a:rPr lang="zh-CN" sz="2400" b="1" kern="100" dirty="0">
                          <a:latin typeface="Times New Roman"/>
                          <a:cs typeface="Times New Roman"/>
                        </a:rPr>
                        <a:t>运算符</a:t>
                      </a:r>
                      <a:endParaRPr lang="zh-CN" sz="2400" b="1" kern="100" dirty="0">
                        <a:latin typeface="宋体"/>
                        <a:cs typeface="Courier New"/>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b="1" i="1" kern="100" dirty="0">
                          <a:latin typeface="Times New Roman"/>
                          <a:cs typeface="Times New Roman"/>
                        </a:rPr>
                        <a:t>σ</a:t>
                      </a:r>
                      <a:endParaRPr lang="zh-CN" sz="2400" b="1" kern="100" dirty="0">
                        <a:latin typeface="宋体"/>
                        <a:cs typeface="Courier New"/>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b="1" kern="100" dirty="0">
                          <a:latin typeface="Times New Roman"/>
                          <a:cs typeface="Times New Roman"/>
                        </a:rPr>
                        <a:t>选择</a:t>
                      </a:r>
                      <a:endParaRPr lang="zh-CN" sz="2400" b="1" kern="100" dirty="0">
                        <a:latin typeface="宋体"/>
                        <a:cs typeface="Courier New"/>
                      </a:endParaRPr>
                    </a:p>
                  </a:txBody>
                  <a:tcPr marL="68572" marR="68572" marT="0" marB="0">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5694">
                <a:tc vMerge="1">
                  <a:txBody>
                    <a:bodyPr/>
                    <a:lstStyle/>
                    <a:p>
                      <a:pPr algn="ctr">
                        <a:spcAft>
                          <a:spcPts val="0"/>
                        </a:spcAft>
                      </a:pPr>
                      <a:endParaRPr lang="zh-CN" sz="2000" kern="100" dirty="0">
                        <a:latin typeface="宋体"/>
                        <a:cs typeface="Courier New"/>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b="1" kern="100" dirty="0">
                          <a:latin typeface="Times New Roman"/>
                          <a:cs typeface="Times New Roman"/>
                        </a:rPr>
                        <a:t>π</a:t>
                      </a:r>
                      <a:endParaRPr lang="zh-CN" sz="2400" b="1" kern="100" dirty="0">
                        <a:latin typeface="宋体"/>
                        <a:cs typeface="Courier New"/>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b="1" kern="100" dirty="0">
                          <a:latin typeface="Times New Roman"/>
                          <a:cs typeface="Times New Roman"/>
                        </a:rPr>
                        <a:t>投影</a:t>
                      </a:r>
                      <a:endParaRPr lang="zh-CN" sz="2400" b="1" kern="100" dirty="0">
                        <a:latin typeface="宋体"/>
                        <a:cs typeface="Courier New"/>
                      </a:endParaRPr>
                    </a:p>
                  </a:txBody>
                  <a:tcPr marL="68572" marR="68572" marT="0" marB="0">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5694">
                <a:tc vMerge="1">
                  <a:txBody>
                    <a:bodyPr/>
                    <a:lstStyle/>
                    <a:p>
                      <a:pPr algn="ctr">
                        <a:spcAft>
                          <a:spcPts val="0"/>
                        </a:spcAft>
                      </a:pPr>
                      <a:endParaRPr lang="zh-CN" sz="2000" kern="100" dirty="0">
                        <a:latin typeface="宋体"/>
                        <a:cs typeface="Courier New"/>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endParaRPr lang="en-US" sz="2400" b="1" kern="100" dirty="0">
                        <a:solidFill>
                          <a:schemeClr val="tx1"/>
                        </a:solidFill>
                        <a:latin typeface="Times New Roman"/>
                        <a:ea typeface="+mn-ea"/>
                        <a:cs typeface="Times New Roman"/>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b="1" kern="100" dirty="0">
                          <a:latin typeface="Times New Roman"/>
                          <a:cs typeface="Times New Roman"/>
                        </a:rPr>
                        <a:t>连接</a:t>
                      </a:r>
                      <a:endParaRPr lang="zh-CN" sz="2400" b="1" kern="100" dirty="0">
                        <a:latin typeface="宋体"/>
                        <a:cs typeface="Courier New"/>
                      </a:endParaRPr>
                    </a:p>
                  </a:txBody>
                  <a:tcPr marL="68572" marR="68572" marT="0" marB="0">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5694">
                <a:tc vMerge="1">
                  <a:txBody>
                    <a:bodyPr/>
                    <a:lstStyle/>
                    <a:p>
                      <a:pPr algn="ctr">
                        <a:spcAft>
                          <a:spcPts val="0"/>
                        </a:spcAft>
                      </a:pPr>
                      <a:endParaRPr lang="en-US" sz="2000" kern="100" dirty="0">
                        <a:latin typeface="Times New Roman"/>
                        <a:cs typeface="Courier New"/>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b="1" kern="100" dirty="0">
                          <a:latin typeface="Times New Roman"/>
                          <a:cs typeface="Times New Roman"/>
                        </a:rPr>
                        <a:t>÷</a:t>
                      </a:r>
                      <a:endParaRPr lang="zh-CN" sz="2400" b="1" kern="100" dirty="0">
                        <a:latin typeface="宋体"/>
                        <a:cs typeface="Courier New"/>
                      </a:endParaRPr>
                    </a:p>
                  </a:txBody>
                  <a:tcPr marL="68572" marR="6857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b="1" kern="100" dirty="0">
                          <a:latin typeface="Times New Roman"/>
                          <a:cs typeface="Times New Roman"/>
                        </a:rPr>
                        <a:t>除</a:t>
                      </a:r>
                      <a:endParaRPr lang="zh-CN" sz="2400" b="1" kern="100" dirty="0">
                        <a:latin typeface="宋体"/>
                        <a:cs typeface="Courier New"/>
                      </a:endParaRPr>
                    </a:p>
                  </a:txBody>
                  <a:tcPr marL="68572" marR="68572" marT="0" marB="0">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pSp>
        <p:nvGrpSpPr>
          <p:cNvPr id="67624" name="Group 4"/>
          <p:cNvGrpSpPr>
            <a:grpSpLocks/>
          </p:cNvGrpSpPr>
          <p:nvPr/>
        </p:nvGrpSpPr>
        <p:grpSpPr bwMode="auto">
          <a:xfrm>
            <a:off x="3708400" y="5084763"/>
            <a:ext cx="1600200" cy="609600"/>
            <a:chOff x="2325" y="6446"/>
            <a:chExt cx="705" cy="367"/>
          </a:xfrm>
        </p:grpSpPr>
        <p:sp>
          <p:nvSpPr>
            <p:cNvPr id="67625" name="AutoShape 5"/>
            <p:cNvSpPr>
              <a:spLocks noChangeArrowheads="1"/>
            </p:cNvSpPr>
            <p:nvPr/>
          </p:nvSpPr>
          <p:spPr bwMode="auto">
            <a:xfrm rot="5400000" flipV="1">
              <a:off x="2612" y="6414"/>
              <a:ext cx="78" cy="142"/>
            </a:xfrm>
            <a:prstGeom prst="flowChartCollate">
              <a:avLst/>
            </a:prstGeom>
            <a:solidFill>
              <a:srgbClr val="FFFFFF"/>
            </a:solidFill>
            <a:ln w="6350">
              <a:solidFill>
                <a:srgbClr val="000000"/>
              </a:solid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b="1"/>
            </a:p>
          </p:txBody>
        </p:sp>
        <p:sp>
          <p:nvSpPr>
            <p:cNvPr id="67626" name="Text Box 6"/>
            <p:cNvSpPr txBox="1">
              <a:spLocks noChangeArrowheads="1"/>
            </p:cNvSpPr>
            <p:nvPr/>
          </p:nvSpPr>
          <p:spPr bwMode="auto">
            <a:xfrm flipV="1">
              <a:off x="2325" y="6450"/>
              <a:ext cx="705"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lnSpc>
                  <a:spcPct val="80000"/>
                </a:lnSpc>
              </a:pPr>
              <a:r>
                <a:rPr lang="en-US" altLang="zh-CN" sz="600" b="1" i="1"/>
                <a:t> </a:t>
              </a:r>
              <a:endParaRPr lang="en-US" altLang="zh-CN" sz="600" b="1"/>
            </a:p>
          </p:txBody>
        </p:sp>
      </p:grpSp>
    </p:spTree>
    <p:extLst>
      <p:ext uri="{BB962C8B-B14F-4D97-AF65-F5344CB8AC3E}">
        <p14:creationId xmlns:p14="http://schemas.microsoft.com/office/powerpoint/2010/main" val="3084567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8">
            <a:extLst>
              <a:ext uri="{FF2B5EF4-FFF2-40B4-BE49-F238E27FC236}">
                <a16:creationId xmlns:a16="http://schemas.microsoft.com/office/drawing/2014/main" xmlns="" id="{CA02947C-86FA-43A0-AEA7-1533075A3978}"/>
              </a:ext>
            </a:extLst>
          </p:cNvPr>
          <p:cNvSpPr/>
          <p:nvPr/>
        </p:nvSpPr>
        <p:spPr>
          <a:xfrm>
            <a:off x="228167" y="1325563"/>
            <a:ext cx="8579225" cy="1252293"/>
          </a:xfrm>
          <a:prstGeom prst="roundRect">
            <a:avLst>
              <a:gd name="adj" fmla="val 13617"/>
            </a:avLst>
          </a:prstGeom>
          <a:solidFill>
            <a:schemeClr val="bg1"/>
          </a:solidFill>
          <a:ln w="12700" cap="flat">
            <a:gradFill>
              <a:gsLst>
                <a:gs pos="0">
                  <a:srgbClr val="3B20FF">
                    <a:alpha val="16000"/>
                  </a:srgbClr>
                </a:gs>
                <a:gs pos="100000">
                  <a:srgbClr val="6F1787"/>
                </a:gs>
              </a:gsLst>
              <a:lin ang="10800000" scaled="1"/>
            </a:gradFill>
            <a:prstDash val="solid"/>
            <a:miter/>
          </a:ln>
          <a:effectLst/>
        </p:spPr>
        <p:txBody>
          <a:bodyPr rot="0" spcFirstLastPara="0" vertOverflow="overflow" horzOverflow="overflow" vert="horz" wrap="square" lIns="68580" tIns="34290" rIns="68580" bIns="3429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sz="1350" b="1" dirty="0">
              <a:latin typeface="微软雅黑" panose="020B0503020204020204" pitchFamily="82" charset="2"/>
              <a:ea typeface="微软雅黑" panose="020B0503020204020204" pitchFamily="82" charset="2"/>
              <a:sym typeface="+mn-ea"/>
            </a:endParaRPr>
          </a:p>
        </p:txBody>
      </p:sp>
      <p:sp>
        <p:nvSpPr>
          <p:cNvPr id="2" name="标题 1">
            <a:extLst>
              <a:ext uri="{FF2B5EF4-FFF2-40B4-BE49-F238E27FC236}">
                <a16:creationId xmlns:a16="http://schemas.microsoft.com/office/drawing/2014/main" xmlns="" id="{792529EF-BEAC-9D49-A1D1-47474DBABCBB}"/>
              </a:ext>
            </a:extLst>
          </p:cNvPr>
          <p:cNvSpPr>
            <a:spLocks noGrp="1"/>
          </p:cNvSpPr>
          <p:nvPr>
            <p:ph type="title"/>
          </p:nvPr>
        </p:nvSpPr>
        <p:spPr/>
        <p:txBody>
          <a:bodyPr/>
          <a:lstStyle/>
          <a:p>
            <a:r>
              <a:rPr lang="zh-CN" altLang="en-US" dirty="0"/>
              <a:t>关系代数与</a:t>
            </a:r>
            <a:r>
              <a:rPr lang="en-US" altLang="zh-CN" dirty="0"/>
              <a:t>SQL</a:t>
            </a:r>
            <a:r>
              <a:rPr lang="zh-CN" altLang="en-US" dirty="0"/>
              <a:t>的转换</a:t>
            </a:r>
            <a:endParaRPr kumimoji="1" lang="zh-CN" altLang="en-US" dirty="0"/>
          </a:p>
        </p:txBody>
      </p:sp>
      <p:sp>
        <p:nvSpPr>
          <p:cNvPr id="3" name="内容占位符 2">
            <a:extLst>
              <a:ext uri="{FF2B5EF4-FFF2-40B4-BE49-F238E27FC236}">
                <a16:creationId xmlns:a16="http://schemas.microsoft.com/office/drawing/2014/main" xmlns="" id="{DCD9ABD9-66EF-2946-A0AD-5B1C2FEED620}"/>
              </a:ext>
            </a:extLst>
          </p:cNvPr>
          <p:cNvSpPr>
            <a:spLocks noGrp="1"/>
          </p:cNvSpPr>
          <p:nvPr>
            <p:ph idx="4294967295"/>
          </p:nvPr>
        </p:nvSpPr>
        <p:spPr>
          <a:xfrm>
            <a:off x="228167" y="1633066"/>
            <a:ext cx="8755381" cy="1432673"/>
          </a:xfrm>
          <a:prstGeom prst="rect">
            <a:avLst/>
          </a:prstGeom>
        </p:spPr>
        <p:txBody>
          <a:bodyPr/>
          <a:lstStyle/>
          <a:p>
            <a:pPr>
              <a:buFont typeface="Wingdings" panose="05000000000000000000" pitchFamily="2" charset="2"/>
              <a:buChar char="Ø"/>
            </a:pPr>
            <a:r>
              <a:rPr lang="en-US" altLang="zh-CN" sz="1800" dirty="0">
                <a:latin typeface="微软雅黑" panose="020B0503020204020204" pitchFamily="82" charset="2"/>
                <a:ea typeface="微软雅黑" panose="020B0503020204020204" pitchFamily="82" charset="2"/>
              </a:rPr>
              <a:t>SQL</a:t>
            </a:r>
            <a:r>
              <a:rPr lang="zh-CN" altLang="zh-CN" sz="1800" dirty="0">
                <a:latin typeface="微软雅黑" panose="020B0503020204020204" pitchFamily="82" charset="2"/>
                <a:ea typeface="微软雅黑" panose="020B0503020204020204" pitchFamily="82" charset="2"/>
              </a:rPr>
              <a:t>是一种结构化的、便于计算机所理解的查询语言。 </a:t>
            </a:r>
            <a:endParaRPr lang="en-US" altLang="zh-CN" sz="18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1800" dirty="0">
                <a:latin typeface="微软雅黑" panose="020B0503020204020204" pitchFamily="82" charset="2"/>
                <a:ea typeface="微软雅黑" panose="020B0503020204020204" pitchFamily="82" charset="2"/>
              </a:rPr>
              <a:t>关系代数是关系型数据库理论的一部分，是</a:t>
            </a:r>
            <a:r>
              <a:rPr lang="en-US" altLang="zh-CN" sz="1800" dirty="0">
                <a:latin typeface="微软雅黑" panose="020B0503020204020204" pitchFamily="82" charset="2"/>
                <a:ea typeface="微软雅黑" panose="020B0503020204020204" pitchFamily="82" charset="2"/>
              </a:rPr>
              <a:t>SQL</a:t>
            </a:r>
            <a:r>
              <a:rPr lang="zh-CN" altLang="zh-CN" sz="1800" dirty="0">
                <a:latin typeface="微软雅黑" panose="020B0503020204020204" pitchFamily="82" charset="2"/>
                <a:ea typeface="微软雅黑" panose="020B0503020204020204" pitchFamily="82" charset="2"/>
              </a:rPr>
              <a:t>的基础</a:t>
            </a:r>
            <a:r>
              <a:rPr lang="zh-CN" altLang="en-US" sz="1800" dirty="0">
                <a:latin typeface="微软雅黑" panose="020B0503020204020204" pitchFamily="82" charset="2"/>
                <a:ea typeface="微软雅黑" panose="020B0503020204020204" pitchFamily="82" charset="2"/>
              </a:rPr>
              <a:t>：</a:t>
            </a:r>
            <a:r>
              <a:rPr lang="en-US" altLang="zh-CN" sz="1800" dirty="0">
                <a:latin typeface="微软雅黑" panose="020B0503020204020204" pitchFamily="82" charset="2"/>
                <a:ea typeface="微软雅黑" panose="020B0503020204020204" pitchFamily="82" charset="2"/>
              </a:rPr>
              <a:t>SQL</a:t>
            </a:r>
            <a:r>
              <a:rPr lang="zh-CN" altLang="zh-CN" sz="1800" dirty="0">
                <a:latin typeface="微软雅黑" panose="020B0503020204020204" pitchFamily="82" charset="2"/>
                <a:ea typeface="微软雅黑" panose="020B0503020204020204" pitchFamily="82" charset="2"/>
              </a:rPr>
              <a:t>在执行时需要先转为</a:t>
            </a:r>
            <a:r>
              <a:rPr lang="zh-CN" altLang="zh-CN" sz="1800" dirty="0">
                <a:solidFill>
                  <a:srgbClr val="743481"/>
                </a:solidFill>
                <a:latin typeface="微软雅黑" panose="020B0503020204020204" pitchFamily="82" charset="2"/>
                <a:ea typeface="微软雅黑" panose="020B0503020204020204" pitchFamily="82" charset="2"/>
              </a:rPr>
              <a:t>等价</a:t>
            </a:r>
            <a:r>
              <a:rPr lang="zh-CN" altLang="zh-CN" sz="1800" dirty="0">
                <a:latin typeface="微软雅黑" panose="020B0503020204020204" pitchFamily="82" charset="2"/>
                <a:ea typeface="微软雅黑" panose="020B0503020204020204" pitchFamily="82" charset="2"/>
              </a:rPr>
              <a:t>的关系代数表达式。  </a:t>
            </a:r>
            <a:endParaRPr lang="en-US" altLang="zh-CN" sz="1800" dirty="0">
              <a:latin typeface="微软雅黑" panose="020B0503020204020204" pitchFamily="82" charset="2"/>
              <a:ea typeface="微软雅黑" panose="020B0503020204020204" pitchFamily="82" charset="2"/>
            </a:endParaRPr>
          </a:p>
          <a:p>
            <a:pPr>
              <a:buFont typeface="Wingdings" panose="05000000000000000000" pitchFamily="2" charset="2"/>
              <a:buChar char="Ø"/>
            </a:pPr>
            <a:r>
              <a:rPr lang="zh-CN" altLang="zh-CN" sz="1800" dirty="0">
                <a:latin typeface="微软雅黑" panose="020B0503020204020204" pitchFamily="82" charset="2"/>
                <a:ea typeface="微软雅黑" panose="020B0503020204020204" pitchFamily="82" charset="2"/>
              </a:rPr>
              <a:t>关系代数和</a:t>
            </a:r>
            <a:r>
              <a:rPr lang="en-US" altLang="zh-CN" sz="1800" dirty="0">
                <a:latin typeface="微软雅黑" panose="020B0503020204020204" pitchFamily="82" charset="2"/>
                <a:ea typeface="微软雅黑" panose="020B0503020204020204" pitchFamily="82" charset="2"/>
              </a:rPr>
              <a:t>SQL</a:t>
            </a:r>
            <a:r>
              <a:rPr lang="zh-CN" altLang="zh-CN" sz="1800" dirty="0">
                <a:latin typeface="微软雅黑" panose="020B0503020204020204" pitchFamily="82" charset="2"/>
                <a:ea typeface="微软雅黑" panose="020B0503020204020204" pitchFamily="82" charset="2"/>
              </a:rPr>
              <a:t>之间可以进行相互转换</a:t>
            </a:r>
            <a:r>
              <a:rPr lang="zh-CN" altLang="en-US" sz="1800" dirty="0">
                <a:latin typeface="微软雅黑" panose="020B0503020204020204" pitchFamily="82" charset="2"/>
                <a:ea typeface="微软雅黑" panose="020B0503020204020204" pitchFamily="82" charset="2"/>
              </a:rPr>
              <a:t>：</a:t>
            </a:r>
            <a:endParaRPr lang="en-US" altLang="zh-CN" sz="1800" dirty="0">
              <a:latin typeface="微软雅黑" panose="020B0503020204020204" pitchFamily="82" charset="2"/>
              <a:ea typeface="微软雅黑" panose="020B0503020204020204" pitchFamily="82" charset="2"/>
            </a:endParaRPr>
          </a:p>
        </p:txBody>
      </p:sp>
      <mc:AlternateContent xmlns:mc="http://schemas.openxmlformats.org/markup-compatibility/2006">
        <mc:Choice xmlns:a14="http://schemas.microsoft.com/office/drawing/2010/main" Requires="a14">
          <p:graphicFrame>
            <p:nvGraphicFramePr>
              <p:cNvPr id="4" name="表格 3">
                <a:extLst>
                  <a:ext uri="{FF2B5EF4-FFF2-40B4-BE49-F238E27FC236}">
                    <a16:creationId xmlns:a16="http://schemas.microsoft.com/office/drawing/2014/main" xmlns="" id="{1844105C-A8CE-E034-4EA8-845A81403008}"/>
                  </a:ext>
                </a:extLst>
              </p:cNvPr>
              <p:cNvGraphicFramePr>
                <a:graphicFrameLocks noGrp="1"/>
              </p:cNvGraphicFramePr>
              <p:nvPr>
                <p:extLst>
                  <p:ext uri="{D42A27DB-BD31-4B8C-83A1-F6EECF244321}">
                    <p14:modId xmlns:p14="http://schemas.microsoft.com/office/powerpoint/2010/main" val="1219296511"/>
                  </p:ext>
                </p:extLst>
              </p:nvPr>
            </p:nvGraphicFramePr>
            <p:xfrm>
              <a:off x="533401" y="3061252"/>
              <a:ext cx="8144916" cy="1631403"/>
            </p:xfrm>
            <a:graphic>
              <a:graphicData uri="http://schemas.openxmlformats.org/drawingml/2006/table">
                <a:tbl>
                  <a:tblPr firstRow="1" firstCol="1" bandRow="1">
                    <a:tableStyleId>{5940675A-B579-460E-94D1-54222C63F5DA}</a:tableStyleId>
                  </a:tblPr>
                  <a:tblGrid>
                    <a:gridCol w="2391402">
                      <a:extLst>
                        <a:ext uri="{9D8B030D-6E8A-4147-A177-3AD203B41FA5}">
                          <a16:colId xmlns:a16="http://schemas.microsoft.com/office/drawing/2014/main" xmlns="" val="1984676046"/>
                        </a:ext>
                      </a:extLst>
                    </a:gridCol>
                    <a:gridCol w="1984648">
                      <a:extLst>
                        <a:ext uri="{9D8B030D-6E8A-4147-A177-3AD203B41FA5}">
                          <a16:colId xmlns:a16="http://schemas.microsoft.com/office/drawing/2014/main" xmlns="" val="2656422872"/>
                        </a:ext>
                      </a:extLst>
                    </a:gridCol>
                    <a:gridCol w="1884433">
                      <a:extLst>
                        <a:ext uri="{9D8B030D-6E8A-4147-A177-3AD203B41FA5}">
                          <a16:colId xmlns:a16="http://schemas.microsoft.com/office/drawing/2014/main" xmlns="" val="330087310"/>
                        </a:ext>
                      </a:extLst>
                    </a:gridCol>
                    <a:gridCol w="1884433">
                      <a:extLst>
                        <a:ext uri="{9D8B030D-6E8A-4147-A177-3AD203B41FA5}">
                          <a16:colId xmlns:a16="http://schemas.microsoft.com/office/drawing/2014/main" xmlns="" val="3480089769"/>
                        </a:ext>
                      </a:extLst>
                    </a:gridCol>
                  </a:tblGrid>
                  <a:tr h="315726">
                    <a:tc>
                      <a:txBody>
                        <a:bodyPr/>
                        <a:lstStyle/>
                        <a:p>
                          <a:pPr indent="127000" algn="just">
                            <a:lnSpc>
                              <a:spcPct val="150000"/>
                            </a:lnSpc>
                          </a:pPr>
                          <a:r>
                            <a:rPr lang="zh-CN" sz="1100" b="1" kern="100" dirty="0">
                              <a:solidFill>
                                <a:schemeClr val="bg1"/>
                              </a:solidFill>
                              <a:effectLst/>
                              <a:latin typeface="微软雅黑" panose="020B0503020204020204" pitchFamily="34" charset="-122"/>
                              <a:ea typeface="微软雅黑" panose="020B0503020204020204" pitchFamily="34" charset="-122"/>
                            </a:rPr>
                            <a:t>关系代数运算</a:t>
                          </a:r>
                          <a:endParaRPr lang="zh-CN" sz="11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just">
                            <a:lnSpc>
                              <a:spcPct val="150000"/>
                            </a:lnSpc>
                          </a:pPr>
                          <a:r>
                            <a:rPr lang="zh-CN" sz="1100" b="1" kern="100" dirty="0">
                              <a:solidFill>
                                <a:schemeClr val="bg1"/>
                              </a:solidFill>
                              <a:effectLst/>
                              <a:latin typeface="微软雅黑" panose="020B0503020204020204" pitchFamily="34" charset="-122"/>
                              <a:ea typeface="微软雅黑" panose="020B0503020204020204" pitchFamily="34" charset="-122"/>
                            </a:rPr>
                            <a:t>对应的</a:t>
                          </a:r>
                          <a:r>
                            <a:rPr lang="en-US" sz="1100" b="1" kern="100" dirty="0">
                              <a:solidFill>
                                <a:schemeClr val="bg1"/>
                              </a:solidFill>
                              <a:effectLst/>
                              <a:latin typeface="微软雅黑" panose="020B0503020204020204" pitchFamily="34" charset="-122"/>
                              <a:ea typeface="微软雅黑" panose="020B0503020204020204" pitchFamily="34" charset="-122"/>
                            </a:rPr>
                            <a:t>SQL</a:t>
                          </a:r>
                          <a:r>
                            <a:rPr lang="zh-CN" sz="1100" b="1" kern="100" dirty="0">
                              <a:solidFill>
                                <a:schemeClr val="bg1"/>
                              </a:solidFill>
                              <a:effectLst/>
                              <a:latin typeface="微软雅黑" panose="020B0503020204020204" pitchFamily="34" charset="-122"/>
                              <a:ea typeface="微软雅黑" panose="020B0503020204020204" pitchFamily="34" charset="-122"/>
                            </a:rPr>
                            <a:t>语句</a:t>
                          </a:r>
                          <a:endParaRPr lang="zh-CN" sz="11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just">
                            <a:lnSpc>
                              <a:spcPct val="150000"/>
                            </a:lnSpc>
                          </a:pPr>
                          <a:r>
                            <a:rPr lang="zh-CN" sz="1100" b="1" kern="100" dirty="0">
                              <a:solidFill>
                                <a:schemeClr val="bg1"/>
                              </a:solidFill>
                              <a:effectLst/>
                              <a:latin typeface="微软雅黑" panose="020B0503020204020204" pitchFamily="34" charset="-122"/>
                              <a:ea typeface="微软雅黑" panose="020B0503020204020204" pitchFamily="34" charset="-122"/>
                            </a:rPr>
                            <a:t>关系代数运算</a:t>
                          </a:r>
                          <a:endParaRPr lang="zh-CN" sz="11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just">
                            <a:lnSpc>
                              <a:spcPct val="150000"/>
                            </a:lnSpc>
                          </a:pPr>
                          <a:r>
                            <a:rPr lang="zh-CN" sz="1100" b="1" kern="100" dirty="0">
                              <a:solidFill>
                                <a:schemeClr val="bg1"/>
                              </a:solidFill>
                              <a:effectLst/>
                              <a:latin typeface="微软雅黑" panose="020B0503020204020204" pitchFamily="34" charset="-122"/>
                              <a:ea typeface="微软雅黑" panose="020B0503020204020204" pitchFamily="34" charset="-122"/>
                            </a:rPr>
                            <a:t>对应的</a:t>
                          </a:r>
                          <a:r>
                            <a:rPr lang="en-US" sz="1100" b="1" kern="100" dirty="0">
                              <a:solidFill>
                                <a:schemeClr val="bg1"/>
                              </a:solidFill>
                              <a:effectLst/>
                              <a:latin typeface="微软雅黑" panose="020B0503020204020204" pitchFamily="34" charset="-122"/>
                              <a:ea typeface="微软雅黑" panose="020B0503020204020204" pitchFamily="34" charset="-122"/>
                            </a:rPr>
                            <a:t>SQL</a:t>
                          </a:r>
                          <a:r>
                            <a:rPr lang="zh-CN" sz="1100" b="1" kern="100" dirty="0">
                              <a:solidFill>
                                <a:schemeClr val="bg1"/>
                              </a:solidFill>
                              <a:effectLst/>
                              <a:latin typeface="微软雅黑" panose="020B0503020204020204" pitchFamily="34" charset="-122"/>
                              <a:ea typeface="微软雅黑" panose="020B0503020204020204" pitchFamily="34" charset="-122"/>
                            </a:rPr>
                            <a:t>语句</a:t>
                          </a:r>
                          <a:endParaRPr lang="zh-CN" sz="11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xmlns="" val="4259571870"/>
                      </a:ext>
                    </a:extLst>
                  </a:tr>
                  <a:tr h="318181">
                    <a:tc>
                      <a:txBody>
                        <a:bodyPr/>
                        <a:lstStyle/>
                        <a:p>
                          <a:pPr indent="127000" algn="just">
                            <a:lnSpc>
                              <a:spcPct val="150000"/>
                            </a:lnSpc>
                          </a:pPr>
                          <a:r>
                            <a:rPr lang="zh-CN" sz="1100" kern="100" dirty="0">
                              <a:effectLst/>
                              <a:latin typeface="微软雅黑" panose="020B0503020204020204" pitchFamily="34" charset="-122"/>
                              <a:ea typeface="微软雅黑" panose="020B0503020204020204" pitchFamily="34" charset="-122"/>
                            </a:rPr>
                            <a:t>并运算（</a:t>
                          </a:r>
                          <a14:m>
                            <m:oMath xmlns:m="http://schemas.openxmlformats.org/officeDocument/2006/math">
                              <m:r>
                                <a:rPr lang="en-US" sz="1100" kern="100">
                                  <a:effectLst/>
                                  <a:latin typeface="Cambria Math" panose="02040503050406030204" pitchFamily="18" charset="0"/>
                                </a:rPr>
                                <m:t>∪</m:t>
                              </m:r>
                            </m:oMath>
                          </a14:m>
                          <a:r>
                            <a:rPr lang="zh-CN" sz="1100" kern="100" dirty="0">
                              <a:effectLst/>
                              <a:latin typeface="微软雅黑" panose="020B0503020204020204" pitchFamily="34" charset="-122"/>
                              <a:ea typeface="微软雅黑" panose="020B0503020204020204" pitchFamily="34" charset="-122"/>
                            </a:rPr>
                            <a:t>）</a:t>
                          </a:r>
                          <a:endParaRPr lang="zh-CN" sz="11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100" kern="100">
                              <a:effectLst/>
                              <a:latin typeface="微软雅黑" panose="020B0503020204020204" pitchFamily="34" charset="-122"/>
                              <a:ea typeface="微软雅黑" panose="020B0503020204020204" pitchFamily="34" charset="-122"/>
                            </a:rPr>
                            <a:t>UNION</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zh-CN" sz="1100" kern="100" dirty="0">
                              <a:effectLst/>
                              <a:latin typeface="微软雅黑" panose="020B0503020204020204" pitchFamily="34" charset="-122"/>
                              <a:ea typeface="微软雅黑" panose="020B0503020204020204" pitchFamily="34" charset="-122"/>
                            </a:rPr>
                            <a:t>选择运算（</a:t>
                          </a:r>
                          <a14:m>
                            <m:oMath xmlns:m="http://schemas.openxmlformats.org/officeDocument/2006/math">
                              <m:r>
                                <a:rPr lang="en-US" sz="1100" kern="100">
                                  <a:effectLst/>
                                  <a:latin typeface="Cambria Math" panose="02040503050406030204" pitchFamily="18" charset="0"/>
                                </a:rPr>
                                <m:t>𝜎</m:t>
                              </m:r>
                            </m:oMath>
                          </a14:m>
                          <a:r>
                            <a:rPr lang="zh-CN" sz="1100" kern="100" dirty="0">
                              <a:effectLst/>
                              <a:latin typeface="微软雅黑" panose="020B0503020204020204" pitchFamily="34" charset="-122"/>
                              <a:ea typeface="微软雅黑" panose="020B0503020204020204" pitchFamily="34" charset="-122"/>
                            </a:rPr>
                            <a:t>）</a:t>
                          </a:r>
                          <a:endParaRPr lang="zh-CN" sz="11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100" kern="100" dirty="0">
                              <a:effectLst/>
                              <a:latin typeface="微软雅黑" panose="020B0503020204020204" pitchFamily="34" charset="-122"/>
                              <a:ea typeface="微软雅黑" panose="020B0503020204020204" pitchFamily="34" charset="-122"/>
                            </a:rPr>
                            <a:t>WHERE</a:t>
                          </a:r>
                          <a:endParaRPr lang="zh-CN" sz="11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xmlns="" val="1750164117"/>
                      </a:ext>
                    </a:extLst>
                  </a:tr>
                  <a:tr h="361134">
                    <a:tc>
                      <a:txBody>
                        <a:bodyPr/>
                        <a:lstStyle/>
                        <a:p>
                          <a:pPr indent="127000" algn="just">
                            <a:lnSpc>
                              <a:spcPct val="150000"/>
                            </a:lnSpc>
                          </a:pPr>
                          <a:r>
                            <a:rPr lang="zh-CN" sz="1100" kern="100" dirty="0">
                              <a:effectLst/>
                              <a:latin typeface="微软雅黑" panose="020B0503020204020204" pitchFamily="34" charset="-122"/>
                              <a:ea typeface="微软雅黑" panose="020B0503020204020204" pitchFamily="34" charset="-122"/>
                            </a:rPr>
                            <a:t>差运算（</a:t>
                          </a:r>
                          <a14:m>
                            <m:oMath xmlns:m="http://schemas.openxmlformats.org/officeDocument/2006/math">
                              <m:r>
                                <a:rPr lang="en-US" sz="1100" kern="100">
                                  <a:effectLst/>
                                  <a:latin typeface="Cambria Math" panose="02040503050406030204" pitchFamily="18" charset="0"/>
                                </a:rPr>
                                <m:t>−</m:t>
                              </m:r>
                            </m:oMath>
                          </a14:m>
                          <a:r>
                            <a:rPr lang="zh-CN" sz="1100" kern="100" dirty="0">
                              <a:effectLst/>
                              <a:latin typeface="微软雅黑" panose="020B0503020204020204" pitchFamily="34" charset="-122"/>
                              <a:ea typeface="微软雅黑" panose="020B0503020204020204" pitchFamily="34" charset="-122"/>
                            </a:rPr>
                            <a:t>）</a:t>
                          </a:r>
                          <a:endParaRPr lang="zh-CN" sz="11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100" kern="100" dirty="0">
                              <a:effectLst/>
                              <a:latin typeface="微软雅黑" panose="020B0503020204020204" pitchFamily="34" charset="-122"/>
                              <a:ea typeface="微软雅黑" panose="020B0503020204020204" pitchFamily="34" charset="-122"/>
                            </a:rPr>
                            <a:t>EXCEPT</a:t>
                          </a:r>
                          <a:endParaRPr lang="zh-CN" sz="11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zh-CN" sz="1100" kern="100" dirty="0">
                              <a:effectLst/>
                              <a:latin typeface="微软雅黑" panose="020B0503020204020204" pitchFamily="34" charset="-122"/>
                              <a:ea typeface="微软雅黑" panose="020B0503020204020204" pitchFamily="34" charset="-122"/>
                            </a:rPr>
                            <a:t>投影运算（</a:t>
                          </a:r>
                          <a14:m>
                            <m:oMath xmlns:m="http://schemas.openxmlformats.org/officeDocument/2006/math">
                              <m:r>
                                <m:rPr>
                                  <m:sty m:val="p"/>
                                </m:rPr>
                                <a:rPr lang="en-US" sz="1100" kern="100">
                                  <a:effectLst/>
                                  <a:latin typeface="Cambria Math" panose="02040503050406030204" pitchFamily="18" charset="0"/>
                                </a:rPr>
                                <m:t>Π</m:t>
                              </m:r>
                            </m:oMath>
                          </a14:m>
                          <a:r>
                            <a:rPr lang="zh-CN" sz="1100" kern="100" dirty="0">
                              <a:effectLst/>
                              <a:latin typeface="微软雅黑" panose="020B0503020204020204" pitchFamily="34" charset="-122"/>
                              <a:ea typeface="微软雅黑" panose="020B0503020204020204" pitchFamily="34" charset="-122"/>
                            </a:rPr>
                            <a:t>）</a:t>
                          </a:r>
                          <a:endParaRPr lang="zh-CN" sz="11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100" kern="100" dirty="0">
                              <a:effectLst/>
                              <a:latin typeface="微软雅黑" panose="020B0503020204020204" pitchFamily="34" charset="-122"/>
                              <a:ea typeface="微软雅黑" panose="020B0503020204020204" pitchFamily="34" charset="-122"/>
                            </a:rPr>
                            <a:t>SELECT</a:t>
                          </a:r>
                          <a:endParaRPr lang="zh-CN" sz="11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xmlns="" val="1495064481"/>
                      </a:ext>
                    </a:extLst>
                  </a:tr>
                  <a:tr h="318181">
                    <a:tc>
                      <a:txBody>
                        <a:bodyPr/>
                        <a:lstStyle/>
                        <a:p>
                          <a:pPr indent="127000" algn="just">
                            <a:lnSpc>
                              <a:spcPct val="150000"/>
                            </a:lnSpc>
                          </a:pPr>
                          <a:r>
                            <a:rPr lang="zh-CN" sz="1100" kern="100" dirty="0">
                              <a:effectLst/>
                              <a:latin typeface="微软雅黑" panose="020B0503020204020204" pitchFamily="34" charset="-122"/>
                              <a:ea typeface="微软雅黑" panose="020B0503020204020204" pitchFamily="34" charset="-122"/>
                            </a:rPr>
                            <a:t>交运算（</a:t>
                          </a:r>
                          <a14:m>
                            <m:oMath xmlns:m="http://schemas.openxmlformats.org/officeDocument/2006/math">
                              <m:r>
                                <a:rPr lang="en-US" sz="1100" kern="100">
                                  <a:effectLst/>
                                  <a:latin typeface="Cambria Math" panose="02040503050406030204" pitchFamily="18" charset="0"/>
                                </a:rPr>
                                <m:t>∩</m:t>
                              </m:r>
                            </m:oMath>
                          </a14:m>
                          <a:r>
                            <a:rPr lang="zh-CN" sz="1100" kern="100" dirty="0">
                              <a:effectLst/>
                              <a:latin typeface="微软雅黑" panose="020B0503020204020204" pitchFamily="34" charset="-122"/>
                              <a:ea typeface="微软雅黑" panose="020B0503020204020204" pitchFamily="34" charset="-122"/>
                            </a:rPr>
                            <a:t>）</a:t>
                          </a:r>
                          <a:endParaRPr lang="zh-CN" sz="11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100" kern="100" dirty="0">
                              <a:effectLst/>
                              <a:latin typeface="微软雅黑" panose="020B0503020204020204" pitchFamily="34" charset="-122"/>
                              <a:ea typeface="微软雅黑" panose="020B0503020204020204" pitchFamily="34" charset="-122"/>
                            </a:rPr>
                            <a:t>INTERSECT</a:t>
                          </a:r>
                          <a:endParaRPr lang="zh-CN" sz="11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zh-CN" sz="1100" kern="100" dirty="0">
                              <a:effectLst/>
                              <a:latin typeface="微软雅黑" panose="020B0503020204020204" pitchFamily="34" charset="-122"/>
                              <a:ea typeface="微软雅黑" panose="020B0503020204020204" pitchFamily="34" charset="-122"/>
                            </a:rPr>
                            <a:t>连接运算（</a:t>
                          </a:r>
                          <a14:m>
                            <m:oMath xmlns:m="http://schemas.openxmlformats.org/officeDocument/2006/math">
                              <m:r>
                                <a:rPr lang="en-US" sz="1100" kern="100">
                                  <a:effectLst/>
                                  <a:latin typeface="Cambria Math" panose="02040503050406030204" pitchFamily="18" charset="0"/>
                                </a:rPr>
                                <m:t>⋈</m:t>
                              </m:r>
                            </m:oMath>
                          </a14:m>
                          <a:r>
                            <a:rPr lang="zh-CN" sz="1100" kern="100" dirty="0">
                              <a:effectLst/>
                              <a:latin typeface="微软雅黑" panose="020B0503020204020204" pitchFamily="34" charset="-122"/>
                              <a:ea typeface="微软雅黑" panose="020B0503020204020204" pitchFamily="34" charset="-122"/>
                            </a:rPr>
                            <a:t>）</a:t>
                          </a:r>
                          <a:endParaRPr lang="zh-CN" sz="11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100" kern="100" dirty="0">
                              <a:effectLst/>
                              <a:latin typeface="微软雅黑" panose="020B0503020204020204" pitchFamily="34" charset="-122"/>
                              <a:ea typeface="微软雅黑" panose="020B0503020204020204" pitchFamily="34" charset="-122"/>
                            </a:rPr>
                            <a:t>JOIN</a:t>
                          </a:r>
                          <a:endParaRPr lang="zh-CN" sz="11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xmlns="" val="3788713201"/>
                      </a:ext>
                    </a:extLst>
                  </a:tr>
                  <a:tr h="318181">
                    <a:tc>
                      <a:txBody>
                        <a:bodyPr/>
                        <a:lstStyle/>
                        <a:p>
                          <a:pPr indent="127000" algn="just">
                            <a:lnSpc>
                              <a:spcPct val="150000"/>
                            </a:lnSpc>
                          </a:pPr>
                          <a:r>
                            <a:rPr lang="zh-CN" sz="1100" kern="100" dirty="0">
                              <a:effectLst/>
                              <a:latin typeface="微软雅黑" panose="020B0503020204020204" pitchFamily="34" charset="-122"/>
                              <a:ea typeface="微软雅黑" panose="020B0503020204020204" pitchFamily="34" charset="-122"/>
                            </a:rPr>
                            <a:t>笛卡尔积运算（</a:t>
                          </a:r>
                          <a14:m>
                            <m:oMath xmlns:m="http://schemas.openxmlformats.org/officeDocument/2006/math">
                              <m:r>
                                <a:rPr lang="en-US" sz="1100" kern="100">
                                  <a:effectLst/>
                                  <a:latin typeface="Cambria Math" panose="02040503050406030204" pitchFamily="18" charset="0"/>
                                </a:rPr>
                                <m:t>×</m:t>
                              </m:r>
                            </m:oMath>
                          </a14:m>
                          <a:r>
                            <a:rPr lang="zh-CN" sz="1100" kern="100" dirty="0">
                              <a:effectLst/>
                              <a:latin typeface="微软雅黑" panose="020B0503020204020204" pitchFamily="34" charset="-122"/>
                              <a:ea typeface="微软雅黑" panose="020B0503020204020204" pitchFamily="34" charset="-122"/>
                            </a:rPr>
                            <a:t>）</a:t>
                          </a:r>
                          <a:endParaRPr lang="zh-CN" sz="11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100" kern="100" dirty="0">
                              <a:effectLst/>
                              <a:latin typeface="微软雅黑" panose="020B0503020204020204" pitchFamily="34" charset="-122"/>
                              <a:ea typeface="微软雅黑" panose="020B0503020204020204" pitchFamily="34" charset="-122"/>
                            </a:rPr>
                            <a:t>FROM</a:t>
                          </a:r>
                          <a:endParaRPr lang="zh-CN" sz="11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zh-CN" sz="1100" kern="100" dirty="0">
                              <a:effectLst/>
                              <a:latin typeface="微软雅黑" panose="020B0503020204020204" pitchFamily="34" charset="-122"/>
                              <a:ea typeface="微软雅黑" panose="020B0503020204020204" pitchFamily="34" charset="-122"/>
                            </a:rPr>
                            <a:t>除运算（</a:t>
                          </a:r>
                          <a14:m>
                            <m:oMath xmlns:m="http://schemas.openxmlformats.org/officeDocument/2006/math">
                              <m:r>
                                <a:rPr lang="en-US" sz="1100" kern="100">
                                  <a:effectLst/>
                                  <a:latin typeface="Cambria Math" panose="02040503050406030204" pitchFamily="18" charset="0"/>
                                </a:rPr>
                                <m:t>÷</m:t>
                              </m:r>
                            </m:oMath>
                          </a14:m>
                          <a:r>
                            <a:rPr lang="zh-CN" sz="1100" kern="100" dirty="0">
                              <a:effectLst/>
                              <a:latin typeface="微软雅黑" panose="020B0503020204020204" pitchFamily="34" charset="-122"/>
                              <a:ea typeface="微软雅黑" panose="020B0503020204020204" pitchFamily="34" charset="-122"/>
                            </a:rPr>
                            <a:t>）</a:t>
                          </a:r>
                          <a:endParaRPr lang="zh-CN" sz="11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pPr indent="127000" algn="just">
                            <a:lnSpc>
                              <a:spcPct val="150000"/>
                            </a:lnSpc>
                          </a:pPr>
                          <a:r>
                            <a:rPr lang="en-US" sz="1100" kern="100" dirty="0">
                              <a:effectLst/>
                              <a:latin typeface="微软雅黑" panose="020B0503020204020204" pitchFamily="34" charset="-122"/>
                              <a:ea typeface="微软雅黑" panose="020B0503020204020204" pitchFamily="34" charset="-122"/>
                            </a:rPr>
                            <a:t>NOT EXISTS</a:t>
                          </a:r>
                          <a:endParaRPr lang="zh-CN" sz="11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xmlns="" val="3201530784"/>
                      </a:ext>
                    </a:extLst>
                  </a:tr>
                </a:tbl>
              </a:graphicData>
            </a:graphic>
          </p:graphicFrame>
        </mc:Choice>
        <mc:Fallback>
          <p:graphicFrame>
            <p:nvGraphicFramePr>
              <p:cNvPr id="4" name="表格 3">
                <a:extLst>
                  <a:ext uri="{FF2B5EF4-FFF2-40B4-BE49-F238E27FC236}">
                    <a16:creationId xmlns:a16="http://schemas.microsoft.com/office/drawing/2014/main" xmlns:a14="http://schemas.microsoft.com/office/drawing/2010/main" xmlns="" id="{1844105C-A8CE-E034-4EA8-845A81403008}"/>
                  </a:ext>
                </a:extLst>
              </p:cNvPr>
              <p:cNvGraphicFramePr>
                <a:graphicFrameLocks noGrp="1"/>
              </p:cNvGraphicFramePr>
              <p:nvPr>
                <p:extLst>
                  <p:ext uri="{D42A27DB-BD31-4B8C-83A1-F6EECF244321}">
                    <p14:modId xmlns:p14="http://schemas.microsoft.com/office/powerpoint/2010/main" val="1219296511"/>
                  </p:ext>
                </p:extLst>
              </p:nvPr>
            </p:nvGraphicFramePr>
            <p:xfrm>
              <a:off x="533401" y="3061252"/>
              <a:ext cx="8144916" cy="1631403"/>
            </p:xfrm>
            <a:graphic>
              <a:graphicData uri="http://schemas.openxmlformats.org/drawingml/2006/table">
                <a:tbl>
                  <a:tblPr firstRow="1" firstCol="1" bandRow="1">
                    <a:tableStyleId>{5940675A-B579-460E-94D1-54222C63F5DA}</a:tableStyleId>
                  </a:tblPr>
                  <a:tblGrid>
                    <a:gridCol w="2391402">
                      <a:extLst>
                        <a:ext uri="{9D8B030D-6E8A-4147-A177-3AD203B41FA5}">
                          <a16:colId xmlns:a16="http://schemas.microsoft.com/office/drawing/2014/main" xmlns:a14="http://schemas.microsoft.com/office/drawing/2010/main" xmlns="" val="1984676046"/>
                        </a:ext>
                      </a:extLst>
                    </a:gridCol>
                    <a:gridCol w="1984648">
                      <a:extLst>
                        <a:ext uri="{9D8B030D-6E8A-4147-A177-3AD203B41FA5}">
                          <a16:colId xmlns:a16="http://schemas.microsoft.com/office/drawing/2014/main" xmlns:a14="http://schemas.microsoft.com/office/drawing/2010/main" xmlns="" val="2656422872"/>
                        </a:ext>
                      </a:extLst>
                    </a:gridCol>
                    <a:gridCol w="1884433">
                      <a:extLst>
                        <a:ext uri="{9D8B030D-6E8A-4147-A177-3AD203B41FA5}">
                          <a16:colId xmlns:a16="http://schemas.microsoft.com/office/drawing/2014/main" xmlns:a14="http://schemas.microsoft.com/office/drawing/2010/main" xmlns="" val="330087310"/>
                        </a:ext>
                      </a:extLst>
                    </a:gridCol>
                    <a:gridCol w="1884433">
                      <a:extLst>
                        <a:ext uri="{9D8B030D-6E8A-4147-A177-3AD203B41FA5}">
                          <a16:colId xmlns:a16="http://schemas.microsoft.com/office/drawing/2014/main" xmlns:a14="http://schemas.microsoft.com/office/drawing/2010/main" xmlns="" val="3480089769"/>
                        </a:ext>
                      </a:extLst>
                    </a:gridCol>
                  </a:tblGrid>
                  <a:tr h="315726">
                    <a:tc>
                      <a:txBody>
                        <a:bodyPr/>
                        <a:lstStyle/>
                        <a:p>
                          <a:pPr indent="127000" algn="just">
                            <a:lnSpc>
                              <a:spcPct val="150000"/>
                            </a:lnSpc>
                          </a:pPr>
                          <a:r>
                            <a:rPr lang="zh-CN" sz="1100" b="1" kern="100" dirty="0">
                              <a:solidFill>
                                <a:schemeClr val="bg1"/>
                              </a:solidFill>
                              <a:effectLst/>
                              <a:latin typeface="微软雅黑" panose="020B0503020204020204" pitchFamily="34" charset="-122"/>
                              <a:ea typeface="微软雅黑" panose="020B0503020204020204" pitchFamily="34" charset="-122"/>
                            </a:rPr>
                            <a:t>关系代数运算</a:t>
                          </a:r>
                          <a:endParaRPr lang="zh-CN" sz="11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just">
                            <a:lnSpc>
                              <a:spcPct val="150000"/>
                            </a:lnSpc>
                          </a:pPr>
                          <a:r>
                            <a:rPr lang="zh-CN" sz="1100" b="1" kern="100" dirty="0">
                              <a:solidFill>
                                <a:schemeClr val="bg1"/>
                              </a:solidFill>
                              <a:effectLst/>
                              <a:latin typeface="微软雅黑" panose="020B0503020204020204" pitchFamily="34" charset="-122"/>
                              <a:ea typeface="微软雅黑" panose="020B0503020204020204" pitchFamily="34" charset="-122"/>
                            </a:rPr>
                            <a:t>对应的</a:t>
                          </a:r>
                          <a:r>
                            <a:rPr lang="en-US" sz="1100" b="1" kern="100" dirty="0">
                              <a:solidFill>
                                <a:schemeClr val="bg1"/>
                              </a:solidFill>
                              <a:effectLst/>
                              <a:latin typeface="微软雅黑" panose="020B0503020204020204" pitchFamily="34" charset="-122"/>
                              <a:ea typeface="微软雅黑" panose="020B0503020204020204" pitchFamily="34" charset="-122"/>
                            </a:rPr>
                            <a:t>SQL</a:t>
                          </a:r>
                          <a:r>
                            <a:rPr lang="zh-CN" sz="1100" b="1" kern="100" dirty="0">
                              <a:solidFill>
                                <a:schemeClr val="bg1"/>
                              </a:solidFill>
                              <a:effectLst/>
                              <a:latin typeface="微软雅黑" panose="020B0503020204020204" pitchFamily="34" charset="-122"/>
                              <a:ea typeface="微软雅黑" panose="020B0503020204020204" pitchFamily="34" charset="-122"/>
                            </a:rPr>
                            <a:t>语句</a:t>
                          </a:r>
                          <a:endParaRPr lang="zh-CN" sz="11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just">
                            <a:lnSpc>
                              <a:spcPct val="150000"/>
                            </a:lnSpc>
                          </a:pPr>
                          <a:r>
                            <a:rPr lang="zh-CN" sz="1100" b="1" kern="100" dirty="0">
                              <a:solidFill>
                                <a:schemeClr val="bg1"/>
                              </a:solidFill>
                              <a:effectLst/>
                              <a:latin typeface="微软雅黑" panose="020B0503020204020204" pitchFamily="34" charset="-122"/>
                              <a:ea typeface="微软雅黑" panose="020B0503020204020204" pitchFamily="34" charset="-122"/>
                            </a:rPr>
                            <a:t>关系代数运算</a:t>
                          </a:r>
                          <a:endParaRPr lang="zh-CN" sz="11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tc>
                      <a:txBody>
                        <a:bodyPr/>
                        <a:lstStyle/>
                        <a:p>
                          <a:pPr indent="127000" algn="just">
                            <a:lnSpc>
                              <a:spcPct val="150000"/>
                            </a:lnSpc>
                          </a:pPr>
                          <a:r>
                            <a:rPr lang="zh-CN" sz="1100" b="1" kern="100" dirty="0">
                              <a:solidFill>
                                <a:schemeClr val="bg1"/>
                              </a:solidFill>
                              <a:effectLst/>
                              <a:latin typeface="微软雅黑" panose="020B0503020204020204" pitchFamily="34" charset="-122"/>
                              <a:ea typeface="微软雅黑" panose="020B0503020204020204" pitchFamily="34" charset="-122"/>
                            </a:rPr>
                            <a:t>对应的</a:t>
                          </a:r>
                          <a:r>
                            <a:rPr lang="en-US" sz="1100" b="1" kern="100" dirty="0">
                              <a:solidFill>
                                <a:schemeClr val="bg1"/>
                              </a:solidFill>
                              <a:effectLst/>
                              <a:latin typeface="微软雅黑" panose="020B0503020204020204" pitchFamily="34" charset="-122"/>
                              <a:ea typeface="微软雅黑" panose="020B0503020204020204" pitchFamily="34" charset="-122"/>
                            </a:rPr>
                            <a:t>SQL</a:t>
                          </a:r>
                          <a:r>
                            <a:rPr lang="zh-CN" sz="1100" b="1" kern="100" dirty="0">
                              <a:solidFill>
                                <a:schemeClr val="bg1"/>
                              </a:solidFill>
                              <a:effectLst/>
                              <a:latin typeface="微软雅黑" panose="020B0503020204020204" pitchFamily="34" charset="-122"/>
                              <a:ea typeface="微软雅黑" panose="020B0503020204020204" pitchFamily="34" charset="-122"/>
                            </a:rPr>
                            <a:t>语句</a:t>
                          </a:r>
                          <a:endParaRPr lang="zh-CN" sz="1100" b="1" kern="100" dirty="0">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solidFill>
                          <a:srgbClr val="7030A0"/>
                        </a:solidFill>
                      </a:tcPr>
                    </a:tc>
                    <a:extLst>
                      <a:ext uri="{0D108BD9-81ED-4DB2-BD59-A6C34878D82A}">
                        <a16:rowId xmlns:a16="http://schemas.microsoft.com/office/drawing/2014/main" xmlns:a14="http://schemas.microsoft.com/office/drawing/2010/main" xmlns="" val="4259571870"/>
                      </a:ext>
                    </a:extLst>
                  </a:tr>
                  <a:tr h="318181">
                    <a:tc>
                      <a:txBody>
                        <a:bodyPr/>
                        <a:lstStyle/>
                        <a:p>
                          <a:endParaRPr lang="zh-CN"/>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rotWithShape="0">
                          <a:blip r:embed="rId2"/>
                          <a:stretch>
                            <a:fillRect l="-254" t="-101923" r="-240712" b="-325000"/>
                          </a:stretch>
                        </a:blipFill>
                      </a:tcPr>
                    </a:tc>
                    <a:tc>
                      <a:txBody>
                        <a:bodyPr/>
                        <a:lstStyle/>
                        <a:p>
                          <a:pPr indent="127000" algn="just">
                            <a:lnSpc>
                              <a:spcPct val="150000"/>
                            </a:lnSpc>
                          </a:pPr>
                          <a:r>
                            <a:rPr lang="en-US" sz="1100" kern="100">
                              <a:effectLst/>
                              <a:latin typeface="微软雅黑" panose="020B0503020204020204" pitchFamily="34" charset="-122"/>
                              <a:ea typeface="微软雅黑" panose="020B0503020204020204" pitchFamily="34" charset="-122"/>
                            </a:rPr>
                            <a:t>UNION</a:t>
                          </a:r>
                          <a:endParaRPr lang="zh-CN" sz="11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endParaRPr lang="zh-CN"/>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rotWithShape="0">
                          <a:blip r:embed="rId2"/>
                          <a:stretch>
                            <a:fillRect l="-231935" t="-101923" r="-100323" b="-325000"/>
                          </a:stretch>
                        </a:blipFill>
                      </a:tcPr>
                    </a:tc>
                    <a:tc>
                      <a:txBody>
                        <a:bodyPr/>
                        <a:lstStyle/>
                        <a:p>
                          <a:pPr indent="127000" algn="just">
                            <a:lnSpc>
                              <a:spcPct val="150000"/>
                            </a:lnSpc>
                          </a:pPr>
                          <a:r>
                            <a:rPr lang="en-US" sz="1100" kern="100" dirty="0">
                              <a:effectLst/>
                              <a:latin typeface="微软雅黑" panose="020B0503020204020204" pitchFamily="34" charset="-122"/>
                              <a:ea typeface="微软雅黑" panose="020B0503020204020204" pitchFamily="34" charset="-122"/>
                            </a:rPr>
                            <a:t>WHERE</a:t>
                          </a:r>
                          <a:endParaRPr lang="zh-CN" sz="11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750164117"/>
                      </a:ext>
                    </a:extLst>
                  </a:tr>
                  <a:tr h="361134">
                    <a:tc>
                      <a:txBody>
                        <a:bodyPr/>
                        <a:lstStyle/>
                        <a:p>
                          <a:endParaRPr lang="zh-CN"/>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rotWithShape="0">
                          <a:blip r:embed="rId2"/>
                          <a:stretch>
                            <a:fillRect l="-254" t="-177966" r="-240712" b="-186441"/>
                          </a:stretch>
                        </a:blipFill>
                      </a:tcPr>
                    </a:tc>
                    <a:tc>
                      <a:txBody>
                        <a:bodyPr/>
                        <a:lstStyle/>
                        <a:p>
                          <a:pPr indent="127000" algn="just">
                            <a:lnSpc>
                              <a:spcPct val="150000"/>
                            </a:lnSpc>
                          </a:pPr>
                          <a:r>
                            <a:rPr lang="en-US" sz="1100" kern="100" dirty="0">
                              <a:effectLst/>
                              <a:latin typeface="微软雅黑" panose="020B0503020204020204" pitchFamily="34" charset="-122"/>
                              <a:ea typeface="微软雅黑" panose="020B0503020204020204" pitchFamily="34" charset="-122"/>
                            </a:rPr>
                            <a:t>EXCEPT</a:t>
                          </a:r>
                          <a:endParaRPr lang="zh-CN" sz="11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endParaRPr lang="zh-CN"/>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rotWithShape="0">
                          <a:blip r:embed="rId2"/>
                          <a:stretch>
                            <a:fillRect l="-231935" t="-177966" r="-100323" b="-186441"/>
                          </a:stretch>
                        </a:blipFill>
                      </a:tcPr>
                    </a:tc>
                    <a:tc>
                      <a:txBody>
                        <a:bodyPr/>
                        <a:lstStyle/>
                        <a:p>
                          <a:pPr indent="127000" algn="just">
                            <a:lnSpc>
                              <a:spcPct val="150000"/>
                            </a:lnSpc>
                          </a:pPr>
                          <a:r>
                            <a:rPr lang="en-US" sz="1100" kern="100" dirty="0">
                              <a:effectLst/>
                              <a:latin typeface="微软雅黑" panose="020B0503020204020204" pitchFamily="34" charset="-122"/>
                              <a:ea typeface="微软雅黑" panose="020B0503020204020204" pitchFamily="34" charset="-122"/>
                            </a:rPr>
                            <a:t>SELECT</a:t>
                          </a:r>
                          <a:endParaRPr lang="zh-CN" sz="11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495064481"/>
                      </a:ext>
                    </a:extLst>
                  </a:tr>
                  <a:tr h="318181">
                    <a:tc>
                      <a:txBody>
                        <a:bodyPr/>
                        <a:lstStyle/>
                        <a:p>
                          <a:endParaRPr lang="zh-CN"/>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rotWithShape="0">
                          <a:blip r:embed="rId2"/>
                          <a:stretch>
                            <a:fillRect l="-254" t="-309434" r="-240712" b="-107547"/>
                          </a:stretch>
                        </a:blipFill>
                      </a:tcPr>
                    </a:tc>
                    <a:tc>
                      <a:txBody>
                        <a:bodyPr/>
                        <a:lstStyle/>
                        <a:p>
                          <a:pPr indent="127000" algn="just">
                            <a:lnSpc>
                              <a:spcPct val="150000"/>
                            </a:lnSpc>
                          </a:pPr>
                          <a:r>
                            <a:rPr lang="en-US" sz="1100" kern="100" dirty="0">
                              <a:effectLst/>
                              <a:latin typeface="微软雅黑" panose="020B0503020204020204" pitchFamily="34" charset="-122"/>
                              <a:ea typeface="微软雅黑" panose="020B0503020204020204" pitchFamily="34" charset="-122"/>
                            </a:rPr>
                            <a:t>INTERSECT</a:t>
                          </a:r>
                          <a:endParaRPr lang="zh-CN" sz="11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endParaRPr lang="zh-CN"/>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rotWithShape="0">
                          <a:blip r:embed="rId2"/>
                          <a:stretch>
                            <a:fillRect l="-231935" t="-309434" r="-100323" b="-107547"/>
                          </a:stretch>
                        </a:blipFill>
                      </a:tcPr>
                    </a:tc>
                    <a:tc>
                      <a:txBody>
                        <a:bodyPr/>
                        <a:lstStyle/>
                        <a:p>
                          <a:pPr indent="127000" algn="just">
                            <a:lnSpc>
                              <a:spcPct val="150000"/>
                            </a:lnSpc>
                          </a:pPr>
                          <a:r>
                            <a:rPr lang="en-US" sz="1100" kern="100" dirty="0">
                              <a:effectLst/>
                              <a:latin typeface="微软雅黑" panose="020B0503020204020204" pitchFamily="34" charset="-122"/>
                              <a:ea typeface="微软雅黑" panose="020B0503020204020204" pitchFamily="34" charset="-122"/>
                            </a:rPr>
                            <a:t>JOIN</a:t>
                          </a:r>
                          <a:endParaRPr lang="zh-CN" sz="11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788713201"/>
                      </a:ext>
                    </a:extLst>
                  </a:tr>
                  <a:tr h="318181">
                    <a:tc>
                      <a:txBody>
                        <a:bodyPr/>
                        <a:lstStyle/>
                        <a:p>
                          <a:endParaRPr lang="zh-CN"/>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rotWithShape="0">
                          <a:blip r:embed="rId2"/>
                          <a:stretch>
                            <a:fillRect l="-254" t="-417308" r="-240712" b="-9615"/>
                          </a:stretch>
                        </a:blipFill>
                      </a:tcPr>
                    </a:tc>
                    <a:tc>
                      <a:txBody>
                        <a:bodyPr/>
                        <a:lstStyle/>
                        <a:p>
                          <a:pPr indent="127000" algn="just">
                            <a:lnSpc>
                              <a:spcPct val="150000"/>
                            </a:lnSpc>
                          </a:pPr>
                          <a:r>
                            <a:rPr lang="en-US" sz="1100" kern="100" dirty="0">
                              <a:effectLst/>
                              <a:latin typeface="微软雅黑" panose="020B0503020204020204" pitchFamily="34" charset="-122"/>
                              <a:ea typeface="微软雅黑" panose="020B0503020204020204" pitchFamily="34" charset="-122"/>
                            </a:rPr>
                            <a:t>FROM</a:t>
                          </a:r>
                          <a:endParaRPr lang="zh-CN" sz="11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tc>
                      <a:txBody>
                        <a:bodyPr/>
                        <a:lstStyle/>
                        <a:p>
                          <a:endParaRPr lang="zh-CN"/>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blipFill rotWithShape="0">
                          <a:blip r:embed="rId2"/>
                          <a:stretch>
                            <a:fillRect l="-231935" t="-417308" r="-100323" b="-9615"/>
                          </a:stretch>
                        </a:blipFill>
                      </a:tcPr>
                    </a:tc>
                    <a:tc>
                      <a:txBody>
                        <a:bodyPr/>
                        <a:lstStyle/>
                        <a:p>
                          <a:pPr indent="127000" algn="just">
                            <a:lnSpc>
                              <a:spcPct val="150000"/>
                            </a:lnSpc>
                          </a:pPr>
                          <a:r>
                            <a:rPr lang="en-US" sz="1100" kern="100" dirty="0">
                              <a:effectLst/>
                              <a:latin typeface="微软雅黑" panose="020B0503020204020204" pitchFamily="34" charset="-122"/>
                              <a:ea typeface="微软雅黑" panose="020B0503020204020204" pitchFamily="34" charset="-122"/>
                            </a:rPr>
                            <a:t>NOT EXISTS</a:t>
                          </a:r>
                          <a:endParaRPr lang="zh-CN" sz="11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51435" marR="51435" marT="0" marB="0" anchor="ctr">
                        <a:lnL w="12700" cap="flat" cmpd="sng" algn="ctr">
                          <a:solidFill>
                            <a:srgbClr val="6F1787"/>
                          </a:solidFill>
                          <a:prstDash val="solid"/>
                          <a:round/>
                          <a:headEnd type="none" w="med" len="med"/>
                          <a:tailEnd type="none" w="med" len="med"/>
                        </a:lnL>
                        <a:lnR w="12700" cap="flat" cmpd="sng" algn="ctr">
                          <a:solidFill>
                            <a:srgbClr val="6F1787"/>
                          </a:solidFill>
                          <a:prstDash val="solid"/>
                          <a:round/>
                          <a:headEnd type="none" w="med" len="med"/>
                          <a:tailEnd type="none" w="med" len="med"/>
                        </a:lnR>
                        <a:lnT w="12700" cap="flat" cmpd="sng" algn="ctr">
                          <a:solidFill>
                            <a:srgbClr val="6F1787"/>
                          </a:solidFill>
                          <a:prstDash val="solid"/>
                          <a:round/>
                          <a:headEnd type="none" w="med" len="med"/>
                          <a:tailEnd type="none" w="med" len="med"/>
                        </a:lnT>
                        <a:lnB w="12700" cap="flat" cmpd="sng" algn="ctr">
                          <a:solidFill>
                            <a:srgbClr val="6F1787"/>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201530784"/>
                      </a:ext>
                    </a:extLst>
                  </a:tr>
                </a:tbl>
              </a:graphicData>
            </a:graphic>
          </p:graphicFrame>
        </mc:Fallback>
      </mc:AlternateContent>
      <p:sp>
        <p:nvSpPr>
          <p:cNvPr id="5" name="页脚占位符 4">
            <a:extLst>
              <a:ext uri="{FF2B5EF4-FFF2-40B4-BE49-F238E27FC236}">
                <a16:creationId xmlns:a16="http://schemas.microsoft.com/office/drawing/2014/main" xmlns="" id="{3245F11D-DA9A-720D-7F26-22AEF5C21FA9}"/>
              </a:ext>
            </a:extLst>
          </p:cNvPr>
          <p:cNvSpPr>
            <a:spLocks noGrp="1"/>
          </p:cNvSpPr>
          <p:nvPr>
            <p:ph type="ftr" sz="quarter" idx="11"/>
          </p:nvPr>
        </p:nvSpPr>
        <p:spPr/>
        <p:txBody>
          <a:bodyPr/>
          <a:lstStyle/>
          <a:p>
            <a:r>
              <a:rPr kumimoji="1" lang="zh-CN" altLang="en-US"/>
              <a:t>数据库系统</a:t>
            </a:r>
            <a:r>
              <a:rPr kumimoji="1" lang="en-US" altLang="zh-CN"/>
              <a:t>—</a:t>
            </a:r>
            <a:r>
              <a:rPr kumimoji="1" lang="en" altLang="zh-CN"/>
              <a:t>SQL</a:t>
            </a:r>
            <a:endParaRPr kumimoji="1" lang="zh-CN" altLang="en-US" dirty="0">
              <a:latin typeface="SimHei" panose="02010609060101010101" pitchFamily="49" charset="-122"/>
              <a:ea typeface="SimHei" panose="02010609060101010101" pitchFamily="49" charset="-122"/>
            </a:endParaRPr>
          </a:p>
        </p:txBody>
      </p:sp>
      <p:sp>
        <p:nvSpPr>
          <p:cNvPr id="6" name="灯片编号占位符 5">
            <a:extLst>
              <a:ext uri="{FF2B5EF4-FFF2-40B4-BE49-F238E27FC236}">
                <a16:creationId xmlns:a16="http://schemas.microsoft.com/office/drawing/2014/main" xmlns="" id="{5180B892-777E-E90C-0C48-51AEF8D80F13}"/>
              </a:ext>
            </a:extLst>
          </p:cNvPr>
          <p:cNvSpPr>
            <a:spLocks noGrp="1"/>
          </p:cNvSpPr>
          <p:nvPr>
            <p:ph type="sldNum" sz="quarter" idx="12"/>
          </p:nvPr>
        </p:nvSpPr>
        <p:spPr/>
        <p:txBody>
          <a:bodyPr/>
          <a:lstStyle/>
          <a:p>
            <a:fld id="{4B0D34C0-35A8-654C-9FBA-7B4E017BD630}" type="slidenum">
              <a:rPr lang="en-US" altLang="zh-CN" smtClean="0"/>
              <a:t>5</a:t>
            </a:fld>
            <a:endParaRPr kumimoji="1" lang="zh-CN" altLang="en-US"/>
          </a:p>
        </p:txBody>
      </p:sp>
    </p:spTree>
    <p:extLst>
      <p:ext uri="{BB962C8B-B14F-4D97-AF65-F5344CB8AC3E}">
        <p14:creationId xmlns:p14="http://schemas.microsoft.com/office/powerpoint/2010/main" val="3420525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en-US" altLang="zh-CN" sz="3600" dirty="0" smtClean="0"/>
              <a:t> </a:t>
            </a:r>
            <a:r>
              <a:rPr lang="zh-CN" altLang="en-US" sz="3600" dirty="0" smtClean="0"/>
              <a:t>关系代数</a:t>
            </a:r>
          </a:p>
        </p:txBody>
      </p:sp>
      <p:sp>
        <p:nvSpPr>
          <p:cNvPr id="77827" name="Rectangle 3"/>
          <p:cNvSpPr>
            <a:spLocks noGrp="1" noChangeArrowheads="1"/>
          </p:cNvSpPr>
          <p:nvPr>
            <p:ph type="body" idx="1"/>
          </p:nvPr>
        </p:nvSpPr>
        <p:spPr/>
        <p:txBody>
          <a:bodyPr/>
          <a:lstStyle/>
          <a:p>
            <a:pPr marL="185738" indent="0">
              <a:lnSpc>
                <a:spcPct val="180000"/>
              </a:lnSpc>
              <a:buNone/>
            </a:pPr>
            <a:r>
              <a:rPr lang="en-US" altLang="zh-CN" dirty="0">
                <a:solidFill>
                  <a:srgbClr val="00B050"/>
                </a:solidFill>
              </a:rPr>
              <a:t>1. </a:t>
            </a:r>
            <a:r>
              <a:rPr lang="zh-CN" altLang="en-US" dirty="0">
                <a:solidFill>
                  <a:srgbClr val="00B050"/>
                </a:solidFill>
              </a:rPr>
              <a:t>传统的集合运算</a:t>
            </a:r>
          </a:p>
          <a:p>
            <a:pPr marL="185738" indent="0" eaLnBrk="1" hangingPunct="1">
              <a:lnSpc>
                <a:spcPct val="180000"/>
              </a:lnSpc>
              <a:buFont typeface="Wingdings" panose="05000000000000000000" pitchFamily="2" charset="2"/>
              <a:buNone/>
            </a:pPr>
            <a:r>
              <a:rPr lang="en-US" altLang="zh-CN" dirty="0" smtClean="0"/>
              <a:t>2. </a:t>
            </a:r>
            <a:r>
              <a:rPr lang="zh-CN" altLang="en-US" dirty="0" smtClean="0"/>
              <a:t>专门的关系运算</a:t>
            </a:r>
          </a:p>
        </p:txBody>
      </p:sp>
    </p:spTree>
    <p:extLst>
      <p:ext uri="{BB962C8B-B14F-4D97-AF65-F5344CB8AC3E}">
        <p14:creationId xmlns:p14="http://schemas.microsoft.com/office/powerpoint/2010/main" val="6161258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zh-CN" altLang="en-US" sz="3600" smtClean="0"/>
              <a:t>（</a:t>
            </a:r>
            <a:r>
              <a:rPr lang="en-US" altLang="zh-CN" sz="3600" smtClean="0"/>
              <a:t>1</a:t>
            </a:r>
            <a:r>
              <a:rPr lang="zh-CN" altLang="en-US" sz="3600" smtClean="0"/>
              <a:t>）</a:t>
            </a:r>
            <a:r>
              <a:rPr lang="en-US" altLang="zh-CN" sz="3600" smtClean="0"/>
              <a:t> </a:t>
            </a:r>
            <a:r>
              <a:rPr lang="zh-CN" altLang="en-US" sz="3600" smtClean="0"/>
              <a:t>并（</a:t>
            </a:r>
            <a:r>
              <a:rPr lang="en-US" altLang="zh-CN" sz="3600" smtClean="0"/>
              <a:t>Union</a:t>
            </a:r>
            <a:r>
              <a:rPr lang="zh-CN" altLang="en-US" sz="3600" smtClean="0"/>
              <a:t>）</a:t>
            </a:r>
          </a:p>
        </p:txBody>
      </p:sp>
      <p:sp>
        <p:nvSpPr>
          <p:cNvPr id="69635" name="Rectangle 3"/>
          <p:cNvSpPr>
            <a:spLocks noGrp="1" noChangeArrowheads="1"/>
          </p:cNvSpPr>
          <p:nvPr>
            <p:ph type="body" idx="1"/>
          </p:nvPr>
        </p:nvSpPr>
        <p:spPr/>
        <p:txBody>
          <a:bodyPr/>
          <a:lstStyle/>
          <a:p>
            <a:pPr algn="just" eaLnBrk="1" hangingPunct="1"/>
            <a:r>
              <a:rPr lang="en-US" altLang="zh-CN" i="1" dirty="0" smtClean="0"/>
              <a:t>R</a:t>
            </a:r>
            <a:r>
              <a:rPr lang="zh-CN" altLang="en-US" dirty="0" smtClean="0"/>
              <a:t>和</a:t>
            </a:r>
            <a:r>
              <a:rPr lang="en-US" altLang="zh-CN" i="1" dirty="0" smtClean="0"/>
              <a:t>S</a:t>
            </a:r>
          </a:p>
          <a:p>
            <a:pPr lvl="1" algn="just" eaLnBrk="1" hangingPunct="1"/>
            <a:r>
              <a:rPr lang="zh-CN" altLang="en-US" dirty="0" smtClean="0"/>
              <a:t>具有相同的目</a:t>
            </a:r>
            <a:r>
              <a:rPr lang="en-US" altLang="zh-CN" i="1" dirty="0" smtClean="0"/>
              <a:t>n</a:t>
            </a:r>
            <a:r>
              <a:rPr lang="zh-CN" altLang="en-US" dirty="0" smtClean="0"/>
              <a:t>（即两个关系都有</a:t>
            </a:r>
            <a:r>
              <a:rPr lang="en-US" altLang="zh-CN" i="1" dirty="0" smtClean="0"/>
              <a:t>n</a:t>
            </a:r>
            <a:r>
              <a:rPr lang="zh-CN" altLang="en-US" dirty="0" smtClean="0"/>
              <a:t>个属性）</a:t>
            </a:r>
          </a:p>
          <a:p>
            <a:pPr lvl="1" algn="just" eaLnBrk="1" hangingPunct="1"/>
            <a:r>
              <a:rPr lang="zh-CN" altLang="en-US" dirty="0" smtClean="0"/>
              <a:t>相应的属性取自同一个域</a:t>
            </a:r>
            <a:endParaRPr lang="en-US" altLang="zh-CN" dirty="0" smtClean="0"/>
          </a:p>
          <a:p>
            <a:pPr lvl="1" algn="just"/>
            <a:r>
              <a:rPr lang="en-US" altLang="zh-CN" i="1" dirty="0"/>
              <a:t>t</a:t>
            </a:r>
            <a:r>
              <a:rPr lang="zh-CN" altLang="en-US" dirty="0" smtClean="0"/>
              <a:t>代表一个元组</a:t>
            </a:r>
          </a:p>
          <a:p>
            <a:pPr algn="just" eaLnBrk="1" hangingPunct="1">
              <a:buFont typeface="Wingdings" panose="05000000000000000000" pitchFamily="2" charset="2"/>
              <a:buNone/>
            </a:pPr>
            <a:endParaRPr lang="zh-CN" altLang="en-US" dirty="0" smtClean="0"/>
          </a:p>
          <a:p>
            <a:pPr algn="just" eaLnBrk="1" hangingPunct="1"/>
            <a:r>
              <a:rPr lang="en-US" altLang="zh-CN" i="1" dirty="0" smtClean="0"/>
              <a:t>R</a:t>
            </a:r>
            <a:r>
              <a:rPr lang="en-US" altLang="zh-CN" dirty="0" smtClean="0"/>
              <a:t>∪</a:t>
            </a:r>
            <a:r>
              <a:rPr lang="en-US" altLang="zh-CN" i="1" dirty="0" smtClean="0"/>
              <a:t>S</a:t>
            </a:r>
            <a:r>
              <a:rPr lang="en-US" altLang="zh-CN" dirty="0" smtClean="0"/>
              <a:t> </a:t>
            </a:r>
          </a:p>
          <a:p>
            <a:pPr lvl="1" algn="just" eaLnBrk="1" hangingPunct="1"/>
            <a:r>
              <a:rPr lang="zh-CN" altLang="en-US" dirty="0" smtClean="0"/>
              <a:t>仍为</a:t>
            </a:r>
            <a:r>
              <a:rPr lang="en-US" altLang="zh-CN" i="1" dirty="0" smtClean="0"/>
              <a:t>n</a:t>
            </a:r>
            <a:r>
              <a:rPr lang="zh-CN" altLang="en-US" dirty="0" smtClean="0"/>
              <a:t>目关系，由属于</a:t>
            </a:r>
            <a:r>
              <a:rPr lang="en-US" altLang="zh-CN" i="1" dirty="0" smtClean="0"/>
              <a:t>R</a:t>
            </a:r>
            <a:r>
              <a:rPr lang="zh-CN" altLang="en-US" dirty="0" smtClean="0"/>
              <a:t>或属于</a:t>
            </a:r>
            <a:r>
              <a:rPr lang="en-US" altLang="zh-CN" i="1" dirty="0" smtClean="0"/>
              <a:t>S</a:t>
            </a:r>
            <a:r>
              <a:rPr lang="zh-CN" altLang="en-US" dirty="0" smtClean="0"/>
              <a:t>的元组组成</a:t>
            </a:r>
          </a:p>
          <a:p>
            <a:pPr lvl="1" algn="just" eaLnBrk="1" hangingPunct="1">
              <a:buFont typeface="Wingdings" panose="05000000000000000000" pitchFamily="2" charset="2"/>
              <a:buNone/>
            </a:pPr>
            <a:r>
              <a:rPr lang="zh-CN" altLang="en-US" i="1" dirty="0" smtClean="0"/>
              <a:t>             </a:t>
            </a:r>
            <a:r>
              <a:rPr lang="en-US" altLang="zh-CN" i="1" dirty="0" smtClean="0"/>
              <a:t>R</a:t>
            </a:r>
            <a:r>
              <a:rPr lang="en-US" altLang="zh-CN" dirty="0" smtClean="0"/>
              <a:t>∪</a:t>
            </a:r>
            <a:r>
              <a:rPr lang="en-US" altLang="zh-CN" i="1" dirty="0" smtClean="0"/>
              <a:t>S</a:t>
            </a:r>
            <a:r>
              <a:rPr lang="en-US" altLang="zh-CN" dirty="0" smtClean="0"/>
              <a:t> = { </a:t>
            </a:r>
            <a:r>
              <a:rPr lang="en-US" altLang="zh-CN" i="1" dirty="0" err="1" smtClean="0"/>
              <a:t>t</a:t>
            </a:r>
            <a:r>
              <a:rPr lang="en-US" altLang="zh-CN" dirty="0" err="1" smtClean="0"/>
              <a:t>|</a:t>
            </a:r>
            <a:r>
              <a:rPr lang="en-US" altLang="zh-CN" i="1" dirty="0" err="1" smtClean="0"/>
              <a:t>t</a:t>
            </a:r>
            <a:r>
              <a:rPr lang="en-US" altLang="zh-CN" i="1" dirty="0" smtClean="0"/>
              <a:t> </a:t>
            </a:r>
            <a:r>
              <a:rPr lang="en-US" altLang="zh-CN" dirty="0" smtClean="0">
                <a:sym typeface="Symbol" panose="05050102010706020507" pitchFamily="18" charset="2"/>
              </a:rPr>
              <a:t></a:t>
            </a:r>
            <a:r>
              <a:rPr lang="en-US" altLang="zh-CN" dirty="0" smtClean="0"/>
              <a:t> </a:t>
            </a:r>
            <a:r>
              <a:rPr lang="en-US" altLang="zh-CN" i="1" dirty="0" err="1" smtClean="0"/>
              <a:t>R</a:t>
            </a:r>
            <a:r>
              <a:rPr lang="en-US" altLang="zh-CN" dirty="0" err="1" smtClean="0"/>
              <a:t>∨</a:t>
            </a:r>
            <a:r>
              <a:rPr lang="en-US" altLang="zh-CN" i="1" dirty="0" err="1" smtClean="0"/>
              <a:t>t</a:t>
            </a:r>
            <a:r>
              <a:rPr lang="en-US" altLang="zh-CN" i="1" dirty="0" smtClean="0"/>
              <a:t> </a:t>
            </a:r>
            <a:r>
              <a:rPr lang="en-US" altLang="zh-CN" dirty="0" smtClean="0">
                <a:sym typeface="Symbol" panose="05050102010706020507" pitchFamily="18" charset="2"/>
              </a:rPr>
              <a:t></a:t>
            </a:r>
            <a:r>
              <a:rPr lang="en-US" altLang="zh-CN" i="1" dirty="0" smtClean="0"/>
              <a:t>S </a:t>
            </a:r>
            <a:r>
              <a:rPr lang="en-US" altLang="zh-CN" dirty="0" smtClean="0"/>
              <a:t>}</a:t>
            </a:r>
          </a:p>
          <a:p>
            <a:pPr eaLnBrk="1" hangingPunct="1">
              <a:buFont typeface="Wingdings" panose="05000000000000000000" pitchFamily="2" charset="2"/>
              <a:buNone/>
            </a:pPr>
            <a:endParaRPr lang="en-US" altLang="zh-CN" dirty="0" smtClean="0"/>
          </a:p>
        </p:txBody>
      </p:sp>
    </p:spTree>
    <p:extLst>
      <p:ext uri="{BB962C8B-B14F-4D97-AF65-F5344CB8AC3E}">
        <p14:creationId xmlns:p14="http://schemas.microsoft.com/office/powerpoint/2010/main" val="241254160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a:xfrm>
            <a:off x="914400" y="115888"/>
            <a:ext cx="7391400" cy="649287"/>
          </a:xfrm>
        </p:spPr>
        <p:txBody>
          <a:bodyPr/>
          <a:lstStyle/>
          <a:p>
            <a:pPr eaLnBrk="1" hangingPunct="1"/>
            <a:r>
              <a:rPr lang="zh-CN" altLang="en-US" sz="3600" smtClean="0"/>
              <a:t>并（续）</a:t>
            </a:r>
          </a:p>
        </p:txBody>
      </p:sp>
      <p:graphicFrame>
        <p:nvGraphicFramePr>
          <p:cNvPr id="7" name="内容占位符 6"/>
          <p:cNvGraphicFramePr>
            <a:graphicFrameLocks noGrp="1"/>
          </p:cNvGraphicFramePr>
          <p:nvPr>
            <p:ph sz="half" idx="1"/>
            <p:extLst>
              <p:ext uri="{D42A27DB-BD31-4B8C-83A1-F6EECF244321}">
                <p14:modId xmlns:p14="http://schemas.microsoft.com/office/powerpoint/2010/main" val="3899393626"/>
              </p:ext>
            </p:extLst>
          </p:nvPr>
        </p:nvGraphicFramePr>
        <p:xfrm>
          <a:off x="523875" y="1614488"/>
          <a:ext cx="4038600" cy="1706640"/>
        </p:xfrm>
        <a:graphic>
          <a:graphicData uri="http://schemas.openxmlformats.org/drawingml/2006/table">
            <a:tbl>
              <a:tblPr firstRow="1" bandRow="1">
                <a:tableStyleId>{5C22544A-7EE6-4342-B048-85BDC9FD1C3A}</a:tableStyleId>
              </a:tblPr>
              <a:tblGrid>
                <a:gridCol w="1346200"/>
                <a:gridCol w="1346200"/>
                <a:gridCol w="1346200"/>
              </a:tblGrid>
              <a:tr h="426641">
                <a:tc>
                  <a:txBody>
                    <a:bodyPr/>
                    <a:lstStyle/>
                    <a:p>
                      <a:pPr algn="ctr"/>
                      <a:r>
                        <a:rPr lang="en-US" altLang="zh-CN" sz="2200" b="1" dirty="0" smtClean="0">
                          <a:solidFill>
                            <a:schemeClr val="tx1"/>
                          </a:solidFill>
                        </a:rPr>
                        <a:t>A</a:t>
                      </a:r>
                      <a:endParaRPr lang="zh-CN" altLang="en-US" sz="2200" b="1" dirty="0">
                        <a:solidFill>
                          <a:schemeClr val="tx1"/>
                        </a:solidFill>
                      </a:endParaRPr>
                    </a:p>
                  </a:txBody>
                  <a:tcPr marT="45690" marB="45690"/>
                </a:tc>
                <a:tc>
                  <a:txBody>
                    <a:bodyPr/>
                    <a:lstStyle/>
                    <a:p>
                      <a:pPr algn="ctr"/>
                      <a:r>
                        <a:rPr lang="en-US" altLang="zh-CN" sz="2200" b="1" dirty="0" smtClean="0">
                          <a:solidFill>
                            <a:schemeClr val="tx1"/>
                          </a:solidFill>
                        </a:rPr>
                        <a:t>B</a:t>
                      </a:r>
                      <a:endParaRPr lang="zh-CN" altLang="en-US" sz="2200" b="1" dirty="0">
                        <a:solidFill>
                          <a:schemeClr val="tx1"/>
                        </a:solidFill>
                      </a:endParaRPr>
                    </a:p>
                  </a:txBody>
                  <a:tcPr marT="45690" marB="45690"/>
                </a:tc>
                <a:tc>
                  <a:txBody>
                    <a:bodyPr/>
                    <a:lstStyle/>
                    <a:p>
                      <a:pPr algn="ctr"/>
                      <a:r>
                        <a:rPr lang="en-US" altLang="zh-CN" sz="2200" b="1" dirty="0" smtClean="0">
                          <a:solidFill>
                            <a:schemeClr val="tx1"/>
                          </a:solidFill>
                        </a:rPr>
                        <a:t>C</a:t>
                      </a:r>
                      <a:endParaRPr lang="zh-CN" altLang="en-US" sz="2200" b="1" dirty="0">
                        <a:solidFill>
                          <a:schemeClr val="tx1"/>
                        </a:solidFill>
                      </a:endParaRPr>
                    </a:p>
                  </a:txBody>
                  <a:tcPr marT="45690" marB="45690"/>
                </a:tc>
              </a:tr>
              <a:tr h="426641">
                <a:tc>
                  <a:txBody>
                    <a:bodyPr/>
                    <a:lstStyle/>
                    <a:p>
                      <a:pPr algn="ctr"/>
                      <a:r>
                        <a:rPr lang="en-US" altLang="zh-CN" sz="2200" b="1" dirty="0" smtClean="0"/>
                        <a:t>a1</a:t>
                      </a:r>
                      <a:endParaRPr lang="zh-CN" altLang="en-US" sz="2200" b="1" dirty="0"/>
                    </a:p>
                  </a:txBody>
                  <a:tcPr marT="45690" marB="45690"/>
                </a:tc>
                <a:tc>
                  <a:txBody>
                    <a:bodyPr/>
                    <a:lstStyle/>
                    <a:p>
                      <a:pPr algn="ctr"/>
                      <a:r>
                        <a:rPr lang="en-US" altLang="zh-CN" sz="2200" b="1" dirty="0" smtClean="0"/>
                        <a:t>b1</a:t>
                      </a:r>
                      <a:endParaRPr lang="zh-CN" altLang="en-US" sz="2200" b="1" dirty="0"/>
                    </a:p>
                  </a:txBody>
                  <a:tcPr marT="45690" marB="45690"/>
                </a:tc>
                <a:tc>
                  <a:txBody>
                    <a:bodyPr/>
                    <a:lstStyle/>
                    <a:p>
                      <a:pPr algn="ctr"/>
                      <a:r>
                        <a:rPr lang="en-US" altLang="zh-CN" sz="2200" b="1" dirty="0" smtClean="0"/>
                        <a:t>c1</a:t>
                      </a:r>
                      <a:endParaRPr lang="zh-CN" altLang="en-US" sz="2200" b="1" dirty="0"/>
                    </a:p>
                  </a:txBody>
                  <a:tcPr marT="45690" marB="45690"/>
                </a:tc>
              </a:tr>
              <a:tr h="426641">
                <a:tc>
                  <a:txBody>
                    <a:bodyPr/>
                    <a:lstStyle/>
                    <a:p>
                      <a:pPr algn="ctr"/>
                      <a:r>
                        <a:rPr lang="en-US" altLang="zh-CN" sz="2200" b="1" dirty="0" smtClean="0"/>
                        <a:t>a1</a:t>
                      </a:r>
                      <a:endParaRPr lang="zh-CN" altLang="en-US" sz="2200" b="1" dirty="0"/>
                    </a:p>
                  </a:txBody>
                  <a:tcPr marT="45690" marB="45690"/>
                </a:tc>
                <a:tc>
                  <a:txBody>
                    <a:bodyPr/>
                    <a:lstStyle/>
                    <a:p>
                      <a:pPr algn="ctr"/>
                      <a:r>
                        <a:rPr lang="en-US" altLang="zh-CN" sz="2200" b="1" dirty="0" smtClean="0"/>
                        <a:t>b2</a:t>
                      </a:r>
                      <a:endParaRPr lang="zh-CN" altLang="en-US" sz="2200" b="1" dirty="0"/>
                    </a:p>
                  </a:txBody>
                  <a:tcPr marT="45690" marB="45690"/>
                </a:tc>
                <a:tc>
                  <a:txBody>
                    <a:bodyPr/>
                    <a:lstStyle/>
                    <a:p>
                      <a:pPr algn="ctr"/>
                      <a:r>
                        <a:rPr lang="en-US" altLang="zh-CN" sz="2200" b="1" dirty="0" smtClean="0"/>
                        <a:t>c2</a:t>
                      </a:r>
                      <a:endParaRPr lang="zh-CN" altLang="en-US" sz="2200" b="1" dirty="0"/>
                    </a:p>
                  </a:txBody>
                  <a:tcPr marT="45690" marB="45690"/>
                </a:tc>
              </a:tr>
              <a:tr h="426641">
                <a:tc>
                  <a:txBody>
                    <a:bodyPr/>
                    <a:lstStyle/>
                    <a:p>
                      <a:pPr algn="ctr"/>
                      <a:r>
                        <a:rPr lang="en-US" altLang="zh-CN" sz="2200" b="1" dirty="0" smtClean="0">
                          <a:solidFill>
                            <a:srgbClr val="FF0000"/>
                          </a:solidFill>
                        </a:rPr>
                        <a:t>a2</a:t>
                      </a:r>
                      <a:endParaRPr lang="zh-CN" altLang="en-US" sz="2200" b="1" dirty="0">
                        <a:solidFill>
                          <a:srgbClr val="FF0000"/>
                        </a:solidFill>
                      </a:endParaRPr>
                    </a:p>
                  </a:txBody>
                  <a:tcPr marT="45690" marB="45690"/>
                </a:tc>
                <a:tc>
                  <a:txBody>
                    <a:bodyPr/>
                    <a:lstStyle/>
                    <a:p>
                      <a:pPr algn="ctr"/>
                      <a:r>
                        <a:rPr lang="en-US" altLang="zh-CN" sz="2200" b="1" dirty="0" smtClean="0">
                          <a:solidFill>
                            <a:srgbClr val="FF0000"/>
                          </a:solidFill>
                        </a:rPr>
                        <a:t>b2</a:t>
                      </a:r>
                      <a:endParaRPr lang="zh-CN" altLang="en-US" sz="2200" b="1" dirty="0">
                        <a:solidFill>
                          <a:srgbClr val="FF0000"/>
                        </a:solidFill>
                      </a:endParaRPr>
                    </a:p>
                  </a:txBody>
                  <a:tcPr marT="45690" marB="45690"/>
                </a:tc>
                <a:tc>
                  <a:txBody>
                    <a:bodyPr/>
                    <a:lstStyle/>
                    <a:p>
                      <a:pPr algn="ctr"/>
                      <a:r>
                        <a:rPr lang="en-US" altLang="zh-CN" sz="2200" b="1" dirty="0" smtClean="0">
                          <a:solidFill>
                            <a:srgbClr val="FF0000"/>
                          </a:solidFill>
                        </a:rPr>
                        <a:t>c1</a:t>
                      </a:r>
                      <a:endParaRPr lang="zh-CN" altLang="en-US" sz="2200" b="1" dirty="0">
                        <a:solidFill>
                          <a:srgbClr val="FF0000"/>
                        </a:solidFill>
                      </a:endParaRPr>
                    </a:p>
                  </a:txBody>
                  <a:tcPr marT="45690" marB="45690"/>
                </a:tc>
              </a:tr>
            </a:tbl>
          </a:graphicData>
        </a:graphic>
      </p:graphicFrame>
      <p:graphicFrame>
        <p:nvGraphicFramePr>
          <p:cNvPr id="10" name="内容占位符 9"/>
          <p:cNvGraphicFramePr>
            <a:graphicFrameLocks noGrp="1"/>
          </p:cNvGraphicFramePr>
          <p:nvPr>
            <p:ph sz="quarter" idx="2"/>
            <p:extLst>
              <p:ext uri="{D42A27DB-BD31-4B8C-83A1-F6EECF244321}">
                <p14:modId xmlns:p14="http://schemas.microsoft.com/office/powerpoint/2010/main" val="1938779779"/>
              </p:ext>
            </p:extLst>
          </p:nvPr>
        </p:nvGraphicFramePr>
        <p:xfrm>
          <a:off x="4710113" y="2089150"/>
          <a:ext cx="4038600" cy="2449515"/>
        </p:xfrm>
        <a:graphic>
          <a:graphicData uri="http://schemas.openxmlformats.org/drawingml/2006/table">
            <a:tbl>
              <a:tblPr firstRow="1" bandRow="1">
                <a:tableStyleId>{5C22544A-7EE6-4342-B048-85BDC9FD1C3A}</a:tableStyleId>
              </a:tblPr>
              <a:tblGrid>
                <a:gridCol w="1346200"/>
                <a:gridCol w="1346200"/>
                <a:gridCol w="1346200"/>
              </a:tblGrid>
              <a:tr h="489903">
                <a:tc>
                  <a:txBody>
                    <a:bodyPr/>
                    <a:lstStyle/>
                    <a:p>
                      <a:pPr algn="ctr"/>
                      <a:r>
                        <a:rPr lang="en-US" altLang="zh-CN" sz="2200" b="1" dirty="0" smtClean="0">
                          <a:solidFill>
                            <a:schemeClr val="tx1"/>
                          </a:solidFill>
                        </a:rPr>
                        <a:t>A</a:t>
                      </a:r>
                      <a:endParaRPr lang="zh-CN" altLang="en-US" sz="2200" b="1" dirty="0">
                        <a:solidFill>
                          <a:schemeClr val="tx1"/>
                        </a:solidFill>
                      </a:endParaRPr>
                    </a:p>
                  </a:txBody>
                  <a:tcPr marT="45743" marB="45743"/>
                </a:tc>
                <a:tc>
                  <a:txBody>
                    <a:bodyPr/>
                    <a:lstStyle/>
                    <a:p>
                      <a:pPr algn="ctr"/>
                      <a:r>
                        <a:rPr lang="en-US" altLang="zh-CN" sz="2200" b="1" dirty="0" smtClean="0">
                          <a:solidFill>
                            <a:schemeClr val="tx1"/>
                          </a:solidFill>
                        </a:rPr>
                        <a:t>B</a:t>
                      </a:r>
                      <a:endParaRPr lang="zh-CN" altLang="en-US" sz="2200" b="1" dirty="0">
                        <a:solidFill>
                          <a:schemeClr val="tx1"/>
                        </a:solidFill>
                      </a:endParaRPr>
                    </a:p>
                  </a:txBody>
                  <a:tcPr marT="45743" marB="45743"/>
                </a:tc>
                <a:tc>
                  <a:txBody>
                    <a:bodyPr/>
                    <a:lstStyle/>
                    <a:p>
                      <a:pPr algn="ctr"/>
                      <a:r>
                        <a:rPr lang="en-US" altLang="zh-CN" sz="2200" b="1" dirty="0" smtClean="0">
                          <a:solidFill>
                            <a:schemeClr val="tx1"/>
                          </a:solidFill>
                        </a:rPr>
                        <a:t>C</a:t>
                      </a:r>
                      <a:endParaRPr lang="zh-CN" altLang="en-US" sz="2200" b="1" dirty="0">
                        <a:solidFill>
                          <a:schemeClr val="tx1"/>
                        </a:solidFill>
                      </a:endParaRPr>
                    </a:p>
                  </a:txBody>
                  <a:tcPr marT="45743" marB="45743"/>
                </a:tc>
              </a:tr>
              <a:tr h="489903">
                <a:tc>
                  <a:txBody>
                    <a:bodyPr/>
                    <a:lstStyle/>
                    <a:p>
                      <a:pPr algn="ctr"/>
                      <a:r>
                        <a:rPr lang="en-US" altLang="zh-CN" sz="2200" b="1" dirty="0" smtClean="0"/>
                        <a:t>a1</a:t>
                      </a:r>
                      <a:endParaRPr lang="zh-CN" altLang="en-US" sz="2200" b="1" dirty="0"/>
                    </a:p>
                  </a:txBody>
                  <a:tcPr marT="45743" marB="45743"/>
                </a:tc>
                <a:tc>
                  <a:txBody>
                    <a:bodyPr/>
                    <a:lstStyle/>
                    <a:p>
                      <a:pPr algn="ctr"/>
                      <a:r>
                        <a:rPr lang="en-US" altLang="zh-CN" sz="2200" b="1" dirty="0" smtClean="0"/>
                        <a:t>b1</a:t>
                      </a:r>
                      <a:endParaRPr lang="zh-CN" altLang="en-US" sz="2200" b="1" dirty="0"/>
                    </a:p>
                  </a:txBody>
                  <a:tcPr marT="45743" marB="45743"/>
                </a:tc>
                <a:tc>
                  <a:txBody>
                    <a:bodyPr/>
                    <a:lstStyle/>
                    <a:p>
                      <a:pPr algn="ctr"/>
                      <a:r>
                        <a:rPr lang="en-US" altLang="zh-CN" sz="2200" b="1" dirty="0" smtClean="0"/>
                        <a:t>c1</a:t>
                      </a:r>
                      <a:endParaRPr lang="zh-CN" altLang="en-US" sz="2200" b="1" dirty="0"/>
                    </a:p>
                  </a:txBody>
                  <a:tcPr marT="45743" marB="45743"/>
                </a:tc>
              </a:tr>
              <a:tr h="489903">
                <a:tc>
                  <a:txBody>
                    <a:bodyPr/>
                    <a:lstStyle/>
                    <a:p>
                      <a:pPr algn="ctr"/>
                      <a:r>
                        <a:rPr lang="en-US" altLang="zh-CN" sz="2200" b="1" dirty="0" smtClean="0"/>
                        <a:t>a1</a:t>
                      </a:r>
                      <a:endParaRPr lang="zh-CN" altLang="en-US" sz="2200" b="1" dirty="0"/>
                    </a:p>
                  </a:txBody>
                  <a:tcPr marT="45743" marB="45743"/>
                </a:tc>
                <a:tc>
                  <a:txBody>
                    <a:bodyPr/>
                    <a:lstStyle/>
                    <a:p>
                      <a:pPr algn="ctr"/>
                      <a:r>
                        <a:rPr lang="en-US" altLang="zh-CN" sz="2200" b="1" dirty="0" smtClean="0"/>
                        <a:t>b2</a:t>
                      </a:r>
                      <a:endParaRPr lang="zh-CN" altLang="en-US" sz="2200" b="1" dirty="0"/>
                    </a:p>
                  </a:txBody>
                  <a:tcPr marT="45743" marB="45743"/>
                </a:tc>
                <a:tc>
                  <a:txBody>
                    <a:bodyPr/>
                    <a:lstStyle/>
                    <a:p>
                      <a:pPr algn="ctr"/>
                      <a:r>
                        <a:rPr lang="en-US" altLang="zh-CN" sz="2200" b="1" dirty="0" smtClean="0"/>
                        <a:t>c2</a:t>
                      </a:r>
                      <a:endParaRPr lang="zh-CN" altLang="en-US" sz="2200" b="1" dirty="0"/>
                    </a:p>
                  </a:txBody>
                  <a:tcPr marT="45743" marB="45743"/>
                </a:tc>
              </a:tr>
              <a:tr h="489903">
                <a:tc>
                  <a:txBody>
                    <a:bodyPr/>
                    <a:lstStyle/>
                    <a:p>
                      <a:pPr algn="ctr"/>
                      <a:r>
                        <a:rPr lang="en-US" altLang="zh-CN" sz="2200" b="1" dirty="0" smtClean="0">
                          <a:solidFill>
                            <a:srgbClr val="FF0000"/>
                          </a:solidFill>
                        </a:rPr>
                        <a:t>a2</a:t>
                      </a:r>
                      <a:endParaRPr lang="zh-CN" altLang="en-US" sz="2200" b="1" dirty="0">
                        <a:solidFill>
                          <a:srgbClr val="FF0000"/>
                        </a:solidFill>
                      </a:endParaRPr>
                    </a:p>
                  </a:txBody>
                  <a:tcPr marT="45743" marB="45743"/>
                </a:tc>
                <a:tc>
                  <a:txBody>
                    <a:bodyPr/>
                    <a:lstStyle/>
                    <a:p>
                      <a:pPr algn="ctr"/>
                      <a:r>
                        <a:rPr lang="en-US" altLang="zh-CN" sz="2200" b="1" dirty="0" smtClean="0">
                          <a:solidFill>
                            <a:srgbClr val="FF0000"/>
                          </a:solidFill>
                        </a:rPr>
                        <a:t>b2</a:t>
                      </a:r>
                      <a:endParaRPr lang="zh-CN" altLang="en-US" sz="2200" b="1" dirty="0">
                        <a:solidFill>
                          <a:srgbClr val="FF0000"/>
                        </a:solidFill>
                      </a:endParaRPr>
                    </a:p>
                  </a:txBody>
                  <a:tcPr marT="45743" marB="45743"/>
                </a:tc>
                <a:tc>
                  <a:txBody>
                    <a:bodyPr/>
                    <a:lstStyle/>
                    <a:p>
                      <a:pPr algn="ctr"/>
                      <a:r>
                        <a:rPr lang="en-US" altLang="zh-CN" sz="2200" b="1" dirty="0" smtClean="0">
                          <a:solidFill>
                            <a:srgbClr val="FF0000"/>
                          </a:solidFill>
                        </a:rPr>
                        <a:t>c1</a:t>
                      </a:r>
                      <a:endParaRPr lang="zh-CN" altLang="en-US" sz="2200" b="1" dirty="0">
                        <a:solidFill>
                          <a:srgbClr val="FF0000"/>
                        </a:solidFill>
                      </a:endParaRPr>
                    </a:p>
                  </a:txBody>
                  <a:tcPr marT="45743" marB="45743"/>
                </a:tc>
              </a:tr>
              <a:tr h="489903">
                <a:tc>
                  <a:txBody>
                    <a:bodyPr/>
                    <a:lstStyle/>
                    <a:p>
                      <a:pPr algn="ctr"/>
                      <a:r>
                        <a:rPr lang="en-US" altLang="zh-CN" sz="2200" b="1" dirty="0" smtClean="0"/>
                        <a:t>a1</a:t>
                      </a:r>
                      <a:endParaRPr lang="zh-CN" altLang="en-US" sz="2200" b="1" dirty="0"/>
                    </a:p>
                  </a:txBody>
                  <a:tcPr marT="45743" marB="45743"/>
                </a:tc>
                <a:tc>
                  <a:txBody>
                    <a:bodyPr/>
                    <a:lstStyle/>
                    <a:p>
                      <a:pPr algn="ctr"/>
                      <a:r>
                        <a:rPr lang="en-US" altLang="zh-CN" sz="2200" b="1" dirty="0" smtClean="0"/>
                        <a:t>b3</a:t>
                      </a:r>
                      <a:endParaRPr lang="zh-CN" altLang="en-US" sz="2200" b="1" dirty="0"/>
                    </a:p>
                  </a:txBody>
                  <a:tcPr marT="45743" marB="45743"/>
                </a:tc>
                <a:tc>
                  <a:txBody>
                    <a:bodyPr/>
                    <a:lstStyle/>
                    <a:p>
                      <a:pPr algn="ctr"/>
                      <a:r>
                        <a:rPr lang="en-US" altLang="zh-CN" sz="2200" b="1" dirty="0" smtClean="0"/>
                        <a:t>c2</a:t>
                      </a:r>
                      <a:endParaRPr lang="zh-CN" altLang="en-US" sz="2200" b="1" dirty="0"/>
                    </a:p>
                  </a:txBody>
                  <a:tcPr marT="45743" marB="45743"/>
                </a:tc>
              </a:tr>
            </a:tbl>
          </a:graphicData>
        </a:graphic>
      </p:graphicFrame>
      <p:graphicFrame>
        <p:nvGraphicFramePr>
          <p:cNvPr id="9" name="内容占位符 8"/>
          <p:cNvGraphicFramePr>
            <a:graphicFrameLocks noGrp="1"/>
          </p:cNvGraphicFramePr>
          <p:nvPr>
            <p:ph sz="quarter" idx="3"/>
            <p:extLst>
              <p:ext uri="{D42A27DB-BD31-4B8C-83A1-F6EECF244321}">
                <p14:modId xmlns:p14="http://schemas.microsoft.com/office/powerpoint/2010/main" val="555205830"/>
              </p:ext>
            </p:extLst>
          </p:nvPr>
        </p:nvGraphicFramePr>
        <p:xfrm>
          <a:off x="461963" y="3673475"/>
          <a:ext cx="4038600" cy="1706832"/>
        </p:xfrm>
        <a:graphic>
          <a:graphicData uri="http://schemas.openxmlformats.org/drawingml/2006/table">
            <a:tbl>
              <a:tblPr firstRow="1" bandRow="1">
                <a:tableStyleId>{5C22544A-7EE6-4342-B048-85BDC9FD1C3A}</a:tableStyleId>
              </a:tblPr>
              <a:tblGrid>
                <a:gridCol w="1346200"/>
                <a:gridCol w="1346200"/>
                <a:gridCol w="1346200"/>
              </a:tblGrid>
              <a:tr h="426641">
                <a:tc>
                  <a:txBody>
                    <a:bodyPr/>
                    <a:lstStyle/>
                    <a:p>
                      <a:pPr algn="ctr"/>
                      <a:r>
                        <a:rPr lang="en-US" altLang="zh-CN" sz="2200" b="1" dirty="0" smtClean="0">
                          <a:solidFill>
                            <a:schemeClr val="tx1"/>
                          </a:solidFill>
                        </a:rPr>
                        <a:t>A</a:t>
                      </a:r>
                      <a:endParaRPr lang="zh-CN" altLang="en-US" sz="2200" b="1" dirty="0">
                        <a:solidFill>
                          <a:schemeClr val="tx1"/>
                        </a:solidFill>
                      </a:endParaRPr>
                    </a:p>
                  </a:txBody>
                  <a:tcPr marT="45714" marB="45714"/>
                </a:tc>
                <a:tc>
                  <a:txBody>
                    <a:bodyPr/>
                    <a:lstStyle/>
                    <a:p>
                      <a:pPr algn="ctr"/>
                      <a:r>
                        <a:rPr lang="en-US" altLang="zh-CN" sz="2200" b="1" dirty="0" smtClean="0">
                          <a:solidFill>
                            <a:schemeClr val="tx1"/>
                          </a:solidFill>
                        </a:rPr>
                        <a:t>B</a:t>
                      </a:r>
                      <a:endParaRPr lang="zh-CN" altLang="en-US" sz="2200" b="1" dirty="0">
                        <a:solidFill>
                          <a:schemeClr val="tx1"/>
                        </a:solidFill>
                      </a:endParaRPr>
                    </a:p>
                  </a:txBody>
                  <a:tcPr marT="45714" marB="45714"/>
                </a:tc>
                <a:tc>
                  <a:txBody>
                    <a:bodyPr/>
                    <a:lstStyle/>
                    <a:p>
                      <a:pPr algn="ctr"/>
                      <a:r>
                        <a:rPr lang="en-US" altLang="zh-CN" sz="2200" b="1" dirty="0" smtClean="0">
                          <a:solidFill>
                            <a:schemeClr val="tx1"/>
                          </a:solidFill>
                        </a:rPr>
                        <a:t>C</a:t>
                      </a:r>
                      <a:endParaRPr lang="zh-CN" altLang="en-US" sz="2200" b="1" dirty="0">
                        <a:solidFill>
                          <a:schemeClr val="tx1"/>
                        </a:solidFill>
                      </a:endParaRPr>
                    </a:p>
                  </a:txBody>
                  <a:tcPr marT="45714" marB="45714"/>
                </a:tc>
              </a:tr>
              <a:tr h="426641">
                <a:tc>
                  <a:txBody>
                    <a:bodyPr/>
                    <a:lstStyle/>
                    <a:p>
                      <a:pPr algn="ctr"/>
                      <a:r>
                        <a:rPr lang="en-US" altLang="zh-CN" sz="2200" b="1" dirty="0" smtClean="0"/>
                        <a:t>a1</a:t>
                      </a:r>
                      <a:endParaRPr lang="zh-CN" altLang="en-US" sz="2200" b="1" dirty="0"/>
                    </a:p>
                  </a:txBody>
                  <a:tcPr marT="45714" marB="45714"/>
                </a:tc>
                <a:tc>
                  <a:txBody>
                    <a:bodyPr/>
                    <a:lstStyle/>
                    <a:p>
                      <a:pPr algn="ctr"/>
                      <a:r>
                        <a:rPr lang="en-US" altLang="zh-CN" sz="2200" b="1" dirty="0" smtClean="0"/>
                        <a:t>b2</a:t>
                      </a:r>
                      <a:endParaRPr lang="zh-CN" altLang="en-US" sz="2200" b="1" dirty="0"/>
                    </a:p>
                  </a:txBody>
                  <a:tcPr marT="45714" marB="45714"/>
                </a:tc>
                <a:tc>
                  <a:txBody>
                    <a:bodyPr/>
                    <a:lstStyle/>
                    <a:p>
                      <a:pPr algn="ctr"/>
                      <a:r>
                        <a:rPr lang="en-US" altLang="zh-CN" sz="2200" b="1" dirty="0" smtClean="0"/>
                        <a:t>c2</a:t>
                      </a:r>
                      <a:endParaRPr lang="zh-CN" altLang="en-US" sz="2200" b="1" dirty="0"/>
                    </a:p>
                  </a:txBody>
                  <a:tcPr marT="45714" marB="45714"/>
                </a:tc>
              </a:tr>
              <a:tr h="426641">
                <a:tc>
                  <a:txBody>
                    <a:bodyPr/>
                    <a:lstStyle/>
                    <a:p>
                      <a:pPr algn="ctr"/>
                      <a:r>
                        <a:rPr lang="en-US" altLang="zh-CN" sz="2200" b="1" dirty="0" smtClean="0"/>
                        <a:t>a1</a:t>
                      </a:r>
                      <a:endParaRPr lang="zh-CN" altLang="en-US" sz="2200" b="1" dirty="0"/>
                    </a:p>
                  </a:txBody>
                  <a:tcPr marT="45714" marB="45714"/>
                </a:tc>
                <a:tc>
                  <a:txBody>
                    <a:bodyPr/>
                    <a:lstStyle/>
                    <a:p>
                      <a:pPr algn="ctr"/>
                      <a:r>
                        <a:rPr lang="en-US" altLang="zh-CN" sz="2200" b="1" dirty="0" smtClean="0"/>
                        <a:t>b3</a:t>
                      </a:r>
                      <a:endParaRPr lang="zh-CN" altLang="en-US" sz="2200" b="1" dirty="0"/>
                    </a:p>
                  </a:txBody>
                  <a:tcPr marT="45714" marB="45714"/>
                </a:tc>
                <a:tc>
                  <a:txBody>
                    <a:bodyPr/>
                    <a:lstStyle/>
                    <a:p>
                      <a:pPr algn="ctr"/>
                      <a:r>
                        <a:rPr lang="en-US" altLang="zh-CN" sz="2200" b="1" dirty="0" smtClean="0"/>
                        <a:t>c2</a:t>
                      </a:r>
                      <a:endParaRPr lang="zh-CN" altLang="en-US" sz="2200" b="1" dirty="0"/>
                    </a:p>
                  </a:txBody>
                  <a:tcPr marT="45714" marB="45714"/>
                </a:tc>
              </a:tr>
              <a:tr h="426641">
                <a:tc>
                  <a:txBody>
                    <a:bodyPr/>
                    <a:lstStyle/>
                    <a:p>
                      <a:pPr algn="ctr"/>
                      <a:r>
                        <a:rPr lang="en-US" altLang="zh-CN" sz="2200" b="1" dirty="0" smtClean="0">
                          <a:solidFill>
                            <a:srgbClr val="FF0000"/>
                          </a:solidFill>
                        </a:rPr>
                        <a:t>a2</a:t>
                      </a:r>
                      <a:endParaRPr lang="zh-CN" altLang="en-US" sz="2200" b="1" dirty="0">
                        <a:solidFill>
                          <a:srgbClr val="FF0000"/>
                        </a:solidFill>
                      </a:endParaRPr>
                    </a:p>
                  </a:txBody>
                  <a:tcPr marT="45714" marB="45714"/>
                </a:tc>
                <a:tc>
                  <a:txBody>
                    <a:bodyPr/>
                    <a:lstStyle/>
                    <a:p>
                      <a:pPr algn="ctr"/>
                      <a:r>
                        <a:rPr lang="en-US" altLang="zh-CN" sz="2200" b="1" dirty="0" smtClean="0">
                          <a:solidFill>
                            <a:srgbClr val="FF0000"/>
                          </a:solidFill>
                        </a:rPr>
                        <a:t>b2</a:t>
                      </a:r>
                      <a:endParaRPr lang="zh-CN" altLang="en-US" sz="2200" b="1" dirty="0">
                        <a:solidFill>
                          <a:srgbClr val="FF0000"/>
                        </a:solidFill>
                      </a:endParaRPr>
                    </a:p>
                  </a:txBody>
                  <a:tcPr marT="45714" marB="45714"/>
                </a:tc>
                <a:tc>
                  <a:txBody>
                    <a:bodyPr/>
                    <a:lstStyle/>
                    <a:p>
                      <a:pPr algn="ctr"/>
                      <a:r>
                        <a:rPr lang="en-US" altLang="zh-CN" sz="2200" b="1" dirty="0" smtClean="0">
                          <a:solidFill>
                            <a:srgbClr val="FF0000"/>
                          </a:solidFill>
                        </a:rPr>
                        <a:t>c1</a:t>
                      </a:r>
                      <a:endParaRPr lang="zh-CN" altLang="en-US" sz="2200" b="1" dirty="0">
                        <a:solidFill>
                          <a:srgbClr val="FF0000"/>
                        </a:solidFill>
                      </a:endParaRPr>
                    </a:p>
                  </a:txBody>
                  <a:tcPr marT="45714" marB="45714"/>
                </a:tc>
              </a:tr>
            </a:tbl>
          </a:graphicData>
        </a:graphic>
      </p:graphicFrame>
      <p:sp>
        <p:nvSpPr>
          <p:cNvPr id="70729" name="TextBox 7"/>
          <p:cNvSpPr txBox="1">
            <a:spLocks noChangeArrowheads="1"/>
          </p:cNvSpPr>
          <p:nvPr/>
        </p:nvSpPr>
        <p:spPr bwMode="auto">
          <a:xfrm>
            <a:off x="677863" y="1052513"/>
            <a:ext cx="388937"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a:t>R</a:t>
            </a:r>
            <a:endParaRPr lang="zh-CN" altLang="en-US" sz="2200" b="1"/>
          </a:p>
        </p:txBody>
      </p:sp>
      <p:sp>
        <p:nvSpPr>
          <p:cNvPr id="70730" name="TextBox 10"/>
          <p:cNvSpPr txBox="1">
            <a:spLocks noChangeArrowheads="1"/>
          </p:cNvSpPr>
          <p:nvPr/>
        </p:nvSpPr>
        <p:spPr bwMode="auto">
          <a:xfrm>
            <a:off x="677863" y="3314700"/>
            <a:ext cx="3714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a:t>S</a:t>
            </a:r>
            <a:endParaRPr lang="zh-CN" altLang="en-US" sz="2200" b="1"/>
          </a:p>
        </p:txBody>
      </p:sp>
      <p:sp>
        <p:nvSpPr>
          <p:cNvPr id="70731" name="TextBox 11"/>
          <p:cNvSpPr txBox="1">
            <a:spLocks noChangeArrowheads="1"/>
          </p:cNvSpPr>
          <p:nvPr/>
        </p:nvSpPr>
        <p:spPr bwMode="auto">
          <a:xfrm>
            <a:off x="4999038" y="1435100"/>
            <a:ext cx="779462"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a:t>RUS</a:t>
            </a:r>
            <a:endParaRPr lang="zh-CN" altLang="en-US" sz="2200" b="1"/>
          </a:p>
        </p:txBody>
      </p:sp>
    </p:spTree>
    <p:extLst>
      <p:ext uri="{BB962C8B-B14F-4D97-AF65-F5344CB8AC3E}">
        <p14:creationId xmlns:p14="http://schemas.microsoft.com/office/powerpoint/2010/main" val="4069599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additive="base">
                                        <p:cTn id="14" dur="500" fill="hold"/>
                                        <p:tgtEl>
                                          <p:spTgt spid="10"/>
                                        </p:tgtEl>
                                        <p:attrNameLst>
                                          <p:attrName>ppt_x</p:attrName>
                                        </p:attrNameLst>
                                      </p:cBhvr>
                                      <p:tavLst>
                                        <p:tav tm="0">
                                          <p:val>
                                            <p:strVal val="#ppt_x"/>
                                          </p:val>
                                        </p:tav>
                                        <p:tav tm="100000">
                                          <p:val>
                                            <p:strVal val="#ppt_x"/>
                                          </p:val>
                                        </p:tav>
                                      </p:tavLst>
                                    </p:anim>
                                    <p:anim calcmode="lin" valueType="num">
                                      <p:cBhvr additive="base">
                                        <p:cTn id="1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zh-CN" altLang="en-US" sz="3600" smtClean="0"/>
              <a:t>（</a:t>
            </a:r>
            <a:r>
              <a:rPr lang="en-US" altLang="zh-CN" sz="3600" smtClean="0"/>
              <a:t>2</a:t>
            </a:r>
            <a:r>
              <a:rPr lang="zh-CN" altLang="en-US" sz="3600" smtClean="0"/>
              <a:t>）差（</a:t>
            </a:r>
            <a:r>
              <a:rPr lang="en-US" altLang="zh-CN" sz="3600" smtClean="0"/>
              <a:t>Difference</a:t>
            </a:r>
            <a:r>
              <a:rPr lang="zh-CN" altLang="en-US" sz="3600" smtClean="0"/>
              <a:t>）</a:t>
            </a:r>
          </a:p>
        </p:txBody>
      </p:sp>
      <p:sp>
        <p:nvSpPr>
          <p:cNvPr id="71683" name="Rectangle 3"/>
          <p:cNvSpPr>
            <a:spLocks noGrp="1" noChangeArrowheads="1"/>
          </p:cNvSpPr>
          <p:nvPr>
            <p:ph type="body" idx="1"/>
          </p:nvPr>
        </p:nvSpPr>
        <p:spPr/>
        <p:txBody>
          <a:bodyPr/>
          <a:lstStyle/>
          <a:p>
            <a:pPr algn="just" eaLnBrk="1" hangingPunct="1"/>
            <a:r>
              <a:rPr lang="en-US" altLang="zh-CN" i="1" dirty="0" smtClean="0"/>
              <a:t>R</a:t>
            </a:r>
            <a:r>
              <a:rPr lang="zh-CN" altLang="en-US" dirty="0" smtClean="0"/>
              <a:t>和</a:t>
            </a:r>
            <a:r>
              <a:rPr lang="en-US" altLang="zh-CN" i="1" dirty="0" smtClean="0"/>
              <a:t>S</a:t>
            </a:r>
          </a:p>
          <a:p>
            <a:pPr lvl="1" algn="just" eaLnBrk="1" hangingPunct="1"/>
            <a:r>
              <a:rPr lang="zh-CN" altLang="en-US" dirty="0" smtClean="0"/>
              <a:t>具有相同的目</a:t>
            </a:r>
            <a:r>
              <a:rPr lang="en-US" altLang="zh-CN" i="1" dirty="0" smtClean="0"/>
              <a:t>n</a:t>
            </a:r>
          </a:p>
          <a:p>
            <a:pPr lvl="1" algn="just" eaLnBrk="1" hangingPunct="1"/>
            <a:r>
              <a:rPr lang="zh-CN" altLang="en-US" dirty="0" smtClean="0"/>
              <a:t>相应的属性取自同一个域</a:t>
            </a:r>
          </a:p>
          <a:p>
            <a:pPr algn="just" eaLnBrk="1" hangingPunct="1">
              <a:buFont typeface="Wingdings" panose="05000000000000000000" pitchFamily="2" charset="2"/>
              <a:buNone/>
            </a:pPr>
            <a:endParaRPr lang="zh-CN" altLang="en-US" dirty="0" smtClean="0"/>
          </a:p>
          <a:p>
            <a:pPr algn="just" eaLnBrk="1" hangingPunct="1"/>
            <a:r>
              <a:rPr lang="en-US" altLang="zh-CN" i="1" dirty="0" smtClean="0"/>
              <a:t>R - S</a:t>
            </a:r>
            <a:r>
              <a:rPr lang="en-US" altLang="zh-CN" dirty="0" smtClean="0"/>
              <a:t> </a:t>
            </a:r>
          </a:p>
          <a:p>
            <a:pPr lvl="1" algn="just" eaLnBrk="1" hangingPunct="1"/>
            <a:r>
              <a:rPr lang="zh-CN" altLang="en-US" dirty="0" smtClean="0"/>
              <a:t>仍为</a:t>
            </a:r>
            <a:r>
              <a:rPr lang="en-US" altLang="zh-CN" i="1" dirty="0" smtClean="0"/>
              <a:t>n</a:t>
            </a:r>
            <a:r>
              <a:rPr lang="zh-CN" altLang="en-US" dirty="0" smtClean="0"/>
              <a:t>目关系，由属于</a:t>
            </a:r>
            <a:r>
              <a:rPr lang="en-US" altLang="zh-CN" i="1" dirty="0" smtClean="0"/>
              <a:t>R</a:t>
            </a:r>
            <a:r>
              <a:rPr lang="zh-CN" altLang="en-US" dirty="0" smtClean="0"/>
              <a:t>而不属于</a:t>
            </a:r>
            <a:r>
              <a:rPr lang="en-US" altLang="zh-CN" i="1" dirty="0" smtClean="0"/>
              <a:t>S</a:t>
            </a:r>
            <a:r>
              <a:rPr lang="zh-CN" altLang="en-US" dirty="0" smtClean="0"/>
              <a:t>的所有元组组成</a:t>
            </a:r>
          </a:p>
          <a:p>
            <a:pPr algn="just" eaLnBrk="1" hangingPunct="1">
              <a:buFont typeface="Wingdings" panose="05000000000000000000" pitchFamily="2" charset="2"/>
              <a:buNone/>
            </a:pPr>
            <a:r>
              <a:rPr lang="zh-CN" altLang="en-US" dirty="0" smtClean="0"/>
              <a:t>                </a:t>
            </a:r>
            <a:r>
              <a:rPr lang="en-US" altLang="zh-CN" sz="2400" i="1" dirty="0" smtClean="0"/>
              <a:t>R </a:t>
            </a:r>
            <a:r>
              <a:rPr lang="en-US" altLang="zh-CN" sz="2400" dirty="0" smtClean="0"/>
              <a:t>-</a:t>
            </a:r>
            <a:r>
              <a:rPr lang="en-US" altLang="zh-CN" sz="2400" i="1" dirty="0" smtClean="0"/>
              <a:t>S</a:t>
            </a:r>
            <a:r>
              <a:rPr lang="en-US" altLang="zh-CN" sz="2400" dirty="0" smtClean="0"/>
              <a:t> = { </a:t>
            </a:r>
            <a:r>
              <a:rPr lang="en-US" altLang="zh-CN" sz="2400" i="1" dirty="0" err="1" smtClean="0"/>
              <a:t>t</a:t>
            </a:r>
            <a:r>
              <a:rPr lang="en-US" altLang="zh-CN" sz="2400" dirty="0" err="1" smtClean="0"/>
              <a:t>|</a:t>
            </a:r>
            <a:r>
              <a:rPr lang="en-US" altLang="zh-CN" sz="2400" i="1" dirty="0" err="1" smtClean="0"/>
              <a:t>t</a:t>
            </a:r>
            <a:r>
              <a:rPr lang="en-US" altLang="zh-CN" sz="2400" dirty="0" err="1" smtClean="0">
                <a:sym typeface="Symbol" panose="05050102010706020507" pitchFamily="18" charset="2"/>
              </a:rPr>
              <a:t></a:t>
            </a:r>
            <a:r>
              <a:rPr lang="en-US" altLang="zh-CN" sz="2400" i="1" dirty="0" err="1" smtClean="0"/>
              <a:t>R</a:t>
            </a:r>
            <a:r>
              <a:rPr lang="en-US" altLang="zh-CN" sz="2400" dirty="0" err="1" smtClean="0"/>
              <a:t>∧</a:t>
            </a:r>
            <a:r>
              <a:rPr lang="en-US" altLang="zh-CN" sz="2400" i="1" dirty="0" err="1" smtClean="0"/>
              <a:t>t</a:t>
            </a:r>
            <a:r>
              <a:rPr lang="en-US" altLang="zh-CN" sz="2400" dirty="0" err="1" smtClean="0">
                <a:sym typeface="Symbol" panose="05050102010706020507" pitchFamily="18" charset="2"/>
              </a:rPr>
              <a:t></a:t>
            </a:r>
            <a:r>
              <a:rPr lang="en-US" altLang="zh-CN" sz="2400" i="1" dirty="0" err="1" smtClean="0"/>
              <a:t>S</a:t>
            </a:r>
            <a:r>
              <a:rPr lang="en-US" altLang="zh-CN" sz="2400" dirty="0" smtClean="0"/>
              <a:t> }</a:t>
            </a:r>
            <a:endParaRPr lang="en-US" altLang="zh-CN" dirty="0" smtClean="0"/>
          </a:p>
          <a:p>
            <a:pPr eaLnBrk="1" hangingPunct="1"/>
            <a:endParaRPr lang="en-US" altLang="zh-CN" dirty="0" smtClean="0"/>
          </a:p>
        </p:txBody>
      </p:sp>
    </p:spTree>
    <p:extLst>
      <p:ext uri="{BB962C8B-B14F-4D97-AF65-F5344CB8AC3E}">
        <p14:creationId xmlns:p14="http://schemas.microsoft.com/office/powerpoint/2010/main" val="35758223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914400" y="115888"/>
            <a:ext cx="7391400" cy="649287"/>
          </a:xfrm>
        </p:spPr>
        <p:txBody>
          <a:bodyPr/>
          <a:lstStyle/>
          <a:p>
            <a:pPr eaLnBrk="1" hangingPunct="1"/>
            <a:r>
              <a:rPr lang="zh-CN" altLang="en-US" sz="3600" dirty="0" smtClean="0"/>
              <a:t>差（续）</a:t>
            </a:r>
            <a:endParaRPr lang="en-US" altLang="zh-CN" sz="3600" dirty="0" smtClean="0"/>
          </a:p>
        </p:txBody>
      </p:sp>
      <p:graphicFrame>
        <p:nvGraphicFramePr>
          <p:cNvPr id="10" name="内容占位符 6"/>
          <p:cNvGraphicFramePr>
            <a:graphicFrameLocks noGrp="1"/>
          </p:cNvGraphicFramePr>
          <p:nvPr>
            <p:ph sz="half" idx="1"/>
          </p:nvPr>
        </p:nvGraphicFramePr>
        <p:xfrm>
          <a:off x="595313" y="1758950"/>
          <a:ext cx="4038600" cy="1706640"/>
        </p:xfrm>
        <a:graphic>
          <a:graphicData uri="http://schemas.openxmlformats.org/drawingml/2006/table">
            <a:tbl>
              <a:tblPr firstRow="1" bandRow="1">
                <a:tableStyleId>{5C22544A-7EE6-4342-B048-85BDC9FD1C3A}</a:tableStyleId>
              </a:tblPr>
              <a:tblGrid>
                <a:gridCol w="1346200"/>
                <a:gridCol w="1346200"/>
                <a:gridCol w="1346200"/>
              </a:tblGrid>
              <a:tr h="426641">
                <a:tc>
                  <a:txBody>
                    <a:bodyPr/>
                    <a:lstStyle/>
                    <a:p>
                      <a:pPr algn="ctr"/>
                      <a:r>
                        <a:rPr lang="en-US" altLang="zh-CN" sz="2200" b="1" dirty="0" smtClean="0">
                          <a:solidFill>
                            <a:schemeClr val="tx1"/>
                          </a:solidFill>
                        </a:rPr>
                        <a:t>A</a:t>
                      </a:r>
                      <a:endParaRPr lang="zh-CN" altLang="en-US" sz="2200" b="1" dirty="0">
                        <a:solidFill>
                          <a:schemeClr val="tx1"/>
                        </a:solidFill>
                      </a:endParaRPr>
                    </a:p>
                  </a:txBody>
                  <a:tcPr marT="45690" marB="45690"/>
                </a:tc>
                <a:tc>
                  <a:txBody>
                    <a:bodyPr/>
                    <a:lstStyle/>
                    <a:p>
                      <a:pPr algn="ctr"/>
                      <a:r>
                        <a:rPr lang="en-US" altLang="zh-CN" sz="2200" b="1" dirty="0" smtClean="0">
                          <a:solidFill>
                            <a:schemeClr val="tx1"/>
                          </a:solidFill>
                        </a:rPr>
                        <a:t>B</a:t>
                      </a:r>
                      <a:endParaRPr lang="zh-CN" altLang="en-US" sz="2200" b="1" dirty="0">
                        <a:solidFill>
                          <a:schemeClr val="tx1"/>
                        </a:solidFill>
                      </a:endParaRPr>
                    </a:p>
                  </a:txBody>
                  <a:tcPr marT="45690" marB="45690"/>
                </a:tc>
                <a:tc>
                  <a:txBody>
                    <a:bodyPr/>
                    <a:lstStyle/>
                    <a:p>
                      <a:pPr algn="ctr"/>
                      <a:r>
                        <a:rPr lang="en-US" altLang="zh-CN" sz="2200" b="1" dirty="0" smtClean="0">
                          <a:solidFill>
                            <a:schemeClr val="tx1"/>
                          </a:solidFill>
                        </a:rPr>
                        <a:t>C</a:t>
                      </a:r>
                      <a:endParaRPr lang="zh-CN" altLang="en-US" sz="2200" b="1" dirty="0">
                        <a:solidFill>
                          <a:schemeClr val="tx1"/>
                        </a:solidFill>
                      </a:endParaRPr>
                    </a:p>
                  </a:txBody>
                  <a:tcPr marT="45690" marB="45690"/>
                </a:tc>
              </a:tr>
              <a:tr h="426641">
                <a:tc>
                  <a:txBody>
                    <a:bodyPr/>
                    <a:lstStyle/>
                    <a:p>
                      <a:pPr algn="ctr"/>
                      <a:r>
                        <a:rPr lang="en-US" altLang="zh-CN" sz="2200" b="1" dirty="0" smtClean="0"/>
                        <a:t>a1</a:t>
                      </a:r>
                      <a:endParaRPr lang="zh-CN" altLang="en-US" sz="2200" b="1" dirty="0"/>
                    </a:p>
                  </a:txBody>
                  <a:tcPr marT="45690" marB="45690"/>
                </a:tc>
                <a:tc>
                  <a:txBody>
                    <a:bodyPr/>
                    <a:lstStyle/>
                    <a:p>
                      <a:pPr algn="ctr"/>
                      <a:r>
                        <a:rPr lang="en-US" altLang="zh-CN" sz="2200" b="1" dirty="0" smtClean="0"/>
                        <a:t>b1</a:t>
                      </a:r>
                      <a:endParaRPr lang="zh-CN" altLang="en-US" sz="2200" b="1" dirty="0"/>
                    </a:p>
                  </a:txBody>
                  <a:tcPr marT="45690" marB="45690"/>
                </a:tc>
                <a:tc>
                  <a:txBody>
                    <a:bodyPr/>
                    <a:lstStyle/>
                    <a:p>
                      <a:pPr algn="ctr"/>
                      <a:r>
                        <a:rPr lang="en-US" altLang="zh-CN" sz="2200" b="1" dirty="0" smtClean="0"/>
                        <a:t>c1</a:t>
                      </a:r>
                      <a:endParaRPr lang="zh-CN" altLang="en-US" sz="2200" b="1" dirty="0"/>
                    </a:p>
                  </a:txBody>
                  <a:tcPr marT="45690" marB="45690"/>
                </a:tc>
              </a:tr>
              <a:tr h="426641">
                <a:tc>
                  <a:txBody>
                    <a:bodyPr/>
                    <a:lstStyle/>
                    <a:p>
                      <a:pPr algn="ctr"/>
                      <a:r>
                        <a:rPr lang="en-US" altLang="zh-CN" sz="2200" b="1" dirty="0" smtClean="0"/>
                        <a:t>a1</a:t>
                      </a:r>
                      <a:endParaRPr lang="zh-CN" altLang="en-US" sz="2200" b="1" dirty="0"/>
                    </a:p>
                  </a:txBody>
                  <a:tcPr marT="45690" marB="45690"/>
                </a:tc>
                <a:tc>
                  <a:txBody>
                    <a:bodyPr/>
                    <a:lstStyle/>
                    <a:p>
                      <a:pPr algn="ctr"/>
                      <a:r>
                        <a:rPr lang="en-US" altLang="zh-CN" sz="2200" b="1" dirty="0" smtClean="0"/>
                        <a:t>b2</a:t>
                      </a:r>
                      <a:endParaRPr lang="zh-CN" altLang="en-US" sz="2200" b="1" dirty="0"/>
                    </a:p>
                  </a:txBody>
                  <a:tcPr marT="45690" marB="45690"/>
                </a:tc>
                <a:tc>
                  <a:txBody>
                    <a:bodyPr/>
                    <a:lstStyle/>
                    <a:p>
                      <a:pPr algn="ctr"/>
                      <a:r>
                        <a:rPr lang="en-US" altLang="zh-CN" sz="2200" b="1" dirty="0" smtClean="0"/>
                        <a:t>c2</a:t>
                      </a:r>
                      <a:endParaRPr lang="zh-CN" altLang="en-US" sz="2200" b="1" dirty="0"/>
                    </a:p>
                  </a:txBody>
                  <a:tcPr marT="45690" marB="45690"/>
                </a:tc>
              </a:tr>
              <a:tr h="426641">
                <a:tc>
                  <a:txBody>
                    <a:bodyPr/>
                    <a:lstStyle/>
                    <a:p>
                      <a:pPr algn="ctr"/>
                      <a:r>
                        <a:rPr lang="en-US" altLang="zh-CN" sz="2200" b="1" dirty="0" smtClean="0"/>
                        <a:t>a2</a:t>
                      </a:r>
                      <a:endParaRPr lang="zh-CN" altLang="en-US" sz="2200" b="1" dirty="0"/>
                    </a:p>
                  </a:txBody>
                  <a:tcPr marT="45690" marB="45690"/>
                </a:tc>
                <a:tc>
                  <a:txBody>
                    <a:bodyPr/>
                    <a:lstStyle/>
                    <a:p>
                      <a:pPr algn="ctr"/>
                      <a:r>
                        <a:rPr lang="en-US" altLang="zh-CN" sz="2200" b="1" dirty="0" smtClean="0"/>
                        <a:t>b2</a:t>
                      </a:r>
                      <a:endParaRPr lang="zh-CN" altLang="en-US" sz="2200" b="1" dirty="0"/>
                    </a:p>
                  </a:txBody>
                  <a:tcPr marT="45690" marB="45690"/>
                </a:tc>
                <a:tc>
                  <a:txBody>
                    <a:bodyPr/>
                    <a:lstStyle/>
                    <a:p>
                      <a:pPr algn="ctr"/>
                      <a:r>
                        <a:rPr lang="en-US" altLang="zh-CN" sz="2200" b="1" dirty="0" smtClean="0"/>
                        <a:t>c1</a:t>
                      </a:r>
                      <a:endParaRPr lang="zh-CN" altLang="en-US" sz="2200" b="1" dirty="0"/>
                    </a:p>
                  </a:txBody>
                  <a:tcPr marT="45690" marB="45690"/>
                </a:tc>
              </a:tr>
            </a:tbl>
          </a:graphicData>
        </a:graphic>
      </p:graphicFrame>
      <p:graphicFrame>
        <p:nvGraphicFramePr>
          <p:cNvPr id="11" name="内容占位符 9"/>
          <p:cNvGraphicFramePr>
            <a:graphicFrameLocks noGrp="1"/>
          </p:cNvGraphicFramePr>
          <p:nvPr>
            <p:ph sz="quarter" idx="2"/>
          </p:nvPr>
        </p:nvGraphicFramePr>
        <p:xfrm>
          <a:off x="4781550" y="2233613"/>
          <a:ext cx="4038600" cy="979488"/>
        </p:xfrm>
        <a:graphic>
          <a:graphicData uri="http://schemas.openxmlformats.org/drawingml/2006/table">
            <a:tbl>
              <a:tblPr firstRow="1" bandRow="1">
                <a:tableStyleId>{5C22544A-7EE6-4342-B048-85BDC9FD1C3A}</a:tableStyleId>
              </a:tblPr>
              <a:tblGrid>
                <a:gridCol w="1346200"/>
                <a:gridCol w="1346200"/>
                <a:gridCol w="1346200"/>
              </a:tblGrid>
              <a:tr h="489744">
                <a:tc>
                  <a:txBody>
                    <a:bodyPr/>
                    <a:lstStyle/>
                    <a:p>
                      <a:pPr algn="ctr"/>
                      <a:r>
                        <a:rPr lang="en-US" altLang="zh-CN" sz="2200" b="1" dirty="0" smtClean="0">
                          <a:solidFill>
                            <a:schemeClr val="tx1"/>
                          </a:solidFill>
                        </a:rPr>
                        <a:t>A</a:t>
                      </a:r>
                      <a:endParaRPr lang="zh-CN" altLang="en-US" sz="2200" b="1" dirty="0">
                        <a:solidFill>
                          <a:schemeClr val="tx1"/>
                        </a:solidFill>
                      </a:endParaRPr>
                    </a:p>
                  </a:txBody>
                  <a:tcPr marT="45728" marB="45728"/>
                </a:tc>
                <a:tc>
                  <a:txBody>
                    <a:bodyPr/>
                    <a:lstStyle/>
                    <a:p>
                      <a:pPr algn="ctr"/>
                      <a:r>
                        <a:rPr lang="en-US" altLang="zh-CN" sz="2200" b="1" dirty="0" smtClean="0">
                          <a:solidFill>
                            <a:schemeClr val="tx1"/>
                          </a:solidFill>
                        </a:rPr>
                        <a:t>B</a:t>
                      </a:r>
                      <a:endParaRPr lang="zh-CN" altLang="en-US" sz="2200" b="1" dirty="0">
                        <a:solidFill>
                          <a:schemeClr val="tx1"/>
                        </a:solidFill>
                      </a:endParaRPr>
                    </a:p>
                  </a:txBody>
                  <a:tcPr marT="45728" marB="45728"/>
                </a:tc>
                <a:tc>
                  <a:txBody>
                    <a:bodyPr/>
                    <a:lstStyle/>
                    <a:p>
                      <a:pPr algn="ctr"/>
                      <a:r>
                        <a:rPr lang="en-US" altLang="zh-CN" sz="2200" b="1" dirty="0" smtClean="0">
                          <a:solidFill>
                            <a:schemeClr val="tx1"/>
                          </a:solidFill>
                        </a:rPr>
                        <a:t>C</a:t>
                      </a:r>
                      <a:endParaRPr lang="zh-CN" altLang="en-US" sz="2200" b="1" dirty="0">
                        <a:solidFill>
                          <a:schemeClr val="tx1"/>
                        </a:solidFill>
                      </a:endParaRPr>
                    </a:p>
                  </a:txBody>
                  <a:tcPr marT="45728" marB="45728"/>
                </a:tc>
              </a:tr>
              <a:tr h="489744">
                <a:tc>
                  <a:txBody>
                    <a:bodyPr/>
                    <a:lstStyle/>
                    <a:p>
                      <a:pPr algn="ctr"/>
                      <a:r>
                        <a:rPr lang="en-US" altLang="zh-CN" sz="2200" b="1" dirty="0" smtClean="0"/>
                        <a:t>a1</a:t>
                      </a:r>
                      <a:endParaRPr lang="zh-CN" altLang="en-US" sz="2200" b="1" dirty="0"/>
                    </a:p>
                  </a:txBody>
                  <a:tcPr marT="45728" marB="45728"/>
                </a:tc>
                <a:tc>
                  <a:txBody>
                    <a:bodyPr/>
                    <a:lstStyle/>
                    <a:p>
                      <a:pPr algn="ctr"/>
                      <a:r>
                        <a:rPr lang="en-US" altLang="zh-CN" sz="2200" b="1" dirty="0" smtClean="0"/>
                        <a:t>b1</a:t>
                      </a:r>
                      <a:endParaRPr lang="zh-CN" altLang="en-US" sz="2200" b="1" dirty="0"/>
                    </a:p>
                  </a:txBody>
                  <a:tcPr marT="45728" marB="45728"/>
                </a:tc>
                <a:tc>
                  <a:txBody>
                    <a:bodyPr/>
                    <a:lstStyle/>
                    <a:p>
                      <a:pPr algn="ctr"/>
                      <a:r>
                        <a:rPr lang="en-US" altLang="zh-CN" sz="2200" b="1" dirty="0" smtClean="0"/>
                        <a:t>c1</a:t>
                      </a:r>
                      <a:endParaRPr lang="zh-CN" altLang="en-US" sz="2200" b="1" dirty="0"/>
                    </a:p>
                  </a:txBody>
                  <a:tcPr marT="45728" marB="45728"/>
                </a:tc>
              </a:tr>
            </a:tbl>
          </a:graphicData>
        </a:graphic>
      </p:graphicFrame>
      <p:graphicFrame>
        <p:nvGraphicFramePr>
          <p:cNvPr id="12" name="内容占位符 8"/>
          <p:cNvGraphicFramePr>
            <a:graphicFrameLocks noGrp="1"/>
          </p:cNvGraphicFramePr>
          <p:nvPr>
            <p:ph sz="quarter" idx="3"/>
          </p:nvPr>
        </p:nvGraphicFramePr>
        <p:xfrm>
          <a:off x="533400" y="3817938"/>
          <a:ext cx="4038600" cy="1706832"/>
        </p:xfrm>
        <a:graphic>
          <a:graphicData uri="http://schemas.openxmlformats.org/drawingml/2006/table">
            <a:tbl>
              <a:tblPr firstRow="1" bandRow="1">
                <a:tableStyleId>{5C22544A-7EE6-4342-B048-85BDC9FD1C3A}</a:tableStyleId>
              </a:tblPr>
              <a:tblGrid>
                <a:gridCol w="1346200"/>
                <a:gridCol w="1346200"/>
                <a:gridCol w="1346200"/>
              </a:tblGrid>
              <a:tr h="426641">
                <a:tc>
                  <a:txBody>
                    <a:bodyPr/>
                    <a:lstStyle/>
                    <a:p>
                      <a:pPr algn="ctr"/>
                      <a:r>
                        <a:rPr lang="en-US" altLang="zh-CN" sz="2200" b="1" dirty="0" smtClean="0">
                          <a:solidFill>
                            <a:schemeClr val="tx1"/>
                          </a:solidFill>
                        </a:rPr>
                        <a:t>A</a:t>
                      </a:r>
                      <a:endParaRPr lang="zh-CN" altLang="en-US" sz="2200" b="1" dirty="0">
                        <a:solidFill>
                          <a:schemeClr val="tx1"/>
                        </a:solidFill>
                      </a:endParaRPr>
                    </a:p>
                  </a:txBody>
                  <a:tcPr marT="45714" marB="45714"/>
                </a:tc>
                <a:tc>
                  <a:txBody>
                    <a:bodyPr/>
                    <a:lstStyle/>
                    <a:p>
                      <a:pPr algn="ctr"/>
                      <a:r>
                        <a:rPr lang="en-US" altLang="zh-CN" sz="2200" b="1" dirty="0" smtClean="0">
                          <a:solidFill>
                            <a:schemeClr val="tx1"/>
                          </a:solidFill>
                        </a:rPr>
                        <a:t>B</a:t>
                      </a:r>
                      <a:endParaRPr lang="zh-CN" altLang="en-US" sz="2200" b="1" dirty="0">
                        <a:solidFill>
                          <a:schemeClr val="tx1"/>
                        </a:solidFill>
                      </a:endParaRPr>
                    </a:p>
                  </a:txBody>
                  <a:tcPr marT="45714" marB="45714"/>
                </a:tc>
                <a:tc>
                  <a:txBody>
                    <a:bodyPr/>
                    <a:lstStyle/>
                    <a:p>
                      <a:pPr algn="ctr"/>
                      <a:r>
                        <a:rPr lang="en-US" altLang="zh-CN" sz="2200" b="1" dirty="0" smtClean="0">
                          <a:solidFill>
                            <a:schemeClr val="tx1"/>
                          </a:solidFill>
                        </a:rPr>
                        <a:t>C</a:t>
                      </a:r>
                      <a:endParaRPr lang="zh-CN" altLang="en-US" sz="2200" b="1" dirty="0">
                        <a:solidFill>
                          <a:schemeClr val="tx1"/>
                        </a:solidFill>
                      </a:endParaRPr>
                    </a:p>
                  </a:txBody>
                  <a:tcPr marT="45714" marB="45714"/>
                </a:tc>
              </a:tr>
              <a:tr h="426641">
                <a:tc>
                  <a:txBody>
                    <a:bodyPr/>
                    <a:lstStyle/>
                    <a:p>
                      <a:pPr algn="ctr"/>
                      <a:r>
                        <a:rPr lang="en-US" altLang="zh-CN" sz="2200" b="1" dirty="0" smtClean="0"/>
                        <a:t>a1</a:t>
                      </a:r>
                      <a:endParaRPr lang="zh-CN" altLang="en-US" sz="2200" b="1" dirty="0"/>
                    </a:p>
                  </a:txBody>
                  <a:tcPr marT="45714" marB="45714"/>
                </a:tc>
                <a:tc>
                  <a:txBody>
                    <a:bodyPr/>
                    <a:lstStyle/>
                    <a:p>
                      <a:pPr algn="ctr"/>
                      <a:r>
                        <a:rPr lang="en-US" altLang="zh-CN" sz="2200" b="1" dirty="0" smtClean="0"/>
                        <a:t>b2</a:t>
                      </a:r>
                      <a:endParaRPr lang="zh-CN" altLang="en-US" sz="2200" b="1" dirty="0"/>
                    </a:p>
                  </a:txBody>
                  <a:tcPr marT="45714" marB="45714"/>
                </a:tc>
                <a:tc>
                  <a:txBody>
                    <a:bodyPr/>
                    <a:lstStyle/>
                    <a:p>
                      <a:pPr algn="ctr"/>
                      <a:r>
                        <a:rPr lang="en-US" altLang="zh-CN" sz="2200" b="1" dirty="0" smtClean="0"/>
                        <a:t>c2</a:t>
                      </a:r>
                      <a:endParaRPr lang="zh-CN" altLang="en-US" sz="2200" b="1" dirty="0"/>
                    </a:p>
                  </a:txBody>
                  <a:tcPr marT="45714" marB="45714"/>
                </a:tc>
              </a:tr>
              <a:tr h="426641">
                <a:tc>
                  <a:txBody>
                    <a:bodyPr/>
                    <a:lstStyle/>
                    <a:p>
                      <a:pPr algn="ctr"/>
                      <a:r>
                        <a:rPr lang="en-US" altLang="zh-CN" sz="2200" b="1" dirty="0" smtClean="0"/>
                        <a:t>a1</a:t>
                      </a:r>
                      <a:endParaRPr lang="zh-CN" altLang="en-US" sz="2200" b="1" dirty="0"/>
                    </a:p>
                  </a:txBody>
                  <a:tcPr marT="45714" marB="45714"/>
                </a:tc>
                <a:tc>
                  <a:txBody>
                    <a:bodyPr/>
                    <a:lstStyle/>
                    <a:p>
                      <a:pPr algn="ctr"/>
                      <a:r>
                        <a:rPr lang="en-US" altLang="zh-CN" sz="2200" b="1" dirty="0" smtClean="0"/>
                        <a:t>b3</a:t>
                      </a:r>
                      <a:endParaRPr lang="zh-CN" altLang="en-US" sz="2200" b="1" dirty="0"/>
                    </a:p>
                  </a:txBody>
                  <a:tcPr marT="45714" marB="45714"/>
                </a:tc>
                <a:tc>
                  <a:txBody>
                    <a:bodyPr/>
                    <a:lstStyle/>
                    <a:p>
                      <a:pPr algn="ctr"/>
                      <a:r>
                        <a:rPr lang="en-US" altLang="zh-CN" sz="2200" b="1" dirty="0" smtClean="0"/>
                        <a:t>c2</a:t>
                      </a:r>
                      <a:endParaRPr lang="zh-CN" altLang="en-US" sz="2200" b="1" dirty="0"/>
                    </a:p>
                  </a:txBody>
                  <a:tcPr marT="45714" marB="45714"/>
                </a:tc>
              </a:tr>
              <a:tr h="426641">
                <a:tc>
                  <a:txBody>
                    <a:bodyPr/>
                    <a:lstStyle/>
                    <a:p>
                      <a:pPr algn="ctr"/>
                      <a:r>
                        <a:rPr lang="en-US" altLang="zh-CN" sz="2200" b="1" dirty="0" smtClean="0"/>
                        <a:t>a2</a:t>
                      </a:r>
                      <a:endParaRPr lang="zh-CN" altLang="en-US" sz="2200" b="1" dirty="0"/>
                    </a:p>
                  </a:txBody>
                  <a:tcPr marT="45714" marB="45714"/>
                </a:tc>
                <a:tc>
                  <a:txBody>
                    <a:bodyPr/>
                    <a:lstStyle/>
                    <a:p>
                      <a:pPr algn="ctr"/>
                      <a:r>
                        <a:rPr lang="en-US" altLang="zh-CN" sz="2200" b="1" dirty="0" smtClean="0"/>
                        <a:t>b2</a:t>
                      </a:r>
                      <a:endParaRPr lang="zh-CN" altLang="en-US" sz="2200" b="1" dirty="0"/>
                    </a:p>
                  </a:txBody>
                  <a:tcPr marT="45714" marB="45714"/>
                </a:tc>
                <a:tc>
                  <a:txBody>
                    <a:bodyPr/>
                    <a:lstStyle/>
                    <a:p>
                      <a:pPr algn="ctr"/>
                      <a:r>
                        <a:rPr lang="en-US" altLang="zh-CN" sz="2200" b="1" dirty="0" smtClean="0"/>
                        <a:t>c1</a:t>
                      </a:r>
                      <a:endParaRPr lang="zh-CN" altLang="en-US" sz="2200" b="1" dirty="0"/>
                    </a:p>
                  </a:txBody>
                  <a:tcPr marT="45714" marB="45714"/>
                </a:tc>
              </a:tr>
            </a:tbl>
          </a:graphicData>
        </a:graphic>
      </p:graphicFrame>
      <p:sp>
        <p:nvSpPr>
          <p:cNvPr id="72765" name="TextBox 12"/>
          <p:cNvSpPr txBox="1">
            <a:spLocks noChangeArrowheads="1"/>
          </p:cNvSpPr>
          <p:nvPr/>
        </p:nvSpPr>
        <p:spPr bwMode="auto">
          <a:xfrm>
            <a:off x="749300" y="1196975"/>
            <a:ext cx="388938"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a:t>R</a:t>
            </a:r>
            <a:endParaRPr lang="zh-CN" altLang="en-US" sz="2200" b="1"/>
          </a:p>
        </p:txBody>
      </p:sp>
      <p:sp>
        <p:nvSpPr>
          <p:cNvPr id="72766" name="TextBox 13"/>
          <p:cNvSpPr txBox="1">
            <a:spLocks noChangeArrowheads="1"/>
          </p:cNvSpPr>
          <p:nvPr/>
        </p:nvSpPr>
        <p:spPr bwMode="auto">
          <a:xfrm>
            <a:off x="749300" y="3429000"/>
            <a:ext cx="3714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a:t>S</a:t>
            </a:r>
            <a:endParaRPr lang="zh-CN" altLang="en-US" sz="2200" b="1"/>
          </a:p>
        </p:txBody>
      </p:sp>
      <p:sp>
        <p:nvSpPr>
          <p:cNvPr id="72767" name="TextBox 14"/>
          <p:cNvSpPr txBox="1">
            <a:spLocks noChangeArrowheads="1"/>
          </p:cNvSpPr>
          <p:nvPr/>
        </p:nvSpPr>
        <p:spPr bwMode="auto">
          <a:xfrm>
            <a:off x="5070475" y="1579563"/>
            <a:ext cx="66992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dirty="0"/>
              <a:t>R-S</a:t>
            </a:r>
            <a:endParaRPr lang="zh-CN" altLang="en-US" sz="2200" b="1" dirty="0"/>
          </a:p>
        </p:txBody>
      </p:sp>
      <p:sp>
        <p:nvSpPr>
          <p:cNvPr id="2" name="左中括号 1"/>
          <p:cNvSpPr/>
          <p:nvPr/>
        </p:nvSpPr>
        <p:spPr>
          <a:xfrm>
            <a:off x="148281" y="2833816"/>
            <a:ext cx="447032" cy="1672281"/>
          </a:xfrm>
          <a:prstGeom prst="leftBracket">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左中括号 12"/>
          <p:cNvSpPr/>
          <p:nvPr/>
        </p:nvSpPr>
        <p:spPr>
          <a:xfrm>
            <a:off x="306540" y="3213101"/>
            <a:ext cx="295274" cy="2174445"/>
          </a:xfrm>
          <a:prstGeom prst="leftBracket">
            <a:avLst/>
          </a:prstGeom>
          <a:ln w="285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33367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1000"/>
                                        <p:tgtEl>
                                          <p:spTgt spid="11"/>
                                        </p:tgtEl>
                                      </p:cBhvr>
                                    </p:animEffect>
                                    <p:anim calcmode="lin" valueType="num">
                                      <p:cBhvr>
                                        <p:cTn id="16" dur="1000" fill="hold"/>
                                        <p:tgtEl>
                                          <p:spTgt spid="11"/>
                                        </p:tgtEl>
                                        <p:attrNameLst>
                                          <p:attrName>ppt_x</p:attrName>
                                        </p:attrNameLst>
                                      </p:cBhvr>
                                      <p:tavLst>
                                        <p:tav tm="0">
                                          <p:val>
                                            <p:strVal val="#ppt_x"/>
                                          </p:val>
                                        </p:tav>
                                        <p:tav tm="100000">
                                          <p:val>
                                            <p:strVal val="#ppt_x"/>
                                          </p:val>
                                        </p:tav>
                                      </p:tavLst>
                                    </p:anim>
                                    <p:anim calcmode="lin" valueType="num">
                                      <p:cBhvr>
                                        <p:cTn id="1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6" name="Picture 2" descr="image124"/>
          <p:cNvPicPr>
            <a:picLocks noChangeAspect="1" noChangeArrowheads="1"/>
          </p:cNvPicPr>
          <p:nvPr/>
        </p:nvPicPr>
        <p:blipFill rotWithShape="1">
          <a:blip r:embed="rId3">
            <a:extLst>
              <a:ext uri="{28A0092B-C50C-407E-A947-70E740481C1C}">
                <a14:useLocalDpi xmlns:a14="http://schemas.microsoft.com/office/drawing/2010/main" val="0"/>
              </a:ext>
            </a:extLst>
          </a:blip>
          <a:srcRect r="62357"/>
          <a:stretch/>
        </p:blipFill>
        <p:spPr bwMode="auto">
          <a:xfrm>
            <a:off x="928689" y="1357313"/>
            <a:ext cx="2407636" cy="431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7" name="Rectangle 3"/>
          <p:cNvSpPr>
            <a:spLocks noChangeArrowheads="1"/>
          </p:cNvSpPr>
          <p:nvPr/>
        </p:nvSpPr>
        <p:spPr bwMode="auto">
          <a:xfrm>
            <a:off x="781051" y="6010760"/>
            <a:ext cx="767920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kumimoji="1" lang="zh-CN" altLang="en-US"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注意：差是有方向性的</a:t>
            </a:r>
            <a:r>
              <a:rPr kumimoji="1" lang="en-US" altLang="zh-CN"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R-S </a:t>
            </a:r>
            <a:r>
              <a:rPr kumimoji="1" lang="zh-CN" altLang="en-US"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与</a:t>
            </a:r>
            <a:r>
              <a:rPr kumimoji="1" lang="en-US" altLang="zh-CN"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S-R </a:t>
            </a:r>
            <a:r>
              <a:rPr kumimoji="1" lang="zh-CN" altLang="en-US"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不同</a:t>
            </a:r>
            <a:endParaRPr kumimoji="1"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Rectangle 2"/>
          <p:cNvSpPr txBox="1">
            <a:spLocks noChangeArrowheads="1"/>
          </p:cNvSpPr>
          <p:nvPr/>
        </p:nvSpPr>
        <p:spPr>
          <a:xfrm>
            <a:off x="914400" y="115888"/>
            <a:ext cx="7391400" cy="649287"/>
          </a:xfrm>
          <a:prstGeom prst="rect">
            <a:avLst/>
          </a:prstGeom>
        </p:spPr>
        <p:txBody>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zh-CN" altLang="en-US" sz="3600" smtClean="0"/>
              <a:t>差（续）</a:t>
            </a:r>
            <a:endParaRPr lang="en-US" altLang="zh-CN" sz="3600" dirty="0" smtClean="0"/>
          </a:p>
        </p:txBody>
      </p:sp>
      <p:sp>
        <p:nvSpPr>
          <p:cNvPr id="7" name="左中括号 6"/>
          <p:cNvSpPr/>
          <p:nvPr/>
        </p:nvSpPr>
        <p:spPr>
          <a:xfrm>
            <a:off x="492081" y="1842444"/>
            <a:ext cx="447032" cy="2597751"/>
          </a:xfrm>
          <a:prstGeom prst="leftBracket">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左中括号 7"/>
          <p:cNvSpPr/>
          <p:nvPr/>
        </p:nvSpPr>
        <p:spPr>
          <a:xfrm>
            <a:off x="633414" y="2603887"/>
            <a:ext cx="295274" cy="2536524"/>
          </a:xfrm>
          <a:prstGeom prst="leftBracket">
            <a:avLst/>
          </a:prstGeom>
          <a:ln w="285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TextBox 14"/>
          <p:cNvSpPr txBox="1">
            <a:spLocks noChangeArrowheads="1"/>
          </p:cNvSpPr>
          <p:nvPr/>
        </p:nvSpPr>
        <p:spPr bwMode="auto">
          <a:xfrm>
            <a:off x="5113757" y="1738367"/>
            <a:ext cx="66992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dirty="0"/>
              <a:t>R-S</a:t>
            </a:r>
            <a:endParaRPr lang="zh-CN" altLang="en-US" sz="2200" b="1" dirty="0"/>
          </a:p>
        </p:txBody>
      </p:sp>
      <p:sp>
        <p:nvSpPr>
          <p:cNvPr id="10" name="TextBox 14"/>
          <p:cNvSpPr txBox="1">
            <a:spLocks noChangeArrowheads="1"/>
          </p:cNvSpPr>
          <p:nvPr/>
        </p:nvSpPr>
        <p:spPr bwMode="auto">
          <a:xfrm>
            <a:off x="5226994" y="4230115"/>
            <a:ext cx="67037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dirty="0" smtClean="0"/>
              <a:t>S-R</a:t>
            </a:r>
            <a:endParaRPr lang="zh-CN" altLang="en-US" sz="2200" b="1" dirty="0"/>
          </a:p>
        </p:txBody>
      </p:sp>
      <p:pic>
        <p:nvPicPr>
          <p:cNvPr id="11" name="Picture 2" descr="image124"/>
          <p:cNvPicPr>
            <a:picLocks noChangeAspect="1" noChangeArrowheads="1"/>
          </p:cNvPicPr>
          <p:nvPr/>
        </p:nvPicPr>
        <p:blipFill rotWithShape="1">
          <a:blip r:embed="rId3">
            <a:extLst>
              <a:ext uri="{28A0092B-C50C-407E-A947-70E740481C1C}">
                <a14:useLocalDpi xmlns:a14="http://schemas.microsoft.com/office/drawing/2010/main" val="0"/>
              </a:ext>
            </a:extLst>
          </a:blip>
          <a:srcRect l="58103" t="27079" b="40274"/>
          <a:stretch/>
        </p:blipFill>
        <p:spPr bwMode="auto">
          <a:xfrm>
            <a:off x="5016844" y="2168579"/>
            <a:ext cx="2679754" cy="1408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2" descr="image124"/>
          <p:cNvPicPr>
            <a:picLocks noChangeAspect="1" noChangeArrowheads="1"/>
          </p:cNvPicPr>
          <p:nvPr/>
        </p:nvPicPr>
        <p:blipFill rotWithShape="1">
          <a:blip r:embed="rId3">
            <a:extLst>
              <a:ext uri="{28A0092B-C50C-407E-A947-70E740481C1C}">
                <a14:useLocalDpi xmlns:a14="http://schemas.microsoft.com/office/drawing/2010/main" val="0"/>
              </a:ext>
            </a:extLst>
          </a:blip>
          <a:srcRect l="58103" t="75983" b="-2711"/>
          <a:stretch/>
        </p:blipFill>
        <p:spPr bwMode="auto">
          <a:xfrm>
            <a:off x="5226994" y="4661002"/>
            <a:ext cx="2679754" cy="1153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3320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r>
              <a:rPr lang="zh-CN" altLang="en-US" sz="3600" smtClean="0"/>
              <a:t>（</a:t>
            </a:r>
            <a:r>
              <a:rPr lang="en-US" altLang="zh-CN" sz="3600" smtClean="0"/>
              <a:t>3</a:t>
            </a:r>
            <a:r>
              <a:rPr lang="zh-CN" altLang="en-US" sz="3600" smtClean="0"/>
              <a:t>）</a:t>
            </a:r>
            <a:r>
              <a:rPr lang="en-US" altLang="zh-CN" sz="3600" smtClean="0"/>
              <a:t> </a:t>
            </a:r>
            <a:r>
              <a:rPr lang="zh-CN" altLang="en-US" sz="3600" smtClean="0"/>
              <a:t>交（</a:t>
            </a:r>
            <a:r>
              <a:rPr lang="en-US" altLang="zh-CN" sz="3600" smtClean="0"/>
              <a:t>Intersection</a:t>
            </a:r>
            <a:r>
              <a:rPr lang="zh-CN" altLang="en-US" sz="3600" smtClean="0"/>
              <a:t>）</a:t>
            </a:r>
          </a:p>
        </p:txBody>
      </p:sp>
      <p:sp>
        <p:nvSpPr>
          <p:cNvPr id="73731" name="Rectangle 3"/>
          <p:cNvSpPr>
            <a:spLocks noGrp="1" noChangeArrowheads="1"/>
          </p:cNvSpPr>
          <p:nvPr>
            <p:ph type="body" idx="1"/>
          </p:nvPr>
        </p:nvSpPr>
        <p:spPr>
          <a:xfrm>
            <a:off x="971550" y="1341438"/>
            <a:ext cx="7772400" cy="4473575"/>
          </a:xfrm>
        </p:spPr>
        <p:txBody>
          <a:bodyPr/>
          <a:lstStyle/>
          <a:p>
            <a:pPr eaLnBrk="1" hangingPunct="1"/>
            <a:r>
              <a:rPr lang="en-US" altLang="zh-CN" i="1" dirty="0" smtClean="0"/>
              <a:t>R</a:t>
            </a:r>
            <a:r>
              <a:rPr lang="zh-CN" altLang="en-US" dirty="0" smtClean="0"/>
              <a:t>和</a:t>
            </a:r>
            <a:r>
              <a:rPr lang="en-US" altLang="zh-CN" i="1" dirty="0" smtClean="0"/>
              <a:t>S</a:t>
            </a:r>
          </a:p>
          <a:p>
            <a:pPr lvl="1" eaLnBrk="1" hangingPunct="1"/>
            <a:r>
              <a:rPr lang="zh-CN" altLang="en-US" dirty="0" smtClean="0"/>
              <a:t>具有相同的目</a:t>
            </a:r>
            <a:r>
              <a:rPr lang="en-US" altLang="zh-CN" i="1" dirty="0" smtClean="0"/>
              <a:t>n</a:t>
            </a:r>
          </a:p>
          <a:p>
            <a:pPr lvl="1" eaLnBrk="1" hangingPunct="1"/>
            <a:r>
              <a:rPr lang="zh-CN" altLang="en-US" dirty="0" smtClean="0"/>
              <a:t>相应的属性取自同一个域</a:t>
            </a:r>
          </a:p>
          <a:p>
            <a:pPr algn="just" eaLnBrk="1" hangingPunct="1">
              <a:buFont typeface="Wingdings" panose="05000000000000000000" pitchFamily="2" charset="2"/>
              <a:buNone/>
            </a:pPr>
            <a:endParaRPr lang="zh-CN" altLang="en-US" dirty="0" smtClean="0"/>
          </a:p>
          <a:p>
            <a:pPr algn="just" eaLnBrk="1" hangingPunct="1"/>
            <a:r>
              <a:rPr lang="en-US" altLang="zh-CN" i="1" dirty="0" smtClean="0"/>
              <a:t>R</a:t>
            </a:r>
            <a:r>
              <a:rPr lang="en-US" altLang="zh-CN" dirty="0" smtClean="0"/>
              <a:t>∩</a:t>
            </a:r>
            <a:r>
              <a:rPr lang="en-US" altLang="zh-CN" i="1" dirty="0" smtClean="0"/>
              <a:t>S</a:t>
            </a:r>
          </a:p>
          <a:p>
            <a:pPr lvl="1" algn="just" eaLnBrk="1" hangingPunct="1"/>
            <a:r>
              <a:rPr lang="zh-CN" altLang="en-US" dirty="0" smtClean="0"/>
              <a:t>仍为</a:t>
            </a:r>
            <a:r>
              <a:rPr lang="en-US" altLang="zh-CN" i="1" dirty="0" smtClean="0"/>
              <a:t>n</a:t>
            </a:r>
            <a:r>
              <a:rPr lang="zh-CN" altLang="en-US" dirty="0" smtClean="0"/>
              <a:t>目关系，由既属于</a:t>
            </a:r>
            <a:r>
              <a:rPr lang="en-US" altLang="zh-CN" i="1" dirty="0" smtClean="0"/>
              <a:t>R</a:t>
            </a:r>
            <a:r>
              <a:rPr lang="zh-CN" altLang="en-US" dirty="0" smtClean="0"/>
              <a:t>又属于</a:t>
            </a:r>
            <a:r>
              <a:rPr lang="en-US" altLang="zh-CN" i="1" dirty="0" smtClean="0"/>
              <a:t>S</a:t>
            </a:r>
            <a:r>
              <a:rPr lang="zh-CN" altLang="en-US" dirty="0" smtClean="0"/>
              <a:t>的元组组成</a:t>
            </a:r>
          </a:p>
          <a:p>
            <a:pPr lvl="1" algn="just" eaLnBrk="1" hangingPunct="1">
              <a:buFont typeface="Wingdings" panose="05000000000000000000" pitchFamily="2" charset="2"/>
              <a:buNone/>
            </a:pPr>
            <a:r>
              <a:rPr lang="zh-CN" altLang="en-US" i="1" dirty="0" smtClean="0"/>
              <a:t>		            </a:t>
            </a:r>
            <a:r>
              <a:rPr lang="en-US" altLang="zh-CN" i="1" dirty="0" smtClean="0"/>
              <a:t>R</a:t>
            </a:r>
            <a:r>
              <a:rPr lang="en-US" altLang="zh-CN" dirty="0" smtClean="0"/>
              <a:t>∩</a:t>
            </a:r>
            <a:r>
              <a:rPr lang="en-US" altLang="zh-CN" i="1" dirty="0" smtClean="0"/>
              <a:t>S</a:t>
            </a:r>
            <a:r>
              <a:rPr lang="en-US" altLang="zh-CN" dirty="0" smtClean="0"/>
              <a:t> = { </a:t>
            </a:r>
            <a:r>
              <a:rPr lang="en-US" altLang="zh-CN" i="1" dirty="0" err="1" smtClean="0"/>
              <a:t>t</a:t>
            </a:r>
            <a:r>
              <a:rPr lang="en-US" altLang="zh-CN" dirty="0" err="1" smtClean="0"/>
              <a:t>|</a:t>
            </a:r>
            <a:r>
              <a:rPr lang="en-US" altLang="zh-CN" i="1" dirty="0" err="1" smtClean="0"/>
              <a:t>t</a:t>
            </a:r>
            <a:r>
              <a:rPr lang="en-US" altLang="zh-CN" i="1" dirty="0" smtClean="0"/>
              <a:t> </a:t>
            </a:r>
            <a:r>
              <a:rPr lang="en-US" altLang="zh-CN" dirty="0" smtClean="0">
                <a:sym typeface="Symbol" panose="05050102010706020507" pitchFamily="18" charset="2"/>
              </a:rPr>
              <a:t></a:t>
            </a:r>
            <a:r>
              <a:rPr lang="en-US" altLang="zh-CN" dirty="0" smtClean="0"/>
              <a:t> </a:t>
            </a:r>
            <a:r>
              <a:rPr lang="en-US" altLang="zh-CN" i="1" dirty="0" err="1" smtClean="0"/>
              <a:t>R</a:t>
            </a:r>
            <a:r>
              <a:rPr lang="en-US" altLang="zh-CN" dirty="0" err="1" smtClean="0"/>
              <a:t>∧</a:t>
            </a:r>
            <a:r>
              <a:rPr lang="en-US" altLang="zh-CN" i="1" dirty="0" err="1" smtClean="0"/>
              <a:t>t</a:t>
            </a:r>
            <a:r>
              <a:rPr lang="en-US" altLang="zh-CN" i="1" dirty="0" smtClean="0"/>
              <a:t> </a:t>
            </a:r>
            <a:r>
              <a:rPr lang="en-US" altLang="zh-CN" dirty="0" smtClean="0">
                <a:sym typeface="Symbol" panose="05050102010706020507" pitchFamily="18" charset="2"/>
              </a:rPr>
              <a:t></a:t>
            </a:r>
            <a:r>
              <a:rPr lang="en-US" altLang="zh-CN" i="1" dirty="0" smtClean="0"/>
              <a:t>S </a:t>
            </a:r>
            <a:r>
              <a:rPr lang="en-US" altLang="zh-CN" dirty="0" smtClean="0"/>
              <a:t>}</a:t>
            </a:r>
          </a:p>
          <a:p>
            <a:pPr lvl="1" algn="just" eaLnBrk="1" hangingPunct="1">
              <a:buFont typeface="Wingdings" panose="05000000000000000000" pitchFamily="2" charset="2"/>
              <a:buNone/>
            </a:pPr>
            <a:r>
              <a:rPr lang="en-US" altLang="zh-CN" i="1" dirty="0" smtClean="0"/>
              <a:t>        	  R</a:t>
            </a:r>
            <a:r>
              <a:rPr lang="en-US" altLang="zh-CN" dirty="0" smtClean="0"/>
              <a:t>∩</a:t>
            </a:r>
            <a:r>
              <a:rPr lang="en-US" altLang="zh-CN" i="1" dirty="0" smtClean="0"/>
              <a:t>S</a:t>
            </a:r>
            <a:r>
              <a:rPr lang="en-US" altLang="zh-CN" dirty="0" smtClean="0"/>
              <a:t> = </a:t>
            </a:r>
            <a:r>
              <a:rPr lang="en-US" altLang="zh-CN" i="1" dirty="0" smtClean="0"/>
              <a:t>R</a:t>
            </a:r>
            <a:r>
              <a:rPr lang="en-US" altLang="zh-CN" dirty="0" smtClean="0"/>
              <a:t> –</a:t>
            </a:r>
            <a:r>
              <a:rPr lang="zh-CN" altLang="en-US" dirty="0" smtClean="0"/>
              <a:t>（</a:t>
            </a:r>
            <a:r>
              <a:rPr lang="en-US" altLang="zh-CN" i="1" dirty="0" smtClean="0"/>
              <a:t>R</a:t>
            </a:r>
            <a:r>
              <a:rPr lang="en-US" altLang="zh-CN" dirty="0" smtClean="0"/>
              <a:t>-</a:t>
            </a:r>
            <a:r>
              <a:rPr lang="en-US" altLang="zh-CN" i="1" dirty="0" smtClean="0"/>
              <a:t>S</a:t>
            </a:r>
            <a:r>
              <a:rPr lang="zh-CN" altLang="en-US" dirty="0" smtClean="0"/>
              <a:t>）</a:t>
            </a:r>
            <a:r>
              <a:rPr lang="en-US" altLang="zh-CN" dirty="0" smtClean="0"/>
              <a:t>=S -</a:t>
            </a:r>
            <a:r>
              <a:rPr lang="zh-CN" altLang="en-US" dirty="0" smtClean="0"/>
              <a:t>（</a:t>
            </a:r>
            <a:r>
              <a:rPr lang="en-US" altLang="zh-CN" dirty="0" smtClean="0"/>
              <a:t>S-R</a:t>
            </a:r>
            <a:r>
              <a:rPr lang="zh-CN" altLang="en-US" dirty="0" smtClean="0"/>
              <a:t>）</a:t>
            </a:r>
          </a:p>
        </p:txBody>
      </p:sp>
    </p:spTree>
    <p:extLst>
      <p:ext uri="{BB962C8B-B14F-4D97-AF65-F5344CB8AC3E}">
        <p14:creationId xmlns:p14="http://schemas.microsoft.com/office/powerpoint/2010/main" val="40427772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a:xfrm>
            <a:off x="914400" y="115888"/>
            <a:ext cx="7391400" cy="649287"/>
          </a:xfrm>
        </p:spPr>
        <p:txBody>
          <a:bodyPr/>
          <a:lstStyle/>
          <a:p>
            <a:pPr eaLnBrk="1" hangingPunct="1"/>
            <a:r>
              <a:rPr lang="zh-CN" altLang="en-US" sz="3600" smtClean="0"/>
              <a:t>交 （续）</a:t>
            </a:r>
          </a:p>
        </p:txBody>
      </p:sp>
      <p:graphicFrame>
        <p:nvGraphicFramePr>
          <p:cNvPr id="7" name="内容占位符 6"/>
          <p:cNvGraphicFramePr>
            <a:graphicFrameLocks noGrp="1"/>
          </p:cNvGraphicFramePr>
          <p:nvPr>
            <p:ph sz="half" idx="1"/>
          </p:nvPr>
        </p:nvGraphicFramePr>
        <p:xfrm>
          <a:off x="601663" y="1758950"/>
          <a:ext cx="4038600" cy="1706640"/>
        </p:xfrm>
        <a:graphic>
          <a:graphicData uri="http://schemas.openxmlformats.org/drawingml/2006/table">
            <a:tbl>
              <a:tblPr firstRow="1" bandRow="1">
                <a:tableStyleId>{5C22544A-7EE6-4342-B048-85BDC9FD1C3A}</a:tableStyleId>
              </a:tblPr>
              <a:tblGrid>
                <a:gridCol w="1346200"/>
                <a:gridCol w="1346200"/>
                <a:gridCol w="1346200"/>
              </a:tblGrid>
              <a:tr h="426641">
                <a:tc>
                  <a:txBody>
                    <a:bodyPr/>
                    <a:lstStyle/>
                    <a:p>
                      <a:pPr algn="ctr"/>
                      <a:r>
                        <a:rPr lang="en-US" altLang="zh-CN" sz="2200" b="1" dirty="0" smtClean="0">
                          <a:solidFill>
                            <a:schemeClr val="tx1"/>
                          </a:solidFill>
                        </a:rPr>
                        <a:t>A</a:t>
                      </a:r>
                      <a:endParaRPr lang="zh-CN" altLang="en-US" sz="2200" b="1" dirty="0">
                        <a:solidFill>
                          <a:schemeClr val="tx1"/>
                        </a:solidFill>
                      </a:endParaRPr>
                    </a:p>
                  </a:txBody>
                  <a:tcPr marT="45690" marB="45690"/>
                </a:tc>
                <a:tc>
                  <a:txBody>
                    <a:bodyPr/>
                    <a:lstStyle/>
                    <a:p>
                      <a:pPr algn="ctr"/>
                      <a:r>
                        <a:rPr lang="en-US" altLang="zh-CN" sz="2200" b="1" dirty="0" smtClean="0">
                          <a:solidFill>
                            <a:schemeClr val="tx1"/>
                          </a:solidFill>
                        </a:rPr>
                        <a:t>B</a:t>
                      </a:r>
                      <a:endParaRPr lang="zh-CN" altLang="en-US" sz="2200" b="1" dirty="0">
                        <a:solidFill>
                          <a:schemeClr val="tx1"/>
                        </a:solidFill>
                      </a:endParaRPr>
                    </a:p>
                  </a:txBody>
                  <a:tcPr marT="45690" marB="45690"/>
                </a:tc>
                <a:tc>
                  <a:txBody>
                    <a:bodyPr/>
                    <a:lstStyle/>
                    <a:p>
                      <a:pPr algn="ctr"/>
                      <a:r>
                        <a:rPr lang="en-US" altLang="zh-CN" sz="2200" b="1" dirty="0" smtClean="0">
                          <a:solidFill>
                            <a:schemeClr val="tx1"/>
                          </a:solidFill>
                        </a:rPr>
                        <a:t>C</a:t>
                      </a:r>
                      <a:endParaRPr lang="zh-CN" altLang="en-US" sz="2200" b="1" dirty="0">
                        <a:solidFill>
                          <a:schemeClr val="tx1"/>
                        </a:solidFill>
                      </a:endParaRPr>
                    </a:p>
                  </a:txBody>
                  <a:tcPr marT="45690" marB="45690"/>
                </a:tc>
              </a:tr>
              <a:tr h="426641">
                <a:tc>
                  <a:txBody>
                    <a:bodyPr/>
                    <a:lstStyle/>
                    <a:p>
                      <a:pPr algn="ctr"/>
                      <a:r>
                        <a:rPr lang="en-US" altLang="zh-CN" sz="2200" b="1" dirty="0" smtClean="0"/>
                        <a:t>a1</a:t>
                      </a:r>
                      <a:endParaRPr lang="zh-CN" altLang="en-US" sz="2200" b="1" dirty="0"/>
                    </a:p>
                  </a:txBody>
                  <a:tcPr marT="45690" marB="45690"/>
                </a:tc>
                <a:tc>
                  <a:txBody>
                    <a:bodyPr/>
                    <a:lstStyle/>
                    <a:p>
                      <a:pPr algn="ctr"/>
                      <a:r>
                        <a:rPr lang="en-US" altLang="zh-CN" sz="2200" b="1" dirty="0" smtClean="0"/>
                        <a:t>b1</a:t>
                      </a:r>
                      <a:endParaRPr lang="zh-CN" altLang="en-US" sz="2200" b="1" dirty="0"/>
                    </a:p>
                  </a:txBody>
                  <a:tcPr marT="45690" marB="45690"/>
                </a:tc>
                <a:tc>
                  <a:txBody>
                    <a:bodyPr/>
                    <a:lstStyle/>
                    <a:p>
                      <a:pPr algn="ctr"/>
                      <a:r>
                        <a:rPr lang="en-US" altLang="zh-CN" sz="2200" b="1" dirty="0" smtClean="0"/>
                        <a:t>c1</a:t>
                      </a:r>
                      <a:endParaRPr lang="zh-CN" altLang="en-US" sz="2200" b="1" dirty="0"/>
                    </a:p>
                  </a:txBody>
                  <a:tcPr marT="45690" marB="45690"/>
                </a:tc>
              </a:tr>
              <a:tr h="426641">
                <a:tc>
                  <a:txBody>
                    <a:bodyPr/>
                    <a:lstStyle/>
                    <a:p>
                      <a:pPr algn="ctr"/>
                      <a:r>
                        <a:rPr lang="en-US" altLang="zh-CN" sz="2200" b="1" dirty="0" smtClean="0"/>
                        <a:t>a1</a:t>
                      </a:r>
                      <a:endParaRPr lang="zh-CN" altLang="en-US" sz="2200" b="1" dirty="0"/>
                    </a:p>
                  </a:txBody>
                  <a:tcPr marT="45690" marB="45690"/>
                </a:tc>
                <a:tc>
                  <a:txBody>
                    <a:bodyPr/>
                    <a:lstStyle/>
                    <a:p>
                      <a:pPr algn="ctr"/>
                      <a:r>
                        <a:rPr lang="en-US" altLang="zh-CN" sz="2200" b="1" dirty="0" smtClean="0"/>
                        <a:t>b2</a:t>
                      </a:r>
                      <a:endParaRPr lang="zh-CN" altLang="en-US" sz="2200" b="1" dirty="0"/>
                    </a:p>
                  </a:txBody>
                  <a:tcPr marT="45690" marB="45690"/>
                </a:tc>
                <a:tc>
                  <a:txBody>
                    <a:bodyPr/>
                    <a:lstStyle/>
                    <a:p>
                      <a:pPr algn="ctr"/>
                      <a:r>
                        <a:rPr lang="en-US" altLang="zh-CN" sz="2200" b="1" dirty="0" smtClean="0"/>
                        <a:t>c2</a:t>
                      </a:r>
                      <a:endParaRPr lang="zh-CN" altLang="en-US" sz="2200" b="1" dirty="0"/>
                    </a:p>
                  </a:txBody>
                  <a:tcPr marT="45690" marB="45690"/>
                </a:tc>
              </a:tr>
              <a:tr h="426641">
                <a:tc>
                  <a:txBody>
                    <a:bodyPr/>
                    <a:lstStyle/>
                    <a:p>
                      <a:pPr algn="ctr"/>
                      <a:r>
                        <a:rPr lang="en-US" altLang="zh-CN" sz="2200" b="1" dirty="0" smtClean="0"/>
                        <a:t>a2</a:t>
                      </a:r>
                      <a:endParaRPr lang="zh-CN" altLang="en-US" sz="2200" b="1" dirty="0"/>
                    </a:p>
                  </a:txBody>
                  <a:tcPr marT="45690" marB="45690"/>
                </a:tc>
                <a:tc>
                  <a:txBody>
                    <a:bodyPr/>
                    <a:lstStyle/>
                    <a:p>
                      <a:pPr algn="ctr"/>
                      <a:r>
                        <a:rPr lang="en-US" altLang="zh-CN" sz="2200" b="1" dirty="0" smtClean="0"/>
                        <a:t>b2</a:t>
                      </a:r>
                      <a:endParaRPr lang="zh-CN" altLang="en-US" sz="2200" b="1" dirty="0"/>
                    </a:p>
                  </a:txBody>
                  <a:tcPr marT="45690" marB="45690"/>
                </a:tc>
                <a:tc>
                  <a:txBody>
                    <a:bodyPr/>
                    <a:lstStyle/>
                    <a:p>
                      <a:pPr algn="ctr"/>
                      <a:r>
                        <a:rPr lang="en-US" altLang="zh-CN" sz="2200" b="1" dirty="0" smtClean="0"/>
                        <a:t>c1</a:t>
                      </a:r>
                      <a:endParaRPr lang="zh-CN" altLang="en-US" sz="2200" b="1" dirty="0"/>
                    </a:p>
                  </a:txBody>
                  <a:tcPr marT="45690" marB="45690"/>
                </a:tc>
              </a:tr>
            </a:tbl>
          </a:graphicData>
        </a:graphic>
      </p:graphicFrame>
      <p:graphicFrame>
        <p:nvGraphicFramePr>
          <p:cNvPr id="10" name="内容占位符 9"/>
          <p:cNvGraphicFramePr>
            <a:graphicFrameLocks noGrp="1"/>
          </p:cNvGraphicFramePr>
          <p:nvPr>
            <p:ph sz="quarter" idx="2"/>
          </p:nvPr>
        </p:nvGraphicFramePr>
        <p:xfrm>
          <a:off x="4787900" y="2233613"/>
          <a:ext cx="4038600" cy="1470024"/>
        </p:xfrm>
        <a:graphic>
          <a:graphicData uri="http://schemas.openxmlformats.org/drawingml/2006/table">
            <a:tbl>
              <a:tblPr firstRow="1" bandRow="1">
                <a:tableStyleId>{5C22544A-7EE6-4342-B048-85BDC9FD1C3A}</a:tableStyleId>
              </a:tblPr>
              <a:tblGrid>
                <a:gridCol w="1346200"/>
                <a:gridCol w="1346200"/>
                <a:gridCol w="1346200"/>
              </a:tblGrid>
              <a:tr h="490008">
                <a:tc>
                  <a:txBody>
                    <a:bodyPr/>
                    <a:lstStyle/>
                    <a:p>
                      <a:pPr algn="ctr"/>
                      <a:r>
                        <a:rPr lang="en-US" altLang="zh-CN" sz="2200" b="1" dirty="0" smtClean="0">
                          <a:solidFill>
                            <a:schemeClr val="tx1"/>
                          </a:solidFill>
                        </a:rPr>
                        <a:t>A</a:t>
                      </a:r>
                      <a:endParaRPr lang="zh-CN" altLang="en-US" sz="2200" b="1" dirty="0">
                        <a:solidFill>
                          <a:schemeClr val="tx1"/>
                        </a:solidFill>
                      </a:endParaRPr>
                    </a:p>
                  </a:txBody>
                  <a:tcPr marT="45753" marB="45753"/>
                </a:tc>
                <a:tc>
                  <a:txBody>
                    <a:bodyPr/>
                    <a:lstStyle/>
                    <a:p>
                      <a:pPr algn="ctr"/>
                      <a:r>
                        <a:rPr lang="en-US" altLang="zh-CN" sz="2200" b="1" dirty="0" smtClean="0">
                          <a:solidFill>
                            <a:schemeClr val="tx1"/>
                          </a:solidFill>
                        </a:rPr>
                        <a:t>B</a:t>
                      </a:r>
                      <a:endParaRPr lang="zh-CN" altLang="en-US" sz="2200" b="1" dirty="0">
                        <a:solidFill>
                          <a:schemeClr val="tx1"/>
                        </a:solidFill>
                      </a:endParaRPr>
                    </a:p>
                  </a:txBody>
                  <a:tcPr marT="45753" marB="45753"/>
                </a:tc>
                <a:tc>
                  <a:txBody>
                    <a:bodyPr/>
                    <a:lstStyle/>
                    <a:p>
                      <a:pPr algn="ctr"/>
                      <a:r>
                        <a:rPr lang="en-US" altLang="zh-CN" sz="2200" b="1" dirty="0" smtClean="0">
                          <a:solidFill>
                            <a:schemeClr val="tx1"/>
                          </a:solidFill>
                        </a:rPr>
                        <a:t>C</a:t>
                      </a:r>
                      <a:endParaRPr lang="zh-CN" altLang="en-US" sz="2200" b="1" dirty="0">
                        <a:solidFill>
                          <a:schemeClr val="tx1"/>
                        </a:solidFill>
                      </a:endParaRPr>
                    </a:p>
                  </a:txBody>
                  <a:tcPr marT="45753" marB="45753"/>
                </a:tc>
              </a:tr>
              <a:tr h="490008">
                <a:tc>
                  <a:txBody>
                    <a:bodyPr/>
                    <a:lstStyle/>
                    <a:p>
                      <a:pPr algn="ctr"/>
                      <a:r>
                        <a:rPr lang="en-US" altLang="zh-CN" sz="2200" b="1" dirty="0" smtClean="0"/>
                        <a:t>a1</a:t>
                      </a:r>
                      <a:endParaRPr lang="zh-CN" altLang="en-US" sz="2200" b="1" dirty="0"/>
                    </a:p>
                  </a:txBody>
                  <a:tcPr marT="45753" marB="45753"/>
                </a:tc>
                <a:tc>
                  <a:txBody>
                    <a:bodyPr/>
                    <a:lstStyle/>
                    <a:p>
                      <a:pPr algn="ctr"/>
                      <a:r>
                        <a:rPr lang="en-US" altLang="zh-CN" sz="2200" b="1" dirty="0" smtClean="0"/>
                        <a:t>b2</a:t>
                      </a:r>
                      <a:endParaRPr lang="zh-CN" altLang="en-US" sz="2200" b="1" dirty="0"/>
                    </a:p>
                  </a:txBody>
                  <a:tcPr marT="45753" marB="45753"/>
                </a:tc>
                <a:tc>
                  <a:txBody>
                    <a:bodyPr/>
                    <a:lstStyle/>
                    <a:p>
                      <a:pPr algn="ctr"/>
                      <a:r>
                        <a:rPr lang="en-US" altLang="zh-CN" sz="2200" b="1" dirty="0" smtClean="0"/>
                        <a:t>c2</a:t>
                      </a:r>
                      <a:endParaRPr lang="zh-CN" altLang="en-US" sz="2200" b="1" dirty="0"/>
                    </a:p>
                  </a:txBody>
                  <a:tcPr marT="45753" marB="45753"/>
                </a:tc>
              </a:tr>
              <a:tr h="490008">
                <a:tc>
                  <a:txBody>
                    <a:bodyPr/>
                    <a:lstStyle/>
                    <a:p>
                      <a:pPr algn="ctr"/>
                      <a:r>
                        <a:rPr lang="en-US" altLang="zh-CN" sz="2200" b="1" dirty="0" smtClean="0"/>
                        <a:t>a2</a:t>
                      </a:r>
                      <a:endParaRPr lang="zh-CN" altLang="en-US" sz="2200" b="1" dirty="0"/>
                    </a:p>
                  </a:txBody>
                  <a:tcPr marT="45753" marB="45753"/>
                </a:tc>
                <a:tc>
                  <a:txBody>
                    <a:bodyPr/>
                    <a:lstStyle/>
                    <a:p>
                      <a:pPr algn="ctr"/>
                      <a:r>
                        <a:rPr lang="en-US" altLang="zh-CN" sz="2200" b="1" dirty="0" smtClean="0"/>
                        <a:t>b2</a:t>
                      </a:r>
                      <a:endParaRPr lang="zh-CN" altLang="en-US" sz="2200" b="1" dirty="0"/>
                    </a:p>
                  </a:txBody>
                  <a:tcPr marT="45753" marB="45753"/>
                </a:tc>
                <a:tc>
                  <a:txBody>
                    <a:bodyPr/>
                    <a:lstStyle/>
                    <a:p>
                      <a:pPr algn="ctr"/>
                      <a:r>
                        <a:rPr lang="en-US" altLang="zh-CN" sz="2200" b="1" dirty="0" smtClean="0"/>
                        <a:t>c1</a:t>
                      </a:r>
                      <a:endParaRPr lang="zh-CN" altLang="en-US" sz="2200" b="1" dirty="0"/>
                    </a:p>
                  </a:txBody>
                  <a:tcPr marT="45753" marB="45753"/>
                </a:tc>
              </a:tr>
            </a:tbl>
          </a:graphicData>
        </a:graphic>
      </p:graphicFrame>
      <p:graphicFrame>
        <p:nvGraphicFramePr>
          <p:cNvPr id="9" name="内容占位符 8"/>
          <p:cNvGraphicFramePr>
            <a:graphicFrameLocks noGrp="1"/>
          </p:cNvGraphicFramePr>
          <p:nvPr>
            <p:ph sz="quarter" idx="3"/>
          </p:nvPr>
        </p:nvGraphicFramePr>
        <p:xfrm>
          <a:off x="539750" y="3817938"/>
          <a:ext cx="4038600" cy="1706832"/>
        </p:xfrm>
        <a:graphic>
          <a:graphicData uri="http://schemas.openxmlformats.org/drawingml/2006/table">
            <a:tbl>
              <a:tblPr firstRow="1" bandRow="1">
                <a:tableStyleId>{5C22544A-7EE6-4342-B048-85BDC9FD1C3A}</a:tableStyleId>
              </a:tblPr>
              <a:tblGrid>
                <a:gridCol w="1346200"/>
                <a:gridCol w="1346200"/>
                <a:gridCol w="1346200"/>
              </a:tblGrid>
              <a:tr h="426641">
                <a:tc>
                  <a:txBody>
                    <a:bodyPr/>
                    <a:lstStyle/>
                    <a:p>
                      <a:pPr algn="ctr"/>
                      <a:r>
                        <a:rPr lang="en-US" altLang="zh-CN" sz="2200" b="1" dirty="0" smtClean="0">
                          <a:solidFill>
                            <a:schemeClr val="tx1"/>
                          </a:solidFill>
                        </a:rPr>
                        <a:t>A</a:t>
                      </a:r>
                      <a:endParaRPr lang="zh-CN" altLang="en-US" sz="2200" b="1" dirty="0">
                        <a:solidFill>
                          <a:schemeClr val="tx1"/>
                        </a:solidFill>
                      </a:endParaRPr>
                    </a:p>
                  </a:txBody>
                  <a:tcPr marT="45714" marB="45714"/>
                </a:tc>
                <a:tc>
                  <a:txBody>
                    <a:bodyPr/>
                    <a:lstStyle/>
                    <a:p>
                      <a:pPr algn="ctr"/>
                      <a:r>
                        <a:rPr lang="en-US" altLang="zh-CN" sz="2200" b="1" dirty="0" smtClean="0">
                          <a:solidFill>
                            <a:schemeClr val="tx1"/>
                          </a:solidFill>
                        </a:rPr>
                        <a:t>B</a:t>
                      </a:r>
                      <a:endParaRPr lang="zh-CN" altLang="en-US" sz="2200" b="1" dirty="0">
                        <a:solidFill>
                          <a:schemeClr val="tx1"/>
                        </a:solidFill>
                      </a:endParaRPr>
                    </a:p>
                  </a:txBody>
                  <a:tcPr marT="45714" marB="45714"/>
                </a:tc>
                <a:tc>
                  <a:txBody>
                    <a:bodyPr/>
                    <a:lstStyle/>
                    <a:p>
                      <a:pPr algn="ctr"/>
                      <a:r>
                        <a:rPr lang="en-US" altLang="zh-CN" sz="2200" b="1" dirty="0" smtClean="0">
                          <a:solidFill>
                            <a:schemeClr val="tx1"/>
                          </a:solidFill>
                        </a:rPr>
                        <a:t>C</a:t>
                      </a:r>
                      <a:endParaRPr lang="zh-CN" altLang="en-US" sz="2200" b="1" dirty="0">
                        <a:solidFill>
                          <a:schemeClr val="tx1"/>
                        </a:solidFill>
                      </a:endParaRPr>
                    </a:p>
                  </a:txBody>
                  <a:tcPr marT="45714" marB="45714"/>
                </a:tc>
              </a:tr>
              <a:tr h="426641">
                <a:tc>
                  <a:txBody>
                    <a:bodyPr/>
                    <a:lstStyle/>
                    <a:p>
                      <a:pPr algn="ctr"/>
                      <a:r>
                        <a:rPr lang="en-US" altLang="zh-CN" sz="2200" b="1" dirty="0" smtClean="0"/>
                        <a:t>a1</a:t>
                      </a:r>
                      <a:endParaRPr lang="zh-CN" altLang="en-US" sz="2200" b="1" dirty="0"/>
                    </a:p>
                  </a:txBody>
                  <a:tcPr marT="45714" marB="45714"/>
                </a:tc>
                <a:tc>
                  <a:txBody>
                    <a:bodyPr/>
                    <a:lstStyle/>
                    <a:p>
                      <a:pPr algn="ctr"/>
                      <a:r>
                        <a:rPr lang="en-US" altLang="zh-CN" sz="2200" b="1" dirty="0" smtClean="0"/>
                        <a:t>b2</a:t>
                      </a:r>
                      <a:endParaRPr lang="zh-CN" altLang="en-US" sz="2200" b="1" dirty="0"/>
                    </a:p>
                  </a:txBody>
                  <a:tcPr marT="45714" marB="45714"/>
                </a:tc>
                <a:tc>
                  <a:txBody>
                    <a:bodyPr/>
                    <a:lstStyle/>
                    <a:p>
                      <a:pPr algn="ctr"/>
                      <a:r>
                        <a:rPr lang="en-US" altLang="zh-CN" sz="2200" b="1" dirty="0" smtClean="0"/>
                        <a:t>c2</a:t>
                      </a:r>
                      <a:endParaRPr lang="zh-CN" altLang="en-US" sz="2200" b="1" dirty="0"/>
                    </a:p>
                  </a:txBody>
                  <a:tcPr marT="45714" marB="45714"/>
                </a:tc>
              </a:tr>
              <a:tr h="426641">
                <a:tc>
                  <a:txBody>
                    <a:bodyPr/>
                    <a:lstStyle/>
                    <a:p>
                      <a:pPr algn="ctr"/>
                      <a:r>
                        <a:rPr lang="en-US" altLang="zh-CN" sz="2200" b="1" dirty="0" smtClean="0"/>
                        <a:t>a1</a:t>
                      </a:r>
                      <a:endParaRPr lang="zh-CN" altLang="en-US" sz="2200" b="1" dirty="0"/>
                    </a:p>
                  </a:txBody>
                  <a:tcPr marT="45714" marB="45714"/>
                </a:tc>
                <a:tc>
                  <a:txBody>
                    <a:bodyPr/>
                    <a:lstStyle/>
                    <a:p>
                      <a:pPr algn="ctr"/>
                      <a:r>
                        <a:rPr lang="en-US" altLang="zh-CN" sz="2200" b="1" dirty="0" smtClean="0"/>
                        <a:t>b3</a:t>
                      </a:r>
                      <a:endParaRPr lang="zh-CN" altLang="en-US" sz="2200" b="1" dirty="0"/>
                    </a:p>
                  </a:txBody>
                  <a:tcPr marT="45714" marB="45714"/>
                </a:tc>
                <a:tc>
                  <a:txBody>
                    <a:bodyPr/>
                    <a:lstStyle/>
                    <a:p>
                      <a:pPr algn="ctr"/>
                      <a:r>
                        <a:rPr lang="en-US" altLang="zh-CN" sz="2200" b="1" dirty="0" smtClean="0"/>
                        <a:t>c2</a:t>
                      </a:r>
                      <a:endParaRPr lang="zh-CN" altLang="en-US" sz="2200" b="1" dirty="0"/>
                    </a:p>
                  </a:txBody>
                  <a:tcPr marT="45714" marB="45714"/>
                </a:tc>
              </a:tr>
              <a:tr h="426641">
                <a:tc>
                  <a:txBody>
                    <a:bodyPr/>
                    <a:lstStyle/>
                    <a:p>
                      <a:pPr algn="ctr"/>
                      <a:r>
                        <a:rPr lang="en-US" altLang="zh-CN" sz="2200" b="1" dirty="0" smtClean="0"/>
                        <a:t>a2</a:t>
                      </a:r>
                      <a:endParaRPr lang="zh-CN" altLang="en-US" sz="2200" b="1" dirty="0"/>
                    </a:p>
                  </a:txBody>
                  <a:tcPr marT="45714" marB="45714"/>
                </a:tc>
                <a:tc>
                  <a:txBody>
                    <a:bodyPr/>
                    <a:lstStyle/>
                    <a:p>
                      <a:pPr algn="ctr"/>
                      <a:r>
                        <a:rPr lang="en-US" altLang="zh-CN" sz="2200" b="1" dirty="0" smtClean="0"/>
                        <a:t>b2</a:t>
                      </a:r>
                      <a:endParaRPr lang="zh-CN" altLang="en-US" sz="2200" b="1" dirty="0"/>
                    </a:p>
                  </a:txBody>
                  <a:tcPr marT="45714" marB="45714"/>
                </a:tc>
                <a:tc>
                  <a:txBody>
                    <a:bodyPr/>
                    <a:lstStyle/>
                    <a:p>
                      <a:pPr algn="ctr"/>
                      <a:r>
                        <a:rPr lang="en-US" altLang="zh-CN" sz="2200" b="1" dirty="0" smtClean="0"/>
                        <a:t>c1</a:t>
                      </a:r>
                      <a:endParaRPr lang="zh-CN" altLang="en-US" sz="2200" b="1" dirty="0"/>
                    </a:p>
                  </a:txBody>
                  <a:tcPr marT="45714" marB="45714"/>
                </a:tc>
              </a:tr>
            </a:tbl>
          </a:graphicData>
        </a:graphic>
      </p:graphicFrame>
      <p:sp>
        <p:nvSpPr>
          <p:cNvPr id="74817" name="TextBox 7"/>
          <p:cNvSpPr txBox="1">
            <a:spLocks noChangeArrowheads="1"/>
          </p:cNvSpPr>
          <p:nvPr/>
        </p:nvSpPr>
        <p:spPr bwMode="auto">
          <a:xfrm>
            <a:off x="755650" y="1196975"/>
            <a:ext cx="388938"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a:t>R</a:t>
            </a:r>
            <a:endParaRPr lang="zh-CN" altLang="en-US" sz="2200" b="1"/>
          </a:p>
        </p:txBody>
      </p:sp>
      <p:sp>
        <p:nvSpPr>
          <p:cNvPr id="74818" name="TextBox 10"/>
          <p:cNvSpPr txBox="1">
            <a:spLocks noChangeArrowheads="1"/>
          </p:cNvSpPr>
          <p:nvPr/>
        </p:nvSpPr>
        <p:spPr bwMode="auto">
          <a:xfrm>
            <a:off x="755650" y="3429000"/>
            <a:ext cx="3714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a:t>S</a:t>
            </a:r>
            <a:endParaRPr lang="zh-CN" altLang="en-US" sz="2200" b="1"/>
          </a:p>
        </p:txBody>
      </p:sp>
      <p:sp>
        <p:nvSpPr>
          <p:cNvPr id="74819" name="TextBox 11"/>
          <p:cNvSpPr txBox="1">
            <a:spLocks noChangeArrowheads="1"/>
          </p:cNvSpPr>
          <p:nvPr/>
        </p:nvSpPr>
        <p:spPr bwMode="auto">
          <a:xfrm>
            <a:off x="5014913" y="1579563"/>
            <a:ext cx="93662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a:t>R ∩ S</a:t>
            </a:r>
            <a:endParaRPr lang="zh-CN" altLang="en-US" sz="2200" b="1"/>
          </a:p>
        </p:txBody>
      </p:sp>
      <p:sp>
        <p:nvSpPr>
          <p:cNvPr id="11" name="左中括号 10"/>
          <p:cNvSpPr/>
          <p:nvPr/>
        </p:nvSpPr>
        <p:spPr>
          <a:xfrm>
            <a:off x="148281" y="2833816"/>
            <a:ext cx="447032" cy="1672281"/>
          </a:xfrm>
          <a:prstGeom prst="leftBracket">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左中括号 11"/>
          <p:cNvSpPr/>
          <p:nvPr/>
        </p:nvSpPr>
        <p:spPr>
          <a:xfrm>
            <a:off x="306540" y="3213101"/>
            <a:ext cx="295274" cy="2174445"/>
          </a:xfrm>
          <a:prstGeom prst="leftBracket">
            <a:avLst/>
          </a:prstGeom>
          <a:ln w="285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2068815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1000"/>
                                        <p:tgtEl>
                                          <p:spTgt spid="10"/>
                                        </p:tgtEl>
                                      </p:cBhvr>
                                    </p:animEffect>
                                    <p:anim calcmode="lin" valueType="num">
                                      <p:cBhvr>
                                        <p:cTn id="16" dur="1000" fill="hold"/>
                                        <p:tgtEl>
                                          <p:spTgt spid="10"/>
                                        </p:tgtEl>
                                        <p:attrNameLst>
                                          <p:attrName>ppt_x</p:attrName>
                                        </p:attrNameLst>
                                      </p:cBhvr>
                                      <p:tavLst>
                                        <p:tav tm="0">
                                          <p:val>
                                            <p:strVal val="#ppt_x"/>
                                          </p:val>
                                        </p:tav>
                                        <p:tav tm="100000">
                                          <p:val>
                                            <p:strVal val="#ppt_x"/>
                                          </p:val>
                                        </p:tav>
                                      </p:tavLst>
                                    </p:anim>
                                    <p:anim calcmode="lin" valueType="num">
                                      <p:cBhvr>
                                        <p:cTn id="1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a:xfrm>
            <a:off x="914400" y="115888"/>
            <a:ext cx="7391400" cy="649287"/>
          </a:xfrm>
        </p:spPr>
        <p:txBody>
          <a:bodyPr/>
          <a:lstStyle/>
          <a:p>
            <a:pPr eaLnBrk="1" hangingPunct="1"/>
            <a:r>
              <a:rPr lang="zh-CN" altLang="en-US" sz="3600" smtClean="0"/>
              <a:t>交 （续）</a:t>
            </a:r>
          </a:p>
        </p:txBody>
      </p:sp>
      <p:sp>
        <p:nvSpPr>
          <p:cNvPr id="2" name="内容占位符 1"/>
          <p:cNvSpPr>
            <a:spLocks noGrp="1"/>
          </p:cNvSpPr>
          <p:nvPr>
            <p:ph sz="half" idx="1"/>
          </p:nvPr>
        </p:nvSpPr>
        <p:spPr>
          <a:xfrm>
            <a:off x="457200" y="1828800"/>
            <a:ext cx="7848600" cy="4495800"/>
          </a:xfrm>
        </p:spPr>
        <p:txBody>
          <a:bodyPr/>
          <a:lstStyle/>
          <a:p>
            <a:r>
              <a:rPr lang="zh-CN" altLang="en-US" dirty="0" smtClean="0"/>
              <a:t>我们在实验</a:t>
            </a:r>
            <a:r>
              <a:rPr lang="en-US" altLang="zh-CN" dirty="0" smtClean="0"/>
              <a:t>1</a:t>
            </a:r>
            <a:r>
              <a:rPr lang="zh-CN" altLang="en-US" dirty="0" smtClean="0"/>
              <a:t>中有没有用到 并，交，差运算？</a:t>
            </a:r>
            <a:endParaRPr lang="en-US" altLang="zh-CN" dirty="0" smtClean="0"/>
          </a:p>
          <a:p>
            <a:endParaRPr lang="en-US" altLang="zh-CN" dirty="0"/>
          </a:p>
          <a:p>
            <a:pPr marL="0" indent="0">
              <a:buNone/>
            </a:pPr>
            <a:r>
              <a:rPr lang="en-US" altLang="zh-CN" b="1" dirty="0" smtClean="0"/>
              <a:t>               SELECT </a:t>
            </a:r>
            <a:r>
              <a:rPr lang="en-US" altLang="zh-CN" b="1" dirty="0"/>
              <a:t>* FROM </a:t>
            </a:r>
            <a:r>
              <a:rPr lang="en-US" altLang="zh-CN" b="1" dirty="0" err="1"/>
              <a:t>emp</a:t>
            </a:r>
            <a:endParaRPr lang="zh-CN" altLang="zh-CN" dirty="0"/>
          </a:p>
          <a:p>
            <a:pPr marL="0" indent="0">
              <a:buNone/>
            </a:pPr>
            <a:r>
              <a:rPr lang="en-US" altLang="zh-CN" b="1" dirty="0"/>
              <a:t> 		WHERE job = 'MANAGER'</a:t>
            </a:r>
            <a:endParaRPr lang="zh-CN" altLang="zh-CN" dirty="0"/>
          </a:p>
          <a:p>
            <a:pPr marL="0" indent="0">
              <a:buNone/>
            </a:pPr>
            <a:r>
              <a:rPr lang="en-US" altLang="zh-CN" b="1" dirty="0"/>
              <a:t>		OR job = 'CLERK'</a:t>
            </a:r>
            <a:endParaRPr lang="zh-CN" altLang="zh-CN" dirty="0"/>
          </a:p>
          <a:p>
            <a:pPr marL="0" indent="0">
              <a:buNone/>
            </a:pPr>
            <a:r>
              <a:rPr lang="en-US" altLang="zh-CN" b="1" dirty="0"/>
              <a:t>		AND </a:t>
            </a:r>
            <a:r>
              <a:rPr lang="en-US" altLang="zh-CN" b="1" dirty="0" err="1"/>
              <a:t>deptno</a:t>
            </a:r>
            <a:r>
              <a:rPr lang="en-US" altLang="zh-CN" b="1" dirty="0"/>
              <a:t> = 10;</a:t>
            </a:r>
            <a:endParaRPr lang="zh-CN" altLang="zh-CN" dirty="0"/>
          </a:p>
          <a:p>
            <a:endParaRPr lang="en-US" altLang="zh-CN" dirty="0" smtClean="0"/>
          </a:p>
          <a:p>
            <a:endParaRPr lang="en-US" altLang="zh-CN" dirty="0"/>
          </a:p>
          <a:p>
            <a:endParaRPr lang="zh-CN" altLang="en-US" dirty="0"/>
          </a:p>
        </p:txBody>
      </p:sp>
    </p:spTree>
    <p:extLst>
      <p:ext uri="{BB962C8B-B14F-4D97-AF65-F5344CB8AC3E}">
        <p14:creationId xmlns:p14="http://schemas.microsoft.com/office/powerpoint/2010/main" val="237224581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r>
              <a:rPr lang="zh-CN" altLang="en-US" sz="3600" smtClean="0"/>
              <a:t>（</a:t>
            </a:r>
            <a:r>
              <a:rPr lang="en-US" altLang="zh-CN" sz="3600" smtClean="0"/>
              <a:t>4</a:t>
            </a:r>
            <a:r>
              <a:rPr lang="zh-CN" altLang="en-US" sz="3600" smtClean="0"/>
              <a:t>）</a:t>
            </a:r>
            <a:r>
              <a:rPr lang="en-US" altLang="zh-CN" sz="3600" smtClean="0"/>
              <a:t> </a:t>
            </a:r>
            <a:r>
              <a:rPr lang="zh-CN" altLang="en-US" sz="3600" smtClean="0"/>
              <a:t>笛卡尔积（</a:t>
            </a:r>
            <a:r>
              <a:rPr lang="en-US" altLang="zh-CN" sz="3600" smtClean="0"/>
              <a:t>Cartesian Product</a:t>
            </a:r>
            <a:r>
              <a:rPr lang="zh-CN" altLang="en-US" sz="3600" smtClean="0"/>
              <a:t>）</a:t>
            </a:r>
          </a:p>
        </p:txBody>
      </p:sp>
      <p:sp>
        <p:nvSpPr>
          <p:cNvPr id="75779" name="Rectangle 3"/>
          <p:cNvSpPr>
            <a:spLocks noGrp="1" noChangeArrowheads="1"/>
          </p:cNvSpPr>
          <p:nvPr>
            <p:ph type="body" idx="1"/>
          </p:nvPr>
        </p:nvSpPr>
        <p:spPr>
          <a:xfrm>
            <a:off x="755650" y="1098550"/>
            <a:ext cx="7772400" cy="5426075"/>
          </a:xfrm>
        </p:spPr>
        <p:txBody>
          <a:bodyPr/>
          <a:lstStyle/>
          <a:p>
            <a:pPr algn="just" eaLnBrk="1" hangingPunct="1">
              <a:lnSpc>
                <a:spcPct val="120000"/>
              </a:lnSpc>
            </a:pPr>
            <a:r>
              <a:rPr lang="zh-CN" altLang="en-US" sz="2400" dirty="0" smtClean="0"/>
              <a:t>严格地讲应该是广义的笛卡尔积（</a:t>
            </a:r>
            <a:r>
              <a:rPr lang="en-US" altLang="zh-CN" sz="2400" dirty="0" smtClean="0"/>
              <a:t>Extended Cartesian Product</a:t>
            </a:r>
            <a:r>
              <a:rPr lang="zh-CN" altLang="en-US" sz="2400" dirty="0" smtClean="0"/>
              <a:t>） </a:t>
            </a:r>
          </a:p>
          <a:p>
            <a:pPr algn="just" eaLnBrk="1" hangingPunct="1">
              <a:lnSpc>
                <a:spcPct val="120000"/>
              </a:lnSpc>
            </a:pPr>
            <a:r>
              <a:rPr lang="en-US" altLang="zh-CN" sz="2400" dirty="0" smtClean="0"/>
              <a:t>R: </a:t>
            </a:r>
            <a:r>
              <a:rPr lang="en-US" altLang="zh-CN" sz="2400" i="1" dirty="0" smtClean="0"/>
              <a:t>n</a:t>
            </a:r>
            <a:r>
              <a:rPr lang="zh-CN" altLang="en-US" sz="2400" dirty="0" smtClean="0"/>
              <a:t>目关系，</a:t>
            </a:r>
            <a:r>
              <a:rPr lang="en-US" altLang="zh-CN" sz="2400" i="1" dirty="0" smtClean="0"/>
              <a:t>k</a:t>
            </a:r>
            <a:r>
              <a:rPr lang="en-US" altLang="zh-CN" sz="2400" baseline="-30000" dirty="0" smtClean="0"/>
              <a:t>1</a:t>
            </a:r>
            <a:r>
              <a:rPr lang="zh-CN" altLang="en-US" sz="2400" dirty="0" smtClean="0"/>
              <a:t>个元组</a:t>
            </a:r>
          </a:p>
          <a:p>
            <a:pPr algn="just" eaLnBrk="1" hangingPunct="1">
              <a:lnSpc>
                <a:spcPct val="120000"/>
              </a:lnSpc>
            </a:pPr>
            <a:r>
              <a:rPr lang="en-US" altLang="zh-CN" sz="2400" dirty="0" smtClean="0"/>
              <a:t>S: </a:t>
            </a:r>
            <a:r>
              <a:rPr lang="en-US" altLang="zh-CN" sz="2400" i="1" dirty="0" smtClean="0"/>
              <a:t>m</a:t>
            </a:r>
            <a:r>
              <a:rPr lang="zh-CN" altLang="en-US" sz="2400" dirty="0" smtClean="0"/>
              <a:t>目关系，</a:t>
            </a:r>
            <a:r>
              <a:rPr lang="en-US" altLang="zh-CN" sz="2400" i="1" dirty="0" smtClean="0"/>
              <a:t>k</a:t>
            </a:r>
            <a:r>
              <a:rPr lang="en-US" altLang="zh-CN" sz="2400" baseline="-30000" dirty="0" smtClean="0"/>
              <a:t>2</a:t>
            </a:r>
            <a:r>
              <a:rPr lang="zh-CN" altLang="en-US" sz="2400" dirty="0" smtClean="0"/>
              <a:t>个元组</a:t>
            </a:r>
          </a:p>
          <a:p>
            <a:pPr algn="just" eaLnBrk="1" hangingPunct="1">
              <a:lnSpc>
                <a:spcPct val="120000"/>
              </a:lnSpc>
            </a:pPr>
            <a:r>
              <a:rPr lang="en-US" altLang="zh-CN" sz="2400" i="1" dirty="0" smtClean="0"/>
              <a:t>R</a:t>
            </a:r>
            <a:r>
              <a:rPr lang="en-US" altLang="zh-CN" sz="2400" dirty="0" smtClean="0"/>
              <a:t>×</a:t>
            </a:r>
            <a:r>
              <a:rPr lang="en-US" altLang="zh-CN" sz="2400" i="1" dirty="0" smtClean="0"/>
              <a:t>S</a:t>
            </a:r>
            <a:r>
              <a:rPr lang="en-US" altLang="zh-CN" sz="2400" dirty="0" smtClean="0"/>
              <a:t> </a:t>
            </a:r>
          </a:p>
          <a:p>
            <a:pPr lvl="1" algn="just" eaLnBrk="1" hangingPunct="1">
              <a:lnSpc>
                <a:spcPct val="120000"/>
              </a:lnSpc>
            </a:pPr>
            <a:r>
              <a:rPr lang="zh-CN" altLang="en-US" dirty="0" smtClean="0"/>
              <a:t>列：（</a:t>
            </a:r>
            <a:r>
              <a:rPr lang="en-US" altLang="zh-CN" i="1" dirty="0" err="1" smtClean="0"/>
              <a:t>n</a:t>
            </a:r>
            <a:r>
              <a:rPr lang="en-US" altLang="zh-CN" dirty="0" err="1" smtClean="0"/>
              <a:t>+</a:t>
            </a:r>
            <a:r>
              <a:rPr lang="en-US" altLang="zh-CN" i="1" dirty="0" err="1" smtClean="0"/>
              <a:t>m</a:t>
            </a:r>
            <a:r>
              <a:rPr lang="zh-CN" altLang="en-US" dirty="0" smtClean="0"/>
              <a:t>）列元组的集合</a:t>
            </a:r>
          </a:p>
          <a:p>
            <a:pPr lvl="2" algn="just" eaLnBrk="1" hangingPunct="1">
              <a:lnSpc>
                <a:spcPct val="120000"/>
              </a:lnSpc>
              <a:buSzPct val="87000"/>
              <a:buFont typeface="Wingdings" panose="05000000000000000000" pitchFamily="2" charset="2"/>
              <a:buChar char="l"/>
            </a:pPr>
            <a:r>
              <a:rPr lang="zh-CN" altLang="en-US" sz="2400" dirty="0" smtClean="0"/>
              <a:t>元组的前</a:t>
            </a:r>
            <a:r>
              <a:rPr lang="en-US" altLang="zh-CN" sz="2400" i="1" dirty="0" smtClean="0"/>
              <a:t>n</a:t>
            </a:r>
            <a:r>
              <a:rPr lang="zh-CN" altLang="en-US" sz="2400" dirty="0" smtClean="0"/>
              <a:t>列是关系</a:t>
            </a:r>
            <a:r>
              <a:rPr lang="en-US" altLang="zh-CN" sz="2400" i="1" dirty="0" smtClean="0"/>
              <a:t>R</a:t>
            </a:r>
            <a:r>
              <a:rPr lang="zh-CN" altLang="en-US" sz="2400" dirty="0" smtClean="0"/>
              <a:t>的一个元组</a:t>
            </a:r>
          </a:p>
          <a:p>
            <a:pPr lvl="2" algn="just" eaLnBrk="1" hangingPunct="1">
              <a:lnSpc>
                <a:spcPct val="120000"/>
              </a:lnSpc>
              <a:buSzPct val="87000"/>
              <a:buFont typeface="Wingdings" panose="05000000000000000000" pitchFamily="2" charset="2"/>
              <a:buChar char="l"/>
            </a:pPr>
            <a:r>
              <a:rPr lang="zh-CN" altLang="en-US" sz="2400" dirty="0" smtClean="0"/>
              <a:t>后</a:t>
            </a:r>
            <a:r>
              <a:rPr lang="en-US" altLang="zh-CN" sz="2400" i="1" dirty="0" smtClean="0"/>
              <a:t>m</a:t>
            </a:r>
            <a:r>
              <a:rPr lang="zh-CN" altLang="en-US" sz="2400" dirty="0" smtClean="0"/>
              <a:t>列是关系</a:t>
            </a:r>
            <a:r>
              <a:rPr lang="en-US" altLang="zh-CN" sz="2400" i="1" dirty="0" smtClean="0"/>
              <a:t>S</a:t>
            </a:r>
            <a:r>
              <a:rPr lang="zh-CN" altLang="en-US" sz="2400" dirty="0" smtClean="0"/>
              <a:t>的一个元组</a:t>
            </a:r>
          </a:p>
          <a:p>
            <a:pPr lvl="1" algn="just" eaLnBrk="1" hangingPunct="1">
              <a:lnSpc>
                <a:spcPct val="120000"/>
              </a:lnSpc>
            </a:pPr>
            <a:r>
              <a:rPr lang="zh-CN" altLang="en-US" dirty="0" smtClean="0"/>
              <a:t>行：</a:t>
            </a:r>
            <a:r>
              <a:rPr lang="en-US" altLang="zh-CN" i="1" dirty="0" smtClean="0"/>
              <a:t>k</a:t>
            </a:r>
            <a:r>
              <a:rPr lang="en-US" altLang="zh-CN" baseline="-30000" dirty="0" smtClean="0"/>
              <a:t>1</a:t>
            </a:r>
            <a:r>
              <a:rPr lang="en-US" altLang="zh-CN" dirty="0" smtClean="0"/>
              <a:t>×</a:t>
            </a:r>
            <a:r>
              <a:rPr lang="en-US" altLang="zh-CN" i="1" dirty="0" smtClean="0"/>
              <a:t>k</a:t>
            </a:r>
            <a:r>
              <a:rPr lang="en-US" altLang="zh-CN" baseline="-30000" dirty="0" smtClean="0"/>
              <a:t>2</a:t>
            </a:r>
            <a:r>
              <a:rPr lang="zh-CN" altLang="en-US" dirty="0" smtClean="0"/>
              <a:t>个元组</a:t>
            </a:r>
          </a:p>
          <a:p>
            <a:pPr lvl="2" algn="just" eaLnBrk="1" hangingPunct="1">
              <a:lnSpc>
                <a:spcPct val="120000"/>
              </a:lnSpc>
              <a:buSzPct val="87000"/>
              <a:buFont typeface="Wingdings" panose="05000000000000000000" pitchFamily="2" charset="2"/>
              <a:buChar char="l"/>
            </a:pPr>
            <a:r>
              <a:rPr lang="en-US" altLang="zh-CN" sz="2400" i="1" dirty="0" smtClean="0"/>
              <a:t>R</a:t>
            </a:r>
            <a:r>
              <a:rPr lang="en-US" altLang="zh-CN" sz="2400" dirty="0" smtClean="0"/>
              <a:t>×</a:t>
            </a:r>
            <a:r>
              <a:rPr lang="en-US" altLang="zh-CN" sz="2400" i="1" dirty="0" smtClean="0"/>
              <a:t>S</a:t>
            </a:r>
            <a:r>
              <a:rPr lang="en-US" altLang="zh-CN" sz="2400" dirty="0" smtClean="0"/>
              <a:t> = {</a:t>
            </a:r>
            <a:r>
              <a:rPr lang="en-US" altLang="zh-CN" sz="2400" i="1" dirty="0" err="1" smtClean="0"/>
              <a:t>t</a:t>
            </a:r>
            <a:r>
              <a:rPr lang="en-US" altLang="zh-CN" sz="2400" baseline="-30000" dirty="0" err="1" smtClean="0"/>
              <a:t>r</a:t>
            </a:r>
            <a:r>
              <a:rPr lang="en-US" altLang="zh-CN" sz="2400" dirty="0" smtClean="0"/>
              <a:t> </a:t>
            </a:r>
            <a:r>
              <a:rPr lang="en-US" altLang="zh-CN" sz="2400" i="1" dirty="0" err="1" smtClean="0"/>
              <a:t>t</a:t>
            </a:r>
            <a:r>
              <a:rPr lang="en-US" altLang="zh-CN" sz="2400" baseline="-30000" dirty="0" err="1" smtClean="0"/>
              <a:t>s</a:t>
            </a:r>
            <a:r>
              <a:rPr lang="en-US" altLang="zh-CN" sz="2400" dirty="0" smtClean="0"/>
              <a:t> |</a:t>
            </a:r>
            <a:r>
              <a:rPr lang="en-US" altLang="zh-CN" sz="2400" i="1" dirty="0" err="1" smtClean="0"/>
              <a:t>t</a:t>
            </a:r>
            <a:r>
              <a:rPr lang="en-US" altLang="zh-CN" sz="2400" baseline="-30000" dirty="0" err="1" smtClean="0"/>
              <a:t>r</a:t>
            </a:r>
            <a:r>
              <a:rPr lang="en-US" altLang="zh-CN" sz="2400" dirty="0" smtClean="0"/>
              <a:t> </a:t>
            </a:r>
            <a:r>
              <a:rPr lang="en-US" altLang="zh-CN" sz="2400" dirty="0" smtClean="0">
                <a:sym typeface="Symbol" panose="05050102010706020507" pitchFamily="18" charset="2"/>
              </a:rPr>
              <a:t></a:t>
            </a:r>
            <a:r>
              <a:rPr lang="en-US" altLang="zh-CN" sz="2400" i="1" dirty="0" smtClean="0"/>
              <a:t>R</a:t>
            </a:r>
            <a:r>
              <a:rPr lang="en-US" altLang="zh-CN" sz="2400" dirty="0" smtClean="0"/>
              <a:t> ∧ </a:t>
            </a:r>
            <a:r>
              <a:rPr lang="en-US" altLang="zh-CN" sz="2400" i="1" dirty="0" err="1" smtClean="0"/>
              <a:t>t</a:t>
            </a:r>
            <a:r>
              <a:rPr lang="en-US" altLang="zh-CN" sz="2400" baseline="-30000" dirty="0" err="1" smtClean="0"/>
              <a:t>s</a:t>
            </a:r>
            <a:r>
              <a:rPr lang="en-US" altLang="zh-CN" sz="2400" dirty="0" err="1" smtClean="0">
                <a:sym typeface="Symbol" panose="05050102010706020507" pitchFamily="18" charset="2"/>
              </a:rPr>
              <a:t></a:t>
            </a:r>
            <a:r>
              <a:rPr lang="en-US" altLang="zh-CN" sz="2400" i="1" dirty="0" err="1" smtClean="0"/>
              <a:t>S</a:t>
            </a:r>
            <a:r>
              <a:rPr lang="en-US" altLang="zh-CN" sz="2400" dirty="0" smtClean="0"/>
              <a:t> }</a:t>
            </a:r>
          </a:p>
          <a:p>
            <a:pPr eaLnBrk="1" hangingPunct="1">
              <a:lnSpc>
                <a:spcPct val="90000"/>
              </a:lnSpc>
            </a:pPr>
            <a:endParaRPr lang="en-US" altLang="zh-CN" dirty="0" smtClean="0"/>
          </a:p>
        </p:txBody>
      </p:sp>
      <p:sp>
        <p:nvSpPr>
          <p:cNvPr id="75780" name="Freeform 4"/>
          <p:cNvSpPr>
            <a:spLocks/>
          </p:cNvSpPr>
          <p:nvPr/>
        </p:nvSpPr>
        <p:spPr bwMode="auto">
          <a:xfrm>
            <a:off x="2989392" y="5782405"/>
            <a:ext cx="360363" cy="130175"/>
          </a:xfrm>
          <a:custGeom>
            <a:avLst/>
            <a:gdLst>
              <a:gd name="T0" fmla="*/ 0 w 196"/>
              <a:gd name="T1" fmla="*/ 2147483647 h 82"/>
              <a:gd name="T2" fmla="*/ 2147483647 w 196"/>
              <a:gd name="T3" fmla="*/ 2147483647 h 82"/>
              <a:gd name="T4" fmla="*/ 2147483647 w 196"/>
              <a:gd name="T5" fmla="*/ 2147483647 h 82"/>
              <a:gd name="T6" fmla="*/ 2147483647 w 196"/>
              <a:gd name="T7" fmla="*/ 2147483647 h 82"/>
              <a:gd name="T8" fmla="*/ 0 60000 65536"/>
              <a:gd name="T9" fmla="*/ 0 60000 65536"/>
              <a:gd name="T10" fmla="*/ 0 60000 65536"/>
              <a:gd name="T11" fmla="*/ 0 60000 65536"/>
              <a:gd name="T12" fmla="*/ 0 w 196"/>
              <a:gd name="T13" fmla="*/ 0 h 82"/>
              <a:gd name="T14" fmla="*/ 196 w 196"/>
              <a:gd name="T15" fmla="*/ 82 h 82"/>
            </a:gdLst>
            <a:ahLst/>
            <a:cxnLst>
              <a:cxn ang="T8">
                <a:pos x="T0" y="T1"/>
              </a:cxn>
              <a:cxn ang="T9">
                <a:pos x="T2" y="T3"/>
              </a:cxn>
              <a:cxn ang="T10">
                <a:pos x="T4" y="T5"/>
              </a:cxn>
              <a:cxn ang="T11">
                <a:pos x="T6" y="T7"/>
              </a:cxn>
            </a:cxnLst>
            <a:rect l="T12" t="T13" r="T14" b="T15"/>
            <a:pathLst>
              <a:path w="196" h="82">
                <a:moveTo>
                  <a:pt x="0" y="43"/>
                </a:moveTo>
                <a:cubicBezTo>
                  <a:pt x="64" y="0"/>
                  <a:pt x="75" y="4"/>
                  <a:pt x="156" y="17"/>
                </a:cubicBezTo>
                <a:cubicBezTo>
                  <a:pt x="165" y="26"/>
                  <a:pt x="176" y="32"/>
                  <a:pt x="183" y="43"/>
                </a:cubicBezTo>
                <a:cubicBezTo>
                  <a:pt x="190" y="55"/>
                  <a:pt x="196" y="82"/>
                  <a:pt x="196" y="8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extLst>
      <p:ext uri="{BB962C8B-B14F-4D97-AF65-F5344CB8AC3E}">
        <p14:creationId xmlns:p14="http://schemas.microsoft.com/office/powerpoint/2010/main" val="180030370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a:xfrm>
            <a:off x="900113" y="115888"/>
            <a:ext cx="7391400" cy="563562"/>
          </a:xfrm>
        </p:spPr>
        <p:txBody>
          <a:bodyPr>
            <a:normAutofit fontScale="90000"/>
          </a:bodyPr>
          <a:lstStyle/>
          <a:p>
            <a:pPr eaLnBrk="1" hangingPunct="1"/>
            <a:r>
              <a:rPr lang="zh-CN" altLang="en-US" sz="3600" smtClean="0"/>
              <a:t>笛卡尔积 （续）</a:t>
            </a:r>
          </a:p>
        </p:txBody>
      </p:sp>
      <p:graphicFrame>
        <p:nvGraphicFramePr>
          <p:cNvPr id="7" name="内容占位符 6"/>
          <p:cNvGraphicFramePr>
            <a:graphicFrameLocks noGrp="1"/>
          </p:cNvGraphicFramePr>
          <p:nvPr>
            <p:ph sz="half" idx="1"/>
          </p:nvPr>
        </p:nvGraphicFramePr>
        <p:xfrm>
          <a:off x="457200" y="2233613"/>
          <a:ext cx="3035301" cy="1482724"/>
        </p:xfrm>
        <a:graphic>
          <a:graphicData uri="http://schemas.openxmlformats.org/drawingml/2006/table">
            <a:tbl>
              <a:tblPr firstRow="1" bandRow="1">
                <a:tableStyleId>{5C22544A-7EE6-4342-B048-85BDC9FD1C3A}</a:tableStyleId>
              </a:tblPr>
              <a:tblGrid>
                <a:gridCol w="1011767"/>
                <a:gridCol w="1011767"/>
                <a:gridCol w="1011767"/>
              </a:tblGrid>
              <a:tr h="370681">
                <a:tc>
                  <a:txBody>
                    <a:bodyPr/>
                    <a:lstStyle/>
                    <a:p>
                      <a:pPr algn="ctr"/>
                      <a:r>
                        <a:rPr lang="en-US" altLang="zh-CN" sz="1800" b="1" dirty="0" smtClean="0">
                          <a:solidFill>
                            <a:schemeClr val="tx1"/>
                          </a:solidFill>
                        </a:rPr>
                        <a:t>A</a:t>
                      </a:r>
                      <a:endParaRPr lang="zh-CN" altLang="en-US" sz="1800" b="1" dirty="0">
                        <a:solidFill>
                          <a:schemeClr val="tx1"/>
                        </a:solidFill>
                      </a:endParaRPr>
                    </a:p>
                  </a:txBody>
                  <a:tcPr marL="91459" marR="91459" marT="45700" marB="45700"/>
                </a:tc>
                <a:tc>
                  <a:txBody>
                    <a:bodyPr/>
                    <a:lstStyle/>
                    <a:p>
                      <a:pPr algn="ctr"/>
                      <a:r>
                        <a:rPr lang="en-US" altLang="zh-CN" sz="1800" b="1" dirty="0" smtClean="0">
                          <a:solidFill>
                            <a:schemeClr val="tx1"/>
                          </a:solidFill>
                        </a:rPr>
                        <a:t>B</a:t>
                      </a:r>
                      <a:endParaRPr lang="zh-CN" altLang="en-US" sz="1800" b="1" dirty="0">
                        <a:solidFill>
                          <a:schemeClr val="tx1"/>
                        </a:solidFill>
                      </a:endParaRPr>
                    </a:p>
                  </a:txBody>
                  <a:tcPr marL="91459" marR="91459" marT="45700" marB="45700"/>
                </a:tc>
                <a:tc>
                  <a:txBody>
                    <a:bodyPr/>
                    <a:lstStyle/>
                    <a:p>
                      <a:pPr algn="ctr"/>
                      <a:r>
                        <a:rPr lang="en-US" altLang="zh-CN" sz="1800" b="1" dirty="0" smtClean="0">
                          <a:solidFill>
                            <a:schemeClr val="tx1"/>
                          </a:solidFill>
                        </a:rPr>
                        <a:t>C</a:t>
                      </a:r>
                      <a:endParaRPr lang="zh-CN" altLang="en-US" sz="1800" b="1" dirty="0">
                        <a:solidFill>
                          <a:schemeClr val="tx1"/>
                        </a:solidFill>
                      </a:endParaRPr>
                    </a:p>
                  </a:txBody>
                  <a:tcPr marL="91459" marR="91459" marT="45700" marB="45700"/>
                </a:tc>
              </a:tr>
              <a:tr h="370681">
                <a:tc>
                  <a:txBody>
                    <a:bodyPr/>
                    <a:lstStyle/>
                    <a:p>
                      <a:pPr algn="ctr"/>
                      <a:r>
                        <a:rPr lang="en-US" altLang="zh-CN" sz="1800" b="1" dirty="0" smtClean="0"/>
                        <a:t>a1</a:t>
                      </a:r>
                      <a:endParaRPr lang="zh-CN" altLang="en-US" sz="1800" b="1" dirty="0"/>
                    </a:p>
                  </a:txBody>
                  <a:tcPr marL="91459" marR="91459" marT="45700" marB="45700"/>
                </a:tc>
                <a:tc>
                  <a:txBody>
                    <a:bodyPr/>
                    <a:lstStyle/>
                    <a:p>
                      <a:pPr algn="ctr"/>
                      <a:r>
                        <a:rPr lang="en-US" altLang="zh-CN" sz="1800" b="1" dirty="0" smtClean="0"/>
                        <a:t>b1</a:t>
                      </a:r>
                      <a:endParaRPr lang="zh-CN" altLang="en-US" sz="1800" b="1" dirty="0"/>
                    </a:p>
                  </a:txBody>
                  <a:tcPr marL="91459" marR="91459" marT="45700" marB="45700"/>
                </a:tc>
                <a:tc>
                  <a:txBody>
                    <a:bodyPr/>
                    <a:lstStyle/>
                    <a:p>
                      <a:pPr algn="ctr"/>
                      <a:r>
                        <a:rPr lang="en-US" altLang="zh-CN" sz="1800" b="1" dirty="0" smtClean="0"/>
                        <a:t>c1</a:t>
                      </a:r>
                      <a:endParaRPr lang="zh-CN" altLang="en-US" sz="1800" b="1" dirty="0"/>
                    </a:p>
                  </a:txBody>
                  <a:tcPr marL="91459" marR="91459" marT="45700" marB="45700"/>
                </a:tc>
              </a:tr>
              <a:tr h="370681">
                <a:tc>
                  <a:txBody>
                    <a:bodyPr/>
                    <a:lstStyle/>
                    <a:p>
                      <a:pPr algn="ctr"/>
                      <a:r>
                        <a:rPr lang="en-US" altLang="zh-CN" sz="1800" b="1" dirty="0" smtClean="0"/>
                        <a:t>a1</a:t>
                      </a:r>
                      <a:endParaRPr lang="zh-CN" altLang="en-US" sz="1800" b="1" dirty="0"/>
                    </a:p>
                  </a:txBody>
                  <a:tcPr marL="91459" marR="91459" marT="45700" marB="45700"/>
                </a:tc>
                <a:tc>
                  <a:txBody>
                    <a:bodyPr/>
                    <a:lstStyle/>
                    <a:p>
                      <a:pPr algn="ctr"/>
                      <a:r>
                        <a:rPr lang="en-US" altLang="zh-CN" sz="1800" b="1" dirty="0" smtClean="0"/>
                        <a:t>b2</a:t>
                      </a:r>
                      <a:endParaRPr lang="zh-CN" altLang="en-US" sz="1800" b="1" dirty="0"/>
                    </a:p>
                  </a:txBody>
                  <a:tcPr marL="91459" marR="91459" marT="45700" marB="45700"/>
                </a:tc>
                <a:tc>
                  <a:txBody>
                    <a:bodyPr/>
                    <a:lstStyle/>
                    <a:p>
                      <a:pPr algn="ctr"/>
                      <a:r>
                        <a:rPr lang="en-US" altLang="zh-CN" sz="1800" b="1" dirty="0" smtClean="0"/>
                        <a:t>c2</a:t>
                      </a:r>
                      <a:endParaRPr lang="zh-CN" altLang="en-US" sz="1800" b="1" dirty="0"/>
                    </a:p>
                  </a:txBody>
                  <a:tcPr marL="91459" marR="91459" marT="45700" marB="45700"/>
                </a:tc>
              </a:tr>
              <a:tr h="370681">
                <a:tc>
                  <a:txBody>
                    <a:bodyPr/>
                    <a:lstStyle/>
                    <a:p>
                      <a:pPr algn="ctr"/>
                      <a:r>
                        <a:rPr lang="en-US" altLang="zh-CN" sz="1800" b="1" dirty="0" smtClean="0"/>
                        <a:t>a2</a:t>
                      </a:r>
                      <a:endParaRPr lang="zh-CN" altLang="en-US" sz="1800" b="1" dirty="0"/>
                    </a:p>
                  </a:txBody>
                  <a:tcPr marL="91459" marR="91459" marT="45700" marB="45700"/>
                </a:tc>
                <a:tc>
                  <a:txBody>
                    <a:bodyPr/>
                    <a:lstStyle/>
                    <a:p>
                      <a:pPr algn="ctr"/>
                      <a:r>
                        <a:rPr lang="en-US" altLang="zh-CN" sz="1800" b="1" dirty="0" smtClean="0"/>
                        <a:t>b2</a:t>
                      </a:r>
                      <a:endParaRPr lang="zh-CN" altLang="en-US" sz="1800" b="1" dirty="0"/>
                    </a:p>
                  </a:txBody>
                  <a:tcPr marL="91459" marR="91459" marT="45700" marB="45700"/>
                </a:tc>
                <a:tc>
                  <a:txBody>
                    <a:bodyPr/>
                    <a:lstStyle/>
                    <a:p>
                      <a:pPr algn="ctr"/>
                      <a:r>
                        <a:rPr lang="en-US" altLang="zh-CN" sz="1800" b="1" dirty="0" smtClean="0"/>
                        <a:t>c1</a:t>
                      </a:r>
                      <a:endParaRPr lang="zh-CN" altLang="en-US" sz="1800" b="1" dirty="0"/>
                    </a:p>
                  </a:txBody>
                  <a:tcPr marL="91459" marR="91459" marT="45700" marB="45700"/>
                </a:tc>
              </a:tr>
            </a:tbl>
          </a:graphicData>
        </a:graphic>
      </p:graphicFrame>
      <p:graphicFrame>
        <p:nvGraphicFramePr>
          <p:cNvPr id="10" name="内容占位符 9"/>
          <p:cNvGraphicFramePr>
            <a:graphicFrameLocks noGrp="1"/>
          </p:cNvGraphicFramePr>
          <p:nvPr>
            <p:ph sz="quarter" idx="2"/>
          </p:nvPr>
        </p:nvGraphicFramePr>
        <p:xfrm>
          <a:off x="3851275" y="1412875"/>
          <a:ext cx="4897440" cy="4897440"/>
        </p:xfrm>
        <a:graphic>
          <a:graphicData uri="http://schemas.openxmlformats.org/drawingml/2006/table">
            <a:tbl>
              <a:tblPr firstRow="1" bandRow="1">
                <a:tableStyleId>{5C22544A-7EE6-4342-B048-85BDC9FD1C3A}</a:tableStyleId>
              </a:tblPr>
              <a:tblGrid>
                <a:gridCol w="816240"/>
                <a:gridCol w="816240"/>
                <a:gridCol w="816240"/>
                <a:gridCol w="816240"/>
                <a:gridCol w="816240"/>
                <a:gridCol w="816240"/>
              </a:tblGrid>
              <a:tr h="489744">
                <a:tc>
                  <a:txBody>
                    <a:bodyPr/>
                    <a:lstStyle/>
                    <a:p>
                      <a:pPr algn="ctr"/>
                      <a:r>
                        <a:rPr lang="en-US" altLang="zh-CN" sz="2200" b="1" dirty="0" smtClean="0">
                          <a:solidFill>
                            <a:schemeClr val="tx1"/>
                          </a:solidFill>
                        </a:rPr>
                        <a:t>R.A       </a:t>
                      </a:r>
                      <a:endParaRPr lang="zh-CN" altLang="en-US" sz="2200" b="1" dirty="0">
                        <a:solidFill>
                          <a:schemeClr val="tx1"/>
                        </a:solidFill>
                      </a:endParaRPr>
                    </a:p>
                  </a:txBody>
                  <a:tcPr marL="91457" marR="91457" marT="45728" marB="45728"/>
                </a:tc>
                <a:tc>
                  <a:txBody>
                    <a:bodyPr/>
                    <a:lstStyle/>
                    <a:p>
                      <a:pPr algn="ctr"/>
                      <a:r>
                        <a:rPr lang="en-US" altLang="zh-CN" sz="2200" b="1" dirty="0" smtClean="0">
                          <a:solidFill>
                            <a:schemeClr val="tx1"/>
                          </a:solidFill>
                        </a:rPr>
                        <a:t>R.B</a:t>
                      </a:r>
                      <a:endParaRPr lang="zh-CN" altLang="en-US" sz="2200" b="1" dirty="0">
                        <a:solidFill>
                          <a:schemeClr val="tx1"/>
                        </a:solidFill>
                      </a:endParaRPr>
                    </a:p>
                  </a:txBody>
                  <a:tcPr marL="91457" marR="91457" marT="45728" marB="45728"/>
                </a:tc>
                <a:tc>
                  <a:txBody>
                    <a:bodyPr/>
                    <a:lstStyle/>
                    <a:p>
                      <a:pPr algn="ctr"/>
                      <a:r>
                        <a:rPr lang="en-US" altLang="zh-CN" sz="2200" b="1" dirty="0" smtClean="0">
                          <a:solidFill>
                            <a:schemeClr val="tx1"/>
                          </a:solidFill>
                        </a:rPr>
                        <a:t>R.C</a:t>
                      </a:r>
                      <a:endParaRPr lang="zh-CN" altLang="en-US" sz="2200" b="1" dirty="0">
                        <a:solidFill>
                          <a:schemeClr val="tx1"/>
                        </a:solidFill>
                      </a:endParaRPr>
                    </a:p>
                  </a:txBody>
                  <a:tcPr marL="91457" marR="91457" marT="45728" marB="45728"/>
                </a:tc>
                <a:tc>
                  <a:txBody>
                    <a:bodyPr/>
                    <a:lstStyle/>
                    <a:p>
                      <a:pPr algn="ctr"/>
                      <a:r>
                        <a:rPr lang="en-US" altLang="zh-CN" sz="2200" b="1" dirty="0" smtClean="0">
                          <a:solidFill>
                            <a:schemeClr val="tx1"/>
                          </a:solidFill>
                        </a:rPr>
                        <a:t>S.A</a:t>
                      </a:r>
                      <a:endParaRPr lang="zh-CN" altLang="en-US" sz="2200" b="1" dirty="0">
                        <a:solidFill>
                          <a:schemeClr val="tx1"/>
                        </a:solidFill>
                      </a:endParaRPr>
                    </a:p>
                  </a:txBody>
                  <a:tcPr marL="91457" marR="91457" marT="45728" marB="45728"/>
                </a:tc>
                <a:tc>
                  <a:txBody>
                    <a:bodyPr/>
                    <a:lstStyle/>
                    <a:p>
                      <a:pPr algn="ctr"/>
                      <a:r>
                        <a:rPr lang="en-US" altLang="zh-CN" sz="2200" b="1" dirty="0" smtClean="0">
                          <a:solidFill>
                            <a:schemeClr val="tx1"/>
                          </a:solidFill>
                        </a:rPr>
                        <a:t>S.B</a:t>
                      </a:r>
                      <a:endParaRPr lang="zh-CN" altLang="en-US" sz="2200" b="1" dirty="0">
                        <a:solidFill>
                          <a:schemeClr val="tx1"/>
                        </a:solidFill>
                      </a:endParaRPr>
                    </a:p>
                  </a:txBody>
                  <a:tcPr marL="91457" marR="91457" marT="45728" marB="45728"/>
                </a:tc>
                <a:tc>
                  <a:txBody>
                    <a:bodyPr/>
                    <a:lstStyle/>
                    <a:p>
                      <a:pPr algn="ctr"/>
                      <a:r>
                        <a:rPr lang="en-US" altLang="zh-CN" sz="2200" b="1" dirty="0" smtClean="0">
                          <a:solidFill>
                            <a:schemeClr val="tx1"/>
                          </a:solidFill>
                        </a:rPr>
                        <a:t>S.C</a:t>
                      </a:r>
                      <a:endParaRPr lang="zh-CN" altLang="en-US" sz="2200" b="1" dirty="0">
                        <a:solidFill>
                          <a:schemeClr val="tx1"/>
                        </a:solidFill>
                      </a:endParaRPr>
                    </a:p>
                  </a:txBody>
                  <a:tcPr marL="91457" marR="91457" marT="45728" marB="45728"/>
                </a:tc>
              </a:tr>
              <a:tr h="489744">
                <a:tc>
                  <a:txBody>
                    <a:bodyPr/>
                    <a:lstStyle/>
                    <a:p>
                      <a:pPr algn="ctr"/>
                      <a:r>
                        <a:rPr lang="en-US" altLang="zh-CN" sz="2200" b="1" dirty="0" smtClean="0"/>
                        <a:t>a1</a:t>
                      </a:r>
                      <a:endParaRPr lang="zh-CN" altLang="en-US" sz="2200" b="1" dirty="0"/>
                    </a:p>
                  </a:txBody>
                  <a:tcPr marL="91457" marR="91457" marT="45728" marB="45728"/>
                </a:tc>
                <a:tc>
                  <a:txBody>
                    <a:bodyPr/>
                    <a:lstStyle/>
                    <a:p>
                      <a:pPr algn="ctr"/>
                      <a:r>
                        <a:rPr lang="en-US" altLang="zh-CN" sz="2200" b="1" dirty="0" smtClean="0"/>
                        <a:t>b1</a:t>
                      </a:r>
                      <a:endParaRPr lang="zh-CN" altLang="en-US" sz="2200" b="1" dirty="0"/>
                    </a:p>
                  </a:txBody>
                  <a:tcPr marL="91457" marR="91457" marT="45728" marB="45728"/>
                </a:tc>
                <a:tc>
                  <a:txBody>
                    <a:bodyPr/>
                    <a:lstStyle/>
                    <a:p>
                      <a:pPr algn="ctr"/>
                      <a:r>
                        <a:rPr lang="en-US" altLang="zh-CN" sz="2200" b="1" dirty="0" smtClean="0"/>
                        <a:t>c1</a:t>
                      </a:r>
                      <a:endParaRPr lang="zh-CN" altLang="en-US" sz="2200" b="1" dirty="0"/>
                    </a:p>
                  </a:txBody>
                  <a:tcPr marL="91457" marR="91457" marT="45728" marB="45728"/>
                </a:tc>
                <a:tc>
                  <a:txBody>
                    <a:bodyPr/>
                    <a:lstStyle/>
                    <a:p>
                      <a:pPr algn="ctr"/>
                      <a:r>
                        <a:rPr lang="en-US" altLang="zh-CN" sz="2200" b="1" dirty="0" smtClean="0"/>
                        <a:t>a1</a:t>
                      </a:r>
                      <a:endParaRPr lang="zh-CN" altLang="en-US" sz="2200" b="1" dirty="0"/>
                    </a:p>
                  </a:txBody>
                  <a:tcPr marL="91457" marR="91457" marT="45728" marB="45728"/>
                </a:tc>
                <a:tc>
                  <a:txBody>
                    <a:bodyPr/>
                    <a:lstStyle/>
                    <a:p>
                      <a:pPr algn="ctr"/>
                      <a:r>
                        <a:rPr lang="en-US" altLang="zh-CN" sz="2200" b="1" dirty="0" smtClean="0"/>
                        <a:t>b2</a:t>
                      </a:r>
                      <a:endParaRPr lang="zh-CN" altLang="en-US" sz="2200" b="1" dirty="0"/>
                    </a:p>
                  </a:txBody>
                  <a:tcPr marL="91457" marR="91457" marT="45728" marB="45728"/>
                </a:tc>
                <a:tc>
                  <a:txBody>
                    <a:bodyPr/>
                    <a:lstStyle/>
                    <a:p>
                      <a:pPr algn="ctr"/>
                      <a:r>
                        <a:rPr lang="en-US" altLang="zh-CN" sz="2200" b="1" dirty="0" smtClean="0"/>
                        <a:t>c2</a:t>
                      </a:r>
                      <a:endParaRPr lang="zh-CN" altLang="en-US" sz="2200" b="1" dirty="0"/>
                    </a:p>
                  </a:txBody>
                  <a:tcPr marL="91457" marR="91457" marT="45728" marB="45728"/>
                </a:tc>
              </a:tr>
              <a:tr h="489744">
                <a:tc>
                  <a:txBody>
                    <a:bodyPr/>
                    <a:lstStyle/>
                    <a:p>
                      <a:pPr algn="ctr"/>
                      <a:r>
                        <a:rPr lang="en-US" altLang="zh-CN" sz="2200" b="1" dirty="0" smtClean="0"/>
                        <a:t>a1</a:t>
                      </a:r>
                      <a:endParaRPr lang="zh-CN" altLang="en-US" sz="2200" b="1" dirty="0"/>
                    </a:p>
                  </a:txBody>
                  <a:tcPr marL="91457" marR="91457" marT="45728" marB="45728"/>
                </a:tc>
                <a:tc>
                  <a:txBody>
                    <a:bodyPr/>
                    <a:lstStyle/>
                    <a:p>
                      <a:pPr algn="ctr"/>
                      <a:r>
                        <a:rPr lang="en-US" altLang="zh-CN" sz="2200" b="1" dirty="0" smtClean="0"/>
                        <a:t>b1</a:t>
                      </a:r>
                      <a:endParaRPr lang="zh-CN" altLang="en-US" sz="2200" b="1" dirty="0"/>
                    </a:p>
                  </a:txBody>
                  <a:tcPr marL="91457" marR="91457" marT="45728" marB="45728"/>
                </a:tc>
                <a:tc>
                  <a:txBody>
                    <a:bodyPr/>
                    <a:lstStyle/>
                    <a:p>
                      <a:pPr algn="ctr"/>
                      <a:r>
                        <a:rPr lang="en-US" altLang="zh-CN" sz="2200" b="1" dirty="0" smtClean="0"/>
                        <a:t>c1</a:t>
                      </a:r>
                      <a:endParaRPr lang="zh-CN" altLang="en-US" sz="2200" b="1" dirty="0"/>
                    </a:p>
                  </a:txBody>
                  <a:tcPr marL="91457" marR="91457" marT="45728" marB="45728"/>
                </a:tc>
                <a:tc>
                  <a:txBody>
                    <a:bodyPr/>
                    <a:lstStyle/>
                    <a:p>
                      <a:pPr algn="ctr"/>
                      <a:r>
                        <a:rPr lang="en-US" altLang="zh-CN" sz="2200" b="1" dirty="0" smtClean="0"/>
                        <a:t>a1</a:t>
                      </a:r>
                      <a:endParaRPr lang="zh-CN" altLang="en-US" sz="2200" b="1" dirty="0"/>
                    </a:p>
                  </a:txBody>
                  <a:tcPr marL="91457" marR="91457" marT="45728" marB="45728"/>
                </a:tc>
                <a:tc>
                  <a:txBody>
                    <a:bodyPr/>
                    <a:lstStyle/>
                    <a:p>
                      <a:pPr algn="ctr"/>
                      <a:r>
                        <a:rPr lang="en-US" altLang="zh-CN" sz="2200" b="1" dirty="0" smtClean="0"/>
                        <a:t>b3</a:t>
                      </a:r>
                      <a:endParaRPr lang="zh-CN" altLang="en-US" sz="2200" b="1" dirty="0"/>
                    </a:p>
                  </a:txBody>
                  <a:tcPr marL="91457" marR="91457" marT="45728" marB="45728"/>
                </a:tc>
                <a:tc>
                  <a:txBody>
                    <a:bodyPr/>
                    <a:lstStyle/>
                    <a:p>
                      <a:pPr algn="ctr"/>
                      <a:r>
                        <a:rPr lang="en-US" altLang="zh-CN" sz="2200" b="1" dirty="0" smtClean="0"/>
                        <a:t>c2</a:t>
                      </a:r>
                      <a:endParaRPr lang="zh-CN" altLang="en-US" sz="2200" b="1" dirty="0"/>
                    </a:p>
                  </a:txBody>
                  <a:tcPr marL="91457" marR="91457" marT="45728" marB="45728"/>
                </a:tc>
              </a:tr>
              <a:tr h="489744">
                <a:tc>
                  <a:txBody>
                    <a:bodyPr/>
                    <a:lstStyle/>
                    <a:p>
                      <a:pPr algn="ctr"/>
                      <a:r>
                        <a:rPr lang="en-US" altLang="zh-CN" sz="2200" b="1" dirty="0" smtClean="0"/>
                        <a:t>a1</a:t>
                      </a:r>
                      <a:endParaRPr lang="zh-CN" altLang="en-US" sz="2200" b="1" dirty="0"/>
                    </a:p>
                  </a:txBody>
                  <a:tcPr marL="91457" marR="91457" marT="45728" marB="45728"/>
                </a:tc>
                <a:tc>
                  <a:txBody>
                    <a:bodyPr/>
                    <a:lstStyle/>
                    <a:p>
                      <a:pPr algn="ctr"/>
                      <a:r>
                        <a:rPr lang="en-US" altLang="zh-CN" sz="2200" b="1" dirty="0" smtClean="0"/>
                        <a:t>b1</a:t>
                      </a:r>
                      <a:endParaRPr lang="zh-CN" altLang="en-US" sz="2200" b="1" dirty="0"/>
                    </a:p>
                  </a:txBody>
                  <a:tcPr marL="91457" marR="91457" marT="45728" marB="45728"/>
                </a:tc>
                <a:tc>
                  <a:txBody>
                    <a:bodyPr/>
                    <a:lstStyle/>
                    <a:p>
                      <a:pPr algn="ctr"/>
                      <a:r>
                        <a:rPr lang="en-US" altLang="zh-CN" sz="2200" b="1" dirty="0" smtClean="0"/>
                        <a:t>c1</a:t>
                      </a:r>
                      <a:endParaRPr lang="zh-CN" altLang="en-US" sz="2200" b="1" dirty="0"/>
                    </a:p>
                  </a:txBody>
                  <a:tcPr marL="91457" marR="91457" marT="45728" marB="45728"/>
                </a:tc>
                <a:tc>
                  <a:txBody>
                    <a:bodyPr/>
                    <a:lstStyle/>
                    <a:p>
                      <a:pPr algn="ctr"/>
                      <a:r>
                        <a:rPr lang="en-US" altLang="zh-CN" sz="2200" b="1" dirty="0" smtClean="0"/>
                        <a:t>a2</a:t>
                      </a:r>
                      <a:endParaRPr lang="zh-CN" altLang="en-US" sz="2200" b="1" dirty="0"/>
                    </a:p>
                  </a:txBody>
                  <a:tcPr marL="91457" marR="91457" marT="45728" marB="45728"/>
                </a:tc>
                <a:tc>
                  <a:txBody>
                    <a:bodyPr/>
                    <a:lstStyle/>
                    <a:p>
                      <a:pPr algn="ctr"/>
                      <a:r>
                        <a:rPr lang="en-US" altLang="zh-CN" sz="2200" b="1" dirty="0" smtClean="0"/>
                        <a:t>b2</a:t>
                      </a:r>
                      <a:endParaRPr lang="zh-CN" altLang="en-US" sz="2200" b="1" dirty="0"/>
                    </a:p>
                  </a:txBody>
                  <a:tcPr marL="91457" marR="91457" marT="45728" marB="45728"/>
                </a:tc>
                <a:tc>
                  <a:txBody>
                    <a:bodyPr/>
                    <a:lstStyle/>
                    <a:p>
                      <a:pPr algn="ctr"/>
                      <a:r>
                        <a:rPr lang="en-US" altLang="zh-CN" sz="2200" b="1" dirty="0" smtClean="0"/>
                        <a:t>c1</a:t>
                      </a:r>
                      <a:endParaRPr lang="zh-CN" altLang="en-US" sz="2200" b="1" dirty="0"/>
                    </a:p>
                  </a:txBody>
                  <a:tcPr marL="91457" marR="91457" marT="45728" marB="45728"/>
                </a:tc>
              </a:tr>
              <a:tr h="489744">
                <a:tc>
                  <a:txBody>
                    <a:bodyPr/>
                    <a:lstStyle/>
                    <a:p>
                      <a:pPr algn="ctr"/>
                      <a:r>
                        <a:rPr lang="en-US" altLang="zh-CN" sz="2200" b="1" dirty="0" smtClean="0"/>
                        <a:t>a1</a:t>
                      </a:r>
                      <a:endParaRPr lang="zh-CN" altLang="en-US" sz="2200" b="1" dirty="0"/>
                    </a:p>
                  </a:txBody>
                  <a:tcPr marL="91457" marR="91457" marT="45728" marB="45728"/>
                </a:tc>
                <a:tc>
                  <a:txBody>
                    <a:bodyPr/>
                    <a:lstStyle/>
                    <a:p>
                      <a:pPr algn="ctr"/>
                      <a:r>
                        <a:rPr lang="en-US" altLang="zh-CN" sz="2200" b="1" dirty="0" smtClean="0"/>
                        <a:t>b2</a:t>
                      </a:r>
                      <a:endParaRPr lang="zh-CN" altLang="en-US" sz="2200" b="1" dirty="0"/>
                    </a:p>
                  </a:txBody>
                  <a:tcPr marL="91457" marR="91457" marT="45728" marB="45728"/>
                </a:tc>
                <a:tc>
                  <a:txBody>
                    <a:bodyPr/>
                    <a:lstStyle/>
                    <a:p>
                      <a:pPr algn="ctr"/>
                      <a:r>
                        <a:rPr lang="en-US" altLang="zh-CN" sz="2200" b="1" dirty="0" smtClean="0"/>
                        <a:t>c2</a:t>
                      </a:r>
                      <a:endParaRPr lang="zh-CN" altLang="en-US" sz="2200" b="1" dirty="0"/>
                    </a:p>
                  </a:txBody>
                  <a:tcPr marL="91457" marR="91457" marT="45728" marB="45728"/>
                </a:tc>
                <a:tc>
                  <a:txBody>
                    <a:bodyPr/>
                    <a:lstStyle/>
                    <a:p>
                      <a:pPr algn="ctr"/>
                      <a:r>
                        <a:rPr lang="en-US" altLang="zh-CN" sz="2200" b="1" dirty="0" smtClean="0"/>
                        <a:t>a1</a:t>
                      </a:r>
                      <a:endParaRPr lang="zh-CN" altLang="en-US" sz="2200" b="1" dirty="0"/>
                    </a:p>
                  </a:txBody>
                  <a:tcPr marL="91457" marR="91457" marT="45728" marB="45728"/>
                </a:tc>
                <a:tc>
                  <a:txBody>
                    <a:bodyPr/>
                    <a:lstStyle/>
                    <a:p>
                      <a:pPr algn="ctr"/>
                      <a:r>
                        <a:rPr lang="en-US" altLang="zh-CN" sz="2200" b="1" dirty="0" smtClean="0"/>
                        <a:t>b2</a:t>
                      </a:r>
                      <a:endParaRPr lang="zh-CN" altLang="en-US" sz="2200" b="1" dirty="0"/>
                    </a:p>
                  </a:txBody>
                  <a:tcPr marL="91457" marR="91457" marT="45728" marB="45728"/>
                </a:tc>
                <a:tc>
                  <a:txBody>
                    <a:bodyPr/>
                    <a:lstStyle/>
                    <a:p>
                      <a:pPr algn="ctr"/>
                      <a:r>
                        <a:rPr lang="en-US" altLang="zh-CN" sz="2200" b="1" dirty="0" smtClean="0"/>
                        <a:t>c2</a:t>
                      </a:r>
                      <a:endParaRPr lang="zh-CN" altLang="en-US" sz="2200" b="1" dirty="0"/>
                    </a:p>
                  </a:txBody>
                  <a:tcPr marL="91457" marR="91457" marT="45728" marB="45728"/>
                </a:tc>
              </a:tr>
              <a:tr h="489744">
                <a:tc>
                  <a:txBody>
                    <a:bodyPr/>
                    <a:lstStyle/>
                    <a:p>
                      <a:pPr algn="ctr"/>
                      <a:r>
                        <a:rPr lang="en-US" altLang="zh-CN" sz="2200" b="1" dirty="0" smtClean="0"/>
                        <a:t>a1</a:t>
                      </a:r>
                      <a:endParaRPr lang="zh-CN" altLang="en-US" sz="2200" b="1" dirty="0"/>
                    </a:p>
                  </a:txBody>
                  <a:tcPr marL="91457" marR="91457" marT="45728" marB="45728"/>
                </a:tc>
                <a:tc>
                  <a:txBody>
                    <a:bodyPr/>
                    <a:lstStyle/>
                    <a:p>
                      <a:pPr algn="ctr"/>
                      <a:r>
                        <a:rPr lang="en-US" altLang="zh-CN" sz="2200" b="1" dirty="0" smtClean="0"/>
                        <a:t>b2</a:t>
                      </a:r>
                      <a:endParaRPr lang="zh-CN" altLang="en-US" sz="2200" b="1" dirty="0"/>
                    </a:p>
                  </a:txBody>
                  <a:tcPr marL="91457" marR="91457" marT="45728" marB="45728"/>
                </a:tc>
                <a:tc>
                  <a:txBody>
                    <a:bodyPr/>
                    <a:lstStyle/>
                    <a:p>
                      <a:pPr algn="ctr"/>
                      <a:r>
                        <a:rPr lang="en-US" altLang="zh-CN" sz="2200" b="1" dirty="0" smtClean="0"/>
                        <a:t>c2</a:t>
                      </a:r>
                      <a:endParaRPr lang="zh-CN" altLang="en-US" sz="2200" b="1" dirty="0"/>
                    </a:p>
                  </a:txBody>
                  <a:tcPr marL="91457" marR="91457" marT="45728" marB="45728"/>
                </a:tc>
                <a:tc>
                  <a:txBody>
                    <a:bodyPr/>
                    <a:lstStyle/>
                    <a:p>
                      <a:pPr algn="ctr"/>
                      <a:r>
                        <a:rPr lang="en-US" altLang="zh-CN" sz="2200" b="1" dirty="0" smtClean="0"/>
                        <a:t>a1</a:t>
                      </a:r>
                      <a:endParaRPr lang="zh-CN" altLang="en-US" sz="2200" b="1" dirty="0"/>
                    </a:p>
                  </a:txBody>
                  <a:tcPr marL="91457" marR="91457" marT="45728" marB="45728"/>
                </a:tc>
                <a:tc>
                  <a:txBody>
                    <a:bodyPr/>
                    <a:lstStyle/>
                    <a:p>
                      <a:pPr algn="ctr"/>
                      <a:r>
                        <a:rPr lang="en-US" altLang="zh-CN" sz="2200" b="1" dirty="0" smtClean="0"/>
                        <a:t>b3</a:t>
                      </a:r>
                      <a:endParaRPr lang="zh-CN" altLang="en-US" sz="2200" b="1" dirty="0"/>
                    </a:p>
                  </a:txBody>
                  <a:tcPr marL="91457" marR="91457" marT="45728" marB="45728"/>
                </a:tc>
                <a:tc>
                  <a:txBody>
                    <a:bodyPr/>
                    <a:lstStyle/>
                    <a:p>
                      <a:pPr algn="ctr"/>
                      <a:r>
                        <a:rPr lang="en-US" altLang="zh-CN" sz="2200" b="1" dirty="0" smtClean="0"/>
                        <a:t>c2</a:t>
                      </a:r>
                      <a:endParaRPr lang="zh-CN" altLang="en-US" sz="2200" b="1" dirty="0"/>
                    </a:p>
                  </a:txBody>
                  <a:tcPr marL="91457" marR="91457" marT="45728" marB="45728"/>
                </a:tc>
              </a:tr>
              <a:tr h="489744">
                <a:tc>
                  <a:txBody>
                    <a:bodyPr/>
                    <a:lstStyle/>
                    <a:p>
                      <a:pPr algn="ctr"/>
                      <a:r>
                        <a:rPr lang="en-US" altLang="zh-CN" sz="2200" b="1" dirty="0" smtClean="0"/>
                        <a:t>a1</a:t>
                      </a:r>
                      <a:endParaRPr lang="zh-CN" altLang="en-US" sz="2200" b="1" dirty="0"/>
                    </a:p>
                  </a:txBody>
                  <a:tcPr marL="91457" marR="91457" marT="45728" marB="45728"/>
                </a:tc>
                <a:tc>
                  <a:txBody>
                    <a:bodyPr/>
                    <a:lstStyle/>
                    <a:p>
                      <a:pPr algn="ctr"/>
                      <a:r>
                        <a:rPr lang="en-US" altLang="zh-CN" sz="2200" b="1" dirty="0" smtClean="0"/>
                        <a:t>b2</a:t>
                      </a:r>
                      <a:endParaRPr lang="zh-CN" altLang="en-US" sz="2200" b="1" dirty="0"/>
                    </a:p>
                  </a:txBody>
                  <a:tcPr marL="91457" marR="91457" marT="45728" marB="45728"/>
                </a:tc>
                <a:tc>
                  <a:txBody>
                    <a:bodyPr/>
                    <a:lstStyle/>
                    <a:p>
                      <a:pPr algn="ctr"/>
                      <a:r>
                        <a:rPr lang="en-US" altLang="zh-CN" sz="2200" b="1" dirty="0" smtClean="0"/>
                        <a:t>c2</a:t>
                      </a:r>
                      <a:endParaRPr lang="zh-CN" altLang="en-US" sz="2200" b="1" dirty="0"/>
                    </a:p>
                  </a:txBody>
                  <a:tcPr marL="91457" marR="91457" marT="45728" marB="45728"/>
                </a:tc>
                <a:tc>
                  <a:txBody>
                    <a:bodyPr/>
                    <a:lstStyle/>
                    <a:p>
                      <a:pPr algn="ctr"/>
                      <a:r>
                        <a:rPr lang="en-US" altLang="zh-CN" sz="2200" b="1" dirty="0" smtClean="0"/>
                        <a:t>a2</a:t>
                      </a:r>
                      <a:endParaRPr lang="zh-CN" altLang="en-US" sz="2200" b="1" dirty="0"/>
                    </a:p>
                  </a:txBody>
                  <a:tcPr marL="91457" marR="91457" marT="45728" marB="45728"/>
                </a:tc>
                <a:tc>
                  <a:txBody>
                    <a:bodyPr/>
                    <a:lstStyle/>
                    <a:p>
                      <a:pPr algn="ctr"/>
                      <a:r>
                        <a:rPr lang="en-US" altLang="zh-CN" sz="2200" b="1" dirty="0" smtClean="0"/>
                        <a:t>b2</a:t>
                      </a:r>
                      <a:endParaRPr lang="zh-CN" altLang="en-US" sz="2200" b="1" dirty="0"/>
                    </a:p>
                  </a:txBody>
                  <a:tcPr marL="91457" marR="91457" marT="45728" marB="45728"/>
                </a:tc>
                <a:tc>
                  <a:txBody>
                    <a:bodyPr/>
                    <a:lstStyle/>
                    <a:p>
                      <a:pPr algn="ctr"/>
                      <a:r>
                        <a:rPr lang="en-US" altLang="zh-CN" sz="2200" b="1" dirty="0" smtClean="0"/>
                        <a:t>c1</a:t>
                      </a:r>
                      <a:endParaRPr lang="zh-CN" altLang="en-US" sz="2200" b="1" dirty="0"/>
                    </a:p>
                  </a:txBody>
                  <a:tcPr marL="91457" marR="91457" marT="45728" marB="45728"/>
                </a:tc>
              </a:tr>
              <a:tr h="489744">
                <a:tc>
                  <a:txBody>
                    <a:bodyPr/>
                    <a:lstStyle/>
                    <a:p>
                      <a:pPr algn="ctr"/>
                      <a:r>
                        <a:rPr lang="en-US" altLang="zh-CN" sz="2200" b="1" dirty="0" smtClean="0"/>
                        <a:t>a2</a:t>
                      </a:r>
                      <a:endParaRPr lang="zh-CN" altLang="en-US" sz="2200" b="1" dirty="0"/>
                    </a:p>
                  </a:txBody>
                  <a:tcPr marL="91457" marR="91457" marT="45728" marB="45728"/>
                </a:tc>
                <a:tc>
                  <a:txBody>
                    <a:bodyPr/>
                    <a:lstStyle/>
                    <a:p>
                      <a:pPr algn="ctr"/>
                      <a:r>
                        <a:rPr lang="en-US" altLang="zh-CN" sz="2200" b="1" dirty="0" smtClean="0"/>
                        <a:t>b2</a:t>
                      </a:r>
                      <a:endParaRPr lang="zh-CN" altLang="en-US" sz="2200" b="1" dirty="0"/>
                    </a:p>
                  </a:txBody>
                  <a:tcPr marL="91457" marR="91457" marT="45728" marB="45728"/>
                </a:tc>
                <a:tc>
                  <a:txBody>
                    <a:bodyPr/>
                    <a:lstStyle/>
                    <a:p>
                      <a:pPr algn="ctr"/>
                      <a:r>
                        <a:rPr lang="en-US" altLang="zh-CN" sz="2200" b="1" dirty="0" smtClean="0"/>
                        <a:t>c1</a:t>
                      </a:r>
                      <a:endParaRPr lang="zh-CN" altLang="en-US" sz="2200" b="1" dirty="0"/>
                    </a:p>
                  </a:txBody>
                  <a:tcPr marL="91457" marR="91457" marT="45728" marB="45728"/>
                </a:tc>
                <a:tc>
                  <a:txBody>
                    <a:bodyPr/>
                    <a:lstStyle/>
                    <a:p>
                      <a:pPr algn="ctr"/>
                      <a:r>
                        <a:rPr lang="en-US" altLang="zh-CN" sz="2200" b="1" dirty="0" smtClean="0"/>
                        <a:t>a1</a:t>
                      </a:r>
                      <a:endParaRPr lang="zh-CN" altLang="en-US" sz="2200" b="1" dirty="0"/>
                    </a:p>
                  </a:txBody>
                  <a:tcPr marL="91457" marR="91457" marT="45728" marB="45728"/>
                </a:tc>
                <a:tc>
                  <a:txBody>
                    <a:bodyPr/>
                    <a:lstStyle/>
                    <a:p>
                      <a:pPr algn="ctr"/>
                      <a:r>
                        <a:rPr lang="en-US" altLang="zh-CN" sz="2200" b="1" dirty="0" smtClean="0"/>
                        <a:t>b2</a:t>
                      </a:r>
                      <a:endParaRPr lang="zh-CN" altLang="en-US" sz="2200" b="1" dirty="0"/>
                    </a:p>
                  </a:txBody>
                  <a:tcPr marL="91457" marR="91457" marT="45728" marB="45728"/>
                </a:tc>
                <a:tc>
                  <a:txBody>
                    <a:bodyPr/>
                    <a:lstStyle/>
                    <a:p>
                      <a:pPr algn="ctr"/>
                      <a:r>
                        <a:rPr lang="en-US" altLang="zh-CN" sz="2200" b="1" dirty="0" smtClean="0"/>
                        <a:t>c2</a:t>
                      </a:r>
                      <a:endParaRPr lang="zh-CN" altLang="en-US" sz="2200" b="1" dirty="0"/>
                    </a:p>
                  </a:txBody>
                  <a:tcPr marL="91457" marR="91457" marT="45728" marB="45728"/>
                </a:tc>
              </a:tr>
              <a:tr h="489744">
                <a:tc>
                  <a:txBody>
                    <a:bodyPr/>
                    <a:lstStyle/>
                    <a:p>
                      <a:pPr algn="ctr"/>
                      <a:r>
                        <a:rPr lang="en-US" altLang="zh-CN" sz="2200" b="1" dirty="0" smtClean="0"/>
                        <a:t>a2</a:t>
                      </a:r>
                      <a:endParaRPr lang="zh-CN" altLang="en-US" sz="2200" b="1" dirty="0"/>
                    </a:p>
                  </a:txBody>
                  <a:tcPr marL="91457" marR="91457" marT="45728" marB="45728"/>
                </a:tc>
                <a:tc>
                  <a:txBody>
                    <a:bodyPr/>
                    <a:lstStyle/>
                    <a:p>
                      <a:pPr algn="ctr"/>
                      <a:r>
                        <a:rPr lang="en-US" altLang="zh-CN" sz="2200" b="1" dirty="0" smtClean="0"/>
                        <a:t>b2</a:t>
                      </a:r>
                      <a:endParaRPr lang="zh-CN" altLang="en-US" sz="2200" b="1" dirty="0"/>
                    </a:p>
                  </a:txBody>
                  <a:tcPr marL="91457" marR="91457" marT="45728" marB="45728"/>
                </a:tc>
                <a:tc>
                  <a:txBody>
                    <a:bodyPr/>
                    <a:lstStyle/>
                    <a:p>
                      <a:pPr algn="ctr"/>
                      <a:r>
                        <a:rPr lang="en-US" altLang="zh-CN" sz="2200" b="1" dirty="0" smtClean="0"/>
                        <a:t>c1</a:t>
                      </a:r>
                      <a:endParaRPr lang="zh-CN" altLang="en-US" sz="2200" b="1" dirty="0"/>
                    </a:p>
                  </a:txBody>
                  <a:tcPr marL="91457" marR="91457" marT="45728" marB="45728"/>
                </a:tc>
                <a:tc>
                  <a:txBody>
                    <a:bodyPr/>
                    <a:lstStyle/>
                    <a:p>
                      <a:pPr algn="ctr"/>
                      <a:r>
                        <a:rPr lang="en-US" altLang="zh-CN" sz="2200" b="1" dirty="0" smtClean="0"/>
                        <a:t>a1</a:t>
                      </a:r>
                      <a:endParaRPr lang="zh-CN" altLang="en-US" sz="2200" b="1" dirty="0"/>
                    </a:p>
                  </a:txBody>
                  <a:tcPr marL="91457" marR="91457" marT="45728" marB="45728"/>
                </a:tc>
                <a:tc>
                  <a:txBody>
                    <a:bodyPr/>
                    <a:lstStyle/>
                    <a:p>
                      <a:pPr algn="ctr"/>
                      <a:r>
                        <a:rPr lang="en-US" altLang="zh-CN" sz="2200" b="1" dirty="0" smtClean="0"/>
                        <a:t>b3</a:t>
                      </a:r>
                      <a:endParaRPr lang="zh-CN" altLang="en-US" sz="2200" b="1" dirty="0"/>
                    </a:p>
                  </a:txBody>
                  <a:tcPr marL="91457" marR="91457" marT="45728" marB="45728"/>
                </a:tc>
                <a:tc>
                  <a:txBody>
                    <a:bodyPr/>
                    <a:lstStyle/>
                    <a:p>
                      <a:pPr algn="ctr"/>
                      <a:r>
                        <a:rPr lang="en-US" altLang="zh-CN" sz="2200" b="1" dirty="0" smtClean="0"/>
                        <a:t>c2</a:t>
                      </a:r>
                      <a:endParaRPr lang="zh-CN" altLang="en-US" sz="2200" b="1" dirty="0"/>
                    </a:p>
                  </a:txBody>
                  <a:tcPr marL="91457" marR="91457" marT="45728" marB="45728"/>
                </a:tc>
              </a:tr>
              <a:tr h="489744">
                <a:tc>
                  <a:txBody>
                    <a:bodyPr/>
                    <a:lstStyle/>
                    <a:p>
                      <a:pPr algn="ctr"/>
                      <a:r>
                        <a:rPr lang="en-US" altLang="zh-CN" sz="2200" b="1" dirty="0" smtClean="0"/>
                        <a:t>a2</a:t>
                      </a:r>
                      <a:endParaRPr lang="zh-CN" altLang="en-US" sz="2200" b="1" dirty="0"/>
                    </a:p>
                  </a:txBody>
                  <a:tcPr marL="91457" marR="91457" marT="45728" marB="45728"/>
                </a:tc>
                <a:tc>
                  <a:txBody>
                    <a:bodyPr/>
                    <a:lstStyle/>
                    <a:p>
                      <a:pPr algn="ctr"/>
                      <a:r>
                        <a:rPr lang="en-US" altLang="zh-CN" sz="2200" b="1" dirty="0" smtClean="0"/>
                        <a:t>b2</a:t>
                      </a:r>
                      <a:endParaRPr lang="zh-CN" altLang="en-US" sz="2200" b="1" dirty="0"/>
                    </a:p>
                  </a:txBody>
                  <a:tcPr marL="91457" marR="91457" marT="45728" marB="45728"/>
                </a:tc>
                <a:tc>
                  <a:txBody>
                    <a:bodyPr/>
                    <a:lstStyle/>
                    <a:p>
                      <a:pPr algn="ctr"/>
                      <a:r>
                        <a:rPr lang="en-US" altLang="zh-CN" sz="2200" b="1" dirty="0" smtClean="0"/>
                        <a:t>c1</a:t>
                      </a:r>
                      <a:endParaRPr lang="zh-CN" altLang="en-US" sz="2200" b="1" dirty="0"/>
                    </a:p>
                  </a:txBody>
                  <a:tcPr marL="91457" marR="91457" marT="45728" marB="45728"/>
                </a:tc>
                <a:tc>
                  <a:txBody>
                    <a:bodyPr/>
                    <a:lstStyle/>
                    <a:p>
                      <a:pPr algn="ctr"/>
                      <a:r>
                        <a:rPr lang="en-US" altLang="zh-CN" sz="2200" b="1" dirty="0" smtClean="0"/>
                        <a:t>a2</a:t>
                      </a:r>
                      <a:endParaRPr lang="zh-CN" altLang="en-US" sz="2200" b="1" dirty="0"/>
                    </a:p>
                  </a:txBody>
                  <a:tcPr marL="91457" marR="91457" marT="45728" marB="45728"/>
                </a:tc>
                <a:tc>
                  <a:txBody>
                    <a:bodyPr/>
                    <a:lstStyle/>
                    <a:p>
                      <a:pPr algn="ctr"/>
                      <a:r>
                        <a:rPr lang="en-US" altLang="zh-CN" sz="2200" b="1" dirty="0" smtClean="0"/>
                        <a:t>b2</a:t>
                      </a:r>
                      <a:endParaRPr lang="zh-CN" altLang="en-US" sz="2200" b="1" dirty="0"/>
                    </a:p>
                  </a:txBody>
                  <a:tcPr marL="91457" marR="91457" marT="45728" marB="45728"/>
                </a:tc>
                <a:tc>
                  <a:txBody>
                    <a:bodyPr/>
                    <a:lstStyle/>
                    <a:p>
                      <a:pPr algn="ctr"/>
                      <a:r>
                        <a:rPr lang="en-US" altLang="zh-CN" sz="2200" b="1" dirty="0" smtClean="0"/>
                        <a:t>c1</a:t>
                      </a:r>
                      <a:endParaRPr lang="zh-CN" altLang="en-US" sz="2200" b="1" dirty="0"/>
                    </a:p>
                  </a:txBody>
                  <a:tcPr marL="91457" marR="91457" marT="45728" marB="45728"/>
                </a:tc>
              </a:tr>
            </a:tbl>
          </a:graphicData>
        </a:graphic>
      </p:graphicFrame>
      <p:graphicFrame>
        <p:nvGraphicFramePr>
          <p:cNvPr id="9" name="内容占位符 8"/>
          <p:cNvGraphicFramePr>
            <a:graphicFrameLocks noGrp="1"/>
          </p:cNvGraphicFramePr>
          <p:nvPr>
            <p:ph sz="quarter" idx="3"/>
          </p:nvPr>
        </p:nvGraphicFramePr>
        <p:xfrm>
          <a:off x="395288" y="4292600"/>
          <a:ext cx="3168651" cy="1484312"/>
        </p:xfrm>
        <a:graphic>
          <a:graphicData uri="http://schemas.openxmlformats.org/drawingml/2006/table">
            <a:tbl>
              <a:tblPr firstRow="1" bandRow="1">
                <a:tableStyleId>{5C22544A-7EE6-4342-B048-85BDC9FD1C3A}</a:tableStyleId>
              </a:tblPr>
              <a:tblGrid>
                <a:gridCol w="1056217"/>
                <a:gridCol w="1056217"/>
                <a:gridCol w="1056217"/>
              </a:tblGrid>
              <a:tr h="371078">
                <a:tc>
                  <a:txBody>
                    <a:bodyPr/>
                    <a:lstStyle/>
                    <a:p>
                      <a:pPr algn="ctr"/>
                      <a:r>
                        <a:rPr lang="en-US" altLang="zh-CN" sz="1800" b="1" dirty="0" smtClean="0">
                          <a:solidFill>
                            <a:schemeClr val="tx1"/>
                          </a:solidFill>
                        </a:rPr>
                        <a:t>A</a:t>
                      </a:r>
                      <a:endParaRPr lang="zh-CN" altLang="en-US" sz="1800" b="1" dirty="0">
                        <a:solidFill>
                          <a:schemeClr val="tx1"/>
                        </a:solidFill>
                      </a:endParaRPr>
                    </a:p>
                  </a:txBody>
                  <a:tcPr marL="91449" marR="91449" marT="45749" marB="45749"/>
                </a:tc>
                <a:tc>
                  <a:txBody>
                    <a:bodyPr/>
                    <a:lstStyle/>
                    <a:p>
                      <a:pPr algn="ctr"/>
                      <a:r>
                        <a:rPr lang="en-US" altLang="zh-CN" sz="1800" b="1" dirty="0" smtClean="0">
                          <a:solidFill>
                            <a:schemeClr val="tx1"/>
                          </a:solidFill>
                        </a:rPr>
                        <a:t>B</a:t>
                      </a:r>
                      <a:endParaRPr lang="zh-CN" altLang="en-US" sz="1800" b="1" dirty="0">
                        <a:solidFill>
                          <a:schemeClr val="tx1"/>
                        </a:solidFill>
                      </a:endParaRPr>
                    </a:p>
                  </a:txBody>
                  <a:tcPr marL="91449" marR="91449" marT="45749" marB="45749"/>
                </a:tc>
                <a:tc>
                  <a:txBody>
                    <a:bodyPr/>
                    <a:lstStyle/>
                    <a:p>
                      <a:pPr algn="ctr"/>
                      <a:r>
                        <a:rPr lang="en-US" altLang="zh-CN" sz="1800" b="1" dirty="0" smtClean="0">
                          <a:solidFill>
                            <a:schemeClr val="tx1"/>
                          </a:solidFill>
                        </a:rPr>
                        <a:t>C</a:t>
                      </a:r>
                      <a:endParaRPr lang="zh-CN" altLang="en-US" sz="1800" b="1" dirty="0">
                        <a:solidFill>
                          <a:schemeClr val="tx1"/>
                        </a:solidFill>
                      </a:endParaRPr>
                    </a:p>
                  </a:txBody>
                  <a:tcPr marL="91449" marR="91449" marT="45749" marB="45749"/>
                </a:tc>
              </a:tr>
              <a:tr h="371078">
                <a:tc>
                  <a:txBody>
                    <a:bodyPr/>
                    <a:lstStyle/>
                    <a:p>
                      <a:pPr algn="ctr"/>
                      <a:r>
                        <a:rPr lang="en-US" altLang="zh-CN" sz="1800" b="1" dirty="0" smtClean="0"/>
                        <a:t>a1</a:t>
                      </a:r>
                      <a:endParaRPr lang="zh-CN" altLang="en-US" sz="1800" b="1" dirty="0"/>
                    </a:p>
                  </a:txBody>
                  <a:tcPr marL="91449" marR="91449" marT="45749" marB="45749"/>
                </a:tc>
                <a:tc>
                  <a:txBody>
                    <a:bodyPr/>
                    <a:lstStyle/>
                    <a:p>
                      <a:pPr algn="ctr"/>
                      <a:r>
                        <a:rPr lang="en-US" altLang="zh-CN" sz="1800" b="1" dirty="0" smtClean="0"/>
                        <a:t>b2</a:t>
                      </a:r>
                      <a:endParaRPr lang="zh-CN" altLang="en-US" sz="1800" b="1" dirty="0"/>
                    </a:p>
                  </a:txBody>
                  <a:tcPr marL="91449" marR="91449" marT="45749" marB="45749"/>
                </a:tc>
                <a:tc>
                  <a:txBody>
                    <a:bodyPr/>
                    <a:lstStyle/>
                    <a:p>
                      <a:pPr algn="ctr"/>
                      <a:r>
                        <a:rPr lang="en-US" altLang="zh-CN" sz="1800" b="1" dirty="0" smtClean="0"/>
                        <a:t>c2</a:t>
                      </a:r>
                      <a:endParaRPr lang="zh-CN" altLang="en-US" sz="1800" b="1" dirty="0"/>
                    </a:p>
                  </a:txBody>
                  <a:tcPr marL="91449" marR="91449" marT="45749" marB="45749"/>
                </a:tc>
              </a:tr>
              <a:tr h="371078">
                <a:tc>
                  <a:txBody>
                    <a:bodyPr/>
                    <a:lstStyle/>
                    <a:p>
                      <a:pPr algn="ctr"/>
                      <a:r>
                        <a:rPr lang="en-US" altLang="zh-CN" sz="1800" b="1" dirty="0" smtClean="0"/>
                        <a:t>a1</a:t>
                      </a:r>
                      <a:endParaRPr lang="zh-CN" altLang="en-US" sz="1800" b="1" dirty="0"/>
                    </a:p>
                  </a:txBody>
                  <a:tcPr marL="91449" marR="91449" marT="45749" marB="45749"/>
                </a:tc>
                <a:tc>
                  <a:txBody>
                    <a:bodyPr/>
                    <a:lstStyle/>
                    <a:p>
                      <a:pPr algn="ctr"/>
                      <a:r>
                        <a:rPr lang="en-US" altLang="zh-CN" sz="1800" b="1" dirty="0" smtClean="0"/>
                        <a:t>b3</a:t>
                      </a:r>
                      <a:endParaRPr lang="zh-CN" altLang="en-US" sz="1800" b="1" dirty="0"/>
                    </a:p>
                  </a:txBody>
                  <a:tcPr marL="91449" marR="91449" marT="45749" marB="45749"/>
                </a:tc>
                <a:tc>
                  <a:txBody>
                    <a:bodyPr/>
                    <a:lstStyle/>
                    <a:p>
                      <a:pPr algn="ctr"/>
                      <a:r>
                        <a:rPr lang="en-US" altLang="zh-CN" sz="1800" b="1" dirty="0" smtClean="0"/>
                        <a:t>c2</a:t>
                      </a:r>
                      <a:endParaRPr lang="zh-CN" altLang="en-US" sz="1800" b="1" dirty="0"/>
                    </a:p>
                  </a:txBody>
                  <a:tcPr marL="91449" marR="91449" marT="45749" marB="45749"/>
                </a:tc>
              </a:tr>
              <a:tr h="371078">
                <a:tc>
                  <a:txBody>
                    <a:bodyPr/>
                    <a:lstStyle/>
                    <a:p>
                      <a:pPr algn="ctr"/>
                      <a:r>
                        <a:rPr lang="en-US" altLang="zh-CN" sz="1800" b="1" dirty="0" smtClean="0"/>
                        <a:t>a2</a:t>
                      </a:r>
                      <a:endParaRPr lang="zh-CN" altLang="en-US" sz="1800" b="1" dirty="0"/>
                    </a:p>
                  </a:txBody>
                  <a:tcPr marL="91449" marR="91449" marT="45749" marB="45749"/>
                </a:tc>
                <a:tc>
                  <a:txBody>
                    <a:bodyPr/>
                    <a:lstStyle/>
                    <a:p>
                      <a:pPr algn="ctr"/>
                      <a:r>
                        <a:rPr lang="en-US" altLang="zh-CN" sz="1800" b="1" dirty="0" smtClean="0"/>
                        <a:t>b2</a:t>
                      </a:r>
                      <a:endParaRPr lang="zh-CN" altLang="en-US" sz="1800" b="1" dirty="0"/>
                    </a:p>
                  </a:txBody>
                  <a:tcPr marL="91449" marR="91449" marT="45749" marB="45749"/>
                </a:tc>
                <a:tc>
                  <a:txBody>
                    <a:bodyPr/>
                    <a:lstStyle/>
                    <a:p>
                      <a:pPr algn="ctr"/>
                      <a:r>
                        <a:rPr lang="en-US" altLang="zh-CN" sz="1800" b="1" dirty="0" smtClean="0"/>
                        <a:t>c1</a:t>
                      </a:r>
                      <a:endParaRPr lang="zh-CN" altLang="en-US" sz="1800" b="1" dirty="0"/>
                    </a:p>
                  </a:txBody>
                  <a:tcPr marL="91449" marR="91449" marT="45749" marB="45749"/>
                </a:tc>
              </a:tr>
            </a:tbl>
          </a:graphicData>
        </a:graphic>
      </p:graphicFrame>
      <p:sp>
        <p:nvSpPr>
          <p:cNvPr id="76926" name="TextBox 7"/>
          <p:cNvSpPr txBox="1">
            <a:spLocks noChangeArrowheads="1"/>
          </p:cNvSpPr>
          <p:nvPr/>
        </p:nvSpPr>
        <p:spPr bwMode="auto">
          <a:xfrm>
            <a:off x="611188" y="1671638"/>
            <a:ext cx="388937"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a:t>R</a:t>
            </a:r>
            <a:endParaRPr lang="zh-CN" altLang="en-US" sz="2200" b="1"/>
          </a:p>
        </p:txBody>
      </p:sp>
      <p:sp>
        <p:nvSpPr>
          <p:cNvPr id="76927" name="TextBox 10"/>
          <p:cNvSpPr txBox="1">
            <a:spLocks noChangeArrowheads="1"/>
          </p:cNvSpPr>
          <p:nvPr/>
        </p:nvSpPr>
        <p:spPr bwMode="auto">
          <a:xfrm>
            <a:off x="611188" y="3790950"/>
            <a:ext cx="3714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a:t>S</a:t>
            </a:r>
            <a:endParaRPr lang="zh-CN" altLang="en-US" sz="2200" b="1"/>
          </a:p>
        </p:txBody>
      </p:sp>
      <p:sp>
        <p:nvSpPr>
          <p:cNvPr id="76928" name="TextBox 11"/>
          <p:cNvSpPr txBox="1">
            <a:spLocks noChangeArrowheads="1"/>
          </p:cNvSpPr>
          <p:nvPr/>
        </p:nvSpPr>
        <p:spPr bwMode="auto">
          <a:xfrm>
            <a:off x="3765150" y="1084442"/>
            <a:ext cx="1093787"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dirty="0"/>
              <a:t>R × S </a:t>
            </a:r>
            <a:endParaRPr lang="zh-CN" altLang="en-US" sz="2200" b="1" dirty="0"/>
          </a:p>
        </p:txBody>
      </p:sp>
      <p:sp>
        <p:nvSpPr>
          <p:cNvPr id="2" name="矩形 1"/>
          <p:cNvSpPr/>
          <p:nvPr/>
        </p:nvSpPr>
        <p:spPr>
          <a:xfrm>
            <a:off x="3851275" y="1939895"/>
            <a:ext cx="2446975" cy="142714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72821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en-US" altLang="zh-CN" sz="3600" dirty="0" smtClean="0"/>
              <a:t> </a:t>
            </a:r>
            <a:r>
              <a:rPr lang="zh-CN" altLang="en-US" sz="3600" dirty="0" smtClean="0"/>
              <a:t>关系代数</a:t>
            </a:r>
          </a:p>
        </p:txBody>
      </p:sp>
      <p:sp>
        <p:nvSpPr>
          <p:cNvPr id="77827" name="Rectangle 3"/>
          <p:cNvSpPr>
            <a:spLocks noGrp="1" noChangeArrowheads="1"/>
          </p:cNvSpPr>
          <p:nvPr>
            <p:ph type="body" idx="1"/>
          </p:nvPr>
        </p:nvSpPr>
        <p:spPr/>
        <p:txBody>
          <a:bodyPr/>
          <a:lstStyle/>
          <a:p>
            <a:pPr marL="700088" indent="-514350">
              <a:lnSpc>
                <a:spcPct val="180000"/>
              </a:lnSpc>
              <a:buAutoNum type="arabicPeriod"/>
            </a:pPr>
            <a:r>
              <a:rPr lang="zh-CN" altLang="en-US" dirty="0" smtClean="0">
                <a:solidFill>
                  <a:srgbClr val="00B050"/>
                </a:solidFill>
              </a:rPr>
              <a:t>传统</a:t>
            </a:r>
            <a:r>
              <a:rPr lang="zh-CN" altLang="en-US" dirty="0">
                <a:solidFill>
                  <a:srgbClr val="00B050"/>
                </a:solidFill>
              </a:rPr>
              <a:t>的集合</a:t>
            </a:r>
            <a:r>
              <a:rPr lang="zh-CN" altLang="en-US" dirty="0" smtClean="0">
                <a:solidFill>
                  <a:srgbClr val="00B050"/>
                </a:solidFill>
              </a:rPr>
              <a:t>运算</a:t>
            </a:r>
            <a:endParaRPr lang="en-US" altLang="zh-CN" dirty="0" smtClean="0">
              <a:solidFill>
                <a:srgbClr val="00B050"/>
              </a:solidFill>
            </a:endParaRPr>
          </a:p>
          <a:p>
            <a:pPr lvl="1"/>
            <a:r>
              <a:rPr lang="zh-CN" altLang="en-US" dirty="0" smtClean="0"/>
              <a:t>并     </a:t>
            </a:r>
            <a:r>
              <a:rPr lang="zh-CN" altLang="zh-CN" b="1" kern="100" dirty="0" smtClean="0">
                <a:ea typeface="宋体"/>
                <a:cs typeface="Times New Roman"/>
              </a:rPr>
              <a:t>∪</a:t>
            </a:r>
            <a:endParaRPr lang="en-US" altLang="zh-CN" dirty="0"/>
          </a:p>
          <a:p>
            <a:pPr lvl="1"/>
            <a:r>
              <a:rPr lang="zh-CN" altLang="en-US" dirty="0" smtClean="0"/>
              <a:t>差      </a:t>
            </a:r>
            <a:r>
              <a:rPr lang="en-US" altLang="zh-CN" b="1" kern="100" dirty="0" smtClean="0">
                <a:ea typeface="宋体"/>
                <a:cs typeface="Times New Roman"/>
              </a:rPr>
              <a:t>-</a:t>
            </a:r>
            <a:endParaRPr lang="en-US" altLang="zh-CN" dirty="0"/>
          </a:p>
          <a:p>
            <a:pPr lvl="1"/>
            <a:r>
              <a:rPr lang="zh-CN" altLang="en-US" dirty="0" smtClean="0"/>
              <a:t>交     </a:t>
            </a:r>
            <a:r>
              <a:rPr lang="zh-CN" altLang="zh-CN" b="1" kern="100" dirty="0" smtClean="0">
                <a:latin typeface="Times New Roman"/>
                <a:cs typeface="Times New Roman"/>
              </a:rPr>
              <a:t>∩</a:t>
            </a:r>
            <a:endParaRPr lang="en-US" altLang="zh-CN" dirty="0"/>
          </a:p>
          <a:p>
            <a:pPr lvl="1"/>
            <a:r>
              <a:rPr lang="zh-CN" altLang="en-US" dirty="0"/>
              <a:t>笛卡尔</a:t>
            </a:r>
            <a:r>
              <a:rPr lang="zh-CN" altLang="en-US" dirty="0" smtClean="0"/>
              <a:t>积   </a:t>
            </a:r>
            <a:r>
              <a:rPr lang="zh-CN" altLang="zh-CN" b="1" kern="100" dirty="0" smtClean="0">
                <a:latin typeface="Times New Roman"/>
                <a:cs typeface="Times New Roman"/>
              </a:rPr>
              <a:t>×</a:t>
            </a:r>
            <a:endParaRPr lang="en-US" altLang="zh-CN" dirty="0"/>
          </a:p>
          <a:p>
            <a:pPr marL="700088" indent="-514350">
              <a:lnSpc>
                <a:spcPct val="180000"/>
              </a:lnSpc>
              <a:buAutoNum type="arabicPeriod"/>
            </a:pPr>
            <a:endParaRPr lang="zh-CN" altLang="en-US" dirty="0">
              <a:solidFill>
                <a:srgbClr val="00B050"/>
              </a:solidFill>
            </a:endParaRPr>
          </a:p>
        </p:txBody>
      </p:sp>
      <p:graphicFrame>
        <p:nvGraphicFramePr>
          <p:cNvPr id="4" name="内容占位符 6"/>
          <p:cNvGraphicFramePr>
            <a:graphicFrameLocks/>
          </p:cNvGraphicFramePr>
          <p:nvPr>
            <p:extLst>
              <p:ext uri="{D42A27DB-BD31-4B8C-83A1-F6EECF244321}">
                <p14:modId xmlns:p14="http://schemas.microsoft.com/office/powerpoint/2010/main" val="1951963648"/>
              </p:ext>
            </p:extLst>
          </p:nvPr>
        </p:nvGraphicFramePr>
        <p:xfrm>
          <a:off x="4932589" y="1867581"/>
          <a:ext cx="4038600" cy="1706640"/>
        </p:xfrm>
        <a:graphic>
          <a:graphicData uri="http://schemas.openxmlformats.org/drawingml/2006/table">
            <a:tbl>
              <a:tblPr firstRow="1" bandRow="1">
                <a:tableStyleId>{5C22544A-7EE6-4342-B048-85BDC9FD1C3A}</a:tableStyleId>
              </a:tblPr>
              <a:tblGrid>
                <a:gridCol w="1346200"/>
                <a:gridCol w="1346200"/>
                <a:gridCol w="1346200"/>
              </a:tblGrid>
              <a:tr h="426641">
                <a:tc>
                  <a:txBody>
                    <a:bodyPr/>
                    <a:lstStyle/>
                    <a:p>
                      <a:pPr algn="ctr"/>
                      <a:r>
                        <a:rPr lang="en-US" altLang="zh-CN" sz="2200" b="1" dirty="0" smtClean="0">
                          <a:solidFill>
                            <a:schemeClr val="tx1"/>
                          </a:solidFill>
                        </a:rPr>
                        <a:t>A</a:t>
                      </a:r>
                      <a:endParaRPr lang="zh-CN" altLang="en-US" sz="2200" b="1" dirty="0">
                        <a:solidFill>
                          <a:schemeClr val="tx1"/>
                        </a:solidFill>
                      </a:endParaRPr>
                    </a:p>
                  </a:txBody>
                  <a:tcPr marT="45690" marB="45690"/>
                </a:tc>
                <a:tc>
                  <a:txBody>
                    <a:bodyPr/>
                    <a:lstStyle/>
                    <a:p>
                      <a:pPr algn="ctr"/>
                      <a:r>
                        <a:rPr lang="en-US" altLang="zh-CN" sz="2200" b="1" dirty="0" smtClean="0">
                          <a:solidFill>
                            <a:schemeClr val="tx1"/>
                          </a:solidFill>
                        </a:rPr>
                        <a:t>B</a:t>
                      </a:r>
                      <a:endParaRPr lang="zh-CN" altLang="en-US" sz="2200" b="1" dirty="0">
                        <a:solidFill>
                          <a:schemeClr val="tx1"/>
                        </a:solidFill>
                      </a:endParaRPr>
                    </a:p>
                  </a:txBody>
                  <a:tcPr marT="45690" marB="45690"/>
                </a:tc>
                <a:tc>
                  <a:txBody>
                    <a:bodyPr/>
                    <a:lstStyle/>
                    <a:p>
                      <a:pPr algn="ctr"/>
                      <a:r>
                        <a:rPr lang="en-US" altLang="zh-CN" sz="2200" b="1" dirty="0" smtClean="0">
                          <a:solidFill>
                            <a:schemeClr val="tx1"/>
                          </a:solidFill>
                        </a:rPr>
                        <a:t>C</a:t>
                      </a:r>
                      <a:endParaRPr lang="zh-CN" altLang="en-US" sz="2200" b="1" dirty="0">
                        <a:solidFill>
                          <a:schemeClr val="tx1"/>
                        </a:solidFill>
                      </a:endParaRPr>
                    </a:p>
                  </a:txBody>
                  <a:tcPr marT="45690" marB="45690"/>
                </a:tc>
              </a:tr>
              <a:tr h="426641">
                <a:tc>
                  <a:txBody>
                    <a:bodyPr/>
                    <a:lstStyle/>
                    <a:p>
                      <a:pPr algn="ctr"/>
                      <a:r>
                        <a:rPr lang="en-US" altLang="zh-CN" sz="2200" b="1" dirty="0" smtClean="0"/>
                        <a:t>a1</a:t>
                      </a:r>
                      <a:endParaRPr lang="zh-CN" altLang="en-US" sz="2200" b="1" dirty="0"/>
                    </a:p>
                  </a:txBody>
                  <a:tcPr marT="45690" marB="45690"/>
                </a:tc>
                <a:tc>
                  <a:txBody>
                    <a:bodyPr/>
                    <a:lstStyle/>
                    <a:p>
                      <a:pPr algn="ctr"/>
                      <a:r>
                        <a:rPr lang="en-US" altLang="zh-CN" sz="2200" b="1" dirty="0" smtClean="0"/>
                        <a:t>b1</a:t>
                      </a:r>
                      <a:endParaRPr lang="zh-CN" altLang="en-US" sz="2200" b="1" dirty="0"/>
                    </a:p>
                  </a:txBody>
                  <a:tcPr marT="45690" marB="45690"/>
                </a:tc>
                <a:tc>
                  <a:txBody>
                    <a:bodyPr/>
                    <a:lstStyle/>
                    <a:p>
                      <a:pPr algn="ctr"/>
                      <a:r>
                        <a:rPr lang="en-US" altLang="zh-CN" sz="2200" b="1" dirty="0" smtClean="0"/>
                        <a:t>c1</a:t>
                      </a:r>
                      <a:endParaRPr lang="zh-CN" altLang="en-US" sz="2200" b="1" dirty="0"/>
                    </a:p>
                  </a:txBody>
                  <a:tcPr marT="45690" marB="45690"/>
                </a:tc>
              </a:tr>
              <a:tr h="426641">
                <a:tc>
                  <a:txBody>
                    <a:bodyPr/>
                    <a:lstStyle/>
                    <a:p>
                      <a:pPr algn="ctr"/>
                      <a:r>
                        <a:rPr lang="en-US" altLang="zh-CN" sz="2200" b="1" dirty="0" smtClean="0"/>
                        <a:t>a1</a:t>
                      </a:r>
                      <a:endParaRPr lang="zh-CN" altLang="en-US" sz="2200" b="1" dirty="0"/>
                    </a:p>
                  </a:txBody>
                  <a:tcPr marT="45690" marB="45690"/>
                </a:tc>
                <a:tc>
                  <a:txBody>
                    <a:bodyPr/>
                    <a:lstStyle/>
                    <a:p>
                      <a:pPr algn="ctr"/>
                      <a:r>
                        <a:rPr lang="en-US" altLang="zh-CN" sz="2200" b="1" dirty="0" smtClean="0"/>
                        <a:t>b2</a:t>
                      </a:r>
                      <a:endParaRPr lang="zh-CN" altLang="en-US" sz="2200" b="1" dirty="0"/>
                    </a:p>
                  </a:txBody>
                  <a:tcPr marT="45690" marB="45690"/>
                </a:tc>
                <a:tc>
                  <a:txBody>
                    <a:bodyPr/>
                    <a:lstStyle/>
                    <a:p>
                      <a:pPr algn="ctr"/>
                      <a:r>
                        <a:rPr lang="en-US" altLang="zh-CN" sz="2200" b="1" dirty="0" smtClean="0"/>
                        <a:t>c2</a:t>
                      </a:r>
                      <a:endParaRPr lang="zh-CN" altLang="en-US" sz="2200" b="1" dirty="0"/>
                    </a:p>
                  </a:txBody>
                  <a:tcPr marT="45690" marB="45690"/>
                </a:tc>
              </a:tr>
              <a:tr h="426641">
                <a:tc>
                  <a:txBody>
                    <a:bodyPr/>
                    <a:lstStyle/>
                    <a:p>
                      <a:pPr algn="ctr"/>
                      <a:r>
                        <a:rPr lang="en-US" altLang="zh-CN" sz="2200" b="1" dirty="0" smtClean="0"/>
                        <a:t>a2</a:t>
                      </a:r>
                      <a:endParaRPr lang="zh-CN" altLang="en-US" sz="2200" b="1" dirty="0"/>
                    </a:p>
                  </a:txBody>
                  <a:tcPr marT="45690" marB="45690"/>
                </a:tc>
                <a:tc>
                  <a:txBody>
                    <a:bodyPr/>
                    <a:lstStyle/>
                    <a:p>
                      <a:pPr algn="ctr"/>
                      <a:r>
                        <a:rPr lang="en-US" altLang="zh-CN" sz="2200" b="1" dirty="0" smtClean="0"/>
                        <a:t>b2</a:t>
                      </a:r>
                      <a:endParaRPr lang="zh-CN" altLang="en-US" sz="2200" b="1" dirty="0"/>
                    </a:p>
                  </a:txBody>
                  <a:tcPr marT="45690" marB="45690"/>
                </a:tc>
                <a:tc>
                  <a:txBody>
                    <a:bodyPr/>
                    <a:lstStyle/>
                    <a:p>
                      <a:pPr algn="ctr"/>
                      <a:r>
                        <a:rPr lang="en-US" altLang="zh-CN" sz="2200" b="1" dirty="0" smtClean="0"/>
                        <a:t>c1</a:t>
                      </a:r>
                      <a:endParaRPr lang="zh-CN" altLang="en-US" sz="2200" b="1" dirty="0"/>
                    </a:p>
                  </a:txBody>
                  <a:tcPr marT="45690" marB="45690"/>
                </a:tc>
              </a:tr>
            </a:tbl>
          </a:graphicData>
        </a:graphic>
      </p:graphicFrame>
      <p:graphicFrame>
        <p:nvGraphicFramePr>
          <p:cNvPr id="5" name="内容占位符 8"/>
          <p:cNvGraphicFramePr>
            <a:graphicFrameLocks/>
          </p:cNvGraphicFramePr>
          <p:nvPr>
            <p:extLst>
              <p:ext uri="{D42A27DB-BD31-4B8C-83A1-F6EECF244321}">
                <p14:modId xmlns:p14="http://schemas.microsoft.com/office/powerpoint/2010/main" val="3323199659"/>
              </p:ext>
            </p:extLst>
          </p:nvPr>
        </p:nvGraphicFramePr>
        <p:xfrm>
          <a:off x="4932589" y="4004034"/>
          <a:ext cx="4038600" cy="1706832"/>
        </p:xfrm>
        <a:graphic>
          <a:graphicData uri="http://schemas.openxmlformats.org/drawingml/2006/table">
            <a:tbl>
              <a:tblPr firstRow="1" bandRow="1">
                <a:tableStyleId>{5C22544A-7EE6-4342-B048-85BDC9FD1C3A}</a:tableStyleId>
              </a:tblPr>
              <a:tblGrid>
                <a:gridCol w="1346200"/>
                <a:gridCol w="1346200"/>
                <a:gridCol w="1346200"/>
              </a:tblGrid>
              <a:tr h="426641">
                <a:tc>
                  <a:txBody>
                    <a:bodyPr/>
                    <a:lstStyle/>
                    <a:p>
                      <a:pPr algn="ctr"/>
                      <a:r>
                        <a:rPr lang="en-US" altLang="zh-CN" sz="2200" b="1" dirty="0" smtClean="0">
                          <a:solidFill>
                            <a:schemeClr val="tx1"/>
                          </a:solidFill>
                        </a:rPr>
                        <a:t>A</a:t>
                      </a:r>
                      <a:endParaRPr lang="zh-CN" altLang="en-US" sz="2200" b="1" dirty="0">
                        <a:solidFill>
                          <a:schemeClr val="tx1"/>
                        </a:solidFill>
                      </a:endParaRPr>
                    </a:p>
                  </a:txBody>
                  <a:tcPr marT="45714" marB="45714"/>
                </a:tc>
                <a:tc>
                  <a:txBody>
                    <a:bodyPr/>
                    <a:lstStyle/>
                    <a:p>
                      <a:pPr algn="ctr"/>
                      <a:r>
                        <a:rPr lang="en-US" altLang="zh-CN" sz="2200" b="1" dirty="0" smtClean="0">
                          <a:solidFill>
                            <a:schemeClr val="tx1"/>
                          </a:solidFill>
                        </a:rPr>
                        <a:t>B</a:t>
                      </a:r>
                      <a:endParaRPr lang="zh-CN" altLang="en-US" sz="2200" b="1" dirty="0">
                        <a:solidFill>
                          <a:schemeClr val="tx1"/>
                        </a:solidFill>
                      </a:endParaRPr>
                    </a:p>
                  </a:txBody>
                  <a:tcPr marT="45714" marB="45714"/>
                </a:tc>
                <a:tc>
                  <a:txBody>
                    <a:bodyPr/>
                    <a:lstStyle/>
                    <a:p>
                      <a:pPr algn="ctr"/>
                      <a:r>
                        <a:rPr lang="en-US" altLang="zh-CN" sz="2200" b="1" dirty="0" smtClean="0">
                          <a:solidFill>
                            <a:schemeClr val="tx1"/>
                          </a:solidFill>
                        </a:rPr>
                        <a:t>C</a:t>
                      </a:r>
                      <a:endParaRPr lang="zh-CN" altLang="en-US" sz="2200" b="1" dirty="0">
                        <a:solidFill>
                          <a:schemeClr val="tx1"/>
                        </a:solidFill>
                      </a:endParaRPr>
                    </a:p>
                  </a:txBody>
                  <a:tcPr marT="45714" marB="45714"/>
                </a:tc>
              </a:tr>
              <a:tr h="426641">
                <a:tc>
                  <a:txBody>
                    <a:bodyPr/>
                    <a:lstStyle/>
                    <a:p>
                      <a:pPr algn="ctr"/>
                      <a:r>
                        <a:rPr lang="en-US" altLang="zh-CN" sz="2200" b="1" dirty="0" smtClean="0"/>
                        <a:t>a1</a:t>
                      </a:r>
                      <a:endParaRPr lang="zh-CN" altLang="en-US" sz="2200" b="1" dirty="0"/>
                    </a:p>
                  </a:txBody>
                  <a:tcPr marT="45714" marB="45714"/>
                </a:tc>
                <a:tc>
                  <a:txBody>
                    <a:bodyPr/>
                    <a:lstStyle/>
                    <a:p>
                      <a:pPr algn="ctr"/>
                      <a:r>
                        <a:rPr lang="en-US" altLang="zh-CN" sz="2200" b="1" dirty="0" smtClean="0"/>
                        <a:t>b2</a:t>
                      </a:r>
                      <a:endParaRPr lang="zh-CN" altLang="en-US" sz="2200" b="1" dirty="0"/>
                    </a:p>
                  </a:txBody>
                  <a:tcPr marT="45714" marB="45714"/>
                </a:tc>
                <a:tc>
                  <a:txBody>
                    <a:bodyPr/>
                    <a:lstStyle/>
                    <a:p>
                      <a:pPr algn="ctr"/>
                      <a:r>
                        <a:rPr lang="en-US" altLang="zh-CN" sz="2200" b="1" dirty="0" smtClean="0"/>
                        <a:t>c2</a:t>
                      </a:r>
                      <a:endParaRPr lang="zh-CN" altLang="en-US" sz="2200" b="1" dirty="0"/>
                    </a:p>
                  </a:txBody>
                  <a:tcPr marT="45714" marB="45714"/>
                </a:tc>
              </a:tr>
              <a:tr h="426641">
                <a:tc>
                  <a:txBody>
                    <a:bodyPr/>
                    <a:lstStyle/>
                    <a:p>
                      <a:pPr algn="ctr"/>
                      <a:r>
                        <a:rPr lang="en-US" altLang="zh-CN" sz="2200" b="1" dirty="0" smtClean="0"/>
                        <a:t>a1</a:t>
                      </a:r>
                      <a:endParaRPr lang="zh-CN" altLang="en-US" sz="2200" b="1" dirty="0"/>
                    </a:p>
                  </a:txBody>
                  <a:tcPr marT="45714" marB="45714"/>
                </a:tc>
                <a:tc>
                  <a:txBody>
                    <a:bodyPr/>
                    <a:lstStyle/>
                    <a:p>
                      <a:pPr algn="ctr"/>
                      <a:r>
                        <a:rPr lang="en-US" altLang="zh-CN" sz="2200" b="1" dirty="0" smtClean="0"/>
                        <a:t>b3</a:t>
                      </a:r>
                      <a:endParaRPr lang="zh-CN" altLang="en-US" sz="2200" b="1" dirty="0"/>
                    </a:p>
                  </a:txBody>
                  <a:tcPr marT="45714" marB="45714"/>
                </a:tc>
                <a:tc>
                  <a:txBody>
                    <a:bodyPr/>
                    <a:lstStyle/>
                    <a:p>
                      <a:pPr algn="ctr"/>
                      <a:r>
                        <a:rPr lang="en-US" altLang="zh-CN" sz="2200" b="1" dirty="0" smtClean="0"/>
                        <a:t>c2</a:t>
                      </a:r>
                      <a:endParaRPr lang="zh-CN" altLang="en-US" sz="2200" b="1" dirty="0"/>
                    </a:p>
                  </a:txBody>
                  <a:tcPr marT="45714" marB="45714"/>
                </a:tc>
              </a:tr>
              <a:tr h="426641">
                <a:tc>
                  <a:txBody>
                    <a:bodyPr/>
                    <a:lstStyle/>
                    <a:p>
                      <a:pPr algn="ctr"/>
                      <a:r>
                        <a:rPr lang="en-US" altLang="zh-CN" sz="2200" b="1" dirty="0" smtClean="0"/>
                        <a:t>a2</a:t>
                      </a:r>
                      <a:endParaRPr lang="zh-CN" altLang="en-US" sz="2200" b="1" dirty="0"/>
                    </a:p>
                  </a:txBody>
                  <a:tcPr marT="45714" marB="45714"/>
                </a:tc>
                <a:tc>
                  <a:txBody>
                    <a:bodyPr/>
                    <a:lstStyle/>
                    <a:p>
                      <a:pPr algn="ctr"/>
                      <a:r>
                        <a:rPr lang="en-US" altLang="zh-CN" sz="2200" b="1" dirty="0" smtClean="0"/>
                        <a:t>b2</a:t>
                      </a:r>
                      <a:endParaRPr lang="zh-CN" altLang="en-US" sz="2200" b="1" dirty="0"/>
                    </a:p>
                  </a:txBody>
                  <a:tcPr marT="45714" marB="45714"/>
                </a:tc>
                <a:tc>
                  <a:txBody>
                    <a:bodyPr/>
                    <a:lstStyle/>
                    <a:p>
                      <a:pPr algn="ctr"/>
                      <a:r>
                        <a:rPr lang="en-US" altLang="zh-CN" sz="2200" b="1" dirty="0" smtClean="0"/>
                        <a:t>c1</a:t>
                      </a:r>
                      <a:endParaRPr lang="zh-CN" altLang="en-US" sz="2200" b="1" dirty="0"/>
                    </a:p>
                  </a:txBody>
                  <a:tcPr marT="45714" marB="45714"/>
                </a:tc>
              </a:tr>
            </a:tbl>
          </a:graphicData>
        </a:graphic>
      </p:graphicFrame>
      <p:sp>
        <p:nvSpPr>
          <p:cNvPr id="6" name="TextBox 10"/>
          <p:cNvSpPr txBox="1">
            <a:spLocks noChangeArrowheads="1"/>
          </p:cNvSpPr>
          <p:nvPr/>
        </p:nvSpPr>
        <p:spPr bwMode="auto">
          <a:xfrm>
            <a:off x="4932589" y="3624263"/>
            <a:ext cx="3714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dirty="0"/>
              <a:t>S</a:t>
            </a:r>
            <a:endParaRPr lang="zh-CN" altLang="en-US" sz="2200" b="1" dirty="0"/>
          </a:p>
        </p:txBody>
      </p:sp>
      <p:sp>
        <p:nvSpPr>
          <p:cNvPr id="7" name="TextBox 10"/>
          <p:cNvSpPr txBox="1">
            <a:spLocks noChangeArrowheads="1"/>
          </p:cNvSpPr>
          <p:nvPr/>
        </p:nvSpPr>
        <p:spPr bwMode="auto">
          <a:xfrm>
            <a:off x="4932588" y="1443569"/>
            <a:ext cx="38824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dirty="0" smtClean="0"/>
              <a:t>R</a:t>
            </a:r>
            <a:endParaRPr lang="zh-CN" altLang="en-US" sz="2200" b="1" dirty="0"/>
          </a:p>
        </p:txBody>
      </p:sp>
      <p:sp>
        <p:nvSpPr>
          <p:cNvPr id="2" name="文本框 1"/>
          <p:cNvSpPr txBox="1"/>
          <p:nvPr/>
        </p:nvSpPr>
        <p:spPr>
          <a:xfrm>
            <a:off x="4285574" y="2410250"/>
            <a:ext cx="763351" cy="1672253"/>
          </a:xfrm>
          <a:prstGeom prst="rect">
            <a:avLst/>
          </a:prstGeom>
          <a:noFill/>
        </p:spPr>
        <p:txBody>
          <a:bodyPr wrap="none" rtlCol="0">
            <a:spAutoFit/>
          </a:bodyPr>
          <a:lstStyle/>
          <a:p>
            <a:pPr>
              <a:lnSpc>
                <a:spcPts val="1600"/>
              </a:lnSpc>
            </a:pPr>
            <a:r>
              <a:rPr lang="zh-CN" altLang="en-US" dirty="0" smtClean="0"/>
              <a:t>（</a:t>
            </a:r>
            <a:r>
              <a:rPr lang="en-US" altLang="zh-CN" dirty="0" smtClean="0"/>
              <a:t>1</a:t>
            </a:r>
            <a:r>
              <a:rPr lang="zh-CN" altLang="en-US" dirty="0" smtClean="0"/>
              <a:t>）</a:t>
            </a:r>
            <a:endParaRPr lang="en-US" altLang="zh-CN" dirty="0" smtClean="0"/>
          </a:p>
          <a:p>
            <a:pPr>
              <a:lnSpc>
                <a:spcPts val="1600"/>
              </a:lnSpc>
            </a:pPr>
            <a:endParaRPr lang="en-US" altLang="zh-CN" dirty="0" smtClean="0"/>
          </a:p>
          <a:p>
            <a:pPr>
              <a:lnSpc>
                <a:spcPts val="1600"/>
              </a:lnSpc>
            </a:pPr>
            <a:r>
              <a:rPr lang="zh-CN" altLang="en-US" dirty="0" smtClean="0"/>
              <a:t>（</a:t>
            </a:r>
            <a:r>
              <a:rPr lang="en-US" altLang="zh-CN" dirty="0" smtClean="0"/>
              <a:t>2</a:t>
            </a:r>
            <a:r>
              <a:rPr lang="zh-CN" altLang="en-US" dirty="0" smtClean="0"/>
              <a:t>）</a:t>
            </a:r>
            <a:endParaRPr lang="en-US" altLang="zh-CN" dirty="0" smtClean="0"/>
          </a:p>
          <a:p>
            <a:pPr>
              <a:lnSpc>
                <a:spcPts val="1600"/>
              </a:lnSpc>
            </a:pPr>
            <a:endParaRPr lang="en-US" altLang="zh-CN" dirty="0" smtClean="0"/>
          </a:p>
          <a:p>
            <a:pPr>
              <a:lnSpc>
                <a:spcPts val="1600"/>
              </a:lnSpc>
            </a:pPr>
            <a:r>
              <a:rPr lang="zh-CN" altLang="en-US" dirty="0" smtClean="0"/>
              <a:t>（</a:t>
            </a:r>
            <a:r>
              <a:rPr lang="en-US" altLang="zh-CN" dirty="0" smtClean="0"/>
              <a:t>3</a:t>
            </a:r>
            <a:r>
              <a:rPr lang="zh-CN" altLang="en-US" dirty="0" smtClean="0"/>
              <a:t>）</a:t>
            </a:r>
            <a:endParaRPr lang="en-US" altLang="zh-CN" dirty="0"/>
          </a:p>
          <a:p>
            <a:endParaRPr lang="en-US" altLang="zh-CN" dirty="0"/>
          </a:p>
          <a:p>
            <a:endParaRPr lang="zh-CN" altLang="en-US" dirty="0"/>
          </a:p>
        </p:txBody>
      </p:sp>
      <p:sp>
        <p:nvSpPr>
          <p:cNvPr id="9" name="文本框 8"/>
          <p:cNvSpPr txBox="1"/>
          <p:nvPr/>
        </p:nvSpPr>
        <p:spPr>
          <a:xfrm>
            <a:off x="4285573" y="4512316"/>
            <a:ext cx="763351" cy="1672253"/>
          </a:xfrm>
          <a:prstGeom prst="rect">
            <a:avLst/>
          </a:prstGeom>
          <a:noFill/>
        </p:spPr>
        <p:txBody>
          <a:bodyPr wrap="none" rtlCol="0">
            <a:spAutoFit/>
          </a:bodyPr>
          <a:lstStyle/>
          <a:p>
            <a:pPr>
              <a:lnSpc>
                <a:spcPts val="1600"/>
              </a:lnSpc>
            </a:pPr>
            <a:r>
              <a:rPr lang="zh-CN" altLang="en-US" dirty="0" smtClean="0"/>
              <a:t>（</a:t>
            </a:r>
            <a:r>
              <a:rPr lang="en-US" altLang="zh-CN" dirty="0" smtClean="0"/>
              <a:t>4</a:t>
            </a:r>
            <a:r>
              <a:rPr lang="zh-CN" altLang="en-US" dirty="0" smtClean="0"/>
              <a:t>）</a:t>
            </a:r>
            <a:endParaRPr lang="en-US" altLang="zh-CN" dirty="0" smtClean="0"/>
          </a:p>
          <a:p>
            <a:pPr>
              <a:lnSpc>
                <a:spcPts val="1600"/>
              </a:lnSpc>
            </a:pPr>
            <a:endParaRPr lang="en-US" altLang="zh-CN" dirty="0" smtClean="0"/>
          </a:p>
          <a:p>
            <a:pPr>
              <a:lnSpc>
                <a:spcPts val="1600"/>
              </a:lnSpc>
            </a:pPr>
            <a:r>
              <a:rPr lang="zh-CN" altLang="en-US" dirty="0" smtClean="0"/>
              <a:t>（</a:t>
            </a:r>
            <a:r>
              <a:rPr lang="en-US" altLang="zh-CN" dirty="0" smtClean="0"/>
              <a:t>5</a:t>
            </a:r>
            <a:r>
              <a:rPr lang="zh-CN" altLang="en-US" dirty="0" smtClean="0"/>
              <a:t>）</a:t>
            </a:r>
            <a:endParaRPr lang="en-US" altLang="zh-CN" dirty="0" smtClean="0"/>
          </a:p>
          <a:p>
            <a:pPr>
              <a:lnSpc>
                <a:spcPts val="1600"/>
              </a:lnSpc>
            </a:pPr>
            <a:endParaRPr lang="en-US" altLang="zh-CN" dirty="0" smtClean="0"/>
          </a:p>
          <a:p>
            <a:pPr>
              <a:lnSpc>
                <a:spcPts val="1600"/>
              </a:lnSpc>
            </a:pPr>
            <a:r>
              <a:rPr lang="zh-CN" altLang="en-US" dirty="0" smtClean="0"/>
              <a:t>（</a:t>
            </a:r>
            <a:r>
              <a:rPr lang="en-US" altLang="zh-CN" dirty="0" smtClean="0"/>
              <a:t>6</a:t>
            </a:r>
            <a:r>
              <a:rPr lang="zh-CN" altLang="en-US" dirty="0" smtClean="0"/>
              <a:t>）</a:t>
            </a:r>
            <a:endParaRPr lang="en-US" altLang="zh-CN" dirty="0"/>
          </a:p>
          <a:p>
            <a:endParaRPr lang="en-US" altLang="zh-CN" dirty="0"/>
          </a:p>
          <a:p>
            <a:endParaRPr lang="zh-CN" altLang="en-US" dirty="0"/>
          </a:p>
        </p:txBody>
      </p:sp>
    </p:spTree>
    <p:extLst>
      <p:ext uri="{BB962C8B-B14F-4D97-AF65-F5344CB8AC3E}">
        <p14:creationId xmlns:p14="http://schemas.microsoft.com/office/powerpoint/2010/main" val="38769501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zh-CN" altLang="en-US" sz="3600" dirty="0">
                <a:latin typeface="宋体" panose="02010600030101010101" pitchFamily="2" charset="-122"/>
              </a:rPr>
              <a:t>集合查询</a:t>
            </a:r>
            <a:endParaRPr lang="zh-CN" altLang="en-US" sz="3600" dirty="0" smtClean="0"/>
          </a:p>
        </p:txBody>
      </p:sp>
      <p:sp>
        <p:nvSpPr>
          <p:cNvPr id="77827" name="Rectangle 3"/>
          <p:cNvSpPr>
            <a:spLocks noGrp="1" noChangeArrowheads="1"/>
          </p:cNvSpPr>
          <p:nvPr>
            <p:ph type="body" idx="1"/>
          </p:nvPr>
        </p:nvSpPr>
        <p:spPr>
          <a:xfrm>
            <a:off x="542668" y="1408328"/>
            <a:ext cx="7886700" cy="4778288"/>
          </a:xfrm>
        </p:spPr>
        <p:txBody>
          <a:bodyPr>
            <a:normAutofit fontScale="85000" lnSpcReduction="20000"/>
          </a:bodyPr>
          <a:lstStyle/>
          <a:p>
            <a:pPr marL="185738" indent="0">
              <a:lnSpc>
                <a:spcPct val="180000"/>
              </a:lnSpc>
              <a:buNone/>
            </a:pPr>
            <a:r>
              <a:rPr lang="zh-CN" altLang="en-US" dirty="0" smtClean="0">
                <a:solidFill>
                  <a:srgbClr val="00B050"/>
                </a:solidFill>
              </a:rPr>
              <a:t>传统</a:t>
            </a:r>
            <a:r>
              <a:rPr lang="zh-CN" altLang="en-US" dirty="0">
                <a:solidFill>
                  <a:srgbClr val="00B050"/>
                </a:solidFill>
              </a:rPr>
              <a:t>的集合</a:t>
            </a:r>
            <a:r>
              <a:rPr lang="zh-CN" altLang="en-US" dirty="0" smtClean="0">
                <a:solidFill>
                  <a:srgbClr val="00B050"/>
                </a:solidFill>
              </a:rPr>
              <a:t>运算   </a:t>
            </a:r>
            <a:r>
              <a:rPr lang="en-US" altLang="zh-CN" dirty="0" smtClean="0">
                <a:solidFill>
                  <a:srgbClr val="00B050"/>
                </a:solidFill>
              </a:rPr>
              <a:t>SQL</a:t>
            </a:r>
            <a:r>
              <a:rPr lang="zh-CN" altLang="en-US" dirty="0" smtClean="0">
                <a:solidFill>
                  <a:srgbClr val="00B050"/>
                </a:solidFill>
              </a:rPr>
              <a:t>应用</a:t>
            </a:r>
            <a:endParaRPr lang="en-US" altLang="zh-CN" dirty="0" smtClean="0">
              <a:solidFill>
                <a:srgbClr val="00B050"/>
              </a:solidFill>
            </a:endParaRPr>
          </a:p>
          <a:p>
            <a:pPr marL="0" lvl="0" indent="0" eaLnBrk="0" fontAlgn="base" hangingPunct="0">
              <a:lnSpc>
                <a:spcPct val="100000"/>
              </a:lnSpc>
              <a:spcBef>
                <a:spcPct val="0"/>
              </a:spcBef>
              <a:spcAft>
                <a:spcPct val="0"/>
              </a:spcAft>
              <a:buNone/>
            </a:pPr>
            <a:endParaRPr lang="en-US" altLang="zh-CN" dirty="0" smtClean="0">
              <a:solidFill>
                <a:srgbClr val="00B050"/>
              </a:solidFill>
            </a:endParaRPr>
          </a:p>
          <a:p>
            <a:pPr marL="0" lvl="0" indent="0" eaLnBrk="0" fontAlgn="base" hangingPunct="0">
              <a:lnSpc>
                <a:spcPct val="100000"/>
              </a:lnSpc>
              <a:spcBef>
                <a:spcPct val="0"/>
              </a:spcBef>
              <a:spcAft>
                <a:spcPct val="0"/>
              </a:spcAft>
              <a:buNone/>
            </a:pPr>
            <a:r>
              <a:rPr lang="zh-CN" altLang="en-US" sz="1800" dirty="0" smtClean="0">
                <a:solidFill>
                  <a:srgbClr val="00B050"/>
                </a:solidFill>
              </a:rPr>
              <a:t>并：</a:t>
            </a:r>
            <a:endParaRPr lang="en-US" altLang="zh-CN" sz="1800" b="1" dirty="0">
              <a:solidFill>
                <a:srgbClr val="00B050"/>
              </a:solidFill>
              <a:latin typeface="Arial Unicode MS" panose="020B0604020202020204" pitchFamily="34" charset="-122"/>
              <a:ea typeface="Monaco"/>
            </a:endParaRPr>
          </a:p>
          <a:p>
            <a:pPr marL="0" lvl="0" indent="0" eaLnBrk="0" fontAlgn="base" hangingPunct="0">
              <a:lnSpc>
                <a:spcPct val="100000"/>
              </a:lnSpc>
              <a:spcBef>
                <a:spcPct val="0"/>
              </a:spcBef>
              <a:spcAft>
                <a:spcPct val="0"/>
              </a:spcAft>
              <a:buNone/>
            </a:pPr>
            <a:r>
              <a:rPr lang="zh-CN" altLang="zh-CN" sz="1800" b="1" dirty="0">
                <a:solidFill>
                  <a:srgbClr val="FF7800"/>
                </a:solidFill>
                <a:latin typeface="Arial Unicode MS" panose="020B0604020202020204" pitchFamily="34" charset="-122"/>
                <a:ea typeface="Monaco"/>
              </a:rPr>
              <a:t>select</a:t>
            </a:r>
            <a:r>
              <a:rPr lang="zh-CN" altLang="zh-CN" sz="1800" dirty="0">
                <a:solidFill>
                  <a:srgbClr val="333333"/>
                </a:solidFill>
                <a:ea typeface="Monaco"/>
              </a:rPr>
              <a:t> </a:t>
            </a:r>
            <a:r>
              <a:rPr lang="zh-CN" altLang="zh-CN" sz="1800" dirty="0">
                <a:solidFill>
                  <a:srgbClr val="000000"/>
                </a:solidFill>
                <a:latin typeface="Arial Unicode MS" panose="020B0604020202020204" pitchFamily="34" charset="-122"/>
                <a:ea typeface="Monaco"/>
              </a:rPr>
              <a:t>* </a:t>
            </a:r>
            <a:r>
              <a:rPr lang="zh-CN" altLang="zh-CN" sz="1800" b="1" dirty="0">
                <a:solidFill>
                  <a:srgbClr val="FF7800"/>
                </a:solidFill>
                <a:latin typeface="Arial Unicode MS" panose="020B0604020202020204" pitchFamily="34" charset="-122"/>
                <a:ea typeface="Monaco"/>
              </a:rPr>
              <a:t>from</a:t>
            </a:r>
            <a:r>
              <a:rPr lang="zh-CN" altLang="zh-CN" sz="1800" dirty="0">
                <a:solidFill>
                  <a:srgbClr val="333333"/>
                </a:solidFill>
                <a:ea typeface="Monaco"/>
              </a:rPr>
              <a:t> </a:t>
            </a:r>
            <a:r>
              <a:rPr lang="zh-CN" altLang="zh-CN" sz="1800" dirty="0">
                <a:solidFill>
                  <a:srgbClr val="000000"/>
                </a:solidFill>
                <a:latin typeface="Arial Unicode MS" panose="020B0604020202020204" pitchFamily="34" charset="-122"/>
                <a:ea typeface="Monaco"/>
              </a:rPr>
              <a:t>A</a:t>
            </a:r>
            <a:endParaRPr lang="zh-CN" altLang="zh-CN" sz="1800" dirty="0"/>
          </a:p>
          <a:p>
            <a:pPr marL="0" lvl="0" indent="0" eaLnBrk="0" fontAlgn="base" hangingPunct="0">
              <a:lnSpc>
                <a:spcPct val="100000"/>
              </a:lnSpc>
              <a:spcBef>
                <a:spcPct val="0"/>
              </a:spcBef>
              <a:spcAft>
                <a:spcPct val="0"/>
              </a:spcAft>
              <a:buNone/>
            </a:pPr>
            <a:r>
              <a:rPr lang="zh-CN" altLang="zh-CN" sz="1800" b="1" dirty="0">
                <a:solidFill>
                  <a:srgbClr val="FF7800"/>
                </a:solidFill>
                <a:latin typeface="Arial Unicode MS" panose="020B0604020202020204" pitchFamily="34" charset="-122"/>
                <a:ea typeface="Monaco"/>
              </a:rPr>
              <a:t>union</a:t>
            </a:r>
            <a:r>
              <a:rPr lang="zh-CN" altLang="zh-CN" sz="1800" dirty="0">
                <a:solidFill>
                  <a:srgbClr val="333333"/>
                </a:solidFill>
                <a:ea typeface="Monaco"/>
              </a:rPr>
              <a:t> </a:t>
            </a:r>
            <a:endParaRPr lang="zh-CN" altLang="zh-CN" sz="1800" dirty="0">
              <a:latin typeface="Arial" panose="020B0604020202020204" pitchFamily="34" charset="0"/>
            </a:endParaRPr>
          </a:p>
          <a:p>
            <a:pPr marL="0" lvl="0" indent="0" eaLnBrk="0" fontAlgn="base" hangingPunct="0">
              <a:lnSpc>
                <a:spcPct val="100000"/>
              </a:lnSpc>
              <a:spcBef>
                <a:spcPct val="0"/>
              </a:spcBef>
              <a:spcAft>
                <a:spcPct val="0"/>
              </a:spcAft>
              <a:buNone/>
            </a:pPr>
            <a:r>
              <a:rPr lang="zh-CN" altLang="zh-CN" sz="1800" b="1" dirty="0">
                <a:solidFill>
                  <a:srgbClr val="FF7800"/>
                </a:solidFill>
                <a:latin typeface="Arial Unicode MS" panose="020B0604020202020204" pitchFamily="34" charset="-122"/>
                <a:ea typeface="Monaco"/>
              </a:rPr>
              <a:t>select</a:t>
            </a:r>
            <a:r>
              <a:rPr lang="zh-CN" altLang="zh-CN" sz="1800" dirty="0">
                <a:solidFill>
                  <a:srgbClr val="333333"/>
                </a:solidFill>
                <a:ea typeface="Monaco"/>
              </a:rPr>
              <a:t> </a:t>
            </a:r>
            <a:r>
              <a:rPr lang="zh-CN" altLang="zh-CN" sz="1800" dirty="0">
                <a:solidFill>
                  <a:srgbClr val="000000"/>
                </a:solidFill>
                <a:latin typeface="Arial Unicode MS" panose="020B0604020202020204" pitchFamily="34" charset="-122"/>
                <a:ea typeface="Monaco"/>
              </a:rPr>
              <a:t>* </a:t>
            </a:r>
            <a:r>
              <a:rPr lang="zh-CN" altLang="zh-CN" sz="1800" b="1" dirty="0">
                <a:solidFill>
                  <a:srgbClr val="FF7800"/>
                </a:solidFill>
                <a:latin typeface="Arial Unicode MS" panose="020B0604020202020204" pitchFamily="34" charset="-122"/>
                <a:ea typeface="Monaco"/>
              </a:rPr>
              <a:t>from</a:t>
            </a:r>
            <a:r>
              <a:rPr lang="zh-CN" altLang="zh-CN" sz="1800" dirty="0">
                <a:solidFill>
                  <a:srgbClr val="333333"/>
                </a:solidFill>
                <a:ea typeface="Monaco"/>
              </a:rPr>
              <a:t> </a:t>
            </a:r>
            <a:r>
              <a:rPr lang="zh-CN" altLang="zh-CN" sz="1800" dirty="0">
                <a:solidFill>
                  <a:srgbClr val="000000"/>
                </a:solidFill>
                <a:latin typeface="Arial Unicode MS" panose="020B0604020202020204" pitchFamily="34" charset="-122"/>
                <a:ea typeface="Monaco"/>
              </a:rPr>
              <a:t>B</a:t>
            </a:r>
            <a:endParaRPr lang="zh-CN" altLang="zh-CN" sz="1800" dirty="0">
              <a:latin typeface="Arial" panose="020B0604020202020204" pitchFamily="34" charset="0"/>
            </a:endParaRPr>
          </a:p>
          <a:p>
            <a:pPr marL="700088" indent="-514350">
              <a:lnSpc>
                <a:spcPct val="180000"/>
              </a:lnSpc>
              <a:buAutoNum type="arabicPeriod"/>
            </a:pPr>
            <a:endParaRPr lang="en-US" altLang="zh-CN" dirty="0" smtClean="0">
              <a:solidFill>
                <a:srgbClr val="00B050"/>
              </a:solidFill>
            </a:endParaRPr>
          </a:p>
          <a:p>
            <a:pPr marL="700088" indent="-514350">
              <a:lnSpc>
                <a:spcPct val="180000"/>
              </a:lnSpc>
              <a:buAutoNum type="arabicPeriod"/>
            </a:pPr>
            <a:endParaRPr lang="en-US" altLang="zh-CN" dirty="0">
              <a:solidFill>
                <a:srgbClr val="00B050"/>
              </a:solidFill>
            </a:endParaRPr>
          </a:p>
          <a:p>
            <a:pPr marL="185738" indent="0">
              <a:lnSpc>
                <a:spcPct val="180000"/>
              </a:lnSpc>
              <a:buNone/>
            </a:pPr>
            <a:r>
              <a:rPr lang="zh-CN" altLang="en-US" dirty="0" smtClean="0">
                <a:solidFill>
                  <a:srgbClr val="00B050"/>
                </a:solidFill>
              </a:rPr>
              <a:t>注：</a:t>
            </a:r>
            <a:r>
              <a:rPr lang="en-US" altLang="zh-CN" dirty="0" smtClean="0">
                <a:solidFill>
                  <a:srgbClr val="00B050"/>
                </a:solidFill>
              </a:rPr>
              <a:t>MySQL </a:t>
            </a:r>
            <a:r>
              <a:rPr lang="zh-CN" altLang="en-US" dirty="0" smtClean="0">
                <a:solidFill>
                  <a:srgbClr val="00B050"/>
                </a:solidFill>
              </a:rPr>
              <a:t>是否支持 </a:t>
            </a:r>
            <a:r>
              <a:rPr lang="en-US" altLang="zh-CN" b="1" dirty="0" smtClean="0">
                <a:solidFill>
                  <a:srgbClr val="FF7800"/>
                </a:solidFill>
                <a:latin typeface="Arial Unicode MS" panose="020B0604020202020204" pitchFamily="34" charset="-122"/>
                <a:ea typeface="Monaco"/>
              </a:rPr>
              <a:t>intersect </a:t>
            </a:r>
            <a:r>
              <a:rPr lang="zh-CN" altLang="en-US" b="1" dirty="0" smtClean="0">
                <a:solidFill>
                  <a:srgbClr val="FF7800"/>
                </a:solidFill>
                <a:latin typeface="Arial Unicode MS" panose="020B0604020202020204" pitchFamily="34" charset="-122"/>
                <a:ea typeface="Monaco"/>
              </a:rPr>
              <a:t>和</a:t>
            </a:r>
            <a:r>
              <a:rPr lang="en-US" altLang="zh-CN" b="1" dirty="0" smtClean="0">
                <a:solidFill>
                  <a:srgbClr val="FF7800"/>
                </a:solidFill>
                <a:latin typeface="Arial Unicode MS" panose="020B0604020202020204" pitchFamily="34" charset="-122"/>
                <a:ea typeface="Monaco"/>
              </a:rPr>
              <a:t>except </a:t>
            </a:r>
            <a:r>
              <a:rPr lang="zh-CN" altLang="en-US" b="1" dirty="0" smtClean="0">
                <a:solidFill>
                  <a:srgbClr val="FF7800"/>
                </a:solidFill>
                <a:latin typeface="Arial Unicode MS" panose="020B0604020202020204" pitchFamily="34" charset="-122"/>
                <a:ea typeface="Monaco"/>
              </a:rPr>
              <a:t>？？ </a:t>
            </a:r>
            <a:endParaRPr lang="en-US" altLang="zh-CN" b="1" dirty="0" smtClean="0">
              <a:solidFill>
                <a:srgbClr val="FF7800"/>
              </a:solidFill>
              <a:latin typeface="Arial Unicode MS" panose="020B0604020202020204" pitchFamily="34" charset="-122"/>
              <a:ea typeface="Monaco"/>
            </a:endParaRPr>
          </a:p>
          <a:p>
            <a:pPr marL="185738" indent="0">
              <a:lnSpc>
                <a:spcPct val="180000"/>
              </a:lnSpc>
              <a:buNone/>
            </a:pPr>
            <a:r>
              <a:rPr lang="zh-CN" altLang="en-US" b="1" dirty="0">
                <a:solidFill>
                  <a:srgbClr val="FF7800"/>
                </a:solidFill>
                <a:latin typeface="Arial Unicode MS" panose="020B0604020202020204" pitchFamily="34" charset="-122"/>
                <a:ea typeface="Monaco"/>
              </a:rPr>
              <a:t>新</a:t>
            </a:r>
            <a:r>
              <a:rPr lang="zh-CN" altLang="en-US" b="1" dirty="0" smtClean="0">
                <a:solidFill>
                  <a:srgbClr val="FF7800"/>
                </a:solidFill>
                <a:latin typeface="Arial Unicode MS" panose="020B0604020202020204" pitchFamily="34" charset="-122"/>
                <a:ea typeface="Monaco"/>
              </a:rPr>
              <a:t>版本支持，旧版本不支持</a:t>
            </a:r>
            <a:endParaRPr lang="en-US" altLang="zh-CN" b="1" dirty="0" smtClean="0">
              <a:solidFill>
                <a:srgbClr val="FF7800"/>
              </a:solidFill>
              <a:latin typeface="Arial Unicode MS" panose="020B0604020202020204" pitchFamily="34" charset="-122"/>
              <a:ea typeface="Monaco"/>
            </a:endParaRPr>
          </a:p>
          <a:p>
            <a:pPr marL="185738" indent="0">
              <a:lnSpc>
                <a:spcPct val="180000"/>
              </a:lnSpc>
              <a:buNone/>
            </a:pPr>
            <a:endParaRPr lang="en-US" altLang="zh-CN" b="1" dirty="0">
              <a:solidFill>
                <a:srgbClr val="FF7800"/>
              </a:solidFill>
              <a:latin typeface="Arial Unicode MS" panose="020B0604020202020204" pitchFamily="34" charset="-122"/>
              <a:ea typeface="Monaco"/>
            </a:endParaRPr>
          </a:p>
          <a:p>
            <a:pPr marL="185738" indent="0">
              <a:lnSpc>
                <a:spcPct val="180000"/>
              </a:lnSpc>
              <a:buNone/>
            </a:pPr>
            <a:endParaRPr lang="en-US" altLang="zh-CN" b="1" dirty="0">
              <a:solidFill>
                <a:srgbClr val="FF7800"/>
              </a:solidFill>
              <a:latin typeface="Arial Unicode MS" panose="020B0604020202020204" pitchFamily="34" charset="-122"/>
              <a:ea typeface="Monaco"/>
            </a:endParaRPr>
          </a:p>
          <a:p>
            <a:pPr marL="185738" indent="0">
              <a:lnSpc>
                <a:spcPct val="180000"/>
              </a:lnSpc>
              <a:buNone/>
            </a:pPr>
            <a:endParaRPr lang="zh-CN" altLang="en-US" dirty="0">
              <a:solidFill>
                <a:srgbClr val="00B050"/>
              </a:solidFill>
            </a:endParaRPr>
          </a:p>
        </p:txBody>
      </p:sp>
      <p:sp>
        <p:nvSpPr>
          <p:cNvPr id="2" name="矩形 1"/>
          <p:cNvSpPr/>
          <p:nvPr/>
        </p:nvSpPr>
        <p:spPr>
          <a:xfrm>
            <a:off x="2918254" y="2454926"/>
            <a:ext cx="1826740" cy="1200329"/>
          </a:xfrm>
          <a:prstGeom prst="rect">
            <a:avLst/>
          </a:prstGeom>
        </p:spPr>
        <p:txBody>
          <a:bodyPr wrap="square">
            <a:spAutoFit/>
          </a:bodyPr>
          <a:lstStyle/>
          <a:p>
            <a:pPr lvl="0" eaLnBrk="0" fontAlgn="base" hangingPunct="0">
              <a:spcBef>
                <a:spcPct val="0"/>
              </a:spcBef>
              <a:spcAft>
                <a:spcPct val="0"/>
              </a:spcAft>
            </a:pPr>
            <a:r>
              <a:rPr lang="zh-CN" altLang="en-US" dirty="0" smtClean="0">
                <a:solidFill>
                  <a:srgbClr val="00B050"/>
                </a:solidFill>
              </a:rPr>
              <a:t>交：</a:t>
            </a:r>
            <a:endParaRPr lang="en-US" altLang="zh-CN" b="1" dirty="0">
              <a:solidFill>
                <a:srgbClr val="00B050"/>
              </a:solidFill>
              <a:latin typeface="Arial Unicode MS" panose="020B0604020202020204" pitchFamily="34" charset="-122"/>
              <a:ea typeface="Monaco"/>
            </a:endParaRPr>
          </a:p>
          <a:p>
            <a:pPr lvl="0" eaLnBrk="0" fontAlgn="base" hangingPunct="0">
              <a:spcBef>
                <a:spcPct val="0"/>
              </a:spcBef>
              <a:spcAft>
                <a:spcPct val="0"/>
              </a:spcAft>
            </a:pPr>
            <a:r>
              <a:rPr lang="zh-CN" altLang="zh-CN" b="1" dirty="0">
                <a:solidFill>
                  <a:srgbClr val="FF7800"/>
                </a:solidFill>
                <a:latin typeface="Arial Unicode MS" panose="020B0604020202020204" pitchFamily="34" charset="-122"/>
                <a:ea typeface="Monaco"/>
              </a:rPr>
              <a:t>select</a:t>
            </a:r>
            <a:r>
              <a:rPr lang="zh-CN" altLang="zh-CN" dirty="0">
                <a:solidFill>
                  <a:srgbClr val="333333"/>
                </a:solidFill>
                <a:ea typeface="Monaco"/>
              </a:rPr>
              <a:t> </a:t>
            </a:r>
            <a:r>
              <a:rPr lang="zh-CN" altLang="zh-CN" dirty="0">
                <a:solidFill>
                  <a:srgbClr val="000000"/>
                </a:solidFill>
                <a:latin typeface="Arial Unicode MS" panose="020B0604020202020204" pitchFamily="34" charset="-122"/>
                <a:ea typeface="Monaco"/>
              </a:rPr>
              <a:t>* </a:t>
            </a:r>
            <a:r>
              <a:rPr lang="zh-CN" altLang="zh-CN" b="1" dirty="0">
                <a:solidFill>
                  <a:srgbClr val="FF7800"/>
                </a:solidFill>
                <a:latin typeface="Arial Unicode MS" panose="020B0604020202020204" pitchFamily="34" charset="-122"/>
                <a:ea typeface="Monaco"/>
              </a:rPr>
              <a:t>from</a:t>
            </a:r>
            <a:r>
              <a:rPr lang="zh-CN" altLang="zh-CN" dirty="0">
                <a:solidFill>
                  <a:srgbClr val="333333"/>
                </a:solidFill>
                <a:ea typeface="Monaco"/>
              </a:rPr>
              <a:t> </a:t>
            </a:r>
            <a:r>
              <a:rPr lang="zh-CN" altLang="zh-CN" dirty="0">
                <a:solidFill>
                  <a:srgbClr val="000000"/>
                </a:solidFill>
                <a:latin typeface="Arial Unicode MS" panose="020B0604020202020204" pitchFamily="34" charset="-122"/>
                <a:ea typeface="Monaco"/>
              </a:rPr>
              <a:t>A</a:t>
            </a:r>
            <a:endParaRPr lang="zh-CN" altLang="zh-CN" sz="500" dirty="0"/>
          </a:p>
          <a:p>
            <a:pPr lvl="0" eaLnBrk="0" fontAlgn="base" hangingPunct="0">
              <a:spcBef>
                <a:spcPct val="0"/>
              </a:spcBef>
              <a:spcAft>
                <a:spcPct val="0"/>
              </a:spcAft>
            </a:pPr>
            <a:r>
              <a:rPr lang="en-US" altLang="zh-CN" b="1" dirty="0" smtClean="0">
                <a:solidFill>
                  <a:srgbClr val="FF7800"/>
                </a:solidFill>
                <a:latin typeface="Arial Unicode MS" panose="020B0604020202020204" pitchFamily="34" charset="-122"/>
                <a:ea typeface="Monaco"/>
              </a:rPr>
              <a:t>intersect</a:t>
            </a:r>
          </a:p>
          <a:p>
            <a:pPr lvl="0" eaLnBrk="0" fontAlgn="base" hangingPunct="0">
              <a:spcBef>
                <a:spcPct val="0"/>
              </a:spcBef>
              <a:spcAft>
                <a:spcPct val="0"/>
              </a:spcAft>
            </a:pPr>
            <a:r>
              <a:rPr lang="zh-CN" altLang="zh-CN" b="1" dirty="0" smtClean="0">
                <a:solidFill>
                  <a:srgbClr val="FF7800"/>
                </a:solidFill>
                <a:latin typeface="Arial Unicode MS" panose="020B0604020202020204" pitchFamily="34" charset="-122"/>
                <a:ea typeface="Monaco"/>
              </a:rPr>
              <a:t>select</a:t>
            </a:r>
            <a:r>
              <a:rPr lang="zh-CN" altLang="zh-CN" dirty="0">
                <a:solidFill>
                  <a:srgbClr val="333333"/>
                </a:solidFill>
                <a:ea typeface="Monaco"/>
              </a:rPr>
              <a:t> </a:t>
            </a:r>
            <a:r>
              <a:rPr lang="zh-CN" altLang="zh-CN" dirty="0">
                <a:solidFill>
                  <a:srgbClr val="000000"/>
                </a:solidFill>
                <a:latin typeface="Arial Unicode MS" panose="020B0604020202020204" pitchFamily="34" charset="-122"/>
                <a:ea typeface="Monaco"/>
              </a:rPr>
              <a:t>* </a:t>
            </a:r>
            <a:r>
              <a:rPr lang="zh-CN" altLang="zh-CN" b="1" dirty="0">
                <a:solidFill>
                  <a:srgbClr val="FF7800"/>
                </a:solidFill>
                <a:latin typeface="Arial Unicode MS" panose="020B0604020202020204" pitchFamily="34" charset="-122"/>
                <a:ea typeface="Monaco"/>
              </a:rPr>
              <a:t>from</a:t>
            </a:r>
            <a:r>
              <a:rPr lang="zh-CN" altLang="zh-CN" dirty="0">
                <a:solidFill>
                  <a:srgbClr val="333333"/>
                </a:solidFill>
                <a:ea typeface="Monaco"/>
              </a:rPr>
              <a:t> </a:t>
            </a:r>
            <a:r>
              <a:rPr lang="zh-CN" altLang="zh-CN" dirty="0">
                <a:solidFill>
                  <a:srgbClr val="000000"/>
                </a:solidFill>
                <a:latin typeface="Arial Unicode MS" panose="020B0604020202020204" pitchFamily="34" charset="-122"/>
                <a:ea typeface="Monaco"/>
              </a:rPr>
              <a:t>B</a:t>
            </a:r>
            <a:endParaRPr lang="zh-CN" altLang="zh-CN" sz="4400" dirty="0">
              <a:latin typeface="Arial" panose="020B0604020202020204" pitchFamily="34" charset="0"/>
            </a:endParaRPr>
          </a:p>
        </p:txBody>
      </p:sp>
      <p:sp>
        <p:nvSpPr>
          <p:cNvPr id="6" name="矩形 5"/>
          <p:cNvSpPr/>
          <p:nvPr/>
        </p:nvSpPr>
        <p:spPr>
          <a:xfrm>
            <a:off x="5410200" y="2454926"/>
            <a:ext cx="1826740" cy="1200329"/>
          </a:xfrm>
          <a:prstGeom prst="rect">
            <a:avLst/>
          </a:prstGeom>
        </p:spPr>
        <p:txBody>
          <a:bodyPr wrap="square">
            <a:spAutoFit/>
          </a:bodyPr>
          <a:lstStyle/>
          <a:p>
            <a:pPr lvl="0" eaLnBrk="0" fontAlgn="base" hangingPunct="0">
              <a:spcBef>
                <a:spcPct val="0"/>
              </a:spcBef>
              <a:spcAft>
                <a:spcPct val="0"/>
              </a:spcAft>
            </a:pPr>
            <a:r>
              <a:rPr lang="zh-CN" altLang="en-US" dirty="0" smtClean="0">
                <a:solidFill>
                  <a:srgbClr val="00B050"/>
                </a:solidFill>
              </a:rPr>
              <a:t>差：</a:t>
            </a:r>
            <a:endParaRPr lang="en-US" altLang="zh-CN" b="1" dirty="0">
              <a:solidFill>
                <a:srgbClr val="00B050"/>
              </a:solidFill>
              <a:latin typeface="Arial Unicode MS" panose="020B0604020202020204" pitchFamily="34" charset="-122"/>
              <a:ea typeface="Monaco"/>
            </a:endParaRPr>
          </a:p>
          <a:p>
            <a:pPr lvl="0" eaLnBrk="0" fontAlgn="base" hangingPunct="0">
              <a:spcBef>
                <a:spcPct val="0"/>
              </a:spcBef>
              <a:spcAft>
                <a:spcPct val="0"/>
              </a:spcAft>
            </a:pPr>
            <a:r>
              <a:rPr lang="zh-CN" altLang="zh-CN" b="1" dirty="0">
                <a:solidFill>
                  <a:srgbClr val="FF7800"/>
                </a:solidFill>
                <a:latin typeface="Arial Unicode MS" panose="020B0604020202020204" pitchFamily="34" charset="-122"/>
                <a:ea typeface="Monaco"/>
              </a:rPr>
              <a:t>select</a:t>
            </a:r>
            <a:r>
              <a:rPr lang="zh-CN" altLang="zh-CN" dirty="0">
                <a:solidFill>
                  <a:srgbClr val="333333"/>
                </a:solidFill>
                <a:ea typeface="Monaco"/>
              </a:rPr>
              <a:t> </a:t>
            </a:r>
            <a:r>
              <a:rPr lang="zh-CN" altLang="zh-CN" dirty="0">
                <a:solidFill>
                  <a:srgbClr val="000000"/>
                </a:solidFill>
                <a:latin typeface="Arial Unicode MS" panose="020B0604020202020204" pitchFamily="34" charset="-122"/>
                <a:ea typeface="Monaco"/>
              </a:rPr>
              <a:t>* </a:t>
            </a:r>
            <a:r>
              <a:rPr lang="zh-CN" altLang="zh-CN" b="1" dirty="0">
                <a:solidFill>
                  <a:srgbClr val="FF7800"/>
                </a:solidFill>
                <a:latin typeface="Arial Unicode MS" panose="020B0604020202020204" pitchFamily="34" charset="-122"/>
                <a:ea typeface="Monaco"/>
              </a:rPr>
              <a:t>from</a:t>
            </a:r>
            <a:r>
              <a:rPr lang="zh-CN" altLang="zh-CN" dirty="0">
                <a:solidFill>
                  <a:srgbClr val="333333"/>
                </a:solidFill>
                <a:ea typeface="Monaco"/>
              </a:rPr>
              <a:t> </a:t>
            </a:r>
            <a:r>
              <a:rPr lang="zh-CN" altLang="zh-CN" dirty="0">
                <a:solidFill>
                  <a:srgbClr val="000000"/>
                </a:solidFill>
                <a:latin typeface="Arial Unicode MS" panose="020B0604020202020204" pitchFamily="34" charset="-122"/>
                <a:ea typeface="Monaco"/>
              </a:rPr>
              <a:t>A</a:t>
            </a:r>
            <a:endParaRPr lang="zh-CN" altLang="zh-CN" sz="500" dirty="0"/>
          </a:p>
          <a:p>
            <a:pPr lvl="0" eaLnBrk="0" fontAlgn="base" hangingPunct="0">
              <a:spcBef>
                <a:spcPct val="0"/>
              </a:spcBef>
              <a:spcAft>
                <a:spcPct val="0"/>
              </a:spcAft>
            </a:pPr>
            <a:r>
              <a:rPr lang="en-US" altLang="zh-CN" b="1" dirty="0" smtClean="0">
                <a:solidFill>
                  <a:srgbClr val="FF7800"/>
                </a:solidFill>
                <a:latin typeface="Arial Unicode MS" panose="020B0604020202020204" pitchFamily="34" charset="-122"/>
                <a:ea typeface="Monaco"/>
              </a:rPr>
              <a:t>except</a:t>
            </a:r>
          </a:p>
          <a:p>
            <a:pPr lvl="0" eaLnBrk="0" fontAlgn="base" hangingPunct="0">
              <a:spcBef>
                <a:spcPct val="0"/>
              </a:spcBef>
              <a:spcAft>
                <a:spcPct val="0"/>
              </a:spcAft>
            </a:pPr>
            <a:r>
              <a:rPr lang="zh-CN" altLang="zh-CN" b="1" dirty="0" smtClean="0">
                <a:solidFill>
                  <a:srgbClr val="FF7800"/>
                </a:solidFill>
                <a:latin typeface="Arial Unicode MS" panose="020B0604020202020204" pitchFamily="34" charset="-122"/>
                <a:ea typeface="Monaco"/>
              </a:rPr>
              <a:t>select</a:t>
            </a:r>
            <a:r>
              <a:rPr lang="zh-CN" altLang="zh-CN" dirty="0">
                <a:solidFill>
                  <a:srgbClr val="333333"/>
                </a:solidFill>
                <a:ea typeface="Monaco"/>
              </a:rPr>
              <a:t> </a:t>
            </a:r>
            <a:r>
              <a:rPr lang="zh-CN" altLang="zh-CN" dirty="0">
                <a:solidFill>
                  <a:srgbClr val="000000"/>
                </a:solidFill>
                <a:latin typeface="Arial Unicode MS" panose="020B0604020202020204" pitchFamily="34" charset="-122"/>
                <a:ea typeface="Monaco"/>
              </a:rPr>
              <a:t>* </a:t>
            </a:r>
            <a:r>
              <a:rPr lang="zh-CN" altLang="zh-CN" b="1" dirty="0">
                <a:solidFill>
                  <a:srgbClr val="FF7800"/>
                </a:solidFill>
                <a:latin typeface="Arial Unicode MS" panose="020B0604020202020204" pitchFamily="34" charset="-122"/>
                <a:ea typeface="Monaco"/>
              </a:rPr>
              <a:t>from</a:t>
            </a:r>
            <a:r>
              <a:rPr lang="zh-CN" altLang="zh-CN" dirty="0">
                <a:solidFill>
                  <a:srgbClr val="333333"/>
                </a:solidFill>
                <a:ea typeface="Monaco"/>
              </a:rPr>
              <a:t> </a:t>
            </a:r>
            <a:r>
              <a:rPr lang="zh-CN" altLang="zh-CN" dirty="0">
                <a:solidFill>
                  <a:srgbClr val="000000"/>
                </a:solidFill>
                <a:latin typeface="Arial Unicode MS" panose="020B0604020202020204" pitchFamily="34" charset="-122"/>
                <a:ea typeface="Monaco"/>
              </a:rPr>
              <a:t>B</a:t>
            </a:r>
            <a:endParaRPr lang="zh-CN" altLang="zh-CN" sz="4400" dirty="0">
              <a:latin typeface="Arial" panose="020B0604020202020204" pitchFamily="34" charset="0"/>
            </a:endParaRPr>
          </a:p>
        </p:txBody>
      </p:sp>
      <p:sp>
        <p:nvSpPr>
          <p:cNvPr id="7" name="矩形 6"/>
          <p:cNvSpPr/>
          <p:nvPr/>
        </p:nvSpPr>
        <p:spPr>
          <a:xfrm>
            <a:off x="656967" y="4240188"/>
            <a:ext cx="2868827" cy="923330"/>
          </a:xfrm>
          <a:prstGeom prst="rect">
            <a:avLst/>
          </a:prstGeom>
        </p:spPr>
        <p:txBody>
          <a:bodyPr wrap="square">
            <a:spAutoFit/>
          </a:bodyPr>
          <a:lstStyle/>
          <a:p>
            <a:pPr lvl="0" eaLnBrk="0" fontAlgn="base" hangingPunct="0">
              <a:spcBef>
                <a:spcPct val="0"/>
              </a:spcBef>
              <a:spcAft>
                <a:spcPct val="0"/>
              </a:spcAft>
            </a:pPr>
            <a:r>
              <a:rPr lang="zh-CN" altLang="en-US" dirty="0" smtClean="0">
                <a:solidFill>
                  <a:srgbClr val="00B050"/>
                </a:solidFill>
              </a:rPr>
              <a:t>笛卡尔积：</a:t>
            </a:r>
            <a:endParaRPr lang="en-US" altLang="zh-CN" b="1" dirty="0">
              <a:solidFill>
                <a:srgbClr val="00B050"/>
              </a:solidFill>
              <a:latin typeface="Arial Unicode MS" panose="020B0604020202020204" pitchFamily="34" charset="-122"/>
              <a:ea typeface="Monaco"/>
            </a:endParaRPr>
          </a:p>
          <a:p>
            <a:pPr lvl="0" eaLnBrk="0" fontAlgn="base" hangingPunct="0">
              <a:spcBef>
                <a:spcPct val="0"/>
              </a:spcBef>
              <a:spcAft>
                <a:spcPct val="0"/>
              </a:spcAft>
            </a:pPr>
            <a:r>
              <a:rPr lang="zh-CN" altLang="zh-CN" b="1" dirty="0">
                <a:solidFill>
                  <a:srgbClr val="FF7800"/>
                </a:solidFill>
                <a:latin typeface="Arial Unicode MS" panose="020B0604020202020204" pitchFamily="34" charset="-122"/>
                <a:ea typeface="Monaco"/>
              </a:rPr>
              <a:t>select</a:t>
            </a:r>
            <a:r>
              <a:rPr lang="zh-CN" altLang="zh-CN" dirty="0">
                <a:solidFill>
                  <a:srgbClr val="333333"/>
                </a:solidFill>
                <a:ea typeface="Monaco"/>
              </a:rPr>
              <a:t> </a:t>
            </a:r>
            <a:r>
              <a:rPr lang="zh-CN" altLang="zh-CN" dirty="0">
                <a:solidFill>
                  <a:srgbClr val="000000"/>
                </a:solidFill>
                <a:latin typeface="Arial Unicode MS" panose="020B0604020202020204" pitchFamily="34" charset="-122"/>
                <a:ea typeface="Monaco"/>
              </a:rPr>
              <a:t>* </a:t>
            </a:r>
            <a:r>
              <a:rPr lang="zh-CN" altLang="zh-CN" b="1" dirty="0">
                <a:solidFill>
                  <a:srgbClr val="FF7800"/>
                </a:solidFill>
                <a:latin typeface="Arial Unicode MS" panose="020B0604020202020204" pitchFamily="34" charset="-122"/>
                <a:ea typeface="Monaco"/>
              </a:rPr>
              <a:t>from</a:t>
            </a:r>
            <a:r>
              <a:rPr lang="zh-CN" altLang="zh-CN" dirty="0">
                <a:solidFill>
                  <a:srgbClr val="333333"/>
                </a:solidFill>
                <a:ea typeface="Monaco"/>
              </a:rPr>
              <a:t> </a:t>
            </a:r>
            <a:r>
              <a:rPr lang="zh-CN" altLang="zh-CN" dirty="0" smtClean="0">
                <a:solidFill>
                  <a:srgbClr val="000000"/>
                </a:solidFill>
                <a:latin typeface="Arial Unicode MS" panose="020B0604020202020204" pitchFamily="34" charset="-122"/>
                <a:ea typeface="Monaco"/>
              </a:rPr>
              <a:t>A</a:t>
            </a:r>
            <a:r>
              <a:rPr lang="en-US" altLang="zh-CN" dirty="0" smtClean="0">
                <a:solidFill>
                  <a:srgbClr val="000000"/>
                </a:solidFill>
                <a:latin typeface="Arial Unicode MS" panose="020B0604020202020204" pitchFamily="34" charset="-122"/>
                <a:ea typeface="Monaco"/>
              </a:rPr>
              <a:t>, B</a:t>
            </a:r>
            <a:endParaRPr lang="zh-CN" altLang="zh-CN" sz="500" dirty="0"/>
          </a:p>
          <a:p>
            <a:pPr lvl="0" eaLnBrk="0" fontAlgn="base" hangingPunct="0">
              <a:spcBef>
                <a:spcPct val="0"/>
              </a:spcBef>
              <a:spcAft>
                <a:spcPct val="0"/>
              </a:spcAft>
            </a:pPr>
            <a:endParaRPr lang="en-US" altLang="zh-CN" b="1" dirty="0" smtClean="0">
              <a:solidFill>
                <a:srgbClr val="FF7800"/>
              </a:solidFill>
              <a:latin typeface="Arial Unicode MS" panose="020B0604020202020204" pitchFamily="34" charset="-122"/>
              <a:ea typeface="Monaco"/>
            </a:endParaRPr>
          </a:p>
        </p:txBody>
      </p:sp>
    </p:spTree>
    <p:extLst>
      <p:ext uri="{BB962C8B-B14F-4D97-AF65-F5344CB8AC3E}">
        <p14:creationId xmlns:p14="http://schemas.microsoft.com/office/powerpoint/2010/main" val="40533129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idx="4294967295"/>
          </p:nvPr>
        </p:nvSpPr>
        <p:spPr/>
        <p:txBody>
          <a:bodyPr/>
          <a:lstStyle/>
          <a:p>
            <a:pPr eaLnBrk="1" hangingPunct="1"/>
            <a:r>
              <a:rPr lang="zh-CN" altLang="en-US" sz="3600" dirty="0" smtClean="0">
                <a:latin typeface="宋体" panose="02010600030101010101" pitchFamily="2" charset="-122"/>
              </a:rPr>
              <a:t>集合查询（续）</a:t>
            </a:r>
          </a:p>
        </p:txBody>
      </p:sp>
      <p:sp>
        <p:nvSpPr>
          <p:cNvPr id="69635" name="Rectangle 3"/>
          <p:cNvSpPr>
            <a:spLocks noGrp="1" noChangeArrowheads="1"/>
          </p:cNvSpPr>
          <p:nvPr>
            <p:ph type="body" idx="4294967295"/>
          </p:nvPr>
        </p:nvSpPr>
        <p:spPr>
          <a:xfrm>
            <a:off x="250825" y="1325563"/>
            <a:ext cx="8893175" cy="4495800"/>
          </a:xfrm>
        </p:spPr>
        <p:txBody>
          <a:bodyPr>
            <a:normAutofit lnSpcReduction="10000"/>
          </a:bodyPr>
          <a:lstStyle/>
          <a:p>
            <a:pPr eaLnBrk="1" hangingPunct="1">
              <a:lnSpc>
                <a:spcPct val="120000"/>
              </a:lnSpc>
              <a:spcBef>
                <a:spcPct val="0"/>
              </a:spcBef>
              <a:buFont typeface="Wingdings" panose="05000000000000000000" pitchFamily="2" charset="2"/>
              <a:buNone/>
            </a:pPr>
            <a:r>
              <a:rPr lang="en-US" altLang="zh-CN" sz="2400" dirty="0" smtClean="0"/>
              <a:t>[</a:t>
            </a:r>
            <a:r>
              <a:rPr lang="zh-CN" altLang="en-US" sz="2400" dirty="0" smtClean="0"/>
              <a:t>例 </a:t>
            </a:r>
            <a:r>
              <a:rPr lang="en-US" altLang="zh-CN" sz="2400" dirty="0" smtClean="0"/>
              <a:t>3.64]  </a:t>
            </a:r>
            <a:r>
              <a:rPr lang="zh-CN" altLang="en-US" sz="2400" dirty="0" smtClean="0"/>
              <a:t>查询计算机科学系的学生及年龄不大于</a:t>
            </a:r>
            <a:r>
              <a:rPr lang="en-US" altLang="zh-CN" sz="2400" dirty="0" smtClean="0"/>
              <a:t>19</a:t>
            </a:r>
            <a:r>
              <a:rPr lang="zh-CN" altLang="en-US" sz="2400" dirty="0" smtClean="0"/>
              <a:t>岁的学生。</a:t>
            </a:r>
          </a:p>
          <a:p>
            <a:pPr eaLnBrk="1" hangingPunct="1">
              <a:lnSpc>
                <a:spcPct val="120000"/>
              </a:lnSpc>
              <a:spcBef>
                <a:spcPct val="0"/>
              </a:spcBef>
              <a:buFont typeface="Wingdings" panose="05000000000000000000" pitchFamily="2" charset="2"/>
              <a:buNone/>
            </a:pPr>
            <a:r>
              <a:rPr lang="en-US" altLang="zh-CN" sz="2200" dirty="0" smtClean="0"/>
              <a:t>        SELECT *</a:t>
            </a:r>
          </a:p>
          <a:p>
            <a:pPr eaLnBrk="1" hangingPunct="1">
              <a:lnSpc>
                <a:spcPct val="120000"/>
              </a:lnSpc>
              <a:spcBef>
                <a:spcPct val="0"/>
              </a:spcBef>
              <a:buFont typeface="Wingdings" panose="05000000000000000000" pitchFamily="2" charset="2"/>
              <a:buNone/>
            </a:pPr>
            <a:r>
              <a:rPr lang="en-US" altLang="zh-CN" sz="2200" dirty="0" smtClean="0"/>
              <a:t>        FROM Student</a:t>
            </a:r>
          </a:p>
          <a:p>
            <a:pPr eaLnBrk="1" hangingPunct="1">
              <a:lnSpc>
                <a:spcPct val="120000"/>
              </a:lnSpc>
              <a:spcBef>
                <a:spcPct val="0"/>
              </a:spcBef>
              <a:buFont typeface="Wingdings" panose="05000000000000000000" pitchFamily="2" charset="2"/>
              <a:buNone/>
            </a:pPr>
            <a:r>
              <a:rPr lang="en-US" altLang="zh-CN" sz="2200" dirty="0" smtClean="0"/>
              <a:t>        WHERE </a:t>
            </a:r>
            <a:r>
              <a:rPr lang="en-US" altLang="zh-CN" sz="2200" dirty="0" err="1" smtClean="0"/>
              <a:t>Sdept</a:t>
            </a:r>
            <a:r>
              <a:rPr lang="en-US" altLang="zh-CN" sz="2200" dirty="0" smtClean="0"/>
              <a:t>= 'CS'</a:t>
            </a:r>
          </a:p>
          <a:p>
            <a:pPr eaLnBrk="1" hangingPunct="1">
              <a:lnSpc>
                <a:spcPct val="120000"/>
              </a:lnSpc>
              <a:spcBef>
                <a:spcPct val="0"/>
              </a:spcBef>
              <a:buFont typeface="Wingdings" panose="05000000000000000000" pitchFamily="2" charset="2"/>
              <a:buNone/>
            </a:pPr>
            <a:r>
              <a:rPr lang="en-US" altLang="zh-CN" sz="2200" dirty="0" smtClean="0"/>
              <a:t>        UNION</a:t>
            </a:r>
          </a:p>
          <a:p>
            <a:pPr eaLnBrk="1" hangingPunct="1">
              <a:lnSpc>
                <a:spcPct val="120000"/>
              </a:lnSpc>
              <a:spcBef>
                <a:spcPct val="0"/>
              </a:spcBef>
              <a:buFont typeface="Wingdings" panose="05000000000000000000" pitchFamily="2" charset="2"/>
              <a:buNone/>
            </a:pPr>
            <a:r>
              <a:rPr lang="en-US" altLang="zh-CN" sz="2200" dirty="0" smtClean="0"/>
              <a:t>        SELECT *</a:t>
            </a:r>
          </a:p>
          <a:p>
            <a:pPr eaLnBrk="1" hangingPunct="1">
              <a:lnSpc>
                <a:spcPct val="120000"/>
              </a:lnSpc>
              <a:spcBef>
                <a:spcPct val="0"/>
              </a:spcBef>
              <a:buFont typeface="Wingdings" panose="05000000000000000000" pitchFamily="2" charset="2"/>
              <a:buNone/>
            </a:pPr>
            <a:r>
              <a:rPr lang="en-US" altLang="zh-CN" sz="2200" dirty="0" smtClean="0"/>
              <a:t>        FROM Student</a:t>
            </a:r>
          </a:p>
          <a:p>
            <a:pPr eaLnBrk="1" hangingPunct="1">
              <a:lnSpc>
                <a:spcPct val="120000"/>
              </a:lnSpc>
              <a:spcBef>
                <a:spcPct val="0"/>
              </a:spcBef>
              <a:buFont typeface="Wingdings" panose="05000000000000000000" pitchFamily="2" charset="2"/>
              <a:buNone/>
            </a:pPr>
            <a:r>
              <a:rPr lang="en-US" altLang="zh-CN" sz="2200" dirty="0" smtClean="0"/>
              <a:t>        WHERE Sage&lt;=19</a:t>
            </a:r>
            <a:r>
              <a:rPr lang="zh-CN" altLang="en-US" sz="2200" dirty="0" smtClean="0"/>
              <a:t>;</a:t>
            </a:r>
          </a:p>
          <a:p>
            <a:pPr eaLnBrk="1" hangingPunct="1">
              <a:lnSpc>
                <a:spcPct val="120000"/>
              </a:lnSpc>
              <a:spcBef>
                <a:spcPct val="0"/>
              </a:spcBef>
              <a:buClr>
                <a:schemeClr val="accent1"/>
              </a:buClr>
              <a:buSzPct val="75000"/>
              <a:buFont typeface="Wingdings" panose="05000000000000000000" pitchFamily="2" charset="2"/>
              <a:buChar char="n"/>
            </a:pPr>
            <a:endParaRPr lang="en-US" altLang="zh-CN" sz="2200" dirty="0" smtClean="0"/>
          </a:p>
          <a:p>
            <a:pPr eaLnBrk="1" hangingPunct="1">
              <a:lnSpc>
                <a:spcPct val="120000"/>
              </a:lnSpc>
              <a:spcBef>
                <a:spcPct val="0"/>
              </a:spcBef>
              <a:buFont typeface="Wingdings" panose="05000000000000000000" pitchFamily="2" charset="2"/>
              <a:buChar char="n"/>
            </a:pPr>
            <a:r>
              <a:rPr lang="en-US" altLang="zh-CN" sz="2400" dirty="0" smtClean="0"/>
              <a:t>UNION</a:t>
            </a:r>
            <a:r>
              <a:rPr lang="zh-CN" altLang="en-US" sz="2400" dirty="0" smtClean="0"/>
              <a:t>：将多个查询结果合并起来时，系统自动去掉重复元组</a:t>
            </a:r>
          </a:p>
          <a:p>
            <a:pPr eaLnBrk="1" hangingPunct="1">
              <a:lnSpc>
                <a:spcPct val="120000"/>
              </a:lnSpc>
              <a:spcBef>
                <a:spcPct val="0"/>
              </a:spcBef>
              <a:buFont typeface="Wingdings" panose="05000000000000000000" pitchFamily="2" charset="2"/>
              <a:buChar char="n"/>
            </a:pPr>
            <a:r>
              <a:rPr lang="en-US" altLang="zh-CN" sz="2400" dirty="0" smtClean="0"/>
              <a:t>UNION ALL</a:t>
            </a:r>
            <a:r>
              <a:rPr lang="zh-CN" altLang="en-US" sz="2400" dirty="0" smtClean="0"/>
              <a:t>：将多个查询结果合并起来时，保留重复元组 </a:t>
            </a:r>
          </a:p>
        </p:txBody>
      </p:sp>
    </p:spTree>
    <p:extLst>
      <p:ext uri="{BB962C8B-B14F-4D97-AF65-F5344CB8AC3E}">
        <p14:creationId xmlns:p14="http://schemas.microsoft.com/office/powerpoint/2010/main" val="184156921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idx="4294967295"/>
          </p:nvPr>
        </p:nvSpPr>
        <p:spPr/>
        <p:txBody>
          <a:bodyPr/>
          <a:lstStyle/>
          <a:p>
            <a:pPr eaLnBrk="1" hangingPunct="1"/>
            <a:r>
              <a:rPr lang="zh-CN" altLang="en-US" sz="3600" smtClean="0">
                <a:latin typeface="宋体" panose="02010600030101010101" pitchFamily="2" charset="-122"/>
              </a:rPr>
              <a:t>集合查询（续）</a:t>
            </a:r>
          </a:p>
        </p:txBody>
      </p:sp>
      <p:sp>
        <p:nvSpPr>
          <p:cNvPr id="71683" name="Rectangle 3"/>
          <p:cNvSpPr>
            <a:spLocks noGrp="1" noChangeArrowheads="1"/>
          </p:cNvSpPr>
          <p:nvPr>
            <p:ph type="body" idx="4294967295"/>
          </p:nvPr>
        </p:nvSpPr>
        <p:spPr/>
        <p:txBody>
          <a:bodyPr>
            <a:normAutofit fontScale="85000" lnSpcReduction="10000"/>
          </a:bodyPr>
          <a:lstStyle/>
          <a:p>
            <a:pPr eaLnBrk="1" hangingPunct="1">
              <a:lnSpc>
                <a:spcPct val="90000"/>
              </a:lnSpc>
              <a:buFont typeface="宋体" panose="02010600030101010101" pitchFamily="2" charset="-122"/>
              <a:buNone/>
            </a:pPr>
            <a:r>
              <a:rPr lang="en-US" altLang="zh-CN" sz="2400" dirty="0" smtClean="0"/>
              <a:t>[</a:t>
            </a:r>
            <a:r>
              <a:rPr lang="zh-CN" altLang="en-US" sz="2400" dirty="0" smtClean="0"/>
              <a:t>例</a:t>
            </a:r>
            <a:r>
              <a:rPr lang="en-US" altLang="zh-CN" sz="2400" dirty="0" smtClean="0"/>
              <a:t>3.66]  </a:t>
            </a:r>
            <a:r>
              <a:rPr lang="zh-CN" altLang="en-US" sz="2400" dirty="0" smtClean="0"/>
              <a:t>查询计算机科学系的学生与年龄不大于</a:t>
            </a:r>
            <a:r>
              <a:rPr lang="en-US" altLang="zh-CN" sz="2400" dirty="0" smtClean="0"/>
              <a:t>19</a:t>
            </a:r>
            <a:r>
              <a:rPr lang="zh-CN" altLang="en-US" sz="2400" dirty="0" smtClean="0"/>
              <a:t>岁的学生的交集。</a:t>
            </a:r>
          </a:p>
          <a:p>
            <a:pPr lvl="3">
              <a:lnSpc>
                <a:spcPct val="90000"/>
              </a:lnSpc>
              <a:buFont typeface="Arial" panose="020B0604020202020204" pitchFamily="34" charset="0"/>
              <a:buNone/>
            </a:pPr>
            <a:r>
              <a:rPr lang="en-US" altLang="zh-CN" sz="2400" dirty="0" smtClean="0"/>
              <a:t>SELECT *</a:t>
            </a:r>
          </a:p>
          <a:p>
            <a:pPr lvl="3">
              <a:buFont typeface="Arial" panose="020B0604020202020204" pitchFamily="34" charset="0"/>
              <a:buNone/>
            </a:pPr>
            <a:r>
              <a:rPr lang="en-US" altLang="zh-CN" sz="2400" dirty="0" smtClean="0"/>
              <a:t>FROM Student</a:t>
            </a:r>
          </a:p>
          <a:p>
            <a:pPr lvl="3">
              <a:buFont typeface="Arial" panose="020B0604020202020204" pitchFamily="34" charset="0"/>
              <a:buNone/>
            </a:pPr>
            <a:r>
              <a:rPr lang="en-US" altLang="zh-CN" sz="2400" dirty="0" smtClean="0"/>
              <a:t>WHERE </a:t>
            </a:r>
            <a:r>
              <a:rPr lang="en-US" altLang="zh-CN" sz="2400" dirty="0" err="1" smtClean="0"/>
              <a:t>Sdept</a:t>
            </a:r>
            <a:r>
              <a:rPr lang="en-US" altLang="zh-CN" sz="2400" dirty="0" smtClean="0"/>
              <a:t>='CS' </a:t>
            </a:r>
          </a:p>
          <a:p>
            <a:pPr lvl="3">
              <a:buFont typeface="Arial" panose="020B0604020202020204" pitchFamily="34" charset="0"/>
              <a:buNone/>
            </a:pPr>
            <a:r>
              <a:rPr lang="en-US" altLang="zh-CN" sz="2400" dirty="0" smtClean="0"/>
              <a:t>INTERSECT</a:t>
            </a:r>
          </a:p>
          <a:p>
            <a:pPr lvl="3">
              <a:buFont typeface="Arial" panose="020B0604020202020204" pitchFamily="34" charset="0"/>
              <a:buNone/>
            </a:pPr>
            <a:r>
              <a:rPr lang="en-US" altLang="zh-CN" sz="2400" dirty="0" smtClean="0"/>
              <a:t>SELECT *</a:t>
            </a:r>
          </a:p>
          <a:p>
            <a:pPr lvl="3">
              <a:buFont typeface="Arial" panose="020B0604020202020204" pitchFamily="34" charset="0"/>
              <a:buNone/>
            </a:pPr>
            <a:r>
              <a:rPr lang="en-US" altLang="zh-CN" sz="2400" dirty="0" smtClean="0"/>
              <a:t>FROM Student</a:t>
            </a:r>
          </a:p>
          <a:p>
            <a:pPr lvl="3">
              <a:buFont typeface="Arial" panose="020B0604020202020204" pitchFamily="34" charset="0"/>
              <a:buNone/>
            </a:pPr>
            <a:r>
              <a:rPr lang="en-US" altLang="zh-CN" sz="2400" dirty="0" smtClean="0"/>
              <a:t>WHERE Sage&lt;=19</a:t>
            </a:r>
            <a:r>
              <a:rPr lang="en-US" altLang="zh-CN" sz="1800" dirty="0" smtClean="0"/>
              <a:t> </a:t>
            </a:r>
          </a:p>
          <a:p>
            <a:pPr>
              <a:buNone/>
            </a:pPr>
            <a:r>
              <a:rPr lang="en-US" altLang="zh-CN" sz="2400" dirty="0"/>
              <a:t>[</a:t>
            </a:r>
            <a:r>
              <a:rPr lang="zh-CN" altLang="en-US" sz="2400" dirty="0"/>
              <a:t>例 </a:t>
            </a:r>
            <a:r>
              <a:rPr lang="en-US" altLang="zh-CN" sz="2400" dirty="0"/>
              <a:t>3.66] </a:t>
            </a:r>
            <a:r>
              <a:rPr lang="zh-CN" altLang="en-US" sz="2400" dirty="0"/>
              <a:t>实际上就是查询计算机科学系中年龄</a:t>
            </a:r>
            <a:r>
              <a:rPr lang="zh-CN" altLang="en-US" sz="2400" dirty="0" smtClean="0"/>
              <a:t>不大于</a:t>
            </a:r>
            <a:r>
              <a:rPr lang="en-US" altLang="zh-CN" sz="2400" dirty="0"/>
              <a:t>19</a:t>
            </a:r>
            <a:r>
              <a:rPr lang="zh-CN" altLang="en-US" sz="2400" dirty="0"/>
              <a:t>岁的学生。</a:t>
            </a:r>
          </a:p>
          <a:p>
            <a:pPr>
              <a:buNone/>
            </a:pPr>
            <a:r>
              <a:rPr lang="zh-CN" altLang="en-US" dirty="0"/>
              <a:t>		</a:t>
            </a:r>
            <a:r>
              <a:rPr lang="en-US" altLang="zh-CN" sz="2400" dirty="0"/>
              <a:t>SELECT *</a:t>
            </a:r>
          </a:p>
          <a:p>
            <a:pPr>
              <a:buNone/>
            </a:pPr>
            <a:r>
              <a:rPr lang="en-US" altLang="zh-CN" sz="2400" dirty="0"/>
              <a:t>        	FROM Student</a:t>
            </a:r>
          </a:p>
          <a:p>
            <a:pPr>
              <a:buNone/>
            </a:pPr>
            <a:r>
              <a:rPr lang="en-US" altLang="zh-CN" sz="2400" dirty="0"/>
              <a:t>        	WHERE </a:t>
            </a:r>
            <a:r>
              <a:rPr lang="en-US" altLang="zh-CN" sz="2400" dirty="0" err="1"/>
              <a:t>Sdept</a:t>
            </a:r>
            <a:r>
              <a:rPr lang="en-US" altLang="zh-CN" sz="2400" dirty="0"/>
              <a:t>= 'CS' AND  Sage&lt;=19</a:t>
            </a:r>
            <a:r>
              <a:rPr lang="zh-CN" altLang="en-US" sz="2400" dirty="0"/>
              <a:t>;</a:t>
            </a:r>
          </a:p>
          <a:p>
            <a:pPr lvl="3">
              <a:buFont typeface="Arial" panose="020B0604020202020204" pitchFamily="34" charset="0"/>
              <a:buNone/>
            </a:pPr>
            <a:endParaRPr lang="en-US" altLang="zh-CN" sz="1800" dirty="0" smtClean="0"/>
          </a:p>
        </p:txBody>
      </p:sp>
    </p:spTree>
    <p:extLst>
      <p:ext uri="{BB962C8B-B14F-4D97-AF65-F5344CB8AC3E}">
        <p14:creationId xmlns:p14="http://schemas.microsoft.com/office/powerpoint/2010/main" val="390364222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3730" name="Rectangle 2"/>
          <p:cNvSpPr>
            <a:spLocks noGrp="1" noChangeArrowheads="1"/>
          </p:cNvSpPr>
          <p:nvPr>
            <p:ph type="title" idx="4294967295"/>
          </p:nvPr>
        </p:nvSpPr>
        <p:spPr/>
        <p:txBody>
          <a:bodyPr/>
          <a:lstStyle/>
          <a:p>
            <a:pPr eaLnBrk="1" hangingPunct="1"/>
            <a:r>
              <a:rPr lang="zh-CN" altLang="en-US" sz="3600" smtClean="0">
                <a:latin typeface="宋体" panose="02010600030101010101" pitchFamily="2" charset="-122"/>
              </a:rPr>
              <a:t>集合查询（续）</a:t>
            </a:r>
          </a:p>
        </p:txBody>
      </p:sp>
      <p:sp>
        <p:nvSpPr>
          <p:cNvPr id="73731" name="Rectangle 3"/>
          <p:cNvSpPr>
            <a:spLocks noGrp="1" noChangeArrowheads="1"/>
          </p:cNvSpPr>
          <p:nvPr>
            <p:ph type="body" idx="4294967295"/>
          </p:nvPr>
        </p:nvSpPr>
        <p:spPr>
          <a:xfrm>
            <a:off x="827088" y="1412874"/>
            <a:ext cx="7772400" cy="5089525"/>
          </a:xfrm>
        </p:spPr>
        <p:txBody>
          <a:bodyPr>
            <a:normAutofit fontScale="85000" lnSpcReduction="20000"/>
          </a:bodyPr>
          <a:lstStyle/>
          <a:p>
            <a:pPr eaLnBrk="1" hangingPunct="1">
              <a:lnSpc>
                <a:spcPct val="90000"/>
              </a:lnSpc>
              <a:buFont typeface="Wingdings" panose="05000000000000000000" pitchFamily="2" charset="2"/>
              <a:buNone/>
            </a:pPr>
            <a:r>
              <a:rPr lang="en-US" altLang="zh-CN" sz="2400" dirty="0" smtClean="0"/>
              <a:t>[</a:t>
            </a:r>
            <a:r>
              <a:rPr lang="zh-CN" altLang="en-US" sz="2400" dirty="0" smtClean="0"/>
              <a:t>例 </a:t>
            </a:r>
            <a:r>
              <a:rPr lang="en-US" altLang="zh-CN" sz="2400" dirty="0" smtClean="0"/>
              <a:t>3.67]</a:t>
            </a:r>
            <a:r>
              <a:rPr lang="zh-CN" altLang="en-US" sz="2400" dirty="0" smtClean="0"/>
              <a:t>查询既选修了课程</a:t>
            </a:r>
            <a:r>
              <a:rPr lang="en-US" altLang="zh-CN" sz="2400" dirty="0" smtClean="0"/>
              <a:t>1</a:t>
            </a:r>
            <a:r>
              <a:rPr lang="zh-CN" altLang="en-US" sz="2400" dirty="0" smtClean="0"/>
              <a:t>又选修了课程</a:t>
            </a:r>
            <a:r>
              <a:rPr lang="en-US" altLang="zh-CN" sz="2400" dirty="0" smtClean="0"/>
              <a:t>2</a:t>
            </a:r>
            <a:r>
              <a:rPr lang="zh-CN" altLang="en-US" sz="2400" dirty="0" smtClean="0"/>
              <a:t>的学生。</a:t>
            </a:r>
          </a:p>
          <a:p>
            <a:pPr lvl="1">
              <a:buFont typeface="Wingdings" panose="05000000000000000000" pitchFamily="2" charset="2"/>
              <a:buNone/>
            </a:pPr>
            <a:r>
              <a:rPr lang="zh-CN" altLang="en-US" sz="2000" dirty="0" smtClean="0"/>
              <a:t>     </a:t>
            </a:r>
            <a:r>
              <a:rPr lang="en-US" altLang="zh-CN" dirty="0" smtClean="0"/>
              <a:t>SELECT </a:t>
            </a:r>
            <a:r>
              <a:rPr lang="en-US" altLang="zh-CN" dirty="0" err="1" smtClean="0"/>
              <a:t>Sno</a:t>
            </a:r>
            <a:endParaRPr lang="en-US" altLang="zh-CN" dirty="0" smtClean="0"/>
          </a:p>
          <a:p>
            <a:pPr lvl="1">
              <a:buFont typeface="Wingdings" panose="05000000000000000000" pitchFamily="2" charset="2"/>
              <a:buNone/>
            </a:pPr>
            <a:r>
              <a:rPr lang="en-US" altLang="zh-CN" dirty="0" smtClean="0"/>
              <a:t>    FROM SC</a:t>
            </a:r>
          </a:p>
          <a:p>
            <a:pPr lvl="1">
              <a:buFont typeface="Wingdings" panose="05000000000000000000" pitchFamily="2" charset="2"/>
              <a:buNone/>
            </a:pPr>
            <a:r>
              <a:rPr lang="en-US" altLang="zh-CN" dirty="0" smtClean="0"/>
              <a:t>    WHERE </a:t>
            </a:r>
            <a:r>
              <a:rPr lang="en-US" altLang="zh-CN" dirty="0" err="1" smtClean="0"/>
              <a:t>Cno</a:t>
            </a:r>
            <a:r>
              <a:rPr lang="en-US" altLang="zh-CN" dirty="0" smtClean="0"/>
              <a:t>=' 1 ' </a:t>
            </a:r>
          </a:p>
          <a:p>
            <a:pPr lvl="1">
              <a:buFont typeface="Wingdings" panose="05000000000000000000" pitchFamily="2" charset="2"/>
              <a:buNone/>
            </a:pPr>
            <a:r>
              <a:rPr lang="en-US" altLang="zh-CN" dirty="0" smtClean="0"/>
              <a:t>    INTERSECT</a:t>
            </a:r>
          </a:p>
          <a:p>
            <a:pPr lvl="1">
              <a:buFont typeface="Wingdings" panose="05000000000000000000" pitchFamily="2" charset="2"/>
              <a:buNone/>
            </a:pPr>
            <a:r>
              <a:rPr lang="en-US" altLang="zh-CN" dirty="0" smtClean="0"/>
              <a:t>    SELECT </a:t>
            </a:r>
            <a:r>
              <a:rPr lang="en-US" altLang="zh-CN" dirty="0" err="1" smtClean="0"/>
              <a:t>Sno</a:t>
            </a:r>
            <a:endParaRPr lang="en-US" altLang="zh-CN" dirty="0" smtClean="0"/>
          </a:p>
          <a:p>
            <a:pPr lvl="1">
              <a:buFont typeface="Wingdings" panose="05000000000000000000" pitchFamily="2" charset="2"/>
              <a:buNone/>
            </a:pPr>
            <a:r>
              <a:rPr lang="en-US" altLang="zh-CN" dirty="0" smtClean="0"/>
              <a:t>    FROM SC</a:t>
            </a:r>
          </a:p>
          <a:p>
            <a:pPr lvl="1">
              <a:buFont typeface="Wingdings" panose="05000000000000000000" pitchFamily="2" charset="2"/>
              <a:buNone/>
            </a:pPr>
            <a:r>
              <a:rPr lang="en-US" altLang="zh-CN" dirty="0" smtClean="0"/>
              <a:t>    WHERE </a:t>
            </a:r>
            <a:r>
              <a:rPr lang="en-US" altLang="zh-CN" dirty="0" err="1" smtClean="0"/>
              <a:t>Cno</a:t>
            </a:r>
            <a:r>
              <a:rPr lang="en-US" altLang="zh-CN" dirty="0" smtClean="0"/>
              <a:t>='2 '</a:t>
            </a:r>
            <a:r>
              <a:rPr lang="zh-CN" altLang="en-US" dirty="0" smtClean="0"/>
              <a:t>;</a:t>
            </a:r>
            <a:endParaRPr lang="en-US" altLang="zh-CN" dirty="0" smtClean="0"/>
          </a:p>
          <a:p>
            <a:pPr>
              <a:buNone/>
            </a:pPr>
            <a:r>
              <a:rPr lang="en-US" altLang="zh-CN" sz="2400" dirty="0"/>
              <a:t>[</a:t>
            </a:r>
            <a:r>
              <a:rPr lang="zh-CN" altLang="en-US" sz="2400" dirty="0"/>
              <a:t>例</a:t>
            </a:r>
            <a:r>
              <a:rPr lang="en-US" altLang="zh-CN" sz="2400" dirty="0"/>
              <a:t>3.67]</a:t>
            </a:r>
            <a:r>
              <a:rPr lang="zh-CN" altLang="en-US" sz="2400" dirty="0"/>
              <a:t>也可以表示为：</a:t>
            </a:r>
          </a:p>
          <a:p>
            <a:pPr>
              <a:buNone/>
            </a:pPr>
            <a:r>
              <a:rPr lang="zh-CN" altLang="en-US" dirty="0"/>
              <a:t>        </a:t>
            </a:r>
            <a:r>
              <a:rPr lang="en-US" altLang="zh-CN" sz="2400" dirty="0"/>
              <a:t>SELECT </a:t>
            </a:r>
            <a:r>
              <a:rPr lang="en-US" altLang="zh-CN" sz="2400" dirty="0" err="1"/>
              <a:t>Sno</a:t>
            </a:r>
            <a:endParaRPr lang="en-US" altLang="zh-CN" sz="2400" dirty="0"/>
          </a:p>
          <a:p>
            <a:pPr>
              <a:buNone/>
            </a:pPr>
            <a:r>
              <a:rPr lang="en-US" altLang="zh-CN" sz="2400" dirty="0"/>
              <a:t>          FROM    SC</a:t>
            </a:r>
          </a:p>
          <a:p>
            <a:pPr>
              <a:buNone/>
            </a:pPr>
            <a:r>
              <a:rPr lang="en-US" altLang="zh-CN" sz="2400" dirty="0"/>
              <a:t>          WHERE </a:t>
            </a:r>
            <a:r>
              <a:rPr lang="en-US" altLang="zh-CN" sz="2400" dirty="0" err="1"/>
              <a:t>Cno</a:t>
            </a:r>
            <a:r>
              <a:rPr lang="en-US" altLang="zh-CN" sz="2400" dirty="0"/>
              <a:t>=' 1 ' AND </a:t>
            </a:r>
            <a:r>
              <a:rPr lang="en-US" altLang="zh-CN" sz="2400" dirty="0" err="1"/>
              <a:t>Sno</a:t>
            </a:r>
            <a:r>
              <a:rPr lang="en-US" altLang="zh-CN" sz="2400" dirty="0"/>
              <a:t> IN</a:t>
            </a:r>
          </a:p>
          <a:p>
            <a:pPr>
              <a:buNone/>
            </a:pPr>
            <a:r>
              <a:rPr lang="en-US" altLang="zh-CN" sz="2400" dirty="0"/>
              <a:t>                                                </a:t>
            </a:r>
            <a:r>
              <a:rPr lang="zh-CN" altLang="en-US" sz="2400" dirty="0"/>
              <a:t>(</a:t>
            </a:r>
            <a:r>
              <a:rPr lang="en-US" altLang="zh-CN" sz="2400" dirty="0"/>
              <a:t>SELECT </a:t>
            </a:r>
            <a:r>
              <a:rPr lang="en-US" altLang="zh-CN" sz="2400" dirty="0" err="1"/>
              <a:t>Sno</a:t>
            </a:r>
            <a:endParaRPr lang="en-US" altLang="zh-CN" sz="2400" dirty="0"/>
          </a:p>
          <a:p>
            <a:pPr>
              <a:buNone/>
            </a:pPr>
            <a:r>
              <a:rPr lang="en-US" altLang="zh-CN" sz="2400" dirty="0"/>
              <a:t>                                                 FROM SC</a:t>
            </a:r>
          </a:p>
          <a:p>
            <a:pPr>
              <a:buNone/>
            </a:pPr>
            <a:r>
              <a:rPr lang="en-US" altLang="zh-CN" sz="2400" dirty="0"/>
              <a:t>                                                 WHERE </a:t>
            </a:r>
            <a:r>
              <a:rPr lang="en-US" altLang="zh-CN" sz="2400" dirty="0" err="1"/>
              <a:t>Cno</a:t>
            </a:r>
            <a:r>
              <a:rPr lang="en-US" altLang="zh-CN" sz="2400" dirty="0"/>
              <a:t>=' 2 '</a:t>
            </a:r>
            <a:r>
              <a:rPr lang="zh-CN" altLang="en-US" sz="2400" dirty="0"/>
              <a:t>);</a:t>
            </a:r>
          </a:p>
          <a:p>
            <a:endParaRPr lang="en-US" altLang="zh-CN" sz="2400" dirty="0"/>
          </a:p>
          <a:p>
            <a:pPr lvl="1">
              <a:buFont typeface="Wingdings" panose="05000000000000000000" pitchFamily="2" charset="2"/>
              <a:buNone/>
            </a:pPr>
            <a:endParaRPr lang="zh-CN" altLang="en-US" dirty="0" smtClean="0"/>
          </a:p>
        </p:txBody>
      </p:sp>
    </p:spTree>
    <p:extLst>
      <p:ext uri="{BB962C8B-B14F-4D97-AF65-F5344CB8AC3E}">
        <p14:creationId xmlns:p14="http://schemas.microsoft.com/office/powerpoint/2010/main" val="317756129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en-US" altLang="zh-CN" sz="3600" dirty="0" smtClean="0"/>
              <a:t> </a:t>
            </a:r>
            <a:r>
              <a:rPr lang="zh-CN" altLang="en-US" sz="3600" dirty="0" smtClean="0"/>
              <a:t>关系代数</a:t>
            </a:r>
          </a:p>
        </p:txBody>
      </p:sp>
      <p:sp>
        <p:nvSpPr>
          <p:cNvPr id="77827" name="Rectangle 3"/>
          <p:cNvSpPr>
            <a:spLocks noGrp="1" noChangeArrowheads="1"/>
          </p:cNvSpPr>
          <p:nvPr>
            <p:ph type="body" idx="1"/>
          </p:nvPr>
        </p:nvSpPr>
        <p:spPr/>
        <p:txBody>
          <a:bodyPr/>
          <a:lstStyle/>
          <a:p>
            <a:pPr marL="185738" indent="0">
              <a:lnSpc>
                <a:spcPct val="180000"/>
              </a:lnSpc>
              <a:buNone/>
            </a:pPr>
            <a:r>
              <a:rPr lang="en-US" altLang="zh-CN" dirty="0"/>
              <a:t>1. </a:t>
            </a:r>
            <a:r>
              <a:rPr lang="zh-CN" altLang="en-US" dirty="0"/>
              <a:t>传统的集合运算</a:t>
            </a:r>
          </a:p>
          <a:p>
            <a:pPr marL="185738" indent="0">
              <a:lnSpc>
                <a:spcPct val="180000"/>
              </a:lnSpc>
              <a:buNone/>
            </a:pPr>
            <a:r>
              <a:rPr lang="en-US" altLang="zh-CN" dirty="0">
                <a:solidFill>
                  <a:srgbClr val="00B050"/>
                </a:solidFill>
              </a:rPr>
              <a:t>2. </a:t>
            </a:r>
            <a:r>
              <a:rPr lang="zh-CN" altLang="en-US" dirty="0">
                <a:solidFill>
                  <a:srgbClr val="00B050"/>
                </a:solidFill>
              </a:rPr>
              <a:t>专门的关系运算</a:t>
            </a:r>
          </a:p>
        </p:txBody>
      </p:sp>
    </p:spTree>
    <p:extLst>
      <p:ext uri="{BB962C8B-B14F-4D97-AF65-F5344CB8AC3E}">
        <p14:creationId xmlns:p14="http://schemas.microsoft.com/office/powerpoint/2010/main" val="271148529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zh-CN" altLang="en-US" dirty="0" smtClean="0"/>
              <a:t>专门的关系运算</a:t>
            </a:r>
            <a:endParaRPr lang="en-US" altLang="zh-CN" dirty="0" smtClean="0"/>
          </a:p>
          <a:p>
            <a:pPr lvl="1"/>
            <a:r>
              <a:rPr lang="zh-CN" altLang="en-US" dirty="0" smtClean="0"/>
              <a:t>选择          </a:t>
            </a:r>
            <a:r>
              <a:rPr lang="zh-CN" altLang="zh-CN" b="1" i="1" kern="100" dirty="0" smtClean="0">
                <a:latin typeface="Times New Roman"/>
                <a:cs typeface="Times New Roman"/>
              </a:rPr>
              <a:t>σ</a:t>
            </a:r>
            <a:endParaRPr lang="en-US" altLang="zh-CN" dirty="0" smtClean="0"/>
          </a:p>
          <a:p>
            <a:pPr lvl="1"/>
            <a:r>
              <a:rPr lang="zh-CN" altLang="en-US" dirty="0" smtClean="0"/>
              <a:t>投影          </a:t>
            </a:r>
            <a:r>
              <a:rPr lang="zh-CN" altLang="zh-CN" b="1" kern="100" dirty="0" smtClean="0">
                <a:latin typeface="Times New Roman"/>
                <a:cs typeface="Times New Roman"/>
              </a:rPr>
              <a:t>π</a:t>
            </a:r>
            <a:endParaRPr lang="en-US" altLang="zh-CN" dirty="0" smtClean="0"/>
          </a:p>
          <a:p>
            <a:pPr lvl="1"/>
            <a:r>
              <a:rPr lang="zh-CN" altLang="en-US" dirty="0" smtClean="0"/>
              <a:t>连接</a:t>
            </a:r>
            <a:endParaRPr lang="en-US" altLang="zh-CN" dirty="0" smtClean="0"/>
          </a:p>
          <a:p>
            <a:pPr lvl="1"/>
            <a:r>
              <a:rPr lang="zh-CN" altLang="en-US" dirty="0" smtClean="0"/>
              <a:t>除运算    </a:t>
            </a:r>
            <a:r>
              <a:rPr lang="zh-CN" altLang="zh-CN" b="1" kern="100" dirty="0">
                <a:latin typeface="Times New Roman"/>
                <a:cs typeface="Times New Roman"/>
              </a:rPr>
              <a:t>÷</a:t>
            </a:r>
            <a:endParaRPr lang="zh-CN" altLang="zh-CN" b="1" kern="100" dirty="0">
              <a:latin typeface="宋体"/>
              <a:cs typeface="Courier New"/>
            </a:endParaRPr>
          </a:p>
          <a:p>
            <a:pPr lvl="1"/>
            <a:endParaRPr lang="en-US" altLang="zh-CN" dirty="0" smtClean="0"/>
          </a:p>
        </p:txBody>
      </p:sp>
      <p:sp>
        <p:nvSpPr>
          <p:cNvPr id="5" name="Rectangle 2"/>
          <p:cNvSpPr>
            <a:spLocks noGrp="1" noChangeArrowheads="1"/>
          </p:cNvSpPr>
          <p:nvPr>
            <p:ph type="title"/>
          </p:nvPr>
        </p:nvSpPr>
        <p:spPr>
          <a:xfrm>
            <a:off x="723900" y="0"/>
            <a:ext cx="7886700" cy="1325563"/>
          </a:xfrm>
        </p:spPr>
        <p:txBody>
          <a:bodyPr/>
          <a:lstStyle/>
          <a:p>
            <a:pPr eaLnBrk="1" hangingPunct="1"/>
            <a:r>
              <a:rPr lang="en-US" altLang="zh-CN" sz="3600" dirty="0" smtClean="0"/>
              <a:t>2. </a:t>
            </a:r>
            <a:r>
              <a:rPr lang="zh-CN" altLang="en-US" sz="3600" dirty="0" smtClean="0"/>
              <a:t>专门的关系运算</a:t>
            </a:r>
          </a:p>
        </p:txBody>
      </p:sp>
      <p:sp>
        <p:nvSpPr>
          <p:cNvPr id="6" name="Text Box 6"/>
          <p:cNvSpPr txBox="1">
            <a:spLocks noChangeArrowheads="1"/>
          </p:cNvSpPr>
          <p:nvPr/>
        </p:nvSpPr>
        <p:spPr bwMode="auto">
          <a:xfrm flipV="1">
            <a:off x="2802165" y="3719807"/>
            <a:ext cx="1600200" cy="602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lnSpc>
                <a:spcPct val="80000"/>
              </a:lnSpc>
            </a:pPr>
            <a:r>
              <a:rPr lang="en-US" altLang="zh-CN" sz="600" b="1" i="1"/>
              <a:t> </a:t>
            </a:r>
            <a:endParaRPr lang="en-US" altLang="zh-CN" sz="600" b="1"/>
          </a:p>
        </p:txBody>
      </p:sp>
      <p:grpSp>
        <p:nvGrpSpPr>
          <p:cNvPr id="7" name="Group 4"/>
          <p:cNvGrpSpPr>
            <a:grpSpLocks/>
          </p:cNvGrpSpPr>
          <p:nvPr/>
        </p:nvGrpSpPr>
        <p:grpSpPr bwMode="auto">
          <a:xfrm>
            <a:off x="2113643" y="3003391"/>
            <a:ext cx="1600200" cy="609600"/>
            <a:chOff x="2325" y="6446"/>
            <a:chExt cx="705" cy="367"/>
          </a:xfrm>
        </p:grpSpPr>
        <p:sp>
          <p:nvSpPr>
            <p:cNvPr id="8" name="AutoShape 5"/>
            <p:cNvSpPr>
              <a:spLocks noChangeArrowheads="1"/>
            </p:cNvSpPr>
            <p:nvPr/>
          </p:nvSpPr>
          <p:spPr bwMode="auto">
            <a:xfrm rot="5400000" flipV="1">
              <a:off x="2612" y="6414"/>
              <a:ext cx="78" cy="142"/>
            </a:xfrm>
            <a:prstGeom prst="flowChartCollate">
              <a:avLst/>
            </a:prstGeom>
            <a:solidFill>
              <a:srgbClr val="FFFFFF"/>
            </a:solidFill>
            <a:ln w="6350">
              <a:solidFill>
                <a:srgbClr val="000000"/>
              </a:solid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b="1"/>
            </a:p>
          </p:txBody>
        </p:sp>
        <p:sp>
          <p:nvSpPr>
            <p:cNvPr id="9" name="Text Box 6"/>
            <p:cNvSpPr txBox="1">
              <a:spLocks noChangeArrowheads="1"/>
            </p:cNvSpPr>
            <p:nvPr/>
          </p:nvSpPr>
          <p:spPr bwMode="auto">
            <a:xfrm flipV="1">
              <a:off x="2325" y="6450"/>
              <a:ext cx="705"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lnSpc>
                  <a:spcPct val="80000"/>
                </a:lnSpc>
              </a:pPr>
              <a:r>
                <a:rPr lang="en-US" altLang="zh-CN" sz="600" b="1" i="1"/>
                <a:t> </a:t>
              </a:r>
              <a:endParaRPr lang="en-US" altLang="zh-CN" sz="600" b="1"/>
            </a:p>
          </p:txBody>
        </p:sp>
      </p:grpSp>
    </p:spTree>
    <p:extLst>
      <p:ext uri="{BB962C8B-B14F-4D97-AF65-F5344CB8AC3E}">
        <p14:creationId xmlns:p14="http://schemas.microsoft.com/office/powerpoint/2010/main" val="418632896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en-US" altLang="zh-CN" sz="3600" dirty="0" smtClean="0"/>
              <a:t>2. </a:t>
            </a:r>
            <a:r>
              <a:rPr lang="zh-CN" altLang="en-US" sz="3600" dirty="0" smtClean="0"/>
              <a:t>专门的关系运算</a:t>
            </a:r>
          </a:p>
        </p:txBody>
      </p:sp>
      <p:sp>
        <p:nvSpPr>
          <p:cNvPr id="78851" name="Rectangle 3"/>
          <p:cNvSpPr>
            <a:spLocks noGrp="1" noChangeArrowheads="1"/>
          </p:cNvSpPr>
          <p:nvPr>
            <p:ph type="body" idx="1"/>
          </p:nvPr>
        </p:nvSpPr>
        <p:spPr/>
        <p:txBody>
          <a:bodyPr/>
          <a:lstStyle/>
          <a:p>
            <a:pPr eaLnBrk="1" hangingPunct="1">
              <a:lnSpc>
                <a:spcPct val="150000"/>
              </a:lnSpc>
              <a:buFont typeface="Wingdings" panose="05000000000000000000" pitchFamily="2" charset="2"/>
              <a:buNone/>
            </a:pPr>
            <a:r>
              <a:rPr lang="zh-CN" altLang="en-US" dirty="0" smtClean="0"/>
              <a:t>先引入几个记号 </a:t>
            </a:r>
          </a:p>
          <a:p>
            <a:pPr eaLnBrk="1" hangingPunct="1">
              <a:lnSpc>
                <a:spcPct val="150000"/>
              </a:lnSpc>
              <a:buFont typeface="Wingdings" panose="05000000000000000000" pitchFamily="2" charset="2"/>
              <a:buNone/>
            </a:pPr>
            <a:r>
              <a:rPr lang="zh-CN" altLang="en-US" sz="2400" dirty="0" smtClean="0"/>
              <a:t>（</a:t>
            </a:r>
            <a:r>
              <a:rPr lang="en-US" altLang="zh-CN" sz="2400" dirty="0" smtClean="0"/>
              <a:t>1</a:t>
            </a:r>
            <a:r>
              <a:rPr lang="zh-CN" altLang="en-US" sz="2400" dirty="0" smtClean="0"/>
              <a:t>） </a:t>
            </a:r>
            <a:r>
              <a:rPr lang="en-US" altLang="zh-CN" sz="2400" dirty="0" smtClean="0"/>
              <a:t>R</a:t>
            </a:r>
            <a:r>
              <a:rPr lang="zh-CN" altLang="en-US" sz="2400" dirty="0" smtClean="0"/>
              <a:t>，</a:t>
            </a:r>
            <a:r>
              <a:rPr lang="en-US" altLang="zh-CN" sz="2400" dirty="0" err="1" smtClean="0"/>
              <a:t>t</a:t>
            </a:r>
            <a:r>
              <a:rPr lang="en-US" altLang="zh-CN" sz="2400" dirty="0" err="1" smtClean="0">
                <a:sym typeface="Symbol" panose="05050102010706020507" pitchFamily="18" charset="2"/>
              </a:rPr>
              <a:t></a:t>
            </a:r>
            <a:r>
              <a:rPr lang="en-US" altLang="zh-CN" sz="2400" dirty="0" err="1" smtClean="0"/>
              <a:t>R</a:t>
            </a:r>
            <a:r>
              <a:rPr lang="zh-CN" altLang="en-US" sz="2400" dirty="0" smtClean="0"/>
              <a:t>，</a:t>
            </a:r>
            <a:r>
              <a:rPr lang="en-US" altLang="zh-CN" sz="2400" dirty="0" smtClean="0"/>
              <a:t>t[A</a:t>
            </a:r>
            <a:r>
              <a:rPr lang="en-US" altLang="zh-CN" sz="2400" baseline="-25000" dirty="0" smtClean="0"/>
              <a:t>i</a:t>
            </a:r>
            <a:r>
              <a:rPr lang="en-US" altLang="zh-CN" sz="2400" dirty="0" smtClean="0"/>
              <a:t>]</a:t>
            </a:r>
          </a:p>
          <a:p>
            <a:pPr eaLnBrk="1" hangingPunct="1">
              <a:lnSpc>
                <a:spcPct val="150000"/>
              </a:lnSpc>
              <a:buFont typeface="Wingdings" panose="05000000000000000000" pitchFamily="2" charset="2"/>
              <a:buNone/>
            </a:pPr>
            <a:r>
              <a:rPr lang="en-US" altLang="zh-CN" sz="2400" dirty="0" smtClean="0"/>
              <a:t>         </a:t>
            </a:r>
            <a:r>
              <a:rPr lang="zh-CN" altLang="en-US" sz="2400" dirty="0" smtClean="0"/>
              <a:t>设关系模式为</a:t>
            </a:r>
            <a:r>
              <a:rPr lang="en-US" altLang="zh-CN" sz="2400" i="1" dirty="0" smtClean="0"/>
              <a:t>R(A</a:t>
            </a:r>
            <a:r>
              <a:rPr lang="en-US" altLang="zh-CN" sz="2400" i="1" baseline="-30000" dirty="0" smtClean="0"/>
              <a:t>1</a:t>
            </a:r>
            <a:r>
              <a:rPr lang="zh-CN" altLang="en-US" sz="2400" i="1" dirty="0" smtClean="0"/>
              <a:t>，</a:t>
            </a:r>
            <a:r>
              <a:rPr lang="en-US" altLang="zh-CN" sz="2400" i="1" dirty="0" smtClean="0"/>
              <a:t>A</a:t>
            </a:r>
            <a:r>
              <a:rPr lang="en-US" altLang="zh-CN" sz="2400" i="1" baseline="-30000" dirty="0" smtClean="0"/>
              <a:t>2</a:t>
            </a:r>
            <a:r>
              <a:rPr lang="zh-CN" altLang="en-US" sz="2400" i="1" dirty="0" smtClean="0"/>
              <a:t>，</a:t>
            </a:r>
            <a:r>
              <a:rPr lang="en-US" altLang="zh-CN" sz="2400" i="1" dirty="0" smtClean="0"/>
              <a:t>…</a:t>
            </a:r>
            <a:r>
              <a:rPr lang="zh-CN" altLang="en-US" sz="2400" i="1" dirty="0" smtClean="0"/>
              <a:t>，</a:t>
            </a:r>
            <a:r>
              <a:rPr lang="en-US" altLang="zh-CN" sz="2400" i="1" dirty="0" smtClean="0"/>
              <a:t>A</a:t>
            </a:r>
            <a:r>
              <a:rPr lang="en-US" altLang="zh-CN" sz="2400" i="1" baseline="-30000" dirty="0" smtClean="0"/>
              <a:t>n</a:t>
            </a:r>
            <a:r>
              <a:rPr lang="en-US" altLang="zh-CN" sz="2400" i="1" dirty="0" smtClean="0"/>
              <a:t>)</a:t>
            </a:r>
          </a:p>
          <a:p>
            <a:pPr eaLnBrk="1" hangingPunct="1">
              <a:lnSpc>
                <a:spcPct val="150000"/>
              </a:lnSpc>
              <a:buFont typeface="Wingdings" panose="05000000000000000000" pitchFamily="2" charset="2"/>
              <a:buNone/>
            </a:pPr>
            <a:r>
              <a:rPr lang="en-US" altLang="zh-CN" sz="2400" dirty="0" smtClean="0"/>
              <a:t>         </a:t>
            </a:r>
            <a:r>
              <a:rPr lang="zh-CN" altLang="en-US" sz="2400" dirty="0" smtClean="0"/>
              <a:t>它的一个关系设为</a:t>
            </a:r>
            <a:r>
              <a:rPr lang="en-US" altLang="zh-CN" sz="2400" i="1" dirty="0" smtClean="0">
                <a:solidFill>
                  <a:srgbClr val="FF0000"/>
                </a:solidFill>
              </a:rPr>
              <a:t>R</a:t>
            </a:r>
            <a:endParaRPr lang="en-US" altLang="zh-CN" sz="2400" dirty="0" smtClean="0"/>
          </a:p>
          <a:p>
            <a:pPr eaLnBrk="1" hangingPunct="1">
              <a:lnSpc>
                <a:spcPct val="150000"/>
              </a:lnSpc>
              <a:buFont typeface="Wingdings" panose="05000000000000000000" pitchFamily="2" charset="2"/>
              <a:buNone/>
            </a:pPr>
            <a:r>
              <a:rPr lang="en-US" altLang="zh-CN" sz="2400" dirty="0" smtClean="0"/>
              <a:t>          </a:t>
            </a:r>
            <a:r>
              <a:rPr lang="en-US" altLang="zh-CN" sz="2400" i="1" dirty="0" err="1" smtClean="0">
                <a:solidFill>
                  <a:srgbClr val="FF0000"/>
                </a:solidFill>
              </a:rPr>
              <a:t>t</a:t>
            </a:r>
            <a:r>
              <a:rPr lang="en-US" altLang="zh-CN" sz="2400" dirty="0" err="1" smtClean="0">
                <a:solidFill>
                  <a:srgbClr val="FF0000"/>
                </a:solidFill>
                <a:sym typeface="Symbol" panose="05050102010706020507" pitchFamily="18" charset="2"/>
              </a:rPr>
              <a:t></a:t>
            </a:r>
            <a:r>
              <a:rPr lang="en-US" altLang="zh-CN" sz="2400" i="1" dirty="0" err="1" smtClean="0">
                <a:solidFill>
                  <a:srgbClr val="FF0000"/>
                </a:solidFill>
              </a:rPr>
              <a:t>R</a:t>
            </a:r>
            <a:r>
              <a:rPr lang="zh-CN" altLang="en-US" sz="2400" dirty="0" smtClean="0"/>
              <a:t>表示</a:t>
            </a:r>
            <a:r>
              <a:rPr lang="en-US" altLang="zh-CN" sz="2400" i="1" dirty="0" smtClean="0"/>
              <a:t>t</a:t>
            </a:r>
            <a:r>
              <a:rPr lang="zh-CN" altLang="en-US" sz="2400" dirty="0" smtClean="0"/>
              <a:t>是</a:t>
            </a:r>
            <a:r>
              <a:rPr lang="en-US" altLang="zh-CN" sz="2400" i="1" dirty="0" smtClean="0"/>
              <a:t>R</a:t>
            </a:r>
            <a:r>
              <a:rPr lang="zh-CN" altLang="en-US" sz="2400" dirty="0" smtClean="0"/>
              <a:t>的一个元组</a:t>
            </a:r>
          </a:p>
          <a:p>
            <a:pPr eaLnBrk="1" hangingPunct="1">
              <a:lnSpc>
                <a:spcPct val="150000"/>
              </a:lnSpc>
              <a:buFont typeface="Wingdings" panose="05000000000000000000" pitchFamily="2" charset="2"/>
              <a:buNone/>
            </a:pPr>
            <a:r>
              <a:rPr lang="zh-CN" altLang="en-US" sz="2400" i="1" dirty="0" smtClean="0">
                <a:solidFill>
                  <a:srgbClr val="FF0000"/>
                </a:solidFill>
              </a:rPr>
              <a:t>          </a:t>
            </a:r>
            <a:r>
              <a:rPr lang="en-US" altLang="zh-CN" sz="2400" i="1" dirty="0" smtClean="0">
                <a:solidFill>
                  <a:srgbClr val="FF0000"/>
                </a:solidFill>
              </a:rPr>
              <a:t>t</a:t>
            </a:r>
            <a:r>
              <a:rPr lang="en-US" altLang="zh-CN" sz="2400" dirty="0" smtClean="0">
                <a:solidFill>
                  <a:srgbClr val="FF0000"/>
                </a:solidFill>
              </a:rPr>
              <a:t>[</a:t>
            </a:r>
            <a:r>
              <a:rPr lang="en-US" altLang="zh-CN" sz="2400" i="1" dirty="0" smtClean="0">
                <a:solidFill>
                  <a:srgbClr val="FF0000"/>
                </a:solidFill>
              </a:rPr>
              <a:t>A</a:t>
            </a:r>
            <a:r>
              <a:rPr lang="en-US" altLang="zh-CN" sz="2400" i="1" baseline="-30000" dirty="0" smtClean="0">
                <a:solidFill>
                  <a:srgbClr val="FF0000"/>
                </a:solidFill>
              </a:rPr>
              <a:t>i</a:t>
            </a:r>
            <a:r>
              <a:rPr lang="en-US" altLang="zh-CN" sz="2400" dirty="0" smtClean="0">
                <a:solidFill>
                  <a:srgbClr val="FF0000"/>
                </a:solidFill>
              </a:rPr>
              <a:t>]</a:t>
            </a:r>
            <a:r>
              <a:rPr lang="zh-CN" altLang="en-US" sz="2400" dirty="0" smtClean="0"/>
              <a:t>则表示元组</a:t>
            </a:r>
            <a:r>
              <a:rPr lang="en-US" altLang="zh-CN" sz="2400" i="1" dirty="0" smtClean="0"/>
              <a:t>t</a:t>
            </a:r>
            <a:r>
              <a:rPr lang="zh-CN" altLang="en-US" sz="2400" dirty="0" smtClean="0"/>
              <a:t>中相应于属性</a:t>
            </a:r>
            <a:r>
              <a:rPr lang="en-US" altLang="zh-CN" sz="2400" i="1" dirty="0" smtClean="0"/>
              <a:t>A</a:t>
            </a:r>
            <a:r>
              <a:rPr lang="en-US" altLang="zh-CN" sz="2400" i="1" baseline="-30000" dirty="0" smtClean="0"/>
              <a:t>i</a:t>
            </a:r>
            <a:r>
              <a:rPr lang="zh-CN" altLang="en-US" sz="2400" dirty="0" smtClean="0"/>
              <a:t>的一个分量</a:t>
            </a:r>
            <a:r>
              <a:rPr lang="zh-CN" altLang="en-US" dirty="0" smtClean="0"/>
              <a:t> </a:t>
            </a:r>
          </a:p>
          <a:p>
            <a:pPr eaLnBrk="1" hangingPunct="1">
              <a:buFont typeface="Wingdings" panose="05000000000000000000" pitchFamily="2" charset="2"/>
              <a:buNone/>
            </a:pPr>
            <a:endParaRPr lang="en-US" altLang="zh-CN" dirty="0" smtClean="0"/>
          </a:p>
        </p:txBody>
      </p:sp>
      <p:pic>
        <p:nvPicPr>
          <p:cNvPr id="5" name="Picture 3" descr="database"/>
          <p:cNvPicPr>
            <a:picLocks noChangeAspect="1" noChangeArrowheads="1"/>
          </p:cNvPicPr>
          <p:nvPr/>
        </p:nvPicPr>
        <p:blipFill rotWithShape="1">
          <a:blip r:embed="rId2">
            <a:extLst>
              <a:ext uri="{28A0092B-C50C-407E-A947-70E740481C1C}">
                <a14:useLocalDpi xmlns:a14="http://schemas.microsoft.com/office/drawing/2010/main" val="0"/>
              </a:ext>
            </a:extLst>
          </a:blip>
          <a:srcRect r="49771" b="53034"/>
          <a:stretch/>
        </p:blipFill>
        <p:spPr>
          <a:xfrm>
            <a:off x="5390100" y="1325563"/>
            <a:ext cx="3372389" cy="1672931"/>
          </a:xfrm>
          <a:prstGeom prst="rect">
            <a:avLst/>
          </a:prstGeom>
          <a:noFill/>
        </p:spPr>
      </p:pic>
    </p:spTree>
    <p:extLst>
      <p:ext uri="{BB962C8B-B14F-4D97-AF65-F5344CB8AC3E}">
        <p14:creationId xmlns:p14="http://schemas.microsoft.com/office/powerpoint/2010/main" val="59998881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pPr eaLnBrk="1" hangingPunct="1"/>
            <a:r>
              <a:rPr lang="zh-CN" altLang="en-US" sz="3600" smtClean="0"/>
              <a:t>专门的关系运算（续）</a:t>
            </a:r>
            <a:endParaRPr lang="en-US" altLang="zh-CN" sz="3600" smtClean="0"/>
          </a:p>
        </p:txBody>
      </p:sp>
      <p:sp>
        <p:nvSpPr>
          <p:cNvPr id="79875" name="Rectangle 3"/>
          <p:cNvSpPr>
            <a:spLocks noGrp="1" noChangeArrowheads="1"/>
          </p:cNvSpPr>
          <p:nvPr>
            <p:ph type="body" idx="1"/>
          </p:nvPr>
        </p:nvSpPr>
        <p:spPr>
          <a:xfrm>
            <a:off x="684213" y="1268413"/>
            <a:ext cx="7772400" cy="4752975"/>
          </a:xfrm>
        </p:spPr>
        <p:txBody>
          <a:bodyPr/>
          <a:lstStyle/>
          <a:p>
            <a:pPr eaLnBrk="1" hangingPunct="1">
              <a:lnSpc>
                <a:spcPct val="150000"/>
              </a:lnSpc>
              <a:buFont typeface="Wingdings" panose="05000000000000000000" pitchFamily="2" charset="2"/>
              <a:buNone/>
            </a:pPr>
            <a:r>
              <a:rPr lang="zh-CN" altLang="en-US" sz="2400" smtClean="0"/>
              <a:t>（</a:t>
            </a:r>
            <a:r>
              <a:rPr lang="en-US" altLang="zh-CN" sz="2400" smtClean="0"/>
              <a:t>2</a:t>
            </a:r>
            <a:r>
              <a:rPr lang="zh-CN" altLang="en-US" sz="2400" smtClean="0"/>
              <a:t>） </a:t>
            </a:r>
            <a:r>
              <a:rPr lang="en-US" altLang="zh-CN" sz="2400" smtClean="0"/>
              <a:t>A</a:t>
            </a:r>
            <a:r>
              <a:rPr lang="zh-CN" altLang="en-US" sz="2400" smtClean="0"/>
              <a:t>，</a:t>
            </a:r>
            <a:r>
              <a:rPr lang="en-US" altLang="zh-CN" sz="2400" smtClean="0"/>
              <a:t>t[A]</a:t>
            </a:r>
            <a:r>
              <a:rPr lang="zh-CN" altLang="en-US" sz="2400" smtClean="0"/>
              <a:t>， </a:t>
            </a:r>
            <a:r>
              <a:rPr lang="en-US" altLang="zh-CN" sz="2400" smtClean="0"/>
              <a:t>A</a:t>
            </a:r>
          </a:p>
          <a:p>
            <a:pPr lvl="1" eaLnBrk="1" hangingPunct="1">
              <a:lnSpc>
                <a:spcPct val="140000"/>
              </a:lnSpc>
              <a:buFont typeface="Wingdings" panose="05000000000000000000" pitchFamily="2" charset="2"/>
              <a:buNone/>
            </a:pPr>
            <a:r>
              <a:rPr lang="en-US" altLang="zh-CN" smtClean="0"/>
              <a:t>   </a:t>
            </a:r>
            <a:r>
              <a:rPr lang="zh-CN" altLang="en-US" smtClean="0"/>
              <a:t>若</a:t>
            </a:r>
            <a:r>
              <a:rPr lang="en-US" altLang="zh-CN" i="1" smtClean="0">
                <a:solidFill>
                  <a:srgbClr val="FF0000"/>
                </a:solidFill>
              </a:rPr>
              <a:t>A</a:t>
            </a:r>
            <a:r>
              <a:rPr lang="en-US" altLang="zh-CN" smtClean="0"/>
              <a:t>={</a:t>
            </a:r>
            <a:r>
              <a:rPr lang="en-US" altLang="zh-CN" i="1" smtClean="0"/>
              <a:t>A</a:t>
            </a:r>
            <a:r>
              <a:rPr lang="en-US" altLang="zh-CN" i="1" baseline="-30000" smtClean="0"/>
              <a:t>i</a:t>
            </a:r>
            <a:r>
              <a:rPr lang="en-US" altLang="zh-CN" baseline="-30000" smtClean="0"/>
              <a:t>1</a:t>
            </a:r>
            <a:r>
              <a:rPr lang="zh-CN" altLang="en-US" smtClean="0"/>
              <a:t>，</a:t>
            </a:r>
            <a:r>
              <a:rPr lang="en-US" altLang="zh-CN" i="1" smtClean="0"/>
              <a:t>A</a:t>
            </a:r>
            <a:r>
              <a:rPr lang="en-US" altLang="zh-CN" i="1" baseline="-30000" smtClean="0"/>
              <a:t>i</a:t>
            </a:r>
            <a:r>
              <a:rPr lang="en-US" altLang="zh-CN" baseline="-30000" smtClean="0"/>
              <a:t>2</a:t>
            </a:r>
            <a:r>
              <a:rPr lang="zh-CN" altLang="en-US" smtClean="0"/>
              <a:t>，</a:t>
            </a:r>
            <a:r>
              <a:rPr lang="en-US" altLang="zh-CN" smtClean="0"/>
              <a:t>…</a:t>
            </a:r>
            <a:r>
              <a:rPr lang="zh-CN" altLang="en-US" smtClean="0"/>
              <a:t>，</a:t>
            </a:r>
            <a:r>
              <a:rPr lang="en-US" altLang="zh-CN" i="1" smtClean="0"/>
              <a:t>A</a:t>
            </a:r>
            <a:r>
              <a:rPr lang="en-US" altLang="zh-CN" i="1" baseline="-30000" smtClean="0"/>
              <a:t>ik</a:t>
            </a:r>
            <a:r>
              <a:rPr lang="en-US" altLang="zh-CN" smtClean="0"/>
              <a:t>}</a:t>
            </a:r>
            <a:r>
              <a:rPr lang="zh-CN" altLang="en-US" smtClean="0"/>
              <a:t>，其中</a:t>
            </a:r>
            <a:r>
              <a:rPr lang="en-US" altLang="zh-CN" i="1" smtClean="0"/>
              <a:t>A</a:t>
            </a:r>
            <a:r>
              <a:rPr lang="en-US" altLang="zh-CN" i="1" baseline="-30000" smtClean="0"/>
              <a:t>i</a:t>
            </a:r>
            <a:r>
              <a:rPr lang="en-US" altLang="zh-CN" baseline="-30000" smtClean="0"/>
              <a:t>1</a:t>
            </a:r>
            <a:r>
              <a:rPr lang="zh-CN" altLang="en-US" smtClean="0"/>
              <a:t>，</a:t>
            </a:r>
            <a:r>
              <a:rPr lang="en-US" altLang="zh-CN" i="1" smtClean="0"/>
              <a:t>A</a:t>
            </a:r>
            <a:r>
              <a:rPr lang="en-US" altLang="zh-CN" i="1" baseline="-30000" smtClean="0"/>
              <a:t>i</a:t>
            </a:r>
            <a:r>
              <a:rPr lang="en-US" altLang="zh-CN" baseline="-30000" smtClean="0"/>
              <a:t>2</a:t>
            </a:r>
            <a:r>
              <a:rPr lang="zh-CN" altLang="en-US" smtClean="0"/>
              <a:t>，</a:t>
            </a:r>
            <a:r>
              <a:rPr lang="en-US" altLang="zh-CN" smtClean="0"/>
              <a:t>…</a:t>
            </a:r>
            <a:r>
              <a:rPr lang="zh-CN" altLang="en-US" smtClean="0"/>
              <a:t>，</a:t>
            </a:r>
            <a:r>
              <a:rPr lang="en-US" altLang="zh-CN" i="1" smtClean="0"/>
              <a:t>A</a:t>
            </a:r>
            <a:r>
              <a:rPr lang="en-US" altLang="zh-CN" i="1" baseline="-30000" smtClean="0"/>
              <a:t>ik</a:t>
            </a:r>
            <a:r>
              <a:rPr lang="zh-CN" altLang="en-US" smtClean="0"/>
              <a:t>是</a:t>
            </a:r>
            <a:r>
              <a:rPr lang="en-US" altLang="zh-CN" i="1" smtClean="0"/>
              <a:t>A</a:t>
            </a:r>
            <a:r>
              <a:rPr lang="en-US" altLang="zh-CN" baseline="-30000" smtClean="0"/>
              <a:t>1</a:t>
            </a:r>
            <a:r>
              <a:rPr lang="zh-CN" altLang="en-US" smtClean="0"/>
              <a:t>，</a:t>
            </a:r>
            <a:r>
              <a:rPr lang="en-US" altLang="zh-CN" i="1" smtClean="0"/>
              <a:t>A</a:t>
            </a:r>
            <a:r>
              <a:rPr lang="en-US" altLang="zh-CN" baseline="-30000" smtClean="0"/>
              <a:t>2</a:t>
            </a:r>
            <a:r>
              <a:rPr lang="zh-CN" altLang="en-US" smtClean="0"/>
              <a:t>，</a:t>
            </a:r>
            <a:r>
              <a:rPr lang="en-US" altLang="zh-CN" smtClean="0"/>
              <a:t>…</a:t>
            </a:r>
            <a:r>
              <a:rPr lang="zh-CN" altLang="en-US" smtClean="0"/>
              <a:t>，</a:t>
            </a:r>
            <a:r>
              <a:rPr lang="en-US" altLang="zh-CN" i="1" smtClean="0"/>
              <a:t>A</a:t>
            </a:r>
            <a:r>
              <a:rPr lang="en-US" altLang="zh-CN" i="1" baseline="-30000" smtClean="0"/>
              <a:t>n</a:t>
            </a:r>
            <a:r>
              <a:rPr lang="zh-CN" altLang="en-US" smtClean="0"/>
              <a:t>中的一部分，则</a:t>
            </a:r>
            <a:r>
              <a:rPr lang="en-US" altLang="zh-CN" i="1" smtClean="0"/>
              <a:t>A</a:t>
            </a:r>
            <a:r>
              <a:rPr lang="zh-CN" altLang="en-US" smtClean="0"/>
              <a:t>称为属性列或属性组。</a:t>
            </a:r>
          </a:p>
          <a:p>
            <a:pPr lvl="1" eaLnBrk="1" hangingPunct="1">
              <a:lnSpc>
                <a:spcPct val="140000"/>
              </a:lnSpc>
              <a:buFont typeface="Wingdings" panose="05000000000000000000" pitchFamily="2" charset="2"/>
              <a:buNone/>
            </a:pPr>
            <a:r>
              <a:rPr lang="zh-CN" altLang="en-US" smtClean="0"/>
              <a:t>   </a:t>
            </a:r>
            <a:r>
              <a:rPr lang="en-US" altLang="zh-CN" i="1" smtClean="0">
                <a:solidFill>
                  <a:srgbClr val="FF0000"/>
                </a:solidFill>
              </a:rPr>
              <a:t>t[A]</a:t>
            </a:r>
            <a:r>
              <a:rPr lang="en-US" altLang="zh-CN" smtClean="0"/>
              <a:t>=(</a:t>
            </a:r>
            <a:r>
              <a:rPr lang="en-US" altLang="zh-CN" i="1" smtClean="0"/>
              <a:t>t</a:t>
            </a:r>
            <a:r>
              <a:rPr lang="en-US" altLang="zh-CN" smtClean="0"/>
              <a:t>[</a:t>
            </a:r>
            <a:r>
              <a:rPr lang="en-US" altLang="zh-CN" i="1" smtClean="0"/>
              <a:t>A</a:t>
            </a:r>
            <a:r>
              <a:rPr lang="en-US" altLang="zh-CN" i="1" baseline="-30000" smtClean="0"/>
              <a:t>i</a:t>
            </a:r>
            <a:r>
              <a:rPr lang="en-US" altLang="zh-CN" baseline="-30000" smtClean="0"/>
              <a:t>1</a:t>
            </a:r>
            <a:r>
              <a:rPr lang="en-US" altLang="zh-CN" smtClean="0"/>
              <a:t>]</a:t>
            </a:r>
            <a:r>
              <a:rPr lang="zh-CN" altLang="en-US" smtClean="0"/>
              <a:t>，</a:t>
            </a:r>
            <a:r>
              <a:rPr lang="en-US" altLang="zh-CN" i="1" smtClean="0"/>
              <a:t>t</a:t>
            </a:r>
            <a:r>
              <a:rPr lang="en-US" altLang="zh-CN" smtClean="0"/>
              <a:t>[</a:t>
            </a:r>
            <a:r>
              <a:rPr lang="en-US" altLang="zh-CN" i="1" smtClean="0"/>
              <a:t>A</a:t>
            </a:r>
            <a:r>
              <a:rPr lang="en-US" altLang="zh-CN" i="1" baseline="-30000" smtClean="0"/>
              <a:t>i</a:t>
            </a:r>
            <a:r>
              <a:rPr lang="en-US" altLang="zh-CN" baseline="-30000" smtClean="0"/>
              <a:t>2</a:t>
            </a:r>
            <a:r>
              <a:rPr lang="en-US" altLang="zh-CN" smtClean="0"/>
              <a:t>]</a:t>
            </a:r>
            <a:r>
              <a:rPr lang="zh-CN" altLang="en-US" smtClean="0"/>
              <a:t>，</a:t>
            </a:r>
            <a:r>
              <a:rPr lang="en-US" altLang="zh-CN" smtClean="0"/>
              <a:t>…</a:t>
            </a:r>
            <a:r>
              <a:rPr lang="zh-CN" altLang="en-US" smtClean="0"/>
              <a:t>，</a:t>
            </a:r>
            <a:r>
              <a:rPr lang="en-US" altLang="zh-CN" i="1" smtClean="0"/>
              <a:t>t</a:t>
            </a:r>
            <a:r>
              <a:rPr lang="en-US" altLang="zh-CN" smtClean="0"/>
              <a:t>[</a:t>
            </a:r>
            <a:r>
              <a:rPr lang="en-US" altLang="zh-CN" i="1" smtClean="0"/>
              <a:t>A</a:t>
            </a:r>
            <a:r>
              <a:rPr lang="en-US" altLang="zh-CN" i="1" baseline="-30000" smtClean="0"/>
              <a:t>ik</a:t>
            </a:r>
            <a:r>
              <a:rPr lang="en-US" altLang="zh-CN" smtClean="0"/>
              <a:t>])</a:t>
            </a:r>
            <a:r>
              <a:rPr lang="zh-CN" altLang="en-US" smtClean="0"/>
              <a:t>表示元组</a:t>
            </a:r>
            <a:r>
              <a:rPr lang="en-US" altLang="zh-CN" i="1" smtClean="0"/>
              <a:t>t</a:t>
            </a:r>
            <a:r>
              <a:rPr lang="zh-CN" altLang="en-US" smtClean="0"/>
              <a:t>在属性列</a:t>
            </a:r>
            <a:r>
              <a:rPr lang="en-US" altLang="zh-CN" i="1" smtClean="0"/>
              <a:t>A</a:t>
            </a:r>
            <a:r>
              <a:rPr lang="zh-CN" altLang="en-US" smtClean="0"/>
              <a:t>上诸分量的集合。</a:t>
            </a:r>
          </a:p>
          <a:p>
            <a:pPr lvl="1" eaLnBrk="1" hangingPunct="1">
              <a:lnSpc>
                <a:spcPct val="140000"/>
              </a:lnSpc>
              <a:buFont typeface="Wingdings" panose="05000000000000000000" pitchFamily="2" charset="2"/>
              <a:buNone/>
            </a:pPr>
            <a:r>
              <a:rPr lang="zh-CN" altLang="en-US" i="1" smtClean="0">
                <a:solidFill>
                  <a:srgbClr val="E02920"/>
                </a:solidFill>
              </a:rPr>
              <a:t>   </a:t>
            </a:r>
            <a:r>
              <a:rPr lang="en-US" altLang="zh-CN" i="1" smtClean="0">
                <a:solidFill>
                  <a:srgbClr val="E02920"/>
                </a:solidFill>
              </a:rPr>
              <a:t>A</a:t>
            </a:r>
            <a:r>
              <a:rPr lang="zh-CN" altLang="en-US" smtClean="0"/>
              <a:t>则表示</a:t>
            </a:r>
            <a:r>
              <a:rPr lang="en-US" altLang="zh-CN" smtClean="0"/>
              <a:t>{</a:t>
            </a:r>
            <a:r>
              <a:rPr lang="en-US" altLang="zh-CN" i="1" smtClean="0"/>
              <a:t>A</a:t>
            </a:r>
            <a:r>
              <a:rPr lang="en-US" altLang="zh-CN" baseline="-30000" smtClean="0"/>
              <a:t>1</a:t>
            </a:r>
            <a:r>
              <a:rPr lang="zh-CN" altLang="en-US" smtClean="0"/>
              <a:t>，</a:t>
            </a:r>
            <a:r>
              <a:rPr lang="en-US" altLang="zh-CN" i="1" smtClean="0"/>
              <a:t>A</a:t>
            </a:r>
            <a:r>
              <a:rPr lang="en-US" altLang="zh-CN" baseline="-30000" smtClean="0"/>
              <a:t>2</a:t>
            </a:r>
            <a:r>
              <a:rPr lang="zh-CN" altLang="en-US" smtClean="0"/>
              <a:t>，</a:t>
            </a:r>
            <a:r>
              <a:rPr lang="en-US" altLang="zh-CN" smtClean="0"/>
              <a:t>…</a:t>
            </a:r>
            <a:r>
              <a:rPr lang="zh-CN" altLang="en-US" smtClean="0"/>
              <a:t>，</a:t>
            </a:r>
            <a:r>
              <a:rPr lang="en-US" altLang="zh-CN" i="1" smtClean="0"/>
              <a:t>A</a:t>
            </a:r>
            <a:r>
              <a:rPr lang="en-US" altLang="zh-CN" i="1" baseline="-30000" smtClean="0"/>
              <a:t>n</a:t>
            </a:r>
            <a:r>
              <a:rPr lang="en-US" altLang="zh-CN" smtClean="0"/>
              <a:t>}</a:t>
            </a:r>
            <a:r>
              <a:rPr lang="zh-CN" altLang="en-US" smtClean="0"/>
              <a:t>中去掉</a:t>
            </a:r>
            <a:r>
              <a:rPr lang="en-US" altLang="zh-CN" smtClean="0"/>
              <a:t>{</a:t>
            </a:r>
            <a:r>
              <a:rPr lang="en-US" altLang="zh-CN" i="1" smtClean="0"/>
              <a:t>A</a:t>
            </a:r>
            <a:r>
              <a:rPr lang="en-US" altLang="zh-CN" i="1" baseline="-30000" smtClean="0"/>
              <a:t>i</a:t>
            </a:r>
            <a:r>
              <a:rPr lang="en-US" altLang="zh-CN" baseline="-30000" smtClean="0"/>
              <a:t>1</a:t>
            </a:r>
            <a:r>
              <a:rPr lang="zh-CN" altLang="en-US" smtClean="0"/>
              <a:t>，</a:t>
            </a:r>
            <a:r>
              <a:rPr lang="en-US" altLang="zh-CN" i="1" smtClean="0"/>
              <a:t>A</a:t>
            </a:r>
            <a:r>
              <a:rPr lang="en-US" altLang="zh-CN" i="1" baseline="-30000" smtClean="0"/>
              <a:t>i</a:t>
            </a:r>
            <a:r>
              <a:rPr lang="en-US" altLang="zh-CN" baseline="-30000" smtClean="0"/>
              <a:t>2</a:t>
            </a:r>
            <a:r>
              <a:rPr lang="zh-CN" altLang="en-US" smtClean="0"/>
              <a:t>，</a:t>
            </a:r>
            <a:r>
              <a:rPr lang="en-US" altLang="zh-CN" smtClean="0"/>
              <a:t>…</a:t>
            </a:r>
            <a:r>
              <a:rPr lang="zh-CN" altLang="en-US" smtClean="0"/>
              <a:t>，</a:t>
            </a:r>
            <a:r>
              <a:rPr lang="en-US" altLang="zh-CN" i="1" smtClean="0"/>
              <a:t>A</a:t>
            </a:r>
            <a:r>
              <a:rPr lang="en-US" altLang="zh-CN" i="1" baseline="-30000" smtClean="0"/>
              <a:t>ik</a:t>
            </a:r>
            <a:r>
              <a:rPr lang="en-US" altLang="zh-CN" smtClean="0"/>
              <a:t>}</a:t>
            </a:r>
            <a:r>
              <a:rPr lang="zh-CN" altLang="en-US" smtClean="0"/>
              <a:t>后剩余的属性组。 </a:t>
            </a:r>
          </a:p>
        </p:txBody>
      </p:sp>
      <p:sp>
        <p:nvSpPr>
          <p:cNvPr id="79876" name="Line 4"/>
          <p:cNvSpPr>
            <a:spLocks noChangeShapeType="1"/>
          </p:cNvSpPr>
          <p:nvPr/>
        </p:nvSpPr>
        <p:spPr bwMode="auto">
          <a:xfrm>
            <a:off x="2904877" y="1468534"/>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877" name="Line 5"/>
          <p:cNvSpPr>
            <a:spLocks noChangeShapeType="1"/>
          </p:cNvSpPr>
          <p:nvPr/>
        </p:nvSpPr>
        <p:spPr bwMode="auto">
          <a:xfrm>
            <a:off x="1402235" y="4238367"/>
            <a:ext cx="228600"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6" name="Picture 3" descr="database"/>
          <p:cNvPicPr>
            <a:picLocks noChangeAspect="1" noChangeArrowheads="1"/>
          </p:cNvPicPr>
          <p:nvPr/>
        </p:nvPicPr>
        <p:blipFill rotWithShape="1">
          <a:blip r:embed="rId2">
            <a:extLst>
              <a:ext uri="{28A0092B-C50C-407E-A947-70E740481C1C}">
                <a14:useLocalDpi xmlns:a14="http://schemas.microsoft.com/office/drawing/2010/main" val="0"/>
              </a:ext>
            </a:extLst>
          </a:blip>
          <a:srcRect r="49771" b="53034"/>
          <a:stretch/>
        </p:blipFill>
        <p:spPr>
          <a:xfrm>
            <a:off x="3924857" y="4724400"/>
            <a:ext cx="3372389" cy="1672931"/>
          </a:xfrm>
          <a:prstGeom prst="rect">
            <a:avLst/>
          </a:prstGeom>
          <a:noFill/>
        </p:spPr>
      </p:pic>
    </p:spTree>
    <p:extLst>
      <p:ext uri="{BB962C8B-B14F-4D97-AF65-F5344CB8AC3E}">
        <p14:creationId xmlns:p14="http://schemas.microsoft.com/office/powerpoint/2010/main" val="391400678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zh-CN" altLang="en-US" sz="3600" smtClean="0"/>
              <a:t>专门的关系运算（续）</a:t>
            </a:r>
            <a:endParaRPr lang="en-US" altLang="zh-CN" sz="3600" smtClean="0"/>
          </a:p>
        </p:txBody>
      </p:sp>
      <p:sp>
        <p:nvSpPr>
          <p:cNvPr id="80899" name="Rectangle 3"/>
          <p:cNvSpPr>
            <a:spLocks noGrp="1" noChangeArrowheads="1"/>
          </p:cNvSpPr>
          <p:nvPr>
            <p:ph type="body" idx="1"/>
          </p:nvPr>
        </p:nvSpPr>
        <p:spPr>
          <a:xfrm>
            <a:off x="611188" y="1371600"/>
            <a:ext cx="7772400" cy="4114800"/>
          </a:xfrm>
        </p:spPr>
        <p:txBody>
          <a:bodyPr/>
          <a:lstStyle/>
          <a:p>
            <a:pPr lvl="1" eaLnBrk="1" hangingPunct="1">
              <a:lnSpc>
                <a:spcPct val="150000"/>
              </a:lnSpc>
              <a:buFont typeface="Wingdings" panose="05000000000000000000" pitchFamily="2" charset="2"/>
              <a:buNone/>
            </a:pPr>
            <a:r>
              <a:rPr lang="zh-CN" altLang="en-US" smtClean="0"/>
              <a:t>（</a:t>
            </a:r>
            <a:r>
              <a:rPr lang="en-US" altLang="zh-CN" smtClean="0"/>
              <a:t>3</a:t>
            </a:r>
            <a:r>
              <a:rPr lang="zh-CN" altLang="en-US" smtClean="0"/>
              <a:t>） </a:t>
            </a:r>
            <a:r>
              <a:rPr lang="en-US" altLang="zh-CN" i="1" smtClean="0"/>
              <a:t>t</a:t>
            </a:r>
            <a:r>
              <a:rPr lang="en-US" altLang="zh-CN" baseline="-30000" smtClean="0"/>
              <a:t>r </a:t>
            </a:r>
            <a:r>
              <a:rPr lang="en-US" altLang="zh-CN" i="1" smtClean="0"/>
              <a:t>t</a:t>
            </a:r>
            <a:r>
              <a:rPr lang="en-US" altLang="zh-CN" baseline="-30000" smtClean="0"/>
              <a:t>s</a:t>
            </a:r>
            <a:endParaRPr lang="en-US" altLang="zh-CN" smtClean="0"/>
          </a:p>
          <a:p>
            <a:pPr lvl="1" eaLnBrk="1" hangingPunct="1">
              <a:lnSpc>
                <a:spcPct val="150000"/>
              </a:lnSpc>
              <a:buFont typeface="Wingdings" panose="05000000000000000000" pitchFamily="2" charset="2"/>
              <a:buNone/>
            </a:pPr>
            <a:r>
              <a:rPr lang="en-US" altLang="zh-CN" i="1" smtClean="0"/>
              <a:t>    R</a:t>
            </a:r>
            <a:r>
              <a:rPr lang="zh-CN" altLang="en-US" smtClean="0"/>
              <a:t>为</a:t>
            </a:r>
            <a:r>
              <a:rPr lang="en-US" altLang="zh-CN" i="1" smtClean="0"/>
              <a:t>n</a:t>
            </a:r>
            <a:r>
              <a:rPr lang="zh-CN" altLang="en-US" smtClean="0"/>
              <a:t>目关系，</a:t>
            </a:r>
            <a:r>
              <a:rPr lang="en-US" altLang="zh-CN" i="1" smtClean="0"/>
              <a:t>S</a:t>
            </a:r>
            <a:r>
              <a:rPr lang="zh-CN" altLang="en-US" smtClean="0"/>
              <a:t>为</a:t>
            </a:r>
            <a:r>
              <a:rPr lang="en-US" altLang="zh-CN" i="1" smtClean="0"/>
              <a:t>m</a:t>
            </a:r>
            <a:r>
              <a:rPr lang="zh-CN" altLang="en-US" smtClean="0"/>
              <a:t>目关系。</a:t>
            </a:r>
          </a:p>
          <a:p>
            <a:pPr lvl="1" eaLnBrk="1" hangingPunct="1">
              <a:lnSpc>
                <a:spcPct val="150000"/>
              </a:lnSpc>
              <a:buFont typeface="Wingdings" panose="05000000000000000000" pitchFamily="2" charset="2"/>
              <a:buNone/>
            </a:pPr>
            <a:r>
              <a:rPr lang="zh-CN" altLang="en-US" smtClean="0"/>
              <a:t>    </a:t>
            </a:r>
            <a:r>
              <a:rPr lang="en-US" altLang="zh-CN" i="1" smtClean="0"/>
              <a:t>t</a:t>
            </a:r>
            <a:r>
              <a:rPr lang="en-US" altLang="zh-CN" baseline="-30000" smtClean="0"/>
              <a:t>r </a:t>
            </a:r>
            <a:r>
              <a:rPr lang="en-US" altLang="zh-CN" smtClean="0">
                <a:sym typeface="Symbol" panose="05050102010706020507" pitchFamily="18" charset="2"/>
              </a:rPr>
              <a:t></a:t>
            </a:r>
            <a:r>
              <a:rPr lang="en-US" altLang="zh-CN" i="1" smtClean="0"/>
              <a:t>R</a:t>
            </a:r>
            <a:r>
              <a:rPr lang="zh-CN" altLang="en-US" smtClean="0"/>
              <a:t>，</a:t>
            </a:r>
            <a:r>
              <a:rPr lang="en-US" altLang="zh-CN" i="1" smtClean="0"/>
              <a:t>t</a:t>
            </a:r>
            <a:r>
              <a:rPr lang="en-US" altLang="zh-CN" baseline="-30000" smtClean="0"/>
              <a:t>s</a:t>
            </a:r>
            <a:r>
              <a:rPr lang="en-US" altLang="zh-CN" smtClean="0">
                <a:sym typeface="Symbol" panose="05050102010706020507" pitchFamily="18" charset="2"/>
              </a:rPr>
              <a:t></a:t>
            </a:r>
            <a:r>
              <a:rPr lang="en-US" altLang="zh-CN" i="1" smtClean="0"/>
              <a:t>S</a:t>
            </a:r>
            <a:r>
              <a:rPr lang="zh-CN" altLang="en-US" smtClean="0"/>
              <a:t>， </a:t>
            </a:r>
            <a:r>
              <a:rPr lang="en-US" altLang="zh-CN" i="1" smtClean="0">
                <a:solidFill>
                  <a:srgbClr val="E02920"/>
                </a:solidFill>
              </a:rPr>
              <a:t>t</a:t>
            </a:r>
            <a:r>
              <a:rPr lang="en-US" altLang="zh-CN" baseline="-30000" smtClean="0">
                <a:solidFill>
                  <a:srgbClr val="E02920"/>
                </a:solidFill>
              </a:rPr>
              <a:t>r </a:t>
            </a:r>
            <a:r>
              <a:rPr lang="en-US" altLang="zh-CN" i="1" smtClean="0">
                <a:solidFill>
                  <a:srgbClr val="E02920"/>
                </a:solidFill>
              </a:rPr>
              <a:t>t</a:t>
            </a:r>
            <a:r>
              <a:rPr lang="en-US" altLang="zh-CN" baseline="-30000" smtClean="0">
                <a:solidFill>
                  <a:srgbClr val="E02920"/>
                </a:solidFill>
              </a:rPr>
              <a:t>s</a:t>
            </a:r>
            <a:r>
              <a:rPr lang="zh-CN" altLang="en-US" smtClean="0"/>
              <a:t>称为元组的连接。</a:t>
            </a:r>
          </a:p>
          <a:p>
            <a:pPr lvl="1" eaLnBrk="1" hangingPunct="1">
              <a:lnSpc>
                <a:spcPct val="150000"/>
              </a:lnSpc>
              <a:buFont typeface="Wingdings" panose="05000000000000000000" pitchFamily="2" charset="2"/>
              <a:buNone/>
            </a:pPr>
            <a:r>
              <a:rPr lang="zh-CN" altLang="en-US" smtClean="0"/>
              <a:t>    </a:t>
            </a:r>
            <a:r>
              <a:rPr lang="en-US" altLang="zh-CN" i="1" smtClean="0">
                <a:solidFill>
                  <a:srgbClr val="E02920"/>
                </a:solidFill>
              </a:rPr>
              <a:t>t</a:t>
            </a:r>
            <a:r>
              <a:rPr lang="en-US" altLang="zh-CN" baseline="-30000" smtClean="0">
                <a:solidFill>
                  <a:srgbClr val="E02920"/>
                </a:solidFill>
              </a:rPr>
              <a:t>r </a:t>
            </a:r>
            <a:r>
              <a:rPr lang="en-US" altLang="zh-CN" i="1" smtClean="0">
                <a:solidFill>
                  <a:srgbClr val="E02920"/>
                </a:solidFill>
              </a:rPr>
              <a:t>t</a:t>
            </a:r>
            <a:r>
              <a:rPr lang="en-US" altLang="zh-CN" baseline="-30000" smtClean="0">
                <a:solidFill>
                  <a:srgbClr val="E02920"/>
                </a:solidFill>
              </a:rPr>
              <a:t>s</a:t>
            </a:r>
            <a:r>
              <a:rPr lang="zh-CN" altLang="en-US" smtClean="0"/>
              <a:t>是一个</a:t>
            </a:r>
            <a:r>
              <a:rPr lang="en-US" altLang="zh-CN" i="1" smtClean="0"/>
              <a:t>n</a:t>
            </a:r>
            <a:r>
              <a:rPr lang="en-US" altLang="zh-CN" smtClean="0"/>
              <a:t> + </a:t>
            </a:r>
            <a:r>
              <a:rPr lang="en-US" altLang="zh-CN" i="1" smtClean="0"/>
              <a:t>m</a:t>
            </a:r>
            <a:r>
              <a:rPr lang="zh-CN" altLang="en-US" smtClean="0"/>
              <a:t>列的元组，前</a:t>
            </a:r>
            <a:r>
              <a:rPr lang="en-US" altLang="zh-CN" i="1" smtClean="0"/>
              <a:t>n</a:t>
            </a:r>
            <a:r>
              <a:rPr lang="zh-CN" altLang="en-US" smtClean="0"/>
              <a:t>个分量为</a:t>
            </a:r>
            <a:r>
              <a:rPr lang="en-US" altLang="zh-CN" i="1" smtClean="0"/>
              <a:t>R</a:t>
            </a:r>
            <a:r>
              <a:rPr lang="zh-CN" altLang="en-US" smtClean="0"/>
              <a:t>中的一个</a:t>
            </a:r>
            <a:r>
              <a:rPr lang="en-US" altLang="zh-CN" i="1" smtClean="0"/>
              <a:t>n</a:t>
            </a:r>
            <a:r>
              <a:rPr lang="zh-CN" altLang="en-US" smtClean="0"/>
              <a:t>元组，后</a:t>
            </a:r>
            <a:r>
              <a:rPr lang="en-US" altLang="zh-CN" i="1" smtClean="0"/>
              <a:t>m</a:t>
            </a:r>
            <a:r>
              <a:rPr lang="zh-CN" altLang="en-US" smtClean="0"/>
              <a:t>个分量为</a:t>
            </a:r>
            <a:r>
              <a:rPr lang="en-US" altLang="zh-CN" i="1" smtClean="0"/>
              <a:t>S</a:t>
            </a:r>
            <a:r>
              <a:rPr lang="zh-CN" altLang="en-US" smtClean="0"/>
              <a:t>中的一个</a:t>
            </a:r>
            <a:r>
              <a:rPr lang="en-US" altLang="zh-CN" i="1" smtClean="0"/>
              <a:t>m</a:t>
            </a:r>
            <a:r>
              <a:rPr lang="zh-CN" altLang="en-US" smtClean="0"/>
              <a:t>元组。 </a:t>
            </a:r>
          </a:p>
        </p:txBody>
      </p:sp>
      <p:sp>
        <p:nvSpPr>
          <p:cNvPr id="80900" name="Freeform 4"/>
          <p:cNvSpPr>
            <a:spLocks/>
          </p:cNvSpPr>
          <p:nvPr/>
        </p:nvSpPr>
        <p:spPr bwMode="auto">
          <a:xfrm>
            <a:off x="2028825" y="1484313"/>
            <a:ext cx="311150" cy="147637"/>
          </a:xfrm>
          <a:custGeom>
            <a:avLst/>
            <a:gdLst>
              <a:gd name="T0" fmla="*/ 0 w 196"/>
              <a:gd name="T1" fmla="*/ 2147483647 h 82"/>
              <a:gd name="T2" fmla="*/ 2147483647 w 196"/>
              <a:gd name="T3" fmla="*/ 2147483647 h 82"/>
              <a:gd name="T4" fmla="*/ 2147483647 w 196"/>
              <a:gd name="T5" fmla="*/ 2147483647 h 82"/>
              <a:gd name="T6" fmla="*/ 2147483647 w 196"/>
              <a:gd name="T7" fmla="*/ 2147483647 h 82"/>
              <a:gd name="T8" fmla="*/ 0 60000 65536"/>
              <a:gd name="T9" fmla="*/ 0 60000 65536"/>
              <a:gd name="T10" fmla="*/ 0 60000 65536"/>
              <a:gd name="T11" fmla="*/ 0 60000 65536"/>
              <a:gd name="T12" fmla="*/ 0 w 196"/>
              <a:gd name="T13" fmla="*/ 0 h 82"/>
              <a:gd name="T14" fmla="*/ 196 w 196"/>
              <a:gd name="T15" fmla="*/ 82 h 82"/>
            </a:gdLst>
            <a:ahLst/>
            <a:cxnLst>
              <a:cxn ang="T8">
                <a:pos x="T0" y="T1"/>
              </a:cxn>
              <a:cxn ang="T9">
                <a:pos x="T2" y="T3"/>
              </a:cxn>
              <a:cxn ang="T10">
                <a:pos x="T4" y="T5"/>
              </a:cxn>
              <a:cxn ang="T11">
                <a:pos x="T6" y="T7"/>
              </a:cxn>
            </a:cxnLst>
            <a:rect l="T12" t="T13" r="T14" b="T15"/>
            <a:pathLst>
              <a:path w="196" h="82">
                <a:moveTo>
                  <a:pt x="0" y="43"/>
                </a:moveTo>
                <a:cubicBezTo>
                  <a:pt x="64" y="0"/>
                  <a:pt x="75" y="4"/>
                  <a:pt x="156" y="17"/>
                </a:cubicBezTo>
                <a:cubicBezTo>
                  <a:pt x="165" y="26"/>
                  <a:pt x="176" y="32"/>
                  <a:pt x="183" y="43"/>
                </a:cubicBezTo>
                <a:cubicBezTo>
                  <a:pt x="190" y="55"/>
                  <a:pt x="196" y="82"/>
                  <a:pt x="196" y="8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01" name="Freeform 5"/>
          <p:cNvSpPr>
            <a:spLocks/>
          </p:cNvSpPr>
          <p:nvPr/>
        </p:nvSpPr>
        <p:spPr bwMode="auto">
          <a:xfrm>
            <a:off x="3250900" y="2703384"/>
            <a:ext cx="311150" cy="130175"/>
          </a:xfrm>
          <a:custGeom>
            <a:avLst/>
            <a:gdLst>
              <a:gd name="T0" fmla="*/ 0 w 196"/>
              <a:gd name="T1" fmla="*/ 2147483647 h 82"/>
              <a:gd name="T2" fmla="*/ 2147483647 w 196"/>
              <a:gd name="T3" fmla="*/ 2147483647 h 82"/>
              <a:gd name="T4" fmla="*/ 2147483647 w 196"/>
              <a:gd name="T5" fmla="*/ 2147483647 h 82"/>
              <a:gd name="T6" fmla="*/ 2147483647 w 196"/>
              <a:gd name="T7" fmla="*/ 2147483647 h 82"/>
              <a:gd name="T8" fmla="*/ 0 60000 65536"/>
              <a:gd name="T9" fmla="*/ 0 60000 65536"/>
              <a:gd name="T10" fmla="*/ 0 60000 65536"/>
              <a:gd name="T11" fmla="*/ 0 60000 65536"/>
              <a:gd name="T12" fmla="*/ 0 w 196"/>
              <a:gd name="T13" fmla="*/ 0 h 82"/>
              <a:gd name="T14" fmla="*/ 196 w 196"/>
              <a:gd name="T15" fmla="*/ 82 h 82"/>
            </a:gdLst>
            <a:ahLst/>
            <a:cxnLst>
              <a:cxn ang="T8">
                <a:pos x="T0" y="T1"/>
              </a:cxn>
              <a:cxn ang="T9">
                <a:pos x="T2" y="T3"/>
              </a:cxn>
              <a:cxn ang="T10">
                <a:pos x="T4" y="T5"/>
              </a:cxn>
              <a:cxn ang="T11">
                <a:pos x="T6" y="T7"/>
              </a:cxn>
            </a:cxnLst>
            <a:rect l="T12" t="T13" r="T14" b="T15"/>
            <a:pathLst>
              <a:path w="196" h="82">
                <a:moveTo>
                  <a:pt x="0" y="43"/>
                </a:moveTo>
                <a:cubicBezTo>
                  <a:pt x="64" y="0"/>
                  <a:pt x="75" y="4"/>
                  <a:pt x="156" y="17"/>
                </a:cubicBezTo>
                <a:cubicBezTo>
                  <a:pt x="165" y="26"/>
                  <a:pt x="176" y="32"/>
                  <a:pt x="183" y="43"/>
                </a:cubicBezTo>
                <a:cubicBezTo>
                  <a:pt x="190" y="55"/>
                  <a:pt x="196" y="82"/>
                  <a:pt x="196" y="82"/>
                </a:cubicBezTo>
              </a:path>
            </a:pathLst>
          </a:custGeom>
          <a:noFill/>
          <a:ln w="9525">
            <a:solidFill>
              <a:srgbClr val="E0292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0902" name="Freeform 6"/>
          <p:cNvSpPr>
            <a:spLocks/>
          </p:cNvSpPr>
          <p:nvPr/>
        </p:nvSpPr>
        <p:spPr bwMode="auto">
          <a:xfrm>
            <a:off x="1524000" y="3370263"/>
            <a:ext cx="311150" cy="130175"/>
          </a:xfrm>
          <a:custGeom>
            <a:avLst/>
            <a:gdLst>
              <a:gd name="T0" fmla="*/ 0 w 196"/>
              <a:gd name="T1" fmla="*/ 2147483647 h 82"/>
              <a:gd name="T2" fmla="*/ 2147483647 w 196"/>
              <a:gd name="T3" fmla="*/ 2147483647 h 82"/>
              <a:gd name="T4" fmla="*/ 2147483647 w 196"/>
              <a:gd name="T5" fmla="*/ 2147483647 h 82"/>
              <a:gd name="T6" fmla="*/ 2147483647 w 196"/>
              <a:gd name="T7" fmla="*/ 2147483647 h 82"/>
              <a:gd name="T8" fmla="*/ 0 60000 65536"/>
              <a:gd name="T9" fmla="*/ 0 60000 65536"/>
              <a:gd name="T10" fmla="*/ 0 60000 65536"/>
              <a:gd name="T11" fmla="*/ 0 60000 65536"/>
              <a:gd name="T12" fmla="*/ 0 w 196"/>
              <a:gd name="T13" fmla="*/ 0 h 82"/>
              <a:gd name="T14" fmla="*/ 196 w 196"/>
              <a:gd name="T15" fmla="*/ 82 h 82"/>
            </a:gdLst>
            <a:ahLst/>
            <a:cxnLst>
              <a:cxn ang="T8">
                <a:pos x="T0" y="T1"/>
              </a:cxn>
              <a:cxn ang="T9">
                <a:pos x="T2" y="T3"/>
              </a:cxn>
              <a:cxn ang="T10">
                <a:pos x="T4" y="T5"/>
              </a:cxn>
              <a:cxn ang="T11">
                <a:pos x="T6" y="T7"/>
              </a:cxn>
            </a:cxnLst>
            <a:rect l="T12" t="T13" r="T14" b="T15"/>
            <a:pathLst>
              <a:path w="196" h="82">
                <a:moveTo>
                  <a:pt x="0" y="43"/>
                </a:moveTo>
                <a:cubicBezTo>
                  <a:pt x="64" y="0"/>
                  <a:pt x="75" y="4"/>
                  <a:pt x="156" y="17"/>
                </a:cubicBezTo>
                <a:cubicBezTo>
                  <a:pt x="165" y="26"/>
                  <a:pt x="176" y="32"/>
                  <a:pt x="183" y="43"/>
                </a:cubicBezTo>
                <a:cubicBezTo>
                  <a:pt x="190" y="55"/>
                  <a:pt x="196" y="82"/>
                  <a:pt x="196" y="82"/>
                </a:cubicBezTo>
              </a:path>
            </a:pathLst>
          </a:custGeom>
          <a:noFill/>
          <a:ln w="9525">
            <a:solidFill>
              <a:srgbClr val="E0292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extLst>
      <p:ext uri="{BB962C8B-B14F-4D97-AF65-F5344CB8AC3E}">
        <p14:creationId xmlns:p14="http://schemas.microsoft.com/office/powerpoint/2010/main" val="374892180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r>
              <a:rPr lang="zh-CN" altLang="en-US" sz="3600" smtClean="0"/>
              <a:t>专门的关系运算（续）</a:t>
            </a:r>
            <a:endParaRPr lang="en-US" altLang="zh-CN" sz="3600" smtClean="0"/>
          </a:p>
        </p:txBody>
      </p:sp>
      <p:sp>
        <p:nvSpPr>
          <p:cNvPr id="81923" name="Rectangle 3"/>
          <p:cNvSpPr>
            <a:spLocks noGrp="1" noChangeArrowheads="1"/>
          </p:cNvSpPr>
          <p:nvPr>
            <p:ph type="body" idx="1"/>
          </p:nvPr>
        </p:nvSpPr>
        <p:spPr>
          <a:xfrm>
            <a:off x="-357033" y="1494958"/>
            <a:ext cx="4449462" cy="4351338"/>
          </a:xfrm>
        </p:spPr>
        <p:txBody>
          <a:bodyPr>
            <a:normAutofit lnSpcReduction="10000"/>
          </a:bodyPr>
          <a:lstStyle/>
          <a:p>
            <a:pPr lvl="1" algn="just" eaLnBrk="1" hangingPunct="1">
              <a:lnSpc>
                <a:spcPct val="140000"/>
              </a:lnSpc>
              <a:buFont typeface="Wingdings" panose="05000000000000000000" pitchFamily="2" charset="2"/>
              <a:buNone/>
            </a:pPr>
            <a:r>
              <a:rPr lang="zh-CN" altLang="en-US" dirty="0" smtClean="0"/>
              <a:t>（</a:t>
            </a:r>
            <a:r>
              <a:rPr lang="en-US" altLang="zh-CN" dirty="0" smtClean="0"/>
              <a:t>4</a:t>
            </a:r>
            <a:r>
              <a:rPr lang="zh-CN" altLang="en-US" dirty="0" smtClean="0"/>
              <a:t>）象集</a:t>
            </a:r>
            <a:r>
              <a:rPr lang="en-US" altLang="zh-CN" i="1" dirty="0" err="1" smtClean="0"/>
              <a:t>Z</a:t>
            </a:r>
            <a:r>
              <a:rPr lang="en-US" altLang="zh-CN" baseline="-30000" dirty="0" err="1" smtClean="0"/>
              <a:t>x</a:t>
            </a:r>
            <a:endParaRPr lang="en-US" altLang="zh-CN" dirty="0" smtClean="0"/>
          </a:p>
          <a:p>
            <a:pPr lvl="1" algn="just" eaLnBrk="1" hangingPunct="1">
              <a:lnSpc>
                <a:spcPct val="140000"/>
              </a:lnSpc>
              <a:buFont typeface="Wingdings" panose="05000000000000000000" pitchFamily="2" charset="2"/>
              <a:buNone/>
            </a:pPr>
            <a:r>
              <a:rPr lang="en-US" altLang="zh-CN" dirty="0" smtClean="0"/>
              <a:t>  </a:t>
            </a:r>
            <a:r>
              <a:rPr lang="zh-CN" altLang="en-US" dirty="0" smtClean="0"/>
              <a:t>给定一个关系</a:t>
            </a:r>
            <a:r>
              <a:rPr lang="en-US" altLang="zh-CN" i="1" dirty="0" smtClean="0"/>
              <a:t>R</a:t>
            </a:r>
            <a:r>
              <a:rPr lang="zh-CN" altLang="en-US" dirty="0" smtClean="0"/>
              <a:t>（</a:t>
            </a:r>
            <a:r>
              <a:rPr lang="en-US" altLang="zh-CN" i="1" dirty="0" smtClean="0"/>
              <a:t>X</a:t>
            </a:r>
            <a:r>
              <a:rPr lang="zh-CN" altLang="en-US" dirty="0" smtClean="0"/>
              <a:t>，</a:t>
            </a:r>
            <a:r>
              <a:rPr lang="en-US" altLang="zh-CN" i="1" dirty="0" smtClean="0"/>
              <a:t>Z</a:t>
            </a:r>
            <a:r>
              <a:rPr lang="zh-CN" altLang="en-US" dirty="0" smtClean="0"/>
              <a:t>），</a:t>
            </a:r>
            <a:r>
              <a:rPr lang="en-US" altLang="zh-CN" i="1" dirty="0" smtClean="0"/>
              <a:t>X</a:t>
            </a:r>
            <a:r>
              <a:rPr lang="zh-CN" altLang="en-US" dirty="0" smtClean="0"/>
              <a:t>和</a:t>
            </a:r>
            <a:r>
              <a:rPr lang="en-US" altLang="zh-CN" i="1" dirty="0" smtClean="0"/>
              <a:t>Z</a:t>
            </a:r>
            <a:r>
              <a:rPr lang="zh-CN" altLang="en-US" dirty="0" smtClean="0"/>
              <a:t>为属性组。</a:t>
            </a:r>
          </a:p>
          <a:p>
            <a:pPr lvl="1" algn="just" eaLnBrk="1" hangingPunct="1">
              <a:lnSpc>
                <a:spcPct val="140000"/>
              </a:lnSpc>
              <a:buFont typeface="Wingdings" panose="05000000000000000000" pitchFamily="2" charset="2"/>
              <a:buNone/>
            </a:pPr>
            <a:r>
              <a:rPr lang="zh-CN" altLang="en-US" dirty="0" smtClean="0"/>
              <a:t>  当</a:t>
            </a:r>
            <a:r>
              <a:rPr lang="en-US" altLang="zh-CN" i="1" dirty="0" smtClean="0"/>
              <a:t>t</a:t>
            </a:r>
            <a:r>
              <a:rPr lang="en-US" altLang="zh-CN" dirty="0" smtClean="0"/>
              <a:t>[</a:t>
            </a:r>
            <a:r>
              <a:rPr lang="en-US" altLang="zh-CN" i="1" dirty="0" smtClean="0"/>
              <a:t>X</a:t>
            </a:r>
            <a:r>
              <a:rPr lang="en-US" altLang="zh-CN" dirty="0" smtClean="0"/>
              <a:t>]=</a:t>
            </a:r>
            <a:r>
              <a:rPr lang="en-US" altLang="zh-CN" i="1" dirty="0" smtClean="0"/>
              <a:t>x</a:t>
            </a:r>
            <a:r>
              <a:rPr lang="zh-CN" altLang="en-US" dirty="0" smtClean="0"/>
              <a:t>时，</a:t>
            </a:r>
            <a:r>
              <a:rPr lang="en-US" altLang="zh-CN" i="1" dirty="0" smtClean="0"/>
              <a:t>x</a:t>
            </a:r>
            <a:r>
              <a:rPr lang="zh-CN" altLang="en-US" dirty="0" smtClean="0"/>
              <a:t>在</a:t>
            </a:r>
            <a:r>
              <a:rPr lang="en-US" altLang="zh-CN" i="1" dirty="0" smtClean="0"/>
              <a:t>R</a:t>
            </a:r>
            <a:r>
              <a:rPr lang="zh-CN" altLang="en-US" dirty="0" smtClean="0"/>
              <a:t>中的</a:t>
            </a:r>
            <a:r>
              <a:rPr lang="zh-CN" altLang="en-US" dirty="0" smtClean="0">
                <a:solidFill>
                  <a:schemeClr val="hlink"/>
                </a:solidFill>
              </a:rPr>
              <a:t>象集</a:t>
            </a:r>
            <a:r>
              <a:rPr lang="zh-CN" altLang="en-US" dirty="0" smtClean="0"/>
              <a:t>（</a:t>
            </a:r>
            <a:r>
              <a:rPr lang="en-US" altLang="zh-CN" dirty="0" smtClean="0"/>
              <a:t>Images Set</a:t>
            </a:r>
            <a:r>
              <a:rPr lang="zh-CN" altLang="en-US" dirty="0" smtClean="0"/>
              <a:t>）为：</a:t>
            </a:r>
          </a:p>
          <a:p>
            <a:pPr lvl="1" algn="just" eaLnBrk="1" hangingPunct="1">
              <a:lnSpc>
                <a:spcPct val="130000"/>
              </a:lnSpc>
              <a:buFont typeface="Wingdings" panose="05000000000000000000" pitchFamily="2" charset="2"/>
              <a:buNone/>
            </a:pPr>
            <a:r>
              <a:rPr lang="zh-CN" altLang="en-US" dirty="0" smtClean="0"/>
              <a:t>	      </a:t>
            </a:r>
            <a:r>
              <a:rPr lang="en-US" altLang="zh-CN" i="1" dirty="0" err="1" smtClean="0">
                <a:solidFill>
                  <a:srgbClr val="E02920"/>
                </a:solidFill>
              </a:rPr>
              <a:t>Z</a:t>
            </a:r>
            <a:r>
              <a:rPr lang="en-US" altLang="zh-CN" baseline="-30000" dirty="0" err="1" smtClean="0">
                <a:solidFill>
                  <a:srgbClr val="E02920"/>
                </a:solidFill>
              </a:rPr>
              <a:t>x</a:t>
            </a:r>
            <a:r>
              <a:rPr lang="en-US" altLang="zh-CN" dirty="0" smtClean="0"/>
              <a:t>={</a:t>
            </a:r>
            <a:r>
              <a:rPr lang="en-US" altLang="zh-CN" i="1" dirty="0" smtClean="0"/>
              <a:t>t</a:t>
            </a:r>
            <a:r>
              <a:rPr lang="en-US" altLang="zh-CN" dirty="0" smtClean="0"/>
              <a:t>[</a:t>
            </a:r>
            <a:r>
              <a:rPr lang="en-US" altLang="zh-CN" i="1" dirty="0" smtClean="0"/>
              <a:t>Z</a:t>
            </a:r>
            <a:r>
              <a:rPr lang="en-US" altLang="zh-CN" dirty="0" smtClean="0"/>
              <a:t>]|</a:t>
            </a:r>
            <a:r>
              <a:rPr lang="en-US" altLang="zh-CN" i="1" dirty="0" smtClean="0"/>
              <a:t>t </a:t>
            </a:r>
            <a:r>
              <a:rPr lang="en-US" altLang="zh-CN" dirty="0" smtClean="0">
                <a:sym typeface="Symbol" panose="05050102010706020507" pitchFamily="18" charset="2"/>
              </a:rPr>
              <a:t></a:t>
            </a:r>
            <a:r>
              <a:rPr lang="en-US" altLang="zh-CN" i="1" dirty="0" smtClean="0"/>
              <a:t>R</a:t>
            </a:r>
            <a:r>
              <a:rPr lang="zh-CN" altLang="en-US" dirty="0" smtClean="0"/>
              <a:t>，</a:t>
            </a:r>
            <a:r>
              <a:rPr lang="en-US" altLang="zh-CN" i="1" dirty="0" smtClean="0"/>
              <a:t>t</a:t>
            </a:r>
            <a:r>
              <a:rPr lang="en-US" altLang="zh-CN" dirty="0" smtClean="0"/>
              <a:t>[</a:t>
            </a:r>
            <a:r>
              <a:rPr lang="en-US" altLang="zh-CN" i="1" dirty="0" smtClean="0"/>
              <a:t>X</a:t>
            </a:r>
            <a:r>
              <a:rPr lang="en-US" altLang="zh-CN" dirty="0" smtClean="0"/>
              <a:t>]=</a:t>
            </a:r>
            <a:r>
              <a:rPr lang="en-US" altLang="zh-CN" i="1" dirty="0" smtClean="0"/>
              <a:t>x</a:t>
            </a:r>
            <a:r>
              <a:rPr lang="en-US" altLang="zh-CN" dirty="0" smtClean="0"/>
              <a:t>}</a:t>
            </a:r>
          </a:p>
          <a:p>
            <a:pPr lvl="1" eaLnBrk="1" hangingPunct="1">
              <a:lnSpc>
                <a:spcPct val="140000"/>
              </a:lnSpc>
              <a:buFont typeface="Wingdings" panose="05000000000000000000" pitchFamily="2" charset="2"/>
              <a:buNone/>
            </a:pPr>
            <a:r>
              <a:rPr lang="en-US" altLang="zh-CN" dirty="0" smtClean="0"/>
              <a:t> 	</a:t>
            </a:r>
            <a:r>
              <a:rPr lang="zh-CN" altLang="en-US" dirty="0" smtClean="0"/>
              <a:t>它表示</a:t>
            </a:r>
            <a:r>
              <a:rPr lang="en-US" altLang="zh-CN" i="1" dirty="0" smtClean="0"/>
              <a:t>R</a:t>
            </a:r>
            <a:r>
              <a:rPr lang="zh-CN" altLang="en-US" dirty="0" smtClean="0"/>
              <a:t>中属性组</a:t>
            </a:r>
            <a:r>
              <a:rPr lang="en-US" altLang="zh-CN" i="1" dirty="0" smtClean="0"/>
              <a:t>X</a:t>
            </a:r>
            <a:r>
              <a:rPr lang="zh-CN" altLang="en-US" dirty="0" smtClean="0"/>
              <a:t>上值为</a:t>
            </a:r>
            <a:r>
              <a:rPr lang="en-US" altLang="zh-CN" i="1" dirty="0" smtClean="0"/>
              <a:t>x</a:t>
            </a:r>
            <a:r>
              <a:rPr lang="zh-CN" altLang="en-US" dirty="0" smtClean="0"/>
              <a:t>的诸元组在</a:t>
            </a:r>
            <a:r>
              <a:rPr lang="en-US" altLang="zh-CN" i="1" dirty="0" smtClean="0"/>
              <a:t>Z</a:t>
            </a:r>
            <a:r>
              <a:rPr lang="zh-CN" altLang="en-US" dirty="0" smtClean="0"/>
              <a:t>上分量的集合 </a:t>
            </a:r>
          </a:p>
        </p:txBody>
      </p:sp>
      <p:pic>
        <p:nvPicPr>
          <p:cNvPr id="4" name="Picture 4" descr="2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25363" y="1443341"/>
            <a:ext cx="2408237"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5"/>
          <p:cNvSpPr>
            <a:spLocks noChangeArrowheads="1"/>
          </p:cNvSpPr>
          <p:nvPr/>
        </p:nvSpPr>
        <p:spPr bwMode="auto">
          <a:xfrm>
            <a:off x="4724052" y="5520344"/>
            <a:ext cx="1177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t>象集举例 </a:t>
            </a:r>
          </a:p>
        </p:txBody>
      </p:sp>
      <p:sp>
        <p:nvSpPr>
          <p:cNvPr id="6" name="Rectangle 3"/>
          <p:cNvSpPr txBox="1">
            <a:spLocks noChangeArrowheads="1"/>
          </p:cNvSpPr>
          <p:nvPr/>
        </p:nvSpPr>
        <p:spPr>
          <a:xfrm>
            <a:off x="6533600" y="1586304"/>
            <a:ext cx="2586681" cy="4495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p"/>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n"/>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400" i="1" dirty="0" smtClean="0"/>
              <a:t>x</a:t>
            </a:r>
            <a:r>
              <a:rPr lang="en-US" altLang="zh-CN" sz="2400" baseline="-30000" dirty="0" smtClean="0"/>
              <a:t>1</a:t>
            </a:r>
            <a:r>
              <a:rPr lang="zh-CN" altLang="en-US" sz="2400" dirty="0" smtClean="0"/>
              <a:t>在</a:t>
            </a:r>
            <a:r>
              <a:rPr lang="en-US" altLang="zh-CN" sz="2400" i="1" dirty="0" smtClean="0"/>
              <a:t>R</a:t>
            </a:r>
            <a:r>
              <a:rPr lang="zh-CN" altLang="en-US" sz="2400" dirty="0" smtClean="0"/>
              <a:t>中的象集</a:t>
            </a:r>
          </a:p>
          <a:p>
            <a:pPr>
              <a:lnSpc>
                <a:spcPct val="150000"/>
              </a:lnSpc>
              <a:buFont typeface="Wingdings" panose="05000000000000000000" pitchFamily="2" charset="2"/>
              <a:buNone/>
            </a:pPr>
            <a:r>
              <a:rPr lang="zh-CN" altLang="en-US" sz="2400" i="1" dirty="0" smtClean="0"/>
              <a:t>    </a:t>
            </a:r>
            <a:r>
              <a:rPr lang="en-US" altLang="zh-CN" sz="2400" i="1" dirty="0" smtClean="0">
                <a:solidFill>
                  <a:srgbClr val="E02920"/>
                </a:solidFill>
              </a:rPr>
              <a:t>Z</a:t>
            </a:r>
            <a:r>
              <a:rPr lang="en-US" altLang="zh-CN" sz="2400" baseline="-30000" dirty="0" smtClean="0">
                <a:solidFill>
                  <a:srgbClr val="E02920"/>
                </a:solidFill>
              </a:rPr>
              <a:t>x1</a:t>
            </a:r>
            <a:r>
              <a:rPr lang="en-US" altLang="zh-CN" sz="2400" i="1" dirty="0" smtClean="0"/>
              <a:t> </a:t>
            </a:r>
            <a:r>
              <a:rPr lang="en-US" altLang="zh-CN" sz="2400" dirty="0" smtClean="0"/>
              <a:t>={</a:t>
            </a:r>
            <a:r>
              <a:rPr lang="en-US" altLang="zh-CN" sz="2400" i="1" dirty="0" smtClean="0"/>
              <a:t>Z</a:t>
            </a:r>
            <a:r>
              <a:rPr lang="en-US" altLang="zh-CN" sz="2400" baseline="-25000" dirty="0" smtClean="0"/>
              <a:t>1</a:t>
            </a:r>
            <a:r>
              <a:rPr lang="zh-CN" altLang="en-US" sz="2400" dirty="0" smtClean="0"/>
              <a:t>，</a:t>
            </a:r>
            <a:r>
              <a:rPr lang="en-US" altLang="zh-CN" sz="2400" i="1" dirty="0" smtClean="0"/>
              <a:t>Z</a:t>
            </a:r>
            <a:r>
              <a:rPr lang="en-US" altLang="zh-CN" sz="2400" baseline="-25000" dirty="0" smtClean="0"/>
              <a:t>2</a:t>
            </a:r>
            <a:r>
              <a:rPr lang="zh-CN" altLang="en-US" sz="2400" dirty="0" smtClean="0"/>
              <a:t>，</a:t>
            </a:r>
            <a:r>
              <a:rPr lang="en-US" altLang="zh-CN" sz="2400" i="1" dirty="0" smtClean="0"/>
              <a:t>Z</a:t>
            </a:r>
            <a:r>
              <a:rPr lang="en-US" altLang="zh-CN" sz="2400" baseline="-25000" dirty="0" smtClean="0"/>
              <a:t>3</a:t>
            </a:r>
            <a:r>
              <a:rPr lang="en-US" altLang="zh-CN" sz="2400" dirty="0" smtClean="0"/>
              <a:t>}</a:t>
            </a:r>
            <a:r>
              <a:rPr lang="zh-CN" altLang="en-US" sz="2400" dirty="0" smtClean="0"/>
              <a:t>，</a:t>
            </a:r>
            <a:endParaRPr lang="zh-CN" altLang="en-US" sz="2400" i="1" dirty="0" smtClean="0"/>
          </a:p>
          <a:p>
            <a:pPr>
              <a:lnSpc>
                <a:spcPct val="150000"/>
              </a:lnSpc>
            </a:pPr>
            <a:r>
              <a:rPr lang="en-US" altLang="zh-CN" sz="2400" i="1" dirty="0" smtClean="0"/>
              <a:t>x</a:t>
            </a:r>
            <a:r>
              <a:rPr lang="en-US" altLang="zh-CN" sz="2400" baseline="-30000" dirty="0" smtClean="0"/>
              <a:t>2</a:t>
            </a:r>
            <a:r>
              <a:rPr lang="zh-CN" altLang="en-US" sz="2400" dirty="0" smtClean="0"/>
              <a:t>在</a:t>
            </a:r>
            <a:r>
              <a:rPr lang="en-US" altLang="zh-CN" sz="2400" i="1" dirty="0" smtClean="0"/>
              <a:t>R</a:t>
            </a:r>
            <a:r>
              <a:rPr lang="zh-CN" altLang="en-US" sz="2400" dirty="0" smtClean="0"/>
              <a:t>中的象集</a:t>
            </a:r>
          </a:p>
          <a:p>
            <a:pPr>
              <a:lnSpc>
                <a:spcPct val="150000"/>
              </a:lnSpc>
              <a:buFont typeface="Wingdings" panose="05000000000000000000" pitchFamily="2" charset="2"/>
              <a:buNone/>
            </a:pPr>
            <a:r>
              <a:rPr lang="zh-CN" altLang="en-US" sz="2400" i="1" dirty="0" smtClean="0"/>
              <a:t>    </a:t>
            </a:r>
            <a:r>
              <a:rPr lang="en-US" altLang="zh-CN" sz="2400" i="1" dirty="0" smtClean="0">
                <a:solidFill>
                  <a:srgbClr val="E02920"/>
                </a:solidFill>
              </a:rPr>
              <a:t>Z</a:t>
            </a:r>
            <a:r>
              <a:rPr lang="en-US" altLang="zh-CN" sz="2400" baseline="-30000" dirty="0" smtClean="0">
                <a:solidFill>
                  <a:srgbClr val="E02920"/>
                </a:solidFill>
              </a:rPr>
              <a:t>x2</a:t>
            </a:r>
            <a:r>
              <a:rPr lang="en-US" altLang="zh-CN" sz="2400" i="1" dirty="0" smtClean="0"/>
              <a:t> </a:t>
            </a:r>
            <a:r>
              <a:rPr lang="en-US" altLang="zh-CN" sz="2400" dirty="0" smtClean="0"/>
              <a:t>={</a:t>
            </a:r>
            <a:r>
              <a:rPr lang="en-US" altLang="zh-CN" sz="2400" i="1" dirty="0" smtClean="0"/>
              <a:t>Z</a:t>
            </a:r>
            <a:r>
              <a:rPr lang="en-US" altLang="zh-CN" sz="2400" baseline="-25000" dirty="0" smtClean="0"/>
              <a:t>2</a:t>
            </a:r>
            <a:r>
              <a:rPr lang="zh-CN" altLang="en-US" sz="2400" dirty="0" smtClean="0"/>
              <a:t>，</a:t>
            </a:r>
            <a:r>
              <a:rPr lang="en-US" altLang="zh-CN" sz="2400" i="1" dirty="0" smtClean="0"/>
              <a:t>Z</a:t>
            </a:r>
            <a:r>
              <a:rPr lang="en-US" altLang="zh-CN" sz="2400" baseline="-25000" dirty="0" smtClean="0"/>
              <a:t>3</a:t>
            </a:r>
            <a:r>
              <a:rPr lang="en-US" altLang="zh-CN" sz="2400" dirty="0" smtClean="0"/>
              <a:t>}</a:t>
            </a:r>
            <a:r>
              <a:rPr lang="zh-CN" altLang="en-US" sz="2400" dirty="0" smtClean="0"/>
              <a:t>，</a:t>
            </a:r>
            <a:endParaRPr lang="zh-CN" altLang="en-US" sz="2400" i="1" dirty="0" smtClean="0"/>
          </a:p>
          <a:p>
            <a:pPr>
              <a:lnSpc>
                <a:spcPct val="150000"/>
              </a:lnSpc>
            </a:pPr>
            <a:r>
              <a:rPr lang="en-US" altLang="zh-CN" sz="2400" i="1" dirty="0" smtClean="0"/>
              <a:t>x</a:t>
            </a:r>
            <a:r>
              <a:rPr lang="en-US" altLang="zh-CN" sz="2400" baseline="-30000" dirty="0" smtClean="0"/>
              <a:t>3</a:t>
            </a:r>
            <a:r>
              <a:rPr lang="zh-CN" altLang="en-US" sz="2400" dirty="0" smtClean="0"/>
              <a:t>在</a:t>
            </a:r>
            <a:r>
              <a:rPr lang="en-US" altLang="zh-CN" sz="2400" i="1" dirty="0" smtClean="0"/>
              <a:t>R</a:t>
            </a:r>
            <a:r>
              <a:rPr lang="zh-CN" altLang="en-US" sz="2400" dirty="0" smtClean="0"/>
              <a:t>中的象集</a:t>
            </a:r>
          </a:p>
          <a:p>
            <a:pPr>
              <a:lnSpc>
                <a:spcPct val="150000"/>
              </a:lnSpc>
              <a:buFont typeface="Wingdings" panose="05000000000000000000" pitchFamily="2" charset="2"/>
              <a:buNone/>
            </a:pPr>
            <a:r>
              <a:rPr lang="zh-CN" altLang="en-US" sz="2400" i="1" dirty="0" smtClean="0"/>
              <a:t>    </a:t>
            </a:r>
            <a:r>
              <a:rPr lang="en-US" altLang="zh-CN" sz="2400" i="1" dirty="0" smtClean="0">
                <a:solidFill>
                  <a:srgbClr val="E02920"/>
                </a:solidFill>
              </a:rPr>
              <a:t>Z</a:t>
            </a:r>
            <a:r>
              <a:rPr lang="en-US" altLang="zh-CN" sz="2400" baseline="-30000" dirty="0" smtClean="0">
                <a:solidFill>
                  <a:srgbClr val="E02920"/>
                </a:solidFill>
              </a:rPr>
              <a:t>x3</a:t>
            </a:r>
            <a:r>
              <a:rPr lang="en-US" altLang="zh-CN" sz="2400" dirty="0" smtClean="0"/>
              <a:t>={</a:t>
            </a:r>
            <a:r>
              <a:rPr lang="en-US" altLang="zh-CN" sz="2400" i="1" dirty="0" smtClean="0"/>
              <a:t>Z</a:t>
            </a:r>
            <a:r>
              <a:rPr lang="en-US" altLang="zh-CN" sz="2400" baseline="-25000" dirty="0" smtClean="0"/>
              <a:t>1</a:t>
            </a:r>
            <a:r>
              <a:rPr lang="zh-CN" altLang="en-US" sz="2400" dirty="0" smtClean="0"/>
              <a:t>，</a:t>
            </a:r>
            <a:r>
              <a:rPr lang="en-US" altLang="zh-CN" sz="2400" i="1" dirty="0" smtClean="0"/>
              <a:t>Z</a:t>
            </a:r>
            <a:r>
              <a:rPr lang="en-US" altLang="zh-CN" sz="2400" baseline="-25000" dirty="0" smtClean="0"/>
              <a:t>3</a:t>
            </a:r>
            <a:r>
              <a:rPr lang="en-US" altLang="zh-CN" sz="2400" dirty="0" smtClean="0"/>
              <a:t>}</a:t>
            </a:r>
          </a:p>
        </p:txBody>
      </p:sp>
    </p:spTree>
    <p:extLst>
      <p:ext uri="{BB962C8B-B14F-4D97-AF65-F5344CB8AC3E}">
        <p14:creationId xmlns:p14="http://schemas.microsoft.com/office/powerpoint/2010/main" val="285668996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r>
              <a:rPr lang="zh-CN" altLang="en-US" sz="3600" smtClean="0"/>
              <a:t>专门的关系运算（续）</a:t>
            </a:r>
            <a:endParaRPr lang="en-US" altLang="zh-CN" sz="3600" smtClean="0"/>
          </a:p>
        </p:txBody>
      </p:sp>
      <p:sp>
        <p:nvSpPr>
          <p:cNvPr id="83971" name="Rectangle 3"/>
          <p:cNvSpPr>
            <a:spLocks noGrp="1" noChangeArrowheads="1"/>
          </p:cNvSpPr>
          <p:nvPr>
            <p:ph type="body" idx="1"/>
          </p:nvPr>
        </p:nvSpPr>
        <p:spPr/>
        <p:txBody>
          <a:bodyPr/>
          <a:lstStyle/>
          <a:p>
            <a:pPr marL="849313" indent="-476250" eaLnBrk="1" hangingPunct="1">
              <a:lnSpc>
                <a:spcPct val="150000"/>
              </a:lnSpc>
              <a:buFont typeface="Wingdings" panose="05000000000000000000" pitchFamily="2" charset="2"/>
              <a:buNone/>
            </a:pPr>
            <a:r>
              <a:rPr lang="zh-CN" altLang="en-US" dirty="0" smtClean="0"/>
              <a:t>（</a:t>
            </a:r>
            <a:r>
              <a:rPr lang="en-US" altLang="zh-CN" dirty="0" smtClean="0"/>
              <a:t>1</a:t>
            </a:r>
            <a:r>
              <a:rPr lang="zh-CN" altLang="en-US" dirty="0" smtClean="0"/>
              <a:t>）</a:t>
            </a:r>
            <a:r>
              <a:rPr lang="en-US" altLang="zh-CN" dirty="0" smtClean="0"/>
              <a:t> </a:t>
            </a:r>
            <a:r>
              <a:rPr lang="zh-CN" altLang="en-US" dirty="0" smtClean="0"/>
              <a:t>选择</a:t>
            </a:r>
          </a:p>
          <a:p>
            <a:pPr marL="849313" indent="-476250" eaLnBrk="1" hangingPunct="1">
              <a:lnSpc>
                <a:spcPct val="150000"/>
              </a:lnSpc>
              <a:buFont typeface="Wingdings" panose="05000000000000000000" pitchFamily="2" charset="2"/>
              <a:buNone/>
            </a:pPr>
            <a:r>
              <a:rPr lang="zh-CN" altLang="en-US" dirty="0" smtClean="0"/>
              <a:t>（</a:t>
            </a:r>
            <a:r>
              <a:rPr lang="en-US" altLang="zh-CN" dirty="0" smtClean="0"/>
              <a:t>2</a:t>
            </a:r>
            <a:r>
              <a:rPr lang="zh-CN" altLang="en-US" dirty="0" smtClean="0"/>
              <a:t>）</a:t>
            </a:r>
            <a:r>
              <a:rPr lang="en-US" altLang="zh-CN" dirty="0" smtClean="0"/>
              <a:t> </a:t>
            </a:r>
            <a:r>
              <a:rPr lang="zh-CN" altLang="en-US" dirty="0" smtClean="0"/>
              <a:t>投影</a:t>
            </a:r>
          </a:p>
          <a:p>
            <a:pPr marL="849313" indent="-476250" eaLnBrk="1" hangingPunct="1">
              <a:lnSpc>
                <a:spcPct val="150000"/>
              </a:lnSpc>
              <a:buFont typeface="Wingdings" panose="05000000000000000000" pitchFamily="2" charset="2"/>
              <a:buNone/>
            </a:pPr>
            <a:r>
              <a:rPr lang="zh-CN" altLang="en-US" dirty="0" smtClean="0"/>
              <a:t>（</a:t>
            </a:r>
            <a:r>
              <a:rPr lang="en-US" altLang="zh-CN" dirty="0" smtClean="0"/>
              <a:t>3</a:t>
            </a:r>
            <a:r>
              <a:rPr lang="zh-CN" altLang="en-US" dirty="0" smtClean="0"/>
              <a:t>）</a:t>
            </a:r>
            <a:r>
              <a:rPr lang="en-US" altLang="zh-CN" dirty="0" smtClean="0"/>
              <a:t> </a:t>
            </a:r>
            <a:r>
              <a:rPr lang="zh-CN" altLang="en-US" dirty="0" smtClean="0"/>
              <a:t>连接</a:t>
            </a:r>
          </a:p>
          <a:p>
            <a:pPr marL="849313" indent="-476250" eaLnBrk="1" hangingPunct="1">
              <a:lnSpc>
                <a:spcPct val="150000"/>
              </a:lnSpc>
              <a:buFont typeface="Wingdings" panose="05000000000000000000" pitchFamily="2" charset="2"/>
              <a:buNone/>
            </a:pPr>
            <a:r>
              <a:rPr lang="zh-CN" altLang="en-US" dirty="0" smtClean="0"/>
              <a:t>（</a:t>
            </a:r>
            <a:r>
              <a:rPr lang="en-US" altLang="zh-CN" dirty="0" smtClean="0"/>
              <a:t>4</a:t>
            </a:r>
            <a:r>
              <a:rPr lang="zh-CN" altLang="en-US" dirty="0" smtClean="0"/>
              <a:t>）除运算</a:t>
            </a:r>
          </a:p>
        </p:txBody>
      </p:sp>
    </p:spTree>
    <p:extLst>
      <p:ext uri="{BB962C8B-B14F-4D97-AF65-F5344CB8AC3E}">
        <p14:creationId xmlns:p14="http://schemas.microsoft.com/office/powerpoint/2010/main" val="350280157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914400" y="188913"/>
            <a:ext cx="7391400" cy="563562"/>
          </a:xfrm>
        </p:spPr>
        <p:txBody>
          <a:bodyPr>
            <a:normAutofit fontScale="90000"/>
          </a:bodyPr>
          <a:lstStyle/>
          <a:p>
            <a:pPr eaLnBrk="1" hangingPunct="1"/>
            <a:r>
              <a:rPr lang="zh-CN" altLang="en-US" sz="3600" smtClean="0"/>
              <a:t>专门的关系运算（续）</a:t>
            </a:r>
            <a:endParaRPr lang="en-US" altLang="zh-CN" sz="3600" smtClean="0"/>
          </a:p>
        </p:txBody>
      </p:sp>
      <p:sp>
        <p:nvSpPr>
          <p:cNvPr id="84996" name="Rectangle 83"/>
          <p:cNvSpPr>
            <a:spLocks noChangeArrowheads="1"/>
          </p:cNvSpPr>
          <p:nvPr/>
        </p:nvSpPr>
        <p:spPr bwMode="auto">
          <a:xfrm>
            <a:off x="468313" y="2133600"/>
            <a:ext cx="914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200" dirty="0"/>
              <a:t> </a:t>
            </a:r>
            <a:r>
              <a:rPr lang="en-US" altLang="zh-CN" sz="2200" b="1" dirty="0"/>
              <a:t>Student</a:t>
            </a:r>
          </a:p>
        </p:txBody>
      </p:sp>
      <p:sp>
        <p:nvSpPr>
          <p:cNvPr id="84997" name="Rectangle 91"/>
          <p:cNvSpPr>
            <a:spLocks noChangeArrowheads="1"/>
          </p:cNvSpPr>
          <p:nvPr/>
        </p:nvSpPr>
        <p:spPr bwMode="auto">
          <a:xfrm>
            <a:off x="539750" y="1127125"/>
            <a:ext cx="7488238"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2400" b="1"/>
              <a:t>学生</a:t>
            </a:r>
            <a:r>
              <a:rPr lang="en-US" altLang="zh-CN" sz="2400" b="1"/>
              <a:t>-</a:t>
            </a:r>
            <a:r>
              <a:rPr lang="zh-CN" altLang="en-US" sz="2400" b="1"/>
              <a:t>课程数据库</a:t>
            </a:r>
            <a:r>
              <a:rPr lang="en-US" altLang="zh-CN" sz="2400" b="1"/>
              <a:t>:</a:t>
            </a:r>
          </a:p>
          <a:p>
            <a:pPr eaLnBrk="1" hangingPunct="1">
              <a:lnSpc>
                <a:spcPct val="120000"/>
              </a:lnSpc>
            </a:pPr>
            <a:r>
              <a:rPr lang="en-US" altLang="zh-CN" sz="2400" b="1"/>
              <a:t>     </a:t>
            </a:r>
            <a:r>
              <a:rPr lang="zh-CN" altLang="en-US" sz="2400" b="1"/>
              <a:t>学生关系</a:t>
            </a:r>
            <a:r>
              <a:rPr lang="en-US" altLang="zh-CN" sz="2400" b="1"/>
              <a:t>Student</a:t>
            </a:r>
            <a:r>
              <a:rPr lang="zh-CN" altLang="en-US" sz="2400" b="1"/>
              <a:t>、课程关系</a:t>
            </a:r>
            <a:r>
              <a:rPr lang="en-US" altLang="zh-CN" sz="2400" b="1"/>
              <a:t>Course</a:t>
            </a:r>
            <a:r>
              <a:rPr lang="zh-CN" altLang="en-US" sz="2400" b="1"/>
              <a:t>和选修</a:t>
            </a:r>
            <a:r>
              <a:rPr lang="zh-CN" altLang="en-US" sz="2200" b="1"/>
              <a:t>关系</a:t>
            </a:r>
            <a:r>
              <a:rPr lang="en-US" altLang="zh-CN" sz="2200" b="1"/>
              <a:t>SC</a:t>
            </a:r>
          </a:p>
        </p:txBody>
      </p:sp>
      <p:graphicFrame>
        <p:nvGraphicFramePr>
          <p:cNvPr id="341263" name="Group 271"/>
          <p:cNvGraphicFramePr>
            <a:graphicFrameLocks noGrp="1"/>
          </p:cNvGraphicFramePr>
          <p:nvPr>
            <p:ph idx="1"/>
            <p:extLst>
              <p:ext uri="{D42A27DB-BD31-4B8C-83A1-F6EECF244321}">
                <p14:modId xmlns:p14="http://schemas.microsoft.com/office/powerpoint/2010/main" val="2576888943"/>
              </p:ext>
            </p:extLst>
          </p:nvPr>
        </p:nvGraphicFramePr>
        <p:xfrm>
          <a:off x="1892411" y="2133600"/>
          <a:ext cx="5970490" cy="1979668"/>
        </p:xfrm>
        <a:graphic>
          <a:graphicData uri="http://schemas.openxmlformats.org/drawingml/2006/table">
            <a:tbl>
              <a:tblPr>
                <a:tableStyleId>{2D5ABB26-0587-4C30-8999-92F81FD0307C}</a:tableStyleId>
              </a:tblPr>
              <a:tblGrid>
                <a:gridCol w="1194329"/>
                <a:gridCol w="1194328"/>
                <a:gridCol w="1193176"/>
                <a:gridCol w="1194329"/>
                <a:gridCol w="1194328"/>
              </a:tblGrid>
              <a:tr h="530922">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学号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err="1" smtClean="0">
                          <a:ln>
                            <a:noFill/>
                          </a:ln>
                          <a:effectLst/>
                        </a:rPr>
                        <a:t>Sno</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姓名</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err="1" smtClean="0">
                          <a:ln>
                            <a:noFill/>
                          </a:ln>
                          <a:effectLst/>
                        </a:rPr>
                        <a:t>Sname</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性别</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err="1" smtClean="0">
                          <a:ln>
                            <a:noFill/>
                          </a:ln>
                          <a:effectLst/>
                        </a:rPr>
                        <a:t>Ssex</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年龄</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smtClean="0">
                          <a:ln>
                            <a:noFill/>
                          </a:ln>
                          <a:effectLst/>
                        </a:rPr>
                        <a:t>Sage</a:t>
                      </a:r>
                      <a:endParaRPr kumimoji="0" lang="en-US" altLang="zh-CN"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所在系</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smtClean="0">
                          <a:ln>
                            <a:noFill/>
                          </a:ln>
                          <a:effectLst/>
                        </a:rPr>
                        <a:t>Sdept</a:t>
                      </a:r>
                      <a:endParaRPr kumimoji="0" lang="en-US" altLang="zh-CN"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201215121</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李勇</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男</a:t>
                      </a:r>
                      <a:endParaRPr kumimoji="0" lang="zh-CN" altLang="en-US"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CS</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201215122</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刘晨</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女</a:t>
                      </a:r>
                      <a:endParaRPr kumimoji="0" lang="zh-CN" altLang="en-US"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19</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CS</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201215123</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王敏</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女</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18</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MA</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201215125</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张立</a:t>
                      </a:r>
                      <a:endParaRPr kumimoji="0" lang="zh-CN" altLang="en-US"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男</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smtClean="0">
                          <a:ln>
                            <a:noFill/>
                          </a:ln>
                          <a:effectLst/>
                        </a:rPr>
                        <a:t>19</a:t>
                      </a:r>
                      <a:endParaRPr kumimoji="0" lang="en-US" altLang="zh-CN"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IS</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7" name="Group 575"/>
          <p:cNvGraphicFramePr>
            <a:graphicFrameLocks/>
          </p:cNvGraphicFramePr>
          <p:nvPr>
            <p:extLst>
              <p:ext uri="{D42A27DB-BD31-4B8C-83A1-F6EECF244321}">
                <p14:modId xmlns:p14="http://schemas.microsoft.com/office/powerpoint/2010/main" val="2622134804"/>
              </p:ext>
            </p:extLst>
          </p:nvPr>
        </p:nvGraphicFramePr>
        <p:xfrm>
          <a:off x="230743" y="4326269"/>
          <a:ext cx="4277647" cy="2431296"/>
        </p:xfrm>
        <a:graphic>
          <a:graphicData uri="http://schemas.openxmlformats.org/drawingml/2006/table">
            <a:tbl>
              <a:tblPr/>
              <a:tblGrid>
                <a:gridCol w="1069879"/>
                <a:gridCol w="1132428"/>
                <a:gridCol w="1006395"/>
                <a:gridCol w="1068945"/>
              </a:tblGrid>
              <a:tr h="38177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Cno</a:t>
                      </a:r>
                      <a:endPar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课程名</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Cname</a:t>
                      </a:r>
                      <a:endPar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先行课</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Cpno</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学分</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Ccredit</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数据库</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数学</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信息系统</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操作系统</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数据结构</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7</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数据处理</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7</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PASCAL</a:t>
                      </a: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语言</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 name="Text Box 502"/>
          <p:cNvSpPr txBox="1">
            <a:spLocks noChangeArrowheads="1"/>
          </p:cNvSpPr>
          <p:nvPr/>
        </p:nvSpPr>
        <p:spPr bwMode="auto">
          <a:xfrm>
            <a:off x="198938" y="3786381"/>
            <a:ext cx="1154112"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dirty="0"/>
              <a:t>Course</a:t>
            </a:r>
          </a:p>
        </p:txBody>
      </p:sp>
      <p:graphicFrame>
        <p:nvGraphicFramePr>
          <p:cNvPr id="9" name="Group 384"/>
          <p:cNvGraphicFramePr>
            <a:graphicFrameLocks/>
          </p:cNvGraphicFramePr>
          <p:nvPr>
            <p:extLst>
              <p:ext uri="{D42A27DB-BD31-4B8C-83A1-F6EECF244321}">
                <p14:modId xmlns:p14="http://schemas.microsoft.com/office/powerpoint/2010/main" val="848758154"/>
              </p:ext>
            </p:extLst>
          </p:nvPr>
        </p:nvGraphicFramePr>
        <p:xfrm>
          <a:off x="4877656" y="4440329"/>
          <a:ext cx="3729163" cy="2317236"/>
        </p:xfrm>
        <a:graphic>
          <a:graphicData uri="http://schemas.openxmlformats.org/drawingml/2006/table">
            <a:tbl>
              <a:tblPr/>
              <a:tblGrid>
                <a:gridCol w="1907375"/>
                <a:gridCol w="874213"/>
                <a:gridCol w="947575"/>
              </a:tblGrid>
              <a:tr h="605392">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学号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Sno</a:t>
                      </a:r>
                      <a:endPar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Cno</a:t>
                      </a:r>
                      <a:endPar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成绩</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Grade</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92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85</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3</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88</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90</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3</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80</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 name="Rectangle 185"/>
          <p:cNvSpPr>
            <a:spLocks noChangeArrowheads="1"/>
          </p:cNvSpPr>
          <p:nvPr/>
        </p:nvSpPr>
        <p:spPr bwMode="auto">
          <a:xfrm>
            <a:off x="4610100" y="4073856"/>
            <a:ext cx="10795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200" b="1" dirty="0"/>
              <a:t>SC</a:t>
            </a:r>
          </a:p>
        </p:txBody>
      </p:sp>
    </p:spTree>
    <p:extLst>
      <p:ext uri="{BB962C8B-B14F-4D97-AF65-F5344CB8AC3E}">
        <p14:creationId xmlns:p14="http://schemas.microsoft.com/office/powerpoint/2010/main" val="250779104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r>
              <a:rPr lang="zh-CN" altLang="en-US" sz="3600" dirty="0" smtClean="0"/>
              <a:t>（</a:t>
            </a:r>
            <a:r>
              <a:rPr lang="en-US" altLang="zh-CN" sz="3600" dirty="0" smtClean="0"/>
              <a:t>1</a:t>
            </a:r>
            <a:r>
              <a:rPr lang="zh-CN" altLang="en-US" sz="3600" smtClean="0"/>
              <a:t>）选择</a:t>
            </a:r>
            <a:r>
              <a:rPr lang="zh-CN" altLang="en-US" sz="3600" dirty="0" smtClean="0"/>
              <a:t>（</a:t>
            </a:r>
            <a:r>
              <a:rPr lang="en-US" altLang="zh-CN" sz="3600" dirty="0" smtClean="0"/>
              <a:t>Selection</a:t>
            </a:r>
            <a:r>
              <a:rPr lang="zh-CN" altLang="en-US" sz="3600" dirty="0" smtClean="0"/>
              <a:t>） </a:t>
            </a:r>
          </a:p>
        </p:txBody>
      </p:sp>
      <p:sp>
        <p:nvSpPr>
          <p:cNvPr id="88067" name="Rectangle 3"/>
          <p:cNvSpPr>
            <a:spLocks noGrp="1" noChangeArrowheads="1"/>
          </p:cNvSpPr>
          <p:nvPr>
            <p:ph type="body" idx="1"/>
          </p:nvPr>
        </p:nvSpPr>
        <p:spPr>
          <a:xfrm>
            <a:off x="755650" y="1412875"/>
            <a:ext cx="7772400" cy="4546600"/>
          </a:xfrm>
        </p:spPr>
        <p:txBody>
          <a:bodyPr/>
          <a:lstStyle/>
          <a:p>
            <a:pPr algn="just" eaLnBrk="1" hangingPunct="1"/>
            <a:r>
              <a:rPr lang="zh-CN" altLang="en-US" sz="2600" dirty="0" smtClean="0"/>
              <a:t>选择运算符的含义</a:t>
            </a:r>
          </a:p>
          <a:p>
            <a:pPr lvl="1" algn="just" eaLnBrk="1" hangingPunct="1">
              <a:lnSpc>
                <a:spcPct val="110000"/>
              </a:lnSpc>
            </a:pPr>
            <a:r>
              <a:rPr lang="zh-CN" altLang="en-US" dirty="0" smtClean="0"/>
              <a:t>在关系</a:t>
            </a:r>
            <a:r>
              <a:rPr lang="en-US" altLang="zh-CN" i="1" dirty="0" smtClean="0"/>
              <a:t>R</a:t>
            </a:r>
            <a:r>
              <a:rPr lang="zh-CN" altLang="en-US" dirty="0" smtClean="0"/>
              <a:t>中选择满足给定条件的诸元组</a:t>
            </a:r>
          </a:p>
          <a:p>
            <a:pPr lvl="1" algn="just" eaLnBrk="1" hangingPunct="1">
              <a:lnSpc>
                <a:spcPct val="110000"/>
              </a:lnSpc>
              <a:buFont typeface="Wingdings" panose="05000000000000000000" pitchFamily="2" charset="2"/>
              <a:buNone/>
            </a:pPr>
            <a:r>
              <a:rPr lang="zh-CN" altLang="en-US" dirty="0" smtClean="0"/>
              <a:t>         </a:t>
            </a:r>
            <a:r>
              <a:rPr lang="en-US" altLang="zh-CN" dirty="0" err="1" smtClean="0">
                <a:solidFill>
                  <a:srgbClr val="FF0000"/>
                </a:solidFill>
              </a:rPr>
              <a:t>σ</a:t>
            </a:r>
            <a:r>
              <a:rPr lang="en-US" altLang="zh-CN" baseline="-30000" dirty="0" err="1" smtClean="0">
                <a:solidFill>
                  <a:srgbClr val="FF0000"/>
                </a:solidFill>
              </a:rPr>
              <a:t>F</a:t>
            </a:r>
            <a:r>
              <a:rPr lang="en-US" altLang="zh-CN" dirty="0" smtClean="0">
                <a:solidFill>
                  <a:srgbClr val="FF0000"/>
                </a:solidFill>
              </a:rPr>
              <a:t>(</a:t>
            </a:r>
            <a:r>
              <a:rPr lang="en-US" altLang="zh-CN" i="1" dirty="0" smtClean="0">
                <a:solidFill>
                  <a:srgbClr val="FF0000"/>
                </a:solidFill>
              </a:rPr>
              <a:t>R</a:t>
            </a:r>
            <a:r>
              <a:rPr lang="en-US" altLang="zh-CN" dirty="0" smtClean="0">
                <a:solidFill>
                  <a:srgbClr val="FF0000"/>
                </a:solidFill>
              </a:rPr>
              <a:t>) = {</a:t>
            </a:r>
            <a:r>
              <a:rPr lang="en-US" altLang="zh-CN" i="1" dirty="0" err="1" smtClean="0">
                <a:solidFill>
                  <a:srgbClr val="FF0000"/>
                </a:solidFill>
              </a:rPr>
              <a:t>t</a:t>
            </a:r>
            <a:r>
              <a:rPr lang="en-US" altLang="zh-CN" dirty="0" err="1" smtClean="0">
                <a:solidFill>
                  <a:srgbClr val="FF0000"/>
                </a:solidFill>
              </a:rPr>
              <a:t>|</a:t>
            </a:r>
            <a:r>
              <a:rPr lang="en-US" altLang="zh-CN" i="1" dirty="0" err="1" smtClean="0">
                <a:solidFill>
                  <a:srgbClr val="FF0000"/>
                </a:solidFill>
              </a:rPr>
              <a:t>t</a:t>
            </a:r>
            <a:r>
              <a:rPr lang="en-US" altLang="zh-CN" dirty="0" err="1" smtClean="0">
                <a:solidFill>
                  <a:srgbClr val="FF0000"/>
                </a:solidFill>
                <a:sym typeface="Symbol" panose="05050102010706020507" pitchFamily="18" charset="2"/>
              </a:rPr>
              <a:t></a:t>
            </a:r>
            <a:r>
              <a:rPr lang="en-US" altLang="zh-CN" i="1" dirty="0" err="1" smtClean="0">
                <a:solidFill>
                  <a:srgbClr val="FF0000"/>
                </a:solidFill>
              </a:rPr>
              <a:t>R</a:t>
            </a:r>
            <a:r>
              <a:rPr lang="en-US" altLang="zh-CN" dirty="0" err="1" smtClean="0">
                <a:solidFill>
                  <a:srgbClr val="FF0000"/>
                </a:solidFill>
              </a:rPr>
              <a:t>∧</a:t>
            </a:r>
            <a:r>
              <a:rPr lang="en-US" altLang="zh-CN" i="1" dirty="0" err="1" smtClean="0">
                <a:solidFill>
                  <a:srgbClr val="FF0000"/>
                </a:solidFill>
              </a:rPr>
              <a:t>F</a:t>
            </a:r>
            <a:r>
              <a:rPr lang="en-US" altLang="zh-CN" dirty="0" smtClean="0">
                <a:solidFill>
                  <a:srgbClr val="FF0000"/>
                </a:solidFill>
              </a:rPr>
              <a:t>(</a:t>
            </a:r>
            <a:r>
              <a:rPr lang="en-US" altLang="zh-CN" i="1" dirty="0" smtClean="0">
                <a:solidFill>
                  <a:srgbClr val="FF0000"/>
                </a:solidFill>
              </a:rPr>
              <a:t>t</a:t>
            </a:r>
            <a:r>
              <a:rPr lang="en-US" altLang="zh-CN" dirty="0" smtClean="0">
                <a:solidFill>
                  <a:srgbClr val="FF0000"/>
                </a:solidFill>
              </a:rPr>
              <a:t>)= '</a:t>
            </a:r>
            <a:r>
              <a:rPr lang="zh-CN" altLang="en-US" dirty="0" smtClean="0">
                <a:solidFill>
                  <a:srgbClr val="FF0000"/>
                </a:solidFill>
              </a:rPr>
              <a:t>真</a:t>
            </a:r>
            <a:r>
              <a:rPr lang="en-US" altLang="zh-CN" dirty="0" smtClean="0">
                <a:solidFill>
                  <a:srgbClr val="FF0000"/>
                </a:solidFill>
              </a:rPr>
              <a:t>'}</a:t>
            </a:r>
          </a:p>
          <a:p>
            <a:pPr lvl="1" algn="just" eaLnBrk="1" hangingPunct="1">
              <a:lnSpc>
                <a:spcPct val="110000"/>
              </a:lnSpc>
            </a:pPr>
            <a:r>
              <a:rPr lang="en-US" altLang="zh-CN" dirty="0" smtClean="0"/>
              <a:t>F</a:t>
            </a:r>
            <a:r>
              <a:rPr lang="zh-CN" altLang="en-US" dirty="0" smtClean="0"/>
              <a:t>：选择条件，取值为“真”或“假”</a:t>
            </a:r>
            <a:endParaRPr lang="en-US" altLang="zh-CN" dirty="0" smtClean="0"/>
          </a:p>
          <a:p>
            <a:pPr lvl="2" algn="just" eaLnBrk="1" hangingPunct="1">
              <a:lnSpc>
                <a:spcPct val="110000"/>
              </a:lnSpc>
              <a:buSzPct val="87000"/>
              <a:buFont typeface="Wingdings" panose="05000000000000000000" pitchFamily="2" charset="2"/>
              <a:buChar char="l"/>
            </a:pPr>
            <a:r>
              <a:rPr lang="zh-CN" altLang="en-US" sz="2200" dirty="0" smtClean="0"/>
              <a:t>基本形式为：</a:t>
            </a:r>
            <a:r>
              <a:rPr lang="en-US" altLang="zh-CN" sz="2200" i="1" dirty="0" smtClean="0"/>
              <a:t>X</a:t>
            </a:r>
            <a:r>
              <a:rPr lang="en-US" altLang="zh-CN" sz="2200" baseline="-25000" dirty="0" smtClean="0"/>
              <a:t>1</a:t>
            </a:r>
            <a:r>
              <a:rPr lang="en-US" altLang="zh-CN" sz="2200" dirty="0" smtClean="0"/>
              <a:t>θ</a:t>
            </a:r>
            <a:r>
              <a:rPr lang="en-US" altLang="zh-CN" sz="2200" i="1" dirty="0" smtClean="0"/>
              <a:t>Y</a:t>
            </a:r>
            <a:r>
              <a:rPr lang="en-US" altLang="zh-CN" sz="2200" baseline="-25000" dirty="0" smtClean="0"/>
              <a:t>1</a:t>
            </a:r>
          </a:p>
          <a:p>
            <a:pPr lvl="2" algn="just" eaLnBrk="1" hangingPunct="1">
              <a:lnSpc>
                <a:spcPct val="110000"/>
              </a:lnSpc>
              <a:buSzPct val="87000"/>
              <a:buFont typeface="Wingdings" panose="05000000000000000000" pitchFamily="2" charset="2"/>
              <a:buChar char="l"/>
            </a:pPr>
            <a:r>
              <a:rPr lang="zh-CN" altLang="zh-CN" sz="2200" dirty="0" smtClean="0"/>
              <a:t>θ表示比较运算符，它可以是＞，≥，＜，≤，＝或</a:t>
            </a:r>
            <a:r>
              <a:rPr lang="en-US" altLang="zh-CN" sz="2200" dirty="0" smtClean="0"/>
              <a:t>&lt;&gt;</a:t>
            </a:r>
          </a:p>
        </p:txBody>
      </p:sp>
      <p:sp>
        <p:nvSpPr>
          <p:cNvPr id="4" name="Rectangle 3"/>
          <p:cNvSpPr txBox="1">
            <a:spLocks noChangeArrowheads="1"/>
          </p:cNvSpPr>
          <p:nvPr/>
        </p:nvSpPr>
        <p:spPr>
          <a:xfrm>
            <a:off x="755650" y="4127371"/>
            <a:ext cx="7886700" cy="25714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p"/>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n"/>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40000"/>
              </a:lnSpc>
            </a:pPr>
            <a:r>
              <a:rPr lang="zh-CN" altLang="en-US" dirty="0" smtClean="0"/>
              <a:t>选择运算是从关系</a:t>
            </a:r>
            <a:r>
              <a:rPr lang="en-US" altLang="zh-CN" i="1" dirty="0" smtClean="0"/>
              <a:t>R</a:t>
            </a:r>
            <a:r>
              <a:rPr lang="zh-CN" altLang="en-US" dirty="0" smtClean="0"/>
              <a:t>中选取使逻辑表达式</a:t>
            </a:r>
            <a:r>
              <a:rPr lang="en-US" altLang="zh-CN" i="1" dirty="0" smtClean="0"/>
              <a:t>F</a:t>
            </a:r>
            <a:r>
              <a:rPr lang="zh-CN" altLang="en-US" dirty="0" smtClean="0"/>
              <a:t>为真的元组，是从行的角度进行的运算</a:t>
            </a:r>
            <a:endParaRPr lang="en-US" altLang="zh-CN" dirty="0" smtClean="0"/>
          </a:p>
        </p:txBody>
      </p:sp>
      <p:grpSp>
        <p:nvGrpSpPr>
          <p:cNvPr id="5" name="Group 4"/>
          <p:cNvGrpSpPr>
            <a:grpSpLocks/>
          </p:cNvGrpSpPr>
          <p:nvPr/>
        </p:nvGrpSpPr>
        <p:grpSpPr bwMode="auto">
          <a:xfrm>
            <a:off x="2298700" y="5479579"/>
            <a:ext cx="4191000" cy="1219200"/>
            <a:chOff x="2448" y="1728"/>
            <a:chExt cx="2640" cy="768"/>
          </a:xfrm>
        </p:grpSpPr>
        <p:sp>
          <p:nvSpPr>
            <p:cNvPr id="6" name="Rectangle 5"/>
            <p:cNvSpPr>
              <a:spLocks noChangeArrowheads="1"/>
            </p:cNvSpPr>
            <p:nvPr/>
          </p:nvSpPr>
          <p:spPr bwMode="auto">
            <a:xfrm>
              <a:off x="2448" y="1728"/>
              <a:ext cx="912" cy="96"/>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 name="Rectangle 6" descr="浅色下对角线"/>
            <p:cNvSpPr>
              <a:spLocks noChangeArrowheads="1"/>
            </p:cNvSpPr>
            <p:nvPr/>
          </p:nvSpPr>
          <p:spPr bwMode="auto">
            <a:xfrm>
              <a:off x="2448" y="1824"/>
              <a:ext cx="912" cy="96"/>
            </a:xfrm>
            <a:prstGeom prst="rect">
              <a:avLst/>
            </a:prstGeom>
            <a:pattFill prst="ltDnDiag">
              <a:fgClr>
                <a:srgbClr val="000000"/>
              </a:fgClr>
              <a:bgClr>
                <a:srgbClr val="FFFFFF"/>
              </a:bgClr>
            </a:patt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 name="Rectangle 7"/>
            <p:cNvSpPr>
              <a:spLocks noChangeArrowheads="1"/>
            </p:cNvSpPr>
            <p:nvPr/>
          </p:nvSpPr>
          <p:spPr bwMode="auto">
            <a:xfrm>
              <a:off x="2448" y="1920"/>
              <a:ext cx="912" cy="96"/>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 name="Rectangle 8"/>
            <p:cNvSpPr>
              <a:spLocks noChangeArrowheads="1"/>
            </p:cNvSpPr>
            <p:nvPr/>
          </p:nvSpPr>
          <p:spPr bwMode="auto">
            <a:xfrm>
              <a:off x="2448" y="2400"/>
              <a:ext cx="912" cy="96"/>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 name="Rectangle 9"/>
            <p:cNvSpPr>
              <a:spLocks noChangeArrowheads="1"/>
            </p:cNvSpPr>
            <p:nvPr/>
          </p:nvSpPr>
          <p:spPr bwMode="auto">
            <a:xfrm>
              <a:off x="2448" y="2016"/>
              <a:ext cx="912" cy="96"/>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 name="Rectangle 10" descr="浅色下对角线"/>
            <p:cNvSpPr>
              <a:spLocks noChangeArrowheads="1"/>
            </p:cNvSpPr>
            <p:nvPr/>
          </p:nvSpPr>
          <p:spPr bwMode="auto">
            <a:xfrm>
              <a:off x="2448" y="2112"/>
              <a:ext cx="912" cy="96"/>
            </a:xfrm>
            <a:prstGeom prst="rect">
              <a:avLst/>
            </a:prstGeom>
            <a:pattFill prst="ltDnDiag">
              <a:fgClr>
                <a:srgbClr val="000000"/>
              </a:fgClr>
              <a:bgClr>
                <a:srgbClr val="FFFFFF"/>
              </a:bgClr>
            </a:patt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 name="Rectangle 11"/>
            <p:cNvSpPr>
              <a:spLocks noChangeArrowheads="1"/>
            </p:cNvSpPr>
            <p:nvPr/>
          </p:nvSpPr>
          <p:spPr bwMode="auto">
            <a:xfrm>
              <a:off x="2448" y="2208"/>
              <a:ext cx="912" cy="96"/>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3" name="Rectangle 12" descr="浅色下对角线"/>
            <p:cNvSpPr>
              <a:spLocks noChangeArrowheads="1"/>
            </p:cNvSpPr>
            <p:nvPr/>
          </p:nvSpPr>
          <p:spPr bwMode="auto">
            <a:xfrm>
              <a:off x="2448" y="2304"/>
              <a:ext cx="912" cy="96"/>
            </a:xfrm>
            <a:prstGeom prst="rect">
              <a:avLst/>
            </a:prstGeom>
            <a:pattFill prst="ltDnDiag">
              <a:fgClr>
                <a:srgbClr val="000000"/>
              </a:fgClr>
              <a:bgClr>
                <a:srgbClr val="FFFFFF"/>
              </a:bgClr>
            </a:patt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4" name="Rectangle 13" descr="浅色下对角线"/>
            <p:cNvSpPr>
              <a:spLocks noChangeArrowheads="1"/>
            </p:cNvSpPr>
            <p:nvPr/>
          </p:nvSpPr>
          <p:spPr bwMode="auto">
            <a:xfrm>
              <a:off x="4176" y="2112"/>
              <a:ext cx="912" cy="96"/>
            </a:xfrm>
            <a:prstGeom prst="rect">
              <a:avLst/>
            </a:prstGeom>
            <a:pattFill prst="ltDnDiag">
              <a:fgClr>
                <a:srgbClr val="000000"/>
              </a:fgClr>
              <a:bgClr>
                <a:srgbClr val="FFFFFF"/>
              </a:bgClr>
            </a:patt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5" name="Rectangle 14" descr="浅色下对角线"/>
            <p:cNvSpPr>
              <a:spLocks noChangeArrowheads="1"/>
            </p:cNvSpPr>
            <p:nvPr/>
          </p:nvSpPr>
          <p:spPr bwMode="auto">
            <a:xfrm>
              <a:off x="4176" y="2016"/>
              <a:ext cx="912" cy="96"/>
            </a:xfrm>
            <a:prstGeom prst="rect">
              <a:avLst/>
            </a:prstGeom>
            <a:pattFill prst="ltDnDiag">
              <a:fgClr>
                <a:srgbClr val="000000"/>
              </a:fgClr>
              <a:bgClr>
                <a:srgbClr val="FFFFFF"/>
              </a:bgClr>
            </a:patt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6" name="Rectangle 15" descr="浅色下对角线"/>
            <p:cNvSpPr>
              <a:spLocks noChangeArrowheads="1"/>
            </p:cNvSpPr>
            <p:nvPr/>
          </p:nvSpPr>
          <p:spPr bwMode="auto">
            <a:xfrm>
              <a:off x="4176" y="1920"/>
              <a:ext cx="912" cy="96"/>
            </a:xfrm>
            <a:prstGeom prst="rect">
              <a:avLst/>
            </a:prstGeom>
            <a:pattFill prst="ltDnDiag">
              <a:fgClr>
                <a:srgbClr val="000000"/>
              </a:fgClr>
              <a:bgClr>
                <a:srgbClr val="FFFFFF"/>
              </a:bgClr>
            </a:patt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7" name="AutoShape 16"/>
            <p:cNvSpPr>
              <a:spLocks noChangeArrowheads="1"/>
            </p:cNvSpPr>
            <p:nvPr/>
          </p:nvSpPr>
          <p:spPr bwMode="auto">
            <a:xfrm>
              <a:off x="3552" y="2016"/>
              <a:ext cx="528" cy="144"/>
            </a:xfrm>
            <a:prstGeom prst="rightArrow">
              <a:avLst>
                <a:gd name="adj1" fmla="val 50000"/>
                <a:gd name="adj2" fmla="val 91667"/>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8" name="Text Box 17"/>
            <p:cNvSpPr txBox="1">
              <a:spLocks noChangeArrowheads="1"/>
            </p:cNvSpPr>
            <p:nvPr/>
          </p:nvSpPr>
          <p:spPr bwMode="auto">
            <a:xfrm>
              <a:off x="3552" y="172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en-US" altLang="zh-CN" b="1"/>
                <a:t>σ</a:t>
              </a:r>
              <a:endParaRPr lang="en-US" altLang="zh-CN" sz="2000"/>
            </a:p>
          </p:txBody>
        </p:sp>
      </p:grpSp>
    </p:spTree>
    <p:extLst>
      <p:ext uri="{BB962C8B-B14F-4D97-AF65-F5344CB8AC3E}">
        <p14:creationId xmlns:p14="http://schemas.microsoft.com/office/powerpoint/2010/main" val="49095284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914400" y="115888"/>
            <a:ext cx="7391400" cy="563562"/>
          </a:xfrm>
        </p:spPr>
        <p:txBody>
          <a:bodyPr>
            <a:normAutofit fontScale="90000"/>
          </a:bodyPr>
          <a:lstStyle/>
          <a:p>
            <a:pPr eaLnBrk="1" hangingPunct="1"/>
            <a:r>
              <a:rPr lang="zh-CN" altLang="en-US" sz="3600" smtClean="0"/>
              <a:t>选择（续）</a:t>
            </a:r>
          </a:p>
        </p:txBody>
      </p:sp>
      <p:sp>
        <p:nvSpPr>
          <p:cNvPr id="90115" name="Rectangle 3"/>
          <p:cNvSpPr>
            <a:spLocks noGrp="1" noChangeArrowheads="1"/>
          </p:cNvSpPr>
          <p:nvPr>
            <p:ph type="body" sz="half" idx="1"/>
          </p:nvPr>
        </p:nvSpPr>
        <p:spPr>
          <a:xfrm>
            <a:off x="735013" y="1557338"/>
            <a:ext cx="7354887" cy="1515376"/>
          </a:xfrm>
        </p:spPr>
        <p:txBody>
          <a:bodyPr>
            <a:normAutofit fontScale="55000" lnSpcReduction="20000"/>
          </a:bodyPr>
          <a:lstStyle/>
          <a:p>
            <a:pPr algn="just" eaLnBrk="1" hangingPunct="1">
              <a:lnSpc>
                <a:spcPct val="90000"/>
              </a:lnSpc>
              <a:buFont typeface="Wingdings" panose="05000000000000000000" pitchFamily="2" charset="2"/>
              <a:buNone/>
            </a:pPr>
            <a:r>
              <a:rPr lang="en-US" altLang="zh-CN" sz="4200" dirty="0" smtClean="0"/>
              <a:t>[</a:t>
            </a:r>
            <a:r>
              <a:rPr lang="zh-CN" altLang="en-US" sz="4200" dirty="0" smtClean="0">
                <a:ea typeface="黑体" panose="02010609060101010101" pitchFamily="49" charset="-122"/>
              </a:rPr>
              <a:t>例</a:t>
            </a:r>
            <a:r>
              <a:rPr lang="en-US" altLang="zh-CN" sz="4200" dirty="0" smtClean="0">
                <a:ea typeface="黑体" panose="02010609060101010101" pitchFamily="49" charset="-122"/>
              </a:rPr>
              <a:t>2.4</a:t>
            </a:r>
            <a:r>
              <a:rPr lang="en-US" altLang="zh-CN" sz="4200" dirty="0" smtClean="0"/>
              <a:t>]  </a:t>
            </a:r>
            <a:r>
              <a:rPr lang="zh-CN" altLang="en-US" sz="4200" dirty="0" smtClean="0"/>
              <a:t>查询信息系（</a:t>
            </a:r>
            <a:r>
              <a:rPr lang="en-US" altLang="zh-CN" sz="4200" dirty="0" smtClean="0"/>
              <a:t>IS</a:t>
            </a:r>
            <a:r>
              <a:rPr lang="zh-CN" altLang="en-US" sz="4200" dirty="0" smtClean="0"/>
              <a:t>系）全体学生。</a:t>
            </a:r>
          </a:p>
          <a:p>
            <a:pPr algn="just" eaLnBrk="1" hangingPunct="1">
              <a:lnSpc>
                <a:spcPct val="90000"/>
              </a:lnSpc>
              <a:buFont typeface="Wingdings" panose="05000000000000000000" pitchFamily="2" charset="2"/>
              <a:buNone/>
            </a:pPr>
            <a:r>
              <a:rPr lang="zh-CN" altLang="en-US" sz="4200" dirty="0" smtClean="0"/>
              <a:t>   		         </a:t>
            </a:r>
            <a:r>
              <a:rPr lang="en-US" altLang="zh-CN" sz="4200" dirty="0" err="1" smtClean="0"/>
              <a:t>σ</a:t>
            </a:r>
            <a:r>
              <a:rPr lang="en-US" altLang="zh-CN" sz="4200" baseline="-30000" dirty="0" err="1" smtClean="0"/>
              <a:t>Sdept</a:t>
            </a:r>
            <a:r>
              <a:rPr lang="en-US" altLang="zh-CN" sz="4200" dirty="0" smtClean="0"/>
              <a:t> </a:t>
            </a:r>
            <a:r>
              <a:rPr lang="en-US" altLang="zh-CN" sz="4200" baseline="-30000" dirty="0" smtClean="0"/>
              <a:t>= 'IS' </a:t>
            </a:r>
            <a:r>
              <a:rPr lang="en-US" altLang="zh-CN" sz="4200" dirty="0" smtClean="0"/>
              <a:t>(Student)</a:t>
            </a:r>
          </a:p>
          <a:p>
            <a:pPr algn="just" eaLnBrk="1" hangingPunct="1">
              <a:lnSpc>
                <a:spcPct val="90000"/>
              </a:lnSpc>
              <a:buFont typeface="Wingdings" panose="05000000000000000000" pitchFamily="2" charset="2"/>
              <a:buNone/>
            </a:pPr>
            <a:r>
              <a:rPr lang="en-US" altLang="zh-CN" sz="4200" dirty="0" smtClean="0"/>
              <a:t>		       </a:t>
            </a:r>
          </a:p>
          <a:p>
            <a:pPr algn="just" eaLnBrk="1" hangingPunct="1">
              <a:lnSpc>
                <a:spcPct val="90000"/>
              </a:lnSpc>
              <a:buFont typeface="Wingdings" panose="05000000000000000000" pitchFamily="2" charset="2"/>
              <a:buNone/>
            </a:pPr>
            <a:r>
              <a:rPr lang="zh-CN" altLang="en-US" sz="4200" dirty="0" smtClean="0"/>
              <a:t>结果： </a:t>
            </a:r>
          </a:p>
          <a:p>
            <a:pPr eaLnBrk="1" hangingPunct="1">
              <a:lnSpc>
                <a:spcPct val="90000"/>
              </a:lnSpc>
            </a:pPr>
            <a:endParaRPr lang="en-US" altLang="zh-CN" sz="2000" dirty="0" smtClean="0"/>
          </a:p>
        </p:txBody>
      </p:sp>
      <p:graphicFrame>
        <p:nvGraphicFramePr>
          <p:cNvPr id="510068" name="Group 116"/>
          <p:cNvGraphicFramePr>
            <a:graphicFrameLocks noGrp="1"/>
          </p:cNvGraphicFramePr>
          <p:nvPr>
            <p:ph sz="half" idx="2"/>
            <p:extLst>
              <p:ext uri="{D42A27DB-BD31-4B8C-83A1-F6EECF244321}">
                <p14:modId xmlns:p14="http://schemas.microsoft.com/office/powerpoint/2010/main" val="3860655567"/>
              </p:ext>
            </p:extLst>
          </p:nvPr>
        </p:nvGraphicFramePr>
        <p:xfrm>
          <a:off x="1795763" y="2782286"/>
          <a:ext cx="6131687" cy="838448"/>
        </p:xfrm>
        <a:graphic>
          <a:graphicData uri="http://schemas.openxmlformats.org/drawingml/2006/table">
            <a:tbl>
              <a:tblPr/>
              <a:tblGrid>
                <a:gridCol w="1347297"/>
                <a:gridCol w="1106997"/>
                <a:gridCol w="1223098"/>
                <a:gridCol w="1227147"/>
                <a:gridCol w="1227148"/>
              </a:tblGrid>
              <a:tr h="351327">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dirty="0" err="1" smtClean="0">
                          <a:ln>
                            <a:noFill/>
                          </a:ln>
                          <a:solidFill>
                            <a:schemeClr val="tx1"/>
                          </a:solidFill>
                          <a:effectLst/>
                          <a:latin typeface="Arial" pitchFamily="34" charset="0"/>
                          <a:ea typeface="宋体" pitchFamily="2" charset="-122"/>
                        </a:rPr>
                        <a:t>Sno</a:t>
                      </a:r>
                      <a:endParaRPr kumimoji="0" lang="en-US" altLang="zh-CN" sz="18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dirty="0" err="1" smtClean="0">
                          <a:ln>
                            <a:noFill/>
                          </a:ln>
                          <a:solidFill>
                            <a:schemeClr val="tx1"/>
                          </a:solidFill>
                          <a:effectLst/>
                          <a:latin typeface="Arial" pitchFamily="34" charset="0"/>
                          <a:ea typeface="宋体" pitchFamily="2" charset="-122"/>
                        </a:rPr>
                        <a:t>Sname</a:t>
                      </a:r>
                      <a:endParaRPr kumimoji="0" lang="en-US" altLang="zh-CN" sz="18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dirty="0" err="1" smtClean="0">
                          <a:ln>
                            <a:noFill/>
                          </a:ln>
                          <a:solidFill>
                            <a:schemeClr val="tx1"/>
                          </a:solidFill>
                          <a:effectLst/>
                          <a:latin typeface="Arial" pitchFamily="34" charset="0"/>
                          <a:ea typeface="宋体" pitchFamily="2" charset="-122"/>
                        </a:rPr>
                        <a:t>Ssex</a:t>
                      </a:r>
                      <a:endParaRPr kumimoji="0" lang="en-US" altLang="zh-CN" sz="18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dirty="0" smtClean="0">
                          <a:ln>
                            <a:noFill/>
                          </a:ln>
                          <a:solidFill>
                            <a:schemeClr val="tx1"/>
                          </a:solidFill>
                          <a:effectLst/>
                          <a:latin typeface="Arial" pitchFamily="34" charset="0"/>
                          <a:ea typeface="宋体" pitchFamily="2" charset="-122"/>
                        </a:rPr>
                        <a:t>Sage</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smtClean="0">
                          <a:ln>
                            <a:noFill/>
                          </a:ln>
                          <a:solidFill>
                            <a:schemeClr val="tx1"/>
                          </a:solidFill>
                          <a:effectLst/>
                          <a:latin typeface="Arial" pitchFamily="34" charset="0"/>
                          <a:ea typeface="宋体" pitchFamily="2" charset="-122"/>
                        </a:rPr>
                        <a:t>Sdept</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0548">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dirty="0" smtClean="0">
                          <a:ln>
                            <a:noFill/>
                          </a:ln>
                          <a:solidFill>
                            <a:schemeClr val="tx1"/>
                          </a:solidFill>
                          <a:effectLst/>
                          <a:latin typeface="Arial" pitchFamily="34" charset="0"/>
                          <a:ea typeface="宋体" pitchFamily="2" charset="-122"/>
                        </a:rPr>
                        <a:t>201215125</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800" b="1" i="0" u="none" strike="noStrike" cap="none" normalizeH="0" baseline="0" dirty="0" smtClean="0">
                          <a:ln>
                            <a:noFill/>
                          </a:ln>
                          <a:solidFill>
                            <a:schemeClr val="tx1"/>
                          </a:solidFill>
                          <a:effectLst/>
                          <a:latin typeface="Arial" pitchFamily="34" charset="0"/>
                          <a:ea typeface="宋体" pitchFamily="2" charset="-122"/>
                        </a:rPr>
                        <a:t>张立</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800" b="1" i="0" u="none" strike="noStrike" cap="none" normalizeH="0" baseline="0" dirty="0" smtClean="0">
                          <a:ln>
                            <a:noFill/>
                          </a:ln>
                          <a:solidFill>
                            <a:schemeClr val="tx1"/>
                          </a:solidFill>
                          <a:effectLst/>
                          <a:latin typeface="Arial" pitchFamily="34" charset="0"/>
                          <a:ea typeface="宋体" pitchFamily="2" charset="-122"/>
                        </a:rPr>
                        <a:t>男</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dirty="0" smtClean="0">
                          <a:ln>
                            <a:noFill/>
                          </a:ln>
                          <a:solidFill>
                            <a:schemeClr val="tx1"/>
                          </a:solidFill>
                          <a:effectLst/>
                          <a:latin typeface="Arial" pitchFamily="34" charset="0"/>
                          <a:ea typeface="宋体" pitchFamily="2" charset="-122"/>
                        </a:rPr>
                        <a:t>19</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dirty="0" smtClean="0">
                          <a:ln>
                            <a:noFill/>
                          </a:ln>
                          <a:solidFill>
                            <a:schemeClr val="tx1"/>
                          </a:solidFill>
                          <a:effectLst/>
                          <a:latin typeface="Arial" pitchFamily="34" charset="0"/>
                          <a:ea typeface="宋体" pitchFamily="2" charset="-122"/>
                        </a:rPr>
                        <a:t>IS</a:t>
                      </a:r>
                    </a:p>
                  </a:txBody>
                  <a:tcPr marL="90000" marR="90000" marT="46790" marB="467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 name="Rectangle 83"/>
          <p:cNvSpPr>
            <a:spLocks noChangeArrowheads="1"/>
          </p:cNvSpPr>
          <p:nvPr/>
        </p:nvSpPr>
        <p:spPr bwMode="auto">
          <a:xfrm>
            <a:off x="457200" y="3946891"/>
            <a:ext cx="914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200" dirty="0"/>
              <a:t> </a:t>
            </a:r>
            <a:r>
              <a:rPr lang="en-US" altLang="zh-CN" sz="2200" b="1" dirty="0"/>
              <a:t>Student</a:t>
            </a:r>
          </a:p>
        </p:txBody>
      </p:sp>
      <p:graphicFrame>
        <p:nvGraphicFramePr>
          <p:cNvPr id="6" name="Group 271"/>
          <p:cNvGraphicFramePr>
            <a:graphicFrameLocks/>
          </p:cNvGraphicFramePr>
          <p:nvPr>
            <p:extLst>
              <p:ext uri="{D42A27DB-BD31-4B8C-83A1-F6EECF244321}">
                <p14:modId xmlns:p14="http://schemas.microsoft.com/office/powerpoint/2010/main" val="2376565494"/>
              </p:ext>
            </p:extLst>
          </p:nvPr>
        </p:nvGraphicFramePr>
        <p:xfrm>
          <a:off x="457200" y="4494911"/>
          <a:ext cx="8059048" cy="2168644"/>
        </p:xfrm>
        <a:graphic>
          <a:graphicData uri="http://schemas.openxmlformats.org/drawingml/2006/table">
            <a:tbl>
              <a:tblPr>
                <a:tableStyleId>{2D5ABB26-0587-4C30-8999-92F81FD0307C}</a:tableStyleId>
              </a:tblPr>
              <a:tblGrid>
                <a:gridCol w="1612121"/>
                <a:gridCol w="1612120"/>
                <a:gridCol w="1610566"/>
                <a:gridCol w="1612121"/>
                <a:gridCol w="1612120"/>
              </a:tblGrid>
              <a:tr h="50746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800" b="1" u="none" strike="noStrike" cap="none" normalizeH="0" baseline="0" dirty="0" smtClean="0">
                          <a:ln>
                            <a:noFill/>
                          </a:ln>
                          <a:effectLst/>
                        </a:rPr>
                        <a:t>学号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u="none" strike="noStrike" cap="none" normalizeH="0" baseline="0" dirty="0" err="1" smtClean="0">
                          <a:ln>
                            <a:noFill/>
                          </a:ln>
                          <a:effectLst/>
                        </a:rPr>
                        <a:t>Sno</a:t>
                      </a:r>
                      <a:endParaRPr kumimoji="0" lang="en-US" altLang="zh-CN" sz="18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800" b="1" u="none" strike="noStrike" cap="none" normalizeH="0" baseline="0" dirty="0" smtClean="0">
                          <a:ln>
                            <a:noFill/>
                          </a:ln>
                          <a:effectLst/>
                        </a:rPr>
                        <a:t>姓名</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u="none" strike="noStrike" cap="none" normalizeH="0" baseline="0" dirty="0" err="1" smtClean="0">
                          <a:ln>
                            <a:noFill/>
                          </a:ln>
                          <a:effectLst/>
                        </a:rPr>
                        <a:t>Sname</a:t>
                      </a:r>
                      <a:endParaRPr kumimoji="0" lang="en-US" altLang="zh-CN" sz="18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800" b="1" u="none" strike="noStrike" cap="none" normalizeH="0" baseline="0" dirty="0" smtClean="0">
                          <a:ln>
                            <a:noFill/>
                          </a:ln>
                          <a:effectLst/>
                        </a:rPr>
                        <a:t>性别</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u="none" strike="noStrike" cap="none" normalizeH="0" baseline="0" dirty="0" err="1" smtClean="0">
                          <a:ln>
                            <a:noFill/>
                          </a:ln>
                          <a:effectLst/>
                        </a:rPr>
                        <a:t>Ssex</a:t>
                      </a:r>
                      <a:endParaRPr kumimoji="0" lang="en-US" altLang="zh-CN" sz="18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800" b="1" u="none" strike="noStrike" cap="none" normalizeH="0" baseline="0" smtClean="0">
                          <a:ln>
                            <a:noFill/>
                          </a:ln>
                          <a:effectLst/>
                        </a:rPr>
                        <a:t>年龄</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u="none" strike="noStrike" cap="none" normalizeH="0" baseline="0" smtClean="0">
                          <a:ln>
                            <a:noFill/>
                          </a:ln>
                          <a:effectLst/>
                        </a:rPr>
                        <a:t>Sage</a:t>
                      </a:r>
                      <a:endParaRPr kumimoji="0" lang="en-US" altLang="zh-CN" sz="18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800" b="1" u="none" strike="noStrike" cap="none" normalizeH="0" baseline="0" smtClean="0">
                          <a:ln>
                            <a:noFill/>
                          </a:ln>
                          <a:effectLst/>
                        </a:rPr>
                        <a:t>所在系</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u="none" strike="noStrike" cap="none" normalizeH="0" baseline="0" smtClean="0">
                          <a:ln>
                            <a:noFill/>
                          </a:ln>
                          <a:effectLst/>
                        </a:rPr>
                        <a:t>Sdept</a:t>
                      </a:r>
                      <a:endParaRPr kumimoji="0" lang="en-US" altLang="zh-CN" sz="18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08938">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u="none" strike="noStrike" cap="none" normalizeH="0" baseline="0" dirty="0" smtClean="0">
                          <a:ln>
                            <a:noFill/>
                          </a:ln>
                          <a:effectLst/>
                        </a:rPr>
                        <a:t>201215121</a:t>
                      </a:r>
                      <a:endParaRPr kumimoji="0" lang="en-US" altLang="zh-CN" sz="18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800" b="1" u="none" strike="noStrike" cap="none" normalizeH="0" baseline="0" dirty="0" smtClean="0">
                          <a:ln>
                            <a:noFill/>
                          </a:ln>
                          <a:effectLst/>
                        </a:rPr>
                        <a:t>李勇</a:t>
                      </a:r>
                      <a:endParaRPr kumimoji="0" lang="zh-CN" altLang="en-US" sz="18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800" b="1" u="none" strike="noStrike" cap="none" normalizeH="0" baseline="0" dirty="0" smtClean="0">
                          <a:ln>
                            <a:noFill/>
                          </a:ln>
                          <a:effectLst/>
                        </a:rPr>
                        <a:t>男</a:t>
                      </a:r>
                      <a:endParaRPr kumimoji="0" lang="zh-CN" altLang="en-US" sz="18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u="none" strike="noStrike" cap="none" normalizeH="0" baseline="0" dirty="0" smtClean="0">
                          <a:ln>
                            <a:noFill/>
                          </a:ln>
                          <a:effectLst/>
                        </a:rPr>
                        <a:t>20</a:t>
                      </a:r>
                      <a:endParaRPr kumimoji="0" lang="en-US" altLang="zh-CN" sz="18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u="none" strike="noStrike" cap="none" normalizeH="0" baseline="0" dirty="0" smtClean="0">
                          <a:ln>
                            <a:noFill/>
                          </a:ln>
                          <a:effectLst/>
                        </a:rPr>
                        <a:t>CS</a:t>
                      </a:r>
                      <a:endParaRPr kumimoji="0" lang="en-US" altLang="zh-CN" sz="18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08177">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u="none" strike="noStrike" cap="none" normalizeH="0" baseline="0" dirty="0" smtClean="0">
                          <a:ln>
                            <a:noFill/>
                          </a:ln>
                          <a:effectLst/>
                        </a:rPr>
                        <a:t>201215122</a:t>
                      </a:r>
                      <a:endParaRPr kumimoji="0" lang="en-US" altLang="zh-CN" sz="18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800" b="1" u="none" strike="noStrike" cap="none" normalizeH="0" baseline="0" smtClean="0">
                          <a:ln>
                            <a:noFill/>
                          </a:ln>
                          <a:effectLst/>
                        </a:rPr>
                        <a:t>刘晨</a:t>
                      </a:r>
                      <a:endParaRPr kumimoji="0" lang="zh-CN" altLang="en-US" sz="18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800" b="1" u="none" strike="noStrike" cap="none" normalizeH="0" baseline="0" dirty="0" smtClean="0">
                          <a:ln>
                            <a:noFill/>
                          </a:ln>
                          <a:effectLst/>
                        </a:rPr>
                        <a:t>女</a:t>
                      </a:r>
                      <a:endParaRPr kumimoji="0" lang="zh-CN" altLang="en-US" sz="18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u="none" strike="noStrike" cap="none" normalizeH="0" baseline="0" dirty="0" smtClean="0">
                          <a:ln>
                            <a:noFill/>
                          </a:ln>
                          <a:effectLst/>
                        </a:rPr>
                        <a:t>19</a:t>
                      </a:r>
                      <a:endParaRPr kumimoji="0" lang="en-US" altLang="zh-CN" sz="18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u="none" strike="noStrike" cap="none" normalizeH="0" baseline="0" dirty="0" smtClean="0">
                          <a:ln>
                            <a:noFill/>
                          </a:ln>
                          <a:effectLst/>
                        </a:rPr>
                        <a:t>CS</a:t>
                      </a:r>
                      <a:endParaRPr kumimoji="0" lang="en-US" altLang="zh-CN" sz="18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08177">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u="none" strike="noStrike" cap="none" normalizeH="0" baseline="0" dirty="0" smtClean="0">
                          <a:ln>
                            <a:noFill/>
                          </a:ln>
                          <a:effectLst/>
                        </a:rPr>
                        <a:t>201215123</a:t>
                      </a:r>
                      <a:endParaRPr kumimoji="0" lang="en-US" altLang="zh-CN" sz="18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800" b="1" u="none" strike="noStrike" cap="none" normalizeH="0" baseline="0" smtClean="0">
                          <a:ln>
                            <a:noFill/>
                          </a:ln>
                          <a:effectLst/>
                        </a:rPr>
                        <a:t>王敏</a:t>
                      </a:r>
                      <a:endParaRPr kumimoji="0" lang="zh-CN" altLang="en-US" sz="18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800" b="1" u="none" strike="noStrike" cap="none" normalizeH="0" baseline="0" smtClean="0">
                          <a:ln>
                            <a:noFill/>
                          </a:ln>
                          <a:effectLst/>
                        </a:rPr>
                        <a:t>女</a:t>
                      </a:r>
                      <a:endParaRPr kumimoji="0" lang="zh-CN" altLang="en-US" sz="18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u="none" strike="noStrike" cap="none" normalizeH="0" baseline="0" dirty="0" smtClean="0">
                          <a:ln>
                            <a:noFill/>
                          </a:ln>
                          <a:effectLst/>
                        </a:rPr>
                        <a:t>18</a:t>
                      </a:r>
                      <a:endParaRPr kumimoji="0" lang="en-US" altLang="zh-CN" sz="18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u="none" strike="noStrike" cap="none" normalizeH="0" baseline="0" dirty="0" smtClean="0">
                          <a:ln>
                            <a:noFill/>
                          </a:ln>
                          <a:effectLst/>
                        </a:rPr>
                        <a:t>MA</a:t>
                      </a:r>
                      <a:endParaRPr kumimoji="0" lang="en-US" altLang="zh-CN" sz="18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308938">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u="none" strike="noStrike" cap="none" normalizeH="0" baseline="0" dirty="0" smtClean="0">
                          <a:ln>
                            <a:noFill/>
                          </a:ln>
                          <a:effectLst/>
                        </a:rPr>
                        <a:t>201215125</a:t>
                      </a:r>
                      <a:endParaRPr kumimoji="0" lang="en-US" altLang="zh-CN" sz="18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800" b="1" u="none" strike="noStrike" cap="none" normalizeH="0" baseline="0" dirty="0" smtClean="0">
                          <a:ln>
                            <a:noFill/>
                          </a:ln>
                          <a:effectLst/>
                        </a:rPr>
                        <a:t>张立</a:t>
                      </a:r>
                      <a:endParaRPr kumimoji="0" lang="zh-CN" altLang="en-US" sz="18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800" b="1" u="none" strike="noStrike" cap="none" normalizeH="0" baseline="0" smtClean="0">
                          <a:ln>
                            <a:noFill/>
                          </a:ln>
                          <a:effectLst/>
                        </a:rPr>
                        <a:t>男</a:t>
                      </a:r>
                      <a:endParaRPr kumimoji="0" lang="zh-CN" altLang="en-US" sz="18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u="none" strike="noStrike" cap="none" normalizeH="0" baseline="0" smtClean="0">
                          <a:ln>
                            <a:noFill/>
                          </a:ln>
                          <a:effectLst/>
                        </a:rPr>
                        <a:t>19</a:t>
                      </a:r>
                      <a:endParaRPr kumimoji="0" lang="en-US" altLang="zh-CN" sz="18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u="none" strike="noStrike" cap="none" normalizeH="0" baseline="0" dirty="0" smtClean="0">
                          <a:ln>
                            <a:noFill/>
                          </a:ln>
                          <a:effectLst/>
                        </a:rPr>
                        <a:t>IS</a:t>
                      </a:r>
                      <a:endParaRPr kumimoji="0" lang="en-US" altLang="zh-CN" sz="18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extLst>
      <p:ext uri="{BB962C8B-B14F-4D97-AF65-F5344CB8AC3E}">
        <p14:creationId xmlns:p14="http://schemas.microsoft.com/office/powerpoint/2010/main" val="1115816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0115">
                                            <p:txEl>
                                              <p:pRg st="1" end="1"/>
                                            </p:txEl>
                                          </p:spTgt>
                                        </p:tgtEl>
                                        <p:attrNameLst>
                                          <p:attrName>style.visibility</p:attrName>
                                        </p:attrNameLst>
                                      </p:cBhvr>
                                      <p:to>
                                        <p:strVal val="visible"/>
                                      </p:to>
                                    </p:set>
                                    <p:anim calcmode="lin" valueType="num">
                                      <p:cBhvr additive="base">
                                        <p:cTn id="7" dur="500" fill="hold"/>
                                        <p:tgtEl>
                                          <p:spTgt spid="9011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011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0115">
                                            <p:txEl>
                                              <p:pRg st="2" end="2"/>
                                            </p:txEl>
                                          </p:spTgt>
                                        </p:tgtEl>
                                        <p:attrNameLst>
                                          <p:attrName>style.visibility</p:attrName>
                                        </p:attrNameLst>
                                      </p:cBhvr>
                                      <p:to>
                                        <p:strVal val="visible"/>
                                      </p:to>
                                    </p:set>
                                    <p:anim calcmode="lin" valueType="num">
                                      <p:cBhvr additive="base">
                                        <p:cTn id="11" dur="500" fill="hold"/>
                                        <p:tgtEl>
                                          <p:spTgt spid="9011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01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10068"/>
                                        </p:tgtEl>
                                        <p:attrNameLst>
                                          <p:attrName>style.visibility</p:attrName>
                                        </p:attrNameLst>
                                      </p:cBhvr>
                                      <p:to>
                                        <p:strVal val="visible"/>
                                      </p:to>
                                    </p:set>
                                    <p:anim calcmode="lin" valueType="num">
                                      <p:cBhvr additive="base">
                                        <p:cTn id="17" dur="500" fill="hold"/>
                                        <p:tgtEl>
                                          <p:spTgt spid="510068"/>
                                        </p:tgtEl>
                                        <p:attrNameLst>
                                          <p:attrName>ppt_x</p:attrName>
                                        </p:attrNameLst>
                                      </p:cBhvr>
                                      <p:tavLst>
                                        <p:tav tm="0">
                                          <p:val>
                                            <p:strVal val="#ppt_x"/>
                                          </p:val>
                                        </p:tav>
                                        <p:tav tm="100000">
                                          <p:val>
                                            <p:strVal val="#ppt_x"/>
                                          </p:val>
                                        </p:tav>
                                      </p:tavLst>
                                    </p:anim>
                                    <p:anim calcmode="lin" valueType="num">
                                      <p:cBhvr additive="base">
                                        <p:cTn id="18" dur="500" fill="hold"/>
                                        <p:tgtEl>
                                          <p:spTgt spid="5100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914400" y="115888"/>
            <a:ext cx="7391400" cy="563562"/>
          </a:xfrm>
        </p:spPr>
        <p:txBody>
          <a:bodyPr>
            <a:normAutofit fontScale="90000"/>
          </a:bodyPr>
          <a:lstStyle/>
          <a:p>
            <a:pPr eaLnBrk="1" hangingPunct="1"/>
            <a:r>
              <a:rPr lang="zh-CN" altLang="en-US" sz="3600" smtClean="0"/>
              <a:t>选择（续）</a:t>
            </a:r>
          </a:p>
        </p:txBody>
      </p:sp>
      <p:sp>
        <p:nvSpPr>
          <p:cNvPr id="91139" name="Rectangle 3"/>
          <p:cNvSpPr>
            <a:spLocks noGrp="1" noChangeArrowheads="1"/>
          </p:cNvSpPr>
          <p:nvPr>
            <p:ph type="body" sz="half" idx="1"/>
          </p:nvPr>
        </p:nvSpPr>
        <p:spPr>
          <a:xfrm>
            <a:off x="601663" y="1341438"/>
            <a:ext cx="8218487" cy="1528762"/>
          </a:xfrm>
        </p:spPr>
        <p:txBody>
          <a:bodyPr/>
          <a:lstStyle/>
          <a:p>
            <a:pPr algn="just" eaLnBrk="1" hangingPunct="1">
              <a:buFont typeface="Wingdings" panose="05000000000000000000" pitchFamily="2" charset="2"/>
              <a:buNone/>
            </a:pPr>
            <a:r>
              <a:rPr lang="en-US" altLang="zh-CN" dirty="0" smtClean="0">
                <a:ea typeface="黑体" panose="02010609060101010101" pitchFamily="49" charset="-122"/>
              </a:rPr>
              <a:t>[</a:t>
            </a:r>
            <a:r>
              <a:rPr lang="zh-CN" altLang="en-US" dirty="0" smtClean="0">
                <a:ea typeface="黑体" panose="02010609060101010101" pitchFamily="49" charset="-122"/>
              </a:rPr>
              <a:t>例</a:t>
            </a:r>
            <a:r>
              <a:rPr lang="en-US" altLang="zh-CN" dirty="0" smtClean="0">
                <a:ea typeface="黑体" panose="02010609060101010101" pitchFamily="49" charset="-122"/>
              </a:rPr>
              <a:t>2.5</a:t>
            </a:r>
            <a:r>
              <a:rPr lang="en-US" altLang="zh-CN" dirty="0" smtClean="0"/>
              <a:t>]  </a:t>
            </a:r>
            <a:r>
              <a:rPr lang="zh-CN" altLang="en-US" dirty="0" smtClean="0"/>
              <a:t>查询年龄小于</a:t>
            </a:r>
            <a:r>
              <a:rPr lang="en-US" altLang="zh-CN" dirty="0" smtClean="0"/>
              <a:t>20</a:t>
            </a:r>
            <a:r>
              <a:rPr lang="zh-CN" altLang="en-US" dirty="0" smtClean="0"/>
              <a:t>岁的女学生。</a:t>
            </a:r>
          </a:p>
          <a:p>
            <a:pPr algn="just">
              <a:buNone/>
            </a:pPr>
            <a:r>
              <a:rPr lang="zh-CN" altLang="en-US" sz="2400" dirty="0" smtClean="0"/>
              <a:t>    	</a:t>
            </a:r>
            <a:r>
              <a:rPr lang="zh-CN" altLang="en-US" sz="2400" dirty="0" smtClean="0">
                <a:solidFill>
                  <a:srgbClr val="FF0000"/>
                </a:solidFill>
              </a:rPr>
              <a:t>          </a:t>
            </a:r>
            <a:r>
              <a:rPr lang="en-US" altLang="zh-CN" sz="2400" dirty="0" err="1" smtClean="0">
                <a:solidFill>
                  <a:srgbClr val="FF0000"/>
                </a:solidFill>
              </a:rPr>
              <a:t>σ</a:t>
            </a:r>
            <a:r>
              <a:rPr lang="en-US" altLang="zh-CN" sz="2400" baseline="-30000" dirty="0" err="1" smtClean="0">
                <a:solidFill>
                  <a:srgbClr val="FF0000"/>
                </a:solidFill>
              </a:rPr>
              <a:t>Sage</a:t>
            </a:r>
            <a:r>
              <a:rPr lang="en-US" altLang="zh-CN" sz="2400" baseline="-30000" dirty="0" smtClean="0">
                <a:solidFill>
                  <a:srgbClr val="FF0000"/>
                </a:solidFill>
              </a:rPr>
              <a:t> &lt; </a:t>
            </a:r>
            <a:r>
              <a:rPr lang="en-US" altLang="zh-CN" sz="2400" baseline="-30000" dirty="0">
                <a:solidFill>
                  <a:srgbClr val="FF0000"/>
                </a:solidFill>
              </a:rPr>
              <a:t>20   </a:t>
            </a:r>
            <a:r>
              <a:rPr lang="en-US" altLang="zh-CN" sz="2400" baseline="-30000" dirty="0" smtClean="0">
                <a:solidFill>
                  <a:srgbClr val="FF0000"/>
                </a:solidFill>
              </a:rPr>
              <a:t>∧ </a:t>
            </a:r>
            <a:r>
              <a:rPr lang="en-US" altLang="zh-CN" sz="2400" baseline="-30000" dirty="0" err="1" smtClean="0">
                <a:solidFill>
                  <a:srgbClr val="FF0000"/>
                </a:solidFill>
              </a:rPr>
              <a:t>Ssex</a:t>
            </a:r>
            <a:r>
              <a:rPr lang="en-US" altLang="zh-CN" sz="2400" baseline="-30000" dirty="0" smtClean="0">
                <a:solidFill>
                  <a:srgbClr val="FF0000"/>
                </a:solidFill>
              </a:rPr>
              <a:t>=‘</a:t>
            </a:r>
            <a:r>
              <a:rPr lang="zh-CN" altLang="en-US" sz="2400" baseline="-30000" dirty="0" smtClean="0">
                <a:solidFill>
                  <a:srgbClr val="FF0000"/>
                </a:solidFill>
              </a:rPr>
              <a:t>女</a:t>
            </a:r>
            <a:r>
              <a:rPr lang="en-US" altLang="zh-CN" sz="2400" baseline="-30000" dirty="0" smtClean="0">
                <a:solidFill>
                  <a:srgbClr val="FF0000"/>
                </a:solidFill>
              </a:rPr>
              <a:t>’</a:t>
            </a:r>
            <a:r>
              <a:rPr lang="en-US" altLang="zh-CN" sz="2400" dirty="0" smtClean="0">
                <a:solidFill>
                  <a:srgbClr val="FF0000"/>
                </a:solidFill>
              </a:rPr>
              <a:t>(Student) </a:t>
            </a:r>
          </a:p>
          <a:p>
            <a:pPr algn="just" eaLnBrk="1" hangingPunct="1">
              <a:buFont typeface="Wingdings" panose="05000000000000000000" pitchFamily="2" charset="2"/>
              <a:buNone/>
            </a:pPr>
            <a:r>
              <a:rPr lang="en-US" altLang="zh-CN" sz="2400" dirty="0" smtClean="0"/>
              <a:t>	</a:t>
            </a:r>
            <a:r>
              <a:rPr lang="zh-CN" altLang="en-US" sz="2400" dirty="0" smtClean="0"/>
              <a:t>结果： </a:t>
            </a:r>
          </a:p>
        </p:txBody>
      </p:sp>
      <p:sp>
        <p:nvSpPr>
          <p:cNvPr id="91140" name="Rectangle 131"/>
          <p:cNvSpPr>
            <a:spLocks noChangeArrowheads="1"/>
          </p:cNvSpPr>
          <p:nvPr/>
        </p:nvSpPr>
        <p:spPr bwMode="auto">
          <a:xfrm>
            <a:off x="0" y="5459413"/>
            <a:ext cx="9144000"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200"/>
              <a:t> </a:t>
            </a:r>
            <a:endParaRPr lang="en-US" altLang="zh-CN" sz="1000"/>
          </a:p>
          <a:p>
            <a:endParaRPr lang="en-US" altLang="zh-CN"/>
          </a:p>
        </p:txBody>
      </p:sp>
      <p:graphicFrame>
        <p:nvGraphicFramePr>
          <p:cNvPr id="3" name="表格 2"/>
          <p:cNvGraphicFramePr>
            <a:graphicFrameLocks noGrp="1"/>
          </p:cNvGraphicFramePr>
          <p:nvPr>
            <p:extLst>
              <p:ext uri="{D42A27DB-BD31-4B8C-83A1-F6EECF244321}">
                <p14:modId xmlns:p14="http://schemas.microsoft.com/office/powerpoint/2010/main" val="2157451241"/>
              </p:ext>
            </p:extLst>
          </p:nvPr>
        </p:nvGraphicFramePr>
        <p:xfrm>
          <a:off x="756447" y="2764212"/>
          <a:ext cx="6921217" cy="1286640"/>
        </p:xfrm>
        <a:graphic>
          <a:graphicData uri="http://schemas.openxmlformats.org/drawingml/2006/table">
            <a:tbl>
              <a:tblPr firstRow="1" bandRow="1">
                <a:tableStyleId>{5940675A-B579-460E-94D1-54222C63F5DA}</a:tableStyleId>
              </a:tblPr>
              <a:tblGrid>
                <a:gridCol w="1879661"/>
                <a:gridCol w="1202724"/>
                <a:gridCol w="1128584"/>
                <a:gridCol w="1400433"/>
                <a:gridCol w="1309815"/>
              </a:tblGrid>
              <a:tr h="37084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i="0" u="none" strike="noStrike" cap="none" normalizeH="0" baseline="0" dirty="0" err="1" smtClean="0">
                          <a:ln>
                            <a:noFill/>
                          </a:ln>
                          <a:solidFill>
                            <a:schemeClr val="tx1"/>
                          </a:solidFill>
                          <a:effectLst/>
                          <a:latin typeface="Arial" pitchFamily="34" charset="0"/>
                          <a:ea typeface="宋体" pitchFamily="2" charset="-122"/>
                        </a:rPr>
                        <a:t>Sno</a:t>
                      </a:r>
                      <a:endParaRPr kumimoji="0" lang="en-US" altLang="zh-CN" sz="2200" b="1" i="0" u="none" strike="noStrike" cap="none" normalizeH="0" baseline="0" dirty="0" smtClean="0">
                        <a:ln>
                          <a:noFill/>
                        </a:ln>
                        <a:solidFill>
                          <a:schemeClr val="tx1"/>
                        </a:solidFill>
                        <a:effectLst/>
                        <a:latin typeface="Arial" pitchFamily="34" charset="0"/>
                        <a:ea typeface="宋体" pitchFamily="2" charset="-122"/>
                      </a:endParaRPr>
                    </a:p>
                  </a:txBody>
                  <a:tcPr marL="89993" marR="89993" marT="46800" marB="46800"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i="0" u="none" strike="noStrike" cap="none" normalizeH="0" baseline="0" dirty="0" err="1" smtClean="0">
                          <a:ln>
                            <a:noFill/>
                          </a:ln>
                          <a:solidFill>
                            <a:schemeClr val="tx1"/>
                          </a:solidFill>
                          <a:effectLst/>
                          <a:latin typeface="Arial" pitchFamily="34" charset="0"/>
                          <a:ea typeface="宋体" pitchFamily="2" charset="-122"/>
                        </a:rPr>
                        <a:t>Sname</a:t>
                      </a:r>
                      <a:endParaRPr kumimoji="0" lang="en-US" altLang="zh-CN" sz="2200" b="1" i="0" u="none" strike="noStrike" cap="none" normalizeH="0" baseline="0" dirty="0" smtClean="0">
                        <a:ln>
                          <a:noFill/>
                        </a:ln>
                        <a:solidFill>
                          <a:schemeClr val="tx1"/>
                        </a:solidFill>
                        <a:effectLst/>
                        <a:latin typeface="Arial" pitchFamily="34" charset="0"/>
                        <a:ea typeface="宋体" pitchFamily="2" charset="-122"/>
                      </a:endParaRPr>
                    </a:p>
                  </a:txBody>
                  <a:tcPr marL="89993" marR="89993" marT="46800" marB="46800"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i="0" u="none" strike="noStrike" cap="none" normalizeH="0" baseline="0" dirty="0" err="1" smtClean="0">
                          <a:ln>
                            <a:noFill/>
                          </a:ln>
                          <a:solidFill>
                            <a:schemeClr val="tx1"/>
                          </a:solidFill>
                          <a:effectLst/>
                          <a:latin typeface="Arial" pitchFamily="34" charset="0"/>
                          <a:ea typeface="宋体" pitchFamily="2" charset="-122"/>
                        </a:rPr>
                        <a:t>Ssex</a:t>
                      </a:r>
                      <a:endParaRPr kumimoji="0" lang="en-US" altLang="zh-CN" sz="2200" b="1" i="0" u="none" strike="noStrike" cap="none" normalizeH="0" baseline="0" dirty="0" smtClean="0">
                        <a:ln>
                          <a:noFill/>
                        </a:ln>
                        <a:solidFill>
                          <a:schemeClr val="tx1"/>
                        </a:solidFill>
                        <a:effectLst/>
                        <a:latin typeface="Arial" pitchFamily="34" charset="0"/>
                        <a:ea typeface="宋体" pitchFamily="2" charset="-122"/>
                      </a:endParaRPr>
                    </a:p>
                  </a:txBody>
                  <a:tcPr marL="89993" marR="89993" marT="46800" marB="46800"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i="0" u="none" strike="noStrike" cap="none" normalizeH="0" baseline="0" smtClean="0">
                          <a:ln>
                            <a:noFill/>
                          </a:ln>
                          <a:solidFill>
                            <a:schemeClr val="tx1"/>
                          </a:solidFill>
                          <a:effectLst/>
                          <a:latin typeface="Arial" pitchFamily="34" charset="0"/>
                          <a:ea typeface="宋体" pitchFamily="2" charset="-122"/>
                        </a:rPr>
                        <a:t>Sage</a:t>
                      </a:r>
                    </a:p>
                  </a:txBody>
                  <a:tcPr marL="89993" marR="89993" marT="46800" marB="46800"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i="0" u="none" strike="noStrike" cap="none" normalizeH="0" baseline="0" smtClean="0">
                          <a:ln>
                            <a:noFill/>
                          </a:ln>
                          <a:solidFill>
                            <a:schemeClr val="tx1"/>
                          </a:solidFill>
                          <a:effectLst/>
                          <a:latin typeface="Arial" pitchFamily="34" charset="0"/>
                          <a:ea typeface="宋体" pitchFamily="2" charset="-122"/>
                        </a:rPr>
                        <a:t>Sdept</a:t>
                      </a:r>
                    </a:p>
                  </a:txBody>
                  <a:tcPr marL="89993" marR="89993" marT="46800" marB="46800" horzOverflow="overflow"/>
                </a:tc>
              </a:tr>
              <a:tr h="37084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i="0" u="none" strike="noStrike" cap="none" normalizeH="0" baseline="0" dirty="0" smtClean="0">
                          <a:ln>
                            <a:noFill/>
                          </a:ln>
                          <a:solidFill>
                            <a:schemeClr val="tx1"/>
                          </a:solidFill>
                          <a:effectLst/>
                          <a:latin typeface="Arial" pitchFamily="34" charset="0"/>
                          <a:ea typeface="宋体" pitchFamily="2" charset="-122"/>
                        </a:rPr>
                        <a:t>201215122</a:t>
                      </a:r>
                    </a:p>
                  </a:txBody>
                  <a:tcPr marL="89993" marR="89993" marT="46800" marB="46800"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1" i="0" u="none" strike="noStrike" cap="none" normalizeH="0" baseline="0" smtClean="0">
                          <a:ln>
                            <a:noFill/>
                          </a:ln>
                          <a:solidFill>
                            <a:schemeClr val="tx1"/>
                          </a:solidFill>
                          <a:effectLst/>
                          <a:latin typeface="Arial" pitchFamily="34" charset="0"/>
                          <a:ea typeface="宋体" pitchFamily="2" charset="-122"/>
                        </a:rPr>
                        <a:t>刘晨</a:t>
                      </a:r>
                    </a:p>
                  </a:txBody>
                  <a:tcPr marL="89993" marR="89993" marT="46800" marB="46800"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1" i="0" u="none" strike="noStrike" cap="none" normalizeH="0" baseline="0" dirty="0" smtClean="0">
                          <a:ln>
                            <a:noFill/>
                          </a:ln>
                          <a:solidFill>
                            <a:schemeClr val="tx1"/>
                          </a:solidFill>
                          <a:effectLst/>
                          <a:latin typeface="Arial" pitchFamily="34" charset="0"/>
                          <a:ea typeface="宋体" pitchFamily="2" charset="-122"/>
                        </a:rPr>
                        <a:t>女</a:t>
                      </a:r>
                    </a:p>
                  </a:txBody>
                  <a:tcPr marL="89993" marR="89993" marT="46800" marB="46800"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i="0" u="none" strike="noStrike" cap="none" normalizeH="0" baseline="0" dirty="0" smtClean="0">
                          <a:ln>
                            <a:noFill/>
                          </a:ln>
                          <a:solidFill>
                            <a:schemeClr val="tx1"/>
                          </a:solidFill>
                          <a:effectLst/>
                          <a:latin typeface="Arial" pitchFamily="34" charset="0"/>
                          <a:ea typeface="宋体" pitchFamily="2" charset="-122"/>
                        </a:rPr>
                        <a:t>19</a:t>
                      </a:r>
                    </a:p>
                  </a:txBody>
                  <a:tcPr marL="89993" marR="89993" marT="46800" marB="46800"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i="0" u="none" strike="noStrike" cap="none" normalizeH="0" baseline="0" dirty="0" smtClean="0">
                          <a:ln>
                            <a:noFill/>
                          </a:ln>
                          <a:solidFill>
                            <a:schemeClr val="tx1"/>
                          </a:solidFill>
                          <a:effectLst/>
                          <a:latin typeface="Arial" pitchFamily="34" charset="0"/>
                          <a:ea typeface="宋体" pitchFamily="2" charset="-122"/>
                        </a:rPr>
                        <a:t>IS</a:t>
                      </a:r>
                    </a:p>
                  </a:txBody>
                  <a:tcPr marL="89993" marR="89993" marT="46800" marB="46800" horzOverflow="overflow"/>
                </a:tc>
              </a:tr>
              <a:tr h="37084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i="0" u="none" strike="noStrike" cap="none" normalizeH="0" baseline="0" dirty="0" smtClean="0">
                          <a:ln>
                            <a:noFill/>
                          </a:ln>
                          <a:solidFill>
                            <a:schemeClr val="tx1"/>
                          </a:solidFill>
                          <a:effectLst/>
                          <a:latin typeface="Arial" pitchFamily="34" charset="0"/>
                          <a:ea typeface="宋体" pitchFamily="2" charset="-122"/>
                        </a:rPr>
                        <a:t>201215123</a:t>
                      </a:r>
                    </a:p>
                  </a:txBody>
                  <a:tcPr marL="89993" marR="89993" marT="46800" marB="46800"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1" i="0" u="none" strike="noStrike" cap="none" normalizeH="0" baseline="0" smtClean="0">
                          <a:ln>
                            <a:noFill/>
                          </a:ln>
                          <a:solidFill>
                            <a:schemeClr val="tx1"/>
                          </a:solidFill>
                          <a:effectLst/>
                          <a:latin typeface="Arial" pitchFamily="34" charset="0"/>
                          <a:ea typeface="宋体" pitchFamily="2" charset="-122"/>
                        </a:rPr>
                        <a:t>王敏</a:t>
                      </a:r>
                    </a:p>
                  </a:txBody>
                  <a:tcPr marL="89993" marR="89993" marT="46800" marB="46800"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1" i="0" u="none" strike="noStrike" cap="none" normalizeH="0" baseline="0" smtClean="0">
                          <a:ln>
                            <a:noFill/>
                          </a:ln>
                          <a:solidFill>
                            <a:schemeClr val="tx1"/>
                          </a:solidFill>
                          <a:effectLst/>
                          <a:latin typeface="Arial" pitchFamily="34" charset="0"/>
                          <a:ea typeface="宋体" pitchFamily="2" charset="-122"/>
                        </a:rPr>
                        <a:t>女</a:t>
                      </a:r>
                    </a:p>
                  </a:txBody>
                  <a:tcPr marL="89993" marR="89993" marT="46800" marB="46800"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i="0" u="none" strike="noStrike" cap="none" normalizeH="0" baseline="0" smtClean="0">
                          <a:ln>
                            <a:noFill/>
                          </a:ln>
                          <a:solidFill>
                            <a:schemeClr val="tx1"/>
                          </a:solidFill>
                          <a:effectLst/>
                          <a:latin typeface="Arial" pitchFamily="34" charset="0"/>
                          <a:ea typeface="宋体" pitchFamily="2" charset="-122"/>
                        </a:rPr>
                        <a:t>18</a:t>
                      </a:r>
                    </a:p>
                  </a:txBody>
                  <a:tcPr marL="89993" marR="89993" marT="46800" marB="46800"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i="0" u="none" strike="noStrike" cap="none" normalizeH="0" baseline="0" dirty="0" smtClean="0">
                          <a:ln>
                            <a:noFill/>
                          </a:ln>
                          <a:solidFill>
                            <a:schemeClr val="tx1"/>
                          </a:solidFill>
                          <a:effectLst/>
                          <a:latin typeface="Arial" pitchFamily="34" charset="0"/>
                          <a:ea typeface="宋体" pitchFamily="2" charset="-122"/>
                        </a:rPr>
                        <a:t>MA</a:t>
                      </a:r>
                    </a:p>
                  </a:txBody>
                  <a:tcPr marL="89993" marR="89993" marT="46800" marB="46800" horzOverflow="overflow"/>
                </a:tc>
              </a:tr>
            </a:tbl>
          </a:graphicData>
        </a:graphic>
      </p:graphicFrame>
      <p:sp>
        <p:nvSpPr>
          <p:cNvPr id="9" name="Rectangle 3"/>
          <p:cNvSpPr txBox="1">
            <a:spLocks noChangeArrowheads="1"/>
          </p:cNvSpPr>
          <p:nvPr/>
        </p:nvSpPr>
        <p:spPr>
          <a:xfrm>
            <a:off x="495300" y="4670854"/>
            <a:ext cx="8229600" cy="33894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p"/>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n"/>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smtClean="0">
                <a:ea typeface="宋体" panose="02010600030101010101" pitchFamily="2" charset="-122"/>
              </a:rPr>
              <a:t>以下选择是否相同？</a:t>
            </a:r>
            <a:endParaRPr lang="en-US" altLang="zh-CN" dirty="0" smtClean="0">
              <a:ea typeface="宋体" panose="02010600030101010101" pitchFamily="2" charset="-122"/>
              <a:sym typeface="Symbol" panose="05050102010706020507" pitchFamily="18" charset="2"/>
            </a:endParaRPr>
          </a:p>
          <a:p>
            <a:pPr lvl="1" algn="ctr">
              <a:buFont typeface="Wingdings" panose="05000000000000000000" pitchFamily="2" charset="2"/>
              <a:buNone/>
            </a:pPr>
            <a:r>
              <a:rPr lang="en-US" altLang="zh-CN" dirty="0" smtClean="0">
                <a:ea typeface="宋体" panose="02010600030101010101" pitchFamily="2" charset="-122"/>
                <a:sym typeface="Symbol" panose="05050102010706020507" pitchFamily="18" charset="2"/>
              </a:rPr>
              <a:t></a:t>
            </a:r>
            <a:r>
              <a:rPr lang="en-US" altLang="zh-CN" baseline="-25000" dirty="0" smtClean="0">
                <a:ea typeface="宋体" panose="02010600030101010101" pitchFamily="2" charset="-122"/>
              </a:rPr>
              <a:t>condition-1</a:t>
            </a:r>
            <a:r>
              <a:rPr lang="en-US" altLang="zh-CN" dirty="0" smtClean="0">
                <a:ea typeface="宋体" panose="02010600030101010101" pitchFamily="2" charset="-122"/>
              </a:rPr>
              <a:t> (</a:t>
            </a:r>
            <a:r>
              <a:rPr lang="en-US" altLang="zh-CN" dirty="0" smtClean="0">
                <a:ea typeface="宋体" panose="02010600030101010101" pitchFamily="2" charset="-122"/>
                <a:sym typeface="Symbol" panose="05050102010706020507" pitchFamily="18" charset="2"/>
              </a:rPr>
              <a:t></a:t>
            </a:r>
            <a:r>
              <a:rPr lang="en-US" altLang="zh-CN" baseline="-25000" dirty="0" smtClean="0">
                <a:ea typeface="宋体" panose="02010600030101010101" pitchFamily="2" charset="-122"/>
              </a:rPr>
              <a:t>condition-2</a:t>
            </a:r>
            <a:r>
              <a:rPr lang="en-US" altLang="zh-CN" dirty="0" smtClean="0">
                <a:ea typeface="宋体" panose="02010600030101010101" pitchFamily="2" charset="-122"/>
              </a:rPr>
              <a:t> (R))</a:t>
            </a:r>
            <a:endParaRPr lang="en-US" altLang="zh-CN" dirty="0" smtClean="0">
              <a:ea typeface="宋体" panose="02010600030101010101" pitchFamily="2" charset="-122"/>
              <a:sym typeface="Symbol" panose="05050102010706020507" pitchFamily="18" charset="2"/>
            </a:endParaRPr>
          </a:p>
          <a:p>
            <a:pPr lvl="1" algn="ctr">
              <a:buFont typeface="Wingdings" panose="05000000000000000000" pitchFamily="2" charset="2"/>
              <a:buNone/>
            </a:pPr>
            <a:r>
              <a:rPr lang="en-US" altLang="zh-CN" dirty="0" smtClean="0">
                <a:ea typeface="宋体" panose="02010600030101010101" pitchFamily="2" charset="-122"/>
                <a:sym typeface="Symbol" panose="05050102010706020507" pitchFamily="18" charset="2"/>
              </a:rPr>
              <a:t></a:t>
            </a:r>
            <a:r>
              <a:rPr lang="en-US" altLang="zh-CN" baseline="-25000" dirty="0" smtClean="0">
                <a:ea typeface="宋体" panose="02010600030101010101" pitchFamily="2" charset="-122"/>
              </a:rPr>
              <a:t>(condition-1 AND condition-2)</a:t>
            </a:r>
            <a:r>
              <a:rPr lang="en-US" altLang="zh-CN" dirty="0" smtClean="0">
                <a:ea typeface="宋体" panose="02010600030101010101" pitchFamily="2" charset="-122"/>
              </a:rPr>
              <a:t> (R) </a:t>
            </a:r>
            <a:endParaRPr lang="en-US" altLang="zh-CN" dirty="0" smtClean="0">
              <a:ea typeface="宋体" panose="02010600030101010101" pitchFamily="2" charset="-122"/>
              <a:sym typeface="Symbol" panose="05050102010706020507" pitchFamily="18" charset="2"/>
            </a:endParaRPr>
          </a:p>
          <a:p>
            <a:pPr lvl="1" algn="ctr">
              <a:buFont typeface="Wingdings" panose="05000000000000000000" pitchFamily="2" charset="2"/>
              <a:buNone/>
            </a:pPr>
            <a:r>
              <a:rPr lang="en-US" altLang="zh-CN" dirty="0" smtClean="0">
                <a:ea typeface="宋体" panose="02010600030101010101" pitchFamily="2" charset="-122"/>
                <a:sym typeface="Symbol" panose="05050102010706020507" pitchFamily="18" charset="2"/>
              </a:rPr>
              <a:t></a:t>
            </a:r>
            <a:r>
              <a:rPr lang="en-US" altLang="zh-CN" baseline="-25000" dirty="0" smtClean="0">
                <a:ea typeface="宋体" panose="02010600030101010101" pitchFamily="2" charset="-122"/>
              </a:rPr>
              <a:t>condition-2 </a:t>
            </a:r>
            <a:r>
              <a:rPr lang="en-US" altLang="zh-CN" dirty="0" smtClean="0">
                <a:ea typeface="宋体" panose="02010600030101010101" pitchFamily="2" charset="-122"/>
              </a:rPr>
              <a:t>(</a:t>
            </a:r>
            <a:r>
              <a:rPr lang="en-US" altLang="zh-CN" dirty="0" smtClean="0">
                <a:ea typeface="宋体" panose="02010600030101010101" pitchFamily="2" charset="-122"/>
                <a:sym typeface="Symbol" panose="05050102010706020507" pitchFamily="18" charset="2"/>
              </a:rPr>
              <a:t></a:t>
            </a:r>
            <a:r>
              <a:rPr lang="en-US" altLang="zh-CN" baseline="-25000" dirty="0" smtClean="0">
                <a:ea typeface="宋体" panose="02010600030101010101" pitchFamily="2" charset="-122"/>
              </a:rPr>
              <a:t>condition-1</a:t>
            </a:r>
            <a:r>
              <a:rPr lang="en-US" altLang="zh-CN" dirty="0" smtClean="0">
                <a:ea typeface="宋体" panose="02010600030101010101" pitchFamily="2" charset="-122"/>
              </a:rPr>
              <a:t> (R))</a:t>
            </a:r>
          </a:p>
        </p:txBody>
      </p:sp>
    </p:spTree>
    <p:extLst>
      <p:ext uri="{BB962C8B-B14F-4D97-AF65-F5344CB8AC3E}">
        <p14:creationId xmlns:p14="http://schemas.microsoft.com/office/powerpoint/2010/main" val="112098370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r>
              <a:rPr lang="en-US" altLang="zh-CN" sz="3600" smtClean="0"/>
              <a:t>2. </a:t>
            </a:r>
            <a:r>
              <a:rPr lang="zh-CN" altLang="en-US" sz="3600" smtClean="0"/>
              <a:t>投影（</a:t>
            </a:r>
            <a:r>
              <a:rPr lang="en-US" altLang="zh-CN" sz="3600" smtClean="0"/>
              <a:t>Projection</a:t>
            </a:r>
            <a:r>
              <a:rPr lang="zh-CN" altLang="en-US" sz="3600" smtClean="0"/>
              <a:t>） </a:t>
            </a:r>
          </a:p>
        </p:txBody>
      </p:sp>
      <p:sp>
        <p:nvSpPr>
          <p:cNvPr id="92163" name="Rectangle 3"/>
          <p:cNvSpPr>
            <a:spLocks noGrp="1" noChangeArrowheads="1"/>
          </p:cNvSpPr>
          <p:nvPr>
            <p:ph type="body" idx="1"/>
          </p:nvPr>
        </p:nvSpPr>
        <p:spPr>
          <a:xfrm>
            <a:off x="723900" y="1325563"/>
            <a:ext cx="7886700" cy="4689476"/>
          </a:xfrm>
        </p:spPr>
        <p:txBody>
          <a:bodyPr>
            <a:normAutofit lnSpcReduction="10000"/>
          </a:bodyPr>
          <a:lstStyle/>
          <a:p>
            <a:pPr lvl="1" algn="just" eaLnBrk="1" hangingPunct="1">
              <a:lnSpc>
                <a:spcPct val="120000"/>
              </a:lnSpc>
              <a:buFont typeface="Wingdings" panose="05000000000000000000" pitchFamily="2" charset="2"/>
              <a:buChar char="p"/>
            </a:pPr>
            <a:r>
              <a:rPr lang="zh-CN" altLang="en-US" sz="2200" dirty="0" smtClean="0"/>
              <a:t>从</a:t>
            </a:r>
            <a:r>
              <a:rPr lang="en-US" altLang="zh-CN" sz="2200" i="1" dirty="0" smtClean="0"/>
              <a:t>R</a:t>
            </a:r>
            <a:r>
              <a:rPr lang="zh-CN" altLang="en-US" sz="2200" dirty="0" smtClean="0"/>
              <a:t>中选择出若干属性列组成新的关系</a:t>
            </a:r>
          </a:p>
          <a:p>
            <a:pPr lvl="1" algn="just" eaLnBrk="1" hangingPunct="1">
              <a:lnSpc>
                <a:spcPct val="120000"/>
              </a:lnSpc>
              <a:buFont typeface="Wingdings" panose="05000000000000000000" pitchFamily="2" charset="2"/>
              <a:buNone/>
            </a:pPr>
            <a:r>
              <a:rPr lang="zh-CN" altLang="en-US" dirty="0" smtClean="0"/>
              <a:t>              </a:t>
            </a:r>
            <a:r>
              <a:rPr lang="en-US" altLang="zh-CN" dirty="0" smtClean="0"/>
              <a:t>π</a:t>
            </a:r>
            <a:r>
              <a:rPr lang="en-US" altLang="zh-CN" i="1" baseline="-30000" dirty="0" smtClean="0"/>
              <a:t>A</a:t>
            </a:r>
            <a:r>
              <a:rPr lang="en-US" altLang="zh-CN" dirty="0" smtClean="0"/>
              <a:t>(</a:t>
            </a:r>
            <a:r>
              <a:rPr lang="en-US" altLang="zh-CN" i="1" dirty="0" smtClean="0"/>
              <a:t>R</a:t>
            </a:r>
            <a:r>
              <a:rPr lang="en-US" altLang="zh-CN" dirty="0" smtClean="0"/>
              <a:t>) = { </a:t>
            </a:r>
            <a:r>
              <a:rPr lang="en-US" altLang="zh-CN" i="1" dirty="0" smtClean="0"/>
              <a:t>t</a:t>
            </a:r>
            <a:r>
              <a:rPr lang="en-US" altLang="zh-CN" dirty="0" smtClean="0"/>
              <a:t>[</a:t>
            </a:r>
            <a:r>
              <a:rPr lang="en-US" altLang="zh-CN" i="1" dirty="0" smtClean="0"/>
              <a:t>A</a:t>
            </a:r>
            <a:r>
              <a:rPr lang="en-US" altLang="zh-CN" dirty="0" smtClean="0"/>
              <a:t>] | </a:t>
            </a:r>
            <a:r>
              <a:rPr lang="en-US" altLang="zh-CN" i="1" dirty="0" smtClean="0"/>
              <a:t>t </a:t>
            </a:r>
            <a:r>
              <a:rPr lang="en-US" altLang="zh-CN" dirty="0" smtClean="0">
                <a:sym typeface="Symbol" panose="05050102010706020507" pitchFamily="18" charset="2"/>
              </a:rPr>
              <a:t></a:t>
            </a:r>
            <a:r>
              <a:rPr lang="en-US" altLang="zh-CN" i="1" dirty="0" smtClean="0"/>
              <a:t>R</a:t>
            </a:r>
            <a:r>
              <a:rPr lang="en-US" altLang="zh-CN" dirty="0" smtClean="0"/>
              <a:t> }</a:t>
            </a:r>
          </a:p>
          <a:p>
            <a:pPr marL="1162050" lvl="2" algn="just" eaLnBrk="1" hangingPunct="1">
              <a:lnSpc>
                <a:spcPct val="120000"/>
              </a:lnSpc>
              <a:buFontTx/>
              <a:buNone/>
            </a:pPr>
            <a:r>
              <a:rPr lang="en-US" altLang="zh-CN" sz="2400" i="1" dirty="0" smtClean="0"/>
              <a:t>		A</a:t>
            </a:r>
            <a:r>
              <a:rPr lang="zh-CN" altLang="en-US" sz="2400" i="1" dirty="0" smtClean="0"/>
              <a:t>：</a:t>
            </a:r>
            <a:r>
              <a:rPr lang="en-US" altLang="zh-CN" sz="2400" i="1" dirty="0" smtClean="0"/>
              <a:t>R</a:t>
            </a:r>
            <a:r>
              <a:rPr lang="zh-CN" altLang="en-US" sz="2400" dirty="0" smtClean="0"/>
              <a:t>中的属性列 </a:t>
            </a:r>
          </a:p>
          <a:p>
            <a:pPr lvl="1" algn="just" eaLnBrk="1" hangingPunct="1">
              <a:lnSpc>
                <a:spcPct val="120000"/>
              </a:lnSpc>
              <a:buFont typeface="Wingdings" panose="05000000000000000000" pitchFamily="2" charset="2"/>
              <a:buChar char="p"/>
            </a:pPr>
            <a:r>
              <a:rPr lang="zh-CN" altLang="en-US" sz="2200" dirty="0" smtClean="0"/>
              <a:t>投影操作主要是从列的角度进行运算</a:t>
            </a:r>
          </a:p>
          <a:p>
            <a:pPr lvl="1" algn="just" eaLnBrk="1" hangingPunct="1">
              <a:lnSpc>
                <a:spcPct val="120000"/>
              </a:lnSpc>
            </a:pPr>
            <a:endParaRPr lang="zh-CN" altLang="en-US" dirty="0" smtClean="0"/>
          </a:p>
          <a:p>
            <a:pPr lvl="1" algn="just" eaLnBrk="1" hangingPunct="1">
              <a:lnSpc>
                <a:spcPct val="120000"/>
              </a:lnSpc>
            </a:pPr>
            <a:endParaRPr lang="zh-CN" altLang="en-US" dirty="0" smtClean="0"/>
          </a:p>
          <a:p>
            <a:pPr lvl="1" algn="just" eaLnBrk="1" hangingPunct="1">
              <a:lnSpc>
                <a:spcPct val="120000"/>
              </a:lnSpc>
            </a:pPr>
            <a:endParaRPr lang="zh-CN" altLang="en-US" dirty="0" smtClean="0"/>
          </a:p>
          <a:p>
            <a:pPr lvl="1" algn="just" eaLnBrk="1" hangingPunct="1">
              <a:lnSpc>
                <a:spcPct val="120000"/>
              </a:lnSpc>
              <a:buFont typeface="Wingdings" panose="05000000000000000000" pitchFamily="2" charset="2"/>
              <a:buChar char="p"/>
            </a:pPr>
            <a:endParaRPr lang="en-US" altLang="zh-CN" dirty="0" smtClean="0"/>
          </a:p>
          <a:p>
            <a:pPr lvl="1" algn="just" eaLnBrk="1" hangingPunct="1">
              <a:lnSpc>
                <a:spcPct val="120000"/>
              </a:lnSpc>
              <a:buFont typeface="Wingdings" panose="05000000000000000000" pitchFamily="2" charset="2"/>
              <a:buChar char="p"/>
            </a:pPr>
            <a:r>
              <a:rPr lang="zh-CN" altLang="en-US" dirty="0" smtClean="0"/>
              <a:t>投影之后不仅取消了原关系中的某些列，而且还可能取消某些元组（避免重复行）</a:t>
            </a:r>
          </a:p>
          <a:p>
            <a:pPr eaLnBrk="1" hangingPunct="1">
              <a:lnSpc>
                <a:spcPct val="90000"/>
              </a:lnSpc>
            </a:pPr>
            <a:endParaRPr lang="en-US" altLang="zh-CN" dirty="0" smtClean="0"/>
          </a:p>
        </p:txBody>
      </p:sp>
      <p:grpSp>
        <p:nvGrpSpPr>
          <p:cNvPr id="92164" name="Group 27"/>
          <p:cNvGrpSpPr>
            <a:grpSpLocks/>
          </p:cNvGrpSpPr>
          <p:nvPr/>
        </p:nvGrpSpPr>
        <p:grpSpPr bwMode="auto">
          <a:xfrm>
            <a:off x="2339975" y="3268663"/>
            <a:ext cx="2743200" cy="1600200"/>
            <a:chOff x="1536" y="1584"/>
            <a:chExt cx="1728" cy="1008"/>
          </a:xfrm>
        </p:grpSpPr>
        <p:sp>
          <p:nvSpPr>
            <p:cNvPr id="92165" name="AutoShape 16"/>
            <p:cNvSpPr>
              <a:spLocks noChangeArrowheads="1"/>
            </p:cNvSpPr>
            <p:nvPr/>
          </p:nvSpPr>
          <p:spPr bwMode="auto">
            <a:xfrm>
              <a:off x="2352" y="2016"/>
              <a:ext cx="528" cy="144"/>
            </a:xfrm>
            <a:prstGeom prst="rightArrow">
              <a:avLst>
                <a:gd name="adj1" fmla="val 50000"/>
                <a:gd name="adj2" fmla="val 91667"/>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2166" name="Text Box 17"/>
            <p:cNvSpPr txBox="1">
              <a:spLocks noChangeArrowheads="1"/>
            </p:cNvSpPr>
            <p:nvPr/>
          </p:nvSpPr>
          <p:spPr bwMode="auto">
            <a:xfrm>
              <a:off x="2352" y="172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en-US" altLang="zh-CN" b="1"/>
                <a:t>π</a:t>
              </a:r>
              <a:endParaRPr lang="en-US" altLang="zh-CN"/>
            </a:p>
          </p:txBody>
        </p:sp>
        <p:sp>
          <p:nvSpPr>
            <p:cNvPr id="92167" name="Rectangle 19"/>
            <p:cNvSpPr>
              <a:spLocks noChangeArrowheads="1"/>
            </p:cNvSpPr>
            <p:nvPr/>
          </p:nvSpPr>
          <p:spPr bwMode="auto">
            <a:xfrm>
              <a:off x="1536" y="1584"/>
              <a:ext cx="96" cy="1008"/>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2168" name="Rectangle 20" descr="浅色下对角线"/>
            <p:cNvSpPr>
              <a:spLocks noChangeArrowheads="1"/>
            </p:cNvSpPr>
            <p:nvPr/>
          </p:nvSpPr>
          <p:spPr bwMode="auto">
            <a:xfrm>
              <a:off x="1632" y="1584"/>
              <a:ext cx="96" cy="1008"/>
            </a:xfrm>
            <a:prstGeom prst="rect">
              <a:avLst/>
            </a:prstGeom>
            <a:pattFill prst="ltDnDiag">
              <a:fgClr>
                <a:srgbClr val="000000"/>
              </a:fgClr>
              <a:bgClr>
                <a:srgbClr val="FFFFFF"/>
              </a:bgClr>
            </a:patt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2169" name="Rectangle 21"/>
            <p:cNvSpPr>
              <a:spLocks noChangeArrowheads="1"/>
            </p:cNvSpPr>
            <p:nvPr/>
          </p:nvSpPr>
          <p:spPr bwMode="auto">
            <a:xfrm>
              <a:off x="1728" y="1584"/>
              <a:ext cx="96" cy="1008"/>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2170" name="Rectangle 22"/>
            <p:cNvSpPr>
              <a:spLocks noChangeArrowheads="1"/>
            </p:cNvSpPr>
            <p:nvPr/>
          </p:nvSpPr>
          <p:spPr bwMode="auto">
            <a:xfrm>
              <a:off x="1824" y="1584"/>
              <a:ext cx="96" cy="1008"/>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2171" name="Rectangle 23" descr="浅色下对角线"/>
            <p:cNvSpPr>
              <a:spLocks noChangeArrowheads="1"/>
            </p:cNvSpPr>
            <p:nvPr/>
          </p:nvSpPr>
          <p:spPr bwMode="auto">
            <a:xfrm>
              <a:off x="1920" y="1584"/>
              <a:ext cx="96" cy="1008"/>
            </a:xfrm>
            <a:prstGeom prst="rect">
              <a:avLst/>
            </a:prstGeom>
            <a:pattFill prst="ltDnDiag">
              <a:fgClr>
                <a:srgbClr val="000000"/>
              </a:fgClr>
              <a:bgClr>
                <a:srgbClr val="FFFFFF"/>
              </a:bgClr>
            </a:patt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2172" name="Rectangle 24"/>
            <p:cNvSpPr>
              <a:spLocks noChangeArrowheads="1"/>
            </p:cNvSpPr>
            <p:nvPr/>
          </p:nvSpPr>
          <p:spPr bwMode="auto">
            <a:xfrm>
              <a:off x="2016" y="1584"/>
              <a:ext cx="96" cy="1008"/>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2173" name="Rectangle 25" descr="浅色下对角线"/>
            <p:cNvSpPr>
              <a:spLocks noChangeArrowheads="1"/>
            </p:cNvSpPr>
            <p:nvPr/>
          </p:nvSpPr>
          <p:spPr bwMode="auto">
            <a:xfrm>
              <a:off x="3072" y="1584"/>
              <a:ext cx="96" cy="1008"/>
            </a:xfrm>
            <a:prstGeom prst="rect">
              <a:avLst/>
            </a:prstGeom>
            <a:pattFill prst="ltDnDiag">
              <a:fgClr>
                <a:srgbClr val="000000"/>
              </a:fgClr>
              <a:bgClr>
                <a:srgbClr val="FFFFFF"/>
              </a:bgClr>
            </a:patt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2174" name="Rectangle 26" descr="浅色下对角线"/>
            <p:cNvSpPr>
              <a:spLocks noChangeArrowheads="1"/>
            </p:cNvSpPr>
            <p:nvPr/>
          </p:nvSpPr>
          <p:spPr bwMode="auto">
            <a:xfrm>
              <a:off x="3168" y="1584"/>
              <a:ext cx="96" cy="1008"/>
            </a:xfrm>
            <a:prstGeom prst="rect">
              <a:avLst/>
            </a:prstGeom>
            <a:pattFill prst="ltDnDiag">
              <a:fgClr>
                <a:srgbClr val="000000"/>
              </a:fgClr>
              <a:bgClr>
                <a:srgbClr val="FFFFFF"/>
              </a:bgClr>
            </a:patt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Tree>
    <p:extLst>
      <p:ext uri="{BB962C8B-B14F-4D97-AF65-F5344CB8AC3E}">
        <p14:creationId xmlns:p14="http://schemas.microsoft.com/office/powerpoint/2010/main" val="232891203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eaLnBrk="1" hangingPunct="1"/>
            <a:r>
              <a:rPr lang="zh-CN" altLang="en-US" sz="3600" smtClean="0"/>
              <a:t>投影（续）</a:t>
            </a:r>
          </a:p>
        </p:txBody>
      </p:sp>
      <p:sp>
        <p:nvSpPr>
          <p:cNvPr id="93187" name="Rectangle 3"/>
          <p:cNvSpPr>
            <a:spLocks noGrp="1" noChangeArrowheads="1"/>
          </p:cNvSpPr>
          <p:nvPr>
            <p:ph type="body" idx="1"/>
          </p:nvPr>
        </p:nvSpPr>
        <p:spPr>
          <a:xfrm>
            <a:off x="457200" y="1268413"/>
            <a:ext cx="8229600" cy="2032000"/>
          </a:xfrm>
        </p:spPr>
        <p:txBody>
          <a:bodyPr>
            <a:normAutofit lnSpcReduction="10000"/>
          </a:bodyPr>
          <a:lstStyle/>
          <a:p>
            <a:pPr algn="just" eaLnBrk="1" hangingPunct="1">
              <a:lnSpc>
                <a:spcPct val="120000"/>
              </a:lnSpc>
            </a:pPr>
            <a:r>
              <a:rPr lang="en-US" altLang="zh-CN" dirty="0" smtClean="0"/>
              <a:t>[</a:t>
            </a:r>
            <a:r>
              <a:rPr lang="zh-CN" altLang="en-US" dirty="0" smtClean="0"/>
              <a:t>例</a:t>
            </a:r>
            <a:r>
              <a:rPr lang="en-US" altLang="zh-CN" dirty="0" smtClean="0"/>
              <a:t>2.6]  </a:t>
            </a:r>
            <a:r>
              <a:rPr lang="zh-CN" altLang="en-US" dirty="0" smtClean="0"/>
              <a:t>查询学生的姓名和所在系。</a:t>
            </a:r>
          </a:p>
          <a:p>
            <a:pPr lvl="1" algn="just" eaLnBrk="1" hangingPunct="1">
              <a:lnSpc>
                <a:spcPct val="120000"/>
              </a:lnSpc>
              <a:buFont typeface="Wingdings" panose="05000000000000000000" pitchFamily="2" charset="2"/>
              <a:buNone/>
            </a:pPr>
            <a:r>
              <a:rPr lang="zh-CN" altLang="en-US" dirty="0" smtClean="0"/>
              <a:t>即求</a:t>
            </a:r>
            <a:r>
              <a:rPr lang="en-US" altLang="zh-CN" dirty="0" smtClean="0"/>
              <a:t>Student</a:t>
            </a:r>
            <a:r>
              <a:rPr lang="zh-CN" altLang="en-US" dirty="0" smtClean="0"/>
              <a:t>关系上学生姓名和所在系两个属性上的投影</a:t>
            </a:r>
          </a:p>
          <a:p>
            <a:pPr lvl="1" algn="just" eaLnBrk="1" hangingPunct="1">
              <a:lnSpc>
                <a:spcPct val="120000"/>
              </a:lnSpc>
              <a:buFont typeface="Wingdings" panose="05000000000000000000" pitchFamily="2" charset="2"/>
              <a:buNone/>
            </a:pPr>
            <a:r>
              <a:rPr lang="zh-CN" altLang="en-US" dirty="0" smtClean="0"/>
              <a:t>    </a:t>
            </a:r>
            <a:r>
              <a:rPr lang="en-US" altLang="zh-CN" dirty="0" smtClean="0"/>
              <a:t>π</a:t>
            </a:r>
            <a:r>
              <a:rPr lang="en-US" altLang="zh-CN" baseline="-30000" dirty="0" err="1" smtClean="0"/>
              <a:t>Sname,Sdept</a:t>
            </a:r>
            <a:r>
              <a:rPr lang="en-US" altLang="zh-CN" dirty="0" smtClean="0"/>
              <a:t>(Student)</a:t>
            </a:r>
          </a:p>
          <a:p>
            <a:pPr lvl="1" algn="just" eaLnBrk="1" hangingPunct="1">
              <a:lnSpc>
                <a:spcPct val="120000"/>
              </a:lnSpc>
              <a:buFont typeface="Wingdings" panose="05000000000000000000" pitchFamily="2" charset="2"/>
              <a:buNone/>
            </a:pPr>
            <a:r>
              <a:rPr lang="zh-CN" altLang="en-US" dirty="0" smtClean="0"/>
              <a:t>结果：</a:t>
            </a:r>
          </a:p>
          <a:p>
            <a:pPr eaLnBrk="1" hangingPunct="1"/>
            <a:endParaRPr lang="en-US" altLang="zh-CN" dirty="0" smtClean="0"/>
          </a:p>
        </p:txBody>
      </p:sp>
      <p:graphicFrame>
        <p:nvGraphicFramePr>
          <p:cNvPr id="6" name="Group 124"/>
          <p:cNvGraphicFramePr>
            <a:graphicFrameLocks/>
          </p:cNvGraphicFramePr>
          <p:nvPr/>
        </p:nvGraphicFramePr>
        <p:xfrm>
          <a:off x="1908175" y="3452813"/>
          <a:ext cx="4679950" cy="2297110"/>
        </p:xfrm>
        <a:graphic>
          <a:graphicData uri="http://schemas.openxmlformats.org/drawingml/2006/table">
            <a:tbl>
              <a:tblPr/>
              <a:tblGrid>
                <a:gridCol w="2340781"/>
                <a:gridCol w="2339169"/>
              </a:tblGrid>
              <a:tr h="459422">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i="0" u="none" strike="noStrike" cap="none" normalizeH="0" baseline="0" dirty="0" err="1" smtClean="0">
                          <a:ln>
                            <a:noFill/>
                          </a:ln>
                          <a:solidFill>
                            <a:schemeClr val="tx1"/>
                          </a:solidFill>
                          <a:effectLst/>
                          <a:latin typeface="Arial" pitchFamily="34" charset="0"/>
                          <a:ea typeface="宋体" pitchFamily="2" charset="-122"/>
                        </a:rPr>
                        <a:t>Sname</a:t>
                      </a:r>
                      <a:endParaRPr kumimoji="0" lang="en-US" altLang="zh-CN" sz="2200" b="1" i="0" u="none" strike="noStrike" cap="none" normalizeH="0" baseline="0" dirty="0" smtClean="0">
                        <a:ln>
                          <a:noFill/>
                        </a:ln>
                        <a:solidFill>
                          <a:schemeClr val="tx1"/>
                        </a:solidFill>
                        <a:effectLst/>
                        <a:latin typeface="Arial" pitchFamily="34" charset="0"/>
                        <a:ea typeface="宋体" pitchFamily="2" charset="-122"/>
                      </a:endParaRPr>
                    </a:p>
                  </a:txBody>
                  <a:tcPr marL="89980" marR="8998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i="0" u="none" strike="noStrike" cap="none" normalizeH="0" baseline="0" smtClean="0">
                          <a:ln>
                            <a:noFill/>
                          </a:ln>
                          <a:solidFill>
                            <a:schemeClr val="tx1"/>
                          </a:solidFill>
                          <a:effectLst/>
                          <a:latin typeface="Arial" pitchFamily="34" charset="0"/>
                          <a:ea typeface="宋体" pitchFamily="2" charset="-122"/>
                        </a:rPr>
                        <a:t>Sdept</a:t>
                      </a:r>
                    </a:p>
                  </a:txBody>
                  <a:tcPr marL="89980" marR="8998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9422">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1" i="0" u="none" strike="noStrike" cap="none" normalizeH="0" baseline="0" smtClean="0">
                          <a:ln>
                            <a:noFill/>
                          </a:ln>
                          <a:solidFill>
                            <a:schemeClr val="tx1"/>
                          </a:solidFill>
                          <a:effectLst/>
                          <a:latin typeface="Arial" pitchFamily="34" charset="0"/>
                          <a:ea typeface="宋体" pitchFamily="2" charset="-122"/>
                        </a:rPr>
                        <a:t>李勇</a:t>
                      </a:r>
                    </a:p>
                  </a:txBody>
                  <a:tcPr marL="89980" marR="8998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i="0" u="none" strike="noStrike" cap="none" normalizeH="0" baseline="0" smtClean="0">
                          <a:ln>
                            <a:noFill/>
                          </a:ln>
                          <a:solidFill>
                            <a:schemeClr val="tx1"/>
                          </a:solidFill>
                          <a:effectLst/>
                          <a:latin typeface="Arial" pitchFamily="34" charset="0"/>
                          <a:ea typeface="宋体" pitchFamily="2" charset="-122"/>
                        </a:rPr>
                        <a:t>CS</a:t>
                      </a:r>
                    </a:p>
                  </a:txBody>
                  <a:tcPr marL="89980" marR="8998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9422">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1" i="0" u="none" strike="noStrike" cap="none" normalizeH="0" baseline="0" smtClean="0">
                          <a:ln>
                            <a:noFill/>
                          </a:ln>
                          <a:solidFill>
                            <a:schemeClr val="tx1"/>
                          </a:solidFill>
                          <a:effectLst/>
                          <a:latin typeface="Arial" pitchFamily="34" charset="0"/>
                          <a:ea typeface="宋体" pitchFamily="2" charset="-122"/>
                        </a:rPr>
                        <a:t>刘晨</a:t>
                      </a:r>
                    </a:p>
                  </a:txBody>
                  <a:tcPr marL="89980" marR="8998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i="0" u="none" strike="noStrike" cap="none" normalizeH="0" baseline="0" dirty="0" smtClean="0">
                          <a:ln>
                            <a:noFill/>
                          </a:ln>
                          <a:solidFill>
                            <a:schemeClr val="tx1"/>
                          </a:solidFill>
                          <a:effectLst/>
                          <a:latin typeface="Arial" pitchFamily="34" charset="0"/>
                          <a:ea typeface="宋体" pitchFamily="2" charset="-122"/>
                        </a:rPr>
                        <a:t>CS</a:t>
                      </a:r>
                    </a:p>
                  </a:txBody>
                  <a:tcPr marL="89980" marR="8998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9422">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1" i="0" u="none" strike="noStrike" cap="none" normalizeH="0" baseline="0" smtClean="0">
                          <a:ln>
                            <a:noFill/>
                          </a:ln>
                          <a:solidFill>
                            <a:schemeClr val="tx1"/>
                          </a:solidFill>
                          <a:effectLst/>
                          <a:latin typeface="Arial" pitchFamily="34" charset="0"/>
                          <a:ea typeface="宋体" pitchFamily="2" charset="-122"/>
                        </a:rPr>
                        <a:t>王敏</a:t>
                      </a:r>
                    </a:p>
                  </a:txBody>
                  <a:tcPr marL="89980" marR="8998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i="0" u="none" strike="noStrike" cap="none" normalizeH="0" baseline="0" smtClean="0">
                          <a:ln>
                            <a:noFill/>
                          </a:ln>
                          <a:solidFill>
                            <a:schemeClr val="tx1"/>
                          </a:solidFill>
                          <a:effectLst/>
                          <a:latin typeface="Arial" pitchFamily="34" charset="0"/>
                          <a:ea typeface="宋体" pitchFamily="2" charset="-122"/>
                        </a:rPr>
                        <a:t>MA</a:t>
                      </a:r>
                    </a:p>
                  </a:txBody>
                  <a:tcPr marL="89980" marR="8998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9422">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1" i="0" u="none" strike="noStrike" cap="none" normalizeH="0" baseline="0" smtClean="0">
                          <a:ln>
                            <a:noFill/>
                          </a:ln>
                          <a:solidFill>
                            <a:schemeClr val="tx1"/>
                          </a:solidFill>
                          <a:effectLst/>
                          <a:latin typeface="Arial" pitchFamily="34" charset="0"/>
                          <a:ea typeface="宋体" pitchFamily="2" charset="-122"/>
                        </a:rPr>
                        <a:t>张立</a:t>
                      </a:r>
                    </a:p>
                  </a:txBody>
                  <a:tcPr marL="89980" marR="8998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i="0" u="none" strike="noStrike" cap="none" normalizeH="0" baseline="0" dirty="0" smtClean="0">
                          <a:ln>
                            <a:noFill/>
                          </a:ln>
                          <a:solidFill>
                            <a:schemeClr val="tx1"/>
                          </a:solidFill>
                          <a:effectLst/>
                          <a:latin typeface="Arial" pitchFamily="34" charset="0"/>
                          <a:ea typeface="宋体" pitchFamily="2" charset="-122"/>
                        </a:rPr>
                        <a:t>IS</a:t>
                      </a:r>
                    </a:p>
                  </a:txBody>
                  <a:tcPr marL="89980" marR="8998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66402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3187">
                                            <p:txEl>
                                              <p:pRg st="2" end="2"/>
                                            </p:txEl>
                                          </p:spTgt>
                                        </p:tgtEl>
                                        <p:attrNameLst>
                                          <p:attrName>style.visibility</p:attrName>
                                        </p:attrNameLst>
                                      </p:cBhvr>
                                      <p:to>
                                        <p:strVal val="visible"/>
                                      </p:to>
                                    </p:set>
                                    <p:anim calcmode="lin" valueType="num">
                                      <p:cBhvr additive="base">
                                        <p:cTn id="7" dur="500" fill="hold"/>
                                        <p:tgtEl>
                                          <p:spTgt spid="9318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31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914400" y="115888"/>
            <a:ext cx="7391400" cy="563562"/>
          </a:xfrm>
        </p:spPr>
        <p:txBody>
          <a:bodyPr>
            <a:normAutofit fontScale="90000"/>
          </a:bodyPr>
          <a:lstStyle/>
          <a:p>
            <a:pPr eaLnBrk="1" hangingPunct="1"/>
            <a:r>
              <a:rPr lang="zh-CN" altLang="en-US" sz="3600" smtClean="0"/>
              <a:t>投影（续）</a:t>
            </a:r>
          </a:p>
        </p:txBody>
      </p:sp>
      <p:sp>
        <p:nvSpPr>
          <p:cNvPr id="94211" name="Rectangle 3"/>
          <p:cNvSpPr>
            <a:spLocks noGrp="1" noChangeArrowheads="1"/>
          </p:cNvSpPr>
          <p:nvPr>
            <p:ph type="body" sz="half" idx="1"/>
          </p:nvPr>
        </p:nvSpPr>
        <p:spPr>
          <a:xfrm>
            <a:off x="684213" y="1412875"/>
            <a:ext cx="8351837" cy="2105025"/>
          </a:xfrm>
        </p:spPr>
        <p:txBody>
          <a:bodyPr/>
          <a:lstStyle/>
          <a:p>
            <a:pPr algn="just" eaLnBrk="1" hangingPunct="1">
              <a:buFont typeface="Wingdings" panose="05000000000000000000" pitchFamily="2" charset="2"/>
              <a:buNone/>
            </a:pPr>
            <a:r>
              <a:rPr lang="en-US" altLang="zh-CN" dirty="0" smtClean="0"/>
              <a:t>[</a:t>
            </a:r>
            <a:r>
              <a:rPr lang="zh-CN" altLang="en-US" dirty="0" smtClean="0">
                <a:ea typeface="黑体" panose="02010609060101010101" pitchFamily="49" charset="-122"/>
              </a:rPr>
              <a:t>例</a:t>
            </a:r>
            <a:r>
              <a:rPr lang="en-US" altLang="zh-CN" dirty="0" smtClean="0">
                <a:ea typeface="黑体" panose="02010609060101010101" pitchFamily="49" charset="-122"/>
              </a:rPr>
              <a:t>2.7</a:t>
            </a:r>
            <a:r>
              <a:rPr lang="en-US" altLang="zh-CN" dirty="0" smtClean="0"/>
              <a:t>]  </a:t>
            </a:r>
            <a:r>
              <a:rPr lang="zh-CN" altLang="en-US" dirty="0" smtClean="0"/>
              <a:t>查询学生关系</a:t>
            </a:r>
            <a:r>
              <a:rPr lang="en-US" altLang="zh-CN" dirty="0" smtClean="0"/>
              <a:t>Student</a:t>
            </a:r>
            <a:r>
              <a:rPr lang="zh-CN" altLang="en-US" dirty="0" smtClean="0"/>
              <a:t>中都有哪些系。</a:t>
            </a:r>
            <a:r>
              <a:rPr lang="zh-CN" altLang="en-US" sz="2400" dirty="0" smtClean="0"/>
              <a:t>           </a:t>
            </a:r>
          </a:p>
          <a:p>
            <a:pPr algn="just" eaLnBrk="1" hangingPunct="1">
              <a:buFont typeface="Wingdings" panose="05000000000000000000" pitchFamily="2" charset="2"/>
              <a:buNone/>
            </a:pPr>
            <a:r>
              <a:rPr lang="zh-CN" altLang="en-US" sz="2400" dirty="0" smtClean="0"/>
              <a:t>             </a:t>
            </a:r>
            <a:r>
              <a:rPr lang="en-US" altLang="zh-CN" sz="2400" dirty="0" smtClean="0"/>
              <a:t>π</a:t>
            </a:r>
            <a:r>
              <a:rPr lang="en-US" altLang="zh-CN" sz="2400" baseline="-30000" dirty="0" err="1" smtClean="0"/>
              <a:t>Sdept</a:t>
            </a:r>
            <a:r>
              <a:rPr lang="en-US" altLang="zh-CN" sz="2400" dirty="0" smtClean="0"/>
              <a:t>(Student)</a:t>
            </a:r>
          </a:p>
          <a:p>
            <a:pPr eaLnBrk="1" hangingPunct="1">
              <a:buFont typeface="Wingdings" panose="05000000000000000000" pitchFamily="2" charset="2"/>
              <a:buNone/>
            </a:pPr>
            <a:endParaRPr lang="en-US" altLang="zh-CN" sz="2400" dirty="0" smtClean="0"/>
          </a:p>
          <a:p>
            <a:pPr eaLnBrk="1" hangingPunct="1">
              <a:buFont typeface="Wingdings" panose="05000000000000000000" pitchFamily="2" charset="2"/>
              <a:buNone/>
            </a:pPr>
            <a:r>
              <a:rPr lang="en-US" altLang="zh-CN" sz="2400" dirty="0" smtClean="0"/>
              <a:t>	</a:t>
            </a:r>
            <a:r>
              <a:rPr lang="zh-CN" altLang="en-US" sz="2400" dirty="0" smtClean="0"/>
              <a:t>结果：</a:t>
            </a:r>
          </a:p>
        </p:txBody>
      </p:sp>
      <p:graphicFrame>
        <p:nvGraphicFramePr>
          <p:cNvPr id="351299" name="Group 67"/>
          <p:cNvGraphicFramePr>
            <a:graphicFrameLocks noGrp="1"/>
          </p:cNvGraphicFramePr>
          <p:nvPr>
            <p:ph sz="half" idx="2"/>
            <p:extLst>
              <p:ext uri="{D42A27DB-BD31-4B8C-83A1-F6EECF244321}">
                <p14:modId xmlns:p14="http://schemas.microsoft.com/office/powerpoint/2010/main" val="1327968206"/>
              </p:ext>
            </p:extLst>
          </p:nvPr>
        </p:nvGraphicFramePr>
        <p:xfrm>
          <a:off x="2437907" y="2465387"/>
          <a:ext cx="1658937" cy="1593600"/>
        </p:xfrm>
        <a:graphic>
          <a:graphicData uri="http://schemas.openxmlformats.org/drawingml/2006/table">
            <a:tbl>
              <a:tblPr/>
              <a:tblGrid>
                <a:gridCol w="1658937"/>
              </a:tblGrid>
              <a:tr h="375184">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1" i="0" u="none" strike="noStrike" cap="none" normalizeH="0" baseline="0" dirty="0" err="1" smtClean="0">
                          <a:ln>
                            <a:noFill/>
                          </a:ln>
                          <a:solidFill>
                            <a:schemeClr val="tx1"/>
                          </a:solidFill>
                          <a:effectLst/>
                          <a:latin typeface="Arial" pitchFamily="34" charset="0"/>
                          <a:ea typeface="宋体" pitchFamily="2" charset="-122"/>
                        </a:rPr>
                        <a:t>Sdept</a:t>
                      </a:r>
                      <a:endParaRPr kumimoji="0" lang="en-US" altLang="zh-CN" sz="20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5184">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1" i="0" u="none" strike="noStrike" cap="none" normalizeH="0" baseline="0" dirty="0" smtClean="0">
                          <a:ln>
                            <a:noFill/>
                          </a:ln>
                          <a:solidFill>
                            <a:schemeClr val="tx1"/>
                          </a:solidFill>
                          <a:effectLst/>
                          <a:latin typeface="Arial" pitchFamily="34" charset="0"/>
                          <a:ea typeface="宋体" pitchFamily="2" charset="-122"/>
                        </a:rPr>
                        <a:t>CS</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5184">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1" i="0" u="none" strike="noStrike" cap="none" normalizeH="0" baseline="0" dirty="0" smtClean="0">
                          <a:ln>
                            <a:noFill/>
                          </a:ln>
                          <a:solidFill>
                            <a:schemeClr val="tx1"/>
                          </a:solidFill>
                          <a:effectLst/>
                          <a:latin typeface="Arial" pitchFamily="34" charset="0"/>
                          <a:ea typeface="宋体" pitchFamily="2" charset="-122"/>
                        </a:rPr>
                        <a:t>IS</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5184">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000" b="1" i="0" u="none" strike="noStrike" cap="none" normalizeH="0" baseline="0" dirty="0" smtClean="0">
                          <a:ln>
                            <a:noFill/>
                          </a:ln>
                          <a:solidFill>
                            <a:schemeClr val="tx1"/>
                          </a:solidFill>
                          <a:effectLst/>
                          <a:latin typeface="Arial" pitchFamily="34" charset="0"/>
                          <a:ea typeface="宋体" pitchFamily="2" charset="-122"/>
                        </a:rPr>
                        <a:t>MA</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 name="Rectangle 83"/>
          <p:cNvSpPr>
            <a:spLocks noChangeArrowheads="1"/>
          </p:cNvSpPr>
          <p:nvPr/>
        </p:nvSpPr>
        <p:spPr bwMode="auto">
          <a:xfrm>
            <a:off x="457200" y="3645802"/>
            <a:ext cx="914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200" dirty="0"/>
              <a:t> </a:t>
            </a:r>
            <a:r>
              <a:rPr lang="en-US" altLang="zh-CN" sz="2200" b="1" dirty="0"/>
              <a:t>Student</a:t>
            </a:r>
          </a:p>
        </p:txBody>
      </p:sp>
      <p:graphicFrame>
        <p:nvGraphicFramePr>
          <p:cNvPr id="6" name="Group 271"/>
          <p:cNvGraphicFramePr>
            <a:graphicFrameLocks/>
          </p:cNvGraphicFramePr>
          <p:nvPr>
            <p:extLst>
              <p:ext uri="{D42A27DB-BD31-4B8C-83A1-F6EECF244321}">
                <p14:modId xmlns:p14="http://schemas.microsoft.com/office/powerpoint/2010/main" val="2269761414"/>
              </p:ext>
            </p:extLst>
          </p:nvPr>
        </p:nvGraphicFramePr>
        <p:xfrm>
          <a:off x="421977" y="4168754"/>
          <a:ext cx="8059048" cy="2689246"/>
        </p:xfrm>
        <a:graphic>
          <a:graphicData uri="http://schemas.openxmlformats.org/drawingml/2006/table">
            <a:tbl>
              <a:tblPr>
                <a:tableStyleId>{2D5ABB26-0587-4C30-8999-92F81FD0307C}</a:tableStyleId>
              </a:tblPr>
              <a:tblGrid>
                <a:gridCol w="1612121"/>
                <a:gridCol w="1612120"/>
                <a:gridCol w="1610566"/>
                <a:gridCol w="1612121"/>
                <a:gridCol w="1612120"/>
              </a:tblGrid>
              <a:tr h="763964">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1" u="none" strike="noStrike" cap="none" normalizeH="0" baseline="0" dirty="0" smtClean="0">
                          <a:ln>
                            <a:noFill/>
                          </a:ln>
                          <a:effectLst/>
                        </a:rPr>
                        <a:t>学号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u="none" strike="noStrike" cap="none" normalizeH="0" baseline="0" dirty="0" err="1" smtClean="0">
                          <a:ln>
                            <a:noFill/>
                          </a:ln>
                          <a:effectLst/>
                        </a:rPr>
                        <a:t>Sno</a:t>
                      </a:r>
                      <a:endParaRPr kumimoji="0" lang="en-US" altLang="zh-CN" sz="22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1" u="none" strike="noStrike" cap="none" normalizeH="0" baseline="0" dirty="0" smtClean="0">
                          <a:ln>
                            <a:noFill/>
                          </a:ln>
                          <a:effectLst/>
                        </a:rPr>
                        <a:t>姓名</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u="none" strike="noStrike" cap="none" normalizeH="0" baseline="0" dirty="0" err="1" smtClean="0">
                          <a:ln>
                            <a:noFill/>
                          </a:ln>
                          <a:effectLst/>
                        </a:rPr>
                        <a:t>Sname</a:t>
                      </a:r>
                      <a:endParaRPr kumimoji="0" lang="en-US" altLang="zh-CN" sz="22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1" u="none" strike="noStrike" cap="none" normalizeH="0" baseline="0" dirty="0" smtClean="0">
                          <a:ln>
                            <a:noFill/>
                          </a:ln>
                          <a:effectLst/>
                        </a:rPr>
                        <a:t>性别</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u="none" strike="noStrike" cap="none" normalizeH="0" baseline="0" dirty="0" err="1" smtClean="0">
                          <a:ln>
                            <a:noFill/>
                          </a:ln>
                          <a:effectLst/>
                        </a:rPr>
                        <a:t>Ssex</a:t>
                      </a:r>
                      <a:endParaRPr kumimoji="0" lang="en-US" altLang="zh-CN" sz="22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1" u="none" strike="noStrike" cap="none" normalizeH="0" baseline="0" smtClean="0">
                          <a:ln>
                            <a:noFill/>
                          </a:ln>
                          <a:effectLst/>
                        </a:rPr>
                        <a:t>年龄</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u="none" strike="noStrike" cap="none" normalizeH="0" baseline="0" smtClean="0">
                          <a:ln>
                            <a:noFill/>
                          </a:ln>
                          <a:effectLst/>
                        </a:rPr>
                        <a:t>Sage</a:t>
                      </a:r>
                      <a:endParaRPr kumimoji="0" lang="en-US" altLang="zh-CN" sz="22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1" u="none" strike="noStrike" cap="none" normalizeH="0" baseline="0" smtClean="0">
                          <a:ln>
                            <a:noFill/>
                          </a:ln>
                          <a:effectLst/>
                        </a:rPr>
                        <a:t>所在系</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u="none" strike="noStrike" cap="none" normalizeH="0" baseline="0" smtClean="0">
                          <a:ln>
                            <a:noFill/>
                          </a:ln>
                          <a:effectLst/>
                        </a:rPr>
                        <a:t>Sdept</a:t>
                      </a:r>
                      <a:endParaRPr kumimoji="0" lang="en-US" altLang="zh-CN" sz="22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65087">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u="none" strike="noStrike" cap="none" normalizeH="0" baseline="0" dirty="0" smtClean="0">
                          <a:ln>
                            <a:noFill/>
                          </a:ln>
                          <a:effectLst/>
                        </a:rPr>
                        <a:t>201215121</a:t>
                      </a:r>
                      <a:endParaRPr kumimoji="0" lang="en-US" altLang="zh-CN" sz="22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1" u="none" strike="noStrike" cap="none" normalizeH="0" baseline="0" smtClean="0">
                          <a:ln>
                            <a:noFill/>
                          </a:ln>
                          <a:effectLst/>
                        </a:rPr>
                        <a:t>李勇</a:t>
                      </a:r>
                      <a:endParaRPr kumimoji="0" lang="zh-CN" altLang="en-US" sz="22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1" u="none" strike="noStrike" cap="none" normalizeH="0" baseline="0" dirty="0" smtClean="0">
                          <a:ln>
                            <a:noFill/>
                          </a:ln>
                          <a:effectLst/>
                        </a:rPr>
                        <a:t>男</a:t>
                      </a:r>
                      <a:endParaRPr kumimoji="0" lang="zh-CN" altLang="en-US" sz="22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u="none" strike="noStrike" cap="none" normalizeH="0" baseline="0" dirty="0" smtClean="0">
                          <a:ln>
                            <a:noFill/>
                          </a:ln>
                          <a:effectLst/>
                        </a:rPr>
                        <a:t>20</a:t>
                      </a:r>
                      <a:endParaRPr kumimoji="0" lang="en-US" altLang="zh-CN" sz="22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u="none" strike="noStrike" cap="none" normalizeH="0" baseline="0" dirty="0" smtClean="0">
                          <a:ln>
                            <a:noFill/>
                          </a:ln>
                          <a:effectLst/>
                        </a:rPr>
                        <a:t>CS</a:t>
                      </a:r>
                      <a:endParaRPr kumimoji="0" lang="en-US" altLang="zh-CN" sz="22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63942">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u="none" strike="noStrike" cap="none" normalizeH="0" baseline="0" dirty="0" smtClean="0">
                          <a:ln>
                            <a:noFill/>
                          </a:ln>
                          <a:effectLst/>
                        </a:rPr>
                        <a:t>201215122</a:t>
                      </a:r>
                      <a:endParaRPr kumimoji="0" lang="en-US" altLang="zh-CN" sz="22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1" u="none" strike="noStrike" cap="none" normalizeH="0" baseline="0" smtClean="0">
                          <a:ln>
                            <a:noFill/>
                          </a:ln>
                          <a:effectLst/>
                        </a:rPr>
                        <a:t>刘晨</a:t>
                      </a:r>
                      <a:endParaRPr kumimoji="0" lang="zh-CN" altLang="en-US" sz="22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1" u="none" strike="noStrike" cap="none" normalizeH="0" baseline="0" smtClean="0">
                          <a:ln>
                            <a:noFill/>
                          </a:ln>
                          <a:effectLst/>
                        </a:rPr>
                        <a:t>女</a:t>
                      </a:r>
                      <a:endParaRPr kumimoji="0" lang="zh-CN" altLang="en-US" sz="22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u="none" strike="noStrike" cap="none" normalizeH="0" baseline="0" dirty="0" smtClean="0">
                          <a:ln>
                            <a:noFill/>
                          </a:ln>
                          <a:effectLst/>
                        </a:rPr>
                        <a:t>19</a:t>
                      </a:r>
                      <a:endParaRPr kumimoji="0" lang="en-US" altLang="zh-CN" sz="22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u="none" strike="noStrike" cap="none" normalizeH="0" baseline="0" dirty="0" smtClean="0">
                          <a:ln>
                            <a:noFill/>
                          </a:ln>
                          <a:effectLst/>
                        </a:rPr>
                        <a:t>CS</a:t>
                      </a:r>
                      <a:endParaRPr kumimoji="0" lang="en-US" altLang="zh-CN" sz="22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63942">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u="none" strike="noStrike" cap="none" normalizeH="0" baseline="0" dirty="0" smtClean="0">
                          <a:ln>
                            <a:noFill/>
                          </a:ln>
                          <a:effectLst/>
                        </a:rPr>
                        <a:t>201215123</a:t>
                      </a:r>
                      <a:endParaRPr kumimoji="0" lang="en-US" altLang="zh-CN" sz="22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1" u="none" strike="noStrike" cap="none" normalizeH="0" baseline="0" smtClean="0">
                          <a:ln>
                            <a:noFill/>
                          </a:ln>
                          <a:effectLst/>
                        </a:rPr>
                        <a:t>王敏</a:t>
                      </a:r>
                      <a:endParaRPr kumimoji="0" lang="zh-CN" altLang="en-US" sz="22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1" u="none" strike="noStrike" cap="none" normalizeH="0" baseline="0" smtClean="0">
                          <a:ln>
                            <a:noFill/>
                          </a:ln>
                          <a:effectLst/>
                        </a:rPr>
                        <a:t>女</a:t>
                      </a:r>
                      <a:endParaRPr kumimoji="0" lang="zh-CN" altLang="en-US" sz="22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u="none" strike="noStrike" cap="none" normalizeH="0" baseline="0" dirty="0" smtClean="0">
                          <a:ln>
                            <a:noFill/>
                          </a:ln>
                          <a:effectLst/>
                        </a:rPr>
                        <a:t>18</a:t>
                      </a:r>
                      <a:endParaRPr kumimoji="0" lang="en-US" altLang="zh-CN" sz="22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u="none" strike="noStrike" cap="none" normalizeH="0" baseline="0" dirty="0" smtClean="0">
                          <a:ln>
                            <a:noFill/>
                          </a:ln>
                          <a:effectLst/>
                        </a:rPr>
                        <a:t>MA</a:t>
                      </a:r>
                      <a:endParaRPr kumimoji="0" lang="en-US" altLang="zh-CN" sz="22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65087">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u="none" strike="noStrike" cap="none" normalizeH="0" baseline="0" dirty="0" smtClean="0">
                          <a:ln>
                            <a:noFill/>
                          </a:ln>
                          <a:effectLst/>
                        </a:rPr>
                        <a:t>201215125</a:t>
                      </a:r>
                      <a:endParaRPr kumimoji="0" lang="en-US" altLang="zh-CN" sz="22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1" u="none" strike="noStrike" cap="none" normalizeH="0" baseline="0" dirty="0" smtClean="0">
                          <a:ln>
                            <a:noFill/>
                          </a:ln>
                          <a:effectLst/>
                        </a:rPr>
                        <a:t>张立</a:t>
                      </a:r>
                      <a:endParaRPr kumimoji="0" lang="zh-CN" altLang="en-US" sz="22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2200" b="1" u="none" strike="noStrike" cap="none" normalizeH="0" baseline="0" smtClean="0">
                          <a:ln>
                            <a:noFill/>
                          </a:ln>
                          <a:effectLst/>
                        </a:rPr>
                        <a:t>男</a:t>
                      </a:r>
                      <a:endParaRPr kumimoji="0" lang="zh-CN" altLang="en-US" sz="22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u="none" strike="noStrike" cap="none" normalizeH="0" baseline="0" smtClean="0">
                          <a:ln>
                            <a:noFill/>
                          </a:ln>
                          <a:effectLst/>
                        </a:rPr>
                        <a:t>19</a:t>
                      </a:r>
                      <a:endParaRPr kumimoji="0" lang="en-US" altLang="zh-CN" sz="22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u="none" strike="noStrike" cap="none" normalizeH="0" baseline="0" dirty="0" smtClean="0">
                          <a:ln>
                            <a:noFill/>
                          </a:ln>
                          <a:effectLst/>
                        </a:rPr>
                        <a:t>IS</a:t>
                      </a:r>
                      <a:endParaRPr kumimoji="0" lang="en-US" altLang="zh-CN" sz="22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extLst>
      <p:ext uri="{BB962C8B-B14F-4D97-AF65-F5344CB8AC3E}">
        <p14:creationId xmlns:p14="http://schemas.microsoft.com/office/powerpoint/2010/main" val="77969841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914400" y="115888"/>
            <a:ext cx="7391400" cy="563562"/>
          </a:xfrm>
        </p:spPr>
        <p:txBody>
          <a:bodyPr>
            <a:normAutofit fontScale="90000"/>
          </a:bodyPr>
          <a:lstStyle/>
          <a:p>
            <a:pPr eaLnBrk="1" hangingPunct="1"/>
            <a:r>
              <a:rPr lang="zh-CN" altLang="en-US" sz="3600" smtClean="0"/>
              <a:t>投影（续）</a:t>
            </a:r>
          </a:p>
        </p:txBody>
      </p:sp>
      <p:sp>
        <p:nvSpPr>
          <p:cNvPr id="94211" name="Rectangle 3"/>
          <p:cNvSpPr>
            <a:spLocks noGrp="1" noChangeArrowheads="1"/>
          </p:cNvSpPr>
          <p:nvPr>
            <p:ph type="body" sz="half" idx="1"/>
          </p:nvPr>
        </p:nvSpPr>
        <p:spPr>
          <a:xfrm>
            <a:off x="246891" y="1476485"/>
            <a:ext cx="8351837" cy="2451459"/>
          </a:xfrm>
        </p:spPr>
        <p:txBody>
          <a:bodyPr>
            <a:normAutofit lnSpcReduction="10000"/>
          </a:bodyPr>
          <a:lstStyle/>
          <a:p>
            <a:pPr marL="0" indent="0">
              <a:buNone/>
            </a:pPr>
            <a:r>
              <a:rPr lang="zh-CN" altLang="en-US" b="1" dirty="0" smtClean="0"/>
              <a:t>下面</a:t>
            </a:r>
            <a:r>
              <a:rPr lang="en-US" altLang="zh-CN" b="1" dirty="0" smtClean="0"/>
              <a:t>SQL</a:t>
            </a:r>
            <a:r>
              <a:rPr lang="zh-CN" altLang="en-US" b="1" dirty="0" smtClean="0"/>
              <a:t>指令是否用了投影？？</a:t>
            </a:r>
            <a:endParaRPr lang="en-US" altLang="zh-CN" b="1" dirty="0" smtClean="0"/>
          </a:p>
          <a:p>
            <a:pPr marL="0" indent="0">
              <a:buNone/>
            </a:pPr>
            <a:r>
              <a:rPr lang="en-US" altLang="zh-CN" b="1" dirty="0" smtClean="0"/>
              <a:t>        </a:t>
            </a:r>
          </a:p>
          <a:p>
            <a:pPr marL="0" indent="0">
              <a:buNone/>
            </a:pPr>
            <a:r>
              <a:rPr lang="en-US" altLang="zh-CN" b="1" dirty="0" smtClean="0"/>
              <a:t>SELECT </a:t>
            </a:r>
            <a:r>
              <a:rPr lang="en-US" altLang="zh-CN" b="1" dirty="0" err="1"/>
              <a:t>ename</a:t>
            </a:r>
            <a:r>
              <a:rPr lang="en-US" altLang="zh-CN" b="1" dirty="0"/>
              <a:t>, </a:t>
            </a:r>
            <a:r>
              <a:rPr lang="en-US" altLang="zh-CN" b="1" dirty="0" err="1"/>
              <a:t>empno</a:t>
            </a:r>
            <a:r>
              <a:rPr lang="en-US" altLang="zh-CN" b="1" dirty="0"/>
              <a:t>, </a:t>
            </a:r>
            <a:r>
              <a:rPr lang="en-US" altLang="zh-CN" b="1" dirty="0" err="1"/>
              <a:t>deptno</a:t>
            </a:r>
            <a:endParaRPr lang="zh-CN" altLang="zh-CN" dirty="0"/>
          </a:p>
          <a:p>
            <a:pPr marL="0" indent="0">
              <a:buNone/>
            </a:pPr>
            <a:r>
              <a:rPr lang="en-US" altLang="zh-CN" b="1" dirty="0"/>
              <a:t>		FROM </a:t>
            </a:r>
            <a:r>
              <a:rPr lang="en-US" altLang="zh-CN" b="1" dirty="0" err="1"/>
              <a:t>emp</a:t>
            </a:r>
            <a:endParaRPr lang="zh-CN" altLang="zh-CN" dirty="0"/>
          </a:p>
          <a:p>
            <a:pPr marL="0" indent="0">
              <a:buNone/>
            </a:pPr>
            <a:r>
              <a:rPr lang="en-US" altLang="zh-CN" b="1" dirty="0"/>
              <a:t>		WHERE job = 'CLERK';</a:t>
            </a:r>
            <a:endParaRPr lang="zh-CN" altLang="zh-CN" dirty="0"/>
          </a:p>
        </p:txBody>
      </p:sp>
    </p:spTree>
    <p:extLst>
      <p:ext uri="{BB962C8B-B14F-4D97-AF65-F5344CB8AC3E}">
        <p14:creationId xmlns:p14="http://schemas.microsoft.com/office/powerpoint/2010/main" val="115137567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r>
              <a:rPr lang="en-US" altLang="zh-CN" sz="3600" smtClean="0"/>
              <a:t>3. </a:t>
            </a:r>
            <a:r>
              <a:rPr lang="zh-CN" altLang="en-US" sz="3600" smtClean="0"/>
              <a:t>连接（</a:t>
            </a:r>
            <a:r>
              <a:rPr lang="en-US" altLang="zh-CN" sz="3600" smtClean="0"/>
              <a:t>Join</a:t>
            </a:r>
            <a:r>
              <a:rPr lang="zh-CN" altLang="en-US" sz="3600" smtClean="0"/>
              <a:t>） </a:t>
            </a:r>
          </a:p>
        </p:txBody>
      </p:sp>
      <p:sp>
        <p:nvSpPr>
          <p:cNvPr id="95235" name="Rectangle 3"/>
          <p:cNvSpPr>
            <a:spLocks noGrp="1" noChangeArrowheads="1"/>
          </p:cNvSpPr>
          <p:nvPr>
            <p:ph type="body" idx="1"/>
          </p:nvPr>
        </p:nvSpPr>
        <p:spPr>
          <a:xfrm>
            <a:off x="900113" y="1098550"/>
            <a:ext cx="7772400" cy="4860925"/>
          </a:xfrm>
        </p:spPr>
        <p:txBody>
          <a:bodyPr/>
          <a:lstStyle/>
          <a:p>
            <a:pPr algn="just" eaLnBrk="1" hangingPunct="1">
              <a:lnSpc>
                <a:spcPct val="120000"/>
              </a:lnSpc>
            </a:pPr>
            <a:r>
              <a:rPr lang="zh-CN" altLang="en-US" sz="2400" dirty="0" smtClean="0"/>
              <a:t>连接也称为</a:t>
            </a:r>
            <a:r>
              <a:rPr lang="en-US" altLang="zh-CN" sz="2400" dirty="0" smtClean="0"/>
              <a:t>θ</a:t>
            </a:r>
            <a:r>
              <a:rPr lang="zh-CN" altLang="en-US" sz="2400" dirty="0" smtClean="0"/>
              <a:t>连接</a:t>
            </a:r>
          </a:p>
          <a:p>
            <a:pPr algn="just" eaLnBrk="1" hangingPunct="1">
              <a:lnSpc>
                <a:spcPct val="120000"/>
              </a:lnSpc>
            </a:pPr>
            <a:r>
              <a:rPr lang="zh-CN" altLang="en-US" sz="2400" dirty="0" smtClean="0"/>
              <a:t>连接运算的含义</a:t>
            </a:r>
          </a:p>
          <a:p>
            <a:pPr marL="819150" lvl="1" algn="just" eaLnBrk="1" hangingPunct="1">
              <a:lnSpc>
                <a:spcPct val="120000"/>
              </a:lnSpc>
              <a:buFont typeface="Wingdings" panose="05000000000000000000" pitchFamily="2" charset="2"/>
              <a:buNone/>
            </a:pPr>
            <a:r>
              <a:rPr lang="zh-CN" altLang="en-US" sz="2200" dirty="0" smtClean="0"/>
              <a:t>从两个关系的笛卡尔积中选取属性间满足一定条件的元组</a:t>
            </a:r>
          </a:p>
          <a:p>
            <a:pPr marL="819150" lvl="1" algn="just" eaLnBrk="1" hangingPunct="1">
              <a:lnSpc>
                <a:spcPct val="120000"/>
              </a:lnSpc>
              <a:buFont typeface="Wingdings" panose="05000000000000000000" pitchFamily="2" charset="2"/>
              <a:buNone/>
            </a:pPr>
            <a:r>
              <a:rPr lang="zh-CN" altLang="en-US" sz="2000" i="1" dirty="0" smtClean="0"/>
              <a:t>	</a:t>
            </a:r>
            <a:r>
              <a:rPr lang="zh-CN" altLang="en-US" sz="2000" dirty="0" smtClean="0"/>
              <a:t> </a:t>
            </a:r>
            <a:r>
              <a:rPr lang="en-US" altLang="zh-CN" sz="2000" i="1" dirty="0" smtClean="0"/>
              <a:t>R         S</a:t>
            </a:r>
            <a:r>
              <a:rPr lang="en-US" altLang="zh-CN" sz="2000" dirty="0" smtClean="0"/>
              <a:t> = {          | </a:t>
            </a:r>
            <a:r>
              <a:rPr lang="en-US" altLang="zh-CN" sz="2000" i="1" dirty="0" err="1" smtClean="0"/>
              <a:t>t</a:t>
            </a:r>
            <a:r>
              <a:rPr lang="en-US" altLang="zh-CN" sz="2000" baseline="-30000" dirty="0" err="1" smtClean="0"/>
              <a:t>r</a:t>
            </a:r>
            <a:r>
              <a:rPr lang="en-US" altLang="zh-CN" sz="2000" i="1" baseline="-30000" dirty="0" smtClean="0"/>
              <a:t> </a:t>
            </a:r>
            <a:r>
              <a:rPr lang="en-US" altLang="zh-CN" sz="2000" dirty="0" smtClean="0">
                <a:sym typeface="Symbol" panose="05050102010706020507" pitchFamily="18" charset="2"/>
              </a:rPr>
              <a:t></a:t>
            </a:r>
            <a:r>
              <a:rPr lang="en-US" altLang="zh-CN" sz="2000" dirty="0" smtClean="0"/>
              <a:t> </a:t>
            </a:r>
            <a:r>
              <a:rPr lang="en-US" altLang="zh-CN" sz="2000" i="1" dirty="0" err="1" smtClean="0"/>
              <a:t>R</a:t>
            </a:r>
            <a:r>
              <a:rPr lang="en-US" altLang="zh-CN" sz="2000" dirty="0" err="1" smtClean="0"/>
              <a:t>∧</a:t>
            </a:r>
            <a:r>
              <a:rPr lang="en-US" altLang="zh-CN" sz="2000" i="1" dirty="0" err="1" smtClean="0"/>
              <a:t>t</a:t>
            </a:r>
            <a:r>
              <a:rPr lang="en-US" altLang="zh-CN" sz="2000" baseline="-30000" dirty="0" err="1" smtClean="0"/>
              <a:t>s</a:t>
            </a:r>
            <a:r>
              <a:rPr lang="en-US" altLang="zh-CN" sz="2000" i="1" baseline="-30000" dirty="0" smtClean="0"/>
              <a:t> </a:t>
            </a:r>
            <a:r>
              <a:rPr lang="en-US" altLang="zh-CN" sz="2000" dirty="0" smtClean="0">
                <a:sym typeface="Symbol" panose="05050102010706020507" pitchFamily="18" charset="2"/>
              </a:rPr>
              <a:t></a:t>
            </a:r>
            <a:r>
              <a:rPr lang="en-US" altLang="zh-CN" sz="2000" i="1" dirty="0" err="1" smtClean="0"/>
              <a:t>S</a:t>
            </a:r>
            <a:r>
              <a:rPr lang="en-US" altLang="zh-CN" sz="2000" dirty="0" err="1" smtClean="0"/>
              <a:t>∧</a:t>
            </a:r>
            <a:r>
              <a:rPr lang="en-US" altLang="zh-CN" sz="2000" i="1" dirty="0" err="1" smtClean="0"/>
              <a:t>t</a:t>
            </a:r>
            <a:r>
              <a:rPr lang="en-US" altLang="zh-CN" sz="2000" baseline="-30000" dirty="0" err="1" smtClean="0"/>
              <a:t>r</a:t>
            </a:r>
            <a:r>
              <a:rPr lang="en-US" altLang="zh-CN" sz="2000" dirty="0" smtClean="0"/>
              <a:t>[</a:t>
            </a:r>
            <a:r>
              <a:rPr lang="en-US" altLang="zh-CN" sz="2000" i="1" dirty="0" smtClean="0"/>
              <a:t>A</a:t>
            </a:r>
            <a:r>
              <a:rPr lang="en-US" altLang="zh-CN" sz="2000" dirty="0" smtClean="0"/>
              <a:t>]</a:t>
            </a:r>
            <a:r>
              <a:rPr lang="en-US" altLang="zh-CN" sz="2000" dirty="0" err="1" smtClean="0"/>
              <a:t>θ</a:t>
            </a:r>
            <a:r>
              <a:rPr lang="en-US" altLang="zh-CN" sz="2000" i="1" dirty="0" err="1" smtClean="0"/>
              <a:t>t</a:t>
            </a:r>
            <a:r>
              <a:rPr lang="en-US" altLang="zh-CN" sz="2000" baseline="-30000" dirty="0" err="1" smtClean="0"/>
              <a:t>s</a:t>
            </a:r>
            <a:r>
              <a:rPr lang="en-US" altLang="zh-CN" sz="2000" dirty="0" smtClean="0"/>
              <a:t>[</a:t>
            </a:r>
            <a:r>
              <a:rPr lang="en-US" altLang="zh-CN" sz="2000" i="1" dirty="0" smtClean="0"/>
              <a:t>B</a:t>
            </a:r>
            <a:r>
              <a:rPr lang="en-US" altLang="zh-CN" sz="2000" dirty="0" smtClean="0"/>
              <a:t>] }</a:t>
            </a:r>
          </a:p>
          <a:p>
            <a:pPr marL="819150" lvl="1" algn="just" eaLnBrk="1" hangingPunct="1">
              <a:lnSpc>
                <a:spcPct val="120000"/>
              </a:lnSpc>
              <a:buFont typeface="Wingdings" panose="05000000000000000000" pitchFamily="2" charset="2"/>
              <a:buNone/>
            </a:pPr>
            <a:endParaRPr lang="en-US" altLang="zh-CN" sz="1200" dirty="0" smtClean="0"/>
          </a:p>
          <a:p>
            <a:pPr marL="1238250" lvl="2" algn="just" eaLnBrk="1" hangingPunct="1">
              <a:lnSpc>
                <a:spcPct val="120000"/>
              </a:lnSpc>
              <a:buSzPct val="87000"/>
              <a:buFont typeface="Wingdings" panose="05000000000000000000" pitchFamily="2" charset="2"/>
              <a:buChar char="l"/>
            </a:pPr>
            <a:r>
              <a:rPr lang="en-US" altLang="zh-CN" sz="2200" i="1" dirty="0" smtClean="0"/>
              <a:t>A</a:t>
            </a:r>
            <a:r>
              <a:rPr lang="zh-CN" altLang="en-US" sz="2200" dirty="0" smtClean="0"/>
              <a:t>和</a:t>
            </a:r>
            <a:r>
              <a:rPr lang="en-US" altLang="zh-CN" sz="2200" i="1" dirty="0" smtClean="0"/>
              <a:t>B</a:t>
            </a:r>
            <a:r>
              <a:rPr lang="zh-CN" altLang="en-US" sz="2200" i="1" dirty="0" smtClean="0"/>
              <a:t>：</a:t>
            </a:r>
            <a:r>
              <a:rPr lang="zh-CN" altLang="en-US" sz="2200" dirty="0" smtClean="0"/>
              <a:t>分别为</a:t>
            </a:r>
            <a:r>
              <a:rPr lang="en-US" altLang="zh-CN" sz="2200" i="1" dirty="0" smtClean="0"/>
              <a:t>R</a:t>
            </a:r>
            <a:r>
              <a:rPr lang="zh-CN" altLang="en-US" sz="2200" dirty="0" smtClean="0"/>
              <a:t>和</a:t>
            </a:r>
            <a:r>
              <a:rPr lang="en-US" altLang="zh-CN" sz="2200" i="1" dirty="0" smtClean="0"/>
              <a:t>S</a:t>
            </a:r>
            <a:r>
              <a:rPr lang="zh-CN" altLang="en-US" sz="2200" dirty="0" smtClean="0"/>
              <a:t>上度数相等且可比的属性组</a:t>
            </a:r>
          </a:p>
          <a:p>
            <a:pPr marL="1238250" lvl="2" algn="just" eaLnBrk="1" hangingPunct="1">
              <a:lnSpc>
                <a:spcPct val="120000"/>
              </a:lnSpc>
              <a:buSzPct val="87000"/>
              <a:buFont typeface="Wingdings" panose="05000000000000000000" pitchFamily="2" charset="2"/>
              <a:buChar char="l"/>
            </a:pPr>
            <a:r>
              <a:rPr lang="en-US" altLang="zh-CN" sz="2200" dirty="0" smtClean="0"/>
              <a:t>θ</a:t>
            </a:r>
            <a:r>
              <a:rPr lang="zh-CN" altLang="en-US" sz="2200" dirty="0" smtClean="0"/>
              <a:t>：比较运算符 </a:t>
            </a:r>
          </a:p>
          <a:p>
            <a:pPr marL="819150" lvl="1" eaLnBrk="1" hangingPunct="1">
              <a:lnSpc>
                <a:spcPct val="120000"/>
              </a:lnSpc>
            </a:pPr>
            <a:r>
              <a:rPr lang="zh-CN" altLang="en-US" sz="2200" dirty="0" smtClean="0"/>
              <a:t>连接运算从</a:t>
            </a:r>
            <a:r>
              <a:rPr lang="en-US" altLang="zh-CN" sz="2200" i="1" dirty="0" smtClean="0"/>
              <a:t>R</a:t>
            </a:r>
            <a:r>
              <a:rPr lang="zh-CN" altLang="en-US" sz="2200" dirty="0" smtClean="0"/>
              <a:t>和</a:t>
            </a:r>
            <a:r>
              <a:rPr lang="en-US" altLang="zh-CN" sz="2200" i="1" dirty="0" smtClean="0"/>
              <a:t>S</a:t>
            </a:r>
            <a:r>
              <a:rPr lang="zh-CN" altLang="en-US" sz="2200" dirty="0" smtClean="0"/>
              <a:t>的广义笛卡尔积</a:t>
            </a:r>
            <a:r>
              <a:rPr lang="en-US" altLang="zh-CN" sz="2200" i="1" dirty="0" smtClean="0"/>
              <a:t>R</a:t>
            </a:r>
            <a:r>
              <a:rPr lang="en-US" altLang="zh-CN" sz="2200" dirty="0" smtClean="0"/>
              <a:t>×</a:t>
            </a:r>
            <a:r>
              <a:rPr lang="en-US" altLang="zh-CN" sz="2200" i="1" dirty="0" smtClean="0"/>
              <a:t>S</a:t>
            </a:r>
            <a:r>
              <a:rPr lang="zh-CN" altLang="en-US" sz="2200" dirty="0" smtClean="0"/>
              <a:t>中选取</a:t>
            </a:r>
            <a:r>
              <a:rPr lang="en-US" altLang="zh-CN" sz="2200" i="1" dirty="0" smtClean="0"/>
              <a:t>R</a:t>
            </a:r>
            <a:r>
              <a:rPr lang="zh-CN" altLang="en-US" sz="2200" dirty="0" smtClean="0"/>
              <a:t>关系在</a:t>
            </a:r>
            <a:r>
              <a:rPr lang="en-US" altLang="zh-CN" sz="2200" i="1" dirty="0" smtClean="0"/>
              <a:t>A</a:t>
            </a:r>
            <a:r>
              <a:rPr lang="zh-CN" altLang="en-US" sz="2200" dirty="0" smtClean="0"/>
              <a:t>属性组上的值与</a:t>
            </a:r>
            <a:r>
              <a:rPr lang="en-US" altLang="zh-CN" sz="2200" i="1" dirty="0" smtClean="0"/>
              <a:t>S</a:t>
            </a:r>
            <a:r>
              <a:rPr lang="zh-CN" altLang="en-US" sz="2200" dirty="0" smtClean="0"/>
              <a:t>关系在</a:t>
            </a:r>
            <a:r>
              <a:rPr lang="en-US" altLang="zh-CN" sz="2200" i="1" dirty="0" smtClean="0"/>
              <a:t>B</a:t>
            </a:r>
            <a:r>
              <a:rPr lang="zh-CN" altLang="en-US" sz="2200" dirty="0" smtClean="0"/>
              <a:t>属性组上的值满足比较关系</a:t>
            </a:r>
            <a:r>
              <a:rPr lang="en-US" altLang="zh-CN" sz="2200" dirty="0" smtClean="0"/>
              <a:t>θ</a:t>
            </a:r>
            <a:r>
              <a:rPr lang="zh-CN" altLang="en-US" sz="2200" dirty="0" smtClean="0"/>
              <a:t>的元组</a:t>
            </a:r>
            <a:r>
              <a:rPr lang="zh-CN" altLang="en-US" dirty="0" smtClean="0"/>
              <a:t> </a:t>
            </a:r>
          </a:p>
        </p:txBody>
      </p:sp>
      <p:grpSp>
        <p:nvGrpSpPr>
          <p:cNvPr id="95236" name="Group 16"/>
          <p:cNvGrpSpPr>
            <a:grpSpLocks/>
          </p:cNvGrpSpPr>
          <p:nvPr/>
        </p:nvGrpSpPr>
        <p:grpSpPr bwMode="auto">
          <a:xfrm>
            <a:off x="1584325" y="2725738"/>
            <a:ext cx="1600200" cy="685800"/>
            <a:chOff x="1152" y="2304"/>
            <a:chExt cx="1008" cy="432"/>
          </a:xfrm>
        </p:grpSpPr>
        <p:grpSp>
          <p:nvGrpSpPr>
            <p:cNvPr id="95240" name="Group 4"/>
            <p:cNvGrpSpPr>
              <a:grpSpLocks/>
            </p:cNvGrpSpPr>
            <p:nvPr/>
          </p:nvGrpSpPr>
          <p:grpSpPr bwMode="auto">
            <a:xfrm>
              <a:off x="1152" y="2352"/>
              <a:ext cx="1008" cy="384"/>
              <a:chOff x="2325" y="6446"/>
              <a:chExt cx="705" cy="367"/>
            </a:xfrm>
          </p:grpSpPr>
          <p:sp>
            <p:nvSpPr>
              <p:cNvPr id="95242" name="AutoShape 5"/>
              <p:cNvSpPr>
                <a:spLocks noChangeArrowheads="1"/>
              </p:cNvSpPr>
              <p:nvPr/>
            </p:nvSpPr>
            <p:spPr bwMode="auto">
              <a:xfrm rot="5400000" flipV="1">
                <a:off x="2612" y="6414"/>
                <a:ext cx="78" cy="142"/>
              </a:xfrm>
              <a:prstGeom prst="flowChartCollate">
                <a:avLst/>
              </a:prstGeom>
              <a:solidFill>
                <a:srgbClr val="FFFFFF"/>
              </a:solidFill>
              <a:ln w="6350">
                <a:solidFill>
                  <a:srgbClr val="000000"/>
                </a:solid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5243" name="Text Box 6"/>
              <p:cNvSpPr txBox="1">
                <a:spLocks noChangeArrowheads="1"/>
              </p:cNvSpPr>
              <p:nvPr/>
            </p:nvSpPr>
            <p:spPr bwMode="auto">
              <a:xfrm flipV="1">
                <a:off x="2325" y="6450"/>
                <a:ext cx="705"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lnSpc>
                    <a:spcPct val="80000"/>
                  </a:lnSpc>
                </a:pPr>
                <a:r>
                  <a:rPr lang="en-US" altLang="zh-CN" sz="600" i="1"/>
                  <a:t> </a:t>
                </a:r>
                <a:endParaRPr lang="en-US" altLang="zh-CN" sz="600"/>
              </a:p>
            </p:txBody>
          </p:sp>
        </p:grpSp>
        <p:sp>
          <p:nvSpPr>
            <p:cNvPr id="95241" name="Rectangle 10"/>
            <p:cNvSpPr>
              <a:spLocks noChangeArrowheads="1"/>
            </p:cNvSpPr>
            <p:nvPr/>
          </p:nvSpPr>
          <p:spPr bwMode="auto">
            <a:xfrm>
              <a:off x="1296" y="2304"/>
              <a:ext cx="576"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i="1"/>
                <a:t> </a:t>
              </a:r>
              <a:r>
                <a:rPr lang="en-US" altLang="zh-CN" sz="1600" b="1" i="1"/>
                <a:t>A</a:t>
              </a:r>
              <a:r>
                <a:rPr lang="en-US" altLang="zh-CN" sz="1600" b="1"/>
                <a:t>θ</a:t>
              </a:r>
              <a:r>
                <a:rPr lang="en-US" altLang="zh-CN" sz="1600" b="1" i="1"/>
                <a:t>B</a:t>
              </a:r>
            </a:p>
          </p:txBody>
        </p:sp>
      </p:grpSp>
      <p:grpSp>
        <p:nvGrpSpPr>
          <p:cNvPr id="95237" name="Group 12"/>
          <p:cNvGrpSpPr>
            <a:grpSpLocks/>
          </p:cNvGrpSpPr>
          <p:nvPr/>
        </p:nvGrpSpPr>
        <p:grpSpPr bwMode="auto">
          <a:xfrm>
            <a:off x="2966519" y="2735442"/>
            <a:ext cx="609600" cy="392113"/>
            <a:chOff x="2400" y="3199"/>
            <a:chExt cx="384" cy="247"/>
          </a:xfrm>
        </p:grpSpPr>
        <p:sp>
          <p:nvSpPr>
            <p:cNvPr id="95238" name="Text Box 13"/>
            <p:cNvSpPr txBox="1">
              <a:spLocks noChangeArrowheads="1"/>
            </p:cNvSpPr>
            <p:nvPr/>
          </p:nvSpPr>
          <p:spPr bwMode="auto">
            <a:xfrm>
              <a:off x="2400" y="3216"/>
              <a:ext cx="38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en-US" altLang="zh-CN" b="1" i="1" dirty="0" err="1"/>
                <a:t>t</a:t>
              </a:r>
              <a:r>
                <a:rPr lang="en-US" altLang="zh-CN" b="1" baseline="-30000" dirty="0" err="1"/>
                <a:t>r</a:t>
              </a:r>
              <a:r>
                <a:rPr lang="en-US" altLang="zh-CN" b="1" baseline="-30000" dirty="0"/>
                <a:t> </a:t>
              </a:r>
              <a:r>
                <a:rPr lang="en-US" altLang="zh-CN" b="1" i="1" dirty="0" err="1"/>
                <a:t>t</a:t>
              </a:r>
              <a:r>
                <a:rPr lang="en-US" altLang="zh-CN" b="1" baseline="-30000" dirty="0" err="1"/>
                <a:t>s</a:t>
              </a:r>
              <a:endParaRPr lang="en-US" altLang="zh-CN" b="1" baseline="-30000" dirty="0"/>
            </a:p>
          </p:txBody>
        </p:sp>
        <p:sp>
          <p:nvSpPr>
            <p:cNvPr id="95239" name="Freeform 14"/>
            <p:cNvSpPr>
              <a:spLocks/>
            </p:cNvSpPr>
            <p:nvPr/>
          </p:nvSpPr>
          <p:spPr bwMode="auto">
            <a:xfrm>
              <a:off x="2504" y="3199"/>
              <a:ext cx="156" cy="62"/>
            </a:xfrm>
            <a:custGeom>
              <a:avLst/>
              <a:gdLst>
                <a:gd name="T0" fmla="*/ 0 w 156"/>
                <a:gd name="T1" fmla="*/ 62 h 62"/>
                <a:gd name="T2" fmla="*/ 117 w 156"/>
                <a:gd name="T3" fmla="*/ 23 h 62"/>
                <a:gd name="T4" fmla="*/ 156 w 156"/>
                <a:gd name="T5" fmla="*/ 62 h 62"/>
                <a:gd name="T6" fmla="*/ 0 60000 65536"/>
                <a:gd name="T7" fmla="*/ 0 60000 65536"/>
                <a:gd name="T8" fmla="*/ 0 60000 65536"/>
                <a:gd name="T9" fmla="*/ 0 w 156"/>
                <a:gd name="T10" fmla="*/ 0 h 62"/>
                <a:gd name="T11" fmla="*/ 156 w 156"/>
                <a:gd name="T12" fmla="*/ 62 h 62"/>
              </a:gdLst>
              <a:ahLst/>
              <a:cxnLst>
                <a:cxn ang="T6">
                  <a:pos x="T0" y="T1"/>
                </a:cxn>
                <a:cxn ang="T7">
                  <a:pos x="T2" y="T3"/>
                </a:cxn>
                <a:cxn ang="T8">
                  <a:pos x="T4" y="T5"/>
                </a:cxn>
              </a:cxnLst>
              <a:rect l="T9" t="T10" r="T11" b="T12"/>
              <a:pathLst>
                <a:path w="156" h="62">
                  <a:moveTo>
                    <a:pt x="0" y="62"/>
                  </a:moveTo>
                  <a:cubicBezTo>
                    <a:pt x="89" y="2"/>
                    <a:pt x="48" y="0"/>
                    <a:pt x="117" y="23"/>
                  </a:cubicBezTo>
                  <a:cubicBezTo>
                    <a:pt x="130" y="36"/>
                    <a:pt x="156" y="62"/>
                    <a:pt x="156" y="62"/>
                  </a:cubicBez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Tree>
    <p:extLst>
      <p:ext uri="{BB962C8B-B14F-4D97-AF65-F5344CB8AC3E}">
        <p14:creationId xmlns:p14="http://schemas.microsoft.com/office/powerpoint/2010/main" val="360694415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r>
              <a:rPr lang="en-US" altLang="zh-CN" sz="3600" smtClean="0"/>
              <a:t> </a:t>
            </a:r>
            <a:r>
              <a:rPr lang="zh-CN" altLang="en-US" sz="3600" smtClean="0"/>
              <a:t>连接（续）</a:t>
            </a:r>
            <a:r>
              <a:rPr lang="en-US" altLang="zh-CN" sz="3600" smtClean="0"/>
              <a:t> </a:t>
            </a:r>
          </a:p>
        </p:txBody>
      </p:sp>
      <p:sp>
        <p:nvSpPr>
          <p:cNvPr id="96259" name="Rectangle 8"/>
          <p:cNvSpPr>
            <a:spLocks noGrp="1" noChangeArrowheads="1"/>
          </p:cNvSpPr>
          <p:nvPr>
            <p:ph type="body" idx="1"/>
          </p:nvPr>
        </p:nvSpPr>
        <p:spPr>
          <a:xfrm>
            <a:off x="781050" y="1131501"/>
            <a:ext cx="7772400" cy="4932363"/>
          </a:xfrm>
        </p:spPr>
        <p:txBody>
          <a:bodyPr/>
          <a:lstStyle/>
          <a:p>
            <a:pPr eaLnBrk="1" hangingPunct="1"/>
            <a:r>
              <a:rPr lang="zh-CN" altLang="en-US" dirty="0" smtClean="0"/>
              <a:t>两类常用连接运算</a:t>
            </a:r>
          </a:p>
          <a:p>
            <a:pPr lvl="1" eaLnBrk="1" hangingPunct="1">
              <a:lnSpc>
                <a:spcPct val="150000"/>
              </a:lnSpc>
            </a:pPr>
            <a:r>
              <a:rPr lang="zh-CN" altLang="en-US" dirty="0" smtClean="0"/>
              <a:t>等值连接（</a:t>
            </a:r>
            <a:r>
              <a:rPr lang="en-US" altLang="zh-CN" dirty="0" smtClean="0"/>
              <a:t>equijoin</a:t>
            </a:r>
            <a:r>
              <a:rPr lang="zh-CN" altLang="en-US" dirty="0" smtClean="0"/>
              <a:t>） </a:t>
            </a:r>
          </a:p>
          <a:p>
            <a:pPr marL="1162050" lvl="2" algn="just" eaLnBrk="1" hangingPunct="1">
              <a:lnSpc>
                <a:spcPct val="150000"/>
              </a:lnSpc>
              <a:buSzPct val="87000"/>
              <a:buFont typeface="Wingdings" panose="05000000000000000000" pitchFamily="2" charset="2"/>
              <a:buChar char="l"/>
            </a:pPr>
            <a:r>
              <a:rPr lang="en-US" altLang="zh-CN" sz="2200" dirty="0" smtClean="0"/>
              <a:t>θ</a:t>
            </a:r>
            <a:r>
              <a:rPr lang="zh-CN" altLang="en-US" sz="2200" dirty="0" smtClean="0"/>
              <a:t>为“＝”的连接运算称为等值连接</a:t>
            </a:r>
            <a:endParaRPr lang="en-US" altLang="zh-CN" sz="2200" dirty="0" smtClean="0"/>
          </a:p>
          <a:p>
            <a:pPr marL="1162050" lvl="2" algn="just" eaLnBrk="1" hangingPunct="1">
              <a:lnSpc>
                <a:spcPct val="150000"/>
              </a:lnSpc>
              <a:buSzPct val="87000"/>
              <a:buFont typeface="Wingdings" panose="05000000000000000000" pitchFamily="2" charset="2"/>
              <a:buChar char="l"/>
            </a:pPr>
            <a:r>
              <a:rPr lang="zh-CN" altLang="en-US" sz="2200" dirty="0" smtClean="0"/>
              <a:t>从关系</a:t>
            </a:r>
            <a:r>
              <a:rPr lang="en-US" altLang="zh-CN" sz="2200" i="1" dirty="0" smtClean="0"/>
              <a:t>R</a:t>
            </a:r>
            <a:r>
              <a:rPr lang="zh-CN" altLang="en-US" sz="2200" dirty="0" smtClean="0"/>
              <a:t>与</a:t>
            </a:r>
            <a:r>
              <a:rPr lang="en-US" altLang="zh-CN" sz="2200" i="1" dirty="0" smtClean="0"/>
              <a:t>S</a:t>
            </a:r>
            <a:r>
              <a:rPr lang="zh-CN" altLang="en-US" sz="2200" dirty="0" smtClean="0"/>
              <a:t>的广义笛卡尔积中选取</a:t>
            </a:r>
            <a:r>
              <a:rPr lang="en-US" altLang="zh-CN" sz="2200" i="1" dirty="0" smtClean="0"/>
              <a:t>A</a:t>
            </a:r>
            <a:r>
              <a:rPr lang="zh-CN" altLang="en-US" sz="2200" dirty="0" smtClean="0"/>
              <a:t>、</a:t>
            </a:r>
            <a:r>
              <a:rPr lang="en-US" altLang="zh-CN" sz="2200" i="1" dirty="0" smtClean="0"/>
              <a:t>B</a:t>
            </a:r>
            <a:r>
              <a:rPr lang="zh-CN" altLang="en-US" sz="2200" dirty="0" smtClean="0"/>
              <a:t>属性值相等的那些元组，即等值连接为：</a:t>
            </a:r>
            <a:endParaRPr lang="en-US" altLang="zh-CN" sz="2200" dirty="0" smtClean="0"/>
          </a:p>
          <a:p>
            <a:pPr marL="1162050" lvl="2" eaLnBrk="1" hangingPunct="1">
              <a:buFontTx/>
              <a:buNone/>
            </a:pPr>
            <a:r>
              <a:rPr lang="zh-CN" altLang="en-US" sz="2200" dirty="0" smtClean="0"/>
              <a:t>      </a:t>
            </a:r>
            <a:r>
              <a:rPr lang="en-US" altLang="zh-CN" sz="2200" i="1" dirty="0" smtClean="0"/>
              <a:t>R     S</a:t>
            </a:r>
            <a:r>
              <a:rPr lang="en-US" altLang="zh-CN" sz="2200" dirty="0" smtClean="0"/>
              <a:t> = {       | </a:t>
            </a:r>
            <a:r>
              <a:rPr lang="en-US" altLang="zh-CN" sz="2200" i="1" dirty="0" err="1" smtClean="0"/>
              <a:t>t</a:t>
            </a:r>
            <a:r>
              <a:rPr lang="en-US" altLang="zh-CN" sz="2200" baseline="-30000" dirty="0" err="1" smtClean="0"/>
              <a:t>r</a:t>
            </a:r>
            <a:r>
              <a:rPr lang="en-US" altLang="zh-CN" sz="2200" i="1" baseline="-30000" dirty="0" smtClean="0"/>
              <a:t> </a:t>
            </a:r>
            <a:r>
              <a:rPr lang="en-US" altLang="zh-CN" sz="2200" dirty="0" smtClean="0">
                <a:sym typeface="Symbol" panose="05050102010706020507" pitchFamily="18" charset="2"/>
              </a:rPr>
              <a:t></a:t>
            </a:r>
            <a:r>
              <a:rPr lang="en-US" altLang="zh-CN" sz="2200" i="1" dirty="0" err="1" smtClean="0"/>
              <a:t>R</a:t>
            </a:r>
            <a:r>
              <a:rPr lang="en-US" altLang="zh-CN" sz="2200" dirty="0" err="1" smtClean="0"/>
              <a:t>∧</a:t>
            </a:r>
            <a:r>
              <a:rPr lang="en-US" altLang="zh-CN" sz="2200" i="1" dirty="0" err="1" smtClean="0"/>
              <a:t>t</a:t>
            </a:r>
            <a:r>
              <a:rPr lang="en-US" altLang="zh-CN" sz="2200" baseline="-30000" dirty="0" err="1" smtClean="0"/>
              <a:t>s</a:t>
            </a:r>
            <a:r>
              <a:rPr lang="en-US" altLang="zh-CN" sz="2200" baseline="-30000" dirty="0" smtClean="0"/>
              <a:t> </a:t>
            </a:r>
            <a:r>
              <a:rPr lang="en-US" altLang="zh-CN" sz="2200" dirty="0" smtClean="0">
                <a:sym typeface="Symbol" panose="05050102010706020507" pitchFamily="18" charset="2"/>
              </a:rPr>
              <a:t></a:t>
            </a:r>
            <a:r>
              <a:rPr lang="en-US" altLang="zh-CN" sz="2200" i="1" dirty="0" err="1" smtClean="0"/>
              <a:t>S</a:t>
            </a:r>
            <a:r>
              <a:rPr lang="en-US" altLang="zh-CN" sz="2200" dirty="0" err="1" smtClean="0"/>
              <a:t>∧</a:t>
            </a:r>
            <a:r>
              <a:rPr lang="en-US" altLang="zh-CN" sz="2200" i="1" dirty="0" err="1" smtClean="0"/>
              <a:t>t</a:t>
            </a:r>
            <a:r>
              <a:rPr lang="en-US" altLang="zh-CN" sz="2200" baseline="-30000" dirty="0" err="1" smtClean="0"/>
              <a:t>r</a:t>
            </a:r>
            <a:r>
              <a:rPr lang="en-US" altLang="zh-CN" sz="2200" dirty="0" smtClean="0"/>
              <a:t>[</a:t>
            </a:r>
            <a:r>
              <a:rPr lang="en-US" altLang="zh-CN" sz="2200" i="1" dirty="0" smtClean="0"/>
              <a:t>A</a:t>
            </a:r>
            <a:r>
              <a:rPr lang="en-US" altLang="zh-CN" sz="2200" dirty="0" smtClean="0"/>
              <a:t>] = </a:t>
            </a:r>
            <a:r>
              <a:rPr lang="en-US" altLang="zh-CN" sz="2200" i="1" dirty="0" err="1" smtClean="0"/>
              <a:t>t</a:t>
            </a:r>
            <a:r>
              <a:rPr lang="en-US" altLang="zh-CN" sz="2200" baseline="-30000" dirty="0" err="1" smtClean="0"/>
              <a:t>s</a:t>
            </a:r>
            <a:r>
              <a:rPr lang="en-US" altLang="zh-CN" sz="2200" dirty="0" smtClean="0"/>
              <a:t>[</a:t>
            </a:r>
            <a:r>
              <a:rPr lang="en-US" altLang="zh-CN" sz="2200" i="1" dirty="0" smtClean="0"/>
              <a:t>B</a:t>
            </a:r>
            <a:r>
              <a:rPr lang="en-US" altLang="zh-CN" sz="2200" dirty="0" smtClean="0"/>
              <a:t>] }  </a:t>
            </a:r>
          </a:p>
        </p:txBody>
      </p:sp>
      <p:grpSp>
        <p:nvGrpSpPr>
          <p:cNvPr id="96260" name="Group 9"/>
          <p:cNvGrpSpPr>
            <a:grpSpLocks/>
          </p:cNvGrpSpPr>
          <p:nvPr/>
        </p:nvGrpSpPr>
        <p:grpSpPr bwMode="auto">
          <a:xfrm>
            <a:off x="1820745" y="3875080"/>
            <a:ext cx="1295400" cy="677863"/>
            <a:chOff x="2305" y="9420"/>
            <a:chExt cx="705" cy="363"/>
          </a:xfrm>
        </p:grpSpPr>
        <p:sp>
          <p:nvSpPr>
            <p:cNvPr id="96265" name="AutoShape 10"/>
            <p:cNvSpPr>
              <a:spLocks noChangeArrowheads="1"/>
            </p:cNvSpPr>
            <p:nvPr/>
          </p:nvSpPr>
          <p:spPr bwMode="auto">
            <a:xfrm rot="5400000" flipV="1">
              <a:off x="2642" y="9423"/>
              <a:ext cx="78" cy="142"/>
            </a:xfrm>
            <a:prstGeom prst="flowChartCollate">
              <a:avLst/>
            </a:prstGeom>
            <a:solidFill>
              <a:srgbClr val="FFFFFF"/>
            </a:solidFill>
            <a:ln w="6350">
              <a:solidFill>
                <a:srgbClr val="000000"/>
              </a:solidFill>
              <a:miter lim="800000"/>
              <a:headEnd/>
              <a:tailEnd/>
            </a:ln>
          </p:spPr>
          <p:txBody>
            <a:bodyPr vert="eaVert"/>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6266" name="Text Box 11"/>
            <p:cNvSpPr txBox="1">
              <a:spLocks noChangeArrowheads="1"/>
            </p:cNvSpPr>
            <p:nvPr/>
          </p:nvSpPr>
          <p:spPr bwMode="auto">
            <a:xfrm flipV="1">
              <a:off x="2305" y="9420"/>
              <a:ext cx="705"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10800000" vert="eaVert"/>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lnSpc>
                  <a:spcPct val="80000"/>
                </a:lnSpc>
              </a:pPr>
              <a:endParaRPr lang="zh-CN" altLang="zh-CN" sz="2000"/>
            </a:p>
          </p:txBody>
        </p:sp>
      </p:grpSp>
      <p:sp>
        <p:nvSpPr>
          <p:cNvPr id="96261" name="Rectangle 12"/>
          <p:cNvSpPr>
            <a:spLocks noChangeArrowheads="1"/>
          </p:cNvSpPr>
          <p:nvPr/>
        </p:nvSpPr>
        <p:spPr bwMode="auto">
          <a:xfrm>
            <a:off x="1896945" y="4072721"/>
            <a:ext cx="1143000"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i="1" dirty="0"/>
              <a:t>A=B</a:t>
            </a:r>
          </a:p>
        </p:txBody>
      </p:sp>
      <p:grpSp>
        <p:nvGrpSpPr>
          <p:cNvPr id="96262" name="Group 16"/>
          <p:cNvGrpSpPr>
            <a:grpSpLocks/>
          </p:cNvGrpSpPr>
          <p:nvPr/>
        </p:nvGrpSpPr>
        <p:grpSpPr bwMode="auto">
          <a:xfrm>
            <a:off x="3058712" y="3875080"/>
            <a:ext cx="574675" cy="431800"/>
            <a:chOff x="2400" y="3199"/>
            <a:chExt cx="384" cy="247"/>
          </a:xfrm>
        </p:grpSpPr>
        <p:sp>
          <p:nvSpPr>
            <p:cNvPr id="96263" name="Text Box 14"/>
            <p:cNvSpPr txBox="1">
              <a:spLocks noChangeArrowheads="1"/>
            </p:cNvSpPr>
            <p:nvPr/>
          </p:nvSpPr>
          <p:spPr bwMode="auto">
            <a:xfrm>
              <a:off x="2400" y="3216"/>
              <a:ext cx="38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en-US" altLang="zh-CN" b="1" i="1"/>
                <a:t>t</a:t>
              </a:r>
              <a:r>
                <a:rPr lang="en-US" altLang="zh-CN" b="1" baseline="-30000"/>
                <a:t>r </a:t>
              </a:r>
              <a:r>
                <a:rPr lang="en-US" altLang="zh-CN" b="1" i="1"/>
                <a:t>t</a:t>
              </a:r>
              <a:r>
                <a:rPr lang="en-US" altLang="zh-CN" b="1" baseline="-30000"/>
                <a:t>s</a:t>
              </a:r>
            </a:p>
          </p:txBody>
        </p:sp>
        <p:sp>
          <p:nvSpPr>
            <p:cNvPr id="96264" name="Freeform 15"/>
            <p:cNvSpPr>
              <a:spLocks/>
            </p:cNvSpPr>
            <p:nvPr/>
          </p:nvSpPr>
          <p:spPr bwMode="auto">
            <a:xfrm>
              <a:off x="2504" y="3199"/>
              <a:ext cx="156" cy="62"/>
            </a:xfrm>
            <a:custGeom>
              <a:avLst/>
              <a:gdLst>
                <a:gd name="T0" fmla="*/ 0 w 156"/>
                <a:gd name="T1" fmla="*/ 62 h 62"/>
                <a:gd name="T2" fmla="*/ 117 w 156"/>
                <a:gd name="T3" fmla="*/ 23 h 62"/>
                <a:gd name="T4" fmla="*/ 156 w 156"/>
                <a:gd name="T5" fmla="*/ 62 h 62"/>
                <a:gd name="T6" fmla="*/ 0 60000 65536"/>
                <a:gd name="T7" fmla="*/ 0 60000 65536"/>
                <a:gd name="T8" fmla="*/ 0 60000 65536"/>
                <a:gd name="T9" fmla="*/ 0 w 156"/>
                <a:gd name="T10" fmla="*/ 0 h 62"/>
                <a:gd name="T11" fmla="*/ 156 w 156"/>
                <a:gd name="T12" fmla="*/ 62 h 62"/>
              </a:gdLst>
              <a:ahLst/>
              <a:cxnLst>
                <a:cxn ang="T6">
                  <a:pos x="T0" y="T1"/>
                </a:cxn>
                <a:cxn ang="T7">
                  <a:pos x="T2" y="T3"/>
                </a:cxn>
                <a:cxn ang="T8">
                  <a:pos x="T4" y="T5"/>
                </a:cxn>
              </a:cxnLst>
              <a:rect l="T9" t="T10" r="T11" b="T12"/>
              <a:pathLst>
                <a:path w="156" h="62">
                  <a:moveTo>
                    <a:pt x="0" y="62"/>
                  </a:moveTo>
                  <a:cubicBezTo>
                    <a:pt x="89" y="2"/>
                    <a:pt x="48" y="0"/>
                    <a:pt x="117" y="23"/>
                  </a:cubicBezTo>
                  <a:cubicBezTo>
                    <a:pt x="130" y="36"/>
                    <a:pt x="156" y="62"/>
                    <a:pt x="156" y="62"/>
                  </a:cubicBez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2" name="矩形 1"/>
          <p:cNvSpPr/>
          <p:nvPr/>
        </p:nvSpPr>
        <p:spPr>
          <a:xfrm>
            <a:off x="1729408" y="4976716"/>
            <a:ext cx="6205994" cy="923330"/>
          </a:xfrm>
          <a:prstGeom prst="rect">
            <a:avLst/>
          </a:prstGeom>
        </p:spPr>
        <p:txBody>
          <a:bodyPr wrap="square">
            <a:spAutoFit/>
          </a:bodyPr>
          <a:lstStyle/>
          <a:p>
            <a:pPr algn="just">
              <a:spcAft>
                <a:spcPts val="0"/>
              </a:spcAft>
            </a:pPr>
            <a:r>
              <a:rPr lang="en-US" altLang="zh-CN" b="1" kern="100" dirty="0">
                <a:latin typeface="Times New Roman" panose="02020603050405020304" pitchFamily="18" charset="0"/>
              </a:rPr>
              <a:t>SELECT </a:t>
            </a:r>
            <a:r>
              <a:rPr lang="en-US" altLang="zh-CN" b="1" kern="100" dirty="0" err="1">
                <a:latin typeface="Times New Roman" panose="02020603050405020304" pitchFamily="18" charset="0"/>
              </a:rPr>
              <a:t>ename</a:t>
            </a:r>
            <a:r>
              <a:rPr lang="en-US" altLang="zh-CN" b="1" kern="100" dirty="0">
                <a:latin typeface="Times New Roman" panose="02020603050405020304" pitchFamily="18" charset="0"/>
              </a:rPr>
              <a:t>, </a:t>
            </a:r>
            <a:r>
              <a:rPr lang="en-US" altLang="zh-CN" b="1" kern="100" dirty="0" err="1">
                <a:latin typeface="Times New Roman" panose="02020603050405020304" pitchFamily="18" charset="0"/>
              </a:rPr>
              <a:t>sal</a:t>
            </a:r>
            <a:r>
              <a:rPr lang="en-US" altLang="zh-CN" b="1" kern="100" dirty="0">
                <a:latin typeface="Times New Roman" panose="02020603050405020304" pitchFamily="18" charset="0"/>
              </a:rPr>
              <a:t>, </a:t>
            </a:r>
            <a:r>
              <a:rPr lang="en-US" altLang="zh-CN" b="1" kern="100" dirty="0" err="1">
                <a:latin typeface="Times New Roman" panose="02020603050405020304" pitchFamily="18" charset="0"/>
              </a:rPr>
              <a:t>loc</a:t>
            </a:r>
            <a:r>
              <a:rPr lang="en-US" altLang="zh-CN" b="1" kern="100" dirty="0">
                <a:latin typeface="Times New Roman" panose="02020603050405020304" pitchFamily="18" charset="0"/>
              </a:rPr>
              <a:t> FROM </a:t>
            </a:r>
            <a:r>
              <a:rPr lang="en-US" altLang="zh-CN" b="1" kern="100" dirty="0" err="1">
                <a:latin typeface="Times New Roman" panose="02020603050405020304" pitchFamily="18" charset="0"/>
              </a:rPr>
              <a:t>emp</a:t>
            </a:r>
            <a:r>
              <a:rPr lang="en-US" altLang="zh-CN" b="1" kern="100" dirty="0">
                <a:latin typeface="Times New Roman" panose="02020603050405020304" pitchFamily="18" charset="0"/>
              </a:rPr>
              <a:t>, </a:t>
            </a:r>
            <a:r>
              <a:rPr lang="en-US" altLang="zh-CN" b="1" kern="100" dirty="0" err="1">
                <a:latin typeface="Times New Roman" panose="02020603050405020304" pitchFamily="18" charset="0"/>
              </a:rPr>
              <a:t>dept</a:t>
            </a:r>
            <a:endParaRPr lang="zh-CN" altLang="zh-CN" sz="1400" kern="100" dirty="0">
              <a:latin typeface="Times New Roman" panose="02020603050405020304" pitchFamily="18" charset="0"/>
            </a:endParaRPr>
          </a:p>
          <a:p>
            <a:pPr algn="just">
              <a:spcAft>
                <a:spcPts val="0"/>
              </a:spcAft>
            </a:pPr>
            <a:r>
              <a:rPr lang="en-US" altLang="zh-CN" b="1" kern="100" dirty="0" smtClean="0">
                <a:latin typeface="Times New Roman" panose="02020603050405020304" pitchFamily="18" charset="0"/>
              </a:rPr>
              <a:t>WHERE </a:t>
            </a:r>
            <a:r>
              <a:rPr lang="en-US" altLang="zh-CN" b="1" kern="100" dirty="0" err="1">
                <a:latin typeface="Times New Roman" panose="02020603050405020304" pitchFamily="18" charset="0"/>
              </a:rPr>
              <a:t>ename</a:t>
            </a:r>
            <a:r>
              <a:rPr lang="en-US" altLang="zh-CN" b="1" kern="100" dirty="0">
                <a:latin typeface="Times New Roman" panose="02020603050405020304" pitchFamily="18" charset="0"/>
              </a:rPr>
              <a:t> = 'ALLEN' 	(search condition)</a:t>
            </a:r>
            <a:endParaRPr lang="zh-CN" altLang="zh-CN" sz="1400" kern="100" dirty="0">
              <a:latin typeface="Times New Roman" panose="02020603050405020304" pitchFamily="18" charset="0"/>
            </a:endParaRPr>
          </a:p>
          <a:p>
            <a:pPr algn="just">
              <a:spcAft>
                <a:spcPts val="0"/>
              </a:spcAft>
            </a:pPr>
            <a:r>
              <a:rPr lang="en-US" altLang="zh-CN" b="1" kern="100" dirty="0" smtClean="0">
                <a:latin typeface="Times New Roman" panose="02020603050405020304" pitchFamily="18" charset="0"/>
              </a:rPr>
              <a:t>AND </a:t>
            </a:r>
            <a:r>
              <a:rPr lang="en-US" altLang="zh-CN" b="1" kern="100" dirty="0" err="1">
                <a:latin typeface="Times New Roman" panose="02020603050405020304" pitchFamily="18" charset="0"/>
              </a:rPr>
              <a:t>emp.deptno</a:t>
            </a:r>
            <a:r>
              <a:rPr lang="en-US" altLang="zh-CN" b="1" kern="100" dirty="0">
                <a:latin typeface="Times New Roman" panose="02020603050405020304" pitchFamily="18" charset="0"/>
              </a:rPr>
              <a:t> = </a:t>
            </a:r>
            <a:r>
              <a:rPr lang="en-US" altLang="zh-CN" b="1" kern="100" dirty="0" err="1">
                <a:latin typeface="Times New Roman" panose="02020603050405020304" pitchFamily="18" charset="0"/>
              </a:rPr>
              <a:t>dept.deptno</a:t>
            </a:r>
            <a:r>
              <a:rPr lang="en-US" altLang="zh-CN" b="1" kern="100" dirty="0">
                <a:latin typeface="Times New Roman" panose="02020603050405020304" pitchFamily="18" charset="0"/>
              </a:rPr>
              <a:t>;     ((join condition)</a:t>
            </a:r>
            <a:endParaRPr lang="zh-CN" altLang="zh-CN" sz="1400" kern="100" dirty="0">
              <a:latin typeface="Times New Roman" panose="02020603050405020304" pitchFamily="18" charset="0"/>
            </a:endParaRPr>
          </a:p>
        </p:txBody>
      </p:sp>
    </p:spTree>
    <p:extLst>
      <p:ext uri="{BB962C8B-B14F-4D97-AF65-F5344CB8AC3E}">
        <p14:creationId xmlns:p14="http://schemas.microsoft.com/office/powerpoint/2010/main" val="218058312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r>
              <a:rPr lang="en-US" altLang="zh-CN" sz="3600" smtClean="0"/>
              <a:t> </a:t>
            </a:r>
            <a:r>
              <a:rPr lang="zh-CN" altLang="en-US" sz="3600" smtClean="0"/>
              <a:t>连接（续）</a:t>
            </a:r>
            <a:r>
              <a:rPr lang="en-US" altLang="zh-CN" sz="3600" smtClean="0"/>
              <a:t> </a:t>
            </a:r>
          </a:p>
        </p:txBody>
      </p:sp>
      <p:sp>
        <p:nvSpPr>
          <p:cNvPr id="96259" name="Rectangle 8"/>
          <p:cNvSpPr>
            <a:spLocks noGrp="1" noChangeArrowheads="1"/>
          </p:cNvSpPr>
          <p:nvPr>
            <p:ph type="body" idx="1"/>
          </p:nvPr>
        </p:nvSpPr>
        <p:spPr>
          <a:xfrm>
            <a:off x="781050" y="1131501"/>
            <a:ext cx="7772400" cy="4932363"/>
          </a:xfrm>
        </p:spPr>
        <p:txBody>
          <a:bodyPr/>
          <a:lstStyle/>
          <a:p>
            <a:pPr eaLnBrk="1" hangingPunct="1"/>
            <a:r>
              <a:rPr lang="zh-CN" altLang="en-US" dirty="0" smtClean="0"/>
              <a:t>两类常用连接运算</a:t>
            </a:r>
          </a:p>
          <a:p>
            <a:pPr lvl="1" eaLnBrk="1" hangingPunct="1">
              <a:lnSpc>
                <a:spcPct val="150000"/>
              </a:lnSpc>
            </a:pPr>
            <a:r>
              <a:rPr lang="zh-CN" altLang="en-US" dirty="0" smtClean="0"/>
              <a:t>等值连接（</a:t>
            </a:r>
            <a:r>
              <a:rPr lang="en-US" altLang="zh-CN" dirty="0" smtClean="0"/>
              <a:t>equijoin</a:t>
            </a:r>
            <a:r>
              <a:rPr lang="zh-CN" altLang="en-US" dirty="0" smtClean="0"/>
              <a:t>） </a:t>
            </a: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7380" y="2294653"/>
            <a:ext cx="6365172" cy="4294240"/>
          </a:xfrm>
          <a:prstGeom prst="rect">
            <a:avLst/>
          </a:prstGeom>
        </p:spPr>
      </p:pic>
      <p:pic>
        <p:nvPicPr>
          <p:cNvPr id="5" name="图片 4"/>
          <p:cNvPicPr>
            <a:picLocks noChangeAspect="1"/>
          </p:cNvPicPr>
          <p:nvPr/>
        </p:nvPicPr>
        <p:blipFill rotWithShape="1">
          <a:blip r:embed="rId2">
            <a:extLst>
              <a:ext uri="{28A0092B-C50C-407E-A947-70E740481C1C}">
                <a14:useLocalDpi xmlns:a14="http://schemas.microsoft.com/office/drawing/2010/main" val="0"/>
              </a:ext>
            </a:extLst>
          </a:blip>
          <a:srcRect r="56311" b="92070"/>
          <a:stretch/>
        </p:blipFill>
        <p:spPr>
          <a:xfrm>
            <a:off x="1108088" y="2127212"/>
            <a:ext cx="7008845" cy="858359"/>
          </a:xfrm>
          <a:prstGeom prst="rect">
            <a:avLst/>
          </a:prstGeom>
        </p:spPr>
      </p:pic>
    </p:spTree>
    <p:extLst>
      <p:ext uri="{BB962C8B-B14F-4D97-AF65-F5344CB8AC3E}">
        <p14:creationId xmlns:p14="http://schemas.microsoft.com/office/powerpoint/2010/main" val="187946117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r>
              <a:rPr lang="en-US" altLang="zh-CN" sz="3600" smtClean="0"/>
              <a:t> </a:t>
            </a:r>
            <a:r>
              <a:rPr lang="zh-CN" altLang="en-US" sz="3600" smtClean="0"/>
              <a:t>连接（续）</a:t>
            </a:r>
            <a:r>
              <a:rPr lang="en-US" altLang="zh-CN" sz="3600" smtClean="0"/>
              <a:t> </a:t>
            </a:r>
          </a:p>
        </p:txBody>
      </p:sp>
      <p:sp>
        <p:nvSpPr>
          <p:cNvPr id="96259" name="Rectangle 8"/>
          <p:cNvSpPr>
            <a:spLocks noGrp="1" noChangeArrowheads="1"/>
          </p:cNvSpPr>
          <p:nvPr>
            <p:ph type="body" idx="1"/>
          </p:nvPr>
        </p:nvSpPr>
        <p:spPr>
          <a:xfrm>
            <a:off x="781050" y="1131501"/>
            <a:ext cx="7772400" cy="4932363"/>
          </a:xfrm>
        </p:spPr>
        <p:txBody>
          <a:bodyPr/>
          <a:lstStyle/>
          <a:p>
            <a:pPr eaLnBrk="1" hangingPunct="1"/>
            <a:r>
              <a:rPr lang="zh-CN" altLang="en-US" dirty="0" smtClean="0"/>
              <a:t>两类常用连接运算</a:t>
            </a:r>
          </a:p>
          <a:p>
            <a:pPr lvl="1" eaLnBrk="1" hangingPunct="1">
              <a:lnSpc>
                <a:spcPct val="150000"/>
              </a:lnSpc>
            </a:pPr>
            <a:r>
              <a:rPr lang="zh-CN" altLang="en-US" dirty="0" smtClean="0"/>
              <a:t>等值连接（</a:t>
            </a:r>
            <a:r>
              <a:rPr lang="en-US" altLang="zh-CN" dirty="0" smtClean="0"/>
              <a:t>equijoin</a:t>
            </a:r>
            <a:r>
              <a:rPr lang="zh-CN" altLang="en-US" dirty="0" smtClean="0"/>
              <a:t>） </a:t>
            </a:r>
          </a:p>
        </p:txBody>
      </p:sp>
      <p:pic>
        <p:nvPicPr>
          <p:cNvPr id="2" name="图片 1"/>
          <p:cNvPicPr>
            <a:picLocks noChangeAspect="1"/>
          </p:cNvPicPr>
          <p:nvPr/>
        </p:nvPicPr>
        <p:blipFill rotWithShape="1">
          <a:blip r:embed="rId2">
            <a:extLst>
              <a:ext uri="{28A0092B-C50C-407E-A947-70E740481C1C}">
                <a14:useLocalDpi xmlns:a14="http://schemas.microsoft.com/office/drawing/2010/main" val="0"/>
              </a:ext>
            </a:extLst>
          </a:blip>
          <a:srcRect t="22741"/>
          <a:stretch/>
        </p:blipFill>
        <p:spPr>
          <a:xfrm>
            <a:off x="1652532" y="3426246"/>
            <a:ext cx="6527264" cy="3431754"/>
          </a:xfrm>
          <a:prstGeom prst="rect">
            <a:avLst/>
          </a:prstGeom>
        </p:spPr>
      </p:pic>
      <p:sp>
        <p:nvSpPr>
          <p:cNvPr id="4" name="矩形 3"/>
          <p:cNvSpPr/>
          <p:nvPr/>
        </p:nvSpPr>
        <p:spPr>
          <a:xfrm>
            <a:off x="246733" y="2457064"/>
            <a:ext cx="8743031" cy="369332"/>
          </a:xfrm>
          <a:prstGeom prst="rect">
            <a:avLst/>
          </a:prstGeom>
        </p:spPr>
        <p:txBody>
          <a:bodyPr wrap="square">
            <a:spAutoFit/>
          </a:bodyPr>
          <a:lstStyle/>
          <a:p>
            <a:r>
              <a:rPr lang="en-US" altLang="zh-CN" dirty="0">
                <a:solidFill>
                  <a:srgbClr val="235A81"/>
                </a:solidFill>
                <a:latin typeface="Courier New" panose="02070309020205020404" pitchFamily="49" charset="0"/>
                <a:hlinkClick r:id="rId3"/>
              </a:rPr>
              <a:t>SELECT</a:t>
            </a:r>
            <a:r>
              <a:rPr lang="en-US" altLang="zh-CN" dirty="0">
                <a:solidFill>
                  <a:srgbClr val="444444"/>
                </a:solidFill>
                <a:latin typeface="Courier New" panose="02070309020205020404" pitchFamily="49" charset="0"/>
              </a:rPr>
              <a:t> * </a:t>
            </a:r>
            <a:r>
              <a:rPr lang="en-US" altLang="zh-CN" dirty="0">
                <a:solidFill>
                  <a:srgbClr val="770088"/>
                </a:solidFill>
                <a:latin typeface="Courier New" panose="02070309020205020404" pitchFamily="49" charset="0"/>
              </a:rPr>
              <a:t>FROM</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dept</a:t>
            </a:r>
            <a:r>
              <a:rPr lang="en-US" altLang="zh-CN" dirty="0">
                <a:solidFill>
                  <a:srgbClr val="0055AA"/>
                </a:solidFill>
                <a:latin typeface="Courier New" panose="02070309020205020404" pitchFamily="49" charset="0"/>
              </a:rPr>
              <a:t>`</a:t>
            </a:r>
            <a:r>
              <a:rPr lang="en-US" altLang="zh-CN" dirty="0">
                <a:solidFill>
                  <a:srgbClr val="444444"/>
                </a:solidFill>
                <a:latin typeface="Courier New" panose="02070309020205020404" pitchFamily="49" charset="0"/>
              </a:rPr>
              <a:t> </a:t>
            </a:r>
            <a:r>
              <a:rPr lang="en-US" altLang="zh-CN" dirty="0" smtClean="0">
                <a:solidFill>
                  <a:srgbClr val="FF0000"/>
                </a:solidFill>
                <a:latin typeface="Courier New" panose="02070309020205020404" pitchFamily="49" charset="0"/>
              </a:rPr>
              <a:t>join</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emp</a:t>
            </a:r>
            <a:r>
              <a:rPr lang="en-US" altLang="zh-CN" dirty="0">
                <a:solidFill>
                  <a:srgbClr val="0055AA"/>
                </a:solidFill>
                <a:latin typeface="Courier New" panose="02070309020205020404" pitchFamily="49" charset="0"/>
              </a:rPr>
              <a:t>`</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on</a:t>
            </a:r>
            <a:r>
              <a:rPr lang="en-US" altLang="zh-CN" dirty="0">
                <a:solidFill>
                  <a:srgbClr val="444444"/>
                </a:solidFill>
                <a:latin typeface="Courier New" panose="02070309020205020404" pitchFamily="49" charset="0"/>
              </a:rPr>
              <a:t> </a:t>
            </a:r>
            <a:r>
              <a:rPr lang="en-US" altLang="zh-CN" dirty="0" err="1">
                <a:solidFill>
                  <a:srgbClr val="444444"/>
                </a:solidFill>
                <a:latin typeface="Courier New" panose="02070309020205020404" pitchFamily="49" charset="0"/>
              </a:rPr>
              <a:t>dept</a:t>
            </a:r>
            <a:r>
              <a:rPr lang="en-US" altLang="zh-CN" dirty="0">
                <a:solidFill>
                  <a:srgbClr val="444444"/>
                </a:solidFill>
                <a:latin typeface="Courier New" panose="02070309020205020404" pitchFamily="49" charset="0"/>
              </a:rPr>
              <a:t>.</a:t>
            </a:r>
            <a:r>
              <a:rPr lang="en-US" altLang="zh-CN" dirty="0">
                <a:solidFill>
                  <a:srgbClr val="0055AA"/>
                </a:solidFill>
                <a:latin typeface="Courier New" panose="02070309020205020404" pitchFamily="49" charset="0"/>
              </a:rPr>
              <a:t>`DEPTNO`</a:t>
            </a:r>
            <a:r>
              <a:rPr lang="en-US" altLang="zh-CN" dirty="0">
                <a:solidFill>
                  <a:srgbClr val="444444"/>
                </a:solidFill>
                <a:latin typeface="Courier New" panose="02070309020205020404" pitchFamily="49" charset="0"/>
              </a:rPr>
              <a:t>=</a:t>
            </a:r>
            <a:r>
              <a:rPr lang="en-US" altLang="zh-CN" dirty="0" err="1">
                <a:solidFill>
                  <a:srgbClr val="444444"/>
                </a:solidFill>
                <a:latin typeface="Courier New" panose="02070309020205020404" pitchFamily="49" charset="0"/>
              </a:rPr>
              <a:t>emp</a:t>
            </a:r>
            <a:r>
              <a:rPr lang="en-US" altLang="zh-CN" dirty="0">
                <a:solidFill>
                  <a:srgbClr val="444444"/>
                </a:solidFill>
                <a:latin typeface="Courier New" panose="02070309020205020404" pitchFamily="49" charset="0"/>
              </a:rPr>
              <a:t>.</a:t>
            </a:r>
            <a:r>
              <a:rPr lang="en-US" altLang="zh-CN" dirty="0">
                <a:solidFill>
                  <a:srgbClr val="0055AA"/>
                </a:solidFill>
                <a:latin typeface="Courier New" panose="02070309020205020404" pitchFamily="49" charset="0"/>
              </a:rPr>
              <a:t>`DEPTNO`</a:t>
            </a:r>
            <a:endParaRPr lang="zh-CN" altLang="en-US" dirty="0"/>
          </a:p>
        </p:txBody>
      </p:sp>
      <p:sp>
        <p:nvSpPr>
          <p:cNvPr id="5" name="矩形 4"/>
          <p:cNvSpPr/>
          <p:nvPr/>
        </p:nvSpPr>
        <p:spPr>
          <a:xfrm>
            <a:off x="-56806" y="3056914"/>
            <a:ext cx="9448111" cy="369332"/>
          </a:xfrm>
          <a:prstGeom prst="rect">
            <a:avLst/>
          </a:prstGeom>
        </p:spPr>
        <p:txBody>
          <a:bodyPr wrap="square">
            <a:spAutoFit/>
          </a:bodyPr>
          <a:lstStyle/>
          <a:p>
            <a:r>
              <a:rPr lang="en-US" altLang="zh-CN" dirty="0">
                <a:solidFill>
                  <a:srgbClr val="235A81"/>
                </a:solidFill>
                <a:latin typeface="Courier New" panose="02070309020205020404" pitchFamily="49" charset="0"/>
                <a:hlinkClick r:id="rId3"/>
              </a:rPr>
              <a:t>SELECT</a:t>
            </a:r>
            <a:r>
              <a:rPr lang="en-US" altLang="zh-CN" dirty="0">
                <a:solidFill>
                  <a:srgbClr val="444444"/>
                </a:solidFill>
                <a:latin typeface="Courier New" panose="02070309020205020404" pitchFamily="49" charset="0"/>
              </a:rPr>
              <a:t> * </a:t>
            </a:r>
            <a:r>
              <a:rPr lang="en-US" altLang="zh-CN" dirty="0">
                <a:solidFill>
                  <a:srgbClr val="770088"/>
                </a:solidFill>
                <a:latin typeface="Courier New" panose="02070309020205020404" pitchFamily="49" charset="0"/>
              </a:rPr>
              <a:t>FROM</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dept</a:t>
            </a:r>
            <a:r>
              <a:rPr lang="en-US" altLang="zh-CN" dirty="0">
                <a:solidFill>
                  <a:srgbClr val="0055AA"/>
                </a:solidFill>
                <a:latin typeface="Courier New" panose="02070309020205020404" pitchFamily="49" charset="0"/>
              </a:rPr>
              <a:t>`</a:t>
            </a:r>
            <a:r>
              <a:rPr lang="en-US" altLang="zh-CN" dirty="0">
                <a:solidFill>
                  <a:srgbClr val="444444"/>
                </a:solidFill>
                <a:latin typeface="Courier New" panose="02070309020205020404" pitchFamily="49" charset="0"/>
              </a:rPr>
              <a:t> </a:t>
            </a:r>
            <a:r>
              <a:rPr lang="en-US" altLang="zh-CN" dirty="0">
                <a:solidFill>
                  <a:srgbClr val="FF0000"/>
                </a:solidFill>
                <a:latin typeface="Courier New" panose="02070309020205020404" pitchFamily="49" charset="0"/>
              </a:rPr>
              <a:t>inner join</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emp</a:t>
            </a:r>
            <a:r>
              <a:rPr lang="en-US" altLang="zh-CN" dirty="0">
                <a:solidFill>
                  <a:srgbClr val="0055AA"/>
                </a:solidFill>
                <a:latin typeface="Courier New" panose="02070309020205020404" pitchFamily="49" charset="0"/>
              </a:rPr>
              <a:t>`</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on</a:t>
            </a:r>
            <a:r>
              <a:rPr lang="en-US" altLang="zh-CN" dirty="0">
                <a:solidFill>
                  <a:srgbClr val="444444"/>
                </a:solidFill>
                <a:latin typeface="Courier New" panose="02070309020205020404" pitchFamily="49" charset="0"/>
              </a:rPr>
              <a:t> </a:t>
            </a:r>
            <a:r>
              <a:rPr lang="en-US" altLang="zh-CN" dirty="0" err="1">
                <a:solidFill>
                  <a:srgbClr val="444444"/>
                </a:solidFill>
                <a:latin typeface="Courier New" panose="02070309020205020404" pitchFamily="49" charset="0"/>
              </a:rPr>
              <a:t>dept</a:t>
            </a:r>
            <a:r>
              <a:rPr lang="en-US" altLang="zh-CN" dirty="0">
                <a:solidFill>
                  <a:srgbClr val="444444"/>
                </a:solidFill>
                <a:latin typeface="Courier New" panose="02070309020205020404" pitchFamily="49" charset="0"/>
              </a:rPr>
              <a:t>.</a:t>
            </a:r>
            <a:r>
              <a:rPr lang="en-US" altLang="zh-CN" dirty="0">
                <a:solidFill>
                  <a:srgbClr val="0055AA"/>
                </a:solidFill>
                <a:latin typeface="Courier New" panose="02070309020205020404" pitchFamily="49" charset="0"/>
              </a:rPr>
              <a:t>`DEPTNO`</a:t>
            </a:r>
            <a:r>
              <a:rPr lang="en-US" altLang="zh-CN" dirty="0">
                <a:solidFill>
                  <a:srgbClr val="444444"/>
                </a:solidFill>
                <a:latin typeface="Courier New" panose="02070309020205020404" pitchFamily="49" charset="0"/>
              </a:rPr>
              <a:t>=</a:t>
            </a:r>
            <a:r>
              <a:rPr lang="en-US" altLang="zh-CN" dirty="0" err="1">
                <a:solidFill>
                  <a:srgbClr val="444444"/>
                </a:solidFill>
                <a:latin typeface="Courier New" panose="02070309020205020404" pitchFamily="49" charset="0"/>
              </a:rPr>
              <a:t>emp</a:t>
            </a:r>
            <a:r>
              <a:rPr lang="en-US" altLang="zh-CN" dirty="0">
                <a:solidFill>
                  <a:srgbClr val="444444"/>
                </a:solidFill>
                <a:latin typeface="Courier New" panose="02070309020205020404" pitchFamily="49" charset="0"/>
              </a:rPr>
              <a:t>.</a:t>
            </a:r>
            <a:r>
              <a:rPr lang="en-US" altLang="zh-CN" dirty="0">
                <a:solidFill>
                  <a:srgbClr val="0055AA"/>
                </a:solidFill>
                <a:latin typeface="Courier New" panose="02070309020205020404" pitchFamily="49" charset="0"/>
              </a:rPr>
              <a:t>`DEPTNO`</a:t>
            </a:r>
            <a:endParaRPr lang="zh-CN" altLang="en-US" dirty="0"/>
          </a:p>
        </p:txBody>
      </p:sp>
    </p:spTree>
    <p:extLst>
      <p:ext uri="{BB962C8B-B14F-4D97-AF65-F5344CB8AC3E}">
        <p14:creationId xmlns:p14="http://schemas.microsoft.com/office/powerpoint/2010/main" val="360791394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eaLnBrk="1" hangingPunct="1"/>
            <a:r>
              <a:rPr lang="en-US" altLang="zh-CN" sz="3600" smtClean="0"/>
              <a:t> </a:t>
            </a:r>
            <a:r>
              <a:rPr lang="zh-CN" altLang="en-US" sz="3600" smtClean="0"/>
              <a:t>连接（续）</a:t>
            </a:r>
            <a:r>
              <a:rPr lang="en-US" altLang="zh-CN" sz="3600" smtClean="0"/>
              <a:t> </a:t>
            </a:r>
          </a:p>
        </p:txBody>
      </p:sp>
      <p:sp>
        <p:nvSpPr>
          <p:cNvPr id="97283" name="Rectangle 3"/>
          <p:cNvSpPr>
            <a:spLocks noGrp="1" noChangeArrowheads="1"/>
          </p:cNvSpPr>
          <p:nvPr>
            <p:ph type="body" idx="1"/>
          </p:nvPr>
        </p:nvSpPr>
        <p:spPr>
          <a:xfrm>
            <a:off x="755650" y="1341438"/>
            <a:ext cx="7772400" cy="4841875"/>
          </a:xfrm>
        </p:spPr>
        <p:txBody>
          <a:bodyPr/>
          <a:lstStyle/>
          <a:p>
            <a:pPr lvl="1" algn="just" eaLnBrk="1" hangingPunct="1"/>
            <a:r>
              <a:rPr lang="zh-CN" altLang="en-US" sz="2800" dirty="0" smtClean="0"/>
              <a:t>自然连接（</a:t>
            </a:r>
            <a:r>
              <a:rPr lang="en-US" altLang="zh-CN" sz="2800" dirty="0" smtClean="0"/>
              <a:t>Natural join</a:t>
            </a:r>
            <a:r>
              <a:rPr lang="zh-CN" altLang="en-US" sz="2800" dirty="0" smtClean="0"/>
              <a:t>）</a:t>
            </a:r>
            <a:r>
              <a:rPr lang="zh-CN" altLang="en-US" dirty="0" smtClean="0">
                <a:cs typeface="Times New Roman" panose="02020603050405020304" pitchFamily="18" charset="0"/>
              </a:rPr>
              <a:t> </a:t>
            </a:r>
          </a:p>
          <a:p>
            <a:pPr lvl="2" algn="just" eaLnBrk="1" hangingPunct="1">
              <a:lnSpc>
                <a:spcPct val="120000"/>
              </a:lnSpc>
              <a:buSzPct val="87000"/>
              <a:buFont typeface="Wingdings" panose="05000000000000000000" pitchFamily="2" charset="2"/>
              <a:buChar char="l"/>
            </a:pPr>
            <a:r>
              <a:rPr lang="zh-CN" altLang="en-US" sz="2400" dirty="0" smtClean="0"/>
              <a:t>自然连接是一种特殊的等值连接</a:t>
            </a:r>
          </a:p>
          <a:p>
            <a:pPr marL="1681163" lvl="3" eaLnBrk="1" hangingPunct="1">
              <a:lnSpc>
                <a:spcPct val="120000"/>
              </a:lnSpc>
              <a:buSzPct val="85000"/>
              <a:buFont typeface="Wingdings" panose="05000000000000000000" pitchFamily="2" charset="2"/>
              <a:buChar char="Ø"/>
            </a:pPr>
            <a:r>
              <a:rPr lang="zh-CN" altLang="en-US" sz="2200" dirty="0" smtClean="0"/>
              <a:t>两个关系中进行比较的分量必须是相同的属性组</a:t>
            </a:r>
          </a:p>
          <a:p>
            <a:pPr marL="1681163" lvl="3" eaLnBrk="1" hangingPunct="1">
              <a:lnSpc>
                <a:spcPct val="120000"/>
              </a:lnSpc>
              <a:buSzPct val="85000"/>
              <a:buFont typeface="Wingdings" panose="05000000000000000000" pitchFamily="2" charset="2"/>
              <a:buChar char="Ø"/>
            </a:pPr>
            <a:r>
              <a:rPr lang="zh-CN" altLang="en-US" sz="2200" dirty="0" smtClean="0"/>
              <a:t>在结果中把重复的属性列去掉</a:t>
            </a:r>
          </a:p>
          <a:p>
            <a:pPr lvl="2" algn="just" eaLnBrk="1" hangingPunct="1">
              <a:lnSpc>
                <a:spcPct val="120000"/>
              </a:lnSpc>
              <a:buSzPct val="87000"/>
              <a:buFont typeface="Wingdings" panose="05000000000000000000" pitchFamily="2" charset="2"/>
              <a:buChar char="l"/>
            </a:pPr>
            <a:r>
              <a:rPr lang="zh-CN" altLang="en-US" sz="2400" dirty="0" smtClean="0"/>
              <a:t>自然连接的含义</a:t>
            </a:r>
          </a:p>
          <a:p>
            <a:pPr lvl="2" algn="just" eaLnBrk="1" hangingPunct="1">
              <a:buFontTx/>
              <a:buNone/>
            </a:pPr>
            <a:r>
              <a:rPr lang="zh-CN" altLang="en-US" i="1" dirty="0" smtClean="0"/>
              <a:t>	</a:t>
            </a:r>
            <a:r>
              <a:rPr lang="en-US" altLang="zh-CN" sz="2200" i="1" dirty="0" smtClean="0"/>
              <a:t>R</a:t>
            </a:r>
            <a:r>
              <a:rPr lang="zh-CN" altLang="en-US" sz="2200" dirty="0" smtClean="0"/>
              <a:t>和</a:t>
            </a:r>
            <a:r>
              <a:rPr lang="en-US" altLang="zh-CN" sz="2200" i="1" dirty="0" smtClean="0"/>
              <a:t>S</a:t>
            </a:r>
            <a:r>
              <a:rPr lang="zh-CN" altLang="en-US" sz="2200" dirty="0" smtClean="0"/>
              <a:t>具有相同的属性组</a:t>
            </a:r>
            <a:r>
              <a:rPr lang="en-US" altLang="zh-CN" sz="2200" i="1" dirty="0" smtClean="0"/>
              <a:t>B</a:t>
            </a:r>
            <a:endParaRPr lang="en-US" altLang="zh-CN" sz="2200" dirty="0" smtClean="0"/>
          </a:p>
          <a:p>
            <a:pPr lvl="1" eaLnBrk="1" hangingPunct="1">
              <a:buFont typeface="Wingdings" panose="05000000000000000000" pitchFamily="2" charset="2"/>
              <a:buNone/>
            </a:pPr>
            <a:r>
              <a:rPr lang="en-US" altLang="zh-CN" dirty="0" smtClean="0"/>
              <a:t>        </a:t>
            </a:r>
            <a:r>
              <a:rPr lang="en-US" altLang="zh-CN" i="1" dirty="0" smtClean="0"/>
              <a:t>R </a:t>
            </a:r>
            <a:r>
              <a:rPr lang="en-US" altLang="zh-CN" dirty="0" smtClean="0"/>
              <a:t>   </a:t>
            </a:r>
            <a:r>
              <a:rPr lang="en-US" altLang="zh-CN" i="1" dirty="0" smtClean="0"/>
              <a:t>S</a:t>
            </a:r>
            <a:r>
              <a:rPr lang="en-US" altLang="zh-CN" dirty="0" smtClean="0"/>
              <a:t> = {       [U-B] | </a:t>
            </a:r>
            <a:r>
              <a:rPr lang="en-US" altLang="zh-CN" dirty="0" err="1" smtClean="0"/>
              <a:t>t</a:t>
            </a:r>
            <a:r>
              <a:rPr lang="en-US" altLang="zh-CN" baseline="-30000" dirty="0" err="1" smtClean="0"/>
              <a:t>r</a:t>
            </a:r>
            <a:r>
              <a:rPr lang="en-US" altLang="zh-CN" baseline="-30000" dirty="0" smtClean="0"/>
              <a:t> </a:t>
            </a:r>
            <a:r>
              <a:rPr lang="en-US" altLang="zh-CN" dirty="0" smtClean="0">
                <a:sym typeface="Symbol" panose="05050102010706020507" pitchFamily="18" charset="2"/>
              </a:rPr>
              <a:t></a:t>
            </a:r>
            <a:r>
              <a:rPr lang="en-US" altLang="zh-CN" i="1" dirty="0" err="1" smtClean="0"/>
              <a:t>R</a:t>
            </a:r>
            <a:r>
              <a:rPr lang="en-US" altLang="zh-CN" dirty="0" err="1" smtClean="0"/>
              <a:t>∧</a:t>
            </a:r>
            <a:r>
              <a:rPr lang="en-US" altLang="zh-CN" i="1" dirty="0" err="1" smtClean="0"/>
              <a:t>t</a:t>
            </a:r>
            <a:r>
              <a:rPr lang="en-US" altLang="zh-CN" baseline="-30000" dirty="0" err="1" smtClean="0"/>
              <a:t>s</a:t>
            </a:r>
            <a:r>
              <a:rPr lang="en-US" altLang="zh-CN" baseline="-30000" dirty="0" smtClean="0"/>
              <a:t> </a:t>
            </a:r>
            <a:r>
              <a:rPr lang="en-US" altLang="zh-CN" dirty="0" smtClean="0">
                <a:sym typeface="Symbol" panose="05050102010706020507" pitchFamily="18" charset="2"/>
              </a:rPr>
              <a:t></a:t>
            </a:r>
            <a:r>
              <a:rPr lang="en-US" altLang="zh-CN" i="1" dirty="0" err="1" smtClean="0"/>
              <a:t>S</a:t>
            </a:r>
            <a:r>
              <a:rPr lang="en-US" altLang="zh-CN" dirty="0" err="1" smtClean="0"/>
              <a:t>∧</a:t>
            </a:r>
            <a:r>
              <a:rPr lang="en-US" altLang="zh-CN" i="1" dirty="0" err="1" smtClean="0"/>
              <a:t>t</a:t>
            </a:r>
            <a:r>
              <a:rPr lang="en-US" altLang="zh-CN" baseline="-30000" dirty="0" err="1" smtClean="0"/>
              <a:t>r</a:t>
            </a:r>
            <a:r>
              <a:rPr lang="en-US" altLang="zh-CN" dirty="0" smtClean="0"/>
              <a:t>[</a:t>
            </a:r>
            <a:r>
              <a:rPr lang="en-US" altLang="zh-CN" i="1" dirty="0" smtClean="0"/>
              <a:t>B</a:t>
            </a:r>
            <a:r>
              <a:rPr lang="en-US" altLang="zh-CN" dirty="0" smtClean="0"/>
              <a:t>] = </a:t>
            </a:r>
            <a:r>
              <a:rPr lang="en-US" altLang="zh-CN" i="1" dirty="0" err="1" smtClean="0"/>
              <a:t>t</a:t>
            </a:r>
            <a:r>
              <a:rPr lang="en-US" altLang="zh-CN" baseline="-30000" dirty="0" err="1" smtClean="0"/>
              <a:t>s</a:t>
            </a:r>
            <a:r>
              <a:rPr lang="en-US" altLang="zh-CN" dirty="0" smtClean="0"/>
              <a:t>[</a:t>
            </a:r>
            <a:r>
              <a:rPr lang="en-US" altLang="zh-CN" i="1" dirty="0" smtClean="0"/>
              <a:t>B</a:t>
            </a:r>
            <a:r>
              <a:rPr lang="en-US" altLang="zh-CN" dirty="0" smtClean="0"/>
              <a:t>] }  </a:t>
            </a:r>
          </a:p>
        </p:txBody>
      </p:sp>
      <p:sp>
        <p:nvSpPr>
          <p:cNvPr id="97284" name="AutoShape 5"/>
          <p:cNvSpPr>
            <a:spLocks noChangeArrowheads="1"/>
          </p:cNvSpPr>
          <p:nvPr/>
        </p:nvSpPr>
        <p:spPr bwMode="auto">
          <a:xfrm rot="5400000" flipV="1">
            <a:off x="2038994" y="4167727"/>
            <a:ext cx="228600" cy="228600"/>
          </a:xfrm>
          <a:prstGeom prst="flowChartCollate">
            <a:avLst/>
          </a:prstGeom>
          <a:solidFill>
            <a:srgbClr val="FFFFFF"/>
          </a:solidFill>
          <a:ln w="6350">
            <a:solidFill>
              <a:srgbClr val="000000"/>
            </a:solid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97285" name="Group 6"/>
          <p:cNvGrpSpPr>
            <a:grpSpLocks/>
          </p:cNvGrpSpPr>
          <p:nvPr/>
        </p:nvGrpSpPr>
        <p:grpSpPr bwMode="auto">
          <a:xfrm>
            <a:off x="2712009" y="4041380"/>
            <a:ext cx="609600" cy="574675"/>
            <a:chOff x="2400" y="3199"/>
            <a:chExt cx="384" cy="282"/>
          </a:xfrm>
        </p:grpSpPr>
        <p:sp>
          <p:nvSpPr>
            <p:cNvPr id="97286" name="Text Box 7"/>
            <p:cNvSpPr txBox="1">
              <a:spLocks noChangeArrowheads="1"/>
            </p:cNvSpPr>
            <p:nvPr/>
          </p:nvSpPr>
          <p:spPr bwMode="auto">
            <a:xfrm>
              <a:off x="2400" y="3251"/>
              <a:ext cx="38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en-US" altLang="zh-CN" b="1" i="1" dirty="0" err="1"/>
                <a:t>t</a:t>
              </a:r>
              <a:r>
                <a:rPr lang="en-US" altLang="zh-CN" b="1" baseline="-30000" dirty="0" err="1"/>
                <a:t>r</a:t>
              </a:r>
              <a:r>
                <a:rPr lang="en-US" altLang="zh-CN" b="1" baseline="-30000" dirty="0"/>
                <a:t> </a:t>
              </a:r>
              <a:r>
                <a:rPr lang="en-US" altLang="zh-CN" b="1" i="1" dirty="0" err="1"/>
                <a:t>t</a:t>
              </a:r>
              <a:r>
                <a:rPr lang="en-US" altLang="zh-CN" b="1" baseline="-30000" dirty="0" err="1"/>
                <a:t>s</a:t>
              </a:r>
              <a:endParaRPr lang="en-US" altLang="zh-CN" b="1" baseline="-30000" dirty="0"/>
            </a:p>
          </p:txBody>
        </p:sp>
        <p:sp>
          <p:nvSpPr>
            <p:cNvPr id="97287" name="Freeform 8"/>
            <p:cNvSpPr>
              <a:spLocks/>
            </p:cNvSpPr>
            <p:nvPr/>
          </p:nvSpPr>
          <p:spPr bwMode="auto">
            <a:xfrm>
              <a:off x="2504" y="3199"/>
              <a:ext cx="156" cy="62"/>
            </a:xfrm>
            <a:custGeom>
              <a:avLst/>
              <a:gdLst>
                <a:gd name="T0" fmla="*/ 0 w 156"/>
                <a:gd name="T1" fmla="*/ 62 h 62"/>
                <a:gd name="T2" fmla="*/ 117 w 156"/>
                <a:gd name="T3" fmla="*/ 23 h 62"/>
                <a:gd name="T4" fmla="*/ 156 w 156"/>
                <a:gd name="T5" fmla="*/ 62 h 62"/>
                <a:gd name="T6" fmla="*/ 0 60000 65536"/>
                <a:gd name="T7" fmla="*/ 0 60000 65536"/>
                <a:gd name="T8" fmla="*/ 0 60000 65536"/>
                <a:gd name="T9" fmla="*/ 0 w 156"/>
                <a:gd name="T10" fmla="*/ 0 h 62"/>
                <a:gd name="T11" fmla="*/ 156 w 156"/>
                <a:gd name="T12" fmla="*/ 62 h 62"/>
              </a:gdLst>
              <a:ahLst/>
              <a:cxnLst>
                <a:cxn ang="T6">
                  <a:pos x="T0" y="T1"/>
                </a:cxn>
                <a:cxn ang="T7">
                  <a:pos x="T2" y="T3"/>
                </a:cxn>
                <a:cxn ang="T8">
                  <a:pos x="T4" y="T5"/>
                </a:cxn>
              </a:cxnLst>
              <a:rect l="T9" t="T10" r="T11" b="T12"/>
              <a:pathLst>
                <a:path w="156" h="62">
                  <a:moveTo>
                    <a:pt x="0" y="62"/>
                  </a:moveTo>
                  <a:cubicBezTo>
                    <a:pt x="89" y="2"/>
                    <a:pt x="48" y="0"/>
                    <a:pt x="117" y="23"/>
                  </a:cubicBezTo>
                  <a:cubicBezTo>
                    <a:pt x="130" y="36"/>
                    <a:pt x="156" y="62"/>
                    <a:pt x="156" y="62"/>
                  </a:cubicBez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2" name="矩形 1"/>
          <p:cNvSpPr/>
          <p:nvPr/>
        </p:nvSpPr>
        <p:spPr>
          <a:xfrm>
            <a:off x="1536357" y="4955550"/>
            <a:ext cx="6792098" cy="369332"/>
          </a:xfrm>
          <a:prstGeom prst="rect">
            <a:avLst/>
          </a:prstGeom>
        </p:spPr>
        <p:txBody>
          <a:bodyPr wrap="square">
            <a:spAutoFit/>
          </a:bodyPr>
          <a:lstStyle/>
          <a:p>
            <a:r>
              <a:rPr lang="en-US" altLang="zh-CN" dirty="0">
                <a:solidFill>
                  <a:srgbClr val="235A81"/>
                </a:solidFill>
                <a:latin typeface="Courier New" panose="02070309020205020404" pitchFamily="49" charset="0"/>
                <a:hlinkClick r:id="rId3"/>
              </a:rPr>
              <a:t>SELECT</a:t>
            </a:r>
            <a:r>
              <a:rPr lang="en-US" altLang="zh-CN" dirty="0">
                <a:solidFill>
                  <a:srgbClr val="444444"/>
                </a:solidFill>
                <a:latin typeface="Courier New" panose="02070309020205020404" pitchFamily="49" charset="0"/>
              </a:rPr>
              <a:t> * </a:t>
            </a:r>
            <a:r>
              <a:rPr lang="en-US" altLang="zh-CN" dirty="0">
                <a:solidFill>
                  <a:srgbClr val="770088"/>
                </a:solidFill>
                <a:latin typeface="Courier New" panose="02070309020205020404" pitchFamily="49" charset="0"/>
              </a:rPr>
              <a:t>FROM</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dept</a:t>
            </a:r>
            <a:r>
              <a:rPr lang="en-US" altLang="zh-CN" dirty="0">
                <a:solidFill>
                  <a:srgbClr val="0055AA"/>
                </a:solidFill>
                <a:latin typeface="Courier New" panose="02070309020205020404" pitchFamily="49" charset="0"/>
              </a:rPr>
              <a:t>`</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natural</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join</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 </a:t>
            </a:r>
            <a:r>
              <a:rPr lang="en-US" altLang="zh-CN" dirty="0" smtClean="0">
                <a:solidFill>
                  <a:srgbClr val="0055AA"/>
                </a:solidFill>
                <a:latin typeface="Courier New" panose="02070309020205020404" pitchFamily="49" charset="0"/>
              </a:rPr>
              <a:t>`</a:t>
            </a:r>
            <a:r>
              <a:rPr lang="en-US" altLang="zh-CN" dirty="0" err="1" smtClean="0">
                <a:solidFill>
                  <a:srgbClr val="0055AA"/>
                </a:solidFill>
                <a:latin typeface="Courier New" panose="02070309020205020404" pitchFamily="49" charset="0"/>
              </a:rPr>
              <a:t>emp</a:t>
            </a:r>
            <a:r>
              <a:rPr lang="en-US" altLang="zh-CN" dirty="0" smtClean="0">
                <a:solidFill>
                  <a:srgbClr val="0055AA"/>
                </a:solidFill>
                <a:latin typeface="Courier New" panose="02070309020205020404" pitchFamily="49" charset="0"/>
              </a:rPr>
              <a:t>`</a:t>
            </a:r>
            <a:endParaRPr lang="zh-CN" altLang="en-US" dirty="0"/>
          </a:p>
        </p:txBody>
      </p:sp>
    </p:spTree>
    <p:extLst>
      <p:ext uri="{BB962C8B-B14F-4D97-AF65-F5344CB8AC3E}">
        <p14:creationId xmlns:p14="http://schemas.microsoft.com/office/powerpoint/2010/main" val="274113055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eaLnBrk="1" hangingPunct="1"/>
            <a:r>
              <a:rPr lang="en-US" altLang="zh-CN" sz="3600" smtClean="0"/>
              <a:t> </a:t>
            </a:r>
            <a:r>
              <a:rPr lang="zh-CN" altLang="en-US" sz="3600" smtClean="0"/>
              <a:t>连接（续）</a:t>
            </a:r>
            <a:r>
              <a:rPr lang="en-US" altLang="zh-CN" sz="3600" smtClean="0"/>
              <a:t> </a:t>
            </a:r>
          </a:p>
        </p:txBody>
      </p:sp>
      <p:sp>
        <p:nvSpPr>
          <p:cNvPr id="97283" name="Rectangle 3"/>
          <p:cNvSpPr>
            <a:spLocks noGrp="1" noChangeArrowheads="1"/>
          </p:cNvSpPr>
          <p:nvPr>
            <p:ph type="body" idx="1"/>
          </p:nvPr>
        </p:nvSpPr>
        <p:spPr>
          <a:xfrm>
            <a:off x="755650" y="1341438"/>
            <a:ext cx="7772400" cy="4841875"/>
          </a:xfrm>
        </p:spPr>
        <p:txBody>
          <a:bodyPr/>
          <a:lstStyle/>
          <a:p>
            <a:pPr lvl="1" algn="just" eaLnBrk="1" hangingPunct="1"/>
            <a:r>
              <a:rPr lang="zh-CN" altLang="en-US" sz="2800" dirty="0" smtClean="0"/>
              <a:t>自然连接（</a:t>
            </a:r>
            <a:r>
              <a:rPr lang="en-US" altLang="zh-CN" sz="2800" dirty="0" smtClean="0"/>
              <a:t>Natural join</a:t>
            </a:r>
            <a:r>
              <a:rPr lang="zh-CN" altLang="en-US" sz="2800" dirty="0" smtClean="0"/>
              <a:t>）</a:t>
            </a:r>
            <a:r>
              <a:rPr lang="zh-CN" altLang="en-US" dirty="0" smtClean="0">
                <a:cs typeface="Times New Roman" panose="02020603050405020304" pitchFamily="18" charset="0"/>
              </a:rPr>
              <a:t>  </a:t>
            </a:r>
          </a:p>
        </p:txBody>
      </p:sp>
      <p:sp>
        <p:nvSpPr>
          <p:cNvPr id="2" name="矩形 1"/>
          <p:cNvSpPr/>
          <p:nvPr/>
        </p:nvSpPr>
        <p:spPr>
          <a:xfrm>
            <a:off x="1124465" y="1907550"/>
            <a:ext cx="6792098" cy="369332"/>
          </a:xfrm>
          <a:prstGeom prst="rect">
            <a:avLst/>
          </a:prstGeom>
        </p:spPr>
        <p:txBody>
          <a:bodyPr wrap="square">
            <a:spAutoFit/>
          </a:bodyPr>
          <a:lstStyle/>
          <a:p>
            <a:r>
              <a:rPr lang="en-US" altLang="zh-CN" dirty="0">
                <a:solidFill>
                  <a:srgbClr val="235A81"/>
                </a:solidFill>
                <a:latin typeface="Courier New" panose="02070309020205020404" pitchFamily="49" charset="0"/>
                <a:hlinkClick r:id="rId3"/>
              </a:rPr>
              <a:t>SELECT</a:t>
            </a:r>
            <a:r>
              <a:rPr lang="en-US" altLang="zh-CN" dirty="0">
                <a:solidFill>
                  <a:srgbClr val="444444"/>
                </a:solidFill>
                <a:latin typeface="Courier New" panose="02070309020205020404" pitchFamily="49" charset="0"/>
              </a:rPr>
              <a:t> * </a:t>
            </a:r>
            <a:r>
              <a:rPr lang="en-US" altLang="zh-CN" dirty="0">
                <a:solidFill>
                  <a:srgbClr val="770088"/>
                </a:solidFill>
                <a:latin typeface="Courier New" panose="02070309020205020404" pitchFamily="49" charset="0"/>
              </a:rPr>
              <a:t>FROM</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emp</a:t>
            </a:r>
            <a:r>
              <a:rPr lang="en-US" altLang="zh-CN" dirty="0" smtClean="0">
                <a:solidFill>
                  <a:srgbClr val="0055AA"/>
                </a:solidFill>
                <a:latin typeface="Courier New" panose="02070309020205020404" pitchFamily="49" charset="0"/>
              </a:rPr>
              <a:t>` </a:t>
            </a:r>
            <a:r>
              <a:rPr lang="en-US" altLang="zh-CN" dirty="0" smtClean="0">
                <a:solidFill>
                  <a:srgbClr val="770088"/>
                </a:solidFill>
                <a:latin typeface="Courier New" panose="02070309020205020404" pitchFamily="49" charset="0"/>
              </a:rPr>
              <a:t>natural</a:t>
            </a:r>
            <a:r>
              <a:rPr lang="en-US" altLang="zh-CN" dirty="0">
                <a:solidFill>
                  <a:srgbClr val="444444"/>
                </a:solidFill>
                <a:latin typeface="Courier New" panose="02070309020205020404" pitchFamily="49" charset="0"/>
              </a:rPr>
              <a:t> </a:t>
            </a:r>
            <a:r>
              <a:rPr lang="en-US" altLang="zh-CN" dirty="0" smtClean="0">
                <a:solidFill>
                  <a:srgbClr val="770088"/>
                </a:solidFill>
                <a:latin typeface="Courier New" panose="02070309020205020404" pitchFamily="49" charset="0"/>
              </a:rPr>
              <a:t>join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dept</a:t>
            </a:r>
            <a:r>
              <a:rPr lang="en-US" altLang="zh-CN" dirty="0">
                <a:solidFill>
                  <a:srgbClr val="0055AA"/>
                </a:solidFill>
                <a:latin typeface="Courier New" panose="02070309020205020404" pitchFamily="49" charset="0"/>
              </a:rPr>
              <a:t>` </a:t>
            </a:r>
            <a:r>
              <a:rPr lang="en-US" altLang="zh-CN" dirty="0">
                <a:solidFill>
                  <a:srgbClr val="444444"/>
                </a:solidFill>
                <a:latin typeface="Courier New" panose="02070309020205020404" pitchFamily="49" charset="0"/>
              </a:rPr>
              <a:t> </a:t>
            </a:r>
            <a:endParaRPr lang="zh-CN" altLang="en-US" dirty="0"/>
          </a:p>
        </p:txBody>
      </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3900" y="2276882"/>
            <a:ext cx="7554379" cy="4096322"/>
          </a:xfrm>
          <a:prstGeom prst="rect">
            <a:avLst/>
          </a:prstGeom>
        </p:spPr>
      </p:pic>
    </p:spTree>
    <p:extLst>
      <p:ext uri="{BB962C8B-B14F-4D97-AF65-F5344CB8AC3E}">
        <p14:creationId xmlns:p14="http://schemas.microsoft.com/office/powerpoint/2010/main" val="2038944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pPr eaLnBrk="1" hangingPunct="1"/>
            <a:r>
              <a:rPr lang="zh-CN" altLang="en-US" sz="3600" smtClean="0"/>
              <a:t>连接（续）</a:t>
            </a:r>
            <a:endParaRPr lang="en-US" altLang="zh-CN" sz="3600" smtClean="0"/>
          </a:p>
        </p:txBody>
      </p:sp>
      <p:sp>
        <p:nvSpPr>
          <p:cNvPr id="98307" name="Rectangle 3"/>
          <p:cNvSpPr>
            <a:spLocks noGrp="1" noChangeArrowheads="1"/>
          </p:cNvSpPr>
          <p:nvPr>
            <p:ph type="body" idx="1"/>
          </p:nvPr>
        </p:nvSpPr>
        <p:spPr/>
        <p:txBody>
          <a:bodyPr>
            <a:normAutofit lnSpcReduction="10000"/>
          </a:bodyPr>
          <a:lstStyle/>
          <a:p>
            <a:pPr algn="just" eaLnBrk="1" hangingPunct="1"/>
            <a:r>
              <a:rPr lang="zh-CN" altLang="en-US" smtClean="0"/>
              <a:t>一般的连接操作是从行的角度进行运算。</a:t>
            </a:r>
          </a:p>
          <a:p>
            <a:pPr algn="just" eaLnBrk="1" hangingPunct="1"/>
            <a:endParaRPr lang="zh-CN" altLang="en-US" smtClean="0"/>
          </a:p>
          <a:p>
            <a:pPr algn="just" eaLnBrk="1" hangingPunct="1"/>
            <a:endParaRPr lang="zh-CN" altLang="en-US" smtClean="0"/>
          </a:p>
          <a:p>
            <a:pPr algn="just" eaLnBrk="1" hangingPunct="1"/>
            <a:endParaRPr lang="zh-CN" altLang="en-US" smtClean="0"/>
          </a:p>
          <a:p>
            <a:pPr algn="just" eaLnBrk="1" hangingPunct="1"/>
            <a:endParaRPr lang="zh-CN" altLang="en-US" smtClean="0"/>
          </a:p>
          <a:p>
            <a:pPr eaLnBrk="1" hangingPunct="1">
              <a:buFont typeface="Wingdings" panose="05000000000000000000" pitchFamily="2" charset="2"/>
              <a:buNone/>
            </a:pPr>
            <a:r>
              <a:rPr lang="zh-CN" altLang="en-US" smtClean="0"/>
              <a:t>   		</a:t>
            </a:r>
          </a:p>
          <a:p>
            <a:pPr eaLnBrk="1" hangingPunct="1">
              <a:buFont typeface="Wingdings" panose="05000000000000000000" pitchFamily="2" charset="2"/>
              <a:buNone/>
            </a:pPr>
            <a:r>
              <a:rPr lang="zh-CN" altLang="en-US" sz="2400" smtClean="0"/>
              <a:t>    </a:t>
            </a:r>
            <a:endParaRPr lang="en-US" altLang="zh-CN" sz="2400" smtClean="0"/>
          </a:p>
          <a:p>
            <a:pPr eaLnBrk="1" hangingPunct="1">
              <a:lnSpc>
                <a:spcPct val="120000"/>
              </a:lnSpc>
              <a:buFont typeface="Wingdings" panose="05000000000000000000" pitchFamily="2" charset="2"/>
              <a:buNone/>
            </a:pPr>
            <a:r>
              <a:rPr lang="en-US" altLang="zh-CN" sz="2400" smtClean="0"/>
              <a:t>    </a:t>
            </a:r>
            <a:r>
              <a:rPr lang="zh-CN" altLang="en-US" sz="2400" smtClean="0"/>
              <a:t>自然连接还需要取消重复列，所以是同时从行和列的角度进行运算。 </a:t>
            </a:r>
          </a:p>
        </p:txBody>
      </p:sp>
      <p:grpSp>
        <p:nvGrpSpPr>
          <p:cNvPr id="98308" name="Group 44"/>
          <p:cNvGrpSpPr>
            <a:grpSpLocks/>
          </p:cNvGrpSpPr>
          <p:nvPr/>
        </p:nvGrpSpPr>
        <p:grpSpPr bwMode="auto">
          <a:xfrm>
            <a:off x="1462088" y="2060575"/>
            <a:ext cx="5486400" cy="2286000"/>
            <a:chOff x="1728" y="1632"/>
            <a:chExt cx="3456" cy="1440"/>
          </a:xfrm>
        </p:grpSpPr>
        <p:grpSp>
          <p:nvGrpSpPr>
            <p:cNvPr id="98309" name="Group 18"/>
            <p:cNvGrpSpPr>
              <a:grpSpLocks/>
            </p:cNvGrpSpPr>
            <p:nvPr/>
          </p:nvGrpSpPr>
          <p:grpSpPr bwMode="auto">
            <a:xfrm>
              <a:off x="2064" y="1680"/>
              <a:ext cx="912" cy="768"/>
              <a:chOff x="1536" y="1632"/>
              <a:chExt cx="912" cy="768"/>
            </a:xfrm>
          </p:grpSpPr>
          <p:sp>
            <p:nvSpPr>
              <p:cNvPr id="98331" name="Rectangle 5"/>
              <p:cNvSpPr>
                <a:spLocks noChangeArrowheads="1"/>
              </p:cNvSpPr>
              <p:nvPr/>
            </p:nvSpPr>
            <p:spPr bwMode="auto">
              <a:xfrm>
                <a:off x="1536" y="1632"/>
                <a:ext cx="912" cy="96"/>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8332" name="Rectangle 6" descr="浅色下对角线"/>
              <p:cNvSpPr>
                <a:spLocks noChangeArrowheads="1"/>
              </p:cNvSpPr>
              <p:nvPr/>
            </p:nvSpPr>
            <p:spPr bwMode="auto">
              <a:xfrm>
                <a:off x="1536" y="1728"/>
                <a:ext cx="912" cy="96"/>
              </a:xfrm>
              <a:prstGeom prst="rect">
                <a:avLst/>
              </a:prstGeom>
              <a:pattFill prst="ltDnDiag">
                <a:fgClr>
                  <a:srgbClr val="000000"/>
                </a:fgClr>
                <a:bgClr>
                  <a:srgbClr val="FFFFFF"/>
                </a:bgClr>
              </a:patt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8333" name="Rectangle 7"/>
              <p:cNvSpPr>
                <a:spLocks noChangeArrowheads="1"/>
              </p:cNvSpPr>
              <p:nvPr/>
            </p:nvSpPr>
            <p:spPr bwMode="auto">
              <a:xfrm>
                <a:off x="1536" y="1824"/>
                <a:ext cx="912" cy="96"/>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8334" name="Rectangle 8"/>
              <p:cNvSpPr>
                <a:spLocks noChangeArrowheads="1"/>
              </p:cNvSpPr>
              <p:nvPr/>
            </p:nvSpPr>
            <p:spPr bwMode="auto">
              <a:xfrm>
                <a:off x="1536" y="2304"/>
                <a:ext cx="912" cy="96"/>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8335" name="Rectangle 9"/>
              <p:cNvSpPr>
                <a:spLocks noChangeArrowheads="1"/>
              </p:cNvSpPr>
              <p:nvPr/>
            </p:nvSpPr>
            <p:spPr bwMode="auto">
              <a:xfrm>
                <a:off x="1536" y="1920"/>
                <a:ext cx="912" cy="96"/>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8336" name="Rectangle 10" descr="浅色下对角线"/>
              <p:cNvSpPr>
                <a:spLocks noChangeArrowheads="1"/>
              </p:cNvSpPr>
              <p:nvPr/>
            </p:nvSpPr>
            <p:spPr bwMode="auto">
              <a:xfrm>
                <a:off x="1536" y="2016"/>
                <a:ext cx="912" cy="96"/>
              </a:xfrm>
              <a:prstGeom prst="rect">
                <a:avLst/>
              </a:prstGeom>
              <a:pattFill prst="ltDnDiag">
                <a:fgClr>
                  <a:srgbClr val="000000"/>
                </a:fgClr>
                <a:bgClr>
                  <a:srgbClr val="FFFFFF"/>
                </a:bgClr>
              </a:patt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8337" name="Rectangle 11"/>
              <p:cNvSpPr>
                <a:spLocks noChangeArrowheads="1"/>
              </p:cNvSpPr>
              <p:nvPr/>
            </p:nvSpPr>
            <p:spPr bwMode="auto">
              <a:xfrm>
                <a:off x="1536" y="2112"/>
                <a:ext cx="912" cy="96"/>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8338" name="Rectangle 12" descr="浅色下对角线"/>
              <p:cNvSpPr>
                <a:spLocks noChangeArrowheads="1"/>
              </p:cNvSpPr>
              <p:nvPr/>
            </p:nvSpPr>
            <p:spPr bwMode="auto">
              <a:xfrm>
                <a:off x="1536" y="2208"/>
                <a:ext cx="912" cy="96"/>
              </a:xfrm>
              <a:prstGeom prst="rect">
                <a:avLst/>
              </a:prstGeom>
              <a:pattFill prst="ltDnDiag">
                <a:fgClr>
                  <a:srgbClr val="000000"/>
                </a:fgClr>
                <a:bgClr>
                  <a:srgbClr val="FFFFFF"/>
                </a:bgClr>
              </a:patt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98310" name="AutoShape 16"/>
            <p:cNvSpPr>
              <a:spLocks noChangeArrowheads="1"/>
            </p:cNvSpPr>
            <p:nvPr/>
          </p:nvSpPr>
          <p:spPr bwMode="auto">
            <a:xfrm rot="2235391">
              <a:off x="3072" y="2352"/>
              <a:ext cx="480" cy="144"/>
            </a:xfrm>
            <a:prstGeom prst="rightArrow">
              <a:avLst>
                <a:gd name="adj1" fmla="val 50000"/>
                <a:gd name="adj2" fmla="val 83333"/>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98311" name="Group 27"/>
            <p:cNvGrpSpPr>
              <a:grpSpLocks/>
            </p:cNvGrpSpPr>
            <p:nvPr/>
          </p:nvGrpSpPr>
          <p:grpSpPr bwMode="auto">
            <a:xfrm>
              <a:off x="2304" y="2688"/>
              <a:ext cx="528" cy="384"/>
              <a:chOff x="1536" y="2544"/>
              <a:chExt cx="912" cy="384"/>
            </a:xfrm>
          </p:grpSpPr>
          <p:sp>
            <p:nvSpPr>
              <p:cNvPr id="98327" name="Rectangle 19"/>
              <p:cNvSpPr>
                <a:spLocks noChangeArrowheads="1"/>
              </p:cNvSpPr>
              <p:nvPr/>
            </p:nvSpPr>
            <p:spPr bwMode="auto">
              <a:xfrm>
                <a:off x="1536" y="2544"/>
                <a:ext cx="912" cy="96"/>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8328" name="Rectangle 20" descr="浅色下对角线"/>
              <p:cNvSpPr>
                <a:spLocks noChangeArrowheads="1"/>
              </p:cNvSpPr>
              <p:nvPr/>
            </p:nvSpPr>
            <p:spPr bwMode="auto">
              <a:xfrm>
                <a:off x="1536" y="2640"/>
                <a:ext cx="912" cy="96"/>
              </a:xfrm>
              <a:prstGeom prst="rect">
                <a:avLst/>
              </a:prstGeom>
              <a:pattFill prst="ltDnDiag">
                <a:fgClr>
                  <a:srgbClr val="000000"/>
                </a:fgClr>
                <a:bgClr>
                  <a:srgbClr val="FFFFFF"/>
                </a:bgClr>
              </a:patt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8329" name="Rectangle 21"/>
              <p:cNvSpPr>
                <a:spLocks noChangeArrowheads="1"/>
              </p:cNvSpPr>
              <p:nvPr/>
            </p:nvSpPr>
            <p:spPr bwMode="auto">
              <a:xfrm>
                <a:off x="1536" y="2736"/>
                <a:ext cx="912" cy="96"/>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8330" name="Rectangle 23"/>
              <p:cNvSpPr>
                <a:spLocks noChangeArrowheads="1"/>
              </p:cNvSpPr>
              <p:nvPr/>
            </p:nvSpPr>
            <p:spPr bwMode="auto">
              <a:xfrm>
                <a:off x="1536" y="2832"/>
                <a:ext cx="912" cy="96"/>
              </a:xfrm>
              <a:prstGeom prst="rect">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98312" name="Group 43"/>
            <p:cNvGrpSpPr>
              <a:grpSpLocks/>
            </p:cNvGrpSpPr>
            <p:nvPr/>
          </p:nvGrpSpPr>
          <p:grpSpPr bwMode="auto">
            <a:xfrm>
              <a:off x="2688" y="2448"/>
              <a:ext cx="1008" cy="432"/>
              <a:chOff x="2688" y="2448"/>
              <a:chExt cx="1008" cy="432"/>
            </a:xfrm>
          </p:grpSpPr>
          <p:grpSp>
            <p:nvGrpSpPr>
              <p:cNvPr id="98323" name="Group 29"/>
              <p:cNvGrpSpPr>
                <a:grpSpLocks/>
              </p:cNvGrpSpPr>
              <p:nvPr/>
            </p:nvGrpSpPr>
            <p:grpSpPr bwMode="auto">
              <a:xfrm>
                <a:off x="2688" y="2496"/>
                <a:ext cx="1008" cy="384"/>
                <a:chOff x="2325" y="6446"/>
                <a:chExt cx="705" cy="367"/>
              </a:xfrm>
            </p:grpSpPr>
            <p:sp>
              <p:nvSpPr>
                <p:cNvPr id="98325" name="AutoShape 30"/>
                <p:cNvSpPr>
                  <a:spLocks noChangeArrowheads="1"/>
                </p:cNvSpPr>
                <p:nvPr/>
              </p:nvSpPr>
              <p:spPr bwMode="auto">
                <a:xfrm rot="5400000" flipV="1">
                  <a:off x="2612" y="6414"/>
                  <a:ext cx="78" cy="142"/>
                </a:xfrm>
                <a:prstGeom prst="flowChartCollate">
                  <a:avLst/>
                </a:prstGeom>
                <a:solidFill>
                  <a:srgbClr val="FFFFFF"/>
                </a:solidFill>
                <a:ln w="6350">
                  <a:solidFill>
                    <a:srgbClr val="000000"/>
                  </a:solid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8326" name="Text Box 31"/>
                <p:cNvSpPr txBox="1">
                  <a:spLocks noChangeArrowheads="1"/>
                </p:cNvSpPr>
                <p:nvPr/>
              </p:nvSpPr>
              <p:spPr bwMode="auto">
                <a:xfrm flipV="1">
                  <a:off x="2325" y="6450"/>
                  <a:ext cx="705"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lnSpc>
                      <a:spcPct val="80000"/>
                    </a:lnSpc>
                  </a:pPr>
                  <a:endParaRPr lang="zh-CN" altLang="zh-CN" sz="600"/>
                </a:p>
              </p:txBody>
            </p:sp>
          </p:grpSp>
          <p:sp>
            <p:nvSpPr>
              <p:cNvPr id="98324" name="Rectangle 32"/>
              <p:cNvSpPr>
                <a:spLocks noChangeArrowheads="1"/>
              </p:cNvSpPr>
              <p:nvPr/>
            </p:nvSpPr>
            <p:spPr bwMode="auto">
              <a:xfrm>
                <a:off x="2832" y="2448"/>
                <a:ext cx="576"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i="1"/>
                  <a:t> </a:t>
                </a:r>
                <a:r>
                  <a:rPr lang="en-US" altLang="zh-CN" sz="1600" b="1" i="1"/>
                  <a:t>A</a:t>
                </a:r>
                <a:r>
                  <a:rPr lang="en-US" altLang="zh-CN" sz="1600" b="1"/>
                  <a:t>θ</a:t>
                </a:r>
                <a:r>
                  <a:rPr lang="en-US" altLang="zh-CN" sz="1600" b="1" i="1"/>
                  <a:t>B</a:t>
                </a:r>
              </a:p>
            </p:txBody>
          </p:sp>
        </p:grpSp>
        <p:sp>
          <p:nvSpPr>
            <p:cNvPr id="98313" name="AutoShape 33"/>
            <p:cNvSpPr>
              <a:spLocks noChangeArrowheads="1"/>
            </p:cNvSpPr>
            <p:nvPr/>
          </p:nvSpPr>
          <p:spPr bwMode="auto">
            <a:xfrm rot="-1832436">
              <a:off x="3120" y="2736"/>
              <a:ext cx="384" cy="96"/>
            </a:xfrm>
            <a:prstGeom prst="rightArrow">
              <a:avLst>
                <a:gd name="adj1" fmla="val 50000"/>
                <a:gd name="adj2" fmla="val 100000"/>
              </a:avLst>
            </a:prstGeom>
            <a:solidFill>
              <a:srgbClr val="FFFFFF"/>
            </a:solid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98314" name="Group 39"/>
            <p:cNvGrpSpPr>
              <a:grpSpLocks/>
            </p:cNvGrpSpPr>
            <p:nvPr/>
          </p:nvGrpSpPr>
          <p:grpSpPr bwMode="auto">
            <a:xfrm>
              <a:off x="3744" y="2400"/>
              <a:ext cx="1440" cy="288"/>
              <a:chOff x="3216" y="2352"/>
              <a:chExt cx="1440" cy="288"/>
            </a:xfrm>
          </p:grpSpPr>
          <p:sp>
            <p:nvSpPr>
              <p:cNvPr id="98317" name="Rectangle 13" descr="浅色下对角线"/>
              <p:cNvSpPr>
                <a:spLocks noChangeArrowheads="1"/>
              </p:cNvSpPr>
              <p:nvPr/>
            </p:nvSpPr>
            <p:spPr bwMode="auto">
              <a:xfrm>
                <a:off x="3216" y="2544"/>
                <a:ext cx="912" cy="96"/>
              </a:xfrm>
              <a:prstGeom prst="rect">
                <a:avLst/>
              </a:prstGeom>
              <a:pattFill prst="ltDnDiag">
                <a:fgClr>
                  <a:srgbClr val="000000"/>
                </a:fgClr>
                <a:bgClr>
                  <a:srgbClr val="FFFFFF"/>
                </a:bgClr>
              </a:patt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8318" name="Rectangle 14" descr="浅色下对角线"/>
              <p:cNvSpPr>
                <a:spLocks noChangeArrowheads="1"/>
              </p:cNvSpPr>
              <p:nvPr/>
            </p:nvSpPr>
            <p:spPr bwMode="auto">
              <a:xfrm>
                <a:off x="3216" y="2448"/>
                <a:ext cx="912" cy="96"/>
              </a:xfrm>
              <a:prstGeom prst="rect">
                <a:avLst/>
              </a:prstGeom>
              <a:pattFill prst="ltDnDiag">
                <a:fgClr>
                  <a:srgbClr val="000000"/>
                </a:fgClr>
                <a:bgClr>
                  <a:srgbClr val="FFFFFF"/>
                </a:bgClr>
              </a:patt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8319" name="Rectangle 15" descr="浅色下对角线"/>
              <p:cNvSpPr>
                <a:spLocks noChangeArrowheads="1"/>
              </p:cNvSpPr>
              <p:nvPr/>
            </p:nvSpPr>
            <p:spPr bwMode="auto">
              <a:xfrm>
                <a:off x="3216" y="2352"/>
                <a:ext cx="912" cy="96"/>
              </a:xfrm>
              <a:prstGeom prst="rect">
                <a:avLst/>
              </a:prstGeom>
              <a:pattFill prst="ltDnDiag">
                <a:fgClr>
                  <a:srgbClr val="000000"/>
                </a:fgClr>
                <a:bgClr>
                  <a:srgbClr val="FFFFFF"/>
                </a:bgClr>
              </a:patt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8320" name="Rectangle 35" descr="浅色下对角线"/>
              <p:cNvSpPr>
                <a:spLocks noChangeArrowheads="1"/>
              </p:cNvSpPr>
              <p:nvPr/>
            </p:nvSpPr>
            <p:spPr bwMode="auto">
              <a:xfrm>
                <a:off x="4128" y="2352"/>
                <a:ext cx="528" cy="96"/>
              </a:xfrm>
              <a:prstGeom prst="rect">
                <a:avLst/>
              </a:prstGeom>
              <a:pattFill prst="ltDnDiag">
                <a:fgClr>
                  <a:srgbClr val="000000"/>
                </a:fgClr>
                <a:bgClr>
                  <a:srgbClr val="FFFFFF"/>
                </a:bgClr>
              </a:patt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8321" name="Rectangle 36" descr="浅色下对角线"/>
              <p:cNvSpPr>
                <a:spLocks noChangeArrowheads="1"/>
              </p:cNvSpPr>
              <p:nvPr/>
            </p:nvSpPr>
            <p:spPr bwMode="auto">
              <a:xfrm>
                <a:off x="4128" y="2448"/>
                <a:ext cx="528" cy="96"/>
              </a:xfrm>
              <a:prstGeom prst="rect">
                <a:avLst/>
              </a:prstGeom>
              <a:pattFill prst="ltDnDiag">
                <a:fgClr>
                  <a:srgbClr val="000000"/>
                </a:fgClr>
                <a:bgClr>
                  <a:srgbClr val="FFFFFF"/>
                </a:bgClr>
              </a:patt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8322" name="Rectangle 37" descr="浅色下对角线"/>
              <p:cNvSpPr>
                <a:spLocks noChangeArrowheads="1"/>
              </p:cNvSpPr>
              <p:nvPr/>
            </p:nvSpPr>
            <p:spPr bwMode="auto">
              <a:xfrm>
                <a:off x="4128" y="2544"/>
                <a:ext cx="528" cy="96"/>
              </a:xfrm>
              <a:prstGeom prst="rect">
                <a:avLst/>
              </a:prstGeom>
              <a:pattFill prst="ltDnDiag">
                <a:fgClr>
                  <a:srgbClr val="000000"/>
                </a:fgClr>
                <a:bgClr>
                  <a:srgbClr val="FFFFFF"/>
                </a:bgClr>
              </a:pattFill>
              <a:ln w="9525">
                <a:solidFill>
                  <a:srgbClr val="00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98315" name="Text Box 40"/>
            <p:cNvSpPr txBox="1">
              <a:spLocks noChangeArrowheads="1"/>
            </p:cNvSpPr>
            <p:nvPr/>
          </p:nvSpPr>
          <p:spPr bwMode="auto">
            <a:xfrm>
              <a:off x="1728" y="163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en-US" altLang="zh-CN" b="1"/>
                <a:t>R</a:t>
              </a:r>
              <a:endParaRPr lang="en-US" altLang="zh-CN"/>
            </a:p>
          </p:txBody>
        </p:sp>
        <p:sp>
          <p:nvSpPr>
            <p:cNvPr id="98316" name="Text Box 41"/>
            <p:cNvSpPr txBox="1">
              <a:spLocks noChangeArrowheads="1"/>
            </p:cNvSpPr>
            <p:nvPr/>
          </p:nvSpPr>
          <p:spPr bwMode="auto">
            <a:xfrm>
              <a:off x="1920" y="2688"/>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en-US" altLang="zh-CN" b="1"/>
                <a:t>S</a:t>
              </a:r>
              <a:endParaRPr lang="en-US" altLang="zh-CN"/>
            </a:p>
          </p:txBody>
        </p:sp>
      </p:grpSp>
    </p:spTree>
    <p:extLst>
      <p:ext uri="{BB962C8B-B14F-4D97-AF65-F5344CB8AC3E}">
        <p14:creationId xmlns:p14="http://schemas.microsoft.com/office/powerpoint/2010/main" val="423701799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p:cNvSpPr>
            <a:spLocks noGrp="1"/>
          </p:cNvSpPr>
          <p:nvPr>
            <p:ph type="title"/>
          </p:nvPr>
        </p:nvSpPr>
        <p:spPr>
          <a:xfrm>
            <a:off x="914400" y="115888"/>
            <a:ext cx="7391400" cy="563562"/>
          </a:xfrm>
        </p:spPr>
        <p:txBody>
          <a:bodyPr>
            <a:normAutofit fontScale="90000"/>
          </a:bodyPr>
          <a:lstStyle/>
          <a:p>
            <a:pPr eaLnBrk="1" hangingPunct="1"/>
            <a:r>
              <a:rPr lang="zh-CN" altLang="en-US" sz="3600" smtClean="0"/>
              <a:t>连接（续）</a:t>
            </a:r>
          </a:p>
        </p:txBody>
      </p:sp>
      <p:graphicFrame>
        <p:nvGraphicFramePr>
          <p:cNvPr id="7" name="内容占位符 6"/>
          <p:cNvGraphicFramePr>
            <a:graphicFrameLocks noGrp="1"/>
          </p:cNvGraphicFramePr>
          <p:nvPr>
            <p:ph sz="half" idx="1"/>
          </p:nvPr>
        </p:nvGraphicFramePr>
        <p:xfrm>
          <a:off x="1033463" y="2835275"/>
          <a:ext cx="3035301" cy="2133600"/>
        </p:xfrm>
        <a:graphic>
          <a:graphicData uri="http://schemas.openxmlformats.org/drawingml/2006/table">
            <a:tbl>
              <a:tblPr firstRow="1" bandRow="1">
                <a:tableStyleId>{5C22544A-7EE6-4342-B048-85BDC9FD1C3A}</a:tableStyleId>
              </a:tblPr>
              <a:tblGrid>
                <a:gridCol w="1011767"/>
                <a:gridCol w="1011767"/>
                <a:gridCol w="1011767"/>
              </a:tblGrid>
              <a:tr h="426720">
                <a:tc>
                  <a:txBody>
                    <a:bodyPr/>
                    <a:lstStyle/>
                    <a:p>
                      <a:pPr algn="ctr"/>
                      <a:r>
                        <a:rPr lang="en-US" altLang="zh-CN" sz="2200" b="1" dirty="0" smtClean="0">
                          <a:solidFill>
                            <a:schemeClr val="tx1"/>
                          </a:solidFill>
                        </a:rPr>
                        <a:t>A</a:t>
                      </a:r>
                      <a:endParaRPr lang="zh-CN" altLang="en-US" sz="2200" b="1" dirty="0">
                        <a:solidFill>
                          <a:schemeClr val="tx1"/>
                        </a:solidFill>
                      </a:endParaRPr>
                    </a:p>
                  </a:txBody>
                  <a:tcPr marL="91459" marR="91459" marT="45704" marB="45704"/>
                </a:tc>
                <a:tc>
                  <a:txBody>
                    <a:bodyPr/>
                    <a:lstStyle/>
                    <a:p>
                      <a:pPr algn="ctr"/>
                      <a:r>
                        <a:rPr lang="en-US" altLang="zh-CN" sz="2200" b="1" dirty="0" smtClean="0">
                          <a:solidFill>
                            <a:schemeClr val="tx1"/>
                          </a:solidFill>
                        </a:rPr>
                        <a:t>B</a:t>
                      </a:r>
                      <a:endParaRPr lang="zh-CN" altLang="en-US" sz="2200" b="1" dirty="0">
                        <a:solidFill>
                          <a:schemeClr val="tx1"/>
                        </a:solidFill>
                      </a:endParaRPr>
                    </a:p>
                  </a:txBody>
                  <a:tcPr marL="91459" marR="91459" marT="45704" marB="45704"/>
                </a:tc>
                <a:tc>
                  <a:txBody>
                    <a:bodyPr/>
                    <a:lstStyle/>
                    <a:p>
                      <a:pPr algn="ctr"/>
                      <a:r>
                        <a:rPr lang="en-US" altLang="zh-CN" sz="2200" b="1" dirty="0" smtClean="0">
                          <a:solidFill>
                            <a:schemeClr val="tx1"/>
                          </a:solidFill>
                        </a:rPr>
                        <a:t>C</a:t>
                      </a:r>
                      <a:endParaRPr lang="zh-CN" altLang="en-US" sz="2200" b="1" dirty="0">
                        <a:solidFill>
                          <a:schemeClr val="tx1"/>
                        </a:solidFill>
                      </a:endParaRPr>
                    </a:p>
                  </a:txBody>
                  <a:tcPr marL="91459" marR="91459" marT="45704" marB="45704"/>
                </a:tc>
              </a:tr>
              <a:tr h="426720">
                <a:tc>
                  <a:txBody>
                    <a:bodyPr/>
                    <a:lstStyle/>
                    <a:p>
                      <a:pPr algn="ctr"/>
                      <a:r>
                        <a:rPr lang="en-US" altLang="zh-CN" sz="2200" b="1" dirty="0" smtClean="0"/>
                        <a:t>a1</a:t>
                      </a:r>
                      <a:endParaRPr lang="zh-CN" altLang="en-US" sz="2200" b="1" dirty="0"/>
                    </a:p>
                  </a:txBody>
                  <a:tcPr marL="91459" marR="91459" marT="45704" marB="45704"/>
                </a:tc>
                <a:tc>
                  <a:txBody>
                    <a:bodyPr/>
                    <a:lstStyle/>
                    <a:p>
                      <a:pPr algn="ctr"/>
                      <a:r>
                        <a:rPr lang="en-US" altLang="zh-CN" sz="2200" b="1" dirty="0" smtClean="0"/>
                        <a:t>b1</a:t>
                      </a:r>
                      <a:endParaRPr lang="zh-CN" altLang="en-US" sz="2200" b="1" dirty="0"/>
                    </a:p>
                  </a:txBody>
                  <a:tcPr marL="91459" marR="91459" marT="45704" marB="45704"/>
                </a:tc>
                <a:tc>
                  <a:txBody>
                    <a:bodyPr/>
                    <a:lstStyle/>
                    <a:p>
                      <a:pPr algn="ctr"/>
                      <a:r>
                        <a:rPr lang="en-US" altLang="zh-CN" sz="2200" b="1" dirty="0" smtClean="0"/>
                        <a:t>5</a:t>
                      </a:r>
                      <a:endParaRPr lang="zh-CN" altLang="en-US" sz="2200" b="1" dirty="0"/>
                    </a:p>
                  </a:txBody>
                  <a:tcPr marL="91459" marR="91459" marT="45704" marB="45704"/>
                </a:tc>
              </a:tr>
              <a:tr h="426720">
                <a:tc>
                  <a:txBody>
                    <a:bodyPr/>
                    <a:lstStyle/>
                    <a:p>
                      <a:pPr algn="ctr"/>
                      <a:r>
                        <a:rPr lang="en-US" altLang="zh-CN" sz="2200" b="1" dirty="0" smtClean="0"/>
                        <a:t>a1</a:t>
                      </a:r>
                      <a:endParaRPr lang="zh-CN" altLang="en-US" sz="2200" b="1" dirty="0"/>
                    </a:p>
                  </a:txBody>
                  <a:tcPr marL="91459" marR="91459" marT="45704" marB="45704"/>
                </a:tc>
                <a:tc>
                  <a:txBody>
                    <a:bodyPr/>
                    <a:lstStyle/>
                    <a:p>
                      <a:pPr algn="ctr"/>
                      <a:r>
                        <a:rPr lang="en-US" altLang="zh-CN" sz="2200" b="1" dirty="0" smtClean="0"/>
                        <a:t>b2</a:t>
                      </a:r>
                      <a:endParaRPr lang="zh-CN" altLang="en-US" sz="2200" b="1" dirty="0"/>
                    </a:p>
                  </a:txBody>
                  <a:tcPr marL="91459" marR="91459" marT="45704" marB="45704"/>
                </a:tc>
                <a:tc>
                  <a:txBody>
                    <a:bodyPr/>
                    <a:lstStyle/>
                    <a:p>
                      <a:pPr algn="ctr"/>
                      <a:r>
                        <a:rPr lang="en-US" altLang="zh-CN" sz="2200" b="1" dirty="0" smtClean="0"/>
                        <a:t>6</a:t>
                      </a:r>
                      <a:endParaRPr lang="zh-CN" altLang="en-US" sz="2200" b="1" dirty="0"/>
                    </a:p>
                  </a:txBody>
                  <a:tcPr marL="91459" marR="91459" marT="45704" marB="45704"/>
                </a:tc>
              </a:tr>
              <a:tr h="426720">
                <a:tc>
                  <a:txBody>
                    <a:bodyPr/>
                    <a:lstStyle/>
                    <a:p>
                      <a:pPr algn="ctr"/>
                      <a:r>
                        <a:rPr lang="en-US" altLang="zh-CN" sz="2200" b="1" dirty="0" smtClean="0"/>
                        <a:t>a2</a:t>
                      </a:r>
                      <a:endParaRPr lang="zh-CN" altLang="en-US" sz="2200" b="1" dirty="0"/>
                    </a:p>
                  </a:txBody>
                  <a:tcPr marL="91459" marR="91459" marT="45704" marB="45704"/>
                </a:tc>
                <a:tc>
                  <a:txBody>
                    <a:bodyPr/>
                    <a:lstStyle/>
                    <a:p>
                      <a:pPr algn="ctr"/>
                      <a:r>
                        <a:rPr lang="en-US" altLang="zh-CN" sz="2200" b="1" dirty="0" smtClean="0"/>
                        <a:t>b3</a:t>
                      </a:r>
                      <a:endParaRPr lang="zh-CN" altLang="en-US" sz="2200" b="1" dirty="0"/>
                    </a:p>
                  </a:txBody>
                  <a:tcPr marL="91459" marR="91459" marT="45704" marB="45704"/>
                </a:tc>
                <a:tc>
                  <a:txBody>
                    <a:bodyPr/>
                    <a:lstStyle/>
                    <a:p>
                      <a:pPr algn="ctr"/>
                      <a:r>
                        <a:rPr lang="en-US" altLang="zh-CN" sz="2200" b="1" dirty="0" smtClean="0"/>
                        <a:t>8</a:t>
                      </a:r>
                      <a:endParaRPr lang="zh-CN" altLang="en-US" sz="2200" b="1" dirty="0"/>
                    </a:p>
                  </a:txBody>
                  <a:tcPr marL="91459" marR="91459" marT="45704" marB="45704"/>
                </a:tc>
              </a:tr>
              <a:tr h="426720">
                <a:tc>
                  <a:txBody>
                    <a:bodyPr/>
                    <a:lstStyle/>
                    <a:p>
                      <a:pPr algn="ctr"/>
                      <a:r>
                        <a:rPr lang="en-US" altLang="zh-CN" sz="2200" b="1" dirty="0" smtClean="0"/>
                        <a:t>a2</a:t>
                      </a:r>
                      <a:endParaRPr lang="zh-CN" altLang="en-US" sz="2200" b="1" dirty="0"/>
                    </a:p>
                  </a:txBody>
                  <a:tcPr marL="91459" marR="91459" marT="45704" marB="45704"/>
                </a:tc>
                <a:tc>
                  <a:txBody>
                    <a:bodyPr/>
                    <a:lstStyle/>
                    <a:p>
                      <a:pPr algn="ctr"/>
                      <a:r>
                        <a:rPr lang="en-US" altLang="zh-CN" sz="2200" b="1" dirty="0" smtClean="0"/>
                        <a:t>b4</a:t>
                      </a:r>
                      <a:endParaRPr lang="zh-CN" altLang="en-US" sz="2200" b="1" dirty="0"/>
                    </a:p>
                  </a:txBody>
                  <a:tcPr marL="91459" marR="91459" marT="45704" marB="45704"/>
                </a:tc>
                <a:tc>
                  <a:txBody>
                    <a:bodyPr/>
                    <a:lstStyle/>
                    <a:p>
                      <a:pPr algn="ctr"/>
                      <a:r>
                        <a:rPr lang="en-US" altLang="zh-CN" sz="2200" b="1" dirty="0" smtClean="0"/>
                        <a:t>12</a:t>
                      </a:r>
                      <a:endParaRPr lang="zh-CN" altLang="en-US" sz="2200" b="1" dirty="0"/>
                    </a:p>
                  </a:txBody>
                  <a:tcPr marL="91459" marR="91459" marT="45704" marB="45704"/>
                </a:tc>
              </a:tr>
            </a:tbl>
          </a:graphicData>
        </a:graphic>
      </p:graphicFrame>
      <p:graphicFrame>
        <p:nvGraphicFramePr>
          <p:cNvPr id="9" name="内容占位符 8"/>
          <p:cNvGraphicFramePr>
            <a:graphicFrameLocks noGrp="1"/>
          </p:cNvGraphicFramePr>
          <p:nvPr>
            <p:ph sz="quarter" idx="3"/>
            <p:extLst>
              <p:ext uri="{D42A27DB-BD31-4B8C-83A1-F6EECF244321}">
                <p14:modId xmlns:p14="http://schemas.microsoft.com/office/powerpoint/2010/main" val="3140592408"/>
              </p:ext>
            </p:extLst>
          </p:nvPr>
        </p:nvGraphicFramePr>
        <p:xfrm>
          <a:off x="5281613" y="2693988"/>
          <a:ext cx="2112962" cy="2560656"/>
        </p:xfrm>
        <a:graphic>
          <a:graphicData uri="http://schemas.openxmlformats.org/drawingml/2006/table">
            <a:tbl>
              <a:tblPr firstRow="1" bandRow="1">
                <a:tableStyleId>{5C22544A-7EE6-4342-B048-85BDC9FD1C3A}</a:tableStyleId>
              </a:tblPr>
              <a:tblGrid>
                <a:gridCol w="1056481"/>
                <a:gridCol w="1056481"/>
              </a:tblGrid>
              <a:tr h="426773">
                <a:tc>
                  <a:txBody>
                    <a:bodyPr/>
                    <a:lstStyle/>
                    <a:p>
                      <a:pPr algn="ctr"/>
                      <a:r>
                        <a:rPr lang="en-US" altLang="zh-CN" sz="2200" b="1" dirty="0" smtClean="0">
                          <a:solidFill>
                            <a:schemeClr val="tx1"/>
                          </a:solidFill>
                        </a:rPr>
                        <a:t>B</a:t>
                      </a:r>
                      <a:endParaRPr lang="zh-CN" altLang="en-US" sz="2200" b="1" dirty="0">
                        <a:solidFill>
                          <a:schemeClr val="tx1"/>
                        </a:solidFill>
                      </a:endParaRPr>
                    </a:p>
                  </a:txBody>
                  <a:tcPr marL="91472" marR="91472" marT="45748" marB="45748"/>
                </a:tc>
                <a:tc>
                  <a:txBody>
                    <a:bodyPr/>
                    <a:lstStyle/>
                    <a:p>
                      <a:pPr algn="ctr"/>
                      <a:r>
                        <a:rPr lang="en-US" altLang="zh-CN" sz="2200" b="1" dirty="0" smtClean="0">
                          <a:solidFill>
                            <a:schemeClr val="tx1"/>
                          </a:solidFill>
                        </a:rPr>
                        <a:t>E</a:t>
                      </a:r>
                      <a:endParaRPr lang="zh-CN" altLang="en-US" sz="2200" b="1" dirty="0">
                        <a:solidFill>
                          <a:schemeClr val="tx1"/>
                        </a:solidFill>
                      </a:endParaRPr>
                    </a:p>
                  </a:txBody>
                  <a:tcPr marL="91472" marR="91472" marT="45748" marB="45748"/>
                </a:tc>
              </a:tr>
              <a:tr h="426773">
                <a:tc>
                  <a:txBody>
                    <a:bodyPr/>
                    <a:lstStyle/>
                    <a:p>
                      <a:pPr algn="ctr"/>
                      <a:r>
                        <a:rPr lang="en-US" altLang="zh-CN" sz="2200" b="1" dirty="0" smtClean="0"/>
                        <a:t>b1</a:t>
                      </a:r>
                      <a:endParaRPr lang="zh-CN" altLang="en-US" sz="2200" b="1" dirty="0"/>
                    </a:p>
                  </a:txBody>
                  <a:tcPr marL="91472" marR="91472" marT="45748" marB="45748"/>
                </a:tc>
                <a:tc>
                  <a:txBody>
                    <a:bodyPr/>
                    <a:lstStyle/>
                    <a:p>
                      <a:pPr algn="ctr"/>
                      <a:r>
                        <a:rPr lang="en-US" altLang="zh-CN" sz="2200" b="1" dirty="0" smtClean="0"/>
                        <a:t>3</a:t>
                      </a:r>
                      <a:endParaRPr lang="zh-CN" altLang="en-US" sz="2200" b="1" dirty="0"/>
                    </a:p>
                  </a:txBody>
                  <a:tcPr marL="91472" marR="91472" marT="45748" marB="45748"/>
                </a:tc>
              </a:tr>
              <a:tr h="426773">
                <a:tc>
                  <a:txBody>
                    <a:bodyPr/>
                    <a:lstStyle/>
                    <a:p>
                      <a:pPr algn="ctr"/>
                      <a:r>
                        <a:rPr lang="en-US" altLang="zh-CN" sz="2200" b="1" dirty="0" smtClean="0"/>
                        <a:t>b2</a:t>
                      </a:r>
                      <a:endParaRPr lang="zh-CN" altLang="en-US" sz="2200" b="1" dirty="0"/>
                    </a:p>
                  </a:txBody>
                  <a:tcPr marL="91472" marR="91472" marT="45748" marB="45748"/>
                </a:tc>
                <a:tc>
                  <a:txBody>
                    <a:bodyPr/>
                    <a:lstStyle/>
                    <a:p>
                      <a:pPr algn="ctr"/>
                      <a:r>
                        <a:rPr lang="en-US" altLang="zh-CN" sz="2200" b="1" dirty="0" smtClean="0"/>
                        <a:t>7</a:t>
                      </a:r>
                      <a:endParaRPr lang="zh-CN" altLang="en-US" sz="2200" b="1" dirty="0"/>
                    </a:p>
                  </a:txBody>
                  <a:tcPr marL="91472" marR="91472" marT="45748" marB="45748"/>
                </a:tc>
              </a:tr>
              <a:tr h="426773">
                <a:tc>
                  <a:txBody>
                    <a:bodyPr/>
                    <a:lstStyle/>
                    <a:p>
                      <a:pPr algn="ctr"/>
                      <a:r>
                        <a:rPr lang="en-US" altLang="zh-CN" sz="2200" b="1" dirty="0" smtClean="0"/>
                        <a:t>b3</a:t>
                      </a:r>
                      <a:endParaRPr lang="zh-CN" altLang="en-US" sz="2200" b="1" dirty="0"/>
                    </a:p>
                  </a:txBody>
                  <a:tcPr marL="91472" marR="91472" marT="45748" marB="45748"/>
                </a:tc>
                <a:tc>
                  <a:txBody>
                    <a:bodyPr/>
                    <a:lstStyle/>
                    <a:p>
                      <a:pPr algn="ctr"/>
                      <a:r>
                        <a:rPr lang="en-US" altLang="zh-CN" sz="2200" b="1" dirty="0" smtClean="0"/>
                        <a:t>10</a:t>
                      </a:r>
                      <a:endParaRPr lang="zh-CN" altLang="en-US" sz="2200" b="1" dirty="0"/>
                    </a:p>
                  </a:txBody>
                  <a:tcPr marL="91472" marR="91472" marT="45748" marB="45748"/>
                </a:tc>
              </a:tr>
              <a:tr h="42677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200" b="1" dirty="0" smtClean="0"/>
                        <a:t>b3</a:t>
                      </a:r>
                      <a:endParaRPr lang="zh-CN" altLang="en-US" sz="2200" b="1" dirty="0"/>
                    </a:p>
                  </a:txBody>
                  <a:tcPr marL="91472" marR="91472" marT="45748" marB="45748"/>
                </a:tc>
                <a:tc>
                  <a:txBody>
                    <a:bodyPr/>
                    <a:lstStyle/>
                    <a:p>
                      <a:pPr algn="ctr"/>
                      <a:r>
                        <a:rPr lang="en-US" altLang="zh-CN" sz="2200" b="1" dirty="0" smtClean="0"/>
                        <a:t>2</a:t>
                      </a:r>
                      <a:endParaRPr lang="zh-CN" altLang="en-US" sz="2200" b="1" dirty="0"/>
                    </a:p>
                  </a:txBody>
                  <a:tcPr marL="91472" marR="91472" marT="45748" marB="45748"/>
                </a:tc>
              </a:tr>
              <a:tr h="42677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200" b="1" dirty="0" smtClean="0"/>
                        <a:t>b5</a:t>
                      </a:r>
                      <a:endParaRPr lang="zh-CN" altLang="en-US" sz="2200" b="1" dirty="0"/>
                    </a:p>
                  </a:txBody>
                  <a:tcPr marL="91472" marR="91472" marT="45748" marB="45748"/>
                </a:tc>
                <a:tc>
                  <a:txBody>
                    <a:bodyPr/>
                    <a:lstStyle/>
                    <a:p>
                      <a:pPr algn="ctr"/>
                      <a:r>
                        <a:rPr lang="en-US" altLang="zh-CN" sz="2200" b="1" dirty="0" smtClean="0"/>
                        <a:t>2</a:t>
                      </a:r>
                      <a:endParaRPr lang="zh-CN" altLang="en-US" sz="2200" b="1" dirty="0"/>
                    </a:p>
                  </a:txBody>
                  <a:tcPr marL="91472" marR="91472" marT="45748" marB="45748"/>
                </a:tc>
              </a:tr>
            </a:tbl>
          </a:graphicData>
        </a:graphic>
      </p:graphicFrame>
      <p:sp>
        <p:nvSpPr>
          <p:cNvPr id="99380" name="TextBox 7"/>
          <p:cNvSpPr txBox="1">
            <a:spLocks noChangeArrowheads="1"/>
          </p:cNvSpPr>
          <p:nvPr/>
        </p:nvSpPr>
        <p:spPr bwMode="auto">
          <a:xfrm>
            <a:off x="1187450" y="2273300"/>
            <a:ext cx="388938"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a:t>R</a:t>
            </a:r>
            <a:endParaRPr lang="zh-CN" altLang="en-US" sz="2200" b="1"/>
          </a:p>
        </p:txBody>
      </p:sp>
      <p:sp>
        <p:nvSpPr>
          <p:cNvPr id="99381" name="TextBox 10"/>
          <p:cNvSpPr txBox="1">
            <a:spLocks noChangeArrowheads="1"/>
          </p:cNvSpPr>
          <p:nvPr/>
        </p:nvSpPr>
        <p:spPr bwMode="auto">
          <a:xfrm>
            <a:off x="5497513" y="2117725"/>
            <a:ext cx="3714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a:t>S</a:t>
            </a:r>
            <a:endParaRPr lang="zh-CN" altLang="en-US" sz="2200" b="1"/>
          </a:p>
        </p:txBody>
      </p:sp>
      <p:sp>
        <p:nvSpPr>
          <p:cNvPr id="99382" name="Rectangle 3"/>
          <p:cNvSpPr txBox="1">
            <a:spLocks noChangeArrowheads="1"/>
          </p:cNvSpPr>
          <p:nvPr/>
        </p:nvSpPr>
        <p:spPr bwMode="auto">
          <a:xfrm>
            <a:off x="1033463" y="1268413"/>
            <a:ext cx="7570787"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hlink"/>
              </a:buClr>
              <a:buFont typeface="Wingdings" panose="05000000000000000000" pitchFamily="2" charset="2"/>
              <a:buChar char="v"/>
            </a:pPr>
            <a:r>
              <a:rPr lang="en-US" altLang="zh-CN" sz="2800" b="1"/>
              <a:t>[</a:t>
            </a:r>
            <a:r>
              <a:rPr lang="zh-CN" altLang="en-US" sz="2800" b="1">
                <a:ea typeface="黑体" panose="02010609060101010101" pitchFamily="49" charset="-122"/>
              </a:rPr>
              <a:t>例</a:t>
            </a:r>
            <a:r>
              <a:rPr lang="en-US" altLang="zh-CN" sz="2800" b="1">
                <a:ea typeface="黑体" panose="02010609060101010101" pitchFamily="49" charset="-122"/>
              </a:rPr>
              <a:t>2.8</a:t>
            </a:r>
            <a:r>
              <a:rPr lang="en-US" altLang="zh-CN" sz="2800" b="1"/>
              <a:t>]</a:t>
            </a:r>
            <a:r>
              <a:rPr lang="zh-CN" altLang="en-US" sz="2800" b="1"/>
              <a:t>关系</a:t>
            </a:r>
            <a:r>
              <a:rPr lang="en-US" altLang="zh-CN" sz="2800" b="1" i="1"/>
              <a:t>R</a:t>
            </a:r>
            <a:r>
              <a:rPr lang="zh-CN" altLang="en-US" sz="2800" b="1"/>
              <a:t>和关系</a:t>
            </a:r>
            <a:r>
              <a:rPr lang="en-US" altLang="zh-CN" sz="2800" b="1" i="1"/>
              <a:t>S</a:t>
            </a:r>
            <a:r>
              <a:rPr lang="en-US" altLang="zh-CN" sz="2800" b="1"/>
              <a:t> </a:t>
            </a:r>
            <a:r>
              <a:rPr lang="zh-CN" altLang="en-US" sz="2800" b="1"/>
              <a:t>如下所示：</a:t>
            </a:r>
          </a:p>
        </p:txBody>
      </p:sp>
    </p:spTree>
    <p:extLst>
      <p:ext uri="{BB962C8B-B14F-4D97-AF65-F5344CB8AC3E}">
        <p14:creationId xmlns:p14="http://schemas.microsoft.com/office/powerpoint/2010/main" val="250259895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914400" y="115888"/>
            <a:ext cx="7391400" cy="563562"/>
          </a:xfrm>
        </p:spPr>
        <p:txBody>
          <a:bodyPr>
            <a:normAutofit fontScale="90000"/>
          </a:bodyPr>
          <a:lstStyle/>
          <a:p>
            <a:pPr eaLnBrk="1" hangingPunct="1"/>
            <a:r>
              <a:rPr lang="zh-CN" altLang="en-US" sz="3600" smtClean="0"/>
              <a:t>连接（续）</a:t>
            </a:r>
            <a:endParaRPr lang="en-US" altLang="zh-CN" sz="3600" smtClean="0"/>
          </a:p>
        </p:txBody>
      </p:sp>
      <p:sp>
        <p:nvSpPr>
          <p:cNvPr id="100355" name="Rectangle 3"/>
          <p:cNvSpPr>
            <a:spLocks noGrp="1" noChangeArrowheads="1"/>
          </p:cNvSpPr>
          <p:nvPr>
            <p:ph type="body" sz="half" idx="1"/>
          </p:nvPr>
        </p:nvSpPr>
        <p:spPr>
          <a:xfrm>
            <a:off x="457200" y="1341438"/>
            <a:ext cx="8147050" cy="808037"/>
          </a:xfrm>
        </p:spPr>
        <p:txBody>
          <a:bodyPr/>
          <a:lstStyle/>
          <a:p>
            <a:pPr eaLnBrk="1" hangingPunct="1">
              <a:buFont typeface="Wingdings" panose="05000000000000000000" pitchFamily="2" charset="2"/>
              <a:buNone/>
            </a:pPr>
            <a:r>
              <a:rPr lang="zh-CN" altLang="en-US" smtClean="0"/>
              <a:t>一般连接  </a:t>
            </a:r>
            <a:r>
              <a:rPr lang="en-US" altLang="zh-CN" smtClean="0"/>
              <a:t>R      S</a:t>
            </a:r>
            <a:r>
              <a:rPr lang="zh-CN" altLang="en-US" smtClean="0"/>
              <a:t>的结果如下： </a:t>
            </a:r>
          </a:p>
        </p:txBody>
      </p:sp>
      <p:grpSp>
        <p:nvGrpSpPr>
          <p:cNvPr id="100356" name="Group 97"/>
          <p:cNvGrpSpPr>
            <a:grpSpLocks/>
          </p:cNvGrpSpPr>
          <p:nvPr/>
        </p:nvGrpSpPr>
        <p:grpSpPr bwMode="auto">
          <a:xfrm rot="10800000">
            <a:off x="2033588" y="688568"/>
            <a:ext cx="1225550" cy="936625"/>
            <a:chOff x="6431" y="11824"/>
            <a:chExt cx="705" cy="367"/>
          </a:xfrm>
        </p:grpSpPr>
        <p:sp>
          <p:nvSpPr>
            <p:cNvPr id="100402" name="AutoShape 98"/>
            <p:cNvSpPr>
              <a:spLocks noChangeArrowheads="1"/>
            </p:cNvSpPr>
            <p:nvPr/>
          </p:nvSpPr>
          <p:spPr bwMode="auto">
            <a:xfrm rot="5400000" flipV="1">
              <a:off x="6793" y="11792"/>
              <a:ext cx="78" cy="142"/>
            </a:xfrm>
            <a:prstGeom prst="flowChartCollate">
              <a:avLst/>
            </a:prstGeom>
            <a:solidFill>
              <a:srgbClr val="FFFFFF"/>
            </a:solidFill>
            <a:ln w="6350">
              <a:solidFill>
                <a:srgbClr val="000000"/>
              </a:solid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0403" name="Text Box 99"/>
            <p:cNvSpPr txBox="1">
              <a:spLocks noChangeArrowheads="1"/>
            </p:cNvSpPr>
            <p:nvPr/>
          </p:nvSpPr>
          <p:spPr bwMode="auto">
            <a:xfrm flipV="1">
              <a:off x="6431" y="11828"/>
              <a:ext cx="705"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lnSpc>
                  <a:spcPct val="80000"/>
                </a:lnSpc>
              </a:pPr>
              <a:r>
                <a:rPr lang="en-US" altLang="zh-CN" sz="600" i="1"/>
                <a:t> </a:t>
              </a:r>
              <a:endParaRPr lang="en-US" altLang="zh-CN"/>
            </a:p>
          </p:txBody>
        </p:sp>
      </p:grpSp>
      <p:sp>
        <p:nvSpPr>
          <p:cNvPr id="100357" name="Rectangle 100"/>
          <p:cNvSpPr>
            <a:spLocks noChangeArrowheads="1"/>
          </p:cNvSpPr>
          <p:nvPr/>
        </p:nvSpPr>
        <p:spPr bwMode="auto">
          <a:xfrm>
            <a:off x="2066752" y="1493690"/>
            <a:ext cx="990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80000"/>
              </a:lnSpc>
            </a:pPr>
            <a:r>
              <a:rPr lang="en-US" altLang="zh-CN" sz="1600" i="1" dirty="0"/>
              <a:t>C</a:t>
            </a:r>
            <a:r>
              <a:rPr lang="zh-CN" altLang="en-US" sz="1600" dirty="0"/>
              <a:t>＜</a:t>
            </a:r>
            <a:r>
              <a:rPr lang="en-US" altLang="zh-CN" sz="1600" i="1" dirty="0"/>
              <a:t>E</a:t>
            </a:r>
            <a:endParaRPr lang="en-US" altLang="zh-CN" dirty="0"/>
          </a:p>
        </p:txBody>
      </p:sp>
      <p:graphicFrame>
        <p:nvGraphicFramePr>
          <p:cNvPr id="12" name="内容占位符 9"/>
          <p:cNvGraphicFramePr>
            <a:graphicFrameLocks noGrp="1"/>
          </p:cNvGraphicFramePr>
          <p:nvPr>
            <p:ph sz="quarter" idx="2"/>
          </p:nvPr>
        </p:nvGraphicFramePr>
        <p:xfrm>
          <a:off x="1116013" y="2060575"/>
          <a:ext cx="6840535" cy="3222625"/>
        </p:xfrm>
        <a:graphic>
          <a:graphicData uri="http://schemas.openxmlformats.org/drawingml/2006/table">
            <a:tbl>
              <a:tblPr firstRow="1" bandRow="1">
                <a:tableStyleId>{5C22544A-7EE6-4342-B048-85BDC9FD1C3A}</a:tableStyleId>
              </a:tblPr>
              <a:tblGrid>
                <a:gridCol w="1368107"/>
                <a:gridCol w="1368107"/>
                <a:gridCol w="1368107"/>
                <a:gridCol w="1368107"/>
                <a:gridCol w="1368107"/>
              </a:tblGrid>
              <a:tr h="426830">
                <a:tc>
                  <a:txBody>
                    <a:bodyPr/>
                    <a:lstStyle/>
                    <a:p>
                      <a:pPr algn="ctr"/>
                      <a:r>
                        <a:rPr lang="en-US" altLang="zh-CN" sz="2200" b="1" dirty="0" smtClean="0">
                          <a:solidFill>
                            <a:schemeClr val="tx1"/>
                          </a:solidFill>
                        </a:rPr>
                        <a:t>A</a:t>
                      </a:r>
                      <a:endParaRPr lang="zh-CN" altLang="en-US" sz="2200" b="1" dirty="0">
                        <a:solidFill>
                          <a:schemeClr val="tx1"/>
                        </a:solidFill>
                      </a:endParaRPr>
                    </a:p>
                  </a:txBody>
                  <a:tcPr marL="91454" marR="91454" marT="45738" marB="45738"/>
                </a:tc>
                <a:tc>
                  <a:txBody>
                    <a:bodyPr/>
                    <a:lstStyle/>
                    <a:p>
                      <a:pPr algn="ctr"/>
                      <a:r>
                        <a:rPr lang="en-US" altLang="zh-CN" sz="2200" b="1" dirty="0" smtClean="0">
                          <a:solidFill>
                            <a:schemeClr val="tx1"/>
                          </a:solidFill>
                        </a:rPr>
                        <a:t>R.B</a:t>
                      </a:r>
                      <a:endParaRPr lang="zh-CN" altLang="en-US" sz="2200" b="1" dirty="0">
                        <a:solidFill>
                          <a:schemeClr val="tx1"/>
                        </a:solidFill>
                      </a:endParaRPr>
                    </a:p>
                  </a:txBody>
                  <a:tcPr marL="91454" marR="91454" marT="45738" marB="45738"/>
                </a:tc>
                <a:tc>
                  <a:txBody>
                    <a:bodyPr/>
                    <a:lstStyle/>
                    <a:p>
                      <a:pPr algn="ctr"/>
                      <a:r>
                        <a:rPr lang="en-US" altLang="zh-CN" sz="2200" b="1" dirty="0" smtClean="0">
                          <a:solidFill>
                            <a:schemeClr val="tx1"/>
                          </a:solidFill>
                        </a:rPr>
                        <a:t>C</a:t>
                      </a:r>
                      <a:endParaRPr lang="zh-CN" altLang="en-US" sz="2200" b="1" dirty="0">
                        <a:solidFill>
                          <a:schemeClr val="tx1"/>
                        </a:solidFill>
                      </a:endParaRPr>
                    </a:p>
                  </a:txBody>
                  <a:tcPr marL="91454" marR="91454" marT="45738" marB="45738"/>
                </a:tc>
                <a:tc>
                  <a:txBody>
                    <a:bodyPr/>
                    <a:lstStyle/>
                    <a:p>
                      <a:pPr algn="ctr"/>
                      <a:r>
                        <a:rPr lang="en-US" altLang="zh-CN" sz="2200" b="1" dirty="0" smtClean="0">
                          <a:solidFill>
                            <a:schemeClr val="tx1"/>
                          </a:solidFill>
                        </a:rPr>
                        <a:t>S.B</a:t>
                      </a:r>
                      <a:endParaRPr lang="zh-CN" altLang="en-US" sz="2200" b="1" dirty="0">
                        <a:solidFill>
                          <a:schemeClr val="tx1"/>
                        </a:solidFill>
                      </a:endParaRPr>
                    </a:p>
                  </a:txBody>
                  <a:tcPr marL="91454" marR="91454" marT="45738" marB="45738"/>
                </a:tc>
                <a:tc>
                  <a:txBody>
                    <a:bodyPr/>
                    <a:lstStyle/>
                    <a:p>
                      <a:pPr algn="ctr"/>
                      <a:r>
                        <a:rPr lang="en-US" altLang="zh-CN" sz="2200" b="1" dirty="0" smtClean="0">
                          <a:solidFill>
                            <a:schemeClr val="tx1"/>
                          </a:solidFill>
                        </a:rPr>
                        <a:t>E</a:t>
                      </a:r>
                      <a:endParaRPr lang="zh-CN" altLang="en-US" sz="2200" b="1" dirty="0">
                        <a:solidFill>
                          <a:schemeClr val="tx1"/>
                        </a:solidFill>
                      </a:endParaRPr>
                    </a:p>
                  </a:txBody>
                  <a:tcPr marL="91454" marR="91454" marT="45738" marB="45738"/>
                </a:tc>
              </a:tr>
              <a:tr h="559159">
                <a:tc>
                  <a:txBody>
                    <a:bodyPr/>
                    <a:lstStyle/>
                    <a:p>
                      <a:pPr algn="ctr"/>
                      <a:r>
                        <a:rPr lang="en-US" altLang="zh-CN" sz="2200" b="1" dirty="0" smtClean="0"/>
                        <a:t>a1</a:t>
                      </a:r>
                      <a:endParaRPr lang="zh-CN" altLang="en-US" sz="2200" b="1" dirty="0"/>
                    </a:p>
                  </a:txBody>
                  <a:tcPr marL="91454" marR="91454" marT="45738" marB="45738"/>
                </a:tc>
                <a:tc>
                  <a:txBody>
                    <a:bodyPr/>
                    <a:lstStyle/>
                    <a:p>
                      <a:pPr algn="ctr"/>
                      <a:r>
                        <a:rPr lang="en-US" altLang="zh-CN" sz="2200" b="1" dirty="0" smtClean="0"/>
                        <a:t>b1</a:t>
                      </a:r>
                      <a:endParaRPr lang="zh-CN" altLang="en-US" sz="2200" b="1" dirty="0"/>
                    </a:p>
                  </a:txBody>
                  <a:tcPr marL="91454" marR="91454" marT="45738" marB="45738"/>
                </a:tc>
                <a:tc>
                  <a:txBody>
                    <a:bodyPr/>
                    <a:lstStyle/>
                    <a:p>
                      <a:pPr algn="ctr"/>
                      <a:r>
                        <a:rPr lang="en-US" altLang="zh-CN" sz="2200" b="1" dirty="0" smtClean="0"/>
                        <a:t>5</a:t>
                      </a:r>
                      <a:endParaRPr lang="zh-CN" altLang="en-US" sz="2200" b="1" dirty="0"/>
                    </a:p>
                  </a:txBody>
                  <a:tcPr marL="91454" marR="91454" marT="45738" marB="45738"/>
                </a:tc>
                <a:tc>
                  <a:txBody>
                    <a:bodyPr/>
                    <a:lstStyle/>
                    <a:p>
                      <a:pPr algn="ctr"/>
                      <a:r>
                        <a:rPr lang="en-US" altLang="zh-CN" sz="2200" b="1" dirty="0" smtClean="0"/>
                        <a:t>b2</a:t>
                      </a:r>
                      <a:endParaRPr lang="zh-CN" altLang="en-US" sz="2200" b="1" dirty="0"/>
                    </a:p>
                  </a:txBody>
                  <a:tcPr marL="91454" marR="91454" marT="45738" marB="45738"/>
                </a:tc>
                <a:tc>
                  <a:txBody>
                    <a:bodyPr/>
                    <a:lstStyle/>
                    <a:p>
                      <a:pPr algn="ctr"/>
                      <a:r>
                        <a:rPr lang="en-US" altLang="zh-CN" sz="2200" b="1" dirty="0" smtClean="0"/>
                        <a:t>7</a:t>
                      </a:r>
                      <a:endParaRPr lang="zh-CN" altLang="en-US" sz="2200" b="1" dirty="0"/>
                    </a:p>
                  </a:txBody>
                  <a:tcPr marL="91454" marR="91454" marT="45738" marB="45738"/>
                </a:tc>
              </a:tr>
              <a:tr h="559159">
                <a:tc>
                  <a:txBody>
                    <a:bodyPr/>
                    <a:lstStyle/>
                    <a:p>
                      <a:pPr algn="ctr"/>
                      <a:r>
                        <a:rPr lang="en-US" altLang="zh-CN" sz="2200" b="1" dirty="0" smtClean="0"/>
                        <a:t>a1</a:t>
                      </a:r>
                      <a:endParaRPr lang="zh-CN" altLang="en-US" sz="2200" b="1" dirty="0"/>
                    </a:p>
                  </a:txBody>
                  <a:tcPr marL="91454" marR="91454" marT="45738" marB="45738"/>
                </a:tc>
                <a:tc>
                  <a:txBody>
                    <a:bodyPr/>
                    <a:lstStyle/>
                    <a:p>
                      <a:pPr algn="ctr"/>
                      <a:r>
                        <a:rPr lang="en-US" altLang="zh-CN" sz="2200" b="1" dirty="0" smtClean="0"/>
                        <a:t>b1</a:t>
                      </a:r>
                      <a:endParaRPr lang="zh-CN" altLang="en-US" sz="2200" b="1" dirty="0"/>
                    </a:p>
                  </a:txBody>
                  <a:tcPr marL="91454" marR="91454" marT="45738" marB="45738"/>
                </a:tc>
                <a:tc>
                  <a:txBody>
                    <a:bodyPr/>
                    <a:lstStyle/>
                    <a:p>
                      <a:pPr algn="ctr"/>
                      <a:r>
                        <a:rPr lang="en-US" altLang="zh-CN" sz="2200" b="1" dirty="0" smtClean="0"/>
                        <a:t>5</a:t>
                      </a:r>
                      <a:endParaRPr lang="zh-CN" altLang="en-US" sz="2200" b="1" dirty="0"/>
                    </a:p>
                  </a:txBody>
                  <a:tcPr marL="91454" marR="91454" marT="45738" marB="45738"/>
                </a:tc>
                <a:tc>
                  <a:txBody>
                    <a:bodyPr/>
                    <a:lstStyle/>
                    <a:p>
                      <a:pPr algn="ctr"/>
                      <a:r>
                        <a:rPr lang="en-US" altLang="zh-CN" sz="2200" b="1" dirty="0" smtClean="0"/>
                        <a:t>b3</a:t>
                      </a:r>
                      <a:endParaRPr lang="zh-CN" altLang="en-US" sz="2200" b="1" dirty="0"/>
                    </a:p>
                  </a:txBody>
                  <a:tcPr marL="91454" marR="91454" marT="45738" marB="45738"/>
                </a:tc>
                <a:tc>
                  <a:txBody>
                    <a:bodyPr/>
                    <a:lstStyle/>
                    <a:p>
                      <a:pPr algn="ctr"/>
                      <a:r>
                        <a:rPr lang="en-US" altLang="zh-CN" sz="2200" b="1" dirty="0" smtClean="0"/>
                        <a:t>10</a:t>
                      </a:r>
                      <a:endParaRPr lang="zh-CN" altLang="en-US" sz="2200" b="1" dirty="0"/>
                    </a:p>
                  </a:txBody>
                  <a:tcPr marL="91454" marR="91454" marT="45738" marB="45738"/>
                </a:tc>
              </a:tr>
              <a:tr h="559159">
                <a:tc>
                  <a:txBody>
                    <a:bodyPr/>
                    <a:lstStyle/>
                    <a:p>
                      <a:pPr algn="ctr"/>
                      <a:r>
                        <a:rPr lang="en-US" altLang="zh-CN" sz="2200" b="1" dirty="0" smtClean="0"/>
                        <a:t>a1</a:t>
                      </a:r>
                      <a:endParaRPr lang="zh-CN" altLang="en-US" sz="2200" b="1" dirty="0"/>
                    </a:p>
                  </a:txBody>
                  <a:tcPr marL="91454" marR="91454" marT="45738" marB="45738"/>
                </a:tc>
                <a:tc>
                  <a:txBody>
                    <a:bodyPr/>
                    <a:lstStyle/>
                    <a:p>
                      <a:pPr algn="ctr"/>
                      <a:r>
                        <a:rPr lang="en-US" altLang="zh-CN" sz="2200" b="1" dirty="0" smtClean="0"/>
                        <a:t>b2</a:t>
                      </a:r>
                      <a:endParaRPr lang="zh-CN" altLang="en-US" sz="2200" b="1" dirty="0"/>
                    </a:p>
                  </a:txBody>
                  <a:tcPr marL="91454" marR="91454" marT="45738" marB="45738"/>
                </a:tc>
                <a:tc>
                  <a:txBody>
                    <a:bodyPr/>
                    <a:lstStyle/>
                    <a:p>
                      <a:pPr algn="ctr"/>
                      <a:r>
                        <a:rPr lang="en-US" altLang="zh-CN" sz="2200" b="1" dirty="0" smtClean="0"/>
                        <a:t>6</a:t>
                      </a:r>
                      <a:endParaRPr lang="zh-CN" altLang="en-US" sz="2200" b="1" dirty="0"/>
                    </a:p>
                  </a:txBody>
                  <a:tcPr marL="91454" marR="91454" marT="45738" marB="45738"/>
                </a:tc>
                <a:tc>
                  <a:txBody>
                    <a:bodyPr/>
                    <a:lstStyle/>
                    <a:p>
                      <a:pPr algn="ctr"/>
                      <a:r>
                        <a:rPr lang="en-US" altLang="zh-CN" sz="2200" b="1" dirty="0" smtClean="0"/>
                        <a:t>b2</a:t>
                      </a:r>
                      <a:endParaRPr lang="zh-CN" altLang="en-US" sz="2200" b="1" dirty="0"/>
                    </a:p>
                  </a:txBody>
                  <a:tcPr marL="91454" marR="91454" marT="45738" marB="45738"/>
                </a:tc>
                <a:tc>
                  <a:txBody>
                    <a:bodyPr/>
                    <a:lstStyle/>
                    <a:p>
                      <a:pPr algn="ctr"/>
                      <a:r>
                        <a:rPr lang="en-US" altLang="zh-CN" sz="2200" b="1" dirty="0" smtClean="0"/>
                        <a:t>7</a:t>
                      </a:r>
                      <a:endParaRPr lang="zh-CN" altLang="en-US" sz="2200" b="1" dirty="0"/>
                    </a:p>
                  </a:txBody>
                  <a:tcPr marL="91454" marR="91454" marT="45738" marB="45738"/>
                </a:tc>
              </a:tr>
              <a:tr h="559159">
                <a:tc>
                  <a:txBody>
                    <a:bodyPr/>
                    <a:lstStyle/>
                    <a:p>
                      <a:pPr algn="ctr"/>
                      <a:r>
                        <a:rPr lang="en-US" altLang="zh-CN" sz="2200" b="1" dirty="0" smtClean="0"/>
                        <a:t>a1</a:t>
                      </a:r>
                      <a:endParaRPr lang="zh-CN" altLang="en-US" sz="2200" b="1" dirty="0"/>
                    </a:p>
                  </a:txBody>
                  <a:tcPr marL="91454" marR="91454" marT="45738" marB="45738"/>
                </a:tc>
                <a:tc>
                  <a:txBody>
                    <a:bodyPr/>
                    <a:lstStyle/>
                    <a:p>
                      <a:pPr algn="ctr"/>
                      <a:r>
                        <a:rPr lang="en-US" altLang="zh-CN" sz="2200" b="1" dirty="0" smtClean="0"/>
                        <a:t>b2</a:t>
                      </a:r>
                      <a:endParaRPr lang="zh-CN" altLang="en-US" sz="2200" b="1" dirty="0"/>
                    </a:p>
                  </a:txBody>
                  <a:tcPr marL="91454" marR="91454" marT="45738" marB="45738"/>
                </a:tc>
                <a:tc>
                  <a:txBody>
                    <a:bodyPr/>
                    <a:lstStyle/>
                    <a:p>
                      <a:pPr algn="ctr"/>
                      <a:r>
                        <a:rPr lang="en-US" altLang="zh-CN" sz="2200" b="1" dirty="0" smtClean="0"/>
                        <a:t>6</a:t>
                      </a:r>
                      <a:endParaRPr lang="zh-CN" altLang="en-US" sz="2200" b="1" dirty="0"/>
                    </a:p>
                  </a:txBody>
                  <a:tcPr marL="91454" marR="91454" marT="45738" marB="45738"/>
                </a:tc>
                <a:tc>
                  <a:txBody>
                    <a:bodyPr/>
                    <a:lstStyle/>
                    <a:p>
                      <a:pPr algn="ctr"/>
                      <a:r>
                        <a:rPr lang="en-US" altLang="zh-CN" sz="2200" b="1" dirty="0" smtClean="0"/>
                        <a:t>b3</a:t>
                      </a:r>
                      <a:endParaRPr lang="zh-CN" altLang="en-US" sz="2200" b="1" dirty="0"/>
                    </a:p>
                  </a:txBody>
                  <a:tcPr marL="91454" marR="91454" marT="45738" marB="45738"/>
                </a:tc>
                <a:tc>
                  <a:txBody>
                    <a:bodyPr/>
                    <a:lstStyle/>
                    <a:p>
                      <a:pPr algn="ctr"/>
                      <a:r>
                        <a:rPr lang="en-US" altLang="zh-CN" sz="2200" b="1" dirty="0" smtClean="0"/>
                        <a:t>10</a:t>
                      </a:r>
                      <a:endParaRPr lang="zh-CN" altLang="en-US" sz="2200" b="1" dirty="0"/>
                    </a:p>
                  </a:txBody>
                  <a:tcPr marL="91454" marR="91454" marT="45738" marB="45738"/>
                </a:tc>
              </a:tr>
              <a:tr h="559159">
                <a:tc>
                  <a:txBody>
                    <a:bodyPr/>
                    <a:lstStyle/>
                    <a:p>
                      <a:pPr algn="ctr"/>
                      <a:r>
                        <a:rPr lang="en-US" altLang="zh-CN" sz="2200" b="1" dirty="0" smtClean="0"/>
                        <a:t>a2</a:t>
                      </a:r>
                      <a:endParaRPr lang="zh-CN" altLang="en-US" sz="2200" b="1" dirty="0"/>
                    </a:p>
                  </a:txBody>
                  <a:tcPr marL="91454" marR="91454" marT="45738" marB="45738"/>
                </a:tc>
                <a:tc>
                  <a:txBody>
                    <a:bodyPr/>
                    <a:lstStyle/>
                    <a:p>
                      <a:pPr algn="ctr"/>
                      <a:r>
                        <a:rPr lang="en-US" altLang="zh-CN" sz="2200" b="1" dirty="0" smtClean="0"/>
                        <a:t>b3</a:t>
                      </a:r>
                      <a:endParaRPr lang="zh-CN" altLang="en-US" sz="2200" b="1" dirty="0"/>
                    </a:p>
                  </a:txBody>
                  <a:tcPr marL="91454" marR="91454" marT="45738" marB="45738"/>
                </a:tc>
                <a:tc>
                  <a:txBody>
                    <a:bodyPr/>
                    <a:lstStyle/>
                    <a:p>
                      <a:pPr algn="ctr"/>
                      <a:r>
                        <a:rPr lang="en-US" altLang="zh-CN" sz="2200" b="1" dirty="0" smtClean="0"/>
                        <a:t>8</a:t>
                      </a:r>
                      <a:endParaRPr lang="zh-CN" altLang="en-US" sz="2200" b="1" dirty="0"/>
                    </a:p>
                  </a:txBody>
                  <a:tcPr marL="91454" marR="91454" marT="45738" marB="45738"/>
                </a:tc>
                <a:tc>
                  <a:txBody>
                    <a:bodyPr/>
                    <a:lstStyle/>
                    <a:p>
                      <a:pPr algn="ctr"/>
                      <a:r>
                        <a:rPr lang="en-US" altLang="zh-CN" sz="2200" b="1" dirty="0" smtClean="0"/>
                        <a:t>b3</a:t>
                      </a:r>
                      <a:endParaRPr lang="zh-CN" altLang="en-US" sz="2200" b="1" dirty="0"/>
                    </a:p>
                  </a:txBody>
                  <a:tcPr marL="91454" marR="91454" marT="45738" marB="45738"/>
                </a:tc>
                <a:tc>
                  <a:txBody>
                    <a:bodyPr/>
                    <a:lstStyle/>
                    <a:p>
                      <a:pPr algn="ctr"/>
                      <a:r>
                        <a:rPr lang="en-US" altLang="zh-CN" sz="2200" b="1" dirty="0" smtClean="0"/>
                        <a:t>10</a:t>
                      </a:r>
                      <a:endParaRPr lang="zh-CN" altLang="en-US" sz="2200" b="1" dirty="0"/>
                    </a:p>
                  </a:txBody>
                  <a:tcPr marL="91454" marR="91454" marT="45738" marB="45738"/>
                </a:tc>
              </a:tr>
            </a:tbl>
          </a:graphicData>
        </a:graphic>
      </p:graphicFrame>
    </p:spTree>
    <p:extLst>
      <p:ext uri="{BB962C8B-B14F-4D97-AF65-F5344CB8AC3E}">
        <p14:creationId xmlns:p14="http://schemas.microsoft.com/office/powerpoint/2010/main" val="263590784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914400" y="188913"/>
            <a:ext cx="7391400" cy="563562"/>
          </a:xfrm>
        </p:spPr>
        <p:txBody>
          <a:bodyPr>
            <a:normAutofit fontScale="90000"/>
          </a:bodyPr>
          <a:lstStyle/>
          <a:p>
            <a:pPr eaLnBrk="1" hangingPunct="1"/>
            <a:r>
              <a:rPr lang="zh-CN" altLang="en-US" sz="3600" smtClean="0"/>
              <a:t>连接（续）</a:t>
            </a:r>
            <a:endParaRPr lang="en-US" altLang="zh-CN" sz="3600" smtClean="0"/>
          </a:p>
        </p:txBody>
      </p:sp>
      <p:sp>
        <p:nvSpPr>
          <p:cNvPr id="101379" name="Rectangle 3"/>
          <p:cNvSpPr>
            <a:spLocks noGrp="1" noChangeArrowheads="1"/>
          </p:cNvSpPr>
          <p:nvPr>
            <p:ph type="body" sz="half" idx="1"/>
          </p:nvPr>
        </p:nvSpPr>
        <p:spPr>
          <a:xfrm>
            <a:off x="457200" y="1412875"/>
            <a:ext cx="8147050" cy="808038"/>
          </a:xfrm>
        </p:spPr>
        <p:txBody>
          <a:bodyPr/>
          <a:lstStyle/>
          <a:p>
            <a:pPr algn="just" eaLnBrk="1" hangingPunct="1">
              <a:buFont typeface="Wingdings" panose="05000000000000000000" pitchFamily="2" charset="2"/>
              <a:buNone/>
            </a:pPr>
            <a:r>
              <a:rPr lang="en-US" altLang="zh-CN" smtClean="0"/>
              <a:t>   </a:t>
            </a:r>
            <a:r>
              <a:rPr lang="zh-CN" altLang="en-US" smtClean="0"/>
              <a:t>等值连接 </a:t>
            </a:r>
            <a:r>
              <a:rPr lang="en-US" altLang="zh-CN" i="1" smtClean="0"/>
              <a:t>R</a:t>
            </a:r>
            <a:r>
              <a:rPr lang="en-US" altLang="zh-CN" smtClean="0"/>
              <a:t> </a:t>
            </a:r>
            <a:r>
              <a:rPr lang="en-US" altLang="zh-CN" i="1" smtClean="0"/>
              <a:t>     S </a:t>
            </a:r>
            <a:r>
              <a:rPr lang="zh-CN" altLang="en-US" smtClean="0"/>
              <a:t>的结果如下：</a:t>
            </a:r>
          </a:p>
        </p:txBody>
      </p:sp>
      <p:grpSp>
        <p:nvGrpSpPr>
          <p:cNvPr id="101380" name="Group 87"/>
          <p:cNvGrpSpPr>
            <a:grpSpLocks/>
          </p:cNvGrpSpPr>
          <p:nvPr/>
        </p:nvGrpSpPr>
        <p:grpSpPr bwMode="auto">
          <a:xfrm>
            <a:off x="2239408" y="798513"/>
            <a:ext cx="1058863" cy="1444625"/>
            <a:chOff x="3317" y="816"/>
            <a:chExt cx="667" cy="910"/>
          </a:xfrm>
        </p:grpSpPr>
        <p:sp>
          <p:nvSpPr>
            <p:cNvPr id="101419" name="Rectangle 4"/>
            <p:cNvSpPr>
              <a:spLocks noChangeArrowheads="1"/>
            </p:cNvSpPr>
            <p:nvPr/>
          </p:nvSpPr>
          <p:spPr bwMode="auto">
            <a:xfrm>
              <a:off x="3317" y="1342"/>
              <a:ext cx="6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80000"/>
                </a:lnSpc>
              </a:pPr>
              <a:r>
                <a:rPr lang="en-US" altLang="zh-CN" sz="1600" i="1" dirty="0"/>
                <a:t>R.B=S.B</a:t>
              </a:r>
              <a:endParaRPr lang="en-US" altLang="zh-CN" dirty="0"/>
            </a:p>
          </p:txBody>
        </p:sp>
        <p:grpSp>
          <p:nvGrpSpPr>
            <p:cNvPr id="101420" name="Group 6"/>
            <p:cNvGrpSpPr>
              <a:grpSpLocks/>
            </p:cNvGrpSpPr>
            <p:nvPr/>
          </p:nvGrpSpPr>
          <p:grpSpPr bwMode="auto">
            <a:xfrm rot="10800000">
              <a:off x="3360" y="816"/>
              <a:ext cx="624" cy="576"/>
              <a:chOff x="6431" y="11824"/>
              <a:chExt cx="705" cy="367"/>
            </a:xfrm>
          </p:grpSpPr>
          <p:sp>
            <p:nvSpPr>
              <p:cNvPr id="101421" name="AutoShape 7"/>
              <p:cNvSpPr>
                <a:spLocks noChangeArrowheads="1"/>
              </p:cNvSpPr>
              <p:nvPr/>
            </p:nvSpPr>
            <p:spPr bwMode="auto">
              <a:xfrm rot="5400000" flipV="1">
                <a:off x="6793" y="11792"/>
                <a:ext cx="78" cy="142"/>
              </a:xfrm>
              <a:prstGeom prst="flowChartCollate">
                <a:avLst/>
              </a:prstGeom>
              <a:solidFill>
                <a:srgbClr val="FFFFFF"/>
              </a:solidFill>
              <a:ln w="6350">
                <a:solidFill>
                  <a:srgbClr val="000000"/>
                </a:solid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1422" name="Text Box 8"/>
              <p:cNvSpPr txBox="1">
                <a:spLocks noChangeArrowheads="1"/>
              </p:cNvSpPr>
              <p:nvPr/>
            </p:nvSpPr>
            <p:spPr bwMode="auto">
              <a:xfrm flipV="1">
                <a:off x="6431" y="11828"/>
                <a:ext cx="705"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r>
                  <a:rPr lang="en-US" altLang="zh-CN" sz="600" i="1"/>
                  <a:t> </a:t>
                </a:r>
                <a:endParaRPr lang="en-US" altLang="zh-CN"/>
              </a:p>
            </p:txBody>
          </p:sp>
        </p:grpSp>
      </p:grpSp>
      <p:graphicFrame>
        <p:nvGraphicFramePr>
          <p:cNvPr id="12" name="内容占位符 9"/>
          <p:cNvGraphicFramePr>
            <a:graphicFrameLocks noGrp="1"/>
          </p:cNvGraphicFramePr>
          <p:nvPr>
            <p:ph sz="quarter" idx="2"/>
          </p:nvPr>
        </p:nvGraphicFramePr>
        <p:xfrm>
          <a:off x="1042988" y="2182813"/>
          <a:ext cx="6840535" cy="2662240"/>
        </p:xfrm>
        <a:graphic>
          <a:graphicData uri="http://schemas.openxmlformats.org/drawingml/2006/table">
            <a:tbl>
              <a:tblPr firstRow="1" bandRow="1">
                <a:tableStyleId>{5C22544A-7EE6-4342-B048-85BDC9FD1C3A}</a:tableStyleId>
              </a:tblPr>
              <a:tblGrid>
                <a:gridCol w="1368107"/>
                <a:gridCol w="1368107"/>
                <a:gridCol w="1368107"/>
                <a:gridCol w="1368107"/>
                <a:gridCol w="1368107"/>
              </a:tblGrid>
              <a:tr h="426710">
                <a:tc>
                  <a:txBody>
                    <a:bodyPr/>
                    <a:lstStyle/>
                    <a:p>
                      <a:pPr algn="ctr"/>
                      <a:r>
                        <a:rPr lang="en-US" altLang="zh-CN" sz="2200" b="1" dirty="0" smtClean="0">
                          <a:solidFill>
                            <a:schemeClr val="tx1"/>
                          </a:solidFill>
                        </a:rPr>
                        <a:t>A</a:t>
                      </a:r>
                      <a:endParaRPr lang="zh-CN" altLang="en-US" sz="2200" b="1" dirty="0">
                        <a:solidFill>
                          <a:schemeClr val="tx1"/>
                        </a:solidFill>
                      </a:endParaRPr>
                    </a:p>
                  </a:txBody>
                  <a:tcPr marL="91454" marR="91454" marT="45716" marB="45716"/>
                </a:tc>
                <a:tc>
                  <a:txBody>
                    <a:bodyPr/>
                    <a:lstStyle/>
                    <a:p>
                      <a:pPr algn="ctr"/>
                      <a:r>
                        <a:rPr lang="en-US" altLang="zh-CN" sz="2200" b="1" dirty="0" smtClean="0">
                          <a:solidFill>
                            <a:schemeClr val="tx1"/>
                          </a:solidFill>
                        </a:rPr>
                        <a:t>R.B</a:t>
                      </a:r>
                      <a:endParaRPr lang="zh-CN" altLang="en-US" sz="2200" b="1" dirty="0">
                        <a:solidFill>
                          <a:schemeClr val="tx1"/>
                        </a:solidFill>
                      </a:endParaRPr>
                    </a:p>
                  </a:txBody>
                  <a:tcPr marL="91454" marR="91454" marT="45716" marB="45716"/>
                </a:tc>
                <a:tc>
                  <a:txBody>
                    <a:bodyPr/>
                    <a:lstStyle/>
                    <a:p>
                      <a:pPr algn="ctr"/>
                      <a:r>
                        <a:rPr lang="en-US" altLang="zh-CN" sz="2200" b="1" dirty="0" smtClean="0">
                          <a:solidFill>
                            <a:schemeClr val="tx1"/>
                          </a:solidFill>
                        </a:rPr>
                        <a:t>C</a:t>
                      </a:r>
                      <a:endParaRPr lang="zh-CN" altLang="en-US" sz="2200" b="1" dirty="0">
                        <a:solidFill>
                          <a:schemeClr val="tx1"/>
                        </a:solidFill>
                      </a:endParaRPr>
                    </a:p>
                  </a:txBody>
                  <a:tcPr marL="91454" marR="91454" marT="45716" marB="45716"/>
                </a:tc>
                <a:tc>
                  <a:txBody>
                    <a:bodyPr/>
                    <a:lstStyle/>
                    <a:p>
                      <a:pPr algn="ctr"/>
                      <a:r>
                        <a:rPr lang="en-US" altLang="zh-CN" sz="2200" b="1" dirty="0" smtClean="0">
                          <a:solidFill>
                            <a:schemeClr val="tx1"/>
                          </a:solidFill>
                        </a:rPr>
                        <a:t>S.B</a:t>
                      </a:r>
                      <a:endParaRPr lang="zh-CN" altLang="en-US" sz="2200" b="1" dirty="0">
                        <a:solidFill>
                          <a:schemeClr val="tx1"/>
                        </a:solidFill>
                      </a:endParaRPr>
                    </a:p>
                  </a:txBody>
                  <a:tcPr marL="91454" marR="91454" marT="45716" marB="45716"/>
                </a:tc>
                <a:tc>
                  <a:txBody>
                    <a:bodyPr/>
                    <a:lstStyle/>
                    <a:p>
                      <a:pPr algn="ctr"/>
                      <a:r>
                        <a:rPr lang="en-US" altLang="zh-CN" sz="2200" b="1" dirty="0" smtClean="0">
                          <a:solidFill>
                            <a:schemeClr val="tx1"/>
                          </a:solidFill>
                        </a:rPr>
                        <a:t>E</a:t>
                      </a:r>
                      <a:endParaRPr lang="zh-CN" altLang="en-US" sz="2200" b="1" dirty="0">
                        <a:solidFill>
                          <a:schemeClr val="tx1"/>
                        </a:solidFill>
                      </a:endParaRPr>
                    </a:p>
                  </a:txBody>
                  <a:tcPr marL="91454" marR="91454" marT="45716" marB="45716"/>
                </a:tc>
              </a:tr>
              <a:tr h="558882">
                <a:tc>
                  <a:txBody>
                    <a:bodyPr/>
                    <a:lstStyle/>
                    <a:p>
                      <a:pPr algn="ctr"/>
                      <a:r>
                        <a:rPr lang="en-US" altLang="zh-CN" sz="2200" b="1" dirty="0" smtClean="0"/>
                        <a:t>a1</a:t>
                      </a:r>
                      <a:endParaRPr lang="zh-CN" altLang="en-US" sz="2200" b="1" dirty="0"/>
                    </a:p>
                  </a:txBody>
                  <a:tcPr marL="91454" marR="91454" marT="45716" marB="45716"/>
                </a:tc>
                <a:tc>
                  <a:txBody>
                    <a:bodyPr/>
                    <a:lstStyle/>
                    <a:p>
                      <a:pPr algn="ctr"/>
                      <a:r>
                        <a:rPr lang="en-US" altLang="zh-CN" sz="2200" b="1" dirty="0" smtClean="0"/>
                        <a:t>b1</a:t>
                      </a:r>
                      <a:endParaRPr lang="zh-CN" altLang="en-US" sz="2200" b="1" dirty="0"/>
                    </a:p>
                  </a:txBody>
                  <a:tcPr marL="91454" marR="91454" marT="45716" marB="45716"/>
                </a:tc>
                <a:tc>
                  <a:txBody>
                    <a:bodyPr/>
                    <a:lstStyle/>
                    <a:p>
                      <a:pPr algn="ctr"/>
                      <a:r>
                        <a:rPr lang="en-US" altLang="zh-CN" sz="2200" b="1" dirty="0" smtClean="0"/>
                        <a:t>5</a:t>
                      </a:r>
                      <a:endParaRPr lang="zh-CN" altLang="en-US" sz="2200" b="1" dirty="0"/>
                    </a:p>
                  </a:txBody>
                  <a:tcPr marL="91454" marR="91454" marT="45716" marB="45716"/>
                </a:tc>
                <a:tc>
                  <a:txBody>
                    <a:bodyPr/>
                    <a:lstStyle/>
                    <a:p>
                      <a:pPr algn="ctr"/>
                      <a:r>
                        <a:rPr lang="en-US" altLang="zh-CN" sz="2200" b="1" dirty="0" smtClean="0"/>
                        <a:t>b1</a:t>
                      </a:r>
                      <a:endParaRPr lang="zh-CN" altLang="en-US" sz="2200" b="1" dirty="0"/>
                    </a:p>
                  </a:txBody>
                  <a:tcPr marL="91454" marR="91454" marT="45716" marB="45716"/>
                </a:tc>
                <a:tc>
                  <a:txBody>
                    <a:bodyPr/>
                    <a:lstStyle/>
                    <a:p>
                      <a:pPr algn="ctr"/>
                      <a:r>
                        <a:rPr lang="en-US" altLang="zh-CN" sz="2200" b="1" dirty="0" smtClean="0"/>
                        <a:t>3</a:t>
                      </a:r>
                      <a:endParaRPr lang="zh-CN" altLang="en-US" sz="2200" b="1" dirty="0"/>
                    </a:p>
                  </a:txBody>
                  <a:tcPr marL="91454" marR="91454" marT="45716" marB="45716"/>
                </a:tc>
              </a:tr>
              <a:tr h="558882">
                <a:tc>
                  <a:txBody>
                    <a:bodyPr/>
                    <a:lstStyle/>
                    <a:p>
                      <a:pPr algn="ctr"/>
                      <a:r>
                        <a:rPr lang="en-US" altLang="zh-CN" sz="2200" b="1" dirty="0" smtClean="0"/>
                        <a:t>a1</a:t>
                      </a:r>
                      <a:endParaRPr lang="zh-CN" altLang="en-US" sz="2200" b="1" dirty="0"/>
                    </a:p>
                  </a:txBody>
                  <a:tcPr marL="91454" marR="91454" marT="45716" marB="45716"/>
                </a:tc>
                <a:tc>
                  <a:txBody>
                    <a:bodyPr/>
                    <a:lstStyle/>
                    <a:p>
                      <a:pPr algn="ctr"/>
                      <a:r>
                        <a:rPr lang="en-US" altLang="zh-CN" sz="2200" b="1" dirty="0" smtClean="0"/>
                        <a:t>b2</a:t>
                      </a:r>
                      <a:endParaRPr lang="zh-CN" altLang="en-US" sz="2200" b="1" dirty="0"/>
                    </a:p>
                  </a:txBody>
                  <a:tcPr marL="91454" marR="91454" marT="45716" marB="45716"/>
                </a:tc>
                <a:tc>
                  <a:txBody>
                    <a:bodyPr/>
                    <a:lstStyle/>
                    <a:p>
                      <a:pPr algn="ctr"/>
                      <a:r>
                        <a:rPr lang="en-US" altLang="zh-CN" sz="2200" b="1" dirty="0" smtClean="0"/>
                        <a:t>6</a:t>
                      </a:r>
                      <a:endParaRPr lang="zh-CN" altLang="en-US" sz="2200" b="1" dirty="0"/>
                    </a:p>
                  </a:txBody>
                  <a:tcPr marL="91454" marR="91454" marT="45716" marB="45716"/>
                </a:tc>
                <a:tc>
                  <a:txBody>
                    <a:bodyPr/>
                    <a:lstStyle/>
                    <a:p>
                      <a:pPr algn="ctr"/>
                      <a:r>
                        <a:rPr lang="en-US" altLang="zh-CN" sz="2200" b="1" dirty="0" smtClean="0"/>
                        <a:t>b2</a:t>
                      </a:r>
                      <a:endParaRPr lang="zh-CN" altLang="en-US" sz="2200" b="1" dirty="0"/>
                    </a:p>
                  </a:txBody>
                  <a:tcPr marL="91454" marR="91454" marT="45716" marB="45716"/>
                </a:tc>
                <a:tc>
                  <a:txBody>
                    <a:bodyPr/>
                    <a:lstStyle/>
                    <a:p>
                      <a:pPr algn="ctr"/>
                      <a:r>
                        <a:rPr lang="en-US" altLang="zh-CN" sz="2200" b="1" dirty="0" smtClean="0"/>
                        <a:t>7</a:t>
                      </a:r>
                      <a:endParaRPr lang="zh-CN" altLang="en-US" sz="2200" b="1" dirty="0"/>
                    </a:p>
                  </a:txBody>
                  <a:tcPr marL="91454" marR="91454" marT="45716" marB="45716"/>
                </a:tc>
              </a:tr>
              <a:tr h="558882">
                <a:tc>
                  <a:txBody>
                    <a:bodyPr/>
                    <a:lstStyle/>
                    <a:p>
                      <a:pPr algn="ctr"/>
                      <a:r>
                        <a:rPr lang="en-US" altLang="zh-CN" sz="2200" b="1" dirty="0" smtClean="0"/>
                        <a:t>a2</a:t>
                      </a:r>
                      <a:endParaRPr lang="zh-CN" altLang="en-US" sz="2200" b="1" dirty="0"/>
                    </a:p>
                  </a:txBody>
                  <a:tcPr marL="91454" marR="91454" marT="45716" marB="45716"/>
                </a:tc>
                <a:tc>
                  <a:txBody>
                    <a:bodyPr/>
                    <a:lstStyle/>
                    <a:p>
                      <a:pPr algn="ctr"/>
                      <a:r>
                        <a:rPr lang="en-US" altLang="zh-CN" sz="2200" b="1" dirty="0" smtClean="0"/>
                        <a:t>b3</a:t>
                      </a:r>
                      <a:endParaRPr lang="zh-CN" altLang="en-US" sz="2200" b="1" dirty="0"/>
                    </a:p>
                  </a:txBody>
                  <a:tcPr marL="91454" marR="91454" marT="45716" marB="45716"/>
                </a:tc>
                <a:tc>
                  <a:txBody>
                    <a:bodyPr/>
                    <a:lstStyle/>
                    <a:p>
                      <a:pPr algn="ctr"/>
                      <a:r>
                        <a:rPr lang="en-US" altLang="zh-CN" sz="2200" b="1" dirty="0" smtClean="0"/>
                        <a:t>8</a:t>
                      </a:r>
                      <a:endParaRPr lang="zh-CN" altLang="en-US" sz="2200" b="1" dirty="0"/>
                    </a:p>
                  </a:txBody>
                  <a:tcPr marL="91454" marR="91454" marT="45716" marB="45716"/>
                </a:tc>
                <a:tc>
                  <a:txBody>
                    <a:bodyPr/>
                    <a:lstStyle/>
                    <a:p>
                      <a:pPr algn="ctr"/>
                      <a:r>
                        <a:rPr lang="en-US" altLang="zh-CN" sz="2200" b="1" dirty="0" smtClean="0"/>
                        <a:t>b3</a:t>
                      </a:r>
                      <a:endParaRPr lang="zh-CN" altLang="en-US" sz="2200" b="1" dirty="0"/>
                    </a:p>
                  </a:txBody>
                  <a:tcPr marL="91454" marR="91454" marT="45716" marB="45716"/>
                </a:tc>
                <a:tc>
                  <a:txBody>
                    <a:bodyPr/>
                    <a:lstStyle/>
                    <a:p>
                      <a:pPr algn="ctr"/>
                      <a:r>
                        <a:rPr lang="en-US" altLang="zh-CN" sz="2200" b="1" dirty="0" smtClean="0"/>
                        <a:t>10</a:t>
                      </a:r>
                      <a:endParaRPr lang="zh-CN" altLang="en-US" sz="2200" b="1" dirty="0"/>
                    </a:p>
                  </a:txBody>
                  <a:tcPr marL="91454" marR="91454" marT="45716" marB="45716"/>
                </a:tc>
              </a:tr>
              <a:tr h="558882">
                <a:tc>
                  <a:txBody>
                    <a:bodyPr/>
                    <a:lstStyle/>
                    <a:p>
                      <a:pPr algn="ctr"/>
                      <a:r>
                        <a:rPr lang="en-US" altLang="zh-CN" sz="2200" b="1" dirty="0" smtClean="0"/>
                        <a:t>a2</a:t>
                      </a:r>
                      <a:endParaRPr lang="zh-CN" altLang="en-US" sz="2200" b="1" dirty="0"/>
                    </a:p>
                  </a:txBody>
                  <a:tcPr marL="91454" marR="91454" marT="45716" marB="45716"/>
                </a:tc>
                <a:tc>
                  <a:txBody>
                    <a:bodyPr/>
                    <a:lstStyle/>
                    <a:p>
                      <a:pPr algn="ctr"/>
                      <a:r>
                        <a:rPr lang="en-US" altLang="zh-CN" sz="2200" b="1" dirty="0" smtClean="0"/>
                        <a:t>b3</a:t>
                      </a:r>
                      <a:endParaRPr lang="zh-CN" altLang="en-US" sz="2200" b="1" dirty="0"/>
                    </a:p>
                  </a:txBody>
                  <a:tcPr marL="91454" marR="91454" marT="45716" marB="45716"/>
                </a:tc>
                <a:tc>
                  <a:txBody>
                    <a:bodyPr/>
                    <a:lstStyle/>
                    <a:p>
                      <a:pPr algn="ctr"/>
                      <a:r>
                        <a:rPr lang="en-US" altLang="zh-CN" sz="2200" b="1" dirty="0" smtClean="0"/>
                        <a:t>8</a:t>
                      </a:r>
                      <a:endParaRPr lang="zh-CN" altLang="en-US" sz="2200" b="1" dirty="0"/>
                    </a:p>
                  </a:txBody>
                  <a:tcPr marL="91454" marR="91454" marT="45716" marB="45716"/>
                </a:tc>
                <a:tc>
                  <a:txBody>
                    <a:bodyPr/>
                    <a:lstStyle/>
                    <a:p>
                      <a:pPr algn="ctr"/>
                      <a:r>
                        <a:rPr lang="en-US" altLang="zh-CN" sz="2200" b="1" dirty="0" smtClean="0"/>
                        <a:t>b3</a:t>
                      </a:r>
                      <a:endParaRPr lang="zh-CN" altLang="en-US" sz="2200" b="1" dirty="0"/>
                    </a:p>
                  </a:txBody>
                  <a:tcPr marL="91454" marR="91454" marT="45716" marB="45716"/>
                </a:tc>
                <a:tc>
                  <a:txBody>
                    <a:bodyPr/>
                    <a:lstStyle/>
                    <a:p>
                      <a:pPr algn="ctr"/>
                      <a:r>
                        <a:rPr lang="en-US" altLang="zh-CN" sz="2200" b="1" dirty="0" smtClean="0"/>
                        <a:t>2</a:t>
                      </a:r>
                      <a:endParaRPr lang="zh-CN" altLang="en-US" sz="2200" b="1" dirty="0"/>
                    </a:p>
                  </a:txBody>
                  <a:tcPr marL="91454" marR="91454" marT="45716" marB="45716"/>
                </a:tc>
              </a:tr>
            </a:tbl>
          </a:graphicData>
        </a:graphic>
      </p:graphicFrame>
      <p:graphicFrame>
        <p:nvGraphicFramePr>
          <p:cNvPr id="10" name="内容占位符 6"/>
          <p:cNvGraphicFramePr>
            <a:graphicFrameLocks/>
          </p:cNvGraphicFramePr>
          <p:nvPr>
            <p:extLst>
              <p:ext uri="{D42A27DB-BD31-4B8C-83A1-F6EECF244321}">
                <p14:modId xmlns:p14="http://schemas.microsoft.com/office/powerpoint/2010/main" val="1815130223"/>
              </p:ext>
            </p:extLst>
          </p:nvPr>
        </p:nvGraphicFramePr>
        <p:xfrm>
          <a:off x="1117407" y="5008263"/>
          <a:ext cx="3035301" cy="1828640"/>
        </p:xfrm>
        <a:graphic>
          <a:graphicData uri="http://schemas.openxmlformats.org/drawingml/2006/table">
            <a:tbl>
              <a:tblPr firstRow="1" bandRow="1">
                <a:tableStyleId>{5C22544A-7EE6-4342-B048-85BDC9FD1C3A}</a:tableStyleId>
              </a:tblPr>
              <a:tblGrid>
                <a:gridCol w="1011767"/>
                <a:gridCol w="1011767"/>
                <a:gridCol w="1011767"/>
              </a:tblGrid>
              <a:tr h="0">
                <a:tc>
                  <a:txBody>
                    <a:bodyPr/>
                    <a:lstStyle/>
                    <a:p>
                      <a:pPr algn="ctr"/>
                      <a:r>
                        <a:rPr lang="en-US" altLang="zh-CN" sz="1800" b="1" dirty="0" smtClean="0">
                          <a:solidFill>
                            <a:schemeClr val="tx1"/>
                          </a:solidFill>
                        </a:rPr>
                        <a:t>A</a:t>
                      </a:r>
                      <a:endParaRPr lang="zh-CN" altLang="en-US" sz="1800" b="1" dirty="0">
                        <a:solidFill>
                          <a:schemeClr val="tx1"/>
                        </a:solidFill>
                      </a:endParaRPr>
                    </a:p>
                  </a:txBody>
                  <a:tcPr marL="91459" marR="91459" marT="45704" marB="45704"/>
                </a:tc>
                <a:tc>
                  <a:txBody>
                    <a:bodyPr/>
                    <a:lstStyle/>
                    <a:p>
                      <a:pPr algn="ctr"/>
                      <a:r>
                        <a:rPr lang="en-US" altLang="zh-CN" sz="1800" b="1" dirty="0" smtClean="0">
                          <a:solidFill>
                            <a:schemeClr val="tx1"/>
                          </a:solidFill>
                        </a:rPr>
                        <a:t>B</a:t>
                      </a:r>
                      <a:endParaRPr lang="zh-CN" altLang="en-US" sz="1800" b="1" dirty="0">
                        <a:solidFill>
                          <a:schemeClr val="tx1"/>
                        </a:solidFill>
                      </a:endParaRPr>
                    </a:p>
                  </a:txBody>
                  <a:tcPr marL="91459" marR="91459" marT="45704" marB="45704"/>
                </a:tc>
                <a:tc>
                  <a:txBody>
                    <a:bodyPr/>
                    <a:lstStyle/>
                    <a:p>
                      <a:pPr algn="ctr"/>
                      <a:r>
                        <a:rPr lang="en-US" altLang="zh-CN" sz="1800" b="1" dirty="0" smtClean="0">
                          <a:solidFill>
                            <a:schemeClr val="tx1"/>
                          </a:solidFill>
                        </a:rPr>
                        <a:t>C</a:t>
                      </a:r>
                      <a:endParaRPr lang="zh-CN" altLang="en-US" sz="1800" b="1" dirty="0">
                        <a:solidFill>
                          <a:schemeClr val="tx1"/>
                        </a:solidFill>
                      </a:endParaRPr>
                    </a:p>
                  </a:txBody>
                  <a:tcPr marL="91459" marR="91459" marT="45704" marB="45704"/>
                </a:tc>
              </a:tr>
              <a:tr h="0">
                <a:tc>
                  <a:txBody>
                    <a:bodyPr/>
                    <a:lstStyle/>
                    <a:p>
                      <a:pPr algn="ctr"/>
                      <a:r>
                        <a:rPr lang="en-US" altLang="zh-CN" sz="1800" b="1" dirty="0" smtClean="0"/>
                        <a:t>a1</a:t>
                      </a:r>
                      <a:endParaRPr lang="zh-CN" altLang="en-US" sz="1800" b="1" dirty="0"/>
                    </a:p>
                  </a:txBody>
                  <a:tcPr marL="91459" marR="91459" marT="45704" marB="45704"/>
                </a:tc>
                <a:tc>
                  <a:txBody>
                    <a:bodyPr/>
                    <a:lstStyle/>
                    <a:p>
                      <a:pPr algn="ctr"/>
                      <a:r>
                        <a:rPr lang="en-US" altLang="zh-CN" sz="1800" b="1" dirty="0" smtClean="0"/>
                        <a:t>b1</a:t>
                      </a:r>
                      <a:endParaRPr lang="zh-CN" altLang="en-US" sz="1800" b="1" dirty="0"/>
                    </a:p>
                  </a:txBody>
                  <a:tcPr marL="91459" marR="91459" marT="45704" marB="45704"/>
                </a:tc>
                <a:tc>
                  <a:txBody>
                    <a:bodyPr/>
                    <a:lstStyle/>
                    <a:p>
                      <a:pPr algn="ctr"/>
                      <a:r>
                        <a:rPr lang="en-US" altLang="zh-CN" sz="1800" b="1" dirty="0" smtClean="0"/>
                        <a:t>5</a:t>
                      </a:r>
                      <a:endParaRPr lang="zh-CN" altLang="en-US" sz="1800" b="1" dirty="0"/>
                    </a:p>
                  </a:txBody>
                  <a:tcPr marL="91459" marR="91459" marT="45704" marB="45704"/>
                </a:tc>
              </a:tr>
              <a:tr h="0">
                <a:tc>
                  <a:txBody>
                    <a:bodyPr/>
                    <a:lstStyle/>
                    <a:p>
                      <a:pPr algn="ctr"/>
                      <a:r>
                        <a:rPr lang="en-US" altLang="zh-CN" sz="1800" b="1" dirty="0" smtClean="0"/>
                        <a:t>a1</a:t>
                      </a:r>
                      <a:endParaRPr lang="zh-CN" altLang="en-US" sz="1800" b="1" dirty="0"/>
                    </a:p>
                  </a:txBody>
                  <a:tcPr marL="91459" marR="91459" marT="45704" marB="45704"/>
                </a:tc>
                <a:tc>
                  <a:txBody>
                    <a:bodyPr/>
                    <a:lstStyle/>
                    <a:p>
                      <a:pPr algn="ctr"/>
                      <a:r>
                        <a:rPr lang="en-US" altLang="zh-CN" sz="1800" b="1" dirty="0" smtClean="0"/>
                        <a:t>b2</a:t>
                      </a:r>
                      <a:endParaRPr lang="zh-CN" altLang="en-US" sz="1800" b="1" dirty="0"/>
                    </a:p>
                  </a:txBody>
                  <a:tcPr marL="91459" marR="91459" marT="45704" marB="45704"/>
                </a:tc>
                <a:tc>
                  <a:txBody>
                    <a:bodyPr/>
                    <a:lstStyle/>
                    <a:p>
                      <a:pPr algn="ctr"/>
                      <a:r>
                        <a:rPr lang="en-US" altLang="zh-CN" sz="1800" b="1" dirty="0" smtClean="0"/>
                        <a:t>6</a:t>
                      </a:r>
                      <a:endParaRPr lang="zh-CN" altLang="en-US" sz="1800" b="1" dirty="0"/>
                    </a:p>
                  </a:txBody>
                  <a:tcPr marL="91459" marR="91459" marT="45704" marB="45704"/>
                </a:tc>
              </a:tr>
              <a:tr h="0">
                <a:tc>
                  <a:txBody>
                    <a:bodyPr/>
                    <a:lstStyle/>
                    <a:p>
                      <a:pPr algn="ctr"/>
                      <a:r>
                        <a:rPr lang="en-US" altLang="zh-CN" sz="1800" b="1" dirty="0" smtClean="0"/>
                        <a:t>a2</a:t>
                      </a:r>
                      <a:endParaRPr lang="zh-CN" altLang="en-US" sz="1800" b="1" dirty="0"/>
                    </a:p>
                  </a:txBody>
                  <a:tcPr marL="91459" marR="91459" marT="45704" marB="45704"/>
                </a:tc>
                <a:tc>
                  <a:txBody>
                    <a:bodyPr/>
                    <a:lstStyle/>
                    <a:p>
                      <a:pPr algn="ctr"/>
                      <a:r>
                        <a:rPr lang="en-US" altLang="zh-CN" sz="1800" b="1" dirty="0" smtClean="0"/>
                        <a:t>b3</a:t>
                      </a:r>
                      <a:endParaRPr lang="zh-CN" altLang="en-US" sz="1800" b="1" dirty="0"/>
                    </a:p>
                  </a:txBody>
                  <a:tcPr marL="91459" marR="91459" marT="45704" marB="45704"/>
                </a:tc>
                <a:tc>
                  <a:txBody>
                    <a:bodyPr/>
                    <a:lstStyle/>
                    <a:p>
                      <a:pPr algn="ctr"/>
                      <a:r>
                        <a:rPr lang="en-US" altLang="zh-CN" sz="1800" b="1" dirty="0" smtClean="0"/>
                        <a:t>8</a:t>
                      </a:r>
                      <a:endParaRPr lang="zh-CN" altLang="en-US" sz="1800" b="1" dirty="0"/>
                    </a:p>
                  </a:txBody>
                  <a:tcPr marL="91459" marR="91459" marT="45704" marB="45704"/>
                </a:tc>
              </a:tr>
              <a:tr h="0">
                <a:tc>
                  <a:txBody>
                    <a:bodyPr/>
                    <a:lstStyle/>
                    <a:p>
                      <a:pPr algn="ctr"/>
                      <a:r>
                        <a:rPr lang="en-US" altLang="zh-CN" sz="1800" b="1" dirty="0" smtClean="0"/>
                        <a:t>a2</a:t>
                      </a:r>
                      <a:endParaRPr lang="zh-CN" altLang="en-US" sz="1800" b="1" dirty="0"/>
                    </a:p>
                  </a:txBody>
                  <a:tcPr marL="91459" marR="91459" marT="45704" marB="45704"/>
                </a:tc>
                <a:tc>
                  <a:txBody>
                    <a:bodyPr/>
                    <a:lstStyle/>
                    <a:p>
                      <a:pPr algn="ctr"/>
                      <a:r>
                        <a:rPr lang="en-US" altLang="zh-CN" sz="1800" b="1" dirty="0" smtClean="0"/>
                        <a:t>b4</a:t>
                      </a:r>
                      <a:endParaRPr lang="zh-CN" altLang="en-US" sz="1800" b="1" dirty="0"/>
                    </a:p>
                  </a:txBody>
                  <a:tcPr marL="91459" marR="91459" marT="45704" marB="45704"/>
                </a:tc>
                <a:tc>
                  <a:txBody>
                    <a:bodyPr/>
                    <a:lstStyle/>
                    <a:p>
                      <a:pPr algn="ctr"/>
                      <a:r>
                        <a:rPr lang="en-US" altLang="zh-CN" sz="1800" b="1" dirty="0" smtClean="0"/>
                        <a:t>12</a:t>
                      </a:r>
                      <a:endParaRPr lang="zh-CN" altLang="en-US" sz="1800" b="1" dirty="0"/>
                    </a:p>
                  </a:txBody>
                  <a:tcPr marL="91459" marR="91459" marT="45704" marB="45704"/>
                </a:tc>
              </a:tr>
            </a:tbl>
          </a:graphicData>
        </a:graphic>
      </p:graphicFrame>
      <p:graphicFrame>
        <p:nvGraphicFramePr>
          <p:cNvPr id="11" name="内容占位符 8"/>
          <p:cNvGraphicFramePr>
            <a:graphicFrameLocks/>
          </p:cNvGraphicFramePr>
          <p:nvPr>
            <p:extLst>
              <p:ext uri="{D42A27DB-BD31-4B8C-83A1-F6EECF244321}">
                <p14:modId xmlns:p14="http://schemas.microsoft.com/office/powerpoint/2010/main" val="3730707805"/>
              </p:ext>
            </p:extLst>
          </p:nvPr>
        </p:nvGraphicFramePr>
        <p:xfrm>
          <a:off x="5321044" y="4939501"/>
          <a:ext cx="2112962" cy="1897404"/>
        </p:xfrm>
        <a:graphic>
          <a:graphicData uri="http://schemas.openxmlformats.org/drawingml/2006/table">
            <a:tbl>
              <a:tblPr firstRow="1" bandRow="1">
                <a:tableStyleId>{5C22544A-7EE6-4342-B048-85BDC9FD1C3A}</a:tableStyleId>
              </a:tblPr>
              <a:tblGrid>
                <a:gridCol w="1056481"/>
                <a:gridCol w="1056481"/>
              </a:tblGrid>
              <a:tr h="316234">
                <a:tc>
                  <a:txBody>
                    <a:bodyPr/>
                    <a:lstStyle/>
                    <a:p>
                      <a:pPr algn="ctr"/>
                      <a:r>
                        <a:rPr lang="en-US" altLang="zh-CN" sz="1400" b="1" dirty="0" smtClean="0">
                          <a:solidFill>
                            <a:schemeClr val="tx1"/>
                          </a:solidFill>
                        </a:rPr>
                        <a:t>B</a:t>
                      </a:r>
                      <a:endParaRPr lang="zh-CN" altLang="en-US" sz="1400" b="1" dirty="0">
                        <a:solidFill>
                          <a:schemeClr val="tx1"/>
                        </a:solidFill>
                      </a:endParaRPr>
                    </a:p>
                  </a:txBody>
                  <a:tcPr marL="91472" marR="91472" marT="45748" marB="45748"/>
                </a:tc>
                <a:tc>
                  <a:txBody>
                    <a:bodyPr/>
                    <a:lstStyle/>
                    <a:p>
                      <a:pPr algn="ctr"/>
                      <a:r>
                        <a:rPr lang="en-US" altLang="zh-CN" sz="1400" b="1" dirty="0" smtClean="0">
                          <a:solidFill>
                            <a:schemeClr val="tx1"/>
                          </a:solidFill>
                        </a:rPr>
                        <a:t>E</a:t>
                      </a:r>
                      <a:endParaRPr lang="zh-CN" altLang="en-US" sz="1400" b="1" dirty="0">
                        <a:solidFill>
                          <a:schemeClr val="tx1"/>
                        </a:solidFill>
                      </a:endParaRPr>
                    </a:p>
                  </a:txBody>
                  <a:tcPr marL="91472" marR="91472" marT="45748" marB="45748"/>
                </a:tc>
              </a:tr>
              <a:tr h="316234">
                <a:tc>
                  <a:txBody>
                    <a:bodyPr/>
                    <a:lstStyle/>
                    <a:p>
                      <a:pPr algn="ctr"/>
                      <a:r>
                        <a:rPr lang="en-US" altLang="zh-CN" sz="1400" b="1" dirty="0" smtClean="0"/>
                        <a:t>b1</a:t>
                      </a:r>
                      <a:endParaRPr lang="zh-CN" altLang="en-US" sz="1400" b="1" dirty="0"/>
                    </a:p>
                  </a:txBody>
                  <a:tcPr marL="91472" marR="91472" marT="45748" marB="45748"/>
                </a:tc>
                <a:tc>
                  <a:txBody>
                    <a:bodyPr/>
                    <a:lstStyle/>
                    <a:p>
                      <a:pPr algn="ctr"/>
                      <a:r>
                        <a:rPr lang="en-US" altLang="zh-CN" sz="1400" b="1" dirty="0" smtClean="0"/>
                        <a:t>3</a:t>
                      </a:r>
                      <a:endParaRPr lang="zh-CN" altLang="en-US" sz="1400" b="1" dirty="0"/>
                    </a:p>
                  </a:txBody>
                  <a:tcPr marL="91472" marR="91472" marT="45748" marB="45748"/>
                </a:tc>
              </a:tr>
              <a:tr h="316234">
                <a:tc>
                  <a:txBody>
                    <a:bodyPr/>
                    <a:lstStyle/>
                    <a:p>
                      <a:pPr algn="ctr"/>
                      <a:r>
                        <a:rPr lang="en-US" altLang="zh-CN" sz="1400" b="1" dirty="0" smtClean="0"/>
                        <a:t>b2</a:t>
                      </a:r>
                      <a:endParaRPr lang="zh-CN" altLang="en-US" sz="1400" b="1" dirty="0"/>
                    </a:p>
                  </a:txBody>
                  <a:tcPr marL="91472" marR="91472" marT="45748" marB="45748"/>
                </a:tc>
                <a:tc>
                  <a:txBody>
                    <a:bodyPr/>
                    <a:lstStyle/>
                    <a:p>
                      <a:pPr algn="ctr"/>
                      <a:r>
                        <a:rPr lang="en-US" altLang="zh-CN" sz="1400" b="1" dirty="0" smtClean="0"/>
                        <a:t>7</a:t>
                      </a:r>
                      <a:endParaRPr lang="zh-CN" altLang="en-US" sz="1400" b="1" dirty="0"/>
                    </a:p>
                  </a:txBody>
                  <a:tcPr marL="91472" marR="91472" marT="45748" marB="45748"/>
                </a:tc>
              </a:tr>
              <a:tr h="316234">
                <a:tc>
                  <a:txBody>
                    <a:bodyPr/>
                    <a:lstStyle/>
                    <a:p>
                      <a:pPr algn="ctr"/>
                      <a:r>
                        <a:rPr lang="en-US" altLang="zh-CN" sz="1400" b="1" dirty="0" smtClean="0"/>
                        <a:t>b3</a:t>
                      </a:r>
                      <a:endParaRPr lang="zh-CN" altLang="en-US" sz="1400" b="1" dirty="0"/>
                    </a:p>
                  </a:txBody>
                  <a:tcPr marL="91472" marR="91472" marT="45748" marB="45748"/>
                </a:tc>
                <a:tc>
                  <a:txBody>
                    <a:bodyPr/>
                    <a:lstStyle/>
                    <a:p>
                      <a:pPr algn="ctr"/>
                      <a:r>
                        <a:rPr lang="en-US" altLang="zh-CN" sz="1400" b="1" dirty="0" smtClean="0"/>
                        <a:t>10</a:t>
                      </a:r>
                      <a:endParaRPr lang="zh-CN" altLang="en-US" sz="1400" b="1" dirty="0"/>
                    </a:p>
                  </a:txBody>
                  <a:tcPr marL="91472" marR="91472" marT="45748" marB="45748"/>
                </a:tc>
              </a:tr>
              <a:tr h="31623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t>b3</a:t>
                      </a:r>
                      <a:endParaRPr lang="zh-CN" altLang="en-US" sz="1400" b="1" dirty="0"/>
                    </a:p>
                  </a:txBody>
                  <a:tcPr marL="91472" marR="91472" marT="45748" marB="45748"/>
                </a:tc>
                <a:tc>
                  <a:txBody>
                    <a:bodyPr/>
                    <a:lstStyle/>
                    <a:p>
                      <a:pPr algn="ctr"/>
                      <a:r>
                        <a:rPr lang="en-US" altLang="zh-CN" sz="1400" b="1" dirty="0" smtClean="0"/>
                        <a:t>2</a:t>
                      </a:r>
                      <a:endParaRPr lang="zh-CN" altLang="en-US" sz="1400" b="1" dirty="0"/>
                    </a:p>
                  </a:txBody>
                  <a:tcPr marL="91472" marR="91472" marT="45748" marB="45748"/>
                </a:tc>
              </a:tr>
              <a:tr h="31623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t>b5</a:t>
                      </a:r>
                      <a:endParaRPr lang="zh-CN" altLang="en-US" sz="1400" b="1" dirty="0"/>
                    </a:p>
                  </a:txBody>
                  <a:tcPr marL="91472" marR="91472" marT="45748" marB="45748"/>
                </a:tc>
                <a:tc>
                  <a:txBody>
                    <a:bodyPr/>
                    <a:lstStyle/>
                    <a:p>
                      <a:pPr algn="ctr"/>
                      <a:r>
                        <a:rPr lang="en-US" altLang="zh-CN" sz="1400" b="1" dirty="0" smtClean="0"/>
                        <a:t>2</a:t>
                      </a:r>
                      <a:endParaRPr lang="zh-CN" altLang="en-US" sz="1400" b="1" dirty="0"/>
                    </a:p>
                  </a:txBody>
                  <a:tcPr marL="91472" marR="91472" marT="45748" marB="45748"/>
                </a:tc>
              </a:tr>
            </a:tbl>
          </a:graphicData>
        </a:graphic>
      </p:graphicFrame>
      <p:sp>
        <p:nvSpPr>
          <p:cNvPr id="13" name="TextBox 7"/>
          <p:cNvSpPr txBox="1">
            <a:spLocks noChangeArrowheads="1"/>
          </p:cNvSpPr>
          <p:nvPr/>
        </p:nvSpPr>
        <p:spPr bwMode="auto">
          <a:xfrm>
            <a:off x="548311" y="5008263"/>
            <a:ext cx="388938"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dirty="0"/>
              <a:t>R</a:t>
            </a:r>
            <a:endParaRPr lang="zh-CN" altLang="en-US" sz="2200" b="1" dirty="0"/>
          </a:p>
        </p:txBody>
      </p:sp>
      <p:sp>
        <p:nvSpPr>
          <p:cNvPr id="14" name="TextBox 10"/>
          <p:cNvSpPr txBox="1">
            <a:spLocks noChangeArrowheads="1"/>
          </p:cNvSpPr>
          <p:nvPr/>
        </p:nvSpPr>
        <p:spPr bwMode="auto">
          <a:xfrm>
            <a:off x="4754348" y="4960940"/>
            <a:ext cx="3714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dirty="0"/>
              <a:t>S</a:t>
            </a:r>
            <a:endParaRPr lang="zh-CN" altLang="en-US" sz="2200" b="1" dirty="0"/>
          </a:p>
        </p:txBody>
      </p:sp>
    </p:spTree>
    <p:extLst>
      <p:ext uri="{BB962C8B-B14F-4D97-AF65-F5344CB8AC3E}">
        <p14:creationId xmlns:p14="http://schemas.microsoft.com/office/powerpoint/2010/main" val="251562376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914400" y="115888"/>
            <a:ext cx="7391400" cy="563562"/>
          </a:xfrm>
        </p:spPr>
        <p:txBody>
          <a:bodyPr>
            <a:normAutofit fontScale="90000"/>
          </a:bodyPr>
          <a:lstStyle/>
          <a:p>
            <a:pPr eaLnBrk="1" hangingPunct="1"/>
            <a:r>
              <a:rPr lang="zh-CN" altLang="en-US" sz="3600" smtClean="0"/>
              <a:t>连接（续）</a:t>
            </a:r>
            <a:endParaRPr lang="en-US" altLang="zh-CN" sz="3600" smtClean="0"/>
          </a:p>
        </p:txBody>
      </p:sp>
      <p:sp>
        <p:nvSpPr>
          <p:cNvPr id="102403" name="Rectangle 3"/>
          <p:cNvSpPr>
            <a:spLocks noGrp="1" noChangeArrowheads="1"/>
          </p:cNvSpPr>
          <p:nvPr>
            <p:ph type="body" sz="half" idx="1"/>
          </p:nvPr>
        </p:nvSpPr>
        <p:spPr>
          <a:xfrm>
            <a:off x="457200" y="1412875"/>
            <a:ext cx="8291513" cy="879475"/>
          </a:xfrm>
        </p:spPr>
        <p:txBody>
          <a:bodyPr/>
          <a:lstStyle/>
          <a:p>
            <a:pPr algn="just" eaLnBrk="1" hangingPunct="1">
              <a:buFont typeface="Wingdings" panose="05000000000000000000" pitchFamily="2" charset="2"/>
              <a:buNone/>
            </a:pPr>
            <a:r>
              <a:rPr lang="en-US" altLang="zh-CN" sz="2400" smtClean="0"/>
              <a:t>   </a:t>
            </a:r>
            <a:r>
              <a:rPr lang="zh-CN" altLang="en-US" smtClean="0"/>
              <a:t>自然连接 </a:t>
            </a:r>
            <a:r>
              <a:rPr lang="en-US" altLang="zh-CN" i="1" smtClean="0"/>
              <a:t>R</a:t>
            </a:r>
            <a:r>
              <a:rPr lang="en-US" altLang="zh-CN" smtClean="0"/>
              <a:t>  </a:t>
            </a:r>
            <a:r>
              <a:rPr lang="en-US" altLang="zh-CN" i="1" smtClean="0"/>
              <a:t>      S</a:t>
            </a:r>
            <a:r>
              <a:rPr lang="zh-CN" altLang="en-US" smtClean="0"/>
              <a:t>的结果如下：</a:t>
            </a:r>
            <a:r>
              <a:rPr lang="zh-CN" altLang="en-US" i="1" smtClean="0"/>
              <a:t> </a:t>
            </a:r>
            <a:endParaRPr lang="zh-CN" altLang="en-US" smtClean="0"/>
          </a:p>
        </p:txBody>
      </p:sp>
      <p:grpSp>
        <p:nvGrpSpPr>
          <p:cNvPr id="102404" name="Group 5"/>
          <p:cNvGrpSpPr>
            <a:grpSpLocks/>
          </p:cNvGrpSpPr>
          <p:nvPr/>
        </p:nvGrpSpPr>
        <p:grpSpPr bwMode="auto">
          <a:xfrm rot="10800000">
            <a:off x="2230181" y="817562"/>
            <a:ext cx="1223962" cy="936625"/>
            <a:chOff x="6431" y="11824"/>
            <a:chExt cx="705" cy="367"/>
          </a:xfrm>
        </p:grpSpPr>
        <p:sp>
          <p:nvSpPr>
            <p:cNvPr id="102437" name="AutoShape 6"/>
            <p:cNvSpPr>
              <a:spLocks noChangeArrowheads="1"/>
            </p:cNvSpPr>
            <p:nvPr/>
          </p:nvSpPr>
          <p:spPr bwMode="auto">
            <a:xfrm rot="5400000" flipV="1">
              <a:off x="6793" y="11792"/>
              <a:ext cx="78" cy="142"/>
            </a:xfrm>
            <a:prstGeom prst="flowChartCollate">
              <a:avLst/>
            </a:prstGeom>
            <a:solidFill>
              <a:srgbClr val="FFFFFF"/>
            </a:solidFill>
            <a:ln w="6350">
              <a:solidFill>
                <a:srgbClr val="000000"/>
              </a:solid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2438" name="Text Box 7"/>
            <p:cNvSpPr txBox="1">
              <a:spLocks noChangeArrowheads="1"/>
            </p:cNvSpPr>
            <p:nvPr/>
          </p:nvSpPr>
          <p:spPr bwMode="auto">
            <a:xfrm flipV="1">
              <a:off x="6431" y="11828"/>
              <a:ext cx="705"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r>
                <a:rPr lang="en-US" altLang="zh-CN" sz="600" i="1"/>
                <a:t> </a:t>
              </a:r>
              <a:endParaRPr lang="en-US" altLang="zh-CN"/>
            </a:p>
          </p:txBody>
        </p:sp>
      </p:grpSp>
      <p:graphicFrame>
        <p:nvGraphicFramePr>
          <p:cNvPr id="10" name="内容占位符 9"/>
          <p:cNvGraphicFramePr>
            <a:graphicFrameLocks noGrp="1"/>
          </p:cNvGraphicFramePr>
          <p:nvPr>
            <p:ph sz="quarter" idx="2"/>
          </p:nvPr>
        </p:nvGraphicFramePr>
        <p:xfrm>
          <a:off x="1116013" y="2095500"/>
          <a:ext cx="6840536" cy="3062288"/>
        </p:xfrm>
        <a:graphic>
          <a:graphicData uri="http://schemas.openxmlformats.org/drawingml/2006/table">
            <a:tbl>
              <a:tblPr firstRow="1" bandRow="1">
                <a:tableStyleId>{5C22544A-7EE6-4342-B048-85BDC9FD1C3A}</a:tableStyleId>
              </a:tblPr>
              <a:tblGrid>
                <a:gridCol w="1710134"/>
                <a:gridCol w="1710134"/>
                <a:gridCol w="1710134"/>
                <a:gridCol w="1710134"/>
              </a:tblGrid>
              <a:tr h="481820">
                <a:tc>
                  <a:txBody>
                    <a:bodyPr/>
                    <a:lstStyle/>
                    <a:p>
                      <a:pPr algn="ctr"/>
                      <a:r>
                        <a:rPr lang="en-US" altLang="zh-CN" sz="2200" b="1" dirty="0" smtClean="0">
                          <a:solidFill>
                            <a:schemeClr val="tx1"/>
                          </a:solidFill>
                        </a:rPr>
                        <a:t>A</a:t>
                      </a:r>
                      <a:endParaRPr lang="zh-CN" altLang="en-US" sz="2200" b="1" dirty="0">
                        <a:solidFill>
                          <a:schemeClr val="tx1"/>
                        </a:solidFill>
                      </a:endParaRPr>
                    </a:p>
                  </a:txBody>
                  <a:tcPr marL="91454" marR="91454" marT="45725" marB="45725"/>
                </a:tc>
                <a:tc>
                  <a:txBody>
                    <a:bodyPr/>
                    <a:lstStyle/>
                    <a:p>
                      <a:pPr algn="ctr"/>
                      <a:r>
                        <a:rPr lang="en-US" altLang="zh-CN" sz="2200" b="1" dirty="0" smtClean="0">
                          <a:solidFill>
                            <a:schemeClr val="tx1"/>
                          </a:solidFill>
                        </a:rPr>
                        <a:t>B</a:t>
                      </a:r>
                      <a:endParaRPr lang="zh-CN" altLang="en-US" sz="2200" b="1" dirty="0">
                        <a:solidFill>
                          <a:schemeClr val="tx1"/>
                        </a:solidFill>
                      </a:endParaRPr>
                    </a:p>
                  </a:txBody>
                  <a:tcPr marL="91454" marR="91454" marT="45725" marB="45725"/>
                </a:tc>
                <a:tc>
                  <a:txBody>
                    <a:bodyPr/>
                    <a:lstStyle/>
                    <a:p>
                      <a:pPr algn="ctr"/>
                      <a:r>
                        <a:rPr lang="en-US" altLang="zh-CN" sz="2200" b="1" dirty="0" smtClean="0">
                          <a:solidFill>
                            <a:schemeClr val="tx1"/>
                          </a:solidFill>
                        </a:rPr>
                        <a:t>C</a:t>
                      </a:r>
                      <a:endParaRPr lang="zh-CN" altLang="en-US" sz="2200" b="1" dirty="0">
                        <a:solidFill>
                          <a:schemeClr val="tx1"/>
                        </a:solidFill>
                      </a:endParaRPr>
                    </a:p>
                  </a:txBody>
                  <a:tcPr marL="91454" marR="91454" marT="45725" marB="45725"/>
                </a:tc>
                <a:tc>
                  <a:txBody>
                    <a:bodyPr/>
                    <a:lstStyle/>
                    <a:p>
                      <a:pPr algn="ctr"/>
                      <a:r>
                        <a:rPr lang="en-US" altLang="zh-CN" sz="2200" b="1" dirty="0" smtClean="0">
                          <a:solidFill>
                            <a:schemeClr val="tx1"/>
                          </a:solidFill>
                        </a:rPr>
                        <a:t>E</a:t>
                      </a:r>
                      <a:endParaRPr lang="zh-CN" altLang="en-US" sz="2200" b="1" dirty="0">
                        <a:solidFill>
                          <a:schemeClr val="tx1"/>
                        </a:solidFill>
                      </a:endParaRPr>
                    </a:p>
                  </a:txBody>
                  <a:tcPr marL="91454" marR="91454" marT="45725" marB="45725"/>
                </a:tc>
              </a:tr>
              <a:tr h="645117">
                <a:tc>
                  <a:txBody>
                    <a:bodyPr/>
                    <a:lstStyle/>
                    <a:p>
                      <a:pPr algn="ctr"/>
                      <a:r>
                        <a:rPr lang="en-US" altLang="zh-CN" sz="2200" b="1" dirty="0" smtClean="0"/>
                        <a:t>a1</a:t>
                      </a:r>
                      <a:endParaRPr lang="zh-CN" altLang="en-US" sz="2200" b="1" dirty="0"/>
                    </a:p>
                  </a:txBody>
                  <a:tcPr marL="91454" marR="91454" marT="45725" marB="45725"/>
                </a:tc>
                <a:tc>
                  <a:txBody>
                    <a:bodyPr/>
                    <a:lstStyle/>
                    <a:p>
                      <a:pPr algn="ctr"/>
                      <a:r>
                        <a:rPr lang="en-US" altLang="zh-CN" sz="2200" b="1" dirty="0" smtClean="0"/>
                        <a:t>b1</a:t>
                      </a:r>
                      <a:endParaRPr lang="zh-CN" altLang="en-US" sz="2200" b="1" dirty="0"/>
                    </a:p>
                  </a:txBody>
                  <a:tcPr marL="91454" marR="91454" marT="45725" marB="45725"/>
                </a:tc>
                <a:tc>
                  <a:txBody>
                    <a:bodyPr/>
                    <a:lstStyle/>
                    <a:p>
                      <a:pPr algn="ctr"/>
                      <a:r>
                        <a:rPr lang="en-US" altLang="zh-CN" sz="2200" b="1" dirty="0" smtClean="0"/>
                        <a:t>5</a:t>
                      </a:r>
                      <a:endParaRPr lang="zh-CN" altLang="en-US" sz="2200" b="1" dirty="0"/>
                    </a:p>
                  </a:txBody>
                  <a:tcPr marL="91454" marR="91454" marT="45725" marB="45725"/>
                </a:tc>
                <a:tc>
                  <a:txBody>
                    <a:bodyPr/>
                    <a:lstStyle/>
                    <a:p>
                      <a:pPr algn="ctr"/>
                      <a:r>
                        <a:rPr lang="en-US" altLang="zh-CN" sz="2200" b="1" dirty="0" smtClean="0"/>
                        <a:t>3</a:t>
                      </a:r>
                      <a:endParaRPr lang="zh-CN" altLang="en-US" sz="2200" b="1" dirty="0"/>
                    </a:p>
                  </a:txBody>
                  <a:tcPr marL="91454" marR="91454" marT="45725" marB="45725"/>
                </a:tc>
              </a:tr>
              <a:tr h="645117">
                <a:tc>
                  <a:txBody>
                    <a:bodyPr/>
                    <a:lstStyle/>
                    <a:p>
                      <a:pPr algn="ctr"/>
                      <a:r>
                        <a:rPr lang="en-US" altLang="zh-CN" sz="2200" b="1" dirty="0" smtClean="0"/>
                        <a:t>a1</a:t>
                      </a:r>
                      <a:endParaRPr lang="zh-CN" altLang="en-US" sz="2200" b="1" dirty="0"/>
                    </a:p>
                  </a:txBody>
                  <a:tcPr marL="91454" marR="91454" marT="45725" marB="45725"/>
                </a:tc>
                <a:tc>
                  <a:txBody>
                    <a:bodyPr/>
                    <a:lstStyle/>
                    <a:p>
                      <a:pPr algn="ctr"/>
                      <a:r>
                        <a:rPr lang="en-US" altLang="zh-CN" sz="2200" b="1" dirty="0" smtClean="0"/>
                        <a:t>b2</a:t>
                      </a:r>
                      <a:endParaRPr lang="zh-CN" altLang="en-US" sz="2200" b="1" dirty="0"/>
                    </a:p>
                  </a:txBody>
                  <a:tcPr marL="91454" marR="91454" marT="45725" marB="45725"/>
                </a:tc>
                <a:tc>
                  <a:txBody>
                    <a:bodyPr/>
                    <a:lstStyle/>
                    <a:p>
                      <a:pPr algn="ctr"/>
                      <a:r>
                        <a:rPr lang="en-US" altLang="zh-CN" sz="2200" b="1" dirty="0" smtClean="0"/>
                        <a:t>6</a:t>
                      </a:r>
                      <a:endParaRPr lang="zh-CN" altLang="en-US" sz="2200" b="1" dirty="0"/>
                    </a:p>
                  </a:txBody>
                  <a:tcPr marL="91454" marR="91454" marT="45725" marB="45725"/>
                </a:tc>
                <a:tc>
                  <a:txBody>
                    <a:bodyPr/>
                    <a:lstStyle/>
                    <a:p>
                      <a:pPr algn="ctr"/>
                      <a:r>
                        <a:rPr lang="en-US" altLang="zh-CN" sz="2200" b="1" dirty="0" smtClean="0"/>
                        <a:t>7</a:t>
                      </a:r>
                      <a:endParaRPr lang="zh-CN" altLang="en-US" sz="2200" b="1" dirty="0"/>
                    </a:p>
                  </a:txBody>
                  <a:tcPr marL="91454" marR="91454" marT="45725" marB="45725"/>
                </a:tc>
              </a:tr>
              <a:tr h="645117">
                <a:tc>
                  <a:txBody>
                    <a:bodyPr/>
                    <a:lstStyle/>
                    <a:p>
                      <a:pPr algn="ctr"/>
                      <a:r>
                        <a:rPr lang="en-US" altLang="zh-CN" sz="2200" b="1" dirty="0" smtClean="0"/>
                        <a:t>a2</a:t>
                      </a:r>
                      <a:endParaRPr lang="zh-CN" altLang="en-US" sz="2200" b="1" dirty="0"/>
                    </a:p>
                  </a:txBody>
                  <a:tcPr marL="91454" marR="91454" marT="45725" marB="45725"/>
                </a:tc>
                <a:tc>
                  <a:txBody>
                    <a:bodyPr/>
                    <a:lstStyle/>
                    <a:p>
                      <a:pPr algn="ctr"/>
                      <a:r>
                        <a:rPr lang="en-US" altLang="zh-CN" sz="2200" b="1" dirty="0" smtClean="0"/>
                        <a:t>b3</a:t>
                      </a:r>
                      <a:endParaRPr lang="zh-CN" altLang="en-US" sz="2200" b="1" dirty="0"/>
                    </a:p>
                  </a:txBody>
                  <a:tcPr marL="91454" marR="91454" marT="45725" marB="45725"/>
                </a:tc>
                <a:tc>
                  <a:txBody>
                    <a:bodyPr/>
                    <a:lstStyle/>
                    <a:p>
                      <a:pPr algn="ctr"/>
                      <a:r>
                        <a:rPr lang="en-US" altLang="zh-CN" sz="2200" b="1" dirty="0" smtClean="0"/>
                        <a:t>8</a:t>
                      </a:r>
                      <a:endParaRPr lang="zh-CN" altLang="en-US" sz="2200" b="1" dirty="0"/>
                    </a:p>
                  </a:txBody>
                  <a:tcPr marL="91454" marR="91454" marT="45725" marB="45725"/>
                </a:tc>
                <a:tc>
                  <a:txBody>
                    <a:bodyPr/>
                    <a:lstStyle/>
                    <a:p>
                      <a:pPr algn="ctr"/>
                      <a:r>
                        <a:rPr lang="en-US" altLang="zh-CN" sz="2200" b="1" dirty="0" smtClean="0"/>
                        <a:t>10</a:t>
                      </a:r>
                      <a:endParaRPr lang="zh-CN" altLang="en-US" sz="2200" b="1" dirty="0"/>
                    </a:p>
                  </a:txBody>
                  <a:tcPr marL="91454" marR="91454" marT="45725" marB="45725"/>
                </a:tc>
              </a:tr>
              <a:tr h="645117">
                <a:tc>
                  <a:txBody>
                    <a:bodyPr/>
                    <a:lstStyle/>
                    <a:p>
                      <a:pPr algn="ctr"/>
                      <a:r>
                        <a:rPr lang="en-US" altLang="zh-CN" sz="2200" b="1" dirty="0" smtClean="0"/>
                        <a:t>a2</a:t>
                      </a:r>
                      <a:endParaRPr lang="zh-CN" altLang="en-US" sz="2200" b="1" dirty="0"/>
                    </a:p>
                  </a:txBody>
                  <a:tcPr marL="91454" marR="91454" marT="45725" marB="45725"/>
                </a:tc>
                <a:tc>
                  <a:txBody>
                    <a:bodyPr/>
                    <a:lstStyle/>
                    <a:p>
                      <a:pPr algn="ctr"/>
                      <a:r>
                        <a:rPr lang="en-US" altLang="zh-CN" sz="2200" b="1" dirty="0" smtClean="0"/>
                        <a:t>b3</a:t>
                      </a:r>
                      <a:endParaRPr lang="zh-CN" altLang="en-US" sz="2200" b="1" dirty="0"/>
                    </a:p>
                  </a:txBody>
                  <a:tcPr marL="91454" marR="91454" marT="45725" marB="45725"/>
                </a:tc>
                <a:tc>
                  <a:txBody>
                    <a:bodyPr/>
                    <a:lstStyle/>
                    <a:p>
                      <a:pPr algn="ctr"/>
                      <a:r>
                        <a:rPr lang="en-US" altLang="zh-CN" sz="2200" b="1" dirty="0" smtClean="0"/>
                        <a:t>8</a:t>
                      </a:r>
                      <a:endParaRPr lang="zh-CN" altLang="en-US" sz="2200" b="1" dirty="0"/>
                    </a:p>
                  </a:txBody>
                  <a:tcPr marL="91454" marR="91454" marT="45725" marB="45725"/>
                </a:tc>
                <a:tc>
                  <a:txBody>
                    <a:bodyPr/>
                    <a:lstStyle/>
                    <a:p>
                      <a:pPr algn="ctr"/>
                      <a:r>
                        <a:rPr lang="en-US" altLang="zh-CN" sz="2200" b="1" dirty="0" smtClean="0"/>
                        <a:t>2</a:t>
                      </a:r>
                      <a:endParaRPr lang="zh-CN" altLang="en-US" sz="2200" b="1" dirty="0"/>
                    </a:p>
                  </a:txBody>
                  <a:tcPr marL="91454" marR="91454" marT="45725" marB="45725"/>
                </a:tc>
              </a:tr>
            </a:tbl>
          </a:graphicData>
        </a:graphic>
      </p:graphicFrame>
    </p:spTree>
    <p:extLst>
      <p:ext uri="{BB962C8B-B14F-4D97-AF65-F5344CB8AC3E}">
        <p14:creationId xmlns:p14="http://schemas.microsoft.com/office/powerpoint/2010/main" val="359830402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pPr eaLnBrk="1" hangingPunct="1"/>
            <a:r>
              <a:rPr lang="zh-CN" altLang="en-US" sz="3600" smtClean="0"/>
              <a:t>连接（续）</a:t>
            </a:r>
            <a:endParaRPr lang="en-US" altLang="zh-CN" sz="3600" smtClean="0"/>
          </a:p>
        </p:txBody>
      </p:sp>
      <p:sp>
        <p:nvSpPr>
          <p:cNvPr id="103427" name="Rectangle 3"/>
          <p:cNvSpPr>
            <a:spLocks noGrp="1" noChangeArrowheads="1"/>
          </p:cNvSpPr>
          <p:nvPr>
            <p:ph type="body" idx="1"/>
          </p:nvPr>
        </p:nvSpPr>
        <p:spPr>
          <a:xfrm>
            <a:off x="457200" y="1098550"/>
            <a:ext cx="7972425" cy="5472113"/>
          </a:xfrm>
        </p:spPr>
        <p:txBody>
          <a:bodyPr/>
          <a:lstStyle/>
          <a:p>
            <a:pPr eaLnBrk="1" hangingPunct="1">
              <a:lnSpc>
                <a:spcPct val="150000"/>
              </a:lnSpc>
            </a:pPr>
            <a:r>
              <a:rPr lang="zh-CN" altLang="zh-CN" dirty="0" smtClean="0"/>
              <a:t>悬浮元组（</a:t>
            </a:r>
            <a:r>
              <a:rPr lang="en-US" altLang="zh-CN" dirty="0" smtClean="0"/>
              <a:t>Dangling tuple</a:t>
            </a:r>
            <a:r>
              <a:rPr lang="zh-CN" altLang="zh-CN" dirty="0" smtClean="0"/>
              <a:t>）</a:t>
            </a:r>
            <a:endParaRPr lang="en-US" altLang="zh-CN" dirty="0" smtClean="0"/>
          </a:p>
          <a:p>
            <a:pPr lvl="1" eaLnBrk="1" hangingPunct="1">
              <a:lnSpc>
                <a:spcPct val="150000"/>
              </a:lnSpc>
            </a:pPr>
            <a:r>
              <a:rPr lang="zh-CN" altLang="zh-CN" dirty="0" smtClean="0"/>
              <a:t>两个关系</a:t>
            </a:r>
            <a:r>
              <a:rPr lang="en-US" altLang="zh-CN" i="1" dirty="0" smtClean="0"/>
              <a:t>R</a:t>
            </a:r>
            <a:r>
              <a:rPr lang="zh-CN" altLang="zh-CN" dirty="0" smtClean="0"/>
              <a:t>和</a:t>
            </a:r>
            <a:r>
              <a:rPr lang="en-US" altLang="zh-CN" i="1" dirty="0" smtClean="0"/>
              <a:t>S</a:t>
            </a:r>
            <a:r>
              <a:rPr lang="zh-CN" altLang="zh-CN" dirty="0" smtClean="0"/>
              <a:t>在做自然连接时，关系</a:t>
            </a:r>
            <a:r>
              <a:rPr lang="en-US" altLang="zh-CN" i="1" dirty="0" smtClean="0"/>
              <a:t>R</a:t>
            </a:r>
            <a:r>
              <a:rPr lang="zh-CN" altLang="zh-CN" dirty="0" smtClean="0"/>
              <a:t>中某些元组有可能在</a:t>
            </a:r>
            <a:r>
              <a:rPr lang="en-US" altLang="zh-CN" i="1" dirty="0" smtClean="0"/>
              <a:t>S</a:t>
            </a:r>
            <a:r>
              <a:rPr lang="zh-CN" altLang="zh-CN" dirty="0" smtClean="0"/>
              <a:t>中不存在公共属性上值相等的元组，从而造成</a:t>
            </a:r>
            <a:r>
              <a:rPr lang="en-US" altLang="zh-CN" i="1" dirty="0" smtClean="0"/>
              <a:t>R</a:t>
            </a:r>
            <a:r>
              <a:rPr lang="zh-CN" altLang="zh-CN" dirty="0" smtClean="0"/>
              <a:t>中这些元组在操作时被舍弃了</a:t>
            </a:r>
            <a:r>
              <a:rPr lang="zh-CN" altLang="en-US" dirty="0" smtClean="0"/>
              <a:t>，</a:t>
            </a:r>
            <a:r>
              <a:rPr lang="zh-CN" altLang="zh-CN" dirty="0" smtClean="0"/>
              <a:t>这些被舍弃的元组称为</a:t>
            </a:r>
            <a:r>
              <a:rPr lang="zh-CN" altLang="en-US" dirty="0" smtClean="0"/>
              <a:t>悬浮元组</a:t>
            </a:r>
            <a:r>
              <a:rPr lang="zh-CN" altLang="en-US" sz="2200" dirty="0" smtClean="0"/>
              <a:t>。</a:t>
            </a:r>
          </a:p>
        </p:txBody>
      </p:sp>
      <p:graphicFrame>
        <p:nvGraphicFramePr>
          <p:cNvPr id="4" name="内容占位符 6"/>
          <p:cNvGraphicFramePr>
            <a:graphicFrameLocks/>
          </p:cNvGraphicFramePr>
          <p:nvPr>
            <p:extLst>
              <p:ext uri="{D42A27DB-BD31-4B8C-83A1-F6EECF244321}">
                <p14:modId xmlns:p14="http://schemas.microsoft.com/office/powerpoint/2010/main" val="3782805314"/>
              </p:ext>
            </p:extLst>
          </p:nvPr>
        </p:nvGraphicFramePr>
        <p:xfrm>
          <a:off x="1405731" y="4522230"/>
          <a:ext cx="3035301" cy="1828640"/>
        </p:xfrm>
        <a:graphic>
          <a:graphicData uri="http://schemas.openxmlformats.org/drawingml/2006/table">
            <a:tbl>
              <a:tblPr firstRow="1" bandRow="1">
                <a:tableStyleId>{5C22544A-7EE6-4342-B048-85BDC9FD1C3A}</a:tableStyleId>
              </a:tblPr>
              <a:tblGrid>
                <a:gridCol w="1011767"/>
                <a:gridCol w="1011767"/>
                <a:gridCol w="1011767"/>
              </a:tblGrid>
              <a:tr h="0">
                <a:tc>
                  <a:txBody>
                    <a:bodyPr/>
                    <a:lstStyle/>
                    <a:p>
                      <a:pPr algn="ctr"/>
                      <a:r>
                        <a:rPr lang="en-US" altLang="zh-CN" sz="1800" b="1" dirty="0" smtClean="0">
                          <a:solidFill>
                            <a:schemeClr val="tx1"/>
                          </a:solidFill>
                        </a:rPr>
                        <a:t>A</a:t>
                      </a:r>
                      <a:endParaRPr lang="zh-CN" altLang="en-US" sz="1800" b="1" dirty="0">
                        <a:solidFill>
                          <a:schemeClr val="tx1"/>
                        </a:solidFill>
                      </a:endParaRPr>
                    </a:p>
                  </a:txBody>
                  <a:tcPr marL="91459" marR="91459" marT="45704" marB="45704"/>
                </a:tc>
                <a:tc>
                  <a:txBody>
                    <a:bodyPr/>
                    <a:lstStyle/>
                    <a:p>
                      <a:pPr algn="ctr"/>
                      <a:r>
                        <a:rPr lang="en-US" altLang="zh-CN" sz="1800" b="1" dirty="0" smtClean="0">
                          <a:solidFill>
                            <a:schemeClr val="tx1"/>
                          </a:solidFill>
                        </a:rPr>
                        <a:t>B</a:t>
                      </a:r>
                      <a:endParaRPr lang="zh-CN" altLang="en-US" sz="1800" b="1" dirty="0">
                        <a:solidFill>
                          <a:schemeClr val="tx1"/>
                        </a:solidFill>
                      </a:endParaRPr>
                    </a:p>
                  </a:txBody>
                  <a:tcPr marL="91459" marR="91459" marT="45704" marB="45704"/>
                </a:tc>
                <a:tc>
                  <a:txBody>
                    <a:bodyPr/>
                    <a:lstStyle/>
                    <a:p>
                      <a:pPr algn="ctr"/>
                      <a:r>
                        <a:rPr lang="en-US" altLang="zh-CN" sz="1800" b="1" dirty="0" smtClean="0">
                          <a:solidFill>
                            <a:schemeClr val="tx1"/>
                          </a:solidFill>
                        </a:rPr>
                        <a:t>C</a:t>
                      </a:r>
                      <a:endParaRPr lang="zh-CN" altLang="en-US" sz="1800" b="1" dirty="0">
                        <a:solidFill>
                          <a:schemeClr val="tx1"/>
                        </a:solidFill>
                      </a:endParaRPr>
                    </a:p>
                  </a:txBody>
                  <a:tcPr marL="91459" marR="91459" marT="45704" marB="45704"/>
                </a:tc>
              </a:tr>
              <a:tr h="0">
                <a:tc>
                  <a:txBody>
                    <a:bodyPr/>
                    <a:lstStyle/>
                    <a:p>
                      <a:pPr algn="ctr"/>
                      <a:r>
                        <a:rPr lang="en-US" altLang="zh-CN" sz="1800" b="1" dirty="0" smtClean="0"/>
                        <a:t>a1</a:t>
                      </a:r>
                      <a:endParaRPr lang="zh-CN" altLang="en-US" sz="1800" b="1" dirty="0"/>
                    </a:p>
                  </a:txBody>
                  <a:tcPr marL="91459" marR="91459" marT="45704" marB="45704"/>
                </a:tc>
                <a:tc>
                  <a:txBody>
                    <a:bodyPr/>
                    <a:lstStyle/>
                    <a:p>
                      <a:pPr algn="ctr"/>
                      <a:r>
                        <a:rPr lang="en-US" altLang="zh-CN" sz="1800" b="1" dirty="0" smtClean="0"/>
                        <a:t>b1</a:t>
                      </a:r>
                      <a:endParaRPr lang="zh-CN" altLang="en-US" sz="1800" b="1" dirty="0"/>
                    </a:p>
                  </a:txBody>
                  <a:tcPr marL="91459" marR="91459" marT="45704" marB="45704"/>
                </a:tc>
                <a:tc>
                  <a:txBody>
                    <a:bodyPr/>
                    <a:lstStyle/>
                    <a:p>
                      <a:pPr algn="ctr"/>
                      <a:r>
                        <a:rPr lang="en-US" altLang="zh-CN" sz="1800" b="1" dirty="0" smtClean="0"/>
                        <a:t>5</a:t>
                      </a:r>
                      <a:endParaRPr lang="zh-CN" altLang="en-US" sz="1800" b="1" dirty="0"/>
                    </a:p>
                  </a:txBody>
                  <a:tcPr marL="91459" marR="91459" marT="45704" marB="45704"/>
                </a:tc>
              </a:tr>
              <a:tr h="0">
                <a:tc>
                  <a:txBody>
                    <a:bodyPr/>
                    <a:lstStyle/>
                    <a:p>
                      <a:pPr algn="ctr"/>
                      <a:r>
                        <a:rPr lang="en-US" altLang="zh-CN" sz="1800" b="1" dirty="0" smtClean="0"/>
                        <a:t>a1</a:t>
                      </a:r>
                      <a:endParaRPr lang="zh-CN" altLang="en-US" sz="1800" b="1" dirty="0"/>
                    </a:p>
                  </a:txBody>
                  <a:tcPr marL="91459" marR="91459" marT="45704" marB="45704"/>
                </a:tc>
                <a:tc>
                  <a:txBody>
                    <a:bodyPr/>
                    <a:lstStyle/>
                    <a:p>
                      <a:pPr algn="ctr"/>
                      <a:r>
                        <a:rPr lang="en-US" altLang="zh-CN" sz="1800" b="1" dirty="0" smtClean="0"/>
                        <a:t>b2</a:t>
                      </a:r>
                      <a:endParaRPr lang="zh-CN" altLang="en-US" sz="1800" b="1" dirty="0"/>
                    </a:p>
                  </a:txBody>
                  <a:tcPr marL="91459" marR="91459" marT="45704" marB="45704"/>
                </a:tc>
                <a:tc>
                  <a:txBody>
                    <a:bodyPr/>
                    <a:lstStyle/>
                    <a:p>
                      <a:pPr algn="ctr"/>
                      <a:r>
                        <a:rPr lang="en-US" altLang="zh-CN" sz="1800" b="1" dirty="0" smtClean="0"/>
                        <a:t>6</a:t>
                      </a:r>
                      <a:endParaRPr lang="zh-CN" altLang="en-US" sz="1800" b="1" dirty="0"/>
                    </a:p>
                  </a:txBody>
                  <a:tcPr marL="91459" marR="91459" marT="45704" marB="45704"/>
                </a:tc>
              </a:tr>
              <a:tr h="0">
                <a:tc>
                  <a:txBody>
                    <a:bodyPr/>
                    <a:lstStyle/>
                    <a:p>
                      <a:pPr algn="ctr"/>
                      <a:r>
                        <a:rPr lang="en-US" altLang="zh-CN" sz="1800" b="1" dirty="0" smtClean="0"/>
                        <a:t>a2</a:t>
                      </a:r>
                      <a:endParaRPr lang="zh-CN" altLang="en-US" sz="1800" b="1" dirty="0"/>
                    </a:p>
                  </a:txBody>
                  <a:tcPr marL="91459" marR="91459" marT="45704" marB="45704"/>
                </a:tc>
                <a:tc>
                  <a:txBody>
                    <a:bodyPr/>
                    <a:lstStyle/>
                    <a:p>
                      <a:pPr algn="ctr"/>
                      <a:r>
                        <a:rPr lang="en-US" altLang="zh-CN" sz="1800" b="1" dirty="0" smtClean="0"/>
                        <a:t>b3</a:t>
                      </a:r>
                      <a:endParaRPr lang="zh-CN" altLang="en-US" sz="1800" b="1" dirty="0"/>
                    </a:p>
                  </a:txBody>
                  <a:tcPr marL="91459" marR="91459" marT="45704" marB="45704"/>
                </a:tc>
                <a:tc>
                  <a:txBody>
                    <a:bodyPr/>
                    <a:lstStyle/>
                    <a:p>
                      <a:pPr algn="ctr"/>
                      <a:r>
                        <a:rPr lang="en-US" altLang="zh-CN" sz="1800" b="1" dirty="0" smtClean="0"/>
                        <a:t>8</a:t>
                      </a:r>
                      <a:endParaRPr lang="zh-CN" altLang="en-US" sz="1800" b="1" dirty="0"/>
                    </a:p>
                  </a:txBody>
                  <a:tcPr marL="91459" marR="91459" marT="45704" marB="45704"/>
                </a:tc>
              </a:tr>
              <a:tr h="0">
                <a:tc>
                  <a:txBody>
                    <a:bodyPr/>
                    <a:lstStyle/>
                    <a:p>
                      <a:pPr algn="ctr"/>
                      <a:r>
                        <a:rPr lang="en-US" altLang="zh-CN" sz="1800" b="1" dirty="0" smtClean="0"/>
                        <a:t>a2</a:t>
                      </a:r>
                      <a:endParaRPr lang="zh-CN" altLang="en-US" sz="1800" b="1" dirty="0"/>
                    </a:p>
                  </a:txBody>
                  <a:tcPr marL="91459" marR="91459" marT="45704" marB="45704"/>
                </a:tc>
                <a:tc>
                  <a:txBody>
                    <a:bodyPr/>
                    <a:lstStyle/>
                    <a:p>
                      <a:pPr algn="ctr"/>
                      <a:r>
                        <a:rPr lang="en-US" altLang="zh-CN" sz="1800" b="1" dirty="0" smtClean="0"/>
                        <a:t>b4</a:t>
                      </a:r>
                      <a:endParaRPr lang="zh-CN" altLang="en-US" sz="1800" b="1" dirty="0"/>
                    </a:p>
                  </a:txBody>
                  <a:tcPr marL="91459" marR="91459" marT="45704" marB="45704"/>
                </a:tc>
                <a:tc>
                  <a:txBody>
                    <a:bodyPr/>
                    <a:lstStyle/>
                    <a:p>
                      <a:pPr algn="ctr"/>
                      <a:r>
                        <a:rPr lang="en-US" altLang="zh-CN" sz="1800" b="1" dirty="0" smtClean="0"/>
                        <a:t>12</a:t>
                      </a:r>
                      <a:endParaRPr lang="zh-CN" altLang="en-US" sz="1800" b="1" dirty="0"/>
                    </a:p>
                  </a:txBody>
                  <a:tcPr marL="91459" marR="91459" marT="45704" marB="45704"/>
                </a:tc>
              </a:tr>
            </a:tbl>
          </a:graphicData>
        </a:graphic>
      </p:graphicFrame>
      <p:graphicFrame>
        <p:nvGraphicFramePr>
          <p:cNvPr id="5" name="内容占位符 8"/>
          <p:cNvGraphicFramePr>
            <a:graphicFrameLocks/>
          </p:cNvGraphicFramePr>
          <p:nvPr>
            <p:extLst>
              <p:ext uri="{D42A27DB-BD31-4B8C-83A1-F6EECF244321}">
                <p14:modId xmlns:p14="http://schemas.microsoft.com/office/powerpoint/2010/main" val="4022691011"/>
              </p:ext>
            </p:extLst>
          </p:nvPr>
        </p:nvGraphicFramePr>
        <p:xfrm>
          <a:off x="5609368" y="4453468"/>
          <a:ext cx="2112962" cy="1897404"/>
        </p:xfrm>
        <a:graphic>
          <a:graphicData uri="http://schemas.openxmlformats.org/drawingml/2006/table">
            <a:tbl>
              <a:tblPr firstRow="1" bandRow="1">
                <a:tableStyleId>{5C22544A-7EE6-4342-B048-85BDC9FD1C3A}</a:tableStyleId>
              </a:tblPr>
              <a:tblGrid>
                <a:gridCol w="1056481"/>
                <a:gridCol w="1056481"/>
              </a:tblGrid>
              <a:tr h="316234">
                <a:tc>
                  <a:txBody>
                    <a:bodyPr/>
                    <a:lstStyle/>
                    <a:p>
                      <a:pPr algn="ctr"/>
                      <a:r>
                        <a:rPr lang="en-US" altLang="zh-CN" sz="1400" b="1" dirty="0" smtClean="0">
                          <a:solidFill>
                            <a:schemeClr val="tx1"/>
                          </a:solidFill>
                        </a:rPr>
                        <a:t>B</a:t>
                      </a:r>
                      <a:endParaRPr lang="zh-CN" altLang="en-US" sz="1400" b="1" dirty="0">
                        <a:solidFill>
                          <a:schemeClr val="tx1"/>
                        </a:solidFill>
                      </a:endParaRPr>
                    </a:p>
                  </a:txBody>
                  <a:tcPr marL="91472" marR="91472" marT="45748" marB="45748"/>
                </a:tc>
                <a:tc>
                  <a:txBody>
                    <a:bodyPr/>
                    <a:lstStyle/>
                    <a:p>
                      <a:pPr algn="ctr"/>
                      <a:r>
                        <a:rPr lang="en-US" altLang="zh-CN" sz="1400" b="1" dirty="0" smtClean="0">
                          <a:solidFill>
                            <a:schemeClr val="tx1"/>
                          </a:solidFill>
                        </a:rPr>
                        <a:t>E</a:t>
                      </a:r>
                      <a:endParaRPr lang="zh-CN" altLang="en-US" sz="1400" b="1" dirty="0">
                        <a:solidFill>
                          <a:schemeClr val="tx1"/>
                        </a:solidFill>
                      </a:endParaRPr>
                    </a:p>
                  </a:txBody>
                  <a:tcPr marL="91472" marR="91472" marT="45748" marB="45748"/>
                </a:tc>
              </a:tr>
              <a:tr h="316234">
                <a:tc>
                  <a:txBody>
                    <a:bodyPr/>
                    <a:lstStyle/>
                    <a:p>
                      <a:pPr algn="ctr"/>
                      <a:r>
                        <a:rPr lang="en-US" altLang="zh-CN" sz="1400" b="1" dirty="0" smtClean="0"/>
                        <a:t>b1</a:t>
                      </a:r>
                      <a:endParaRPr lang="zh-CN" altLang="en-US" sz="1400" b="1" dirty="0"/>
                    </a:p>
                  </a:txBody>
                  <a:tcPr marL="91472" marR="91472" marT="45748" marB="45748"/>
                </a:tc>
                <a:tc>
                  <a:txBody>
                    <a:bodyPr/>
                    <a:lstStyle/>
                    <a:p>
                      <a:pPr algn="ctr"/>
                      <a:r>
                        <a:rPr lang="en-US" altLang="zh-CN" sz="1400" b="1" dirty="0" smtClean="0"/>
                        <a:t>3</a:t>
                      </a:r>
                      <a:endParaRPr lang="zh-CN" altLang="en-US" sz="1400" b="1" dirty="0"/>
                    </a:p>
                  </a:txBody>
                  <a:tcPr marL="91472" marR="91472" marT="45748" marB="45748"/>
                </a:tc>
              </a:tr>
              <a:tr h="316234">
                <a:tc>
                  <a:txBody>
                    <a:bodyPr/>
                    <a:lstStyle/>
                    <a:p>
                      <a:pPr algn="ctr"/>
                      <a:r>
                        <a:rPr lang="en-US" altLang="zh-CN" sz="1400" b="1" dirty="0" smtClean="0"/>
                        <a:t>b2</a:t>
                      </a:r>
                      <a:endParaRPr lang="zh-CN" altLang="en-US" sz="1400" b="1" dirty="0"/>
                    </a:p>
                  </a:txBody>
                  <a:tcPr marL="91472" marR="91472" marT="45748" marB="45748"/>
                </a:tc>
                <a:tc>
                  <a:txBody>
                    <a:bodyPr/>
                    <a:lstStyle/>
                    <a:p>
                      <a:pPr algn="ctr"/>
                      <a:r>
                        <a:rPr lang="en-US" altLang="zh-CN" sz="1400" b="1" dirty="0" smtClean="0"/>
                        <a:t>7</a:t>
                      </a:r>
                      <a:endParaRPr lang="zh-CN" altLang="en-US" sz="1400" b="1" dirty="0"/>
                    </a:p>
                  </a:txBody>
                  <a:tcPr marL="91472" marR="91472" marT="45748" marB="45748"/>
                </a:tc>
              </a:tr>
              <a:tr h="316234">
                <a:tc>
                  <a:txBody>
                    <a:bodyPr/>
                    <a:lstStyle/>
                    <a:p>
                      <a:pPr algn="ctr"/>
                      <a:r>
                        <a:rPr lang="en-US" altLang="zh-CN" sz="1400" b="1" dirty="0" smtClean="0"/>
                        <a:t>b3</a:t>
                      </a:r>
                      <a:endParaRPr lang="zh-CN" altLang="en-US" sz="1400" b="1" dirty="0"/>
                    </a:p>
                  </a:txBody>
                  <a:tcPr marL="91472" marR="91472" marT="45748" marB="45748"/>
                </a:tc>
                <a:tc>
                  <a:txBody>
                    <a:bodyPr/>
                    <a:lstStyle/>
                    <a:p>
                      <a:pPr algn="ctr"/>
                      <a:r>
                        <a:rPr lang="en-US" altLang="zh-CN" sz="1400" b="1" dirty="0" smtClean="0"/>
                        <a:t>10</a:t>
                      </a:r>
                      <a:endParaRPr lang="zh-CN" altLang="en-US" sz="1400" b="1" dirty="0"/>
                    </a:p>
                  </a:txBody>
                  <a:tcPr marL="91472" marR="91472" marT="45748" marB="45748"/>
                </a:tc>
              </a:tr>
              <a:tr h="31623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t>b3</a:t>
                      </a:r>
                      <a:endParaRPr lang="zh-CN" altLang="en-US" sz="1400" b="1" dirty="0"/>
                    </a:p>
                  </a:txBody>
                  <a:tcPr marL="91472" marR="91472" marT="45748" marB="45748"/>
                </a:tc>
                <a:tc>
                  <a:txBody>
                    <a:bodyPr/>
                    <a:lstStyle/>
                    <a:p>
                      <a:pPr algn="ctr"/>
                      <a:r>
                        <a:rPr lang="en-US" altLang="zh-CN" sz="1400" b="1" dirty="0" smtClean="0"/>
                        <a:t>2</a:t>
                      </a:r>
                      <a:endParaRPr lang="zh-CN" altLang="en-US" sz="1400" b="1" dirty="0"/>
                    </a:p>
                  </a:txBody>
                  <a:tcPr marL="91472" marR="91472" marT="45748" marB="45748"/>
                </a:tc>
              </a:tr>
              <a:tr h="31623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b="1" dirty="0" smtClean="0"/>
                        <a:t>b5</a:t>
                      </a:r>
                      <a:endParaRPr lang="zh-CN" altLang="en-US" sz="1400" b="1" dirty="0"/>
                    </a:p>
                  </a:txBody>
                  <a:tcPr marL="91472" marR="91472" marT="45748" marB="45748"/>
                </a:tc>
                <a:tc>
                  <a:txBody>
                    <a:bodyPr/>
                    <a:lstStyle/>
                    <a:p>
                      <a:pPr algn="ctr"/>
                      <a:r>
                        <a:rPr lang="en-US" altLang="zh-CN" sz="1400" b="1" dirty="0" smtClean="0"/>
                        <a:t>2</a:t>
                      </a:r>
                      <a:endParaRPr lang="zh-CN" altLang="en-US" sz="1400" b="1" dirty="0"/>
                    </a:p>
                  </a:txBody>
                  <a:tcPr marL="91472" marR="91472" marT="45748" marB="45748"/>
                </a:tc>
              </a:tr>
            </a:tbl>
          </a:graphicData>
        </a:graphic>
      </p:graphicFrame>
      <p:sp>
        <p:nvSpPr>
          <p:cNvPr id="6" name="TextBox 7"/>
          <p:cNvSpPr txBox="1">
            <a:spLocks noChangeArrowheads="1"/>
          </p:cNvSpPr>
          <p:nvPr/>
        </p:nvSpPr>
        <p:spPr bwMode="auto">
          <a:xfrm>
            <a:off x="836635" y="4522230"/>
            <a:ext cx="388938"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dirty="0"/>
              <a:t>R</a:t>
            </a:r>
            <a:endParaRPr lang="zh-CN" altLang="en-US" sz="2200" b="1" dirty="0"/>
          </a:p>
        </p:txBody>
      </p:sp>
      <p:sp>
        <p:nvSpPr>
          <p:cNvPr id="7" name="TextBox 10"/>
          <p:cNvSpPr txBox="1">
            <a:spLocks noChangeArrowheads="1"/>
          </p:cNvSpPr>
          <p:nvPr/>
        </p:nvSpPr>
        <p:spPr bwMode="auto">
          <a:xfrm>
            <a:off x="5042672" y="4474907"/>
            <a:ext cx="3714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dirty="0"/>
              <a:t>S</a:t>
            </a:r>
            <a:endParaRPr lang="zh-CN" altLang="en-US" sz="2200" b="1" dirty="0"/>
          </a:p>
        </p:txBody>
      </p:sp>
    </p:spTree>
    <p:extLst>
      <p:ext uri="{BB962C8B-B14F-4D97-AF65-F5344CB8AC3E}">
        <p14:creationId xmlns:p14="http://schemas.microsoft.com/office/powerpoint/2010/main" val="305608020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r>
              <a:rPr lang="zh-CN" altLang="en-US" sz="3600" smtClean="0"/>
              <a:t>连接（续）</a:t>
            </a:r>
            <a:endParaRPr lang="en-US" altLang="zh-CN" sz="3600" smtClean="0"/>
          </a:p>
        </p:txBody>
      </p:sp>
      <p:sp>
        <p:nvSpPr>
          <p:cNvPr id="104451" name="Rectangle 3"/>
          <p:cNvSpPr>
            <a:spLocks noGrp="1" noChangeArrowheads="1"/>
          </p:cNvSpPr>
          <p:nvPr>
            <p:ph type="body" idx="1"/>
          </p:nvPr>
        </p:nvSpPr>
        <p:spPr>
          <a:xfrm>
            <a:off x="457200" y="1196975"/>
            <a:ext cx="8229600" cy="5472113"/>
          </a:xfrm>
        </p:spPr>
        <p:txBody>
          <a:bodyPr/>
          <a:lstStyle/>
          <a:p>
            <a:pPr eaLnBrk="1" hangingPunct="1">
              <a:lnSpc>
                <a:spcPct val="110000"/>
              </a:lnSpc>
            </a:pPr>
            <a:r>
              <a:rPr lang="zh-CN" altLang="en-US" dirty="0" smtClean="0"/>
              <a:t>外连接（</a:t>
            </a:r>
            <a:r>
              <a:rPr lang="en-US" altLang="zh-CN" dirty="0" smtClean="0"/>
              <a:t>Outer Join</a:t>
            </a:r>
            <a:r>
              <a:rPr lang="zh-CN" altLang="en-US" dirty="0" smtClean="0"/>
              <a:t>）</a:t>
            </a:r>
          </a:p>
          <a:p>
            <a:pPr lvl="1" eaLnBrk="1" hangingPunct="1">
              <a:lnSpc>
                <a:spcPct val="110000"/>
              </a:lnSpc>
            </a:pPr>
            <a:r>
              <a:rPr lang="zh-CN" altLang="zh-CN" dirty="0" smtClean="0"/>
              <a:t>如果把悬浮元组也保存在结果关系中，而在其他属性上填空值</a:t>
            </a:r>
            <a:r>
              <a:rPr lang="en-US" altLang="zh-CN" dirty="0" smtClean="0"/>
              <a:t>(Null)</a:t>
            </a:r>
            <a:r>
              <a:rPr lang="zh-CN" altLang="en-US" dirty="0" smtClean="0"/>
              <a:t>，就叫做外连接</a:t>
            </a:r>
            <a:endParaRPr lang="en-US" altLang="zh-CN" dirty="0" smtClean="0"/>
          </a:p>
          <a:p>
            <a:pPr lvl="1">
              <a:lnSpc>
                <a:spcPct val="110000"/>
              </a:lnSpc>
            </a:pPr>
            <a:r>
              <a:rPr lang="zh-CN" altLang="zh-CN" dirty="0" smtClean="0"/>
              <a:t>左外连接</a:t>
            </a:r>
            <a:r>
              <a:rPr lang="en-US" altLang="zh-CN" dirty="0" smtClean="0"/>
              <a:t>(LEFT OUTER JOIN</a:t>
            </a:r>
            <a:r>
              <a:rPr lang="zh-CN" altLang="zh-CN" dirty="0" smtClean="0"/>
              <a:t>或</a:t>
            </a:r>
            <a:r>
              <a:rPr lang="en-US" altLang="zh-CN" dirty="0" smtClean="0"/>
              <a:t>LEFT JOIN)</a:t>
            </a:r>
            <a:r>
              <a:rPr lang="en-US" altLang="zh-CN" dirty="0"/>
              <a:t> </a:t>
            </a:r>
            <a:endParaRPr lang="en-US" altLang="zh-CN" dirty="0" smtClean="0"/>
          </a:p>
          <a:p>
            <a:pPr lvl="2" eaLnBrk="1" hangingPunct="1">
              <a:lnSpc>
                <a:spcPct val="110000"/>
              </a:lnSpc>
              <a:buSzPct val="87000"/>
              <a:buFont typeface="Wingdings" panose="05000000000000000000" pitchFamily="2" charset="2"/>
              <a:buChar char="l"/>
            </a:pPr>
            <a:r>
              <a:rPr lang="zh-CN" altLang="zh-CN" sz="2200" dirty="0" smtClean="0"/>
              <a:t>只保留左边关系</a:t>
            </a:r>
            <a:r>
              <a:rPr lang="en-US" altLang="zh-CN" sz="2200" i="1" dirty="0" smtClean="0"/>
              <a:t>R</a:t>
            </a:r>
            <a:r>
              <a:rPr lang="zh-CN" altLang="zh-CN" sz="2200" dirty="0" smtClean="0"/>
              <a:t>中的悬浮元组</a:t>
            </a:r>
            <a:endParaRPr lang="en-US" altLang="zh-CN" sz="2200" dirty="0" smtClean="0"/>
          </a:p>
          <a:p>
            <a:pPr lvl="1" eaLnBrk="1" hangingPunct="1">
              <a:lnSpc>
                <a:spcPct val="110000"/>
              </a:lnSpc>
            </a:pPr>
            <a:r>
              <a:rPr lang="zh-CN" altLang="zh-CN" dirty="0" smtClean="0"/>
              <a:t>右外连接</a:t>
            </a:r>
            <a:r>
              <a:rPr lang="en-US" altLang="zh-CN" dirty="0" smtClean="0"/>
              <a:t>(RIGHT OUTER JOIN</a:t>
            </a:r>
            <a:r>
              <a:rPr lang="zh-CN" altLang="zh-CN" dirty="0" smtClean="0"/>
              <a:t>或</a:t>
            </a:r>
            <a:r>
              <a:rPr lang="en-US" altLang="zh-CN" dirty="0" smtClean="0"/>
              <a:t>RIGHT JOIN)</a:t>
            </a:r>
          </a:p>
          <a:p>
            <a:pPr lvl="2" eaLnBrk="1" hangingPunct="1">
              <a:lnSpc>
                <a:spcPct val="110000"/>
              </a:lnSpc>
              <a:buSzPct val="87000"/>
              <a:buFont typeface="Wingdings" panose="05000000000000000000" pitchFamily="2" charset="2"/>
              <a:buChar char="l"/>
            </a:pPr>
            <a:r>
              <a:rPr lang="zh-CN" altLang="zh-CN" sz="2200" dirty="0" smtClean="0"/>
              <a:t>只保留右边关系</a:t>
            </a:r>
            <a:r>
              <a:rPr lang="en-US" altLang="zh-CN" sz="2200" i="1" dirty="0" smtClean="0"/>
              <a:t>S</a:t>
            </a:r>
            <a:r>
              <a:rPr lang="zh-CN" altLang="zh-CN" sz="2200" dirty="0" smtClean="0"/>
              <a:t>中的悬浮元组</a:t>
            </a:r>
            <a:endParaRPr lang="zh-CN" altLang="en-US" sz="2200" dirty="0" smtClean="0"/>
          </a:p>
        </p:txBody>
      </p:sp>
      <p:grpSp>
        <p:nvGrpSpPr>
          <p:cNvPr id="4" name="Group 4"/>
          <p:cNvGrpSpPr>
            <a:grpSpLocks/>
          </p:cNvGrpSpPr>
          <p:nvPr/>
        </p:nvGrpSpPr>
        <p:grpSpPr bwMode="auto">
          <a:xfrm flipH="1">
            <a:off x="6778240" y="2726724"/>
            <a:ext cx="319087" cy="223838"/>
            <a:chOff x="384" y="528"/>
            <a:chExt cx="240" cy="96"/>
          </a:xfrm>
        </p:grpSpPr>
        <p:sp>
          <p:nvSpPr>
            <p:cNvPr id="5" name="AutoShape 5"/>
            <p:cNvSpPr>
              <a:spLocks noChangeArrowheads="1"/>
            </p:cNvSpPr>
            <p:nvPr/>
          </p:nvSpPr>
          <p:spPr bwMode="auto">
            <a:xfrm rot="5400000">
              <a:off x="432" y="480"/>
              <a:ext cx="96" cy="192"/>
            </a:xfrm>
            <a:prstGeom prst="flowChartCollate">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anchor="ct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endParaRPr lang="zh-CN" altLang="zh-CN" sz="1800">
                <a:latin typeface="Comic Sans MS" panose="030F0702030302020204" pitchFamily="66" charset="0"/>
                <a:ea typeface="宋体" panose="02010600030101010101" pitchFamily="2" charset="-122"/>
              </a:endParaRPr>
            </a:p>
          </p:txBody>
        </p:sp>
        <p:sp>
          <p:nvSpPr>
            <p:cNvPr id="6" name="Line 6"/>
            <p:cNvSpPr>
              <a:spLocks noChangeShapeType="1"/>
            </p:cNvSpPr>
            <p:nvPr/>
          </p:nvSpPr>
          <p:spPr bwMode="auto">
            <a:xfrm flipH="1">
              <a:off x="576" y="528"/>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7" name="Line 7"/>
            <p:cNvSpPr>
              <a:spLocks noChangeShapeType="1"/>
            </p:cNvSpPr>
            <p:nvPr/>
          </p:nvSpPr>
          <p:spPr bwMode="auto">
            <a:xfrm flipH="1">
              <a:off x="576" y="62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8" name="Group 8"/>
          <p:cNvGrpSpPr>
            <a:grpSpLocks/>
          </p:cNvGrpSpPr>
          <p:nvPr/>
        </p:nvGrpSpPr>
        <p:grpSpPr bwMode="auto">
          <a:xfrm>
            <a:off x="6904445" y="3692525"/>
            <a:ext cx="385763" cy="203200"/>
            <a:chOff x="3142" y="9335"/>
            <a:chExt cx="404" cy="183"/>
          </a:xfrm>
        </p:grpSpPr>
        <p:sp>
          <p:nvSpPr>
            <p:cNvPr id="9" name="AutoShape 9"/>
            <p:cNvSpPr>
              <a:spLocks noChangeArrowheads="1"/>
            </p:cNvSpPr>
            <p:nvPr/>
          </p:nvSpPr>
          <p:spPr bwMode="auto">
            <a:xfrm rot="16200000" flipH="1">
              <a:off x="3205" y="9272"/>
              <a:ext cx="180" cy="305"/>
            </a:xfrm>
            <a:prstGeom prst="flowChartCollate">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anchor="ct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endParaRPr lang="zh-CN" altLang="zh-CN" sz="1800">
                <a:latin typeface="Comic Sans MS" panose="030F0702030302020204" pitchFamily="66" charset="0"/>
                <a:ea typeface="宋体" panose="02010600030101010101" pitchFamily="2" charset="-122"/>
              </a:endParaRPr>
            </a:p>
          </p:txBody>
        </p:sp>
        <p:sp>
          <p:nvSpPr>
            <p:cNvPr id="10" name="Line 10"/>
            <p:cNvSpPr>
              <a:spLocks noChangeShapeType="1"/>
            </p:cNvSpPr>
            <p:nvPr/>
          </p:nvSpPr>
          <p:spPr bwMode="auto">
            <a:xfrm>
              <a:off x="3470" y="9335"/>
              <a:ext cx="7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1" name="Line 11"/>
            <p:cNvSpPr>
              <a:spLocks noChangeShapeType="1"/>
            </p:cNvSpPr>
            <p:nvPr/>
          </p:nvSpPr>
          <p:spPr bwMode="auto">
            <a:xfrm>
              <a:off x="3455" y="9518"/>
              <a:ext cx="7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grpSp>
      <p:grpSp>
        <p:nvGrpSpPr>
          <p:cNvPr id="12" name="Group 12"/>
          <p:cNvGrpSpPr>
            <a:grpSpLocks/>
          </p:cNvGrpSpPr>
          <p:nvPr/>
        </p:nvGrpSpPr>
        <p:grpSpPr bwMode="auto">
          <a:xfrm>
            <a:off x="5508496" y="2303463"/>
            <a:ext cx="403225" cy="204787"/>
            <a:chOff x="3051" y="10078"/>
            <a:chExt cx="480" cy="185"/>
          </a:xfrm>
        </p:grpSpPr>
        <p:grpSp>
          <p:nvGrpSpPr>
            <p:cNvPr id="13" name="Group 13"/>
            <p:cNvGrpSpPr>
              <a:grpSpLocks/>
            </p:cNvGrpSpPr>
            <p:nvPr/>
          </p:nvGrpSpPr>
          <p:grpSpPr bwMode="auto">
            <a:xfrm>
              <a:off x="3051" y="10078"/>
              <a:ext cx="480" cy="185"/>
              <a:chOff x="3051" y="10078"/>
              <a:chExt cx="480" cy="185"/>
            </a:xfrm>
          </p:grpSpPr>
          <p:grpSp>
            <p:nvGrpSpPr>
              <p:cNvPr id="15" name="Group 14"/>
              <p:cNvGrpSpPr>
                <a:grpSpLocks/>
              </p:cNvGrpSpPr>
              <p:nvPr/>
            </p:nvGrpSpPr>
            <p:grpSpPr bwMode="auto">
              <a:xfrm flipH="1">
                <a:off x="3051" y="10083"/>
                <a:ext cx="381" cy="180"/>
                <a:chOff x="384" y="528"/>
                <a:chExt cx="240" cy="96"/>
              </a:xfrm>
            </p:grpSpPr>
            <p:sp>
              <p:nvSpPr>
                <p:cNvPr id="17" name="AutoShape 15"/>
                <p:cNvSpPr>
                  <a:spLocks noChangeArrowheads="1"/>
                </p:cNvSpPr>
                <p:nvPr/>
              </p:nvSpPr>
              <p:spPr bwMode="auto">
                <a:xfrm rot="5400000">
                  <a:off x="432" y="480"/>
                  <a:ext cx="96" cy="192"/>
                </a:xfrm>
                <a:prstGeom prst="flowChartCollate">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anchor="ct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endParaRPr lang="zh-CN" altLang="zh-CN" sz="1800">
                    <a:latin typeface="Comic Sans MS" panose="030F0702030302020204" pitchFamily="66" charset="0"/>
                    <a:ea typeface="宋体" panose="02010600030101010101" pitchFamily="2" charset="-122"/>
                  </a:endParaRPr>
                </a:p>
              </p:txBody>
            </p:sp>
            <p:sp>
              <p:nvSpPr>
                <p:cNvPr id="18" name="Line 16"/>
                <p:cNvSpPr>
                  <a:spLocks noChangeShapeType="1"/>
                </p:cNvSpPr>
                <p:nvPr/>
              </p:nvSpPr>
              <p:spPr bwMode="auto">
                <a:xfrm flipH="1">
                  <a:off x="576" y="528"/>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9" name="Line 17"/>
                <p:cNvSpPr>
                  <a:spLocks noChangeShapeType="1"/>
                </p:cNvSpPr>
                <p:nvPr/>
              </p:nvSpPr>
              <p:spPr bwMode="auto">
                <a:xfrm flipH="1">
                  <a:off x="576" y="624"/>
                  <a:ext cx="4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grpSp>
          <p:sp>
            <p:nvSpPr>
              <p:cNvPr id="16" name="Line 18"/>
              <p:cNvSpPr>
                <a:spLocks noChangeShapeType="1"/>
              </p:cNvSpPr>
              <p:nvPr/>
            </p:nvSpPr>
            <p:spPr bwMode="auto">
              <a:xfrm>
                <a:off x="3455" y="10078"/>
                <a:ext cx="7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grpSp>
        <p:sp>
          <p:nvSpPr>
            <p:cNvPr id="14" name="Line 19"/>
            <p:cNvSpPr>
              <a:spLocks noChangeShapeType="1"/>
            </p:cNvSpPr>
            <p:nvPr/>
          </p:nvSpPr>
          <p:spPr bwMode="auto">
            <a:xfrm>
              <a:off x="3440" y="10261"/>
              <a:ext cx="7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grpSp>
      <p:sp>
        <p:nvSpPr>
          <p:cNvPr id="2" name="矩形 1"/>
          <p:cNvSpPr/>
          <p:nvPr/>
        </p:nvSpPr>
        <p:spPr>
          <a:xfrm>
            <a:off x="633469" y="4785118"/>
            <a:ext cx="6463857" cy="646331"/>
          </a:xfrm>
          <a:prstGeom prst="rect">
            <a:avLst/>
          </a:prstGeom>
        </p:spPr>
        <p:txBody>
          <a:bodyPr wrap="square">
            <a:spAutoFit/>
          </a:bodyPr>
          <a:lstStyle/>
          <a:p>
            <a:r>
              <a:rPr lang="en-US" altLang="zh-CN" dirty="0">
                <a:solidFill>
                  <a:srgbClr val="235A81"/>
                </a:solidFill>
                <a:latin typeface="Courier New" panose="02070309020205020404" pitchFamily="49" charset="0"/>
                <a:hlinkClick r:id="rId2"/>
              </a:rPr>
              <a:t>SELECT</a:t>
            </a:r>
            <a:r>
              <a:rPr lang="en-US" altLang="zh-CN" dirty="0">
                <a:solidFill>
                  <a:srgbClr val="444444"/>
                </a:solidFill>
                <a:latin typeface="Courier New" panose="02070309020205020404" pitchFamily="49" charset="0"/>
              </a:rPr>
              <a:t> * </a:t>
            </a:r>
            <a:r>
              <a:rPr lang="en-US" altLang="zh-CN" dirty="0">
                <a:solidFill>
                  <a:srgbClr val="770088"/>
                </a:solidFill>
                <a:latin typeface="Courier New" panose="02070309020205020404" pitchFamily="49" charset="0"/>
              </a:rPr>
              <a:t>FROM</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dept</a:t>
            </a:r>
            <a:r>
              <a:rPr lang="en-US" altLang="zh-CN" dirty="0">
                <a:solidFill>
                  <a:srgbClr val="0055AA"/>
                </a:solidFill>
                <a:latin typeface="Courier New" panose="02070309020205020404" pitchFamily="49" charset="0"/>
              </a:rPr>
              <a:t>`</a:t>
            </a:r>
            <a:r>
              <a:rPr lang="en-US" altLang="zh-CN" dirty="0">
                <a:solidFill>
                  <a:srgbClr val="444444"/>
                </a:solidFill>
                <a:latin typeface="Courier New" panose="02070309020205020404" pitchFamily="49" charset="0"/>
              </a:rPr>
              <a:t> </a:t>
            </a:r>
            <a:r>
              <a:rPr lang="en-US" altLang="zh-CN" dirty="0">
                <a:solidFill>
                  <a:srgbClr val="235A81"/>
                </a:solidFill>
                <a:latin typeface="Courier New" panose="02070309020205020404" pitchFamily="49" charset="0"/>
                <a:hlinkClick r:id="rId3"/>
              </a:rPr>
              <a:t>left</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outer</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join</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emp</a:t>
            </a:r>
            <a:r>
              <a:rPr lang="en-US" altLang="zh-CN" dirty="0">
                <a:solidFill>
                  <a:srgbClr val="0055AA"/>
                </a:solidFill>
                <a:latin typeface="Courier New" panose="02070309020205020404" pitchFamily="49" charset="0"/>
              </a:rPr>
              <a:t>`</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on</a:t>
            </a:r>
            <a:r>
              <a:rPr lang="en-US" altLang="zh-CN" dirty="0">
                <a:solidFill>
                  <a:srgbClr val="444444"/>
                </a:solidFill>
                <a:latin typeface="Courier New" panose="02070309020205020404" pitchFamily="49" charset="0"/>
              </a:rPr>
              <a:t> </a:t>
            </a:r>
            <a:r>
              <a:rPr lang="en-US" altLang="zh-CN" dirty="0" err="1">
                <a:solidFill>
                  <a:srgbClr val="444444"/>
                </a:solidFill>
                <a:latin typeface="Courier New" panose="02070309020205020404" pitchFamily="49" charset="0"/>
              </a:rPr>
              <a:t>dept</a:t>
            </a:r>
            <a:r>
              <a:rPr lang="en-US" altLang="zh-CN" dirty="0">
                <a:solidFill>
                  <a:srgbClr val="444444"/>
                </a:solidFill>
                <a:latin typeface="Courier New" panose="02070309020205020404" pitchFamily="49" charset="0"/>
              </a:rPr>
              <a:t>.</a:t>
            </a:r>
            <a:r>
              <a:rPr lang="en-US" altLang="zh-CN" dirty="0">
                <a:solidFill>
                  <a:srgbClr val="0055AA"/>
                </a:solidFill>
                <a:latin typeface="Courier New" panose="02070309020205020404" pitchFamily="49" charset="0"/>
              </a:rPr>
              <a:t>`DEPTNO`</a:t>
            </a:r>
            <a:r>
              <a:rPr lang="en-US" altLang="zh-CN" dirty="0">
                <a:solidFill>
                  <a:srgbClr val="444444"/>
                </a:solidFill>
                <a:latin typeface="Courier New" panose="02070309020205020404" pitchFamily="49" charset="0"/>
              </a:rPr>
              <a:t>=</a:t>
            </a:r>
            <a:r>
              <a:rPr lang="en-US" altLang="zh-CN" dirty="0" err="1">
                <a:solidFill>
                  <a:srgbClr val="444444"/>
                </a:solidFill>
                <a:latin typeface="Courier New" panose="02070309020205020404" pitchFamily="49" charset="0"/>
              </a:rPr>
              <a:t>emp</a:t>
            </a:r>
            <a:r>
              <a:rPr lang="en-US" altLang="zh-CN" dirty="0">
                <a:solidFill>
                  <a:srgbClr val="444444"/>
                </a:solidFill>
                <a:latin typeface="Courier New" panose="02070309020205020404" pitchFamily="49" charset="0"/>
              </a:rPr>
              <a:t>.</a:t>
            </a:r>
            <a:r>
              <a:rPr lang="en-US" altLang="zh-CN" dirty="0">
                <a:solidFill>
                  <a:srgbClr val="0055AA"/>
                </a:solidFill>
                <a:latin typeface="Courier New" panose="02070309020205020404" pitchFamily="49" charset="0"/>
              </a:rPr>
              <a:t>`DEPTNO`</a:t>
            </a:r>
            <a:endParaRPr lang="zh-CN" altLang="en-US" dirty="0"/>
          </a:p>
        </p:txBody>
      </p:sp>
      <p:sp>
        <p:nvSpPr>
          <p:cNvPr id="3" name="矩形 2"/>
          <p:cNvSpPr/>
          <p:nvPr/>
        </p:nvSpPr>
        <p:spPr>
          <a:xfrm>
            <a:off x="633468" y="5721627"/>
            <a:ext cx="6463857" cy="646331"/>
          </a:xfrm>
          <a:prstGeom prst="rect">
            <a:avLst/>
          </a:prstGeom>
        </p:spPr>
        <p:txBody>
          <a:bodyPr wrap="square">
            <a:spAutoFit/>
          </a:bodyPr>
          <a:lstStyle/>
          <a:p>
            <a:r>
              <a:rPr lang="en-US" altLang="zh-CN" dirty="0">
                <a:solidFill>
                  <a:srgbClr val="235A81"/>
                </a:solidFill>
                <a:latin typeface="Courier New" panose="02070309020205020404" pitchFamily="49" charset="0"/>
                <a:hlinkClick r:id="rId2"/>
              </a:rPr>
              <a:t>SELECT</a:t>
            </a:r>
            <a:r>
              <a:rPr lang="en-US" altLang="zh-CN" dirty="0">
                <a:solidFill>
                  <a:srgbClr val="444444"/>
                </a:solidFill>
                <a:latin typeface="Courier New" panose="02070309020205020404" pitchFamily="49" charset="0"/>
              </a:rPr>
              <a:t> * </a:t>
            </a:r>
            <a:r>
              <a:rPr lang="en-US" altLang="zh-CN" dirty="0">
                <a:solidFill>
                  <a:srgbClr val="770088"/>
                </a:solidFill>
                <a:latin typeface="Courier New" panose="02070309020205020404" pitchFamily="49" charset="0"/>
              </a:rPr>
              <a:t>FROM</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dept</a:t>
            </a:r>
            <a:r>
              <a:rPr lang="en-US" altLang="zh-CN" dirty="0">
                <a:solidFill>
                  <a:srgbClr val="0055AA"/>
                </a:solidFill>
                <a:latin typeface="Courier New" panose="02070309020205020404" pitchFamily="49" charset="0"/>
              </a:rPr>
              <a:t>`</a:t>
            </a:r>
            <a:r>
              <a:rPr lang="en-US" altLang="zh-CN" dirty="0">
                <a:solidFill>
                  <a:srgbClr val="444444"/>
                </a:solidFill>
                <a:latin typeface="Courier New" panose="02070309020205020404" pitchFamily="49" charset="0"/>
              </a:rPr>
              <a:t> </a:t>
            </a:r>
            <a:r>
              <a:rPr lang="en-US" altLang="zh-CN" dirty="0">
                <a:solidFill>
                  <a:srgbClr val="235A81"/>
                </a:solidFill>
                <a:latin typeface="Courier New" panose="02070309020205020404" pitchFamily="49" charset="0"/>
                <a:hlinkClick r:id="rId4"/>
              </a:rPr>
              <a:t>right</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outer</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join</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emp</a:t>
            </a:r>
            <a:r>
              <a:rPr lang="en-US" altLang="zh-CN" dirty="0">
                <a:solidFill>
                  <a:srgbClr val="0055AA"/>
                </a:solidFill>
                <a:latin typeface="Courier New" panose="02070309020205020404" pitchFamily="49" charset="0"/>
              </a:rPr>
              <a:t>`</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on</a:t>
            </a:r>
            <a:r>
              <a:rPr lang="en-US" altLang="zh-CN" dirty="0">
                <a:solidFill>
                  <a:srgbClr val="444444"/>
                </a:solidFill>
                <a:latin typeface="Courier New" panose="02070309020205020404" pitchFamily="49" charset="0"/>
              </a:rPr>
              <a:t> </a:t>
            </a:r>
            <a:r>
              <a:rPr lang="en-US" altLang="zh-CN" dirty="0" err="1">
                <a:solidFill>
                  <a:srgbClr val="444444"/>
                </a:solidFill>
                <a:latin typeface="Courier New" panose="02070309020205020404" pitchFamily="49" charset="0"/>
              </a:rPr>
              <a:t>dept</a:t>
            </a:r>
            <a:r>
              <a:rPr lang="en-US" altLang="zh-CN" dirty="0">
                <a:solidFill>
                  <a:srgbClr val="444444"/>
                </a:solidFill>
                <a:latin typeface="Courier New" panose="02070309020205020404" pitchFamily="49" charset="0"/>
              </a:rPr>
              <a:t>.</a:t>
            </a:r>
            <a:r>
              <a:rPr lang="en-US" altLang="zh-CN" dirty="0">
                <a:solidFill>
                  <a:srgbClr val="0055AA"/>
                </a:solidFill>
                <a:latin typeface="Courier New" panose="02070309020205020404" pitchFamily="49" charset="0"/>
              </a:rPr>
              <a:t>`DEPTNO`</a:t>
            </a:r>
            <a:r>
              <a:rPr lang="en-US" altLang="zh-CN" dirty="0">
                <a:solidFill>
                  <a:srgbClr val="444444"/>
                </a:solidFill>
                <a:latin typeface="Courier New" panose="02070309020205020404" pitchFamily="49" charset="0"/>
              </a:rPr>
              <a:t>=</a:t>
            </a:r>
            <a:r>
              <a:rPr lang="en-US" altLang="zh-CN" dirty="0" err="1">
                <a:solidFill>
                  <a:srgbClr val="444444"/>
                </a:solidFill>
                <a:latin typeface="Courier New" panose="02070309020205020404" pitchFamily="49" charset="0"/>
              </a:rPr>
              <a:t>emp</a:t>
            </a:r>
            <a:r>
              <a:rPr lang="en-US" altLang="zh-CN" dirty="0">
                <a:solidFill>
                  <a:srgbClr val="444444"/>
                </a:solidFill>
                <a:latin typeface="Courier New" panose="02070309020205020404" pitchFamily="49" charset="0"/>
              </a:rPr>
              <a:t>.</a:t>
            </a:r>
            <a:r>
              <a:rPr lang="en-US" altLang="zh-CN" dirty="0">
                <a:solidFill>
                  <a:srgbClr val="0055AA"/>
                </a:solidFill>
                <a:latin typeface="Courier New" panose="02070309020205020404" pitchFamily="49" charset="0"/>
              </a:rPr>
              <a:t>`DEPTNO`</a:t>
            </a:r>
            <a:endParaRPr lang="zh-CN" altLang="en-US" dirty="0"/>
          </a:p>
        </p:txBody>
      </p:sp>
    </p:spTree>
    <p:extLst>
      <p:ext uri="{BB962C8B-B14F-4D97-AF65-F5344CB8AC3E}">
        <p14:creationId xmlns:p14="http://schemas.microsoft.com/office/powerpoint/2010/main" val="12443426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pPr eaLnBrk="1" hangingPunct="1"/>
            <a:r>
              <a:rPr lang="zh-CN" altLang="en-US" sz="3600" smtClean="0"/>
              <a:t>连接（续）</a:t>
            </a:r>
            <a:endParaRPr lang="en-US" altLang="zh-CN" sz="3600" smtClean="0"/>
          </a:p>
        </p:txBody>
      </p:sp>
      <p:sp>
        <p:nvSpPr>
          <p:cNvPr id="105475" name="Rectangle 6"/>
          <p:cNvSpPr>
            <a:spLocks noChangeArrowheads="1"/>
          </p:cNvSpPr>
          <p:nvPr/>
        </p:nvSpPr>
        <p:spPr bwMode="auto">
          <a:xfrm>
            <a:off x="755650" y="1125538"/>
            <a:ext cx="54340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下图是例</a:t>
            </a:r>
            <a:r>
              <a:rPr lang="en-US" altLang="zh-CN" sz="2400" b="1"/>
              <a:t>2.8</a:t>
            </a:r>
            <a:r>
              <a:rPr lang="zh-CN" altLang="en-US" sz="2400" b="1"/>
              <a:t>中关系</a:t>
            </a:r>
            <a:r>
              <a:rPr lang="en-US" altLang="zh-CN" sz="2400" b="1" i="1"/>
              <a:t>R</a:t>
            </a:r>
            <a:r>
              <a:rPr lang="zh-CN" altLang="en-US" sz="2400" b="1"/>
              <a:t>和关系</a:t>
            </a:r>
            <a:r>
              <a:rPr lang="en-US" altLang="zh-CN" sz="2400" b="1" i="1"/>
              <a:t>S</a:t>
            </a:r>
            <a:r>
              <a:rPr lang="zh-CN" altLang="en-US" sz="2400" b="1"/>
              <a:t>的外连接 </a:t>
            </a:r>
          </a:p>
        </p:txBody>
      </p:sp>
      <p:graphicFrame>
        <p:nvGraphicFramePr>
          <p:cNvPr id="9" name="内容占位符 9"/>
          <p:cNvGraphicFramePr>
            <a:graphicFrameLocks noGrp="1"/>
          </p:cNvGraphicFramePr>
          <p:nvPr>
            <p:ph sz="quarter" idx="4294967295"/>
          </p:nvPr>
        </p:nvGraphicFramePr>
        <p:xfrm>
          <a:off x="898525" y="1846263"/>
          <a:ext cx="7272340" cy="3814760"/>
        </p:xfrm>
        <a:graphic>
          <a:graphicData uri="http://schemas.openxmlformats.org/drawingml/2006/table">
            <a:tbl>
              <a:tblPr firstRow="1" bandRow="1">
                <a:tableStyleId>{5C22544A-7EE6-4342-B048-85BDC9FD1C3A}</a:tableStyleId>
              </a:tblPr>
              <a:tblGrid>
                <a:gridCol w="1818085"/>
                <a:gridCol w="1818085"/>
                <a:gridCol w="1818085"/>
                <a:gridCol w="1818085"/>
              </a:tblGrid>
              <a:tr h="426716">
                <a:tc>
                  <a:txBody>
                    <a:bodyPr/>
                    <a:lstStyle/>
                    <a:p>
                      <a:pPr algn="ctr"/>
                      <a:r>
                        <a:rPr lang="en-US" altLang="zh-CN" sz="2200" b="1" dirty="0" smtClean="0">
                          <a:solidFill>
                            <a:schemeClr val="tx1"/>
                          </a:solidFill>
                        </a:rPr>
                        <a:t>A</a:t>
                      </a:r>
                      <a:endParaRPr lang="zh-CN" altLang="en-US" sz="2200" b="1" dirty="0">
                        <a:solidFill>
                          <a:schemeClr val="tx1"/>
                        </a:solidFill>
                      </a:endParaRPr>
                    </a:p>
                  </a:txBody>
                  <a:tcPr marL="91451" marR="91451" marT="45718" marB="45718"/>
                </a:tc>
                <a:tc>
                  <a:txBody>
                    <a:bodyPr/>
                    <a:lstStyle/>
                    <a:p>
                      <a:pPr algn="ctr"/>
                      <a:r>
                        <a:rPr lang="en-US" altLang="zh-CN" sz="2200" b="1" dirty="0" smtClean="0">
                          <a:solidFill>
                            <a:schemeClr val="tx1"/>
                          </a:solidFill>
                        </a:rPr>
                        <a:t>B</a:t>
                      </a:r>
                      <a:endParaRPr lang="zh-CN" altLang="en-US" sz="2200" b="1" dirty="0">
                        <a:solidFill>
                          <a:schemeClr val="tx1"/>
                        </a:solidFill>
                      </a:endParaRPr>
                    </a:p>
                  </a:txBody>
                  <a:tcPr marL="91451" marR="91451" marT="45718" marB="45718"/>
                </a:tc>
                <a:tc>
                  <a:txBody>
                    <a:bodyPr/>
                    <a:lstStyle/>
                    <a:p>
                      <a:pPr algn="ctr"/>
                      <a:r>
                        <a:rPr lang="en-US" altLang="zh-CN" sz="2200" b="1" dirty="0" smtClean="0">
                          <a:solidFill>
                            <a:schemeClr val="tx1"/>
                          </a:solidFill>
                        </a:rPr>
                        <a:t>C</a:t>
                      </a:r>
                      <a:endParaRPr lang="zh-CN" altLang="en-US" sz="2200" b="1" dirty="0">
                        <a:solidFill>
                          <a:schemeClr val="tx1"/>
                        </a:solidFill>
                      </a:endParaRPr>
                    </a:p>
                  </a:txBody>
                  <a:tcPr marL="91451" marR="91451" marT="45718" marB="45718"/>
                </a:tc>
                <a:tc>
                  <a:txBody>
                    <a:bodyPr/>
                    <a:lstStyle/>
                    <a:p>
                      <a:pPr algn="ctr"/>
                      <a:r>
                        <a:rPr lang="en-US" altLang="zh-CN" sz="2200" b="1" dirty="0" smtClean="0">
                          <a:solidFill>
                            <a:schemeClr val="tx1"/>
                          </a:solidFill>
                        </a:rPr>
                        <a:t>E</a:t>
                      </a:r>
                      <a:endParaRPr lang="zh-CN" altLang="en-US" sz="2200" b="1" dirty="0">
                        <a:solidFill>
                          <a:schemeClr val="tx1"/>
                        </a:solidFill>
                      </a:endParaRPr>
                    </a:p>
                  </a:txBody>
                  <a:tcPr marL="91451" marR="91451" marT="45718" marB="45718"/>
                </a:tc>
              </a:tr>
              <a:tr h="564674">
                <a:tc>
                  <a:txBody>
                    <a:bodyPr/>
                    <a:lstStyle/>
                    <a:p>
                      <a:pPr algn="ctr"/>
                      <a:r>
                        <a:rPr lang="en-US" altLang="zh-CN" sz="2200" b="1" dirty="0" smtClean="0"/>
                        <a:t>a1</a:t>
                      </a:r>
                      <a:endParaRPr lang="zh-CN" altLang="en-US" sz="2200" b="1" dirty="0"/>
                    </a:p>
                  </a:txBody>
                  <a:tcPr marL="91451" marR="91451" marT="45718" marB="45718"/>
                </a:tc>
                <a:tc>
                  <a:txBody>
                    <a:bodyPr/>
                    <a:lstStyle/>
                    <a:p>
                      <a:pPr algn="ctr"/>
                      <a:r>
                        <a:rPr lang="en-US" altLang="zh-CN" sz="2200" b="1" dirty="0" smtClean="0"/>
                        <a:t>b1</a:t>
                      </a:r>
                      <a:endParaRPr lang="zh-CN" altLang="en-US" sz="2200" b="1" dirty="0"/>
                    </a:p>
                  </a:txBody>
                  <a:tcPr marL="91451" marR="91451" marT="45718" marB="45718"/>
                </a:tc>
                <a:tc>
                  <a:txBody>
                    <a:bodyPr/>
                    <a:lstStyle/>
                    <a:p>
                      <a:pPr algn="ctr"/>
                      <a:r>
                        <a:rPr lang="en-US" altLang="zh-CN" sz="2200" b="1" dirty="0" smtClean="0"/>
                        <a:t>5</a:t>
                      </a:r>
                      <a:endParaRPr lang="zh-CN" altLang="en-US" sz="2200" b="1" dirty="0"/>
                    </a:p>
                  </a:txBody>
                  <a:tcPr marL="91451" marR="91451" marT="45718" marB="45718"/>
                </a:tc>
                <a:tc>
                  <a:txBody>
                    <a:bodyPr/>
                    <a:lstStyle/>
                    <a:p>
                      <a:pPr algn="ctr"/>
                      <a:r>
                        <a:rPr lang="en-US" altLang="zh-CN" sz="2200" b="1" dirty="0" smtClean="0"/>
                        <a:t>3</a:t>
                      </a:r>
                      <a:endParaRPr lang="zh-CN" altLang="en-US" sz="2200" b="1" dirty="0"/>
                    </a:p>
                  </a:txBody>
                  <a:tcPr marL="91451" marR="91451" marT="45718" marB="45718"/>
                </a:tc>
              </a:tr>
              <a:tr h="564674">
                <a:tc>
                  <a:txBody>
                    <a:bodyPr/>
                    <a:lstStyle/>
                    <a:p>
                      <a:pPr algn="ctr"/>
                      <a:r>
                        <a:rPr lang="en-US" altLang="zh-CN" sz="2200" b="1" dirty="0" smtClean="0"/>
                        <a:t>a1</a:t>
                      </a:r>
                      <a:endParaRPr lang="zh-CN" altLang="en-US" sz="2200" b="1" dirty="0"/>
                    </a:p>
                  </a:txBody>
                  <a:tcPr marL="91451" marR="91451" marT="45718" marB="45718"/>
                </a:tc>
                <a:tc>
                  <a:txBody>
                    <a:bodyPr/>
                    <a:lstStyle/>
                    <a:p>
                      <a:pPr algn="ctr"/>
                      <a:r>
                        <a:rPr lang="en-US" altLang="zh-CN" sz="2200" b="1" dirty="0" smtClean="0"/>
                        <a:t>b2</a:t>
                      </a:r>
                      <a:endParaRPr lang="zh-CN" altLang="en-US" sz="2200" b="1" dirty="0"/>
                    </a:p>
                  </a:txBody>
                  <a:tcPr marL="91451" marR="91451" marT="45718" marB="45718"/>
                </a:tc>
                <a:tc>
                  <a:txBody>
                    <a:bodyPr/>
                    <a:lstStyle/>
                    <a:p>
                      <a:pPr algn="ctr"/>
                      <a:r>
                        <a:rPr lang="en-US" altLang="zh-CN" sz="2200" b="1" dirty="0" smtClean="0"/>
                        <a:t>6</a:t>
                      </a:r>
                      <a:endParaRPr lang="zh-CN" altLang="en-US" sz="2200" b="1" dirty="0"/>
                    </a:p>
                  </a:txBody>
                  <a:tcPr marL="91451" marR="91451" marT="45718" marB="45718"/>
                </a:tc>
                <a:tc>
                  <a:txBody>
                    <a:bodyPr/>
                    <a:lstStyle/>
                    <a:p>
                      <a:pPr algn="ctr"/>
                      <a:r>
                        <a:rPr lang="en-US" altLang="zh-CN" sz="2200" b="1" dirty="0" smtClean="0"/>
                        <a:t>7</a:t>
                      </a:r>
                      <a:endParaRPr lang="zh-CN" altLang="en-US" sz="2200" b="1" dirty="0"/>
                    </a:p>
                  </a:txBody>
                  <a:tcPr marL="91451" marR="91451" marT="45718" marB="45718"/>
                </a:tc>
              </a:tr>
              <a:tr h="564674">
                <a:tc>
                  <a:txBody>
                    <a:bodyPr/>
                    <a:lstStyle/>
                    <a:p>
                      <a:pPr algn="ctr"/>
                      <a:r>
                        <a:rPr lang="en-US" altLang="zh-CN" sz="2200" b="1" dirty="0" smtClean="0"/>
                        <a:t>a2</a:t>
                      </a:r>
                      <a:endParaRPr lang="zh-CN" altLang="en-US" sz="2200" b="1" dirty="0"/>
                    </a:p>
                  </a:txBody>
                  <a:tcPr marL="91451" marR="91451" marT="45718" marB="45718"/>
                </a:tc>
                <a:tc>
                  <a:txBody>
                    <a:bodyPr/>
                    <a:lstStyle/>
                    <a:p>
                      <a:pPr algn="ctr"/>
                      <a:r>
                        <a:rPr lang="en-US" altLang="zh-CN" sz="2200" b="1" dirty="0" smtClean="0"/>
                        <a:t>b3</a:t>
                      </a:r>
                      <a:endParaRPr lang="zh-CN" altLang="en-US" sz="2200" b="1" dirty="0"/>
                    </a:p>
                  </a:txBody>
                  <a:tcPr marL="91451" marR="91451" marT="45718" marB="45718"/>
                </a:tc>
                <a:tc>
                  <a:txBody>
                    <a:bodyPr/>
                    <a:lstStyle/>
                    <a:p>
                      <a:pPr algn="ctr"/>
                      <a:r>
                        <a:rPr lang="en-US" altLang="zh-CN" sz="2200" b="1" dirty="0" smtClean="0"/>
                        <a:t>8</a:t>
                      </a:r>
                      <a:endParaRPr lang="zh-CN" altLang="en-US" sz="2200" b="1" dirty="0"/>
                    </a:p>
                  </a:txBody>
                  <a:tcPr marL="91451" marR="91451" marT="45718" marB="45718"/>
                </a:tc>
                <a:tc>
                  <a:txBody>
                    <a:bodyPr/>
                    <a:lstStyle/>
                    <a:p>
                      <a:pPr algn="ctr"/>
                      <a:r>
                        <a:rPr lang="en-US" altLang="zh-CN" sz="2200" b="1" dirty="0" smtClean="0"/>
                        <a:t>10</a:t>
                      </a:r>
                      <a:endParaRPr lang="zh-CN" altLang="en-US" sz="2200" b="1" dirty="0"/>
                    </a:p>
                  </a:txBody>
                  <a:tcPr marL="91451" marR="91451" marT="45718" marB="45718"/>
                </a:tc>
              </a:tr>
              <a:tr h="564674">
                <a:tc>
                  <a:txBody>
                    <a:bodyPr/>
                    <a:lstStyle/>
                    <a:p>
                      <a:pPr algn="ctr"/>
                      <a:r>
                        <a:rPr lang="en-US" altLang="zh-CN" sz="2200" b="1" dirty="0" smtClean="0"/>
                        <a:t>a2</a:t>
                      </a:r>
                      <a:endParaRPr lang="zh-CN" altLang="en-US" sz="2200" b="1" dirty="0"/>
                    </a:p>
                  </a:txBody>
                  <a:tcPr marL="91451" marR="91451" marT="45718" marB="45718"/>
                </a:tc>
                <a:tc>
                  <a:txBody>
                    <a:bodyPr/>
                    <a:lstStyle/>
                    <a:p>
                      <a:pPr algn="ctr"/>
                      <a:r>
                        <a:rPr lang="en-US" altLang="zh-CN" sz="2200" b="1" dirty="0" smtClean="0"/>
                        <a:t>b3</a:t>
                      </a:r>
                      <a:endParaRPr lang="zh-CN" altLang="en-US" sz="2200" b="1" dirty="0"/>
                    </a:p>
                  </a:txBody>
                  <a:tcPr marL="91451" marR="91451" marT="45718" marB="45718"/>
                </a:tc>
                <a:tc>
                  <a:txBody>
                    <a:bodyPr/>
                    <a:lstStyle/>
                    <a:p>
                      <a:pPr algn="ctr"/>
                      <a:r>
                        <a:rPr lang="en-US" altLang="zh-CN" sz="2200" b="1" dirty="0" smtClean="0"/>
                        <a:t>8</a:t>
                      </a:r>
                      <a:endParaRPr lang="zh-CN" altLang="en-US" sz="2200" b="1" dirty="0"/>
                    </a:p>
                  </a:txBody>
                  <a:tcPr marL="91451" marR="91451" marT="45718" marB="45718"/>
                </a:tc>
                <a:tc>
                  <a:txBody>
                    <a:bodyPr/>
                    <a:lstStyle/>
                    <a:p>
                      <a:pPr algn="ctr"/>
                      <a:r>
                        <a:rPr lang="en-US" altLang="zh-CN" sz="2200" b="1" dirty="0" smtClean="0"/>
                        <a:t>2</a:t>
                      </a:r>
                      <a:endParaRPr lang="zh-CN" altLang="en-US" sz="2200" b="1" dirty="0"/>
                    </a:p>
                  </a:txBody>
                  <a:tcPr marL="91451" marR="91451" marT="45718" marB="45718"/>
                </a:tc>
              </a:tr>
              <a:tr h="564674">
                <a:tc>
                  <a:txBody>
                    <a:bodyPr/>
                    <a:lstStyle/>
                    <a:p>
                      <a:pPr algn="ctr"/>
                      <a:r>
                        <a:rPr lang="en-US" altLang="zh-CN" sz="2200" b="1" dirty="0" smtClean="0"/>
                        <a:t>a2</a:t>
                      </a:r>
                      <a:endParaRPr lang="zh-CN" altLang="en-US" sz="2200" b="1" dirty="0"/>
                    </a:p>
                  </a:txBody>
                  <a:tcPr marL="91451" marR="91451" marT="45718" marB="45718"/>
                </a:tc>
                <a:tc>
                  <a:txBody>
                    <a:bodyPr/>
                    <a:lstStyle/>
                    <a:p>
                      <a:pPr algn="ctr"/>
                      <a:r>
                        <a:rPr lang="en-US" altLang="zh-CN" sz="2200" b="1" dirty="0" smtClean="0"/>
                        <a:t>b4</a:t>
                      </a:r>
                      <a:endParaRPr lang="zh-CN" altLang="en-US" sz="2200" b="1" dirty="0"/>
                    </a:p>
                  </a:txBody>
                  <a:tcPr marL="91451" marR="91451" marT="45718" marB="45718"/>
                </a:tc>
                <a:tc>
                  <a:txBody>
                    <a:bodyPr/>
                    <a:lstStyle/>
                    <a:p>
                      <a:pPr algn="ctr"/>
                      <a:r>
                        <a:rPr lang="en-US" altLang="zh-CN" sz="2200" b="1" dirty="0" smtClean="0"/>
                        <a:t>12</a:t>
                      </a:r>
                      <a:endParaRPr lang="zh-CN" altLang="en-US" sz="2200" b="1" dirty="0"/>
                    </a:p>
                  </a:txBody>
                  <a:tcPr marL="91451" marR="91451" marT="45718" marB="45718"/>
                </a:tc>
                <a:tc>
                  <a:txBody>
                    <a:bodyPr/>
                    <a:lstStyle/>
                    <a:p>
                      <a:pPr algn="ctr"/>
                      <a:r>
                        <a:rPr lang="en-US" altLang="zh-CN" sz="2200" b="1" dirty="0" smtClean="0"/>
                        <a:t>NULL</a:t>
                      </a:r>
                      <a:endParaRPr lang="zh-CN" altLang="en-US" sz="2200" b="1" dirty="0"/>
                    </a:p>
                  </a:txBody>
                  <a:tcPr marL="91451" marR="91451" marT="45718" marB="45718"/>
                </a:tc>
              </a:tr>
              <a:tr h="564674">
                <a:tc>
                  <a:txBody>
                    <a:bodyPr/>
                    <a:lstStyle/>
                    <a:p>
                      <a:pPr algn="ctr"/>
                      <a:r>
                        <a:rPr lang="en-US" altLang="zh-CN" sz="2200" b="1" dirty="0" smtClean="0"/>
                        <a:t>NULL</a:t>
                      </a:r>
                      <a:endParaRPr lang="zh-CN" altLang="en-US" sz="2200" b="1" dirty="0"/>
                    </a:p>
                  </a:txBody>
                  <a:tcPr marL="91451" marR="91451" marT="45718" marB="45718"/>
                </a:tc>
                <a:tc>
                  <a:txBody>
                    <a:bodyPr/>
                    <a:lstStyle/>
                    <a:p>
                      <a:pPr algn="ctr"/>
                      <a:r>
                        <a:rPr lang="en-US" altLang="zh-CN" sz="2200" b="1" dirty="0" smtClean="0"/>
                        <a:t>b5</a:t>
                      </a:r>
                      <a:endParaRPr lang="zh-CN" altLang="en-US" sz="2200" b="1" dirty="0"/>
                    </a:p>
                  </a:txBody>
                  <a:tcPr marL="91451" marR="91451" marT="45718" marB="45718"/>
                </a:tc>
                <a:tc>
                  <a:txBody>
                    <a:bodyPr/>
                    <a:lstStyle/>
                    <a:p>
                      <a:pPr algn="ctr"/>
                      <a:r>
                        <a:rPr lang="en-US" altLang="zh-CN" sz="2200" b="1" dirty="0" smtClean="0"/>
                        <a:t>NULL</a:t>
                      </a:r>
                      <a:endParaRPr lang="zh-CN" altLang="en-US" sz="2200" b="1" dirty="0"/>
                    </a:p>
                  </a:txBody>
                  <a:tcPr marL="91451" marR="91451" marT="45718" marB="45718"/>
                </a:tc>
                <a:tc>
                  <a:txBody>
                    <a:bodyPr/>
                    <a:lstStyle/>
                    <a:p>
                      <a:pPr algn="ctr"/>
                      <a:r>
                        <a:rPr lang="en-US" altLang="zh-CN" sz="2200" b="1" dirty="0" smtClean="0"/>
                        <a:t>2</a:t>
                      </a:r>
                      <a:endParaRPr lang="zh-CN" altLang="en-US" sz="2200" b="1" dirty="0"/>
                    </a:p>
                  </a:txBody>
                  <a:tcPr marL="91451" marR="91451" marT="45718" marB="45718"/>
                </a:tc>
              </a:tr>
            </a:tbl>
          </a:graphicData>
        </a:graphic>
      </p:graphicFrame>
    </p:spTree>
    <p:extLst>
      <p:ext uri="{BB962C8B-B14F-4D97-AF65-F5344CB8AC3E}">
        <p14:creationId xmlns:p14="http://schemas.microsoft.com/office/powerpoint/2010/main" val="258084012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r>
              <a:rPr lang="zh-CN" altLang="en-US" sz="3600" smtClean="0"/>
              <a:t>连接（续）</a:t>
            </a:r>
            <a:endParaRPr lang="en-US" altLang="zh-CN" sz="3600" smtClean="0"/>
          </a:p>
        </p:txBody>
      </p:sp>
      <p:sp>
        <p:nvSpPr>
          <p:cNvPr id="106499" name="Rectangle 6"/>
          <p:cNvSpPr>
            <a:spLocks noChangeArrowheads="1"/>
          </p:cNvSpPr>
          <p:nvPr/>
        </p:nvSpPr>
        <p:spPr bwMode="auto">
          <a:xfrm>
            <a:off x="684213" y="1196975"/>
            <a:ext cx="8102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图</a:t>
            </a:r>
            <a:r>
              <a:rPr lang="en-US" altLang="zh-CN" sz="2400" b="1"/>
              <a:t>(b)</a:t>
            </a:r>
            <a:r>
              <a:rPr lang="zh-CN" altLang="en-US" sz="2400" b="1"/>
              <a:t>是例</a:t>
            </a:r>
            <a:r>
              <a:rPr lang="en-US" altLang="zh-CN" sz="2400" b="1"/>
              <a:t>2.8</a:t>
            </a:r>
            <a:r>
              <a:rPr lang="zh-CN" altLang="en-US" sz="2400" b="1"/>
              <a:t>中关系</a:t>
            </a:r>
            <a:r>
              <a:rPr lang="en-US" altLang="zh-CN" sz="2400" b="1" i="1"/>
              <a:t>R</a:t>
            </a:r>
            <a:r>
              <a:rPr lang="zh-CN" altLang="en-US" sz="2400" b="1"/>
              <a:t>和关系</a:t>
            </a:r>
            <a:r>
              <a:rPr lang="en-US" altLang="zh-CN" sz="2400" b="1" i="1"/>
              <a:t>S</a:t>
            </a:r>
            <a:r>
              <a:rPr lang="zh-CN" altLang="en-US" sz="2400" b="1"/>
              <a:t>的左外连接</a:t>
            </a:r>
            <a:r>
              <a:rPr lang="en-US" altLang="zh-CN" sz="2400" b="1"/>
              <a:t>,</a:t>
            </a:r>
            <a:r>
              <a:rPr lang="zh-CN" altLang="en-US" sz="2400" b="1"/>
              <a:t>图</a:t>
            </a:r>
            <a:r>
              <a:rPr lang="en-US" altLang="zh-CN" sz="2400" b="1"/>
              <a:t>(c)</a:t>
            </a:r>
            <a:r>
              <a:rPr lang="zh-CN" altLang="en-US" sz="2400" b="1"/>
              <a:t>是右外连接 </a:t>
            </a:r>
          </a:p>
        </p:txBody>
      </p:sp>
      <p:graphicFrame>
        <p:nvGraphicFramePr>
          <p:cNvPr id="8" name="内容占位符 9"/>
          <p:cNvGraphicFramePr>
            <a:graphicFrameLocks noGrp="1"/>
          </p:cNvGraphicFramePr>
          <p:nvPr>
            <p:ph sz="quarter" idx="4294967295"/>
          </p:nvPr>
        </p:nvGraphicFramePr>
        <p:xfrm>
          <a:off x="684213" y="1919288"/>
          <a:ext cx="3814764" cy="3095626"/>
        </p:xfrm>
        <a:graphic>
          <a:graphicData uri="http://schemas.openxmlformats.org/drawingml/2006/table">
            <a:tbl>
              <a:tblPr firstRow="1" bandRow="1">
                <a:tableStyleId>{5C22544A-7EE6-4342-B048-85BDC9FD1C3A}</a:tableStyleId>
              </a:tblPr>
              <a:tblGrid>
                <a:gridCol w="953691"/>
                <a:gridCol w="953691"/>
                <a:gridCol w="953691"/>
                <a:gridCol w="953691"/>
              </a:tblGrid>
              <a:tr h="426831">
                <a:tc>
                  <a:txBody>
                    <a:bodyPr/>
                    <a:lstStyle/>
                    <a:p>
                      <a:pPr algn="ctr"/>
                      <a:r>
                        <a:rPr lang="en-US" altLang="zh-CN" sz="2200" b="1" dirty="0" smtClean="0">
                          <a:solidFill>
                            <a:schemeClr val="tx1"/>
                          </a:solidFill>
                        </a:rPr>
                        <a:t>A</a:t>
                      </a:r>
                      <a:endParaRPr lang="zh-CN" altLang="en-US" sz="2200" b="1" dirty="0">
                        <a:solidFill>
                          <a:schemeClr val="tx1"/>
                        </a:solidFill>
                      </a:endParaRPr>
                    </a:p>
                  </a:txBody>
                  <a:tcPr marL="91444" marR="91444" marT="45738" marB="45738"/>
                </a:tc>
                <a:tc>
                  <a:txBody>
                    <a:bodyPr/>
                    <a:lstStyle/>
                    <a:p>
                      <a:pPr algn="ctr"/>
                      <a:r>
                        <a:rPr lang="en-US" altLang="zh-CN" sz="2200" b="1" dirty="0" smtClean="0">
                          <a:solidFill>
                            <a:schemeClr val="tx1"/>
                          </a:solidFill>
                        </a:rPr>
                        <a:t>B</a:t>
                      </a:r>
                      <a:endParaRPr lang="zh-CN" altLang="en-US" sz="2200" b="1" dirty="0">
                        <a:solidFill>
                          <a:schemeClr val="tx1"/>
                        </a:solidFill>
                      </a:endParaRPr>
                    </a:p>
                  </a:txBody>
                  <a:tcPr marL="91444" marR="91444" marT="45738" marB="45738"/>
                </a:tc>
                <a:tc>
                  <a:txBody>
                    <a:bodyPr/>
                    <a:lstStyle/>
                    <a:p>
                      <a:pPr algn="ctr"/>
                      <a:r>
                        <a:rPr lang="en-US" altLang="zh-CN" sz="2200" b="1" dirty="0" smtClean="0">
                          <a:solidFill>
                            <a:schemeClr val="tx1"/>
                          </a:solidFill>
                        </a:rPr>
                        <a:t>C</a:t>
                      </a:r>
                      <a:endParaRPr lang="zh-CN" altLang="en-US" sz="2200" b="1" dirty="0">
                        <a:solidFill>
                          <a:schemeClr val="tx1"/>
                        </a:solidFill>
                      </a:endParaRPr>
                    </a:p>
                  </a:txBody>
                  <a:tcPr marL="91444" marR="91444" marT="45738" marB="45738"/>
                </a:tc>
                <a:tc>
                  <a:txBody>
                    <a:bodyPr/>
                    <a:lstStyle/>
                    <a:p>
                      <a:pPr algn="ctr"/>
                      <a:r>
                        <a:rPr lang="en-US" altLang="zh-CN" sz="2200" b="1" dirty="0" smtClean="0">
                          <a:solidFill>
                            <a:schemeClr val="tx1"/>
                          </a:solidFill>
                        </a:rPr>
                        <a:t>E</a:t>
                      </a:r>
                      <a:endParaRPr lang="zh-CN" altLang="en-US" sz="2200" b="1" dirty="0">
                        <a:solidFill>
                          <a:schemeClr val="tx1"/>
                        </a:solidFill>
                      </a:endParaRPr>
                    </a:p>
                  </a:txBody>
                  <a:tcPr marL="91444" marR="91444" marT="45738" marB="45738"/>
                </a:tc>
              </a:tr>
              <a:tr h="533759">
                <a:tc>
                  <a:txBody>
                    <a:bodyPr/>
                    <a:lstStyle/>
                    <a:p>
                      <a:pPr algn="ctr"/>
                      <a:r>
                        <a:rPr lang="en-US" altLang="zh-CN" sz="2200" b="1" dirty="0" smtClean="0"/>
                        <a:t>a1</a:t>
                      </a:r>
                      <a:endParaRPr lang="zh-CN" altLang="en-US" sz="2200" b="1" dirty="0"/>
                    </a:p>
                  </a:txBody>
                  <a:tcPr marL="91444" marR="91444" marT="45738" marB="45738"/>
                </a:tc>
                <a:tc>
                  <a:txBody>
                    <a:bodyPr/>
                    <a:lstStyle/>
                    <a:p>
                      <a:pPr algn="ctr"/>
                      <a:r>
                        <a:rPr lang="en-US" altLang="zh-CN" sz="2200" b="1" dirty="0" smtClean="0"/>
                        <a:t>b1</a:t>
                      </a:r>
                      <a:endParaRPr lang="zh-CN" altLang="en-US" sz="2200" b="1" dirty="0"/>
                    </a:p>
                  </a:txBody>
                  <a:tcPr marL="91444" marR="91444" marT="45738" marB="45738"/>
                </a:tc>
                <a:tc>
                  <a:txBody>
                    <a:bodyPr/>
                    <a:lstStyle/>
                    <a:p>
                      <a:pPr algn="ctr"/>
                      <a:r>
                        <a:rPr lang="en-US" altLang="zh-CN" sz="2200" b="1" dirty="0" smtClean="0"/>
                        <a:t>5</a:t>
                      </a:r>
                      <a:endParaRPr lang="zh-CN" altLang="en-US" sz="2200" b="1" dirty="0"/>
                    </a:p>
                  </a:txBody>
                  <a:tcPr marL="91444" marR="91444" marT="45738" marB="45738"/>
                </a:tc>
                <a:tc>
                  <a:txBody>
                    <a:bodyPr/>
                    <a:lstStyle/>
                    <a:p>
                      <a:pPr algn="ctr"/>
                      <a:r>
                        <a:rPr lang="en-US" altLang="zh-CN" sz="2200" b="1" dirty="0" smtClean="0"/>
                        <a:t>3</a:t>
                      </a:r>
                      <a:endParaRPr lang="zh-CN" altLang="en-US" sz="2200" b="1" dirty="0"/>
                    </a:p>
                  </a:txBody>
                  <a:tcPr marL="91444" marR="91444" marT="45738" marB="45738"/>
                </a:tc>
              </a:tr>
              <a:tr h="533759">
                <a:tc>
                  <a:txBody>
                    <a:bodyPr/>
                    <a:lstStyle/>
                    <a:p>
                      <a:pPr algn="ctr"/>
                      <a:r>
                        <a:rPr lang="en-US" altLang="zh-CN" sz="2200" b="1" dirty="0" smtClean="0"/>
                        <a:t>a1</a:t>
                      </a:r>
                      <a:endParaRPr lang="zh-CN" altLang="en-US" sz="2200" b="1" dirty="0"/>
                    </a:p>
                  </a:txBody>
                  <a:tcPr marL="91444" marR="91444" marT="45738" marB="45738"/>
                </a:tc>
                <a:tc>
                  <a:txBody>
                    <a:bodyPr/>
                    <a:lstStyle/>
                    <a:p>
                      <a:pPr algn="ctr"/>
                      <a:r>
                        <a:rPr lang="en-US" altLang="zh-CN" sz="2200" b="1" dirty="0" smtClean="0"/>
                        <a:t>b2</a:t>
                      </a:r>
                      <a:endParaRPr lang="zh-CN" altLang="en-US" sz="2200" b="1" dirty="0"/>
                    </a:p>
                  </a:txBody>
                  <a:tcPr marL="91444" marR="91444" marT="45738" marB="45738"/>
                </a:tc>
                <a:tc>
                  <a:txBody>
                    <a:bodyPr/>
                    <a:lstStyle/>
                    <a:p>
                      <a:pPr algn="ctr"/>
                      <a:r>
                        <a:rPr lang="en-US" altLang="zh-CN" sz="2200" b="1" dirty="0" smtClean="0"/>
                        <a:t>6</a:t>
                      </a:r>
                      <a:endParaRPr lang="zh-CN" altLang="en-US" sz="2200" b="1" dirty="0"/>
                    </a:p>
                  </a:txBody>
                  <a:tcPr marL="91444" marR="91444" marT="45738" marB="45738"/>
                </a:tc>
                <a:tc>
                  <a:txBody>
                    <a:bodyPr/>
                    <a:lstStyle/>
                    <a:p>
                      <a:pPr algn="ctr"/>
                      <a:r>
                        <a:rPr lang="en-US" altLang="zh-CN" sz="2200" b="1" dirty="0" smtClean="0"/>
                        <a:t>7</a:t>
                      </a:r>
                      <a:endParaRPr lang="zh-CN" altLang="en-US" sz="2200" b="1" dirty="0"/>
                    </a:p>
                  </a:txBody>
                  <a:tcPr marL="91444" marR="91444" marT="45738" marB="45738"/>
                </a:tc>
              </a:tr>
              <a:tr h="533759">
                <a:tc>
                  <a:txBody>
                    <a:bodyPr/>
                    <a:lstStyle/>
                    <a:p>
                      <a:pPr algn="ctr"/>
                      <a:r>
                        <a:rPr lang="en-US" altLang="zh-CN" sz="2200" b="1" dirty="0" smtClean="0"/>
                        <a:t>a2</a:t>
                      </a:r>
                      <a:endParaRPr lang="zh-CN" altLang="en-US" sz="2200" b="1" dirty="0"/>
                    </a:p>
                  </a:txBody>
                  <a:tcPr marL="91444" marR="91444" marT="45738" marB="45738"/>
                </a:tc>
                <a:tc>
                  <a:txBody>
                    <a:bodyPr/>
                    <a:lstStyle/>
                    <a:p>
                      <a:pPr algn="ctr"/>
                      <a:r>
                        <a:rPr lang="en-US" altLang="zh-CN" sz="2200" b="1" dirty="0" smtClean="0"/>
                        <a:t>b3</a:t>
                      </a:r>
                      <a:endParaRPr lang="zh-CN" altLang="en-US" sz="2200" b="1" dirty="0"/>
                    </a:p>
                  </a:txBody>
                  <a:tcPr marL="91444" marR="91444" marT="45738" marB="45738"/>
                </a:tc>
                <a:tc>
                  <a:txBody>
                    <a:bodyPr/>
                    <a:lstStyle/>
                    <a:p>
                      <a:pPr algn="ctr"/>
                      <a:r>
                        <a:rPr lang="en-US" altLang="zh-CN" sz="2200" b="1" dirty="0" smtClean="0"/>
                        <a:t>8</a:t>
                      </a:r>
                      <a:endParaRPr lang="zh-CN" altLang="en-US" sz="2200" b="1" dirty="0"/>
                    </a:p>
                  </a:txBody>
                  <a:tcPr marL="91444" marR="91444" marT="45738" marB="45738"/>
                </a:tc>
                <a:tc>
                  <a:txBody>
                    <a:bodyPr/>
                    <a:lstStyle/>
                    <a:p>
                      <a:pPr algn="ctr"/>
                      <a:r>
                        <a:rPr lang="en-US" altLang="zh-CN" sz="2200" b="1" dirty="0" smtClean="0"/>
                        <a:t>10</a:t>
                      </a:r>
                      <a:endParaRPr lang="zh-CN" altLang="en-US" sz="2200" b="1" dirty="0"/>
                    </a:p>
                  </a:txBody>
                  <a:tcPr marL="91444" marR="91444" marT="45738" marB="45738"/>
                </a:tc>
              </a:tr>
              <a:tr h="533759">
                <a:tc>
                  <a:txBody>
                    <a:bodyPr/>
                    <a:lstStyle/>
                    <a:p>
                      <a:pPr algn="ctr"/>
                      <a:r>
                        <a:rPr lang="en-US" altLang="zh-CN" sz="2200" b="1" dirty="0" smtClean="0"/>
                        <a:t>a2</a:t>
                      </a:r>
                      <a:endParaRPr lang="zh-CN" altLang="en-US" sz="2200" b="1" dirty="0"/>
                    </a:p>
                  </a:txBody>
                  <a:tcPr marL="91444" marR="91444" marT="45738" marB="45738"/>
                </a:tc>
                <a:tc>
                  <a:txBody>
                    <a:bodyPr/>
                    <a:lstStyle/>
                    <a:p>
                      <a:pPr algn="ctr"/>
                      <a:r>
                        <a:rPr lang="en-US" altLang="zh-CN" sz="2200" b="1" dirty="0" smtClean="0"/>
                        <a:t>b3</a:t>
                      </a:r>
                      <a:endParaRPr lang="zh-CN" altLang="en-US" sz="2200" b="1" dirty="0"/>
                    </a:p>
                  </a:txBody>
                  <a:tcPr marL="91444" marR="91444" marT="45738" marB="45738"/>
                </a:tc>
                <a:tc>
                  <a:txBody>
                    <a:bodyPr/>
                    <a:lstStyle/>
                    <a:p>
                      <a:pPr algn="ctr"/>
                      <a:r>
                        <a:rPr lang="en-US" altLang="zh-CN" sz="2200" b="1" dirty="0" smtClean="0"/>
                        <a:t>8</a:t>
                      </a:r>
                      <a:endParaRPr lang="zh-CN" altLang="en-US" sz="2200" b="1" dirty="0"/>
                    </a:p>
                  </a:txBody>
                  <a:tcPr marL="91444" marR="91444" marT="45738" marB="45738"/>
                </a:tc>
                <a:tc>
                  <a:txBody>
                    <a:bodyPr/>
                    <a:lstStyle/>
                    <a:p>
                      <a:pPr algn="ctr"/>
                      <a:r>
                        <a:rPr lang="en-US" altLang="zh-CN" sz="2200" b="1" dirty="0" smtClean="0"/>
                        <a:t>2</a:t>
                      </a:r>
                      <a:endParaRPr lang="zh-CN" altLang="en-US" sz="2200" b="1" dirty="0"/>
                    </a:p>
                  </a:txBody>
                  <a:tcPr marL="91444" marR="91444" marT="45738" marB="45738"/>
                </a:tc>
              </a:tr>
              <a:tr h="533759">
                <a:tc>
                  <a:txBody>
                    <a:bodyPr/>
                    <a:lstStyle/>
                    <a:p>
                      <a:pPr algn="ctr"/>
                      <a:r>
                        <a:rPr lang="en-US" altLang="zh-CN" sz="2200" b="1" dirty="0" smtClean="0"/>
                        <a:t>a2</a:t>
                      </a:r>
                      <a:endParaRPr lang="zh-CN" altLang="en-US" sz="2200" b="1" dirty="0"/>
                    </a:p>
                  </a:txBody>
                  <a:tcPr marL="91444" marR="91444" marT="45738" marB="45738"/>
                </a:tc>
                <a:tc>
                  <a:txBody>
                    <a:bodyPr/>
                    <a:lstStyle/>
                    <a:p>
                      <a:pPr algn="ctr"/>
                      <a:r>
                        <a:rPr lang="en-US" altLang="zh-CN" sz="2200" b="1" dirty="0" smtClean="0"/>
                        <a:t>b4</a:t>
                      </a:r>
                      <a:endParaRPr lang="zh-CN" altLang="en-US" sz="2200" b="1" dirty="0"/>
                    </a:p>
                  </a:txBody>
                  <a:tcPr marL="91444" marR="91444" marT="45738" marB="45738"/>
                </a:tc>
                <a:tc>
                  <a:txBody>
                    <a:bodyPr/>
                    <a:lstStyle/>
                    <a:p>
                      <a:pPr algn="ctr"/>
                      <a:r>
                        <a:rPr lang="en-US" altLang="zh-CN" sz="2200" b="1" dirty="0" smtClean="0"/>
                        <a:t>12</a:t>
                      </a:r>
                      <a:endParaRPr lang="zh-CN" altLang="en-US" sz="2200" b="1" dirty="0"/>
                    </a:p>
                  </a:txBody>
                  <a:tcPr marL="91444" marR="91444" marT="45738" marB="45738"/>
                </a:tc>
                <a:tc>
                  <a:txBody>
                    <a:bodyPr/>
                    <a:lstStyle/>
                    <a:p>
                      <a:pPr algn="ctr"/>
                      <a:r>
                        <a:rPr lang="en-US" altLang="zh-CN" sz="2200" b="1" dirty="0" smtClean="0"/>
                        <a:t>NULL</a:t>
                      </a:r>
                      <a:endParaRPr lang="zh-CN" altLang="en-US" sz="2200" b="1" dirty="0"/>
                    </a:p>
                  </a:txBody>
                  <a:tcPr marL="91444" marR="91444" marT="45738" marB="45738"/>
                </a:tc>
              </a:tr>
            </a:tbl>
          </a:graphicData>
        </a:graphic>
      </p:graphicFrame>
      <p:graphicFrame>
        <p:nvGraphicFramePr>
          <p:cNvPr id="9" name="内容占位符 9"/>
          <p:cNvGraphicFramePr>
            <a:graphicFrameLocks noGrp="1"/>
          </p:cNvGraphicFramePr>
          <p:nvPr>
            <p:ph sz="quarter" idx="4294967295"/>
          </p:nvPr>
        </p:nvGraphicFramePr>
        <p:xfrm>
          <a:off x="4787900" y="1990725"/>
          <a:ext cx="3898900" cy="3011487"/>
        </p:xfrm>
        <a:graphic>
          <a:graphicData uri="http://schemas.openxmlformats.org/drawingml/2006/table">
            <a:tbl>
              <a:tblPr firstRow="1" bandRow="1">
                <a:tableStyleId>{5C22544A-7EE6-4342-B048-85BDC9FD1C3A}</a:tableStyleId>
              </a:tblPr>
              <a:tblGrid>
                <a:gridCol w="974725"/>
                <a:gridCol w="974725"/>
                <a:gridCol w="974725"/>
                <a:gridCol w="974725"/>
              </a:tblGrid>
              <a:tr h="426787">
                <a:tc>
                  <a:txBody>
                    <a:bodyPr/>
                    <a:lstStyle/>
                    <a:p>
                      <a:pPr algn="ctr"/>
                      <a:r>
                        <a:rPr lang="en-US" altLang="zh-CN" sz="2200" b="1" dirty="0" smtClean="0">
                          <a:solidFill>
                            <a:schemeClr val="tx1"/>
                          </a:solidFill>
                        </a:rPr>
                        <a:t>A</a:t>
                      </a:r>
                      <a:endParaRPr lang="zh-CN" altLang="en-US" sz="2200" b="1" dirty="0">
                        <a:solidFill>
                          <a:schemeClr val="tx1"/>
                        </a:solidFill>
                      </a:endParaRPr>
                    </a:p>
                  </a:txBody>
                  <a:tcPr marL="91457" marR="91457" marT="45733" marB="45733"/>
                </a:tc>
                <a:tc>
                  <a:txBody>
                    <a:bodyPr/>
                    <a:lstStyle/>
                    <a:p>
                      <a:pPr algn="ctr"/>
                      <a:r>
                        <a:rPr lang="en-US" altLang="zh-CN" sz="2200" b="1" dirty="0" smtClean="0">
                          <a:solidFill>
                            <a:schemeClr val="tx1"/>
                          </a:solidFill>
                        </a:rPr>
                        <a:t>B</a:t>
                      </a:r>
                      <a:endParaRPr lang="zh-CN" altLang="en-US" sz="2200" b="1" dirty="0">
                        <a:solidFill>
                          <a:schemeClr val="tx1"/>
                        </a:solidFill>
                      </a:endParaRPr>
                    </a:p>
                  </a:txBody>
                  <a:tcPr marL="91457" marR="91457" marT="45733" marB="45733"/>
                </a:tc>
                <a:tc>
                  <a:txBody>
                    <a:bodyPr/>
                    <a:lstStyle/>
                    <a:p>
                      <a:pPr algn="ctr"/>
                      <a:r>
                        <a:rPr lang="en-US" altLang="zh-CN" sz="2200" b="1" dirty="0" smtClean="0">
                          <a:solidFill>
                            <a:schemeClr val="tx1"/>
                          </a:solidFill>
                        </a:rPr>
                        <a:t>C</a:t>
                      </a:r>
                      <a:endParaRPr lang="zh-CN" altLang="en-US" sz="2200" b="1" dirty="0">
                        <a:solidFill>
                          <a:schemeClr val="tx1"/>
                        </a:solidFill>
                      </a:endParaRPr>
                    </a:p>
                  </a:txBody>
                  <a:tcPr marL="91457" marR="91457" marT="45733" marB="45733"/>
                </a:tc>
                <a:tc>
                  <a:txBody>
                    <a:bodyPr/>
                    <a:lstStyle/>
                    <a:p>
                      <a:pPr algn="ctr"/>
                      <a:r>
                        <a:rPr lang="en-US" altLang="zh-CN" sz="2200" b="1" dirty="0" smtClean="0">
                          <a:solidFill>
                            <a:schemeClr val="tx1"/>
                          </a:solidFill>
                        </a:rPr>
                        <a:t>E</a:t>
                      </a:r>
                      <a:endParaRPr lang="zh-CN" altLang="en-US" sz="2200" b="1" dirty="0">
                        <a:solidFill>
                          <a:schemeClr val="tx1"/>
                        </a:solidFill>
                      </a:endParaRPr>
                    </a:p>
                  </a:txBody>
                  <a:tcPr marL="91457" marR="91457" marT="45733" marB="45733"/>
                </a:tc>
              </a:tr>
              <a:tr h="516940">
                <a:tc>
                  <a:txBody>
                    <a:bodyPr/>
                    <a:lstStyle/>
                    <a:p>
                      <a:pPr algn="ctr"/>
                      <a:r>
                        <a:rPr lang="en-US" altLang="zh-CN" sz="2200" b="1" dirty="0" smtClean="0"/>
                        <a:t>a1</a:t>
                      </a:r>
                      <a:endParaRPr lang="zh-CN" altLang="en-US" sz="2200" b="1" dirty="0"/>
                    </a:p>
                  </a:txBody>
                  <a:tcPr marL="91457" marR="91457" marT="45733" marB="45733"/>
                </a:tc>
                <a:tc>
                  <a:txBody>
                    <a:bodyPr/>
                    <a:lstStyle/>
                    <a:p>
                      <a:pPr algn="ctr"/>
                      <a:r>
                        <a:rPr lang="en-US" altLang="zh-CN" sz="2200" b="1" dirty="0" smtClean="0"/>
                        <a:t>b1</a:t>
                      </a:r>
                      <a:endParaRPr lang="zh-CN" altLang="en-US" sz="2200" b="1" dirty="0"/>
                    </a:p>
                  </a:txBody>
                  <a:tcPr marL="91457" marR="91457" marT="45733" marB="45733"/>
                </a:tc>
                <a:tc>
                  <a:txBody>
                    <a:bodyPr/>
                    <a:lstStyle/>
                    <a:p>
                      <a:pPr algn="ctr"/>
                      <a:r>
                        <a:rPr lang="en-US" altLang="zh-CN" sz="2200" b="1" dirty="0" smtClean="0"/>
                        <a:t>5</a:t>
                      </a:r>
                      <a:endParaRPr lang="zh-CN" altLang="en-US" sz="2200" b="1" dirty="0"/>
                    </a:p>
                  </a:txBody>
                  <a:tcPr marL="91457" marR="91457" marT="45733" marB="45733"/>
                </a:tc>
                <a:tc>
                  <a:txBody>
                    <a:bodyPr/>
                    <a:lstStyle/>
                    <a:p>
                      <a:pPr algn="ctr"/>
                      <a:r>
                        <a:rPr lang="en-US" altLang="zh-CN" sz="2200" b="1" dirty="0" smtClean="0"/>
                        <a:t>3</a:t>
                      </a:r>
                      <a:endParaRPr lang="zh-CN" altLang="en-US" sz="2200" b="1" dirty="0"/>
                    </a:p>
                  </a:txBody>
                  <a:tcPr marL="91457" marR="91457" marT="45733" marB="45733"/>
                </a:tc>
              </a:tr>
              <a:tr h="516940">
                <a:tc>
                  <a:txBody>
                    <a:bodyPr/>
                    <a:lstStyle/>
                    <a:p>
                      <a:pPr algn="ctr"/>
                      <a:r>
                        <a:rPr lang="en-US" altLang="zh-CN" sz="2200" b="1" dirty="0" smtClean="0"/>
                        <a:t>a1</a:t>
                      </a:r>
                      <a:endParaRPr lang="zh-CN" altLang="en-US" sz="2200" b="1" dirty="0"/>
                    </a:p>
                  </a:txBody>
                  <a:tcPr marL="91457" marR="91457" marT="45733" marB="45733"/>
                </a:tc>
                <a:tc>
                  <a:txBody>
                    <a:bodyPr/>
                    <a:lstStyle/>
                    <a:p>
                      <a:pPr algn="ctr"/>
                      <a:r>
                        <a:rPr lang="en-US" altLang="zh-CN" sz="2200" b="1" dirty="0" smtClean="0"/>
                        <a:t>b2</a:t>
                      </a:r>
                      <a:endParaRPr lang="zh-CN" altLang="en-US" sz="2200" b="1" dirty="0"/>
                    </a:p>
                  </a:txBody>
                  <a:tcPr marL="91457" marR="91457" marT="45733" marB="45733"/>
                </a:tc>
                <a:tc>
                  <a:txBody>
                    <a:bodyPr/>
                    <a:lstStyle/>
                    <a:p>
                      <a:pPr algn="ctr"/>
                      <a:r>
                        <a:rPr lang="en-US" altLang="zh-CN" sz="2200" b="1" dirty="0" smtClean="0"/>
                        <a:t>6</a:t>
                      </a:r>
                      <a:endParaRPr lang="zh-CN" altLang="en-US" sz="2200" b="1" dirty="0"/>
                    </a:p>
                  </a:txBody>
                  <a:tcPr marL="91457" marR="91457" marT="45733" marB="45733"/>
                </a:tc>
                <a:tc>
                  <a:txBody>
                    <a:bodyPr/>
                    <a:lstStyle/>
                    <a:p>
                      <a:pPr algn="ctr"/>
                      <a:r>
                        <a:rPr lang="en-US" altLang="zh-CN" sz="2200" b="1" dirty="0" smtClean="0"/>
                        <a:t>7</a:t>
                      </a:r>
                      <a:endParaRPr lang="zh-CN" altLang="en-US" sz="2200" b="1" dirty="0"/>
                    </a:p>
                  </a:txBody>
                  <a:tcPr marL="91457" marR="91457" marT="45733" marB="45733"/>
                </a:tc>
              </a:tr>
              <a:tr h="516940">
                <a:tc>
                  <a:txBody>
                    <a:bodyPr/>
                    <a:lstStyle/>
                    <a:p>
                      <a:pPr algn="ctr"/>
                      <a:r>
                        <a:rPr lang="en-US" altLang="zh-CN" sz="2200" b="1" dirty="0" smtClean="0"/>
                        <a:t>a2</a:t>
                      </a:r>
                      <a:endParaRPr lang="zh-CN" altLang="en-US" sz="2200" b="1" dirty="0"/>
                    </a:p>
                  </a:txBody>
                  <a:tcPr marL="91457" marR="91457" marT="45733" marB="45733"/>
                </a:tc>
                <a:tc>
                  <a:txBody>
                    <a:bodyPr/>
                    <a:lstStyle/>
                    <a:p>
                      <a:pPr algn="ctr"/>
                      <a:r>
                        <a:rPr lang="en-US" altLang="zh-CN" sz="2200" b="1" dirty="0" smtClean="0"/>
                        <a:t>b3</a:t>
                      </a:r>
                      <a:endParaRPr lang="zh-CN" altLang="en-US" sz="2200" b="1" dirty="0"/>
                    </a:p>
                  </a:txBody>
                  <a:tcPr marL="91457" marR="91457" marT="45733" marB="45733"/>
                </a:tc>
                <a:tc>
                  <a:txBody>
                    <a:bodyPr/>
                    <a:lstStyle/>
                    <a:p>
                      <a:pPr algn="ctr"/>
                      <a:r>
                        <a:rPr lang="en-US" altLang="zh-CN" sz="2200" b="1" dirty="0" smtClean="0"/>
                        <a:t>8</a:t>
                      </a:r>
                      <a:endParaRPr lang="zh-CN" altLang="en-US" sz="2200" b="1" dirty="0"/>
                    </a:p>
                  </a:txBody>
                  <a:tcPr marL="91457" marR="91457" marT="45733" marB="45733"/>
                </a:tc>
                <a:tc>
                  <a:txBody>
                    <a:bodyPr/>
                    <a:lstStyle/>
                    <a:p>
                      <a:pPr algn="ctr"/>
                      <a:r>
                        <a:rPr lang="en-US" altLang="zh-CN" sz="2200" b="1" dirty="0" smtClean="0"/>
                        <a:t>10</a:t>
                      </a:r>
                      <a:endParaRPr lang="zh-CN" altLang="en-US" sz="2200" b="1" dirty="0"/>
                    </a:p>
                  </a:txBody>
                  <a:tcPr marL="91457" marR="91457" marT="45733" marB="45733"/>
                </a:tc>
              </a:tr>
              <a:tr h="516940">
                <a:tc>
                  <a:txBody>
                    <a:bodyPr/>
                    <a:lstStyle/>
                    <a:p>
                      <a:pPr algn="ctr"/>
                      <a:r>
                        <a:rPr lang="en-US" altLang="zh-CN" sz="2200" b="1" dirty="0" smtClean="0"/>
                        <a:t>a2</a:t>
                      </a:r>
                      <a:endParaRPr lang="zh-CN" altLang="en-US" sz="2200" b="1" dirty="0"/>
                    </a:p>
                  </a:txBody>
                  <a:tcPr marL="91457" marR="91457" marT="45733" marB="45733"/>
                </a:tc>
                <a:tc>
                  <a:txBody>
                    <a:bodyPr/>
                    <a:lstStyle/>
                    <a:p>
                      <a:pPr algn="ctr"/>
                      <a:r>
                        <a:rPr lang="en-US" altLang="zh-CN" sz="2200" b="1" dirty="0" smtClean="0"/>
                        <a:t>b3</a:t>
                      </a:r>
                      <a:endParaRPr lang="zh-CN" altLang="en-US" sz="2200" b="1" dirty="0"/>
                    </a:p>
                  </a:txBody>
                  <a:tcPr marL="91457" marR="91457" marT="45733" marB="45733"/>
                </a:tc>
                <a:tc>
                  <a:txBody>
                    <a:bodyPr/>
                    <a:lstStyle/>
                    <a:p>
                      <a:pPr algn="ctr"/>
                      <a:r>
                        <a:rPr lang="en-US" altLang="zh-CN" sz="2200" b="1" dirty="0" smtClean="0"/>
                        <a:t>8</a:t>
                      </a:r>
                      <a:endParaRPr lang="zh-CN" altLang="en-US" sz="2200" b="1" dirty="0"/>
                    </a:p>
                  </a:txBody>
                  <a:tcPr marL="91457" marR="91457" marT="45733" marB="45733"/>
                </a:tc>
                <a:tc>
                  <a:txBody>
                    <a:bodyPr/>
                    <a:lstStyle/>
                    <a:p>
                      <a:pPr algn="ctr"/>
                      <a:r>
                        <a:rPr lang="en-US" altLang="zh-CN" sz="2200" b="1" dirty="0" smtClean="0"/>
                        <a:t>2</a:t>
                      </a:r>
                      <a:endParaRPr lang="zh-CN" altLang="en-US" sz="2200" b="1" dirty="0"/>
                    </a:p>
                  </a:txBody>
                  <a:tcPr marL="91457" marR="91457" marT="45733" marB="45733"/>
                </a:tc>
              </a:tr>
              <a:tr h="516940">
                <a:tc>
                  <a:txBody>
                    <a:bodyPr/>
                    <a:lstStyle/>
                    <a:p>
                      <a:pPr algn="ctr"/>
                      <a:r>
                        <a:rPr lang="en-US" altLang="zh-CN" sz="2200" b="1" dirty="0" smtClean="0"/>
                        <a:t>NULL</a:t>
                      </a:r>
                      <a:endParaRPr lang="zh-CN" altLang="en-US" sz="2200" b="1" dirty="0"/>
                    </a:p>
                  </a:txBody>
                  <a:tcPr marL="91457" marR="91457" marT="45733" marB="45733"/>
                </a:tc>
                <a:tc>
                  <a:txBody>
                    <a:bodyPr/>
                    <a:lstStyle/>
                    <a:p>
                      <a:pPr algn="ctr"/>
                      <a:r>
                        <a:rPr lang="en-US" altLang="zh-CN" sz="2200" b="1" dirty="0" smtClean="0"/>
                        <a:t>b5</a:t>
                      </a:r>
                      <a:endParaRPr lang="zh-CN" altLang="en-US" sz="2200" b="1" dirty="0"/>
                    </a:p>
                  </a:txBody>
                  <a:tcPr marL="91457" marR="91457" marT="45733" marB="45733"/>
                </a:tc>
                <a:tc>
                  <a:txBody>
                    <a:bodyPr/>
                    <a:lstStyle/>
                    <a:p>
                      <a:pPr algn="ctr"/>
                      <a:r>
                        <a:rPr lang="en-US" altLang="zh-CN" sz="2200" b="1" dirty="0" smtClean="0"/>
                        <a:t>NULL</a:t>
                      </a:r>
                      <a:endParaRPr lang="zh-CN" altLang="en-US" sz="2200" b="1" dirty="0"/>
                    </a:p>
                  </a:txBody>
                  <a:tcPr marL="91457" marR="91457" marT="45733" marB="45733"/>
                </a:tc>
                <a:tc>
                  <a:txBody>
                    <a:bodyPr/>
                    <a:lstStyle/>
                    <a:p>
                      <a:pPr algn="ctr"/>
                      <a:r>
                        <a:rPr lang="en-US" altLang="zh-CN" sz="2200" b="1" dirty="0" smtClean="0"/>
                        <a:t>2</a:t>
                      </a:r>
                      <a:endParaRPr lang="zh-CN" altLang="en-US" sz="2200" b="1" dirty="0"/>
                    </a:p>
                  </a:txBody>
                  <a:tcPr marL="91457" marR="91457" marT="45733" marB="45733"/>
                </a:tc>
              </a:tr>
            </a:tbl>
          </a:graphicData>
        </a:graphic>
      </p:graphicFrame>
      <p:sp>
        <p:nvSpPr>
          <p:cNvPr id="106574" name="Rectangle 6"/>
          <p:cNvSpPr>
            <a:spLocks noChangeArrowheads="1"/>
          </p:cNvSpPr>
          <p:nvPr/>
        </p:nvSpPr>
        <p:spPr bwMode="auto">
          <a:xfrm>
            <a:off x="2008188" y="5143500"/>
            <a:ext cx="59070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t>图</a:t>
            </a:r>
            <a:r>
              <a:rPr lang="en-US" altLang="zh-CN" b="1"/>
              <a:t>(b)                                                                         </a:t>
            </a:r>
            <a:r>
              <a:rPr lang="zh-CN" altLang="en-US" b="1"/>
              <a:t>图</a:t>
            </a:r>
            <a:r>
              <a:rPr lang="en-US" altLang="zh-CN" b="1"/>
              <a:t>(c)</a:t>
            </a:r>
            <a:endParaRPr lang="zh-CN" altLang="en-US" b="1"/>
          </a:p>
        </p:txBody>
      </p:sp>
    </p:spTree>
    <p:extLst>
      <p:ext uri="{BB962C8B-B14F-4D97-AF65-F5344CB8AC3E}">
        <p14:creationId xmlns:p14="http://schemas.microsoft.com/office/powerpoint/2010/main" val="282443301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eaLnBrk="1" hangingPunct="1"/>
            <a:r>
              <a:rPr lang="en-US" altLang="zh-CN" sz="3600" dirty="0" smtClean="0"/>
              <a:t>4.</a:t>
            </a:r>
            <a:r>
              <a:rPr lang="zh-CN" altLang="en-US" sz="3600" dirty="0" smtClean="0"/>
              <a:t>除运算</a:t>
            </a:r>
            <a:endParaRPr lang="en-US" altLang="zh-CN" sz="3600" dirty="0" smtClean="0"/>
          </a:p>
        </p:txBody>
      </p:sp>
      <p:sp>
        <p:nvSpPr>
          <p:cNvPr id="108547" name="Rectangle 3"/>
          <p:cNvSpPr>
            <a:spLocks noGrp="1" noChangeArrowheads="1"/>
          </p:cNvSpPr>
          <p:nvPr>
            <p:ph type="body" idx="1"/>
          </p:nvPr>
        </p:nvSpPr>
        <p:spPr/>
        <p:txBody>
          <a:bodyPr/>
          <a:lstStyle/>
          <a:p>
            <a:pPr algn="just"/>
            <a:r>
              <a:rPr lang="zh-CN" altLang="en-US" dirty="0"/>
              <a:t>查询至少选修</a:t>
            </a:r>
            <a:r>
              <a:rPr lang="en-US" altLang="zh-CN" dirty="0"/>
              <a:t>1</a:t>
            </a:r>
            <a:r>
              <a:rPr lang="zh-CN" altLang="en-US" dirty="0"/>
              <a:t>号课程和</a:t>
            </a:r>
            <a:r>
              <a:rPr lang="en-US" altLang="zh-CN" dirty="0"/>
              <a:t>3</a:t>
            </a:r>
            <a:r>
              <a:rPr lang="zh-CN" altLang="en-US" dirty="0"/>
              <a:t>号课程的学生号码 。</a:t>
            </a:r>
          </a:p>
          <a:p>
            <a:pPr algn="just" eaLnBrk="1" hangingPunct="1"/>
            <a:endParaRPr lang="en-US" altLang="zh-CN" dirty="0" smtClean="0"/>
          </a:p>
          <a:p>
            <a:pPr algn="just" eaLnBrk="1" hangingPunct="1"/>
            <a:endParaRPr lang="en-US" altLang="zh-CN" dirty="0" smtClean="0"/>
          </a:p>
          <a:p>
            <a:pPr algn="just" eaLnBrk="1" hangingPunct="1"/>
            <a:endParaRPr lang="en-US" altLang="zh-CN" dirty="0" smtClean="0"/>
          </a:p>
          <a:p>
            <a:pPr algn="just" eaLnBrk="1" hangingPunct="1"/>
            <a:endParaRPr lang="en-US" altLang="zh-CN" dirty="0"/>
          </a:p>
          <a:p>
            <a:pPr algn="just" eaLnBrk="1" hangingPunct="1"/>
            <a:endParaRPr lang="en-US" altLang="zh-CN" dirty="0"/>
          </a:p>
          <a:p>
            <a:pPr algn="just" eaLnBrk="1" hangingPunct="1"/>
            <a:r>
              <a:rPr lang="zh-CN" altLang="en-US" dirty="0" smtClean="0"/>
              <a:t>除操作是同时从行和列角度进行运算</a:t>
            </a:r>
          </a:p>
          <a:p>
            <a:pPr algn="just" eaLnBrk="1" hangingPunct="1">
              <a:buFont typeface="Wingdings" panose="05000000000000000000" pitchFamily="2" charset="2"/>
              <a:buNone/>
            </a:pPr>
            <a:r>
              <a:rPr lang="zh-CN" altLang="en-US" dirty="0" smtClean="0"/>
              <a:t> </a:t>
            </a:r>
          </a:p>
          <a:p>
            <a:pPr algn="just" eaLnBrk="1" hangingPunct="1"/>
            <a:endParaRPr lang="zh-CN" altLang="en-US" dirty="0" smtClean="0"/>
          </a:p>
          <a:p>
            <a:pPr algn="just" eaLnBrk="1" hangingPunct="1"/>
            <a:endParaRPr lang="zh-CN" altLang="en-US" dirty="0" smtClean="0"/>
          </a:p>
          <a:p>
            <a:pPr algn="just" eaLnBrk="1" hangingPunct="1"/>
            <a:endParaRPr lang="zh-CN" altLang="en-US" dirty="0" smtClean="0"/>
          </a:p>
          <a:p>
            <a:pPr lvl="2" algn="just" eaLnBrk="1" hangingPunct="1"/>
            <a:endParaRPr lang="zh-CN" altLang="en-US" dirty="0" smtClean="0"/>
          </a:p>
          <a:p>
            <a:pPr eaLnBrk="1" hangingPunct="1"/>
            <a:endParaRPr lang="en-US" altLang="zh-CN" dirty="0" smtClean="0"/>
          </a:p>
        </p:txBody>
      </p:sp>
      <p:pic>
        <p:nvPicPr>
          <p:cNvPr id="28" name="Picture 2" descr="https://img-blog.csdn.net/201612211854508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9815" y="5227164"/>
            <a:ext cx="4295318" cy="157574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Group 384"/>
          <p:cNvGraphicFramePr>
            <a:graphicFrameLocks/>
          </p:cNvGraphicFramePr>
          <p:nvPr>
            <p:extLst>
              <p:ext uri="{D42A27DB-BD31-4B8C-83A1-F6EECF244321}">
                <p14:modId xmlns:p14="http://schemas.microsoft.com/office/powerpoint/2010/main" val="2334796312"/>
              </p:ext>
            </p:extLst>
          </p:nvPr>
        </p:nvGraphicFramePr>
        <p:xfrm>
          <a:off x="5024613" y="2391093"/>
          <a:ext cx="3729163" cy="2317236"/>
        </p:xfrm>
        <a:graphic>
          <a:graphicData uri="http://schemas.openxmlformats.org/drawingml/2006/table">
            <a:tbl>
              <a:tblPr/>
              <a:tblGrid>
                <a:gridCol w="1907375"/>
                <a:gridCol w="874213"/>
                <a:gridCol w="947575"/>
              </a:tblGrid>
              <a:tr h="605392">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学号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Sno</a:t>
                      </a:r>
                      <a:endPar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Cno</a:t>
                      </a:r>
                      <a:endPar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成绩</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Grade</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92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85</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3</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88</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90</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3</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80</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 name="Rectangle 185"/>
          <p:cNvSpPr>
            <a:spLocks noChangeArrowheads="1"/>
          </p:cNvSpPr>
          <p:nvPr/>
        </p:nvSpPr>
        <p:spPr bwMode="auto">
          <a:xfrm>
            <a:off x="4757057" y="2024620"/>
            <a:ext cx="10795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200" b="1" dirty="0"/>
              <a:t>SC</a:t>
            </a:r>
          </a:p>
        </p:txBody>
      </p:sp>
    </p:spTree>
    <p:extLst>
      <p:ext uri="{BB962C8B-B14F-4D97-AF65-F5344CB8AC3E}">
        <p14:creationId xmlns:p14="http://schemas.microsoft.com/office/powerpoint/2010/main" val="355022929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r>
              <a:rPr lang="en-US" altLang="zh-CN" sz="3600" dirty="0" smtClean="0"/>
              <a:t>4. </a:t>
            </a:r>
            <a:r>
              <a:rPr lang="zh-CN" altLang="en-US" sz="3600" dirty="0" smtClean="0"/>
              <a:t>除运算（</a:t>
            </a:r>
            <a:r>
              <a:rPr lang="en-US" altLang="zh-CN" sz="3600" dirty="0" smtClean="0"/>
              <a:t>Division</a:t>
            </a:r>
            <a:r>
              <a:rPr lang="zh-CN" altLang="en-US" sz="3600" dirty="0" smtClean="0"/>
              <a:t>） </a:t>
            </a:r>
          </a:p>
        </p:txBody>
      </p:sp>
      <p:sp>
        <p:nvSpPr>
          <p:cNvPr id="53251" name="Rectangle 3"/>
          <p:cNvSpPr>
            <a:spLocks noGrp="1" noChangeArrowheads="1"/>
          </p:cNvSpPr>
          <p:nvPr>
            <p:ph type="body" idx="1"/>
          </p:nvPr>
        </p:nvSpPr>
        <p:spPr>
          <a:xfrm>
            <a:off x="611188" y="1268413"/>
            <a:ext cx="8137525" cy="4619625"/>
          </a:xfrm>
        </p:spPr>
        <p:txBody>
          <a:bodyPr>
            <a:normAutofit fontScale="92500"/>
          </a:bodyPr>
          <a:lstStyle/>
          <a:p>
            <a:pPr algn="just" eaLnBrk="1" hangingPunct="1">
              <a:lnSpc>
                <a:spcPct val="140000"/>
              </a:lnSpc>
              <a:buFont typeface="Wingdings" panose="05000000000000000000" pitchFamily="2" charset="2"/>
              <a:buNone/>
              <a:defRPr/>
            </a:pPr>
            <a:r>
              <a:rPr lang="zh-CN" altLang="en-US" sz="2400" kern="1200" dirty="0" smtClean="0">
                <a:latin typeface="Arial Unicode MS" pitchFamily="34" charset="-122"/>
              </a:rPr>
              <a:t>给定关系</a:t>
            </a:r>
            <a:r>
              <a:rPr lang="en-US" altLang="zh-CN" sz="2400" kern="1200" dirty="0" smtClean="0"/>
              <a:t>R (X</a:t>
            </a:r>
            <a:r>
              <a:rPr lang="zh-CN" altLang="en-US" sz="2400" kern="1200" dirty="0" smtClean="0"/>
              <a:t>，</a:t>
            </a:r>
            <a:r>
              <a:rPr lang="en-US" altLang="zh-CN" sz="2400" kern="1200" dirty="0" smtClean="0"/>
              <a:t>Y) </a:t>
            </a:r>
            <a:r>
              <a:rPr lang="zh-CN" altLang="en-US" sz="2400" dirty="0" smtClean="0">
                <a:latin typeface="Arial Unicode MS" pitchFamily="34" charset="-122"/>
              </a:rPr>
              <a:t>和</a:t>
            </a:r>
            <a:r>
              <a:rPr lang="en-US" altLang="zh-CN" sz="2400" kern="1200" dirty="0" smtClean="0"/>
              <a:t>S (Y</a:t>
            </a:r>
            <a:r>
              <a:rPr lang="zh-CN" altLang="en-US" sz="2400" kern="1200" dirty="0" smtClean="0"/>
              <a:t>，</a:t>
            </a:r>
            <a:r>
              <a:rPr lang="en-US" altLang="zh-CN" sz="2400" kern="1200" dirty="0" smtClean="0"/>
              <a:t>Z)</a:t>
            </a:r>
            <a:r>
              <a:rPr lang="zh-CN" altLang="en-US" sz="2400" dirty="0" smtClean="0">
                <a:latin typeface="Arial Unicode MS" pitchFamily="34" charset="-122"/>
              </a:rPr>
              <a:t>，其中</a:t>
            </a:r>
            <a:r>
              <a:rPr lang="en-US" altLang="zh-CN" sz="2400" i="1" dirty="0" smtClean="0"/>
              <a:t>X</a:t>
            </a:r>
            <a:r>
              <a:rPr lang="zh-CN" altLang="en-US" sz="2400" kern="1200" dirty="0" smtClean="0"/>
              <a:t>，</a:t>
            </a:r>
            <a:r>
              <a:rPr lang="en-US" altLang="zh-CN" sz="2400" i="1" kern="1200" dirty="0" smtClean="0"/>
              <a:t>Y</a:t>
            </a:r>
            <a:r>
              <a:rPr lang="zh-CN" altLang="en-US" sz="2400" kern="1200" dirty="0" smtClean="0"/>
              <a:t>，</a:t>
            </a:r>
            <a:r>
              <a:rPr lang="en-US" altLang="zh-CN" sz="2400" i="1" kern="1200" dirty="0" smtClean="0"/>
              <a:t>Z</a:t>
            </a:r>
            <a:r>
              <a:rPr lang="zh-CN" altLang="en-US" sz="2400" dirty="0" smtClean="0">
                <a:latin typeface="Arial Unicode MS" pitchFamily="34" charset="-122"/>
              </a:rPr>
              <a:t>为属性组。</a:t>
            </a:r>
          </a:p>
          <a:p>
            <a:pPr algn="just" eaLnBrk="1" hangingPunct="1">
              <a:lnSpc>
                <a:spcPct val="140000"/>
              </a:lnSpc>
              <a:buFont typeface="Wingdings" panose="05000000000000000000" pitchFamily="2" charset="2"/>
              <a:buNone/>
              <a:defRPr/>
            </a:pPr>
            <a:r>
              <a:rPr lang="en-US" altLang="zh-CN" sz="2400" kern="1200" dirty="0" smtClean="0"/>
              <a:t>R</a:t>
            </a:r>
            <a:r>
              <a:rPr lang="zh-CN" altLang="en-US" sz="2400" dirty="0" smtClean="0">
                <a:latin typeface="Arial Unicode MS" pitchFamily="34" charset="-122"/>
              </a:rPr>
              <a:t>中的</a:t>
            </a:r>
            <a:r>
              <a:rPr lang="en-US" altLang="zh-CN" sz="2400" kern="1200" dirty="0" smtClean="0"/>
              <a:t>Y</a:t>
            </a:r>
            <a:r>
              <a:rPr lang="zh-CN" altLang="en-US" sz="2400" dirty="0" smtClean="0">
                <a:latin typeface="Arial Unicode MS" pitchFamily="34" charset="-122"/>
              </a:rPr>
              <a:t>与</a:t>
            </a:r>
            <a:r>
              <a:rPr lang="en-US" altLang="zh-CN" sz="2400" kern="1200" dirty="0" smtClean="0"/>
              <a:t>S</a:t>
            </a:r>
            <a:r>
              <a:rPr lang="zh-CN" altLang="en-US" sz="2400" dirty="0" smtClean="0">
                <a:latin typeface="Arial Unicode MS" pitchFamily="34" charset="-122"/>
              </a:rPr>
              <a:t>中的</a:t>
            </a:r>
            <a:r>
              <a:rPr lang="en-US" altLang="zh-CN" sz="2400" kern="1200" dirty="0" smtClean="0"/>
              <a:t>Y</a:t>
            </a:r>
            <a:r>
              <a:rPr lang="zh-CN" altLang="en-US" sz="2400" dirty="0" smtClean="0">
                <a:latin typeface="Arial Unicode MS" pitchFamily="34" charset="-122"/>
              </a:rPr>
              <a:t>可以有不同的属性名，但必须出自相同的</a:t>
            </a:r>
            <a:endParaRPr lang="en-US" altLang="zh-CN" sz="2400" dirty="0" smtClean="0">
              <a:latin typeface="Arial Unicode MS" pitchFamily="34" charset="-122"/>
            </a:endParaRPr>
          </a:p>
          <a:p>
            <a:pPr algn="just" eaLnBrk="1" hangingPunct="1">
              <a:lnSpc>
                <a:spcPct val="140000"/>
              </a:lnSpc>
              <a:buFont typeface="Wingdings" panose="05000000000000000000" pitchFamily="2" charset="2"/>
              <a:buNone/>
              <a:defRPr/>
            </a:pPr>
            <a:r>
              <a:rPr lang="zh-CN" altLang="en-US" sz="2400" dirty="0" smtClean="0">
                <a:latin typeface="Arial Unicode MS" pitchFamily="34" charset="-122"/>
              </a:rPr>
              <a:t>域集。</a:t>
            </a:r>
          </a:p>
          <a:p>
            <a:pPr algn="just" eaLnBrk="1" hangingPunct="1">
              <a:lnSpc>
                <a:spcPct val="140000"/>
              </a:lnSpc>
              <a:buFont typeface="Wingdings" panose="05000000000000000000" pitchFamily="2" charset="2"/>
              <a:buNone/>
              <a:defRPr/>
            </a:pPr>
            <a:r>
              <a:rPr lang="en-US" altLang="zh-CN" sz="2400" kern="1200" dirty="0" smtClean="0"/>
              <a:t>R</a:t>
            </a:r>
            <a:r>
              <a:rPr lang="zh-CN" altLang="en-US" sz="2400" dirty="0" smtClean="0">
                <a:latin typeface="Arial Unicode MS" pitchFamily="34" charset="-122"/>
              </a:rPr>
              <a:t>与</a:t>
            </a:r>
            <a:r>
              <a:rPr lang="en-US" altLang="zh-CN" sz="2400" kern="1200" dirty="0" smtClean="0"/>
              <a:t>S</a:t>
            </a:r>
            <a:r>
              <a:rPr lang="zh-CN" altLang="en-US" sz="2400" dirty="0" smtClean="0">
                <a:latin typeface="Arial Unicode MS" pitchFamily="34" charset="-122"/>
              </a:rPr>
              <a:t>的除运算得到一个新的关系</a:t>
            </a:r>
            <a:r>
              <a:rPr lang="en-US" altLang="zh-CN" sz="2400" kern="1200" dirty="0" smtClean="0"/>
              <a:t>P(X)</a:t>
            </a:r>
            <a:r>
              <a:rPr lang="zh-CN" altLang="en-US" sz="2400" i="1" dirty="0" smtClean="0">
                <a:solidFill>
                  <a:schemeClr val="hlink"/>
                </a:solidFill>
                <a:latin typeface="Arial Unicode MS" pitchFamily="34" charset="-122"/>
              </a:rPr>
              <a:t>，</a:t>
            </a:r>
          </a:p>
          <a:p>
            <a:pPr algn="just" eaLnBrk="1" hangingPunct="1">
              <a:lnSpc>
                <a:spcPct val="140000"/>
              </a:lnSpc>
              <a:buFont typeface="Wingdings" panose="05000000000000000000" pitchFamily="2" charset="2"/>
              <a:buNone/>
              <a:defRPr/>
            </a:pPr>
            <a:r>
              <a:rPr lang="en-US" altLang="zh-CN" sz="2400" kern="1200" dirty="0" smtClean="0"/>
              <a:t>P</a:t>
            </a:r>
            <a:r>
              <a:rPr lang="zh-CN" altLang="en-US" sz="2400" dirty="0" smtClean="0">
                <a:latin typeface="Arial Unicode MS" pitchFamily="34" charset="-122"/>
              </a:rPr>
              <a:t>是</a:t>
            </a:r>
            <a:r>
              <a:rPr lang="en-US" altLang="zh-CN" sz="2400" kern="1200" dirty="0" smtClean="0"/>
              <a:t>R</a:t>
            </a:r>
            <a:r>
              <a:rPr lang="zh-CN" altLang="en-US" sz="2400" dirty="0" smtClean="0">
                <a:latin typeface="Arial Unicode MS" pitchFamily="34" charset="-122"/>
              </a:rPr>
              <a:t>中满足下列条件的元组在 </a:t>
            </a:r>
            <a:r>
              <a:rPr lang="en-US" altLang="zh-CN" sz="2400" i="1" dirty="0" smtClean="0"/>
              <a:t>X </a:t>
            </a:r>
            <a:r>
              <a:rPr lang="zh-CN" altLang="en-US" sz="2400" dirty="0" smtClean="0">
                <a:latin typeface="Arial Unicode MS" pitchFamily="34" charset="-122"/>
              </a:rPr>
              <a:t>属性列上的投影：</a:t>
            </a:r>
          </a:p>
          <a:p>
            <a:pPr algn="just" eaLnBrk="1" hangingPunct="1">
              <a:lnSpc>
                <a:spcPct val="140000"/>
              </a:lnSpc>
              <a:buFont typeface="Wingdings" panose="05000000000000000000" pitchFamily="2" charset="2"/>
              <a:buNone/>
              <a:defRPr/>
            </a:pPr>
            <a:r>
              <a:rPr lang="zh-CN" altLang="en-US" sz="2400" dirty="0" smtClean="0">
                <a:latin typeface="Arial Unicode MS" pitchFamily="34" charset="-122"/>
              </a:rPr>
              <a:t>元组在</a:t>
            </a:r>
            <a:r>
              <a:rPr lang="en-US" altLang="zh-CN" sz="2400" i="1" dirty="0" smtClean="0"/>
              <a:t>X</a:t>
            </a:r>
            <a:r>
              <a:rPr lang="zh-CN" altLang="en-US" sz="2400" dirty="0" smtClean="0">
                <a:latin typeface="Arial Unicode MS" pitchFamily="34" charset="-122"/>
              </a:rPr>
              <a:t>上分量值</a:t>
            </a:r>
            <a:r>
              <a:rPr lang="en-US" altLang="zh-CN" sz="2400" i="1" dirty="0" smtClean="0">
                <a:latin typeface="Arial Unicode MS" pitchFamily="34" charset="-122"/>
              </a:rPr>
              <a:t>x </a:t>
            </a:r>
            <a:r>
              <a:rPr lang="zh-CN" altLang="en-US" sz="2400" dirty="0" smtClean="0">
                <a:latin typeface="Arial Unicode MS" pitchFamily="34" charset="-122"/>
              </a:rPr>
              <a:t>的象集</a:t>
            </a:r>
            <a:r>
              <a:rPr lang="en-US" altLang="zh-CN" sz="2400" i="1" dirty="0" err="1" smtClean="0"/>
              <a:t>Y</a:t>
            </a:r>
            <a:r>
              <a:rPr lang="en-US" altLang="zh-CN" sz="2400" i="1" baseline="-30000" dirty="0" err="1" smtClean="0"/>
              <a:t>x</a:t>
            </a:r>
            <a:r>
              <a:rPr lang="zh-CN" altLang="en-US" sz="2400" dirty="0" smtClean="0">
                <a:latin typeface="Arial Unicode MS" pitchFamily="34" charset="-122"/>
              </a:rPr>
              <a:t>包含</a:t>
            </a:r>
            <a:r>
              <a:rPr lang="en-US" altLang="zh-CN" sz="2400" i="1" dirty="0" smtClean="0"/>
              <a:t>S</a:t>
            </a:r>
            <a:r>
              <a:rPr lang="zh-CN" altLang="en-US" sz="2400" dirty="0" smtClean="0">
                <a:latin typeface="Arial Unicode MS" pitchFamily="34" charset="-122"/>
              </a:rPr>
              <a:t>在</a:t>
            </a:r>
            <a:r>
              <a:rPr lang="en-US" altLang="zh-CN" sz="2400" i="1" dirty="0" smtClean="0"/>
              <a:t>Y</a:t>
            </a:r>
            <a:r>
              <a:rPr lang="zh-CN" altLang="en-US" sz="2400" dirty="0" smtClean="0">
                <a:latin typeface="Arial Unicode MS" pitchFamily="34" charset="-122"/>
              </a:rPr>
              <a:t>上投影的集合，记作：</a:t>
            </a:r>
          </a:p>
          <a:p>
            <a:pPr lvl="1" algn="just" eaLnBrk="1" hangingPunct="1">
              <a:lnSpc>
                <a:spcPct val="140000"/>
              </a:lnSpc>
              <a:buFont typeface="Wingdings" panose="05000000000000000000" pitchFamily="2" charset="2"/>
              <a:buNone/>
              <a:defRPr/>
            </a:pPr>
            <a:r>
              <a:rPr lang="zh-CN" altLang="en-US" dirty="0" smtClean="0">
                <a:latin typeface="Arial Unicode MS" pitchFamily="34" charset="-122"/>
              </a:rPr>
              <a:t>       </a:t>
            </a:r>
            <a:r>
              <a:rPr lang="en-US" altLang="zh-CN" i="1" dirty="0" smtClean="0"/>
              <a:t>R</a:t>
            </a:r>
            <a:r>
              <a:rPr lang="en-US" altLang="zh-CN" dirty="0" smtClean="0"/>
              <a:t>÷</a:t>
            </a:r>
            <a:r>
              <a:rPr lang="en-US" altLang="zh-CN" i="1" dirty="0" smtClean="0"/>
              <a:t>S</a:t>
            </a:r>
            <a:r>
              <a:rPr lang="en-US" altLang="zh-CN" dirty="0" smtClean="0"/>
              <a:t>={</a:t>
            </a:r>
            <a:r>
              <a:rPr lang="en-US" altLang="zh-CN" i="1" dirty="0" err="1" smtClean="0"/>
              <a:t>t</a:t>
            </a:r>
            <a:r>
              <a:rPr lang="en-US" altLang="zh-CN" baseline="-30000" dirty="0" err="1" smtClean="0"/>
              <a:t>r</a:t>
            </a:r>
            <a:r>
              <a:rPr lang="en-US" altLang="zh-CN" dirty="0" smtClean="0"/>
              <a:t>[</a:t>
            </a:r>
            <a:r>
              <a:rPr lang="en-US" altLang="zh-CN" i="1" dirty="0" smtClean="0"/>
              <a:t>X</a:t>
            </a:r>
            <a:r>
              <a:rPr lang="en-US" altLang="zh-CN" dirty="0" smtClean="0"/>
              <a:t>]|</a:t>
            </a:r>
            <a:r>
              <a:rPr lang="en-US" altLang="zh-CN" i="1" dirty="0" err="1" smtClean="0"/>
              <a:t>t</a:t>
            </a:r>
            <a:r>
              <a:rPr lang="en-US" altLang="zh-CN" baseline="-30000" dirty="0" err="1" smtClean="0"/>
              <a:t>r</a:t>
            </a:r>
            <a:r>
              <a:rPr lang="en-US" altLang="zh-CN" dirty="0" err="1" smtClean="0">
                <a:sym typeface="Symbol" pitchFamily="18" charset="2"/>
              </a:rPr>
              <a:t></a:t>
            </a:r>
            <a:r>
              <a:rPr lang="en-US" altLang="zh-CN" i="1" dirty="0" err="1" smtClean="0"/>
              <a:t>R</a:t>
            </a:r>
            <a:r>
              <a:rPr lang="en-US" altLang="zh-CN" dirty="0" err="1" smtClean="0"/>
              <a:t>∧π</a:t>
            </a:r>
            <a:r>
              <a:rPr lang="en-US" altLang="zh-CN" baseline="-30000" dirty="0" err="1" smtClean="0"/>
              <a:t>Y</a:t>
            </a:r>
            <a:r>
              <a:rPr lang="en-US" altLang="zh-CN" dirty="0" smtClean="0"/>
              <a:t>(</a:t>
            </a:r>
            <a:r>
              <a:rPr lang="en-US" altLang="zh-CN" i="1" dirty="0" smtClean="0"/>
              <a:t>S</a:t>
            </a:r>
            <a:r>
              <a:rPr lang="en-US" altLang="zh-CN" dirty="0" smtClean="0"/>
              <a:t>)</a:t>
            </a:r>
            <a:r>
              <a:rPr lang="en-US" altLang="zh-CN" dirty="0" smtClean="0">
                <a:sym typeface="Symbol" pitchFamily="18" charset="2"/>
              </a:rPr>
              <a:t></a:t>
            </a:r>
            <a:r>
              <a:rPr lang="en-US" altLang="zh-CN" i="1" dirty="0" err="1" smtClean="0"/>
              <a:t>Y</a:t>
            </a:r>
            <a:r>
              <a:rPr lang="en-US" altLang="zh-CN" i="1" baseline="-30000" dirty="0" err="1" smtClean="0"/>
              <a:t>x</a:t>
            </a:r>
            <a:r>
              <a:rPr lang="en-US" altLang="zh-CN" dirty="0" smtClean="0"/>
              <a:t>}</a:t>
            </a:r>
          </a:p>
          <a:p>
            <a:pPr lvl="1" algn="just" eaLnBrk="1" hangingPunct="1">
              <a:lnSpc>
                <a:spcPct val="140000"/>
              </a:lnSpc>
              <a:buFont typeface="Wingdings" panose="05000000000000000000" pitchFamily="2" charset="2"/>
              <a:buNone/>
              <a:defRPr/>
            </a:pPr>
            <a:r>
              <a:rPr lang="en-US" altLang="zh-CN" i="1" dirty="0" smtClean="0">
                <a:latin typeface="Arial Unicode MS" pitchFamily="34" charset="-122"/>
              </a:rPr>
              <a:t>       </a:t>
            </a:r>
            <a:r>
              <a:rPr lang="en-US" altLang="zh-CN" i="1" dirty="0" err="1" smtClean="0"/>
              <a:t>Y</a:t>
            </a:r>
            <a:r>
              <a:rPr lang="en-US" altLang="zh-CN" i="1" baseline="-30000" dirty="0" err="1" smtClean="0"/>
              <a:t>x</a:t>
            </a:r>
            <a:r>
              <a:rPr lang="zh-CN" altLang="en-US" dirty="0" smtClean="0"/>
              <a:t>：</a:t>
            </a:r>
            <a:r>
              <a:rPr lang="en-US" altLang="zh-CN" i="1" dirty="0" smtClean="0"/>
              <a:t>x</a:t>
            </a:r>
            <a:r>
              <a:rPr lang="zh-CN" altLang="en-US" dirty="0" smtClean="0">
                <a:latin typeface="Arial Unicode MS" pitchFamily="34" charset="-122"/>
              </a:rPr>
              <a:t>在</a:t>
            </a:r>
            <a:r>
              <a:rPr lang="en-US" altLang="zh-CN" i="1" dirty="0" smtClean="0"/>
              <a:t>R</a:t>
            </a:r>
            <a:r>
              <a:rPr lang="zh-CN" altLang="en-US" dirty="0" smtClean="0">
                <a:latin typeface="Arial Unicode MS" pitchFamily="34" charset="-122"/>
              </a:rPr>
              <a:t>中的象集，</a:t>
            </a:r>
            <a:r>
              <a:rPr lang="en-US" altLang="zh-CN" i="1" dirty="0" smtClean="0"/>
              <a:t>x</a:t>
            </a:r>
            <a:r>
              <a:rPr lang="en-US" altLang="zh-CN" dirty="0" smtClean="0"/>
              <a:t> = </a:t>
            </a:r>
            <a:r>
              <a:rPr lang="en-US" altLang="zh-CN" i="1" dirty="0" err="1" smtClean="0"/>
              <a:t>t</a:t>
            </a:r>
            <a:r>
              <a:rPr lang="en-US" altLang="zh-CN" baseline="-30000" dirty="0" err="1" smtClean="0"/>
              <a:t>r</a:t>
            </a:r>
            <a:r>
              <a:rPr lang="en-US" altLang="zh-CN" dirty="0" smtClean="0"/>
              <a:t>[</a:t>
            </a:r>
            <a:r>
              <a:rPr lang="en-US" altLang="zh-CN" i="1" dirty="0" smtClean="0"/>
              <a:t>X</a:t>
            </a:r>
            <a:r>
              <a:rPr lang="en-US" altLang="zh-CN" dirty="0" smtClean="0"/>
              <a:t>]</a:t>
            </a:r>
          </a:p>
          <a:p>
            <a:pPr eaLnBrk="1" hangingPunct="1">
              <a:lnSpc>
                <a:spcPct val="140000"/>
              </a:lnSpc>
              <a:defRPr/>
            </a:pPr>
            <a:endParaRPr lang="en-US" altLang="zh-CN" sz="2200" dirty="0" smtClean="0">
              <a:latin typeface="+mn-ea"/>
            </a:endParaRPr>
          </a:p>
        </p:txBody>
      </p:sp>
      <p:grpSp>
        <p:nvGrpSpPr>
          <p:cNvPr id="3" name="组合 2"/>
          <p:cNvGrpSpPr/>
          <p:nvPr/>
        </p:nvGrpSpPr>
        <p:grpSpPr>
          <a:xfrm>
            <a:off x="2343150" y="1325563"/>
            <a:ext cx="1377043" cy="593044"/>
            <a:chOff x="2343150" y="1325563"/>
            <a:chExt cx="1377043" cy="593044"/>
          </a:xfrm>
        </p:grpSpPr>
        <p:sp>
          <p:nvSpPr>
            <p:cNvPr id="2" name="椭圆 1"/>
            <p:cNvSpPr/>
            <p:nvPr/>
          </p:nvSpPr>
          <p:spPr>
            <a:xfrm>
              <a:off x="2343150" y="1325563"/>
              <a:ext cx="481693" cy="59304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3238500" y="1325563"/>
              <a:ext cx="481693" cy="59304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 name="直接连接符 5"/>
          <p:cNvCxnSpPr/>
          <p:nvPr/>
        </p:nvCxnSpPr>
        <p:spPr>
          <a:xfrm flipV="1">
            <a:off x="987879" y="5355771"/>
            <a:ext cx="4923064" cy="326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0130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eaLnBrk="1" hangingPunct="1"/>
            <a:r>
              <a:rPr lang="zh-CN" altLang="en-US" sz="3600" dirty="0" smtClean="0"/>
              <a:t>除运算（续）</a:t>
            </a:r>
            <a:endParaRPr lang="en-US" altLang="zh-CN" sz="3600" dirty="0" smtClean="0"/>
          </a:p>
        </p:txBody>
      </p:sp>
      <p:sp>
        <p:nvSpPr>
          <p:cNvPr id="109571" name="Rectangle 132"/>
          <p:cNvSpPr>
            <a:spLocks noChangeArrowheads="1"/>
          </p:cNvSpPr>
          <p:nvPr/>
        </p:nvSpPr>
        <p:spPr bwMode="auto">
          <a:xfrm>
            <a:off x="539750" y="1130300"/>
            <a:ext cx="8280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t>[</a:t>
            </a:r>
            <a:r>
              <a:rPr lang="zh-CN" altLang="en-US" sz="2400" b="1"/>
              <a:t>例</a:t>
            </a:r>
            <a:r>
              <a:rPr lang="en-US" altLang="zh-CN" sz="2400" b="1"/>
              <a:t>2.9]</a:t>
            </a:r>
            <a:r>
              <a:rPr lang="zh-CN" altLang="en-US" sz="2400" b="1"/>
              <a:t>设关系</a:t>
            </a:r>
            <a:r>
              <a:rPr lang="en-US" altLang="zh-CN" sz="2400" b="1" i="1"/>
              <a:t>R</a:t>
            </a:r>
            <a:r>
              <a:rPr lang="zh-CN" altLang="en-US" sz="2400" b="1"/>
              <a:t>、</a:t>
            </a:r>
            <a:r>
              <a:rPr lang="en-US" altLang="zh-CN" sz="2400" b="1" i="1"/>
              <a:t>S</a:t>
            </a:r>
            <a:r>
              <a:rPr lang="zh-CN" altLang="en-US" sz="2400" b="1"/>
              <a:t>分别为下图的</a:t>
            </a:r>
            <a:r>
              <a:rPr lang="en-US" altLang="zh-CN" sz="2400" b="1"/>
              <a:t>(a)</a:t>
            </a:r>
            <a:r>
              <a:rPr lang="zh-CN" altLang="en-US" sz="2400" b="1"/>
              <a:t>和</a:t>
            </a:r>
            <a:r>
              <a:rPr lang="en-US" altLang="zh-CN" sz="2400" b="1"/>
              <a:t>(b)</a:t>
            </a:r>
            <a:r>
              <a:rPr lang="zh-CN" altLang="en-US" sz="2400" b="1"/>
              <a:t>，</a:t>
            </a:r>
            <a:r>
              <a:rPr lang="en-US" altLang="zh-CN" sz="2400" b="1" i="1"/>
              <a:t>RS</a:t>
            </a:r>
            <a:r>
              <a:rPr lang="zh-CN" altLang="en-US" sz="2400" b="1"/>
              <a:t>的结果为图</a:t>
            </a:r>
            <a:r>
              <a:rPr lang="en-US" altLang="zh-CN" sz="2400" b="1"/>
              <a:t>(c) </a:t>
            </a:r>
          </a:p>
        </p:txBody>
      </p:sp>
      <p:graphicFrame>
        <p:nvGraphicFramePr>
          <p:cNvPr id="7" name="内容占位符 6"/>
          <p:cNvGraphicFramePr>
            <a:graphicFrameLocks noGrp="1"/>
          </p:cNvGraphicFramePr>
          <p:nvPr>
            <p:ph sz="half" idx="1"/>
          </p:nvPr>
        </p:nvGraphicFramePr>
        <p:xfrm>
          <a:off x="960438" y="2624138"/>
          <a:ext cx="3035301" cy="3413280"/>
        </p:xfrm>
        <a:graphic>
          <a:graphicData uri="http://schemas.openxmlformats.org/drawingml/2006/table">
            <a:tbl>
              <a:tblPr firstRow="1" bandRow="1">
                <a:tableStyleId>{5C22544A-7EE6-4342-B048-85BDC9FD1C3A}</a:tableStyleId>
              </a:tblPr>
              <a:tblGrid>
                <a:gridCol w="1011767"/>
                <a:gridCol w="1011767"/>
                <a:gridCol w="1011767"/>
              </a:tblGrid>
              <a:tr h="426641">
                <a:tc>
                  <a:txBody>
                    <a:bodyPr/>
                    <a:lstStyle/>
                    <a:p>
                      <a:pPr algn="ctr"/>
                      <a:r>
                        <a:rPr lang="en-US" altLang="zh-CN" sz="2200" b="1" dirty="0" smtClean="0">
                          <a:solidFill>
                            <a:schemeClr val="tx1"/>
                          </a:solidFill>
                        </a:rPr>
                        <a:t>A</a:t>
                      </a:r>
                      <a:endParaRPr lang="zh-CN" altLang="en-US" sz="2200" b="1" dirty="0">
                        <a:solidFill>
                          <a:schemeClr val="tx1"/>
                        </a:solidFill>
                      </a:endParaRPr>
                    </a:p>
                  </a:txBody>
                  <a:tcPr marL="91459" marR="91459" marT="45690" marB="45690"/>
                </a:tc>
                <a:tc>
                  <a:txBody>
                    <a:bodyPr/>
                    <a:lstStyle/>
                    <a:p>
                      <a:pPr algn="ctr"/>
                      <a:r>
                        <a:rPr lang="en-US" altLang="zh-CN" sz="2200" b="1" dirty="0" smtClean="0">
                          <a:solidFill>
                            <a:schemeClr val="tx1"/>
                          </a:solidFill>
                        </a:rPr>
                        <a:t>B</a:t>
                      </a:r>
                      <a:endParaRPr lang="zh-CN" altLang="en-US" sz="2200" b="1" dirty="0">
                        <a:solidFill>
                          <a:schemeClr val="tx1"/>
                        </a:solidFill>
                      </a:endParaRPr>
                    </a:p>
                  </a:txBody>
                  <a:tcPr marL="91459" marR="91459" marT="45690" marB="45690"/>
                </a:tc>
                <a:tc>
                  <a:txBody>
                    <a:bodyPr/>
                    <a:lstStyle/>
                    <a:p>
                      <a:pPr algn="ctr"/>
                      <a:r>
                        <a:rPr lang="en-US" altLang="zh-CN" sz="2200" b="1" dirty="0" smtClean="0">
                          <a:solidFill>
                            <a:schemeClr val="tx1"/>
                          </a:solidFill>
                        </a:rPr>
                        <a:t>C</a:t>
                      </a:r>
                      <a:endParaRPr lang="zh-CN" altLang="en-US" sz="2200" b="1" dirty="0">
                        <a:solidFill>
                          <a:schemeClr val="tx1"/>
                        </a:solidFill>
                      </a:endParaRPr>
                    </a:p>
                  </a:txBody>
                  <a:tcPr marL="91459" marR="91459" marT="45690" marB="45690"/>
                </a:tc>
              </a:tr>
              <a:tr h="426641">
                <a:tc>
                  <a:txBody>
                    <a:bodyPr/>
                    <a:lstStyle/>
                    <a:p>
                      <a:pPr algn="ctr"/>
                      <a:r>
                        <a:rPr lang="en-US" altLang="zh-CN" sz="2200" b="1" dirty="0" smtClean="0"/>
                        <a:t>a1</a:t>
                      </a:r>
                      <a:endParaRPr lang="zh-CN" altLang="en-US" sz="2200" b="1" dirty="0"/>
                    </a:p>
                  </a:txBody>
                  <a:tcPr marL="91459" marR="91459" marT="45690" marB="45690"/>
                </a:tc>
                <a:tc>
                  <a:txBody>
                    <a:bodyPr/>
                    <a:lstStyle/>
                    <a:p>
                      <a:pPr algn="ctr"/>
                      <a:r>
                        <a:rPr lang="en-US" altLang="zh-CN" sz="2200" b="1" dirty="0" smtClean="0"/>
                        <a:t>b1</a:t>
                      </a:r>
                      <a:endParaRPr lang="zh-CN" altLang="en-US" sz="2200" b="1" dirty="0"/>
                    </a:p>
                  </a:txBody>
                  <a:tcPr marL="91459" marR="91459" marT="45690" marB="45690"/>
                </a:tc>
                <a:tc>
                  <a:txBody>
                    <a:bodyPr/>
                    <a:lstStyle/>
                    <a:p>
                      <a:pPr algn="ctr"/>
                      <a:r>
                        <a:rPr lang="en-US" altLang="zh-CN" sz="2200" b="1" dirty="0" smtClean="0"/>
                        <a:t>c2</a:t>
                      </a:r>
                      <a:endParaRPr lang="zh-CN" altLang="en-US" sz="2200" b="1" dirty="0"/>
                    </a:p>
                  </a:txBody>
                  <a:tcPr marL="91459" marR="91459" marT="45690" marB="45690"/>
                </a:tc>
              </a:tr>
              <a:tr h="426641">
                <a:tc>
                  <a:txBody>
                    <a:bodyPr/>
                    <a:lstStyle/>
                    <a:p>
                      <a:pPr algn="ctr"/>
                      <a:r>
                        <a:rPr lang="en-US" altLang="zh-CN" sz="2200" b="1" dirty="0" smtClean="0"/>
                        <a:t>a2</a:t>
                      </a:r>
                      <a:endParaRPr lang="zh-CN" altLang="en-US" sz="2200" b="1" dirty="0"/>
                    </a:p>
                  </a:txBody>
                  <a:tcPr marL="91459" marR="91459" marT="45690" marB="45690"/>
                </a:tc>
                <a:tc>
                  <a:txBody>
                    <a:bodyPr/>
                    <a:lstStyle/>
                    <a:p>
                      <a:pPr algn="ctr"/>
                      <a:r>
                        <a:rPr lang="en-US" altLang="zh-CN" sz="2200" b="1" dirty="0" smtClean="0"/>
                        <a:t>b3</a:t>
                      </a:r>
                      <a:endParaRPr lang="zh-CN" altLang="en-US" sz="2200" b="1" dirty="0"/>
                    </a:p>
                  </a:txBody>
                  <a:tcPr marL="91459" marR="91459" marT="45690" marB="45690"/>
                </a:tc>
                <a:tc>
                  <a:txBody>
                    <a:bodyPr/>
                    <a:lstStyle/>
                    <a:p>
                      <a:pPr algn="ctr"/>
                      <a:r>
                        <a:rPr lang="en-US" altLang="zh-CN" sz="2200" b="1" dirty="0" smtClean="0"/>
                        <a:t>c7</a:t>
                      </a:r>
                      <a:endParaRPr lang="zh-CN" altLang="en-US" sz="2200" b="1" dirty="0"/>
                    </a:p>
                  </a:txBody>
                  <a:tcPr marL="91459" marR="91459" marT="45690" marB="45690"/>
                </a:tc>
              </a:tr>
              <a:tr h="426641">
                <a:tc>
                  <a:txBody>
                    <a:bodyPr/>
                    <a:lstStyle/>
                    <a:p>
                      <a:pPr algn="ctr"/>
                      <a:r>
                        <a:rPr lang="en-US" altLang="zh-CN" sz="2200" b="1" dirty="0" smtClean="0"/>
                        <a:t>a3</a:t>
                      </a:r>
                      <a:endParaRPr lang="zh-CN" altLang="en-US" sz="2200" b="1" dirty="0"/>
                    </a:p>
                  </a:txBody>
                  <a:tcPr marL="91459" marR="91459" marT="45690" marB="45690"/>
                </a:tc>
                <a:tc>
                  <a:txBody>
                    <a:bodyPr/>
                    <a:lstStyle/>
                    <a:p>
                      <a:pPr algn="ctr"/>
                      <a:r>
                        <a:rPr lang="en-US" altLang="zh-CN" sz="2200" b="1" dirty="0" smtClean="0"/>
                        <a:t>b4</a:t>
                      </a:r>
                      <a:endParaRPr lang="zh-CN" altLang="en-US" sz="2200" b="1" dirty="0"/>
                    </a:p>
                  </a:txBody>
                  <a:tcPr marL="91459" marR="91459" marT="45690" marB="45690"/>
                </a:tc>
                <a:tc>
                  <a:txBody>
                    <a:bodyPr/>
                    <a:lstStyle/>
                    <a:p>
                      <a:pPr algn="ctr"/>
                      <a:r>
                        <a:rPr lang="en-US" altLang="zh-CN" sz="2200" b="1" dirty="0" smtClean="0"/>
                        <a:t>c6</a:t>
                      </a:r>
                      <a:endParaRPr lang="zh-CN" altLang="en-US" sz="2200" b="1" dirty="0"/>
                    </a:p>
                  </a:txBody>
                  <a:tcPr marL="91459" marR="91459" marT="45690" marB="45690"/>
                </a:tc>
              </a:tr>
              <a:tr h="426641">
                <a:tc>
                  <a:txBody>
                    <a:bodyPr/>
                    <a:lstStyle/>
                    <a:p>
                      <a:pPr algn="ctr"/>
                      <a:r>
                        <a:rPr lang="en-US" altLang="zh-CN" sz="2200" b="1" dirty="0" smtClean="0"/>
                        <a:t>a1</a:t>
                      </a:r>
                      <a:endParaRPr lang="zh-CN" altLang="en-US" sz="2200" b="1" dirty="0"/>
                    </a:p>
                  </a:txBody>
                  <a:tcPr marL="91459" marR="91459" marT="45690" marB="45690"/>
                </a:tc>
                <a:tc>
                  <a:txBody>
                    <a:bodyPr/>
                    <a:lstStyle/>
                    <a:p>
                      <a:pPr algn="ctr"/>
                      <a:r>
                        <a:rPr lang="en-US" altLang="zh-CN" sz="2200" b="1" dirty="0" smtClean="0"/>
                        <a:t>b2</a:t>
                      </a:r>
                      <a:endParaRPr lang="zh-CN" altLang="en-US" sz="2200" b="1" dirty="0"/>
                    </a:p>
                  </a:txBody>
                  <a:tcPr marL="91459" marR="91459" marT="45690" marB="45690"/>
                </a:tc>
                <a:tc>
                  <a:txBody>
                    <a:bodyPr/>
                    <a:lstStyle/>
                    <a:p>
                      <a:pPr algn="ctr"/>
                      <a:r>
                        <a:rPr lang="en-US" altLang="zh-CN" sz="2200" b="1" dirty="0" smtClean="0"/>
                        <a:t>c3</a:t>
                      </a:r>
                      <a:endParaRPr lang="zh-CN" altLang="en-US" sz="2200" b="1" dirty="0"/>
                    </a:p>
                  </a:txBody>
                  <a:tcPr marL="91459" marR="91459" marT="45690" marB="45690"/>
                </a:tc>
              </a:tr>
              <a:tr h="426641">
                <a:tc>
                  <a:txBody>
                    <a:bodyPr/>
                    <a:lstStyle/>
                    <a:p>
                      <a:pPr algn="ctr"/>
                      <a:r>
                        <a:rPr lang="en-US" altLang="zh-CN" sz="2200" b="1" dirty="0" smtClean="0"/>
                        <a:t>a4</a:t>
                      </a:r>
                      <a:endParaRPr lang="zh-CN" altLang="en-US" sz="2200" b="1" dirty="0"/>
                    </a:p>
                  </a:txBody>
                  <a:tcPr marL="91459" marR="91459" marT="45690" marB="45690"/>
                </a:tc>
                <a:tc>
                  <a:txBody>
                    <a:bodyPr/>
                    <a:lstStyle/>
                    <a:p>
                      <a:pPr algn="ctr"/>
                      <a:r>
                        <a:rPr lang="en-US" altLang="zh-CN" sz="2200" b="1" dirty="0" smtClean="0"/>
                        <a:t>b6</a:t>
                      </a:r>
                      <a:endParaRPr lang="zh-CN" altLang="en-US" sz="2200" b="1" dirty="0"/>
                    </a:p>
                  </a:txBody>
                  <a:tcPr marL="91459" marR="91459" marT="45690" marB="45690"/>
                </a:tc>
                <a:tc>
                  <a:txBody>
                    <a:bodyPr/>
                    <a:lstStyle/>
                    <a:p>
                      <a:pPr algn="ctr"/>
                      <a:r>
                        <a:rPr lang="en-US" altLang="zh-CN" sz="2200" b="1" dirty="0" smtClean="0"/>
                        <a:t>c6</a:t>
                      </a:r>
                      <a:endParaRPr lang="zh-CN" altLang="en-US" sz="2200" b="1" dirty="0"/>
                    </a:p>
                  </a:txBody>
                  <a:tcPr marL="91459" marR="91459" marT="45690" marB="45690"/>
                </a:tc>
              </a:tr>
              <a:tr h="426641">
                <a:tc>
                  <a:txBody>
                    <a:bodyPr/>
                    <a:lstStyle/>
                    <a:p>
                      <a:pPr algn="ctr"/>
                      <a:r>
                        <a:rPr lang="en-US" altLang="zh-CN" sz="2200" b="1" dirty="0" smtClean="0"/>
                        <a:t>a2</a:t>
                      </a:r>
                      <a:endParaRPr lang="zh-CN" altLang="en-US" sz="2200" b="1" dirty="0"/>
                    </a:p>
                  </a:txBody>
                  <a:tcPr marL="91459" marR="91459" marT="45690" marB="45690"/>
                </a:tc>
                <a:tc>
                  <a:txBody>
                    <a:bodyPr/>
                    <a:lstStyle/>
                    <a:p>
                      <a:pPr algn="ctr"/>
                      <a:r>
                        <a:rPr lang="en-US" altLang="zh-CN" sz="2200" b="1" dirty="0" smtClean="0"/>
                        <a:t>b2</a:t>
                      </a:r>
                      <a:endParaRPr lang="zh-CN" altLang="en-US" sz="2200" b="1" dirty="0"/>
                    </a:p>
                  </a:txBody>
                  <a:tcPr marL="91459" marR="91459" marT="45690" marB="45690"/>
                </a:tc>
                <a:tc>
                  <a:txBody>
                    <a:bodyPr/>
                    <a:lstStyle/>
                    <a:p>
                      <a:pPr algn="ctr"/>
                      <a:r>
                        <a:rPr lang="en-US" altLang="zh-CN" sz="2200" b="1" dirty="0" smtClean="0"/>
                        <a:t>c3</a:t>
                      </a:r>
                      <a:endParaRPr lang="zh-CN" altLang="en-US" sz="2200" b="1" dirty="0"/>
                    </a:p>
                  </a:txBody>
                  <a:tcPr marL="91459" marR="91459" marT="45690" marB="45690"/>
                </a:tc>
              </a:tr>
              <a:tr h="426641">
                <a:tc>
                  <a:txBody>
                    <a:bodyPr/>
                    <a:lstStyle/>
                    <a:p>
                      <a:pPr algn="ctr"/>
                      <a:r>
                        <a:rPr lang="en-US" altLang="zh-CN" sz="2200" b="1" dirty="0" smtClean="0"/>
                        <a:t>a1</a:t>
                      </a:r>
                      <a:endParaRPr lang="zh-CN" altLang="en-US" sz="2200" b="1" dirty="0"/>
                    </a:p>
                  </a:txBody>
                  <a:tcPr marL="91459" marR="91459" marT="45690" marB="45690"/>
                </a:tc>
                <a:tc>
                  <a:txBody>
                    <a:bodyPr/>
                    <a:lstStyle/>
                    <a:p>
                      <a:pPr algn="ctr"/>
                      <a:r>
                        <a:rPr lang="en-US" altLang="zh-CN" sz="2200" b="1" dirty="0" smtClean="0"/>
                        <a:t>b2</a:t>
                      </a:r>
                      <a:endParaRPr lang="zh-CN" altLang="en-US" sz="2200" b="1" dirty="0"/>
                    </a:p>
                  </a:txBody>
                  <a:tcPr marL="91459" marR="91459" marT="45690" marB="45690"/>
                </a:tc>
                <a:tc>
                  <a:txBody>
                    <a:bodyPr/>
                    <a:lstStyle/>
                    <a:p>
                      <a:pPr algn="ctr"/>
                      <a:r>
                        <a:rPr lang="en-US" altLang="zh-CN" sz="2200" b="1" dirty="0" smtClean="0"/>
                        <a:t>c1</a:t>
                      </a:r>
                      <a:endParaRPr lang="zh-CN" altLang="en-US" sz="2200" b="1" dirty="0"/>
                    </a:p>
                  </a:txBody>
                  <a:tcPr marL="91459" marR="91459" marT="45690" marB="45690"/>
                </a:tc>
              </a:tr>
            </a:tbl>
          </a:graphicData>
        </a:graphic>
      </p:graphicFrame>
      <p:graphicFrame>
        <p:nvGraphicFramePr>
          <p:cNvPr id="8" name="内容占位符 8"/>
          <p:cNvGraphicFramePr>
            <a:graphicFrameLocks/>
          </p:cNvGraphicFramePr>
          <p:nvPr/>
        </p:nvGraphicFramePr>
        <p:xfrm>
          <a:off x="4859338" y="2693988"/>
          <a:ext cx="2112963" cy="1706824"/>
        </p:xfrm>
        <a:graphic>
          <a:graphicData uri="http://schemas.openxmlformats.org/drawingml/2006/table">
            <a:tbl>
              <a:tblPr firstRow="1" bandRow="1">
                <a:tableStyleId>{5C22544A-7EE6-4342-B048-85BDC9FD1C3A}</a:tableStyleId>
              </a:tblPr>
              <a:tblGrid>
                <a:gridCol w="704321"/>
                <a:gridCol w="704321"/>
                <a:gridCol w="704321"/>
              </a:tblGrid>
              <a:tr h="426641">
                <a:tc>
                  <a:txBody>
                    <a:bodyPr/>
                    <a:lstStyle/>
                    <a:p>
                      <a:pPr algn="ctr"/>
                      <a:r>
                        <a:rPr lang="en-US" altLang="zh-CN" sz="2200" b="1" dirty="0" smtClean="0">
                          <a:solidFill>
                            <a:schemeClr val="tx1"/>
                          </a:solidFill>
                        </a:rPr>
                        <a:t>B</a:t>
                      </a:r>
                      <a:endParaRPr lang="zh-CN" altLang="en-US" sz="2200" b="1" dirty="0">
                        <a:solidFill>
                          <a:schemeClr val="tx1"/>
                        </a:solidFill>
                      </a:endParaRPr>
                    </a:p>
                  </a:txBody>
                  <a:tcPr marL="91472" marR="91472" marT="45713" marB="45713"/>
                </a:tc>
                <a:tc>
                  <a:txBody>
                    <a:bodyPr/>
                    <a:lstStyle/>
                    <a:p>
                      <a:pPr algn="ctr"/>
                      <a:r>
                        <a:rPr lang="en-US" altLang="zh-CN" sz="2200" b="1" dirty="0" smtClean="0">
                          <a:solidFill>
                            <a:schemeClr val="tx1"/>
                          </a:solidFill>
                        </a:rPr>
                        <a:t>C</a:t>
                      </a:r>
                      <a:endParaRPr lang="zh-CN" altLang="en-US" sz="2200" b="1" dirty="0">
                        <a:solidFill>
                          <a:schemeClr val="tx1"/>
                        </a:solidFill>
                      </a:endParaRPr>
                    </a:p>
                  </a:txBody>
                  <a:tcPr marL="91472" marR="91472" marT="45713" marB="45713"/>
                </a:tc>
                <a:tc>
                  <a:txBody>
                    <a:bodyPr/>
                    <a:lstStyle/>
                    <a:p>
                      <a:pPr algn="ctr"/>
                      <a:r>
                        <a:rPr lang="en-US" altLang="zh-CN" sz="2200" b="1" dirty="0" smtClean="0">
                          <a:solidFill>
                            <a:schemeClr val="tx1"/>
                          </a:solidFill>
                        </a:rPr>
                        <a:t>D</a:t>
                      </a:r>
                      <a:endParaRPr lang="zh-CN" altLang="en-US" sz="2200" b="1" dirty="0">
                        <a:solidFill>
                          <a:schemeClr val="tx1"/>
                        </a:solidFill>
                      </a:endParaRPr>
                    </a:p>
                  </a:txBody>
                  <a:tcPr marL="91472" marR="91472" marT="45713" marB="45713"/>
                </a:tc>
              </a:tr>
              <a:tr h="426641">
                <a:tc>
                  <a:txBody>
                    <a:bodyPr/>
                    <a:lstStyle/>
                    <a:p>
                      <a:pPr algn="ctr"/>
                      <a:r>
                        <a:rPr lang="en-US" altLang="zh-CN" sz="2200" b="1" dirty="0" smtClean="0"/>
                        <a:t>b1</a:t>
                      </a:r>
                      <a:endParaRPr lang="zh-CN" altLang="en-US" sz="2200" b="1" dirty="0"/>
                    </a:p>
                  </a:txBody>
                  <a:tcPr marL="91472" marR="91472" marT="45713" marB="45713"/>
                </a:tc>
                <a:tc>
                  <a:txBody>
                    <a:bodyPr/>
                    <a:lstStyle/>
                    <a:p>
                      <a:pPr algn="ctr"/>
                      <a:r>
                        <a:rPr lang="en-US" altLang="zh-CN" sz="2200" b="1" dirty="0" smtClean="0"/>
                        <a:t>c2</a:t>
                      </a:r>
                      <a:endParaRPr lang="zh-CN" altLang="en-US" sz="2200" b="1" dirty="0"/>
                    </a:p>
                  </a:txBody>
                  <a:tcPr marL="91472" marR="91472" marT="45713" marB="45713"/>
                </a:tc>
                <a:tc>
                  <a:txBody>
                    <a:bodyPr/>
                    <a:lstStyle/>
                    <a:p>
                      <a:pPr algn="ctr"/>
                      <a:r>
                        <a:rPr lang="en-US" altLang="zh-CN" sz="2200" b="1" dirty="0" smtClean="0"/>
                        <a:t>d1</a:t>
                      </a:r>
                      <a:endParaRPr lang="zh-CN" altLang="en-US" sz="2200" b="1" dirty="0"/>
                    </a:p>
                  </a:txBody>
                  <a:tcPr marL="91472" marR="91472" marT="45713" marB="45713"/>
                </a:tc>
              </a:tr>
              <a:tr h="426641">
                <a:tc>
                  <a:txBody>
                    <a:bodyPr/>
                    <a:lstStyle/>
                    <a:p>
                      <a:pPr algn="ctr"/>
                      <a:r>
                        <a:rPr lang="en-US" altLang="zh-CN" sz="2200" b="1" dirty="0" smtClean="0"/>
                        <a:t>b2</a:t>
                      </a:r>
                      <a:endParaRPr lang="zh-CN" altLang="en-US" sz="2200" b="1" dirty="0"/>
                    </a:p>
                  </a:txBody>
                  <a:tcPr marL="91472" marR="91472" marT="45713" marB="45713"/>
                </a:tc>
                <a:tc>
                  <a:txBody>
                    <a:bodyPr/>
                    <a:lstStyle/>
                    <a:p>
                      <a:pPr algn="ctr"/>
                      <a:r>
                        <a:rPr lang="en-US" altLang="zh-CN" sz="2200" b="1" dirty="0" smtClean="0"/>
                        <a:t>c1</a:t>
                      </a:r>
                      <a:endParaRPr lang="zh-CN" altLang="en-US" sz="2200" b="1" dirty="0"/>
                    </a:p>
                  </a:txBody>
                  <a:tcPr marL="91472" marR="91472" marT="45713" marB="45713"/>
                </a:tc>
                <a:tc>
                  <a:txBody>
                    <a:bodyPr/>
                    <a:lstStyle/>
                    <a:p>
                      <a:pPr algn="ctr"/>
                      <a:r>
                        <a:rPr lang="en-US" altLang="zh-CN" sz="2200" b="1" dirty="0" smtClean="0"/>
                        <a:t>d1</a:t>
                      </a:r>
                      <a:endParaRPr lang="zh-CN" altLang="en-US" sz="2200" b="1" dirty="0"/>
                    </a:p>
                  </a:txBody>
                  <a:tcPr marL="91472" marR="91472" marT="45713" marB="45713"/>
                </a:tc>
              </a:tr>
              <a:tr h="426641">
                <a:tc>
                  <a:txBody>
                    <a:bodyPr/>
                    <a:lstStyle/>
                    <a:p>
                      <a:pPr algn="ctr"/>
                      <a:r>
                        <a:rPr lang="en-US" altLang="zh-CN" sz="2200" b="1" dirty="0" smtClean="0"/>
                        <a:t>b2</a:t>
                      </a:r>
                      <a:endParaRPr lang="zh-CN" altLang="en-US" sz="2200" b="1" dirty="0"/>
                    </a:p>
                  </a:txBody>
                  <a:tcPr marL="91472" marR="91472" marT="45713" marB="45713"/>
                </a:tc>
                <a:tc>
                  <a:txBody>
                    <a:bodyPr/>
                    <a:lstStyle/>
                    <a:p>
                      <a:pPr algn="ctr"/>
                      <a:r>
                        <a:rPr lang="en-US" altLang="zh-CN" sz="2200" b="1" dirty="0" smtClean="0"/>
                        <a:t>c3</a:t>
                      </a:r>
                      <a:endParaRPr lang="zh-CN" altLang="en-US" sz="2200" b="1" dirty="0"/>
                    </a:p>
                  </a:txBody>
                  <a:tcPr marL="91472" marR="91472" marT="45713" marB="45713"/>
                </a:tc>
                <a:tc>
                  <a:txBody>
                    <a:bodyPr/>
                    <a:lstStyle/>
                    <a:p>
                      <a:pPr algn="ctr"/>
                      <a:r>
                        <a:rPr lang="en-US" altLang="zh-CN" sz="2200" b="1" dirty="0" smtClean="0"/>
                        <a:t>d2</a:t>
                      </a:r>
                      <a:endParaRPr lang="zh-CN" altLang="en-US" sz="2200" b="1" dirty="0"/>
                    </a:p>
                  </a:txBody>
                  <a:tcPr marL="91472" marR="91472" marT="45713" marB="45713"/>
                </a:tc>
              </a:tr>
            </a:tbl>
          </a:graphicData>
        </a:graphic>
      </p:graphicFrame>
      <p:sp>
        <p:nvSpPr>
          <p:cNvPr id="109632" name="TextBox 7"/>
          <p:cNvSpPr txBox="1">
            <a:spLocks noChangeArrowheads="1"/>
          </p:cNvSpPr>
          <p:nvPr/>
        </p:nvSpPr>
        <p:spPr bwMode="auto">
          <a:xfrm>
            <a:off x="941388" y="2133600"/>
            <a:ext cx="388937"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a:t>R</a:t>
            </a:r>
            <a:endParaRPr lang="zh-CN" altLang="en-US" sz="2200" b="1"/>
          </a:p>
        </p:txBody>
      </p:sp>
      <p:sp>
        <p:nvSpPr>
          <p:cNvPr id="109633" name="TextBox 10"/>
          <p:cNvSpPr txBox="1">
            <a:spLocks noChangeArrowheads="1"/>
          </p:cNvSpPr>
          <p:nvPr/>
        </p:nvSpPr>
        <p:spPr bwMode="auto">
          <a:xfrm>
            <a:off x="5599113" y="4718891"/>
            <a:ext cx="85725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dirty="0"/>
              <a:t>R÷S</a:t>
            </a:r>
            <a:endParaRPr lang="zh-CN" altLang="en-US" sz="2200" b="1" dirty="0"/>
          </a:p>
        </p:txBody>
      </p:sp>
      <p:sp>
        <p:nvSpPr>
          <p:cNvPr id="109634" name="TextBox 10"/>
          <p:cNvSpPr txBox="1">
            <a:spLocks noChangeArrowheads="1"/>
          </p:cNvSpPr>
          <p:nvPr/>
        </p:nvSpPr>
        <p:spPr bwMode="auto">
          <a:xfrm>
            <a:off x="5227638" y="2270125"/>
            <a:ext cx="37147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a:t>S</a:t>
            </a:r>
            <a:endParaRPr lang="zh-CN" altLang="en-US" sz="2200" b="1"/>
          </a:p>
        </p:txBody>
      </p:sp>
      <p:graphicFrame>
        <p:nvGraphicFramePr>
          <p:cNvPr id="13" name="内容占位符 8"/>
          <p:cNvGraphicFramePr>
            <a:graphicFrameLocks/>
          </p:cNvGraphicFramePr>
          <p:nvPr>
            <p:extLst>
              <p:ext uri="{D42A27DB-BD31-4B8C-83A1-F6EECF244321}">
                <p14:modId xmlns:p14="http://schemas.microsoft.com/office/powerpoint/2010/main" val="1257148837"/>
              </p:ext>
            </p:extLst>
          </p:nvPr>
        </p:nvGraphicFramePr>
        <p:xfrm>
          <a:off x="5761080" y="5149103"/>
          <a:ext cx="704850" cy="854076"/>
        </p:xfrm>
        <a:graphic>
          <a:graphicData uri="http://schemas.openxmlformats.org/drawingml/2006/table">
            <a:tbl>
              <a:tblPr firstRow="1" bandRow="1">
                <a:tableStyleId>{5C22544A-7EE6-4342-B048-85BDC9FD1C3A}</a:tableStyleId>
              </a:tblPr>
              <a:tblGrid>
                <a:gridCol w="704850"/>
              </a:tblGrid>
              <a:tr h="427038">
                <a:tc>
                  <a:txBody>
                    <a:bodyPr/>
                    <a:lstStyle/>
                    <a:p>
                      <a:pPr algn="ctr"/>
                      <a:r>
                        <a:rPr lang="en-US" altLang="zh-CN" sz="2200" b="1" dirty="0" smtClean="0">
                          <a:solidFill>
                            <a:schemeClr val="tx1"/>
                          </a:solidFill>
                        </a:rPr>
                        <a:t>A</a:t>
                      </a:r>
                      <a:endParaRPr lang="zh-CN" altLang="en-US" sz="2200" b="1" dirty="0">
                        <a:solidFill>
                          <a:schemeClr val="tx1"/>
                        </a:solidFill>
                      </a:endParaRPr>
                    </a:p>
                  </a:txBody>
                  <a:tcPr marL="91541" marR="91541" marT="45777" marB="45777"/>
                </a:tc>
              </a:tr>
              <a:tr h="427038">
                <a:tc>
                  <a:txBody>
                    <a:bodyPr/>
                    <a:lstStyle/>
                    <a:p>
                      <a:pPr algn="ctr"/>
                      <a:r>
                        <a:rPr lang="en-US" altLang="zh-CN" sz="2200" b="1" dirty="0" smtClean="0"/>
                        <a:t>a1</a:t>
                      </a:r>
                      <a:endParaRPr lang="zh-CN" altLang="en-US" sz="2200" b="1" dirty="0"/>
                    </a:p>
                  </a:txBody>
                  <a:tcPr marL="91541" marR="91541" marT="45777" marB="45777"/>
                </a:tc>
              </a:tr>
            </a:tbl>
          </a:graphicData>
        </a:graphic>
      </p:graphicFrame>
    </p:spTree>
    <p:extLst>
      <p:ext uri="{BB962C8B-B14F-4D97-AF65-F5344CB8AC3E}">
        <p14:creationId xmlns:p14="http://schemas.microsoft.com/office/powerpoint/2010/main" val="4805152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eaLnBrk="1" hangingPunct="1"/>
            <a:r>
              <a:rPr lang="zh-CN" altLang="en-US" sz="3600" smtClean="0"/>
              <a:t>除运算（续）</a:t>
            </a:r>
          </a:p>
        </p:txBody>
      </p:sp>
      <p:sp>
        <p:nvSpPr>
          <p:cNvPr id="110595" name="Rectangle 3"/>
          <p:cNvSpPr>
            <a:spLocks noGrp="1" noChangeArrowheads="1"/>
          </p:cNvSpPr>
          <p:nvPr>
            <p:ph type="body" idx="1"/>
          </p:nvPr>
        </p:nvSpPr>
        <p:spPr>
          <a:xfrm>
            <a:off x="755650" y="1098550"/>
            <a:ext cx="7988300" cy="5018088"/>
          </a:xfrm>
        </p:spPr>
        <p:txBody>
          <a:bodyPr/>
          <a:lstStyle/>
          <a:p>
            <a:pPr algn="just" eaLnBrk="1" hangingPunct="1">
              <a:lnSpc>
                <a:spcPct val="120000"/>
              </a:lnSpc>
            </a:pPr>
            <a:r>
              <a:rPr lang="zh-CN" altLang="en-US" sz="2400" dirty="0" smtClean="0"/>
              <a:t>在关系</a:t>
            </a:r>
            <a:r>
              <a:rPr lang="en-US" altLang="zh-CN" sz="2400" dirty="0" smtClean="0"/>
              <a:t>R</a:t>
            </a:r>
            <a:r>
              <a:rPr lang="zh-CN" altLang="en-US" sz="2400" dirty="0" smtClean="0"/>
              <a:t>中，</a:t>
            </a:r>
            <a:r>
              <a:rPr lang="en-US" altLang="zh-CN" sz="2400" dirty="0" smtClean="0"/>
              <a:t>A</a:t>
            </a:r>
            <a:r>
              <a:rPr lang="zh-CN" altLang="en-US" sz="2400" dirty="0" smtClean="0"/>
              <a:t>可以取四个值</a:t>
            </a:r>
            <a:r>
              <a:rPr lang="en-US" altLang="zh-CN" sz="2400" dirty="0" smtClean="0"/>
              <a:t>{a1</a:t>
            </a:r>
            <a:r>
              <a:rPr lang="zh-CN" altLang="en-US" sz="2400" dirty="0" smtClean="0"/>
              <a:t>，</a:t>
            </a:r>
            <a:r>
              <a:rPr lang="en-US" altLang="zh-CN" sz="2400" dirty="0" smtClean="0"/>
              <a:t>a2</a:t>
            </a:r>
            <a:r>
              <a:rPr lang="zh-CN" altLang="en-US" sz="2400" dirty="0" smtClean="0"/>
              <a:t>，</a:t>
            </a:r>
            <a:r>
              <a:rPr lang="en-US" altLang="zh-CN" sz="2400" dirty="0" smtClean="0"/>
              <a:t>a3</a:t>
            </a:r>
            <a:r>
              <a:rPr lang="zh-CN" altLang="en-US" sz="2400" dirty="0" smtClean="0"/>
              <a:t>，</a:t>
            </a:r>
            <a:r>
              <a:rPr lang="en-US" altLang="zh-CN" sz="2400" dirty="0" smtClean="0"/>
              <a:t>a4}</a:t>
            </a:r>
          </a:p>
          <a:p>
            <a:pPr lvl="1" indent="-209550" algn="just" eaLnBrk="1" hangingPunct="1">
              <a:lnSpc>
                <a:spcPct val="120000"/>
              </a:lnSpc>
              <a:buFont typeface="Wingdings" panose="05000000000000000000" pitchFamily="2" charset="2"/>
              <a:buNone/>
            </a:pPr>
            <a:r>
              <a:rPr lang="en-US" altLang="zh-CN" i="1" dirty="0" smtClean="0"/>
              <a:t>    a</a:t>
            </a:r>
            <a:r>
              <a:rPr lang="en-US" altLang="zh-CN" baseline="-30000" dirty="0" smtClean="0"/>
              <a:t>1</a:t>
            </a:r>
            <a:r>
              <a:rPr lang="zh-CN" altLang="en-US" dirty="0" smtClean="0"/>
              <a:t>的象集为 </a:t>
            </a:r>
            <a:r>
              <a:rPr lang="en-US" altLang="zh-CN" dirty="0" smtClean="0"/>
              <a:t>{(</a:t>
            </a:r>
            <a:r>
              <a:rPr lang="en-US" altLang="zh-CN" i="1" dirty="0" smtClean="0"/>
              <a:t>b</a:t>
            </a:r>
            <a:r>
              <a:rPr lang="en-US" altLang="zh-CN" baseline="-30000" dirty="0" smtClean="0"/>
              <a:t>1</a:t>
            </a:r>
            <a:r>
              <a:rPr lang="zh-CN" altLang="en-US" dirty="0" smtClean="0"/>
              <a:t>，</a:t>
            </a:r>
            <a:r>
              <a:rPr lang="en-US" altLang="zh-CN" i="1" dirty="0" smtClean="0"/>
              <a:t>c</a:t>
            </a:r>
            <a:r>
              <a:rPr lang="en-US" altLang="zh-CN" baseline="-30000" dirty="0" smtClean="0"/>
              <a:t>2</a:t>
            </a:r>
            <a:r>
              <a:rPr lang="en-US" altLang="zh-CN" dirty="0" smtClean="0"/>
              <a:t>)</a:t>
            </a:r>
            <a:r>
              <a:rPr lang="zh-CN" altLang="en-US" dirty="0" smtClean="0"/>
              <a:t>，</a:t>
            </a:r>
            <a:r>
              <a:rPr lang="en-US" altLang="zh-CN" dirty="0" smtClean="0"/>
              <a:t>(</a:t>
            </a:r>
            <a:r>
              <a:rPr lang="en-US" altLang="zh-CN" i="1" dirty="0" smtClean="0"/>
              <a:t>b</a:t>
            </a:r>
            <a:r>
              <a:rPr lang="en-US" altLang="zh-CN" baseline="-30000" dirty="0" smtClean="0"/>
              <a:t>2</a:t>
            </a:r>
            <a:r>
              <a:rPr lang="zh-CN" altLang="en-US" dirty="0" smtClean="0"/>
              <a:t>，</a:t>
            </a:r>
            <a:r>
              <a:rPr lang="en-US" altLang="zh-CN" i="1" dirty="0" smtClean="0"/>
              <a:t>c</a:t>
            </a:r>
            <a:r>
              <a:rPr lang="en-US" altLang="zh-CN" baseline="-30000" dirty="0" smtClean="0"/>
              <a:t>3</a:t>
            </a:r>
            <a:r>
              <a:rPr lang="en-US" altLang="zh-CN" dirty="0" smtClean="0"/>
              <a:t>)</a:t>
            </a:r>
            <a:r>
              <a:rPr lang="zh-CN" altLang="en-US" dirty="0" smtClean="0"/>
              <a:t>，</a:t>
            </a:r>
            <a:r>
              <a:rPr lang="en-US" altLang="zh-CN" dirty="0" smtClean="0"/>
              <a:t>(</a:t>
            </a:r>
            <a:r>
              <a:rPr lang="en-US" altLang="zh-CN" i="1" dirty="0" smtClean="0"/>
              <a:t>b</a:t>
            </a:r>
            <a:r>
              <a:rPr lang="en-US" altLang="zh-CN" baseline="-30000" dirty="0" smtClean="0"/>
              <a:t>2</a:t>
            </a:r>
            <a:r>
              <a:rPr lang="zh-CN" altLang="en-US" dirty="0" smtClean="0"/>
              <a:t>，</a:t>
            </a:r>
            <a:r>
              <a:rPr lang="en-US" altLang="zh-CN" i="1" dirty="0" smtClean="0"/>
              <a:t>c</a:t>
            </a:r>
            <a:r>
              <a:rPr lang="en-US" altLang="zh-CN" baseline="-30000" dirty="0" smtClean="0"/>
              <a:t>1</a:t>
            </a:r>
            <a:r>
              <a:rPr lang="en-US" altLang="zh-CN" dirty="0" smtClean="0"/>
              <a:t>)}</a:t>
            </a:r>
          </a:p>
          <a:p>
            <a:pPr lvl="1" indent="-209550" algn="just" eaLnBrk="1" hangingPunct="1">
              <a:lnSpc>
                <a:spcPct val="120000"/>
              </a:lnSpc>
              <a:buFont typeface="Wingdings" panose="05000000000000000000" pitchFamily="2" charset="2"/>
              <a:buNone/>
            </a:pPr>
            <a:r>
              <a:rPr lang="en-US" altLang="zh-CN" i="1" dirty="0" smtClean="0"/>
              <a:t>    a</a:t>
            </a:r>
            <a:r>
              <a:rPr lang="en-US" altLang="zh-CN" baseline="-30000" dirty="0" smtClean="0"/>
              <a:t>2</a:t>
            </a:r>
            <a:r>
              <a:rPr lang="zh-CN" altLang="en-US" dirty="0" smtClean="0"/>
              <a:t>的象集为 </a:t>
            </a:r>
            <a:r>
              <a:rPr lang="en-US" altLang="zh-CN" dirty="0" smtClean="0"/>
              <a:t>{(</a:t>
            </a:r>
            <a:r>
              <a:rPr lang="en-US" altLang="zh-CN" i="1" dirty="0" smtClean="0"/>
              <a:t>b</a:t>
            </a:r>
            <a:r>
              <a:rPr lang="en-US" altLang="zh-CN" baseline="-30000" dirty="0" smtClean="0"/>
              <a:t>3</a:t>
            </a:r>
            <a:r>
              <a:rPr lang="zh-CN" altLang="en-US" dirty="0" smtClean="0"/>
              <a:t>，</a:t>
            </a:r>
            <a:r>
              <a:rPr lang="en-US" altLang="zh-CN" i="1" dirty="0" smtClean="0"/>
              <a:t>c</a:t>
            </a:r>
            <a:r>
              <a:rPr lang="en-US" altLang="zh-CN" baseline="-30000" dirty="0" smtClean="0"/>
              <a:t>7</a:t>
            </a:r>
            <a:r>
              <a:rPr lang="en-US" altLang="zh-CN" dirty="0" smtClean="0"/>
              <a:t>)</a:t>
            </a:r>
            <a:r>
              <a:rPr lang="zh-CN" altLang="en-US" dirty="0" smtClean="0"/>
              <a:t>，</a:t>
            </a:r>
            <a:r>
              <a:rPr lang="en-US" altLang="zh-CN" dirty="0" smtClean="0"/>
              <a:t>(</a:t>
            </a:r>
            <a:r>
              <a:rPr lang="en-US" altLang="zh-CN" i="1" dirty="0" smtClean="0"/>
              <a:t>b</a:t>
            </a:r>
            <a:r>
              <a:rPr lang="en-US" altLang="zh-CN" baseline="-30000" dirty="0" smtClean="0"/>
              <a:t>2</a:t>
            </a:r>
            <a:r>
              <a:rPr lang="zh-CN" altLang="en-US" dirty="0" smtClean="0"/>
              <a:t>，</a:t>
            </a:r>
            <a:r>
              <a:rPr lang="en-US" altLang="zh-CN" i="1" dirty="0" smtClean="0"/>
              <a:t>c</a:t>
            </a:r>
            <a:r>
              <a:rPr lang="en-US" altLang="zh-CN" baseline="-30000" dirty="0" smtClean="0"/>
              <a:t>3</a:t>
            </a:r>
            <a:r>
              <a:rPr lang="en-US" altLang="zh-CN" dirty="0" smtClean="0"/>
              <a:t>)}</a:t>
            </a:r>
          </a:p>
          <a:p>
            <a:pPr lvl="1" indent="-209550" algn="just" eaLnBrk="1" hangingPunct="1">
              <a:lnSpc>
                <a:spcPct val="120000"/>
              </a:lnSpc>
              <a:buFont typeface="Wingdings" panose="05000000000000000000" pitchFamily="2" charset="2"/>
              <a:buNone/>
            </a:pPr>
            <a:r>
              <a:rPr lang="en-US" altLang="zh-CN" i="1" dirty="0" smtClean="0"/>
              <a:t>    a</a:t>
            </a:r>
            <a:r>
              <a:rPr lang="en-US" altLang="zh-CN" baseline="-30000" dirty="0" smtClean="0"/>
              <a:t>3</a:t>
            </a:r>
            <a:r>
              <a:rPr lang="zh-CN" altLang="en-US" dirty="0" smtClean="0"/>
              <a:t>的象集为 </a:t>
            </a:r>
            <a:r>
              <a:rPr lang="en-US" altLang="zh-CN" dirty="0" smtClean="0"/>
              <a:t>{</a:t>
            </a:r>
            <a:r>
              <a:rPr lang="en-US" altLang="zh-CN" i="1" dirty="0" smtClean="0"/>
              <a:t>(b</a:t>
            </a:r>
            <a:r>
              <a:rPr lang="en-US" altLang="zh-CN" baseline="-30000" dirty="0" smtClean="0"/>
              <a:t>4</a:t>
            </a:r>
            <a:r>
              <a:rPr lang="zh-CN" altLang="en-US" dirty="0" smtClean="0"/>
              <a:t>，</a:t>
            </a:r>
            <a:r>
              <a:rPr lang="en-US" altLang="zh-CN" i="1" dirty="0" smtClean="0"/>
              <a:t>c</a:t>
            </a:r>
            <a:r>
              <a:rPr lang="en-US" altLang="zh-CN" baseline="-30000" dirty="0" smtClean="0"/>
              <a:t>6</a:t>
            </a:r>
            <a:r>
              <a:rPr lang="en-US" altLang="zh-CN" dirty="0" smtClean="0"/>
              <a:t>)}</a:t>
            </a:r>
          </a:p>
          <a:p>
            <a:pPr lvl="1" indent="-209550" algn="just" eaLnBrk="1" hangingPunct="1">
              <a:lnSpc>
                <a:spcPct val="120000"/>
              </a:lnSpc>
              <a:buFont typeface="Wingdings" panose="05000000000000000000" pitchFamily="2" charset="2"/>
              <a:buNone/>
            </a:pPr>
            <a:r>
              <a:rPr lang="en-US" altLang="zh-CN" i="1" dirty="0" smtClean="0"/>
              <a:t>    a</a:t>
            </a:r>
            <a:r>
              <a:rPr lang="en-US" altLang="zh-CN" baseline="-30000" dirty="0" smtClean="0"/>
              <a:t>4</a:t>
            </a:r>
            <a:r>
              <a:rPr lang="zh-CN" altLang="en-US" dirty="0" smtClean="0"/>
              <a:t>的象集为 </a:t>
            </a:r>
            <a:r>
              <a:rPr lang="en-US" altLang="zh-CN" dirty="0" smtClean="0"/>
              <a:t>{(</a:t>
            </a:r>
            <a:r>
              <a:rPr lang="en-US" altLang="zh-CN" i="1" dirty="0" smtClean="0"/>
              <a:t>b</a:t>
            </a:r>
            <a:r>
              <a:rPr lang="en-US" altLang="zh-CN" baseline="-30000" dirty="0" smtClean="0"/>
              <a:t>6</a:t>
            </a:r>
            <a:r>
              <a:rPr lang="zh-CN" altLang="en-US" dirty="0" smtClean="0"/>
              <a:t>，</a:t>
            </a:r>
            <a:r>
              <a:rPr lang="en-US" altLang="zh-CN" i="1" dirty="0" smtClean="0"/>
              <a:t>c</a:t>
            </a:r>
            <a:r>
              <a:rPr lang="en-US" altLang="zh-CN" baseline="-30000" dirty="0" smtClean="0"/>
              <a:t>6</a:t>
            </a:r>
            <a:r>
              <a:rPr lang="en-US" altLang="zh-CN" dirty="0" smtClean="0"/>
              <a:t>)}</a:t>
            </a:r>
          </a:p>
          <a:p>
            <a:pPr algn="just" eaLnBrk="1" hangingPunct="1">
              <a:lnSpc>
                <a:spcPct val="120000"/>
              </a:lnSpc>
            </a:pPr>
            <a:r>
              <a:rPr lang="en-US" altLang="zh-CN" sz="2400" i="1" dirty="0" smtClean="0"/>
              <a:t>S</a:t>
            </a:r>
            <a:r>
              <a:rPr lang="zh-CN" altLang="en-US" sz="2400" dirty="0" smtClean="0"/>
              <a:t>在</a:t>
            </a:r>
            <a:r>
              <a:rPr lang="en-US" altLang="zh-CN" sz="2400" dirty="0" smtClean="0"/>
              <a:t>(</a:t>
            </a:r>
            <a:r>
              <a:rPr lang="en-US" altLang="zh-CN" sz="2400" i="1" dirty="0" smtClean="0"/>
              <a:t>B</a:t>
            </a:r>
            <a:r>
              <a:rPr lang="zh-CN" altLang="en-US" sz="2400" dirty="0" smtClean="0"/>
              <a:t>，</a:t>
            </a:r>
            <a:r>
              <a:rPr lang="en-US" altLang="zh-CN" sz="2400" i="1" dirty="0" smtClean="0"/>
              <a:t>C</a:t>
            </a:r>
            <a:r>
              <a:rPr lang="en-US" altLang="zh-CN" sz="2400" dirty="0" smtClean="0"/>
              <a:t>)</a:t>
            </a:r>
            <a:r>
              <a:rPr lang="zh-CN" altLang="en-US" sz="2400" dirty="0" smtClean="0"/>
              <a:t>上的投影为</a:t>
            </a:r>
          </a:p>
          <a:p>
            <a:pPr algn="just" eaLnBrk="1" hangingPunct="1">
              <a:lnSpc>
                <a:spcPct val="120000"/>
              </a:lnSpc>
              <a:buFont typeface="Wingdings" panose="05000000000000000000" pitchFamily="2" charset="2"/>
              <a:buNone/>
            </a:pPr>
            <a:r>
              <a:rPr lang="zh-CN" altLang="en-US" sz="2400" i="1" dirty="0" smtClean="0"/>
              <a:t>           </a:t>
            </a:r>
            <a:r>
              <a:rPr lang="en-US" altLang="zh-CN" sz="2400" i="1" dirty="0" smtClean="0"/>
              <a:t>{(b1</a:t>
            </a:r>
            <a:r>
              <a:rPr lang="zh-CN" altLang="en-US" sz="2400" i="1" dirty="0" smtClean="0"/>
              <a:t>，</a:t>
            </a:r>
            <a:r>
              <a:rPr lang="en-US" altLang="zh-CN" sz="2400" i="1" dirty="0" smtClean="0"/>
              <a:t>c2)</a:t>
            </a:r>
            <a:r>
              <a:rPr lang="zh-CN" altLang="en-US" sz="2400" i="1" dirty="0" smtClean="0"/>
              <a:t>，</a:t>
            </a:r>
            <a:r>
              <a:rPr lang="en-US" altLang="zh-CN" sz="2400" i="1" dirty="0" smtClean="0"/>
              <a:t>(b2</a:t>
            </a:r>
            <a:r>
              <a:rPr lang="zh-CN" altLang="en-US" sz="2400" i="1" dirty="0" smtClean="0"/>
              <a:t>，</a:t>
            </a:r>
            <a:r>
              <a:rPr lang="en-US" altLang="zh-CN" sz="2400" i="1" dirty="0" smtClean="0"/>
              <a:t>c1)</a:t>
            </a:r>
            <a:r>
              <a:rPr lang="zh-CN" altLang="en-US" sz="2400" i="1" dirty="0" smtClean="0"/>
              <a:t>，</a:t>
            </a:r>
            <a:r>
              <a:rPr lang="en-US" altLang="zh-CN" sz="2400" i="1" dirty="0" smtClean="0"/>
              <a:t>(b2</a:t>
            </a:r>
            <a:r>
              <a:rPr lang="zh-CN" altLang="en-US" sz="2400" i="1" dirty="0" smtClean="0"/>
              <a:t>，</a:t>
            </a:r>
            <a:r>
              <a:rPr lang="en-US" altLang="zh-CN" sz="2400" i="1" dirty="0" smtClean="0"/>
              <a:t>c3) }</a:t>
            </a:r>
            <a:endParaRPr lang="en-US" altLang="zh-CN" sz="2400" dirty="0" smtClean="0"/>
          </a:p>
          <a:p>
            <a:pPr eaLnBrk="1" hangingPunct="1">
              <a:lnSpc>
                <a:spcPct val="120000"/>
              </a:lnSpc>
            </a:pPr>
            <a:r>
              <a:rPr lang="zh-CN" altLang="en-US" sz="2400" dirty="0" smtClean="0"/>
              <a:t>只有</a:t>
            </a:r>
            <a:r>
              <a:rPr lang="en-US" altLang="zh-CN" sz="2400" i="1" dirty="0" smtClean="0"/>
              <a:t>a</a:t>
            </a:r>
            <a:r>
              <a:rPr lang="en-US" altLang="zh-CN" sz="2400" baseline="-30000" dirty="0" smtClean="0"/>
              <a:t>1</a:t>
            </a:r>
            <a:r>
              <a:rPr lang="zh-CN" altLang="en-US" sz="2400" dirty="0" smtClean="0"/>
              <a:t>的象集包含了</a:t>
            </a:r>
            <a:r>
              <a:rPr lang="en-US" altLang="zh-CN" sz="2400" i="1" dirty="0" smtClean="0"/>
              <a:t>S</a:t>
            </a:r>
            <a:r>
              <a:rPr lang="zh-CN" altLang="en-US" sz="2400" dirty="0" smtClean="0"/>
              <a:t>在</a:t>
            </a:r>
            <a:r>
              <a:rPr lang="en-US" altLang="zh-CN" sz="2400" dirty="0" smtClean="0"/>
              <a:t>(</a:t>
            </a:r>
            <a:r>
              <a:rPr lang="en-US" altLang="zh-CN" sz="2400" i="1" dirty="0" smtClean="0"/>
              <a:t>B</a:t>
            </a:r>
            <a:r>
              <a:rPr lang="zh-CN" altLang="en-US" sz="2400" dirty="0" smtClean="0"/>
              <a:t>，</a:t>
            </a:r>
            <a:r>
              <a:rPr lang="en-US" altLang="zh-CN" sz="2400" i="1" dirty="0" smtClean="0"/>
              <a:t>C</a:t>
            </a:r>
            <a:r>
              <a:rPr lang="en-US" altLang="zh-CN" sz="2400" dirty="0" smtClean="0"/>
              <a:t>)</a:t>
            </a:r>
            <a:r>
              <a:rPr lang="zh-CN" altLang="en-US" sz="2400" dirty="0" smtClean="0"/>
              <a:t>属性组上的投影</a:t>
            </a:r>
          </a:p>
          <a:p>
            <a:pPr eaLnBrk="1" hangingPunct="1">
              <a:lnSpc>
                <a:spcPct val="120000"/>
              </a:lnSpc>
              <a:buFont typeface="Wingdings" panose="05000000000000000000" pitchFamily="2" charset="2"/>
              <a:buNone/>
            </a:pPr>
            <a:r>
              <a:rPr lang="zh-CN" altLang="en-US" sz="2400" dirty="0" smtClean="0"/>
              <a:t>     所以     </a:t>
            </a:r>
            <a:r>
              <a:rPr lang="en-US" altLang="zh-CN" sz="2400" i="1" dirty="0" smtClean="0"/>
              <a:t>R</a:t>
            </a:r>
            <a:r>
              <a:rPr lang="en-US" altLang="zh-CN" sz="2400" dirty="0" smtClean="0"/>
              <a:t>÷</a:t>
            </a:r>
            <a:r>
              <a:rPr lang="en-US" altLang="zh-CN" sz="2400" i="1" dirty="0" smtClean="0"/>
              <a:t>S</a:t>
            </a:r>
            <a:r>
              <a:rPr lang="en-US" altLang="zh-CN" sz="2400" dirty="0" smtClean="0"/>
              <a:t> ={</a:t>
            </a:r>
            <a:r>
              <a:rPr lang="en-US" altLang="zh-CN" sz="2400" i="1" dirty="0" smtClean="0"/>
              <a:t>a</a:t>
            </a:r>
            <a:r>
              <a:rPr lang="en-US" altLang="zh-CN" sz="2400" baseline="-30000" dirty="0" smtClean="0"/>
              <a:t>1</a:t>
            </a:r>
            <a:r>
              <a:rPr lang="en-US" altLang="zh-CN" sz="2400" dirty="0" smtClean="0"/>
              <a:t>} </a:t>
            </a:r>
          </a:p>
        </p:txBody>
      </p:sp>
    </p:spTree>
    <p:extLst>
      <p:ext uri="{BB962C8B-B14F-4D97-AF65-F5344CB8AC3E}">
        <p14:creationId xmlns:p14="http://schemas.microsoft.com/office/powerpoint/2010/main" val="17297560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9"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endParaRPr lang="zh-CN" altLang="zh-CN" sz="1800">
              <a:latin typeface="Comic Sans MS" panose="030F0702030302020204" pitchFamily="66" charset="0"/>
              <a:ea typeface="宋体" panose="02010600030101010101" pitchFamily="2" charset="-122"/>
            </a:endParaRPr>
          </a:p>
        </p:txBody>
      </p:sp>
      <p:sp>
        <p:nvSpPr>
          <p:cNvPr id="5130"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endParaRPr lang="zh-CN" altLang="zh-CN" sz="1800">
              <a:latin typeface="Comic Sans MS" panose="030F0702030302020204" pitchFamily="66" charset="0"/>
              <a:ea typeface="宋体" panose="02010600030101010101" pitchFamily="2" charset="-122"/>
            </a:endParaRPr>
          </a:p>
        </p:txBody>
      </p:sp>
      <p:graphicFrame>
        <p:nvGraphicFramePr>
          <p:cNvPr id="5122" name="Object 2">
            <a:hlinkClick r:id="" action="ppaction://ole?verb=0"/>
          </p:cNvPr>
          <p:cNvGraphicFramePr>
            <a:graphicFrameLocks/>
          </p:cNvGraphicFramePr>
          <p:nvPr/>
        </p:nvGraphicFramePr>
        <p:xfrm>
          <a:off x="831850" y="1746250"/>
          <a:ext cx="1990725" cy="4260850"/>
        </p:xfrm>
        <a:graphic>
          <a:graphicData uri="http://schemas.openxmlformats.org/presentationml/2006/ole">
            <mc:AlternateContent xmlns:mc="http://schemas.openxmlformats.org/markup-compatibility/2006">
              <mc:Choice xmlns:v="urn:schemas-microsoft-com:vml" Requires="v">
                <p:oleObj spid="_x0000_s5225" name="Document" r:id="rId4" imgW="1990440" imgH="4260600" progId="Word.Document.8">
                  <p:embed/>
                </p:oleObj>
              </mc:Choice>
              <mc:Fallback>
                <p:oleObj name="Document" r:id="rId4" imgW="1990440" imgH="4260600" progId="Word.Document.8">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1850" y="1746250"/>
                        <a:ext cx="1990725" cy="4260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3" name="Object 3">
            <a:hlinkClick r:id="" action="ppaction://ole?verb=0"/>
          </p:cNvPr>
          <p:cNvGraphicFramePr>
            <a:graphicFrameLocks/>
          </p:cNvGraphicFramePr>
          <p:nvPr/>
        </p:nvGraphicFramePr>
        <p:xfrm>
          <a:off x="3429000" y="1747838"/>
          <a:ext cx="1165225" cy="1035050"/>
        </p:xfrm>
        <a:graphic>
          <a:graphicData uri="http://schemas.openxmlformats.org/presentationml/2006/ole">
            <mc:AlternateContent xmlns:mc="http://schemas.openxmlformats.org/markup-compatibility/2006">
              <mc:Choice xmlns:v="urn:schemas-microsoft-com:vml" Requires="v">
                <p:oleObj spid="_x0000_s5226" name="Document" r:id="rId6" imgW="1164960" imgH="1035000" progId="Word.Document.8">
                  <p:embed/>
                </p:oleObj>
              </mc:Choice>
              <mc:Fallback>
                <p:oleObj name="Document" r:id="rId6" imgW="1164960" imgH="1035000" progId="Word.Document.8">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9000" y="1747838"/>
                        <a:ext cx="1165225" cy="103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4" name="Object 4">
            <a:hlinkClick r:id="" action="ppaction://ole?verb=0"/>
          </p:cNvPr>
          <p:cNvGraphicFramePr>
            <a:graphicFrameLocks/>
          </p:cNvGraphicFramePr>
          <p:nvPr/>
        </p:nvGraphicFramePr>
        <p:xfrm>
          <a:off x="5562600" y="1747838"/>
          <a:ext cx="1327150" cy="1638300"/>
        </p:xfrm>
        <a:graphic>
          <a:graphicData uri="http://schemas.openxmlformats.org/presentationml/2006/ole">
            <mc:AlternateContent xmlns:mc="http://schemas.openxmlformats.org/markup-compatibility/2006">
              <mc:Choice xmlns:v="urn:schemas-microsoft-com:vml" Requires="v">
                <p:oleObj spid="_x0000_s5227" name="Document" r:id="rId8" imgW="1326960" imgH="1638000" progId="Word.Document.8">
                  <p:embed/>
                </p:oleObj>
              </mc:Choice>
              <mc:Fallback>
                <p:oleObj name="Document" r:id="rId8" imgW="1326960" imgH="1638000" progId="Word.Document.8">
                  <p:embed/>
                  <p:pic>
                    <p:nvPicPr>
                      <p:cNvPr id="0" name=""/>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62600" y="1747838"/>
                        <a:ext cx="1327150" cy="163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5" name="Object 5">
            <a:hlinkClick r:id="" action="ppaction://ole?verb=0"/>
          </p:cNvPr>
          <p:cNvGraphicFramePr>
            <a:graphicFrameLocks/>
          </p:cNvGraphicFramePr>
          <p:nvPr/>
        </p:nvGraphicFramePr>
        <p:xfrm>
          <a:off x="7624763" y="1747838"/>
          <a:ext cx="1327150" cy="2087562"/>
        </p:xfrm>
        <a:graphic>
          <a:graphicData uri="http://schemas.openxmlformats.org/presentationml/2006/ole">
            <mc:AlternateContent xmlns:mc="http://schemas.openxmlformats.org/markup-compatibility/2006">
              <mc:Choice xmlns:v="urn:schemas-microsoft-com:vml" Requires="v">
                <p:oleObj spid="_x0000_s5228" name="Document" r:id="rId10" imgW="1326960" imgH="2087280" progId="Word.Document.8">
                  <p:embed/>
                </p:oleObj>
              </mc:Choice>
              <mc:Fallback>
                <p:oleObj name="Document" r:id="rId10" imgW="1326960" imgH="2087280" progId="Word.Document.8">
                  <p:embed/>
                  <p:pic>
                    <p:nvPicPr>
                      <p:cNvPr id="0" name=""/>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24763" y="1747838"/>
                        <a:ext cx="1327150" cy="2087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6" name="Object 6">
            <a:hlinkClick r:id="" action="ppaction://ole?verb=0"/>
          </p:cNvPr>
          <p:cNvGraphicFramePr>
            <a:graphicFrameLocks/>
          </p:cNvGraphicFramePr>
          <p:nvPr/>
        </p:nvGraphicFramePr>
        <p:xfrm>
          <a:off x="3433763" y="3729038"/>
          <a:ext cx="1327150" cy="2251075"/>
        </p:xfrm>
        <a:graphic>
          <a:graphicData uri="http://schemas.openxmlformats.org/presentationml/2006/ole">
            <mc:AlternateContent xmlns:mc="http://schemas.openxmlformats.org/markup-compatibility/2006">
              <mc:Choice xmlns:v="urn:schemas-microsoft-com:vml" Requires="v">
                <p:oleObj spid="_x0000_s5229" name="Document" r:id="rId12" imgW="1326960" imgH="2250720" progId="Word.Document.8">
                  <p:embed/>
                </p:oleObj>
              </mc:Choice>
              <mc:Fallback>
                <p:oleObj name="Document" r:id="rId12" imgW="1326960" imgH="2250720" progId="Word.Document.8">
                  <p:embed/>
                  <p:pic>
                    <p:nvPicPr>
                      <p:cNvPr id="0" name=""/>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33763" y="3729038"/>
                        <a:ext cx="1327150" cy="225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7" name="Object 7">
            <a:hlinkClick r:id="" action="ppaction://ole?verb=0"/>
          </p:cNvPr>
          <p:cNvGraphicFramePr>
            <a:graphicFrameLocks/>
          </p:cNvGraphicFramePr>
          <p:nvPr/>
        </p:nvGraphicFramePr>
        <p:xfrm>
          <a:off x="5562600" y="4491038"/>
          <a:ext cx="1327150" cy="1439862"/>
        </p:xfrm>
        <a:graphic>
          <a:graphicData uri="http://schemas.openxmlformats.org/presentationml/2006/ole">
            <mc:AlternateContent xmlns:mc="http://schemas.openxmlformats.org/markup-compatibility/2006">
              <mc:Choice xmlns:v="urn:schemas-microsoft-com:vml" Requires="v">
                <p:oleObj spid="_x0000_s5230" name="Document" r:id="rId14" imgW="1326960" imgH="1439640" progId="Word.Document.8">
                  <p:embed/>
                </p:oleObj>
              </mc:Choice>
              <mc:Fallback>
                <p:oleObj name="Document" r:id="rId14" imgW="1326960" imgH="1439640" progId="Word.Document.8">
                  <p:embed/>
                  <p:pic>
                    <p:nvPicPr>
                      <p:cNvPr id="0" name=""/>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562600" y="4491038"/>
                        <a:ext cx="1327150" cy="1439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8" name="Object 8">
            <a:hlinkClick r:id="" action="ppaction://ole?verb=0"/>
          </p:cNvPr>
          <p:cNvGraphicFramePr>
            <a:graphicFrameLocks/>
          </p:cNvGraphicFramePr>
          <p:nvPr/>
        </p:nvGraphicFramePr>
        <p:xfrm>
          <a:off x="7700963" y="4876800"/>
          <a:ext cx="1327150" cy="1320800"/>
        </p:xfrm>
        <a:graphic>
          <a:graphicData uri="http://schemas.openxmlformats.org/presentationml/2006/ole">
            <mc:AlternateContent xmlns:mc="http://schemas.openxmlformats.org/markup-compatibility/2006">
              <mc:Choice xmlns:v="urn:schemas-microsoft-com:vml" Requires="v">
                <p:oleObj spid="_x0000_s5231" name="Document" r:id="rId16" imgW="1326960" imgH="1320480" progId="Word.Document.8">
                  <p:embed/>
                </p:oleObj>
              </mc:Choice>
              <mc:Fallback>
                <p:oleObj name="Document" r:id="rId16" imgW="1326960" imgH="1320480" progId="Word.Document.8">
                  <p:embed/>
                  <p:pic>
                    <p:nvPicPr>
                      <p:cNvPr id="0" name=""/>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700963" y="4876800"/>
                        <a:ext cx="1327150" cy="132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32" name="Rectangle 12"/>
          <p:cNvSpPr>
            <a:spLocks noChangeArrowheads="1"/>
          </p:cNvSpPr>
          <p:nvPr/>
        </p:nvSpPr>
        <p:spPr bwMode="auto">
          <a:xfrm>
            <a:off x="1435100" y="5838825"/>
            <a:ext cx="47466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zh-CN" sz="3200" i="1">
                <a:latin typeface="Book Antiqua" panose="02040602050305030304" pitchFamily="18" charset="0"/>
                <a:ea typeface="宋体" panose="02010600030101010101" pitchFamily="2" charset="-122"/>
              </a:rPr>
              <a:t>A</a:t>
            </a:r>
          </a:p>
        </p:txBody>
      </p:sp>
      <p:sp>
        <p:nvSpPr>
          <p:cNvPr id="5133" name="Rectangle 13"/>
          <p:cNvSpPr>
            <a:spLocks noChangeArrowheads="1"/>
          </p:cNvSpPr>
          <p:nvPr/>
        </p:nvSpPr>
        <p:spPr bwMode="auto">
          <a:xfrm>
            <a:off x="3568700" y="2640013"/>
            <a:ext cx="6318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zh-CN" sz="3200" i="1">
                <a:latin typeface="Book Antiqua" panose="02040602050305030304" pitchFamily="18" charset="0"/>
                <a:ea typeface="宋体" panose="02010600030101010101" pitchFamily="2" charset="-122"/>
              </a:rPr>
              <a:t>B1</a:t>
            </a:r>
          </a:p>
        </p:txBody>
      </p:sp>
      <p:sp>
        <p:nvSpPr>
          <p:cNvPr id="5134" name="Rectangle 14"/>
          <p:cNvSpPr>
            <a:spLocks noChangeArrowheads="1"/>
          </p:cNvSpPr>
          <p:nvPr/>
        </p:nvSpPr>
        <p:spPr bwMode="auto">
          <a:xfrm>
            <a:off x="5700713" y="3021013"/>
            <a:ext cx="6318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zh-CN" sz="3200" i="1">
                <a:latin typeface="Book Antiqua" panose="02040602050305030304" pitchFamily="18" charset="0"/>
                <a:ea typeface="宋体" panose="02010600030101010101" pitchFamily="2" charset="-122"/>
              </a:rPr>
              <a:t>B2</a:t>
            </a:r>
          </a:p>
        </p:txBody>
      </p:sp>
      <p:sp>
        <p:nvSpPr>
          <p:cNvPr id="5135" name="Rectangle 15"/>
          <p:cNvSpPr>
            <a:spLocks noChangeArrowheads="1"/>
          </p:cNvSpPr>
          <p:nvPr/>
        </p:nvSpPr>
        <p:spPr bwMode="auto">
          <a:xfrm>
            <a:off x="7758113" y="3476625"/>
            <a:ext cx="6318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zh-CN" sz="3200" i="1">
                <a:latin typeface="Book Antiqua" panose="02040602050305030304" pitchFamily="18" charset="0"/>
                <a:ea typeface="宋体" panose="02010600030101010101" pitchFamily="2" charset="-122"/>
              </a:rPr>
              <a:t>B3</a:t>
            </a:r>
          </a:p>
        </p:txBody>
      </p:sp>
      <p:sp>
        <p:nvSpPr>
          <p:cNvPr id="5136" name="Rectangle 16"/>
          <p:cNvSpPr>
            <a:spLocks noChangeArrowheads="1"/>
          </p:cNvSpPr>
          <p:nvPr/>
        </p:nvSpPr>
        <p:spPr bwMode="auto">
          <a:xfrm>
            <a:off x="3340100" y="5762625"/>
            <a:ext cx="104616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zh-CN" sz="3200" i="1">
                <a:latin typeface="Book Antiqua" panose="02040602050305030304" pitchFamily="18" charset="0"/>
                <a:ea typeface="宋体" panose="02010600030101010101" pitchFamily="2" charset="-122"/>
              </a:rPr>
              <a:t>A/B1</a:t>
            </a:r>
          </a:p>
        </p:txBody>
      </p:sp>
      <p:sp>
        <p:nvSpPr>
          <p:cNvPr id="5137" name="Rectangle 17"/>
          <p:cNvSpPr>
            <a:spLocks noChangeArrowheads="1"/>
          </p:cNvSpPr>
          <p:nvPr/>
        </p:nvSpPr>
        <p:spPr bwMode="auto">
          <a:xfrm>
            <a:off x="5472113" y="5762625"/>
            <a:ext cx="1046162"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zh-CN" sz="3200" i="1">
                <a:latin typeface="Book Antiqua" panose="02040602050305030304" pitchFamily="18" charset="0"/>
                <a:ea typeface="宋体" panose="02010600030101010101" pitchFamily="2" charset="-122"/>
              </a:rPr>
              <a:t>A/B2</a:t>
            </a:r>
          </a:p>
        </p:txBody>
      </p:sp>
      <p:sp>
        <p:nvSpPr>
          <p:cNvPr id="5138" name="Rectangle 18"/>
          <p:cNvSpPr>
            <a:spLocks noChangeArrowheads="1"/>
          </p:cNvSpPr>
          <p:nvPr/>
        </p:nvSpPr>
        <p:spPr bwMode="auto">
          <a:xfrm>
            <a:off x="7605713" y="5762625"/>
            <a:ext cx="1046162"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zh-CN" sz="3200" i="1">
                <a:latin typeface="Book Antiqua" panose="02040602050305030304" pitchFamily="18" charset="0"/>
                <a:ea typeface="宋体" panose="02010600030101010101" pitchFamily="2" charset="-122"/>
              </a:rPr>
              <a:t>A/B3</a:t>
            </a:r>
          </a:p>
        </p:txBody>
      </p:sp>
      <p:sp>
        <p:nvSpPr>
          <p:cNvPr id="19" name="Rectangle 2"/>
          <p:cNvSpPr txBox="1">
            <a:spLocks noChangeArrowheads="1"/>
          </p:cNvSpPr>
          <p:nvPr/>
        </p:nvSpPr>
        <p:spPr>
          <a:xfrm>
            <a:off x="723900" y="329514"/>
            <a:ext cx="7886700" cy="996049"/>
          </a:xfrm>
          <a:prstGeom prst="rect">
            <a:avLst/>
          </a:prstGeom>
        </p:spPr>
        <p:txBody>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zh-CN" altLang="en-US" sz="3600" smtClean="0"/>
              <a:t>除运算（续）</a:t>
            </a:r>
            <a:endParaRPr lang="en-US" altLang="zh-CN" sz="3600" dirty="0" smtClean="0"/>
          </a:p>
        </p:txBody>
      </p:sp>
    </p:spTree>
    <p:extLst>
      <p:ext uri="{BB962C8B-B14F-4D97-AF65-F5344CB8AC3E}">
        <p14:creationId xmlns:p14="http://schemas.microsoft.com/office/powerpoint/2010/main" val="3045430884"/>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6"/>
                                        </p:tgtEl>
                                        <p:attrNameLst>
                                          <p:attrName>style.visibility</p:attrName>
                                        </p:attrNameLst>
                                      </p:cBhvr>
                                      <p:to>
                                        <p:strVal val="visible"/>
                                      </p:to>
                                    </p:set>
                                    <p:anim calcmode="lin" valueType="num">
                                      <p:cBhvr additive="base">
                                        <p:cTn id="7" dur="500" fill="hold"/>
                                        <p:tgtEl>
                                          <p:spTgt spid="5126"/>
                                        </p:tgtEl>
                                        <p:attrNameLst>
                                          <p:attrName>ppt_x</p:attrName>
                                        </p:attrNameLst>
                                      </p:cBhvr>
                                      <p:tavLst>
                                        <p:tav tm="0">
                                          <p:val>
                                            <p:strVal val="#ppt_x"/>
                                          </p:val>
                                        </p:tav>
                                        <p:tav tm="100000">
                                          <p:val>
                                            <p:strVal val="#ppt_x"/>
                                          </p:val>
                                        </p:tav>
                                      </p:tavLst>
                                    </p:anim>
                                    <p:anim calcmode="lin" valueType="num">
                                      <p:cBhvr additive="base">
                                        <p:cTn id="8" dur="500" fill="hold"/>
                                        <p:tgtEl>
                                          <p:spTgt spid="512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136"/>
                                        </p:tgtEl>
                                        <p:attrNameLst>
                                          <p:attrName>style.visibility</p:attrName>
                                        </p:attrNameLst>
                                      </p:cBhvr>
                                      <p:to>
                                        <p:strVal val="visible"/>
                                      </p:to>
                                    </p:set>
                                    <p:anim calcmode="lin" valueType="num">
                                      <p:cBhvr additive="base">
                                        <p:cTn id="11" dur="500" fill="hold"/>
                                        <p:tgtEl>
                                          <p:spTgt spid="5136"/>
                                        </p:tgtEl>
                                        <p:attrNameLst>
                                          <p:attrName>ppt_x</p:attrName>
                                        </p:attrNameLst>
                                      </p:cBhvr>
                                      <p:tavLst>
                                        <p:tav tm="0">
                                          <p:val>
                                            <p:strVal val="#ppt_x"/>
                                          </p:val>
                                        </p:tav>
                                        <p:tav tm="100000">
                                          <p:val>
                                            <p:strVal val="#ppt_x"/>
                                          </p:val>
                                        </p:tav>
                                      </p:tavLst>
                                    </p:anim>
                                    <p:anim calcmode="lin" valueType="num">
                                      <p:cBhvr additive="base">
                                        <p:cTn id="12" dur="500" fill="hold"/>
                                        <p:tgtEl>
                                          <p:spTgt spid="513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5127"/>
                                        </p:tgtEl>
                                        <p:attrNameLst>
                                          <p:attrName>style.visibility</p:attrName>
                                        </p:attrNameLst>
                                      </p:cBhvr>
                                      <p:to>
                                        <p:strVal val="visible"/>
                                      </p:to>
                                    </p:set>
                                    <p:animEffect transition="in" filter="fade">
                                      <p:cBhvr>
                                        <p:cTn id="17" dur="1000"/>
                                        <p:tgtEl>
                                          <p:spTgt spid="5127"/>
                                        </p:tgtEl>
                                      </p:cBhvr>
                                    </p:animEffect>
                                    <p:anim calcmode="lin" valueType="num">
                                      <p:cBhvr>
                                        <p:cTn id="18" dur="1000" fill="hold"/>
                                        <p:tgtEl>
                                          <p:spTgt spid="5127"/>
                                        </p:tgtEl>
                                        <p:attrNameLst>
                                          <p:attrName>ppt_x</p:attrName>
                                        </p:attrNameLst>
                                      </p:cBhvr>
                                      <p:tavLst>
                                        <p:tav tm="0">
                                          <p:val>
                                            <p:strVal val="#ppt_x"/>
                                          </p:val>
                                        </p:tav>
                                        <p:tav tm="100000">
                                          <p:val>
                                            <p:strVal val="#ppt_x"/>
                                          </p:val>
                                        </p:tav>
                                      </p:tavLst>
                                    </p:anim>
                                    <p:anim calcmode="lin" valueType="num">
                                      <p:cBhvr>
                                        <p:cTn id="19" dur="1000" fill="hold"/>
                                        <p:tgtEl>
                                          <p:spTgt spid="512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137"/>
                                        </p:tgtEl>
                                        <p:attrNameLst>
                                          <p:attrName>style.visibility</p:attrName>
                                        </p:attrNameLst>
                                      </p:cBhvr>
                                      <p:to>
                                        <p:strVal val="visible"/>
                                      </p:to>
                                    </p:set>
                                    <p:animEffect transition="in" filter="fade">
                                      <p:cBhvr>
                                        <p:cTn id="22" dur="1000"/>
                                        <p:tgtEl>
                                          <p:spTgt spid="5137"/>
                                        </p:tgtEl>
                                      </p:cBhvr>
                                    </p:animEffect>
                                    <p:anim calcmode="lin" valueType="num">
                                      <p:cBhvr>
                                        <p:cTn id="23" dur="1000" fill="hold"/>
                                        <p:tgtEl>
                                          <p:spTgt spid="5137"/>
                                        </p:tgtEl>
                                        <p:attrNameLst>
                                          <p:attrName>ppt_x</p:attrName>
                                        </p:attrNameLst>
                                      </p:cBhvr>
                                      <p:tavLst>
                                        <p:tav tm="0">
                                          <p:val>
                                            <p:strVal val="#ppt_x"/>
                                          </p:val>
                                        </p:tav>
                                        <p:tav tm="100000">
                                          <p:val>
                                            <p:strVal val="#ppt_x"/>
                                          </p:val>
                                        </p:tav>
                                      </p:tavLst>
                                    </p:anim>
                                    <p:anim calcmode="lin" valueType="num">
                                      <p:cBhvr>
                                        <p:cTn id="24" dur="1000" fill="hold"/>
                                        <p:tgtEl>
                                          <p:spTgt spid="5137"/>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5128"/>
                                        </p:tgtEl>
                                        <p:attrNameLst>
                                          <p:attrName>style.visibility</p:attrName>
                                        </p:attrNameLst>
                                      </p:cBhvr>
                                      <p:to>
                                        <p:strVal val="visible"/>
                                      </p:to>
                                    </p:set>
                                    <p:anim calcmode="lin" valueType="num">
                                      <p:cBhvr additive="base">
                                        <p:cTn id="29" dur="500" fill="hold"/>
                                        <p:tgtEl>
                                          <p:spTgt spid="5128"/>
                                        </p:tgtEl>
                                        <p:attrNameLst>
                                          <p:attrName>ppt_x</p:attrName>
                                        </p:attrNameLst>
                                      </p:cBhvr>
                                      <p:tavLst>
                                        <p:tav tm="0">
                                          <p:val>
                                            <p:strVal val="#ppt_x"/>
                                          </p:val>
                                        </p:tav>
                                        <p:tav tm="100000">
                                          <p:val>
                                            <p:strVal val="#ppt_x"/>
                                          </p:val>
                                        </p:tav>
                                      </p:tavLst>
                                    </p:anim>
                                    <p:anim calcmode="lin" valueType="num">
                                      <p:cBhvr additive="base">
                                        <p:cTn id="30" dur="500" fill="hold"/>
                                        <p:tgtEl>
                                          <p:spTgt spid="512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5138"/>
                                        </p:tgtEl>
                                        <p:attrNameLst>
                                          <p:attrName>style.visibility</p:attrName>
                                        </p:attrNameLst>
                                      </p:cBhvr>
                                      <p:to>
                                        <p:strVal val="visible"/>
                                      </p:to>
                                    </p:set>
                                    <p:anim calcmode="lin" valueType="num">
                                      <p:cBhvr additive="base">
                                        <p:cTn id="33" dur="500" fill="hold"/>
                                        <p:tgtEl>
                                          <p:spTgt spid="5138"/>
                                        </p:tgtEl>
                                        <p:attrNameLst>
                                          <p:attrName>ppt_x</p:attrName>
                                        </p:attrNameLst>
                                      </p:cBhvr>
                                      <p:tavLst>
                                        <p:tav tm="0">
                                          <p:val>
                                            <p:strVal val="#ppt_x"/>
                                          </p:val>
                                        </p:tav>
                                        <p:tav tm="100000">
                                          <p:val>
                                            <p:strVal val="#ppt_x"/>
                                          </p:val>
                                        </p:tav>
                                      </p:tavLst>
                                    </p:anim>
                                    <p:anim calcmode="lin" valueType="num">
                                      <p:cBhvr additive="base">
                                        <p:cTn id="34" dur="500" fill="hold"/>
                                        <p:tgtEl>
                                          <p:spTgt spid="51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6" grpId="0"/>
      <p:bldP spid="5137" grpId="0"/>
      <p:bldP spid="5138"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eaLnBrk="1" hangingPunct="1"/>
            <a:r>
              <a:rPr lang="zh-CN" altLang="en-US" sz="3600" smtClean="0"/>
              <a:t>综合举例</a:t>
            </a:r>
          </a:p>
        </p:txBody>
      </p:sp>
      <p:sp>
        <p:nvSpPr>
          <p:cNvPr id="111619" name="Rectangle 3"/>
          <p:cNvSpPr>
            <a:spLocks noGrp="1" noChangeArrowheads="1"/>
          </p:cNvSpPr>
          <p:nvPr>
            <p:ph type="body" idx="1"/>
          </p:nvPr>
        </p:nvSpPr>
        <p:spPr>
          <a:xfrm>
            <a:off x="381000" y="1323976"/>
            <a:ext cx="8229600" cy="5095875"/>
          </a:xfrm>
        </p:spPr>
        <p:txBody>
          <a:bodyPr/>
          <a:lstStyle/>
          <a:p>
            <a:pPr algn="just" eaLnBrk="1" hangingPunct="1">
              <a:buFont typeface="Wingdings" panose="05000000000000000000" pitchFamily="2" charset="2"/>
              <a:buNone/>
            </a:pPr>
            <a:r>
              <a:rPr lang="zh-CN" altLang="en-US" sz="2400" dirty="0" smtClean="0"/>
              <a:t>以学生</a:t>
            </a:r>
            <a:r>
              <a:rPr lang="en-US" altLang="zh-CN" sz="2400" dirty="0" smtClean="0"/>
              <a:t>-</a:t>
            </a:r>
            <a:r>
              <a:rPr lang="zh-CN" altLang="en-US" sz="2400" dirty="0" smtClean="0"/>
              <a:t>课程数据库为例 </a:t>
            </a:r>
            <a:endParaRPr lang="en-US" altLang="zh-CN" sz="2400" dirty="0" smtClean="0"/>
          </a:p>
          <a:p>
            <a:pPr algn="just" eaLnBrk="1" hangingPunct="1">
              <a:buFont typeface="Wingdings" panose="05000000000000000000" pitchFamily="2" charset="2"/>
              <a:buNone/>
            </a:pPr>
            <a:r>
              <a:rPr lang="en-US" altLang="zh-CN" sz="2400" dirty="0" smtClean="0"/>
              <a:t>[</a:t>
            </a:r>
            <a:r>
              <a:rPr lang="zh-CN" altLang="en-US" sz="2400" dirty="0" smtClean="0">
                <a:ea typeface="黑体" panose="02010609060101010101" pitchFamily="49" charset="-122"/>
              </a:rPr>
              <a:t>例</a:t>
            </a:r>
            <a:r>
              <a:rPr lang="en-US" altLang="zh-CN" sz="2400" dirty="0" smtClean="0">
                <a:ea typeface="黑体" panose="02010609060101010101" pitchFamily="49" charset="-122"/>
              </a:rPr>
              <a:t>2.10</a:t>
            </a:r>
            <a:r>
              <a:rPr lang="en-US" altLang="zh-CN" sz="2400" dirty="0" smtClean="0"/>
              <a:t>]  </a:t>
            </a:r>
            <a:r>
              <a:rPr lang="zh-CN" altLang="en-US" sz="2400" dirty="0" smtClean="0"/>
              <a:t>查询至少选修</a:t>
            </a:r>
            <a:r>
              <a:rPr lang="en-US" altLang="zh-CN" sz="2400" dirty="0" smtClean="0"/>
              <a:t>1</a:t>
            </a:r>
            <a:r>
              <a:rPr lang="zh-CN" altLang="en-US" sz="2400" dirty="0" smtClean="0"/>
              <a:t>号课程和</a:t>
            </a:r>
            <a:r>
              <a:rPr lang="en-US" altLang="zh-CN" sz="2400" dirty="0" smtClean="0"/>
              <a:t>3</a:t>
            </a:r>
            <a:r>
              <a:rPr lang="zh-CN" altLang="en-US" sz="2400" dirty="0" smtClean="0"/>
              <a:t>号课程的学生号码 。</a:t>
            </a:r>
          </a:p>
          <a:p>
            <a:pPr marL="819150" lvl="1" eaLnBrk="1" hangingPunct="1">
              <a:buFont typeface="Wingdings" panose="05000000000000000000" pitchFamily="2" charset="2"/>
              <a:buNone/>
            </a:pPr>
            <a:endParaRPr lang="zh-CN" altLang="en-US" dirty="0" smtClean="0"/>
          </a:p>
          <a:p>
            <a:pPr marL="819150" lvl="1" eaLnBrk="1" hangingPunct="1">
              <a:buFont typeface="Wingdings" panose="05000000000000000000" pitchFamily="2" charset="2"/>
              <a:buNone/>
            </a:pPr>
            <a:r>
              <a:rPr lang="zh-CN" altLang="en-US" dirty="0" smtClean="0"/>
              <a:t>首先建立一个临时关系</a:t>
            </a:r>
            <a:r>
              <a:rPr lang="en-US" altLang="zh-CN" i="1" dirty="0" smtClean="0"/>
              <a:t>K</a:t>
            </a:r>
            <a:r>
              <a:rPr lang="zh-CN" altLang="en-US" dirty="0" smtClean="0"/>
              <a:t>： </a:t>
            </a:r>
          </a:p>
          <a:p>
            <a:pPr marL="819150" lvl="1" eaLnBrk="1" hangingPunct="1">
              <a:buFont typeface="Wingdings" panose="05000000000000000000" pitchFamily="2" charset="2"/>
              <a:buNone/>
            </a:pPr>
            <a:r>
              <a:rPr lang="zh-CN" altLang="en-US" dirty="0" smtClean="0"/>
              <a:t> </a:t>
            </a:r>
          </a:p>
          <a:p>
            <a:pPr marL="819150" lvl="1" algn="just" eaLnBrk="1" hangingPunct="1">
              <a:buFont typeface="Wingdings" panose="05000000000000000000" pitchFamily="2" charset="2"/>
              <a:buNone/>
            </a:pPr>
            <a:endParaRPr lang="zh-CN" altLang="en-US" dirty="0" smtClean="0"/>
          </a:p>
          <a:p>
            <a:pPr marL="819150" lvl="1" algn="just" eaLnBrk="1" hangingPunct="1">
              <a:buFont typeface="Wingdings" panose="05000000000000000000" pitchFamily="2" charset="2"/>
              <a:buNone/>
            </a:pPr>
            <a:endParaRPr lang="zh-CN" altLang="en-US" dirty="0" smtClean="0"/>
          </a:p>
          <a:p>
            <a:pPr marL="819150" lvl="1" algn="just" eaLnBrk="1" hangingPunct="1">
              <a:buFont typeface="Wingdings" panose="05000000000000000000" pitchFamily="2" charset="2"/>
              <a:buNone/>
            </a:pPr>
            <a:endParaRPr lang="en-US" altLang="zh-CN" dirty="0" smtClean="0"/>
          </a:p>
          <a:p>
            <a:pPr marL="819150" lvl="1" algn="just" eaLnBrk="1" hangingPunct="1">
              <a:buFont typeface="Wingdings" panose="05000000000000000000" pitchFamily="2" charset="2"/>
              <a:buNone/>
            </a:pPr>
            <a:r>
              <a:rPr lang="zh-CN" altLang="en-US" dirty="0" smtClean="0"/>
              <a:t>然后求：</a:t>
            </a:r>
            <a:r>
              <a:rPr lang="en-US" altLang="zh-CN" dirty="0" smtClean="0"/>
              <a:t>π</a:t>
            </a:r>
            <a:r>
              <a:rPr lang="en-US" altLang="zh-CN" baseline="-30000" dirty="0" err="1" smtClean="0"/>
              <a:t>Sno,Cno</a:t>
            </a:r>
            <a:r>
              <a:rPr lang="en-US" altLang="zh-CN" dirty="0" smtClean="0"/>
              <a:t>(SC)÷</a:t>
            </a:r>
            <a:r>
              <a:rPr lang="en-US" altLang="zh-CN" i="1" dirty="0" smtClean="0"/>
              <a:t>K</a:t>
            </a:r>
            <a:endParaRPr lang="en-US" altLang="zh-CN" dirty="0" smtClean="0"/>
          </a:p>
          <a:p>
            <a:pPr marL="819150" lvl="1" algn="just" eaLnBrk="1" hangingPunct="1">
              <a:buFont typeface="Wingdings" panose="05000000000000000000" pitchFamily="2" charset="2"/>
              <a:buNone/>
            </a:pPr>
            <a:endParaRPr lang="en-US" altLang="zh-CN" sz="2000" dirty="0" smtClean="0"/>
          </a:p>
          <a:p>
            <a:pPr marL="819150" lvl="1" eaLnBrk="1" hangingPunct="1">
              <a:buFont typeface="Wingdings" panose="05000000000000000000" pitchFamily="2" charset="2"/>
              <a:buNone/>
            </a:pPr>
            <a:r>
              <a:rPr lang="en-US" altLang="zh-CN" sz="2000" dirty="0" smtClean="0"/>
              <a:t>	</a:t>
            </a:r>
          </a:p>
        </p:txBody>
      </p:sp>
      <p:graphicFrame>
        <p:nvGraphicFramePr>
          <p:cNvPr id="359450" name="Group 26"/>
          <p:cNvGraphicFramePr>
            <a:graphicFrameLocks noGrp="1"/>
          </p:cNvGraphicFramePr>
          <p:nvPr>
            <p:extLst>
              <p:ext uri="{D42A27DB-BD31-4B8C-83A1-F6EECF244321}">
                <p14:modId xmlns:p14="http://schemas.microsoft.com/office/powerpoint/2010/main" val="3544414096"/>
              </p:ext>
            </p:extLst>
          </p:nvPr>
        </p:nvGraphicFramePr>
        <p:xfrm>
          <a:off x="3048454" y="3039989"/>
          <a:ext cx="1066800" cy="1280598"/>
        </p:xfrm>
        <a:graphic>
          <a:graphicData uri="http://schemas.openxmlformats.org/drawingml/2006/table">
            <a:tbl>
              <a:tblPr/>
              <a:tblGrid>
                <a:gridCol w="1066800"/>
              </a:tblGrid>
              <a:tr h="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i="0" u="none" strike="noStrike" cap="none" normalizeH="0" baseline="0" dirty="0" smtClean="0">
                          <a:ln>
                            <a:noFill/>
                          </a:ln>
                          <a:solidFill>
                            <a:schemeClr val="tx1"/>
                          </a:solidFill>
                          <a:effectLst/>
                          <a:latin typeface="Arial" pitchFamily="34" charset="0"/>
                          <a:ea typeface="宋体" pitchFamily="2" charset="-122"/>
                        </a:rPr>
                        <a:t>  </a:t>
                      </a:r>
                      <a:r>
                        <a:rPr kumimoji="0" lang="en-US" altLang="zh-CN" sz="2200" b="1" i="0" u="none" strike="noStrike" cap="none" normalizeH="0" baseline="0" dirty="0" err="1" smtClean="0">
                          <a:ln>
                            <a:noFill/>
                          </a:ln>
                          <a:solidFill>
                            <a:schemeClr val="tx1"/>
                          </a:solidFill>
                          <a:effectLst/>
                          <a:latin typeface="Arial" pitchFamily="34" charset="0"/>
                          <a:ea typeface="宋体" pitchFamily="2" charset="-122"/>
                        </a:rPr>
                        <a:t>Cno</a:t>
                      </a:r>
                      <a:endParaRPr kumimoji="0" lang="en-US" altLang="zh-CN" sz="2200" b="1" i="0" u="none" strike="noStrike" cap="none" normalizeH="0" baseline="0" dirty="0" smtClean="0">
                        <a:ln>
                          <a:noFill/>
                        </a:ln>
                        <a:solidFill>
                          <a:schemeClr val="tx1"/>
                        </a:solidFill>
                        <a:effectLst/>
                        <a:latin typeface="Arial" pitchFamily="34" charset="0"/>
                        <a:ea typeface="宋体" pitchFamily="2" charset="-122"/>
                      </a:endParaRPr>
                    </a:p>
                  </a:txBody>
                  <a:tcPr marT="45741" marB="457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691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i="0" u="none" strike="noStrike" cap="none" normalizeH="0" baseline="0" dirty="0" smtClean="0">
                          <a:ln>
                            <a:noFill/>
                          </a:ln>
                          <a:solidFill>
                            <a:schemeClr val="tx1"/>
                          </a:solidFill>
                          <a:effectLst/>
                          <a:latin typeface="Arial" pitchFamily="34" charset="0"/>
                          <a:ea typeface="宋体" pitchFamily="2" charset="-122"/>
                        </a:rPr>
                        <a:t>   1</a:t>
                      </a:r>
                    </a:p>
                  </a:txBody>
                  <a:tcPr marT="45741" marB="457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691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i="0" u="none" strike="noStrike" cap="none" normalizeH="0" baseline="0" dirty="0" smtClean="0">
                          <a:ln>
                            <a:noFill/>
                          </a:ln>
                          <a:solidFill>
                            <a:schemeClr val="tx1"/>
                          </a:solidFill>
                          <a:effectLst/>
                          <a:latin typeface="Arial" pitchFamily="34" charset="0"/>
                          <a:ea typeface="宋体" pitchFamily="2" charset="-122"/>
                        </a:rPr>
                        <a:t>   3</a:t>
                      </a:r>
                    </a:p>
                  </a:txBody>
                  <a:tcPr marT="45741" marB="457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5" name="Group 384"/>
          <p:cNvGraphicFramePr>
            <a:graphicFrameLocks/>
          </p:cNvGraphicFramePr>
          <p:nvPr>
            <p:extLst>
              <p:ext uri="{D42A27DB-BD31-4B8C-83A1-F6EECF244321}">
                <p14:modId xmlns:p14="http://schemas.microsoft.com/office/powerpoint/2010/main" val="3305957792"/>
              </p:ext>
            </p:extLst>
          </p:nvPr>
        </p:nvGraphicFramePr>
        <p:xfrm>
          <a:off x="5130750" y="2897325"/>
          <a:ext cx="3729163" cy="2317236"/>
        </p:xfrm>
        <a:graphic>
          <a:graphicData uri="http://schemas.openxmlformats.org/drawingml/2006/table">
            <a:tbl>
              <a:tblPr/>
              <a:tblGrid>
                <a:gridCol w="1907375"/>
                <a:gridCol w="874213"/>
                <a:gridCol w="947575"/>
              </a:tblGrid>
              <a:tr h="605392">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学号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Sno</a:t>
                      </a:r>
                      <a:endPar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Cno</a:t>
                      </a:r>
                      <a:endPar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成绩</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Grade</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92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85</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3</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88</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90</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3</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80</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 name="Rectangle 185"/>
          <p:cNvSpPr>
            <a:spLocks noChangeArrowheads="1"/>
          </p:cNvSpPr>
          <p:nvPr/>
        </p:nvSpPr>
        <p:spPr bwMode="auto">
          <a:xfrm>
            <a:off x="4863194" y="2530852"/>
            <a:ext cx="10795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200" b="1" dirty="0"/>
              <a:t>SC</a:t>
            </a:r>
          </a:p>
        </p:txBody>
      </p:sp>
    </p:spTree>
    <p:extLst>
      <p:ext uri="{BB962C8B-B14F-4D97-AF65-F5344CB8AC3E}">
        <p14:creationId xmlns:p14="http://schemas.microsoft.com/office/powerpoint/2010/main" val="296407746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a:xfrm>
            <a:off x="914400" y="115888"/>
            <a:ext cx="7391400" cy="563562"/>
          </a:xfrm>
        </p:spPr>
        <p:txBody>
          <a:bodyPr>
            <a:normAutofit fontScale="90000"/>
          </a:bodyPr>
          <a:lstStyle/>
          <a:p>
            <a:pPr eaLnBrk="1" hangingPunct="1"/>
            <a:r>
              <a:rPr lang="zh-CN" altLang="en-US" sz="3600" smtClean="0"/>
              <a:t>综合举例（续）</a:t>
            </a:r>
            <a:endParaRPr lang="en-US" altLang="zh-CN" sz="3600" smtClean="0"/>
          </a:p>
        </p:txBody>
      </p:sp>
      <p:sp>
        <p:nvSpPr>
          <p:cNvPr id="112643" name="Rectangle 3"/>
          <p:cNvSpPr>
            <a:spLocks noGrp="1" noChangeArrowheads="1"/>
          </p:cNvSpPr>
          <p:nvPr>
            <p:ph type="body" sz="half" idx="1"/>
          </p:nvPr>
        </p:nvSpPr>
        <p:spPr>
          <a:xfrm>
            <a:off x="323850" y="1341438"/>
            <a:ext cx="4752975" cy="4983162"/>
          </a:xfrm>
        </p:spPr>
        <p:txBody>
          <a:bodyPr/>
          <a:lstStyle/>
          <a:p>
            <a:pPr eaLnBrk="1" hangingPunct="1">
              <a:lnSpc>
                <a:spcPct val="120000"/>
              </a:lnSpc>
            </a:pPr>
            <a:r>
              <a:rPr lang="en-US" altLang="zh-CN" sz="2400" dirty="0" smtClean="0">
                <a:ea typeface="黑体" panose="02010609060101010101" pitchFamily="49" charset="-122"/>
              </a:rPr>
              <a:t>[</a:t>
            </a:r>
            <a:r>
              <a:rPr lang="zh-CN" altLang="en-US" sz="2400" dirty="0" smtClean="0">
                <a:ea typeface="黑体" panose="02010609060101010101" pitchFamily="49" charset="-122"/>
              </a:rPr>
              <a:t>例</a:t>
            </a:r>
            <a:r>
              <a:rPr lang="en-US" altLang="zh-CN" sz="2400" dirty="0" smtClean="0">
                <a:ea typeface="黑体" panose="02010609060101010101" pitchFamily="49" charset="-122"/>
              </a:rPr>
              <a:t>2.10]</a:t>
            </a:r>
            <a:r>
              <a:rPr lang="zh-CN" altLang="en-US" sz="2400" dirty="0" smtClean="0"/>
              <a:t>续</a:t>
            </a:r>
            <a:endParaRPr lang="en-US" altLang="zh-CN" sz="2400" dirty="0" smtClean="0"/>
          </a:p>
          <a:p>
            <a:pPr eaLnBrk="1" hangingPunct="1">
              <a:lnSpc>
                <a:spcPct val="120000"/>
              </a:lnSpc>
              <a:buFont typeface="Wingdings" panose="05000000000000000000" pitchFamily="2" charset="2"/>
              <a:buNone/>
            </a:pPr>
            <a:r>
              <a:rPr lang="zh-CN" altLang="en-US" sz="2400" dirty="0" smtClean="0"/>
              <a:t>    </a:t>
            </a:r>
            <a:endParaRPr lang="en-US" altLang="zh-CN" sz="2400" dirty="0" smtClean="0"/>
          </a:p>
          <a:p>
            <a:pPr eaLnBrk="1" hangingPunct="1">
              <a:lnSpc>
                <a:spcPct val="120000"/>
              </a:lnSpc>
              <a:buFont typeface="Wingdings" panose="05000000000000000000" pitchFamily="2" charset="2"/>
              <a:buNone/>
            </a:pPr>
            <a:r>
              <a:rPr lang="en-US" altLang="zh-CN" sz="2400" dirty="0" smtClean="0"/>
              <a:t>	201215121</a:t>
            </a:r>
            <a:r>
              <a:rPr lang="zh-CN" altLang="en-US" sz="2400" dirty="0" smtClean="0"/>
              <a:t>象集</a:t>
            </a:r>
            <a:r>
              <a:rPr lang="en-US" altLang="zh-CN" sz="2400" dirty="0" smtClean="0"/>
              <a:t>{1</a:t>
            </a:r>
            <a:r>
              <a:rPr lang="zh-CN" altLang="en-US" sz="2400" dirty="0" smtClean="0"/>
              <a:t>，</a:t>
            </a:r>
            <a:r>
              <a:rPr lang="en-US" altLang="zh-CN" sz="2400" dirty="0" smtClean="0"/>
              <a:t>2</a:t>
            </a:r>
            <a:r>
              <a:rPr lang="zh-CN" altLang="en-US" sz="2400" dirty="0" smtClean="0"/>
              <a:t>，</a:t>
            </a:r>
            <a:r>
              <a:rPr lang="en-US" altLang="zh-CN" sz="2400" dirty="0" smtClean="0"/>
              <a:t>3}</a:t>
            </a:r>
          </a:p>
          <a:p>
            <a:pPr eaLnBrk="1" hangingPunct="1">
              <a:lnSpc>
                <a:spcPct val="120000"/>
              </a:lnSpc>
              <a:buFont typeface="Wingdings" panose="05000000000000000000" pitchFamily="2" charset="2"/>
              <a:buNone/>
            </a:pPr>
            <a:r>
              <a:rPr lang="en-US" altLang="zh-CN" sz="2400" dirty="0" smtClean="0"/>
              <a:t>	201215122</a:t>
            </a:r>
            <a:r>
              <a:rPr lang="zh-CN" altLang="en-US" sz="2400" dirty="0" smtClean="0"/>
              <a:t>象集</a:t>
            </a:r>
            <a:r>
              <a:rPr lang="en-US" altLang="zh-CN" sz="2400" dirty="0" smtClean="0"/>
              <a:t>{2</a:t>
            </a:r>
            <a:r>
              <a:rPr lang="zh-CN" altLang="en-US" sz="2400" dirty="0" smtClean="0"/>
              <a:t>，</a:t>
            </a:r>
            <a:r>
              <a:rPr lang="en-US" altLang="zh-CN" sz="2400" dirty="0" smtClean="0"/>
              <a:t>3}</a:t>
            </a:r>
          </a:p>
          <a:p>
            <a:pPr eaLnBrk="1" hangingPunct="1">
              <a:lnSpc>
                <a:spcPct val="120000"/>
              </a:lnSpc>
              <a:buFont typeface="Wingdings" panose="05000000000000000000" pitchFamily="2" charset="2"/>
              <a:buNone/>
            </a:pPr>
            <a:r>
              <a:rPr lang="en-US" altLang="zh-CN" sz="2400" dirty="0" smtClean="0"/>
              <a:t>    K={1</a:t>
            </a:r>
            <a:r>
              <a:rPr lang="zh-CN" altLang="en-US" sz="2400" dirty="0" smtClean="0"/>
              <a:t>，</a:t>
            </a:r>
            <a:r>
              <a:rPr lang="en-US" altLang="zh-CN" sz="2400" dirty="0" smtClean="0"/>
              <a:t>3}</a:t>
            </a:r>
          </a:p>
          <a:p>
            <a:pPr eaLnBrk="1" hangingPunct="1">
              <a:lnSpc>
                <a:spcPct val="120000"/>
              </a:lnSpc>
              <a:buFont typeface="Wingdings" panose="05000000000000000000" pitchFamily="2" charset="2"/>
              <a:buNone/>
            </a:pPr>
            <a:r>
              <a:rPr lang="en-US" altLang="zh-CN" sz="2400" dirty="0" smtClean="0"/>
              <a:t>   </a:t>
            </a:r>
            <a:r>
              <a:rPr lang="zh-CN" altLang="en-US" sz="2400" dirty="0" smtClean="0"/>
              <a:t>于是：</a:t>
            </a:r>
            <a:r>
              <a:rPr lang="en-US" altLang="zh-CN" sz="2400" dirty="0" smtClean="0"/>
              <a:t>π</a:t>
            </a:r>
            <a:r>
              <a:rPr lang="en-US" altLang="zh-CN" sz="2400" baseline="-30000" dirty="0" err="1" smtClean="0"/>
              <a:t>Sno,Cno</a:t>
            </a:r>
            <a:r>
              <a:rPr lang="en-US" altLang="zh-CN" sz="2400" dirty="0" smtClean="0"/>
              <a:t>(SC)÷</a:t>
            </a:r>
            <a:r>
              <a:rPr lang="en-US" altLang="zh-CN" sz="2400" i="1" dirty="0" smtClean="0"/>
              <a:t>K=</a:t>
            </a:r>
            <a:r>
              <a:rPr lang="en-US" altLang="zh-CN" sz="2400" dirty="0" smtClean="0"/>
              <a:t>{201215121}</a:t>
            </a:r>
          </a:p>
        </p:txBody>
      </p:sp>
      <p:graphicFrame>
        <p:nvGraphicFramePr>
          <p:cNvPr id="469172" name="Group 180"/>
          <p:cNvGraphicFramePr>
            <a:graphicFrameLocks noGrp="1"/>
          </p:cNvGraphicFramePr>
          <p:nvPr>
            <p:ph sz="half" idx="2"/>
            <p:extLst>
              <p:ext uri="{D42A27DB-BD31-4B8C-83A1-F6EECF244321}">
                <p14:modId xmlns:p14="http://schemas.microsoft.com/office/powerpoint/2010/main" val="2007858364"/>
              </p:ext>
            </p:extLst>
          </p:nvPr>
        </p:nvGraphicFramePr>
        <p:xfrm>
          <a:off x="5984743" y="1341438"/>
          <a:ext cx="2996256" cy="3205848"/>
        </p:xfrm>
        <a:graphic>
          <a:graphicData uri="http://schemas.openxmlformats.org/drawingml/2006/table">
            <a:tbl>
              <a:tblPr/>
              <a:tblGrid>
                <a:gridCol w="1909835"/>
                <a:gridCol w="1086421"/>
              </a:tblGrid>
              <a:tr h="437685">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Sno</a:t>
                      </a:r>
                      <a:endParaRPr kumimoji="0" lang="en-US" altLang="zh-CN" sz="2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Cno</a:t>
                      </a:r>
                      <a:endParaRPr kumimoji="0" lang="en-US" altLang="zh-CN" sz="2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4145">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286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4145">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3</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286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54145">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2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3</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5" name="Group 26"/>
          <p:cNvGraphicFramePr>
            <a:graphicFrameLocks noGrp="1"/>
          </p:cNvGraphicFramePr>
          <p:nvPr>
            <p:extLst>
              <p:ext uri="{D42A27DB-BD31-4B8C-83A1-F6EECF244321}">
                <p14:modId xmlns:p14="http://schemas.microsoft.com/office/powerpoint/2010/main" val="3560934142"/>
              </p:ext>
            </p:extLst>
          </p:nvPr>
        </p:nvGraphicFramePr>
        <p:xfrm>
          <a:off x="6449798" y="4952999"/>
          <a:ext cx="1066800" cy="1371601"/>
        </p:xfrm>
        <a:graphic>
          <a:graphicData uri="http://schemas.openxmlformats.org/drawingml/2006/table">
            <a:tbl>
              <a:tblPr/>
              <a:tblGrid>
                <a:gridCol w="1066800"/>
              </a:tblGrid>
              <a:tr h="51776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i="0" u="none" strike="noStrike" cap="none" normalizeH="0" baseline="0" dirty="0" smtClean="0">
                          <a:ln>
                            <a:noFill/>
                          </a:ln>
                          <a:solidFill>
                            <a:schemeClr val="tx1"/>
                          </a:solidFill>
                          <a:effectLst/>
                          <a:latin typeface="Arial" pitchFamily="34" charset="0"/>
                          <a:ea typeface="宋体" pitchFamily="2" charset="-122"/>
                        </a:rPr>
                        <a:t>  </a:t>
                      </a:r>
                      <a:r>
                        <a:rPr kumimoji="0" lang="en-US" altLang="zh-CN" sz="2200" b="1" i="0" u="none" strike="noStrike" cap="none" normalizeH="0" baseline="0" dirty="0" err="1" smtClean="0">
                          <a:ln>
                            <a:noFill/>
                          </a:ln>
                          <a:solidFill>
                            <a:schemeClr val="tx1"/>
                          </a:solidFill>
                          <a:effectLst/>
                          <a:latin typeface="Arial" pitchFamily="34" charset="0"/>
                          <a:ea typeface="宋体" pitchFamily="2" charset="-122"/>
                        </a:rPr>
                        <a:t>Cno</a:t>
                      </a:r>
                      <a:endParaRPr kumimoji="0" lang="en-US" altLang="zh-CN" sz="2200" b="1" i="0" u="none" strike="noStrike" cap="none" normalizeH="0" baseline="0" dirty="0" smtClean="0">
                        <a:ln>
                          <a:noFill/>
                        </a:ln>
                        <a:solidFill>
                          <a:schemeClr val="tx1"/>
                        </a:solidFill>
                        <a:effectLst/>
                        <a:latin typeface="Arial" pitchFamily="34" charset="0"/>
                        <a:ea typeface="宋体" pitchFamily="2" charset="-122"/>
                      </a:endParaRPr>
                    </a:p>
                  </a:txBody>
                  <a:tcPr marT="45741" marB="457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691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i="0" u="none" strike="noStrike" cap="none" normalizeH="0" baseline="0" dirty="0" smtClean="0">
                          <a:ln>
                            <a:noFill/>
                          </a:ln>
                          <a:solidFill>
                            <a:schemeClr val="tx1"/>
                          </a:solidFill>
                          <a:effectLst/>
                          <a:latin typeface="Arial" pitchFamily="34" charset="0"/>
                          <a:ea typeface="宋体" pitchFamily="2" charset="-122"/>
                        </a:rPr>
                        <a:t>   1</a:t>
                      </a:r>
                    </a:p>
                  </a:txBody>
                  <a:tcPr marT="45741" marB="457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691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i="0" u="none" strike="noStrike" cap="none" normalizeH="0" baseline="0" dirty="0" smtClean="0">
                          <a:ln>
                            <a:noFill/>
                          </a:ln>
                          <a:solidFill>
                            <a:schemeClr val="tx1"/>
                          </a:solidFill>
                          <a:effectLst/>
                          <a:latin typeface="Arial" pitchFamily="34" charset="0"/>
                          <a:ea typeface="宋体" pitchFamily="2" charset="-122"/>
                        </a:rPr>
                        <a:t>   3</a:t>
                      </a:r>
                    </a:p>
                  </a:txBody>
                  <a:tcPr marT="45741" marB="457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 name="矩形 1"/>
          <p:cNvSpPr/>
          <p:nvPr/>
        </p:nvSpPr>
        <p:spPr>
          <a:xfrm>
            <a:off x="5984743" y="5534453"/>
            <a:ext cx="304892" cy="369332"/>
          </a:xfrm>
          <a:prstGeom prst="rect">
            <a:avLst/>
          </a:prstGeom>
        </p:spPr>
        <p:txBody>
          <a:bodyPr wrap="none">
            <a:spAutoFit/>
          </a:bodyPr>
          <a:lstStyle/>
          <a:p>
            <a:r>
              <a:rPr lang="en-US" altLang="zh-CN" i="1" dirty="0"/>
              <a:t>K</a:t>
            </a:r>
            <a:endParaRPr lang="zh-CN" altLang="en-US" dirty="0"/>
          </a:p>
        </p:txBody>
      </p:sp>
      <p:sp>
        <p:nvSpPr>
          <p:cNvPr id="3" name="矩形 2"/>
          <p:cNvSpPr/>
          <p:nvPr/>
        </p:nvSpPr>
        <p:spPr>
          <a:xfrm>
            <a:off x="4781804" y="2008657"/>
            <a:ext cx="1281244" cy="369332"/>
          </a:xfrm>
          <a:prstGeom prst="rect">
            <a:avLst/>
          </a:prstGeom>
        </p:spPr>
        <p:txBody>
          <a:bodyPr wrap="square">
            <a:spAutoFit/>
          </a:bodyPr>
          <a:lstStyle/>
          <a:p>
            <a:r>
              <a:rPr lang="en-US" altLang="zh-CN" dirty="0"/>
              <a:t>π</a:t>
            </a:r>
            <a:r>
              <a:rPr lang="en-US" altLang="zh-CN" baseline="-30000" dirty="0" err="1"/>
              <a:t>Sno,Cno</a:t>
            </a:r>
            <a:r>
              <a:rPr lang="en-US" altLang="zh-CN" dirty="0"/>
              <a:t>(SC)</a:t>
            </a:r>
            <a:endParaRPr lang="zh-CN" altLang="en-US" dirty="0"/>
          </a:p>
        </p:txBody>
      </p:sp>
      <p:graphicFrame>
        <p:nvGraphicFramePr>
          <p:cNvPr id="8" name="Group 26"/>
          <p:cNvGraphicFramePr>
            <a:graphicFrameLocks noGrp="1"/>
          </p:cNvGraphicFramePr>
          <p:nvPr>
            <p:extLst>
              <p:ext uri="{D42A27DB-BD31-4B8C-83A1-F6EECF244321}">
                <p14:modId xmlns:p14="http://schemas.microsoft.com/office/powerpoint/2010/main" val="2780198948"/>
              </p:ext>
            </p:extLst>
          </p:nvPr>
        </p:nvGraphicFramePr>
        <p:xfrm>
          <a:off x="2071387" y="5000563"/>
          <a:ext cx="2006342" cy="1067780"/>
        </p:xfrm>
        <a:graphic>
          <a:graphicData uri="http://schemas.openxmlformats.org/drawingml/2006/table">
            <a:tbl>
              <a:tblPr/>
              <a:tblGrid>
                <a:gridCol w="2006342"/>
              </a:tblGrid>
              <a:tr h="39381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i="0" u="none" strike="noStrike" cap="none" normalizeH="0" baseline="0" dirty="0" smtClean="0">
                          <a:ln>
                            <a:noFill/>
                          </a:ln>
                          <a:solidFill>
                            <a:schemeClr val="tx1"/>
                          </a:solidFill>
                          <a:effectLst/>
                          <a:latin typeface="Arial" pitchFamily="34" charset="0"/>
                          <a:ea typeface="宋体" pitchFamily="2" charset="-122"/>
                        </a:rPr>
                        <a:t>  </a:t>
                      </a:r>
                      <a:r>
                        <a:rPr kumimoji="0" lang="en-US" altLang="zh-CN" sz="2200" b="1" i="0" u="none" strike="noStrike" cap="none" normalizeH="0" baseline="0" dirty="0" err="1" smtClean="0">
                          <a:ln>
                            <a:noFill/>
                          </a:ln>
                          <a:solidFill>
                            <a:schemeClr val="tx1"/>
                          </a:solidFill>
                          <a:effectLst/>
                          <a:latin typeface="Arial" pitchFamily="34" charset="0"/>
                          <a:ea typeface="宋体" pitchFamily="2" charset="-122"/>
                        </a:rPr>
                        <a:t>Sno</a:t>
                      </a:r>
                      <a:endParaRPr kumimoji="0" lang="en-US" altLang="zh-CN" sz="2200" b="1" i="0" u="none" strike="noStrike" cap="none" normalizeH="0" baseline="0" dirty="0" smtClean="0">
                        <a:ln>
                          <a:noFill/>
                        </a:ln>
                        <a:solidFill>
                          <a:schemeClr val="tx1"/>
                        </a:solidFill>
                        <a:effectLst/>
                        <a:latin typeface="Arial" pitchFamily="34" charset="0"/>
                        <a:ea typeface="宋体" pitchFamily="2" charset="-122"/>
                      </a:endParaRPr>
                    </a:p>
                  </a:txBody>
                  <a:tcPr marT="45741" marB="457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101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2200" b="1" i="0" u="none" strike="noStrike" cap="none" normalizeH="0" baseline="0" dirty="0" smtClean="0">
                          <a:ln>
                            <a:noFill/>
                          </a:ln>
                          <a:solidFill>
                            <a:schemeClr val="tx1"/>
                          </a:solidFill>
                          <a:effectLst/>
                          <a:latin typeface="Arial" pitchFamily="34" charset="0"/>
                          <a:ea typeface="宋体" pitchFamily="2" charset="-122"/>
                        </a:rPr>
                        <a:t>   </a:t>
                      </a:r>
                      <a:r>
                        <a:rPr lang="en-US" altLang="zh-CN" sz="2000" dirty="0" smtClean="0"/>
                        <a:t>201215121</a:t>
                      </a:r>
                      <a:endParaRPr kumimoji="0" lang="en-US" altLang="zh-CN" sz="2200" b="1" i="0" u="none" strike="noStrike" cap="none" normalizeH="0" baseline="0" dirty="0" smtClean="0">
                        <a:ln>
                          <a:noFill/>
                        </a:ln>
                        <a:solidFill>
                          <a:schemeClr val="tx1"/>
                        </a:solidFill>
                        <a:effectLst/>
                        <a:latin typeface="Arial" pitchFamily="34" charset="0"/>
                        <a:ea typeface="宋体" pitchFamily="2" charset="-122"/>
                      </a:endParaRPr>
                    </a:p>
                  </a:txBody>
                  <a:tcPr marT="45741" marB="4574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406479565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eaLnBrk="1" hangingPunct="1"/>
            <a:r>
              <a:rPr lang="zh-CN" altLang="en-US" sz="3600" dirty="0" smtClean="0"/>
              <a:t>综合举例（续）</a:t>
            </a:r>
            <a:endParaRPr lang="en-US" altLang="zh-CN" sz="3600" dirty="0" smtClean="0"/>
          </a:p>
        </p:txBody>
      </p:sp>
      <p:sp>
        <p:nvSpPr>
          <p:cNvPr id="18" name="Rectangle 3"/>
          <p:cNvSpPr txBox="1">
            <a:spLocks noChangeArrowheads="1"/>
          </p:cNvSpPr>
          <p:nvPr/>
        </p:nvSpPr>
        <p:spPr bwMode="auto">
          <a:xfrm>
            <a:off x="539750" y="4205288"/>
            <a:ext cx="8424863" cy="1728787"/>
          </a:xfrm>
          <a:prstGeom prst="rect">
            <a:avLst/>
          </a:prstGeom>
          <a:noFill/>
          <a:ln w="9525">
            <a:noFill/>
            <a:miter lim="800000"/>
            <a:headEnd/>
            <a:tailEnd/>
          </a:ln>
        </p:spPr>
        <p:txBody>
          <a:bodyPr/>
          <a:lstStyle/>
          <a:p>
            <a:pPr marL="342900" indent="-342900" algn="just">
              <a:lnSpc>
                <a:spcPct val="90000"/>
              </a:lnSpc>
              <a:spcBef>
                <a:spcPct val="20000"/>
              </a:spcBef>
              <a:buClr>
                <a:schemeClr val="hlink"/>
              </a:buClr>
              <a:buFont typeface="Wingdings" pitchFamily="2" charset="2"/>
              <a:buNone/>
              <a:defRPr/>
            </a:pPr>
            <a:endParaRPr lang="en-US" altLang="zh-CN" sz="2000" kern="0" dirty="0">
              <a:latin typeface="+mn-lt"/>
              <a:ea typeface="黑体" pitchFamily="49" charset="-122"/>
            </a:endParaRPr>
          </a:p>
        </p:txBody>
      </p:sp>
      <p:pic>
        <p:nvPicPr>
          <p:cNvPr id="21"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7165" r="6676" b="16857"/>
          <a:stretch/>
        </p:blipFill>
        <p:spPr bwMode="auto">
          <a:xfrm>
            <a:off x="539750" y="1325563"/>
            <a:ext cx="5971142" cy="2651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2" name="表格 21"/>
          <p:cNvGraphicFramePr>
            <a:graphicFrameLocks noGrp="1"/>
          </p:cNvGraphicFramePr>
          <p:nvPr>
            <p:extLst>
              <p:ext uri="{D42A27DB-BD31-4B8C-83A1-F6EECF244321}">
                <p14:modId xmlns:p14="http://schemas.microsoft.com/office/powerpoint/2010/main" val="3279513893"/>
              </p:ext>
            </p:extLst>
          </p:nvPr>
        </p:nvGraphicFramePr>
        <p:xfrm>
          <a:off x="539750" y="4352981"/>
          <a:ext cx="7048825" cy="1433400"/>
        </p:xfrm>
        <a:graphic>
          <a:graphicData uri="http://schemas.openxmlformats.org/drawingml/2006/table">
            <a:tbl>
              <a:tblPr/>
              <a:tblGrid>
                <a:gridCol w="2349608"/>
                <a:gridCol w="2349609"/>
                <a:gridCol w="2349608"/>
              </a:tblGrid>
              <a:tr h="2389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CNO</a:t>
                      </a:r>
                      <a:endParaRPr kumimoji="0" lang="zh-CN" altLang="zh-CN" sz="1000" b="0" i="0" u="none" strike="noStrike" cap="none" normalizeH="0" baseline="0" dirty="0" smtClean="0">
                        <a:ln>
                          <a:noFill/>
                        </a:ln>
                        <a:solidFill>
                          <a:schemeClr val="tx1"/>
                        </a:solidFill>
                        <a:effectLst/>
                        <a:latin typeface="Calibri" charset="0"/>
                        <a:ea typeface="宋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CNAME</a:t>
                      </a:r>
                      <a:endParaRPr kumimoji="0" lang="zh-CN" altLang="zh-CN" sz="1000" b="0" i="0" u="none" strike="noStrike" cap="none" normalizeH="0" baseline="0" smtClean="0">
                        <a:ln>
                          <a:noFill/>
                        </a:ln>
                        <a:solidFill>
                          <a:schemeClr val="tx1"/>
                        </a:solidFill>
                        <a:effectLst/>
                        <a:latin typeface="Calibri" charset="0"/>
                        <a:ea typeface="宋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CREDIT</a:t>
                      </a:r>
                      <a:endParaRPr kumimoji="0" lang="zh-CN" altLang="zh-CN" sz="1000" b="0" i="0" u="none" strike="noStrike" cap="none" normalizeH="0" baseline="0" smtClean="0">
                        <a:ln>
                          <a:noFill/>
                        </a:ln>
                        <a:solidFill>
                          <a:schemeClr val="tx1"/>
                        </a:solidFill>
                        <a:effectLst/>
                        <a:latin typeface="Calibri" charset="0"/>
                        <a:ea typeface="宋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9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001</a:t>
                      </a:r>
                      <a:endParaRPr kumimoji="0" lang="zh-CN" altLang="zh-CN" sz="1000" b="0" i="0" u="none" strike="noStrike" cap="none" normalizeH="0" baseline="0" smtClean="0">
                        <a:ln>
                          <a:noFill/>
                        </a:ln>
                        <a:solidFill>
                          <a:schemeClr val="tx1"/>
                        </a:solidFill>
                        <a:effectLst/>
                        <a:latin typeface="Calibri" charset="0"/>
                        <a:ea typeface="宋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Math</a:t>
                      </a:r>
                      <a:endParaRPr kumimoji="0" lang="zh-CN" altLang="zh-CN" sz="1000" b="0" i="0" u="none" strike="noStrike" cap="none" normalizeH="0" baseline="0" dirty="0" smtClean="0">
                        <a:ln>
                          <a:noFill/>
                        </a:ln>
                        <a:solidFill>
                          <a:schemeClr val="tx1"/>
                        </a:solidFill>
                        <a:effectLst/>
                        <a:latin typeface="Calibri" charset="0"/>
                        <a:ea typeface="宋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a:t>
                      </a:r>
                      <a:endParaRPr kumimoji="0" lang="zh-CN" altLang="zh-CN" sz="1000" b="0" i="0" u="none" strike="noStrike" cap="none" normalizeH="0" baseline="0" smtClean="0">
                        <a:ln>
                          <a:noFill/>
                        </a:ln>
                        <a:solidFill>
                          <a:schemeClr val="tx1"/>
                        </a:solidFill>
                        <a:effectLst/>
                        <a:latin typeface="Calibri" charset="0"/>
                        <a:ea typeface="宋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9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002</a:t>
                      </a:r>
                      <a:endParaRPr kumimoji="0" lang="zh-CN" altLang="zh-CN" sz="1000" b="0" i="0" u="none" strike="noStrike" cap="none" normalizeH="0" baseline="0" smtClean="0">
                        <a:ln>
                          <a:noFill/>
                        </a:ln>
                        <a:solidFill>
                          <a:schemeClr val="tx1"/>
                        </a:solidFill>
                        <a:effectLst/>
                        <a:latin typeface="Calibri" charset="0"/>
                        <a:ea typeface="宋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Multimedia</a:t>
                      </a:r>
                      <a:endParaRPr kumimoji="0" lang="zh-CN" altLang="zh-CN" sz="1000" b="0" i="0" u="none" strike="noStrike" cap="none" normalizeH="0" baseline="0" smtClean="0">
                        <a:ln>
                          <a:noFill/>
                        </a:ln>
                        <a:solidFill>
                          <a:schemeClr val="tx1"/>
                        </a:solidFill>
                        <a:effectLst/>
                        <a:latin typeface="Calibri" charset="0"/>
                        <a:ea typeface="宋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a:t>
                      </a:r>
                      <a:endParaRPr kumimoji="0" lang="zh-CN" altLang="zh-CN" sz="1000" b="0" i="0" u="none" strike="noStrike" cap="none" normalizeH="0" baseline="0" smtClean="0">
                        <a:ln>
                          <a:noFill/>
                        </a:ln>
                        <a:solidFill>
                          <a:schemeClr val="tx1"/>
                        </a:solidFill>
                        <a:effectLst/>
                        <a:latin typeface="Calibri" charset="0"/>
                        <a:ea typeface="宋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9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003</a:t>
                      </a:r>
                      <a:endParaRPr kumimoji="0" lang="zh-CN" altLang="zh-CN" sz="1000" b="0" i="0" u="none" strike="noStrike" cap="none" normalizeH="0" baseline="0" smtClean="0">
                        <a:ln>
                          <a:noFill/>
                        </a:ln>
                        <a:solidFill>
                          <a:schemeClr val="tx1"/>
                        </a:solidFill>
                        <a:effectLst/>
                        <a:latin typeface="Calibri" charset="0"/>
                        <a:ea typeface="宋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Computer network</a:t>
                      </a:r>
                      <a:endParaRPr kumimoji="0" lang="zh-CN" altLang="zh-CN" sz="1000" b="0" i="0" u="none" strike="noStrike" cap="none" normalizeH="0" baseline="0" smtClean="0">
                        <a:ln>
                          <a:noFill/>
                        </a:ln>
                        <a:solidFill>
                          <a:schemeClr val="tx1"/>
                        </a:solidFill>
                        <a:effectLst/>
                        <a:latin typeface="Calibri" charset="0"/>
                        <a:ea typeface="宋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a:t>
                      </a:r>
                      <a:endParaRPr kumimoji="0" lang="zh-CN" altLang="zh-CN" sz="1000" b="0" i="0" u="none" strike="noStrike" cap="none" normalizeH="0" baseline="0" smtClean="0">
                        <a:ln>
                          <a:noFill/>
                        </a:ln>
                        <a:solidFill>
                          <a:schemeClr val="tx1"/>
                        </a:solidFill>
                        <a:effectLst/>
                        <a:latin typeface="Calibri" charset="0"/>
                        <a:ea typeface="宋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9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004</a:t>
                      </a:r>
                      <a:endParaRPr kumimoji="0" lang="zh-CN" altLang="zh-CN" sz="1000" b="0" i="0" u="none" strike="noStrike" cap="none" normalizeH="0" baseline="0" smtClean="0">
                        <a:ln>
                          <a:noFill/>
                        </a:ln>
                        <a:solidFill>
                          <a:schemeClr val="tx1"/>
                        </a:solidFill>
                        <a:effectLst/>
                        <a:latin typeface="Calibri" charset="0"/>
                        <a:ea typeface="宋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Software engineering</a:t>
                      </a:r>
                      <a:endParaRPr kumimoji="0" lang="zh-CN" altLang="zh-CN" sz="1000" b="0" i="0" u="none" strike="noStrike" cap="none" normalizeH="0" baseline="0" smtClean="0">
                        <a:ln>
                          <a:noFill/>
                        </a:ln>
                        <a:solidFill>
                          <a:schemeClr val="tx1"/>
                        </a:solidFill>
                        <a:effectLst/>
                        <a:latin typeface="Calibri" charset="0"/>
                        <a:ea typeface="宋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a:t>
                      </a:r>
                      <a:endParaRPr kumimoji="0" lang="zh-CN" altLang="zh-CN" sz="1000" b="0" i="0" u="none" strike="noStrike" cap="none" normalizeH="0" baseline="0" smtClean="0">
                        <a:ln>
                          <a:noFill/>
                        </a:ln>
                        <a:solidFill>
                          <a:schemeClr val="tx1"/>
                        </a:solidFill>
                        <a:effectLst/>
                        <a:latin typeface="Calibri" charset="0"/>
                        <a:ea typeface="宋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8900">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005</a:t>
                      </a:r>
                      <a:endParaRPr kumimoji="0" lang="zh-CN" altLang="zh-CN" sz="1000" b="0" i="0" u="none" strike="noStrike" cap="none" normalizeH="0" baseline="0" dirty="0" smtClean="0">
                        <a:ln>
                          <a:noFill/>
                        </a:ln>
                        <a:solidFill>
                          <a:schemeClr val="tx1"/>
                        </a:solidFill>
                        <a:effectLst/>
                        <a:latin typeface="Calibri" charset="0"/>
                        <a:ea typeface="宋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Bioinformatics</a:t>
                      </a:r>
                      <a:endParaRPr kumimoji="0" lang="zh-CN" altLang="zh-CN" sz="1000" b="0" i="0" u="none" strike="noStrike" cap="none" normalizeH="0" baseline="0" smtClean="0">
                        <a:ln>
                          <a:noFill/>
                        </a:ln>
                        <a:solidFill>
                          <a:schemeClr val="tx1"/>
                        </a:solidFill>
                        <a:effectLst/>
                        <a:latin typeface="Calibri" charset="0"/>
                        <a:ea typeface="宋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3</a:t>
                      </a:r>
                      <a:endParaRPr kumimoji="0" lang="zh-CN" altLang="zh-CN" sz="1000" b="0" i="0" u="none" strike="noStrike" cap="none" normalizeH="0" baseline="0" dirty="0" smtClean="0">
                        <a:ln>
                          <a:noFill/>
                        </a:ln>
                        <a:solidFill>
                          <a:schemeClr val="tx1"/>
                        </a:solidFill>
                        <a:effectLst/>
                        <a:latin typeface="Calibri" charset="0"/>
                        <a:ea typeface="宋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3" name="矩形 2"/>
          <p:cNvSpPr/>
          <p:nvPr/>
        </p:nvSpPr>
        <p:spPr>
          <a:xfrm>
            <a:off x="539749" y="5934074"/>
            <a:ext cx="7722901" cy="646331"/>
          </a:xfrm>
          <a:prstGeom prst="rect">
            <a:avLst/>
          </a:prstGeom>
        </p:spPr>
        <p:txBody>
          <a:bodyPr wrap="square">
            <a:spAutoFit/>
          </a:bodyPr>
          <a:lstStyle/>
          <a:p>
            <a:r>
              <a:rPr lang="en-US" altLang="zh-CN" dirty="0"/>
              <a:t>Another example is: Suppose we want to find all the students who have selected all courses </a:t>
            </a:r>
            <a:r>
              <a:rPr lang="en-US" altLang="zh-CN" dirty="0" smtClean="0"/>
              <a:t>provided </a:t>
            </a:r>
            <a:r>
              <a:rPr lang="en-US" altLang="zh-CN" dirty="0"/>
              <a:t>by the school.  </a:t>
            </a:r>
            <a:endParaRPr lang="zh-CN" altLang="zh-CN" dirty="0"/>
          </a:p>
        </p:txBody>
      </p:sp>
    </p:spTree>
    <p:extLst>
      <p:ext uri="{BB962C8B-B14F-4D97-AF65-F5344CB8AC3E}">
        <p14:creationId xmlns:p14="http://schemas.microsoft.com/office/powerpoint/2010/main" val="70680726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内容占位符 2"/>
          <p:cNvSpPr>
            <a:spLocks noGrp="1"/>
          </p:cNvSpPr>
          <p:nvPr>
            <p:ph idx="4294967295"/>
          </p:nvPr>
        </p:nvSpPr>
        <p:spPr>
          <a:xfrm>
            <a:off x="323850" y="1412875"/>
            <a:ext cx="7696200" cy="5200650"/>
          </a:xfrm>
        </p:spPr>
        <p:txBody>
          <a:bodyPr/>
          <a:lstStyle/>
          <a:p>
            <a:pPr eaLnBrk="1" hangingPunct="1">
              <a:buFont typeface="Wingdings" panose="05000000000000000000" pitchFamily="2" charset="2"/>
              <a:buNone/>
            </a:pPr>
            <a:r>
              <a:rPr lang="en-US" altLang="zh-CN" sz="2400" dirty="0" smtClean="0">
                <a:ea typeface="宋体" panose="02010600030101010101" pitchFamily="2" charset="-122"/>
              </a:rPr>
              <a:t>We can think of it as three steps: </a:t>
            </a:r>
            <a:endParaRPr lang="zh-CN" altLang="zh-CN" sz="2400" dirty="0" smtClean="0">
              <a:ea typeface="宋体" panose="02010600030101010101" pitchFamily="2" charset="-122"/>
            </a:endParaRPr>
          </a:p>
          <a:p>
            <a:pPr eaLnBrk="1" hangingPunct="1">
              <a:buFont typeface="Wingdings" panose="05000000000000000000" pitchFamily="2" charset="2"/>
              <a:buNone/>
            </a:pPr>
            <a:r>
              <a:rPr lang="en-US" altLang="zh-CN" sz="2400" dirty="0" smtClean="0">
                <a:ea typeface="宋体" panose="02010600030101010101" pitchFamily="2" charset="-122"/>
              </a:rPr>
              <a:t>1.We can obtain the NO. of all courses provided by the school by:</a:t>
            </a:r>
          </a:p>
          <a:p>
            <a:pPr eaLnBrk="1" hangingPunct="1">
              <a:buFont typeface="Wingdings" panose="05000000000000000000" pitchFamily="2" charset="2"/>
              <a:buNone/>
            </a:pPr>
            <a:endParaRPr lang="zh-CN" altLang="zh-CN" sz="2400" dirty="0" smtClean="0">
              <a:ea typeface="宋体" panose="02010600030101010101" pitchFamily="2" charset="-122"/>
            </a:endParaRPr>
          </a:p>
          <a:p>
            <a:pPr eaLnBrk="1" hangingPunct="1">
              <a:buFont typeface="Wingdings" panose="05000000000000000000" pitchFamily="2" charset="2"/>
              <a:buNone/>
            </a:pPr>
            <a:r>
              <a:rPr lang="en-US" altLang="zh-CN" sz="2400" dirty="0" smtClean="0">
                <a:ea typeface="宋体" panose="02010600030101010101" pitchFamily="2" charset="-122"/>
              </a:rPr>
              <a:t>2.We can also find all SSN, </a:t>
            </a:r>
            <a:r>
              <a:rPr lang="en-US" altLang="zh-CN" sz="2400" dirty="0" err="1" smtClean="0">
                <a:ea typeface="宋体" panose="02010600030101010101" pitchFamily="2" charset="-122"/>
              </a:rPr>
              <a:t>cno</a:t>
            </a:r>
            <a:r>
              <a:rPr lang="en-US" altLang="zh-CN" sz="2400" dirty="0" smtClean="0">
                <a:ea typeface="宋体" panose="02010600030101010101" pitchFamily="2" charset="-122"/>
              </a:rPr>
              <a:t> pairs for which the student has selected courses by:</a:t>
            </a:r>
            <a:endParaRPr lang="zh-CN" altLang="zh-CN" sz="2400" dirty="0" smtClean="0">
              <a:ea typeface="宋体" panose="02010600030101010101" pitchFamily="2" charset="-122"/>
            </a:endParaRPr>
          </a:p>
          <a:p>
            <a:pPr eaLnBrk="1" hangingPunct="1">
              <a:buFont typeface="Wingdings" panose="05000000000000000000" pitchFamily="2" charset="2"/>
              <a:buNone/>
            </a:pPr>
            <a:endParaRPr lang="en-US" altLang="zh-CN" sz="2400" dirty="0" smtClean="0">
              <a:ea typeface="宋体" panose="02010600030101010101" pitchFamily="2" charset="-122"/>
            </a:endParaRPr>
          </a:p>
          <a:p>
            <a:pPr eaLnBrk="1" hangingPunct="1">
              <a:buFont typeface="Wingdings" panose="05000000000000000000" pitchFamily="2" charset="2"/>
              <a:buNone/>
            </a:pPr>
            <a:r>
              <a:rPr lang="en-US" altLang="zh-CN" sz="2400" dirty="0" smtClean="0">
                <a:ea typeface="宋体" panose="02010600030101010101" pitchFamily="2" charset="-122"/>
              </a:rPr>
              <a:t>3.Now we need to find all students who selected all the courses. The divide operation provides exactly those students: </a:t>
            </a:r>
          </a:p>
          <a:p>
            <a:pPr eaLnBrk="1" hangingPunct="1">
              <a:buFont typeface="Wingdings" panose="05000000000000000000" pitchFamily="2" charset="2"/>
              <a:buNone/>
            </a:pPr>
            <a:r>
              <a:rPr lang="en-US" altLang="zh-CN" dirty="0" smtClean="0">
                <a:ea typeface="宋体" panose="02010600030101010101" pitchFamily="2" charset="-122"/>
              </a:rPr>
              <a:t> </a:t>
            </a:r>
            <a:endParaRPr lang="zh-CN" altLang="zh-CN" dirty="0" smtClean="0">
              <a:ea typeface="宋体" panose="02010600030101010101" pitchFamily="2" charset="-122"/>
            </a:endParaRPr>
          </a:p>
          <a:p>
            <a:pPr eaLnBrk="1" hangingPunct="1">
              <a:buFont typeface="Wingdings" panose="05000000000000000000" pitchFamily="2" charset="2"/>
              <a:buNone/>
            </a:pPr>
            <a:endParaRPr lang="zh-CN" altLang="zh-CN" dirty="0" smtClean="0">
              <a:ea typeface="宋体" panose="02010600030101010101" pitchFamily="2" charset="-122"/>
            </a:endParaRPr>
          </a:p>
          <a:p>
            <a:pPr eaLnBrk="1" hangingPunct="1">
              <a:buFont typeface="Wingdings" panose="05000000000000000000" pitchFamily="2" charset="2"/>
              <a:buNone/>
            </a:pPr>
            <a:endParaRPr lang="en-US" altLang="zh-CN" dirty="0" smtClean="0">
              <a:ea typeface="宋体" panose="02010600030101010101" pitchFamily="2" charset="-122"/>
            </a:endParaRPr>
          </a:p>
        </p:txBody>
      </p:sp>
      <p:graphicFrame>
        <p:nvGraphicFramePr>
          <p:cNvPr id="116741" name="Object 2"/>
          <p:cNvGraphicFramePr>
            <a:graphicFrameLocks noChangeAspect="1"/>
          </p:cNvGraphicFramePr>
          <p:nvPr/>
        </p:nvGraphicFramePr>
        <p:xfrm>
          <a:off x="3563938" y="2492375"/>
          <a:ext cx="2581275" cy="571500"/>
        </p:xfrm>
        <a:graphic>
          <a:graphicData uri="http://schemas.openxmlformats.org/presentationml/2006/ole">
            <mc:AlternateContent xmlns:mc="http://schemas.openxmlformats.org/markup-compatibility/2006">
              <mc:Choice xmlns:v="urn:schemas-microsoft-com:vml" Requires="v">
                <p:oleObj spid="_x0000_s2515" name="Microsoft 公式 3.0" r:id="rId4" imgW="903438" imgH="200380" progId="Equation.3">
                  <p:embed/>
                </p:oleObj>
              </mc:Choice>
              <mc:Fallback>
                <p:oleObj name="Microsoft 公式 3.0" r:id="rId4" imgW="903438" imgH="2003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63938" y="2492375"/>
                        <a:ext cx="2581275"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6742" name="Object 3"/>
          <p:cNvGraphicFramePr>
            <a:graphicFrameLocks noChangeAspect="1"/>
          </p:cNvGraphicFramePr>
          <p:nvPr/>
        </p:nvGraphicFramePr>
        <p:xfrm>
          <a:off x="3708400" y="3716338"/>
          <a:ext cx="2495550" cy="803275"/>
        </p:xfrm>
        <a:graphic>
          <a:graphicData uri="http://schemas.openxmlformats.org/presentationml/2006/ole">
            <mc:AlternateContent xmlns:mc="http://schemas.openxmlformats.org/markup-compatibility/2006">
              <mc:Choice xmlns:v="urn:schemas-microsoft-com:vml" Requires="v">
                <p:oleObj spid="_x0000_s2516" name="Microsoft 公式 3.0" r:id="rId6" imgW="749160" imgH="241200" progId="Equation.3">
                  <p:embed/>
                </p:oleObj>
              </mc:Choice>
              <mc:Fallback>
                <p:oleObj name="Microsoft 公式 3.0" r:id="rId6" imgW="749160" imgH="2412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08400" y="3716338"/>
                        <a:ext cx="2495550" cy="80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6743" name="Object 4"/>
          <p:cNvGraphicFramePr>
            <a:graphicFrameLocks noChangeAspect="1"/>
          </p:cNvGraphicFramePr>
          <p:nvPr/>
        </p:nvGraphicFramePr>
        <p:xfrm>
          <a:off x="3214688" y="5715000"/>
          <a:ext cx="4084637" cy="571500"/>
        </p:xfrm>
        <a:graphic>
          <a:graphicData uri="http://schemas.openxmlformats.org/presentationml/2006/ole">
            <mc:AlternateContent xmlns:mc="http://schemas.openxmlformats.org/markup-compatibility/2006">
              <mc:Choice xmlns:v="urn:schemas-microsoft-com:vml" Requires="v">
                <p:oleObj spid="_x0000_s2517" name="Microsoft 公式 3.0" r:id="rId8" imgW="1702578" imgH="238513" progId="Equation.3">
                  <p:embed/>
                </p:oleObj>
              </mc:Choice>
              <mc:Fallback>
                <p:oleObj name="Microsoft 公式 3.0" r:id="rId8" imgW="1702578" imgH="238513"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14688" y="5715000"/>
                        <a:ext cx="4084637"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Rectangle 2"/>
          <p:cNvSpPr txBox="1">
            <a:spLocks noChangeArrowheads="1"/>
          </p:cNvSpPr>
          <p:nvPr/>
        </p:nvSpPr>
        <p:spPr>
          <a:xfrm>
            <a:off x="602715" y="259365"/>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zh-CN" altLang="en-US" sz="3600" dirty="0" smtClean="0"/>
              <a:t>综合举例（续）</a:t>
            </a:r>
            <a:endParaRPr lang="en-US" altLang="zh-CN" sz="3600" dirty="0" smtClean="0"/>
          </a:p>
        </p:txBody>
      </p:sp>
    </p:spTree>
    <p:extLst>
      <p:ext uri="{BB962C8B-B14F-4D97-AF65-F5344CB8AC3E}">
        <p14:creationId xmlns:p14="http://schemas.microsoft.com/office/powerpoint/2010/main" val="42393791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6741"/>
                                        </p:tgtEl>
                                        <p:attrNameLst>
                                          <p:attrName>style.visibility</p:attrName>
                                        </p:attrNameLst>
                                      </p:cBhvr>
                                      <p:to>
                                        <p:strVal val="visible"/>
                                      </p:to>
                                    </p:set>
                                    <p:anim calcmode="lin" valueType="num">
                                      <p:cBhvr additive="base">
                                        <p:cTn id="7" dur="500" fill="hold"/>
                                        <p:tgtEl>
                                          <p:spTgt spid="116741"/>
                                        </p:tgtEl>
                                        <p:attrNameLst>
                                          <p:attrName>ppt_x</p:attrName>
                                        </p:attrNameLst>
                                      </p:cBhvr>
                                      <p:tavLst>
                                        <p:tav tm="0">
                                          <p:val>
                                            <p:strVal val="#ppt_x"/>
                                          </p:val>
                                        </p:tav>
                                        <p:tav tm="100000">
                                          <p:val>
                                            <p:strVal val="#ppt_x"/>
                                          </p:val>
                                        </p:tav>
                                      </p:tavLst>
                                    </p:anim>
                                    <p:anim calcmode="lin" valueType="num">
                                      <p:cBhvr additive="base">
                                        <p:cTn id="8" dur="500" fill="hold"/>
                                        <p:tgtEl>
                                          <p:spTgt spid="11674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116742"/>
                                        </p:tgtEl>
                                        <p:attrNameLst>
                                          <p:attrName>style.visibility</p:attrName>
                                        </p:attrNameLst>
                                      </p:cBhvr>
                                      <p:to>
                                        <p:strVal val="visible"/>
                                      </p:to>
                                    </p:set>
                                    <p:animEffect transition="in" filter="blinds(horizontal)">
                                      <p:cBhvr>
                                        <p:cTn id="13" dur="500"/>
                                        <p:tgtEl>
                                          <p:spTgt spid="11674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116743"/>
                                        </p:tgtEl>
                                        <p:attrNameLst>
                                          <p:attrName>style.visibility</p:attrName>
                                        </p:attrNameLst>
                                      </p:cBhvr>
                                      <p:to>
                                        <p:strVal val="visible"/>
                                      </p:to>
                                    </p:set>
                                    <p:animEffect transition="in" filter="blinds(horizontal)">
                                      <p:cBhvr>
                                        <p:cTn id="18" dur="500"/>
                                        <p:tgtEl>
                                          <p:spTgt spid="1167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914400" y="188913"/>
            <a:ext cx="7391400" cy="563562"/>
          </a:xfrm>
        </p:spPr>
        <p:txBody>
          <a:bodyPr>
            <a:normAutofit fontScale="90000"/>
          </a:bodyPr>
          <a:lstStyle/>
          <a:p>
            <a:pPr eaLnBrk="1" hangingPunct="1"/>
            <a:r>
              <a:rPr lang="zh-CN" altLang="en-US" sz="3600" dirty="0" smtClean="0"/>
              <a:t>专门的关系运算（续）</a:t>
            </a:r>
            <a:endParaRPr lang="en-US" altLang="zh-CN" sz="3600" dirty="0" smtClean="0"/>
          </a:p>
        </p:txBody>
      </p:sp>
      <p:sp>
        <p:nvSpPr>
          <p:cNvPr id="84996" name="Rectangle 83"/>
          <p:cNvSpPr>
            <a:spLocks noChangeArrowheads="1"/>
          </p:cNvSpPr>
          <p:nvPr/>
        </p:nvSpPr>
        <p:spPr bwMode="auto">
          <a:xfrm>
            <a:off x="468313" y="2133600"/>
            <a:ext cx="914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200" dirty="0"/>
              <a:t> </a:t>
            </a:r>
            <a:r>
              <a:rPr lang="en-US" altLang="zh-CN" sz="2200" b="1" dirty="0"/>
              <a:t>Student</a:t>
            </a:r>
          </a:p>
        </p:txBody>
      </p:sp>
      <p:sp>
        <p:nvSpPr>
          <p:cNvPr id="84997" name="Rectangle 91"/>
          <p:cNvSpPr>
            <a:spLocks noChangeArrowheads="1"/>
          </p:cNvSpPr>
          <p:nvPr/>
        </p:nvSpPr>
        <p:spPr bwMode="auto">
          <a:xfrm>
            <a:off x="539750" y="1127125"/>
            <a:ext cx="7488238"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2400" b="1"/>
              <a:t>学生</a:t>
            </a:r>
            <a:r>
              <a:rPr lang="en-US" altLang="zh-CN" sz="2400" b="1"/>
              <a:t>-</a:t>
            </a:r>
            <a:r>
              <a:rPr lang="zh-CN" altLang="en-US" sz="2400" b="1"/>
              <a:t>课程数据库</a:t>
            </a:r>
            <a:r>
              <a:rPr lang="en-US" altLang="zh-CN" sz="2400" b="1"/>
              <a:t>:</a:t>
            </a:r>
          </a:p>
          <a:p>
            <a:pPr eaLnBrk="1" hangingPunct="1">
              <a:lnSpc>
                <a:spcPct val="120000"/>
              </a:lnSpc>
            </a:pPr>
            <a:r>
              <a:rPr lang="en-US" altLang="zh-CN" sz="2400" b="1"/>
              <a:t>     </a:t>
            </a:r>
            <a:r>
              <a:rPr lang="zh-CN" altLang="en-US" sz="2400" b="1"/>
              <a:t>学生关系</a:t>
            </a:r>
            <a:r>
              <a:rPr lang="en-US" altLang="zh-CN" sz="2400" b="1"/>
              <a:t>Student</a:t>
            </a:r>
            <a:r>
              <a:rPr lang="zh-CN" altLang="en-US" sz="2400" b="1"/>
              <a:t>、课程关系</a:t>
            </a:r>
            <a:r>
              <a:rPr lang="en-US" altLang="zh-CN" sz="2400" b="1"/>
              <a:t>Course</a:t>
            </a:r>
            <a:r>
              <a:rPr lang="zh-CN" altLang="en-US" sz="2400" b="1"/>
              <a:t>和选修</a:t>
            </a:r>
            <a:r>
              <a:rPr lang="zh-CN" altLang="en-US" sz="2200" b="1"/>
              <a:t>关系</a:t>
            </a:r>
            <a:r>
              <a:rPr lang="en-US" altLang="zh-CN" sz="2200" b="1"/>
              <a:t>SC</a:t>
            </a:r>
          </a:p>
        </p:txBody>
      </p:sp>
      <p:graphicFrame>
        <p:nvGraphicFramePr>
          <p:cNvPr id="341263" name="Group 271"/>
          <p:cNvGraphicFramePr>
            <a:graphicFrameLocks noGrp="1"/>
          </p:cNvGraphicFramePr>
          <p:nvPr>
            <p:ph idx="1"/>
            <p:extLst/>
          </p:nvPr>
        </p:nvGraphicFramePr>
        <p:xfrm>
          <a:off x="1892411" y="2133600"/>
          <a:ext cx="5970490" cy="1979668"/>
        </p:xfrm>
        <a:graphic>
          <a:graphicData uri="http://schemas.openxmlformats.org/drawingml/2006/table">
            <a:tbl>
              <a:tblPr>
                <a:tableStyleId>{2D5ABB26-0587-4C30-8999-92F81FD0307C}</a:tableStyleId>
              </a:tblPr>
              <a:tblGrid>
                <a:gridCol w="1194329"/>
                <a:gridCol w="1194328"/>
                <a:gridCol w="1193176"/>
                <a:gridCol w="1194329"/>
                <a:gridCol w="1194328"/>
              </a:tblGrid>
              <a:tr h="530922">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学号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err="1" smtClean="0">
                          <a:ln>
                            <a:noFill/>
                          </a:ln>
                          <a:effectLst/>
                        </a:rPr>
                        <a:t>Sno</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姓名</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err="1" smtClean="0">
                          <a:ln>
                            <a:noFill/>
                          </a:ln>
                          <a:effectLst/>
                        </a:rPr>
                        <a:t>Sname</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性别</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err="1" smtClean="0">
                          <a:ln>
                            <a:noFill/>
                          </a:ln>
                          <a:effectLst/>
                        </a:rPr>
                        <a:t>Ssex</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年龄</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smtClean="0">
                          <a:ln>
                            <a:noFill/>
                          </a:ln>
                          <a:effectLst/>
                        </a:rPr>
                        <a:t>Sage</a:t>
                      </a:r>
                      <a:endParaRPr kumimoji="0" lang="en-US" altLang="zh-CN"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所在系</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smtClean="0">
                          <a:ln>
                            <a:noFill/>
                          </a:ln>
                          <a:effectLst/>
                        </a:rPr>
                        <a:t>Sdept</a:t>
                      </a:r>
                      <a:endParaRPr kumimoji="0" lang="en-US" altLang="zh-CN"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201215121</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李勇</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男</a:t>
                      </a:r>
                      <a:endParaRPr kumimoji="0" lang="zh-CN" altLang="en-US"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CS</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201215122</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刘晨</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女</a:t>
                      </a:r>
                      <a:endParaRPr kumimoji="0" lang="zh-CN" altLang="en-US"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19</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CS</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201215123</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王敏</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女</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18</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MA</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201215125</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张立</a:t>
                      </a:r>
                      <a:endParaRPr kumimoji="0" lang="zh-CN" altLang="en-US"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男</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smtClean="0">
                          <a:ln>
                            <a:noFill/>
                          </a:ln>
                          <a:effectLst/>
                        </a:rPr>
                        <a:t>19</a:t>
                      </a:r>
                      <a:endParaRPr kumimoji="0" lang="en-US" altLang="zh-CN"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IS</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7" name="Group 575"/>
          <p:cNvGraphicFramePr>
            <a:graphicFrameLocks/>
          </p:cNvGraphicFramePr>
          <p:nvPr>
            <p:extLst/>
          </p:nvPr>
        </p:nvGraphicFramePr>
        <p:xfrm>
          <a:off x="230743" y="4326269"/>
          <a:ext cx="4277647" cy="2431296"/>
        </p:xfrm>
        <a:graphic>
          <a:graphicData uri="http://schemas.openxmlformats.org/drawingml/2006/table">
            <a:tbl>
              <a:tblPr/>
              <a:tblGrid>
                <a:gridCol w="1069879"/>
                <a:gridCol w="1132428"/>
                <a:gridCol w="1006395"/>
                <a:gridCol w="1068945"/>
              </a:tblGrid>
              <a:tr h="38177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Cno</a:t>
                      </a:r>
                      <a:endPar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课程名</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Cname</a:t>
                      </a:r>
                      <a:endPar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先行课</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Cpno</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学分</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Ccredit</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数据库</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数学</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信息系统</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操作系统</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数据结构</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7</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数据处理</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7</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PASCAL</a:t>
                      </a: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语言</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 name="Text Box 502"/>
          <p:cNvSpPr txBox="1">
            <a:spLocks noChangeArrowheads="1"/>
          </p:cNvSpPr>
          <p:nvPr/>
        </p:nvSpPr>
        <p:spPr bwMode="auto">
          <a:xfrm>
            <a:off x="198938" y="3786381"/>
            <a:ext cx="1154112"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dirty="0"/>
              <a:t>Course</a:t>
            </a:r>
          </a:p>
        </p:txBody>
      </p:sp>
      <p:graphicFrame>
        <p:nvGraphicFramePr>
          <p:cNvPr id="9" name="Group 384"/>
          <p:cNvGraphicFramePr>
            <a:graphicFrameLocks/>
          </p:cNvGraphicFramePr>
          <p:nvPr>
            <p:extLst/>
          </p:nvPr>
        </p:nvGraphicFramePr>
        <p:xfrm>
          <a:off x="4877656" y="4440329"/>
          <a:ext cx="3729163" cy="2317236"/>
        </p:xfrm>
        <a:graphic>
          <a:graphicData uri="http://schemas.openxmlformats.org/drawingml/2006/table">
            <a:tbl>
              <a:tblPr/>
              <a:tblGrid>
                <a:gridCol w="1907375"/>
                <a:gridCol w="874213"/>
                <a:gridCol w="947575"/>
              </a:tblGrid>
              <a:tr h="605392">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学号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Sno</a:t>
                      </a:r>
                      <a:endPar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Cno</a:t>
                      </a:r>
                      <a:endPar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成绩</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Grade</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92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85</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3</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88</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90</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3</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80</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 name="Rectangle 185"/>
          <p:cNvSpPr>
            <a:spLocks noChangeArrowheads="1"/>
          </p:cNvSpPr>
          <p:nvPr/>
        </p:nvSpPr>
        <p:spPr bwMode="auto">
          <a:xfrm>
            <a:off x="4610100" y="4073856"/>
            <a:ext cx="10795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200" b="1" dirty="0"/>
              <a:t>SC</a:t>
            </a:r>
          </a:p>
        </p:txBody>
      </p:sp>
    </p:spTree>
    <p:extLst>
      <p:ext uri="{BB962C8B-B14F-4D97-AF65-F5344CB8AC3E}">
        <p14:creationId xmlns:p14="http://schemas.microsoft.com/office/powerpoint/2010/main" val="10849050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eaLnBrk="1" hangingPunct="1"/>
            <a:r>
              <a:rPr lang="zh-CN" altLang="en-US" sz="3600" smtClean="0"/>
              <a:t>综合举例（续）</a:t>
            </a:r>
            <a:endParaRPr lang="en-US" altLang="zh-CN" sz="3600" smtClean="0"/>
          </a:p>
        </p:txBody>
      </p:sp>
      <p:sp>
        <p:nvSpPr>
          <p:cNvPr id="113667" name="Rectangle 3"/>
          <p:cNvSpPr>
            <a:spLocks noGrp="1" noChangeArrowheads="1"/>
          </p:cNvSpPr>
          <p:nvPr>
            <p:ph type="body" idx="1"/>
          </p:nvPr>
        </p:nvSpPr>
        <p:spPr>
          <a:xfrm>
            <a:off x="468313" y="1196975"/>
            <a:ext cx="8496300" cy="4737100"/>
          </a:xfrm>
        </p:spPr>
        <p:txBody>
          <a:bodyPr>
            <a:normAutofit lnSpcReduction="10000"/>
          </a:bodyPr>
          <a:lstStyle/>
          <a:p>
            <a:pPr algn="just" eaLnBrk="1" hangingPunct="1">
              <a:lnSpc>
                <a:spcPct val="150000"/>
              </a:lnSpc>
              <a:buFont typeface="Wingdings" panose="05000000000000000000" pitchFamily="2" charset="2"/>
              <a:buNone/>
            </a:pPr>
            <a:r>
              <a:rPr lang="en-US" altLang="zh-CN" sz="2200" dirty="0" smtClean="0"/>
              <a:t>[</a:t>
            </a:r>
            <a:r>
              <a:rPr lang="zh-CN" altLang="en-US" sz="2200" dirty="0" smtClean="0">
                <a:ea typeface="黑体" panose="02010609060101010101" pitchFamily="49" charset="-122"/>
              </a:rPr>
              <a:t>例</a:t>
            </a:r>
            <a:r>
              <a:rPr lang="en-US" altLang="zh-CN" sz="2200" dirty="0" smtClean="0">
                <a:ea typeface="黑体" panose="02010609060101010101" pitchFamily="49" charset="-122"/>
              </a:rPr>
              <a:t>2.11</a:t>
            </a:r>
            <a:r>
              <a:rPr lang="en-US" altLang="zh-CN" sz="2200" dirty="0" smtClean="0"/>
              <a:t>]  </a:t>
            </a:r>
            <a:r>
              <a:rPr lang="zh-CN" altLang="en-US" sz="2200" dirty="0" smtClean="0"/>
              <a:t>查询选修了</a:t>
            </a:r>
            <a:r>
              <a:rPr lang="en-US" altLang="zh-CN" sz="2200" dirty="0" smtClean="0"/>
              <a:t>2</a:t>
            </a:r>
            <a:r>
              <a:rPr lang="zh-CN" altLang="en-US" sz="2200" dirty="0" smtClean="0"/>
              <a:t>号课程的学生的学号。</a:t>
            </a:r>
          </a:p>
          <a:p>
            <a:pPr algn="just" eaLnBrk="1" hangingPunct="1">
              <a:lnSpc>
                <a:spcPct val="150000"/>
              </a:lnSpc>
              <a:buFont typeface="Wingdings" panose="05000000000000000000" pitchFamily="2" charset="2"/>
              <a:buNone/>
            </a:pPr>
            <a:r>
              <a:rPr lang="zh-CN" altLang="en-US" sz="2200" dirty="0" smtClean="0"/>
              <a:t>    </a:t>
            </a:r>
            <a:r>
              <a:rPr lang="en-US" altLang="zh-CN" sz="2200" dirty="0" smtClean="0"/>
              <a:t>π</a:t>
            </a:r>
            <a:r>
              <a:rPr lang="en-US" altLang="zh-CN" sz="2200" baseline="-30000" dirty="0" err="1" smtClean="0"/>
              <a:t>Sno</a:t>
            </a:r>
            <a:r>
              <a:rPr lang="en-US" altLang="zh-CN" sz="2200" dirty="0" smtClean="0"/>
              <a:t>(</a:t>
            </a:r>
            <a:r>
              <a:rPr lang="en-US" altLang="zh-CN" sz="2200" dirty="0" err="1" smtClean="0"/>
              <a:t>σ</a:t>
            </a:r>
            <a:r>
              <a:rPr lang="en-US" altLang="zh-CN" sz="2200" baseline="-30000" dirty="0" err="1" smtClean="0"/>
              <a:t>Cno</a:t>
            </a:r>
            <a:r>
              <a:rPr lang="en-US" altLang="zh-CN" sz="2200" baseline="-30000" dirty="0" smtClean="0"/>
              <a:t>=‘2’</a:t>
            </a:r>
            <a:r>
              <a:rPr lang="en-US" altLang="zh-CN" sz="2200" dirty="0" smtClean="0"/>
              <a:t>(SC))={201215121,201215122}</a:t>
            </a:r>
          </a:p>
          <a:p>
            <a:pPr algn="just" eaLnBrk="1" hangingPunct="1">
              <a:lnSpc>
                <a:spcPct val="150000"/>
              </a:lnSpc>
              <a:buFont typeface="Wingdings" panose="05000000000000000000" pitchFamily="2" charset="2"/>
              <a:buNone/>
            </a:pPr>
            <a:r>
              <a:rPr lang="en-US" altLang="zh-CN" sz="2200" dirty="0" smtClean="0"/>
              <a:t>[</a:t>
            </a:r>
            <a:r>
              <a:rPr lang="zh-CN" altLang="en-US" sz="2200" dirty="0" smtClean="0">
                <a:ea typeface="黑体" panose="02010609060101010101" pitchFamily="49" charset="-122"/>
              </a:rPr>
              <a:t>例</a:t>
            </a:r>
            <a:r>
              <a:rPr lang="en-US" altLang="zh-CN" sz="2200" dirty="0" smtClean="0">
                <a:ea typeface="黑体" panose="02010609060101010101" pitchFamily="49" charset="-122"/>
              </a:rPr>
              <a:t>2.12</a:t>
            </a:r>
            <a:r>
              <a:rPr lang="en-US" altLang="zh-CN" sz="2200" dirty="0" smtClean="0"/>
              <a:t>]  </a:t>
            </a:r>
            <a:r>
              <a:rPr lang="zh-CN" altLang="en-US" sz="2200" dirty="0" smtClean="0"/>
              <a:t>查询至少选修了一门其直接先行课为</a:t>
            </a:r>
            <a:r>
              <a:rPr lang="en-US" altLang="zh-CN" sz="2200" dirty="0" smtClean="0"/>
              <a:t>5</a:t>
            </a:r>
            <a:r>
              <a:rPr lang="zh-CN" altLang="en-US" sz="2200" dirty="0" smtClean="0"/>
              <a:t>号课程的学生姓名</a:t>
            </a:r>
          </a:p>
          <a:p>
            <a:pPr eaLnBrk="1" hangingPunct="1">
              <a:lnSpc>
                <a:spcPct val="150000"/>
              </a:lnSpc>
              <a:buFont typeface="Wingdings" panose="05000000000000000000" pitchFamily="2" charset="2"/>
              <a:buNone/>
            </a:pPr>
            <a:r>
              <a:rPr lang="zh-CN" altLang="en-US" sz="2200" dirty="0" smtClean="0"/>
              <a:t>     </a:t>
            </a:r>
            <a:r>
              <a:rPr lang="en-US" altLang="zh-CN" sz="2200" dirty="0" smtClean="0"/>
              <a:t>π</a:t>
            </a:r>
            <a:r>
              <a:rPr lang="en-US" altLang="zh-CN" sz="2200" baseline="-30000" dirty="0" err="1" smtClean="0"/>
              <a:t>Sname</a:t>
            </a:r>
            <a:r>
              <a:rPr lang="en-US" altLang="zh-CN" sz="2200" dirty="0" smtClean="0"/>
              <a:t>(</a:t>
            </a:r>
            <a:r>
              <a:rPr lang="en-US" altLang="zh-CN" sz="2200" dirty="0" err="1" smtClean="0"/>
              <a:t>σ</a:t>
            </a:r>
            <a:r>
              <a:rPr lang="en-US" altLang="zh-CN" sz="2200" baseline="-30000" dirty="0" err="1" smtClean="0"/>
              <a:t>Cpno</a:t>
            </a:r>
            <a:r>
              <a:rPr lang="en-US" altLang="zh-CN" sz="2200" baseline="-30000" dirty="0" smtClean="0"/>
              <a:t>=‘5’</a:t>
            </a:r>
            <a:r>
              <a:rPr lang="en-US" altLang="zh-CN" sz="2200" dirty="0" smtClean="0">
                <a:solidFill>
                  <a:srgbClr val="E02920"/>
                </a:solidFill>
              </a:rPr>
              <a:t>(Course    SC    </a:t>
            </a:r>
            <a:r>
              <a:rPr lang="en-US" altLang="zh-CN" sz="2200" dirty="0" smtClean="0"/>
              <a:t>π</a:t>
            </a:r>
            <a:r>
              <a:rPr lang="en-US" altLang="zh-CN" sz="2200" baseline="-30000" dirty="0" err="1" smtClean="0"/>
              <a:t>Sno,Sname</a:t>
            </a:r>
            <a:r>
              <a:rPr lang="en-US" altLang="zh-CN" sz="2200" baseline="-30000" dirty="0" smtClean="0"/>
              <a:t> </a:t>
            </a:r>
            <a:r>
              <a:rPr lang="en-US" altLang="zh-CN" sz="2200" dirty="0" smtClean="0"/>
              <a:t>(Student))</a:t>
            </a:r>
            <a:r>
              <a:rPr lang="en-US" altLang="zh-CN" sz="2200" dirty="0" smtClean="0">
                <a:ea typeface="黑体" panose="02010609060101010101" pitchFamily="49" charset="-122"/>
              </a:rPr>
              <a:t> </a:t>
            </a:r>
            <a:r>
              <a:rPr lang="zh-CN" altLang="en-US" sz="2200" dirty="0" smtClean="0"/>
              <a:t> </a:t>
            </a:r>
            <a:endParaRPr lang="en-US" altLang="zh-CN" sz="2200" dirty="0" smtClean="0"/>
          </a:p>
          <a:p>
            <a:pPr eaLnBrk="1" hangingPunct="1">
              <a:lnSpc>
                <a:spcPct val="150000"/>
              </a:lnSpc>
              <a:buFont typeface="Wingdings" panose="05000000000000000000" pitchFamily="2" charset="2"/>
              <a:buNone/>
            </a:pPr>
            <a:r>
              <a:rPr lang="zh-CN" altLang="en-US" sz="2200" dirty="0" smtClean="0"/>
              <a:t>或    </a:t>
            </a:r>
          </a:p>
          <a:p>
            <a:pPr algn="just" eaLnBrk="1" hangingPunct="1">
              <a:lnSpc>
                <a:spcPct val="150000"/>
              </a:lnSpc>
              <a:buFont typeface="Wingdings" panose="05000000000000000000" pitchFamily="2" charset="2"/>
              <a:buNone/>
            </a:pPr>
            <a:r>
              <a:rPr lang="en-US" altLang="zh-CN" sz="2200" dirty="0" smtClean="0"/>
              <a:t>      π</a:t>
            </a:r>
            <a:r>
              <a:rPr lang="en-US" altLang="zh-CN" sz="2200" baseline="-30000" dirty="0" err="1" smtClean="0"/>
              <a:t>Sname</a:t>
            </a:r>
            <a:r>
              <a:rPr lang="en-US" altLang="zh-CN" sz="2200" baseline="-30000" dirty="0" smtClean="0"/>
              <a:t> </a:t>
            </a:r>
            <a:r>
              <a:rPr lang="en-US" altLang="zh-CN" sz="2200" dirty="0" smtClean="0"/>
              <a:t>(π</a:t>
            </a:r>
            <a:r>
              <a:rPr lang="en-US" altLang="zh-CN" sz="2200" baseline="-30000" dirty="0" err="1" smtClean="0"/>
              <a:t>Sno</a:t>
            </a:r>
            <a:r>
              <a:rPr lang="en-US" altLang="zh-CN" sz="2200" baseline="-30000" dirty="0" smtClean="0"/>
              <a:t> </a:t>
            </a:r>
            <a:r>
              <a:rPr lang="en-US" altLang="zh-CN" sz="2200" dirty="0" smtClean="0">
                <a:solidFill>
                  <a:srgbClr val="E02920"/>
                </a:solidFill>
              </a:rPr>
              <a:t>(</a:t>
            </a:r>
            <a:r>
              <a:rPr lang="en-US" altLang="zh-CN" sz="2200" dirty="0" err="1" smtClean="0">
                <a:solidFill>
                  <a:srgbClr val="E02920"/>
                </a:solidFill>
              </a:rPr>
              <a:t>σ</a:t>
            </a:r>
            <a:r>
              <a:rPr lang="en-US" altLang="zh-CN" sz="2200" baseline="-30000" dirty="0" err="1" smtClean="0">
                <a:solidFill>
                  <a:srgbClr val="E02920"/>
                </a:solidFill>
              </a:rPr>
              <a:t>Cpno</a:t>
            </a:r>
            <a:r>
              <a:rPr lang="en-US" altLang="zh-CN" sz="2200" baseline="-30000" dirty="0" smtClean="0">
                <a:solidFill>
                  <a:srgbClr val="E02920"/>
                </a:solidFill>
              </a:rPr>
              <a:t>='5' </a:t>
            </a:r>
            <a:r>
              <a:rPr lang="en-US" altLang="zh-CN" sz="2200" dirty="0" smtClean="0">
                <a:solidFill>
                  <a:srgbClr val="E02920"/>
                </a:solidFill>
              </a:rPr>
              <a:t>(Course)    SC)     </a:t>
            </a:r>
            <a:r>
              <a:rPr lang="en-US" altLang="zh-CN" sz="2200" dirty="0" smtClean="0"/>
              <a:t>π</a:t>
            </a:r>
            <a:r>
              <a:rPr lang="en-US" altLang="zh-CN" sz="2200" baseline="-30000" dirty="0" err="1" smtClean="0"/>
              <a:t>Sno,Sname</a:t>
            </a:r>
            <a:r>
              <a:rPr lang="en-US" altLang="zh-CN" sz="2200" baseline="-30000" dirty="0" smtClean="0"/>
              <a:t> </a:t>
            </a:r>
            <a:r>
              <a:rPr lang="en-US" altLang="zh-CN" sz="2200" dirty="0" smtClean="0"/>
              <a:t>(Student))</a:t>
            </a:r>
            <a:r>
              <a:rPr lang="en-US" altLang="zh-CN" sz="2200" dirty="0" smtClean="0">
                <a:ea typeface="黑体" panose="02010609060101010101" pitchFamily="49" charset="-122"/>
              </a:rPr>
              <a:t> </a:t>
            </a:r>
            <a:r>
              <a:rPr lang="zh-CN" altLang="en-US" sz="2200" dirty="0" smtClean="0"/>
              <a:t> </a:t>
            </a:r>
            <a:endParaRPr lang="en-US" altLang="zh-CN" sz="2200" dirty="0" smtClean="0"/>
          </a:p>
          <a:p>
            <a:pPr algn="just">
              <a:lnSpc>
                <a:spcPct val="150000"/>
              </a:lnSpc>
              <a:buClr>
                <a:schemeClr val="hlink"/>
              </a:buClr>
              <a:buFont typeface="Wingdings" panose="05000000000000000000" pitchFamily="2" charset="2"/>
              <a:buNone/>
            </a:pPr>
            <a:r>
              <a:rPr lang="en-US" altLang="zh-CN" sz="2200" dirty="0" smtClean="0">
                <a:ea typeface="黑体" panose="02010609060101010101" pitchFamily="49" charset="-122"/>
              </a:rPr>
              <a:t>[</a:t>
            </a:r>
            <a:r>
              <a:rPr lang="zh-CN" altLang="en-US" sz="2200" dirty="0" smtClean="0">
                <a:ea typeface="黑体" panose="02010609060101010101" pitchFamily="49" charset="-122"/>
              </a:rPr>
              <a:t>例</a:t>
            </a:r>
            <a:r>
              <a:rPr lang="en-US" altLang="zh-CN" sz="2200" dirty="0" smtClean="0">
                <a:ea typeface="黑体" panose="02010609060101010101" pitchFamily="49" charset="-122"/>
              </a:rPr>
              <a:t>2.13</a:t>
            </a:r>
            <a:r>
              <a:rPr lang="en-US" altLang="zh-CN" sz="2200" dirty="0" smtClean="0"/>
              <a:t>]  </a:t>
            </a:r>
            <a:r>
              <a:rPr lang="zh-CN" altLang="en-US" sz="2200" dirty="0" smtClean="0"/>
              <a:t>查询选修了全部课程的学生号码和姓名。</a:t>
            </a:r>
          </a:p>
          <a:p>
            <a:pPr>
              <a:lnSpc>
                <a:spcPct val="150000"/>
              </a:lnSpc>
              <a:buClr>
                <a:schemeClr val="hlink"/>
              </a:buClr>
              <a:buFont typeface="Wingdings" panose="05000000000000000000" pitchFamily="2" charset="2"/>
              <a:buNone/>
            </a:pPr>
            <a:r>
              <a:rPr lang="zh-CN" altLang="en-US" sz="2200" dirty="0" smtClean="0"/>
              <a:t> </a:t>
            </a:r>
            <a:r>
              <a:rPr lang="en-US" altLang="zh-CN" sz="2200" dirty="0" smtClean="0"/>
              <a:t>π</a:t>
            </a:r>
            <a:r>
              <a:rPr lang="en-US" altLang="zh-CN" sz="2200" baseline="-30000" dirty="0" err="1" smtClean="0"/>
              <a:t>Sno,Cno</a:t>
            </a:r>
            <a:r>
              <a:rPr lang="en-US" altLang="zh-CN" sz="2200" dirty="0" smtClean="0"/>
              <a:t>(SC)÷π</a:t>
            </a:r>
            <a:r>
              <a:rPr lang="en-US" altLang="zh-CN" sz="2200" baseline="-30000" dirty="0" err="1" smtClean="0"/>
              <a:t>Cno</a:t>
            </a:r>
            <a:r>
              <a:rPr lang="en-US" altLang="zh-CN" sz="2200" dirty="0" smtClean="0"/>
              <a:t>(Course)</a:t>
            </a:r>
            <a:r>
              <a:rPr lang="zh-CN" altLang="en-US" sz="2200" dirty="0" smtClean="0"/>
              <a:t>     </a:t>
            </a:r>
            <a:r>
              <a:rPr lang="en-US" altLang="zh-CN" sz="2200" dirty="0" smtClean="0"/>
              <a:t>π</a:t>
            </a:r>
            <a:r>
              <a:rPr lang="en-US" altLang="zh-CN" sz="2200" baseline="-30000" dirty="0" err="1" smtClean="0"/>
              <a:t>Sno,Sname</a:t>
            </a:r>
            <a:r>
              <a:rPr lang="en-US" altLang="zh-CN" sz="2200" dirty="0" smtClean="0"/>
              <a:t>(Student)</a:t>
            </a:r>
            <a:r>
              <a:rPr lang="zh-CN" altLang="en-US" sz="2200" dirty="0" smtClean="0"/>
              <a:t> </a:t>
            </a:r>
          </a:p>
          <a:p>
            <a:pPr algn="just" eaLnBrk="1" hangingPunct="1">
              <a:lnSpc>
                <a:spcPct val="150000"/>
              </a:lnSpc>
              <a:buFont typeface="Wingdings" panose="05000000000000000000" pitchFamily="2" charset="2"/>
              <a:buNone/>
            </a:pPr>
            <a:endParaRPr lang="zh-CN" altLang="en-US" sz="2200" dirty="0" smtClean="0"/>
          </a:p>
        </p:txBody>
      </p:sp>
      <p:grpSp>
        <p:nvGrpSpPr>
          <p:cNvPr id="113668" name="Group 4"/>
          <p:cNvGrpSpPr>
            <a:grpSpLocks/>
          </p:cNvGrpSpPr>
          <p:nvPr/>
        </p:nvGrpSpPr>
        <p:grpSpPr bwMode="auto">
          <a:xfrm rot="10800000">
            <a:off x="3011272" y="2492375"/>
            <a:ext cx="990600" cy="914400"/>
            <a:chOff x="6431" y="11824"/>
            <a:chExt cx="705" cy="367"/>
          </a:xfrm>
        </p:grpSpPr>
        <p:sp>
          <p:nvSpPr>
            <p:cNvPr id="113682" name="AutoShape 5"/>
            <p:cNvSpPr>
              <a:spLocks noChangeArrowheads="1"/>
            </p:cNvSpPr>
            <p:nvPr/>
          </p:nvSpPr>
          <p:spPr bwMode="auto">
            <a:xfrm rot="5400000" flipV="1">
              <a:off x="6793" y="11792"/>
              <a:ext cx="78" cy="142"/>
            </a:xfrm>
            <a:prstGeom prst="flowChartCollate">
              <a:avLst/>
            </a:prstGeom>
            <a:solidFill>
              <a:srgbClr val="FFFFFF"/>
            </a:solidFill>
            <a:ln w="6350">
              <a:solidFill>
                <a:srgbClr val="000000"/>
              </a:solid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3683" name="Text Box 6"/>
            <p:cNvSpPr txBox="1">
              <a:spLocks noChangeArrowheads="1"/>
            </p:cNvSpPr>
            <p:nvPr/>
          </p:nvSpPr>
          <p:spPr bwMode="auto">
            <a:xfrm flipV="1">
              <a:off x="6431" y="11828"/>
              <a:ext cx="705"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r>
                <a:rPr lang="en-US" altLang="zh-CN" sz="600" i="1"/>
                <a:t> </a:t>
              </a:r>
              <a:endParaRPr lang="en-US" altLang="zh-CN"/>
            </a:p>
          </p:txBody>
        </p:sp>
      </p:grpSp>
      <p:grpSp>
        <p:nvGrpSpPr>
          <p:cNvPr id="113669" name="Group 7"/>
          <p:cNvGrpSpPr>
            <a:grpSpLocks/>
          </p:cNvGrpSpPr>
          <p:nvPr/>
        </p:nvGrpSpPr>
        <p:grpSpPr bwMode="auto">
          <a:xfrm rot="10800000">
            <a:off x="3418558" y="2551907"/>
            <a:ext cx="990600" cy="904875"/>
            <a:chOff x="6431" y="11828"/>
            <a:chExt cx="705" cy="363"/>
          </a:xfrm>
        </p:grpSpPr>
        <p:sp>
          <p:nvSpPr>
            <p:cNvPr id="113680" name="AutoShape 8"/>
            <p:cNvSpPr>
              <a:spLocks noChangeArrowheads="1"/>
            </p:cNvSpPr>
            <p:nvPr/>
          </p:nvSpPr>
          <p:spPr bwMode="auto">
            <a:xfrm rot="5400000" flipV="1">
              <a:off x="6707" y="11821"/>
              <a:ext cx="78" cy="142"/>
            </a:xfrm>
            <a:prstGeom prst="flowChartCollate">
              <a:avLst/>
            </a:prstGeom>
            <a:solidFill>
              <a:srgbClr val="FFFFFF"/>
            </a:solidFill>
            <a:ln w="6350">
              <a:solidFill>
                <a:srgbClr val="000000"/>
              </a:solid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3681" name="Text Box 9"/>
            <p:cNvSpPr txBox="1">
              <a:spLocks noChangeArrowheads="1"/>
            </p:cNvSpPr>
            <p:nvPr/>
          </p:nvSpPr>
          <p:spPr bwMode="auto">
            <a:xfrm flipV="1">
              <a:off x="6431" y="11828"/>
              <a:ext cx="705"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r>
                <a:rPr lang="en-US" altLang="zh-CN" sz="600" i="1"/>
                <a:t> </a:t>
              </a:r>
              <a:endParaRPr lang="en-US" altLang="zh-CN"/>
            </a:p>
          </p:txBody>
        </p:sp>
      </p:grpSp>
      <p:grpSp>
        <p:nvGrpSpPr>
          <p:cNvPr id="113670" name="Group 7"/>
          <p:cNvGrpSpPr>
            <a:grpSpLocks/>
          </p:cNvGrpSpPr>
          <p:nvPr/>
        </p:nvGrpSpPr>
        <p:grpSpPr bwMode="auto">
          <a:xfrm rot="10800000">
            <a:off x="3676650" y="3741332"/>
            <a:ext cx="990600" cy="903288"/>
            <a:chOff x="6431" y="11828"/>
            <a:chExt cx="705" cy="363"/>
          </a:xfrm>
        </p:grpSpPr>
        <p:sp>
          <p:nvSpPr>
            <p:cNvPr id="113678" name="AutoShape 8"/>
            <p:cNvSpPr>
              <a:spLocks noChangeArrowheads="1"/>
            </p:cNvSpPr>
            <p:nvPr/>
          </p:nvSpPr>
          <p:spPr bwMode="auto">
            <a:xfrm rot="5400000" flipV="1">
              <a:off x="6707" y="11821"/>
              <a:ext cx="78" cy="142"/>
            </a:xfrm>
            <a:prstGeom prst="flowChartCollate">
              <a:avLst/>
            </a:prstGeom>
            <a:solidFill>
              <a:srgbClr val="FFFFFF"/>
            </a:solidFill>
            <a:ln w="6350">
              <a:solidFill>
                <a:srgbClr val="000000"/>
              </a:solid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3679" name="Text Box 9"/>
            <p:cNvSpPr txBox="1">
              <a:spLocks noChangeArrowheads="1"/>
            </p:cNvSpPr>
            <p:nvPr/>
          </p:nvSpPr>
          <p:spPr bwMode="auto">
            <a:xfrm flipV="1">
              <a:off x="6431" y="11828"/>
              <a:ext cx="705"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r>
                <a:rPr lang="en-US" altLang="zh-CN" sz="600" i="1"/>
                <a:t> </a:t>
              </a:r>
              <a:endParaRPr lang="en-US" altLang="zh-CN"/>
            </a:p>
          </p:txBody>
        </p:sp>
      </p:grpSp>
      <p:grpSp>
        <p:nvGrpSpPr>
          <p:cNvPr id="113671" name="Group 7"/>
          <p:cNvGrpSpPr>
            <a:grpSpLocks/>
          </p:cNvGrpSpPr>
          <p:nvPr/>
        </p:nvGrpSpPr>
        <p:grpSpPr bwMode="auto">
          <a:xfrm rot="10800000">
            <a:off x="4324404" y="3752850"/>
            <a:ext cx="990600" cy="904875"/>
            <a:chOff x="6431" y="11828"/>
            <a:chExt cx="705" cy="363"/>
          </a:xfrm>
        </p:grpSpPr>
        <p:sp>
          <p:nvSpPr>
            <p:cNvPr id="113676" name="AutoShape 8"/>
            <p:cNvSpPr>
              <a:spLocks noChangeArrowheads="1"/>
            </p:cNvSpPr>
            <p:nvPr/>
          </p:nvSpPr>
          <p:spPr bwMode="auto">
            <a:xfrm rot="5400000" flipV="1">
              <a:off x="6707" y="11821"/>
              <a:ext cx="78" cy="142"/>
            </a:xfrm>
            <a:prstGeom prst="flowChartCollate">
              <a:avLst/>
            </a:prstGeom>
            <a:solidFill>
              <a:srgbClr val="FFFFFF"/>
            </a:solidFill>
            <a:ln w="6350">
              <a:solidFill>
                <a:srgbClr val="000000"/>
              </a:solid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3677" name="Text Box 9"/>
            <p:cNvSpPr txBox="1">
              <a:spLocks noChangeArrowheads="1"/>
            </p:cNvSpPr>
            <p:nvPr/>
          </p:nvSpPr>
          <p:spPr bwMode="auto">
            <a:xfrm flipV="1">
              <a:off x="6431" y="11828"/>
              <a:ext cx="705"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r>
                <a:rPr lang="en-US" altLang="zh-CN" sz="600" i="1"/>
                <a:t> </a:t>
              </a:r>
              <a:endParaRPr lang="en-US" altLang="zh-CN"/>
            </a:p>
          </p:txBody>
        </p:sp>
      </p:grpSp>
      <p:grpSp>
        <p:nvGrpSpPr>
          <p:cNvPr id="113673" name="Group 7"/>
          <p:cNvGrpSpPr>
            <a:grpSpLocks/>
          </p:cNvGrpSpPr>
          <p:nvPr/>
        </p:nvGrpSpPr>
        <p:grpSpPr bwMode="auto">
          <a:xfrm rot="10800000">
            <a:off x="3128381" y="4967677"/>
            <a:ext cx="990600" cy="904875"/>
            <a:chOff x="6431" y="11828"/>
            <a:chExt cx="705" cy="363"/>
          </a:xfrm>
        </p:grpSpPr>
        <p:sp>
          <p:nvSpPr>
            <p:cNvPr id="113674" name="AutoShape 8"/>
            <p:cNvSpPr>
              <a:spLocks noChangeArrowheads="1"/>
            </p:cNvSpPr>
            <p:nvPr/>
          </p:nvSpPr>
          <p:spPr bwMode="auto">
            <a:xfrm rot="5400000" flipV="1">
              <a:off x="6707" y="11821"/>
              <a:ext cx="78" cy="142"/>
            </a:xfrm>
            <a:prstGeom prst="flowChartCollate">
              <a:avLst/>
            </a:prstGeom>
            <a:solidFill>
              <a:srgbClr val="FFFFFF"/>
            </a:solidFill>
            <a:ln w="6350">
              <a:solidFill>
                <a:srgbClr val="000000"/>
              </a:solid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3675" name="Text Box 9"/>
            <p:cNvSpPr txBox="1">
              <a:spLocks noChangeArrowheads="1"/>
            </p:cNvSpPr>
            <p:nvPr/>
          </p:nvSpPr>
          <p:spPr bwMode="auto">
            <a:xfrm flipV="1">
              <a:off x="6431" y="11828"/>
              <a:ext cx="705"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r>
                <a:rPr lang="en-US" altLang="zh-CN" sz="600" i="1"/>
                <a:t> </a:t>
              </a:r>
              <a:endParaRPr lang="en-US" altLang="zh-CN"/>
            </a:p>
          </p:txBody>
        </p:sp>
      </p:grpSp>
    </p:spTree>
    <p:extLst>
      <p:ext uri="{BB962C8B-B14F-4D97-AF65-F5344CB8AC3E}">
        <p14:creationId xmlns:p14="http://schemas.microsoft.com/office/powerpoint/2010/main" val="3084940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3667">
                                            <p:txEl>
                                              <p:pRg st="1" end="1"/>
                                            </p:txEl>
                                          </p:spTgt>
                                        </p:tgtEl>
                                        <p:attrNameLst>
                                          <p:attrName>style.visibility</p:attrName>
                                        </p:attrNameLst>
                                      </p:cBhvr>
                                      <p:to>
                                        <p:strVal val="visible"/>
                                      </p:to>
                                    </p:set>
                                    <p:anim calcmode="lin" valueType="num">
                                      <p:cBhvr additive="base">
                                        <p:cTn id="7" dur="500" fill="hold"/>
                                        <p:tgtEl>
                                          <p:spTgt spid="11366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36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3667">
                                            <p:txEl>
                                              <p:pRg st="3" end="3"/>
                                            </p:txEl>
                                          </p:spTgt>
                                        </p:tgtEl>
                                        <p:attrNameLst>
                                          <p:attrName>style.visibility</p:attrName>
                                        </p:attrNameLst>
                                      </p:cBhvr>
                                      <p:to>
                                        <p:strVal val="visible"/>
                                      </p:to>
                                    </p:set>
                                    <p:anim calcmode="lin" valueType="num">
                                      <p:cBhvr additive="base">
                                        <p:cTn id="13" dur="500" fill="hold"/>
                                        <p:tgtEl>
                                          <p:spTgt spid="113667">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3667">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13667">
                                            <p:txEl>
                                              <p:pRg st="4" end="4"/>
                                            </p:txEl>
                                          </p:spTgt>
                                        </p:tgtEl>
                                        <p:attrNameLst>
                                          <p:attrName>style.visibility</p:attrName>
                                        </p:attrNameLst>
                                      </p:cBhvr>
                                      <p:to>
                                        <p:strVal val="visible"/>
                                      </p:to>
                                    </p:set>
                                    <p:anim calcmode="lin" valueType="num">
                                      <p:cBhvr additive="base">
                                        <p:cTn id="17" dur="500" fill="hold"/>
                                        <p:tgtEl>
                                          <p:spTgt spid="113667">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13667">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13667">
                                            <p:txEl>
                                              <p:pRg st="5" end="5"/>
                                            </p:txEl>
                                          </p:spTgt>
                                        </p:tgtEl>
                                        <p:attrNameLst>
                                          <p:attrName>style.visibility</p:attrName>
                                        </p:attrNameLst>
                                      </p:cBhvr>
                                      <p:to>
                                        <p:strVal val="visible"/>
                                      </p:to>
                                    </p:set>
                                    <p:anim calcmode="lin" valueType="num">
                                      <p:cBhvr additive="base">
                                        <p:cTn id="21" dur="500" fill="hold"/>
                                        <p:tgtEl>
                                          <p:spTgt spid="113667">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1366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13667">
                                            <p:txEl>
                                              <p:pRg st="7" end="7"/>
                                            </p:txEl>
                                          </p:spTgt>
                                        </p:tgtEl>
                                        <p:attrNameLst>
                                          <p:attrName>style.visibility</p:attrName>
                                        </p:attrNameLst>
                                      </p:cBhvr>
                                      <p:to>
                                        <p:strVal val="visible"/>
                                      </p:to>
                                    </p:set>
                                    <p:animEffect transition="in" filter="fade">
                                      <p:cBhvr>
                                        <p:cTn id="27" dur="1000"/>
                                        <p:tgtEl>
                                          <p:spTgt spid="113667">
                                            <p:txEl>
                                              <p:pRg st="7" end="7"/>
                                            </p:txEl>
                                          </p:spTgt>
                                        </p:tgtEl>
                                      </p:cBhvr>
                                    </p:animEffect>
                                    <p:anim calcmode="lin" valueType="num">
                                      <p:cBhvr>
                                        <p:cTn id="28" dur="1000" fill="hold"/>
                                        <p:tgtEl>
                                          <p:spTgt spid="113667">
                                            <p:txEl>
                                              <p:pRg st="7" end="7"/>
                                            </p:txEl>
                                          </p:spTgt>
                                        </p:tgtEl>
                                        <p:attrNameLst>
                                          <p:attrName>ppt_x</p:attrName>
                                        </p:attrNameLst>
                                      </p:cBhvr>
                                      <p:tavLst>
                                        <p:tav tm="0">
                                          <p:val>
                                            <p:strVal val="#ppt_x"/>
                                          </p:val>
                                        </p:tav>
                                        <p:tav tm="100000">
                                          <p:val>
                                            <p:strVal val="#ppt_x"/>
                                          </p:val>
                                        </p:tav>
                                      </p:tavLst>
                                    </p:anim>
                                    <p:anim calcmode="lin" valueType="num">
                                      <p:cBhvr>
                                        <p:cTn id="29" dur="1000" fill="hold"/>
                                        <p:tgtEl>
                                          <p:spTgt spid="11366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75" y="2000250"/>
            <a:ext cx="9102725" cy="426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p:cNvSpPr txBox="1">
            <a:spLocks noChangeArrowheads="1"/>
          </p:cNvSpPr>
          <p:nvPr/>
        </p:nvSpPr>
        <p:spPr>
          <a:xfrm>
            <a:off x="602715" y="259365"/>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zh-CN" altLang="en-US" sz="3600" dirty="0" smtClean="0"/>
              <a:t>综合举例（续）</a:t>
            </a:r>
            <a:endParaRPr lang="en-US" altLang="zh-CN" sz="3600" dirty="0" smtClean="0"/>
          </a:p>
        </p:txBody>
      </p:sp>
    </p:spTree>
    <p:extLst>
      <p:ext uri="{BB962C8B-B14F-4D97-AF65-F5344CB8AC3E}">
        <p14:creationId xmlns:p14="http://schemas.microsoft.com/office/powerpoint/2010/main" val="251878563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内容占位符 2"/>
          <p:cNvSpPr>
            <a:spLocks noGrp="1"/>
          </p:cNvSpPr>
          <p:nvPr>
            <p:ph idx="4294967295"/>
          </p:nvPr>
        </p:nvSpPr>
        <p:spPr>
          <a:xfrm>
            <a:off x="714375" y="1268186"/>
            <a:ext cx="7848600" cy="2070100"/>
          </a:xfrm>
        </p:spPr>
        <p:txBody>
          <a:bodyPr/>
          <a:lstStyle/>
          <a:p>
            <a:pPr eaLnBrk="1" hangingPunct="1">
              <a:buFont typeface="Wingdings" panose="05000000000000000000" pitchFamily="2" charset="2"/>
              <a:buNone/>
            </a:pPr>
            <a:r>
              <a:rPr lang="en-US" altLang="zh-CN" b="1" dirty="0" smtClean="0">
                <a:ea typeface="宋体" panose="02010600030101010101" pitchFamily="2" charset="-122"/>
              </a:rPr>
              <a:t>Example 1: </a:t>
            </a:r>
            <a:r>
              <a:rPr lang="en-US" altLang="zh-CN" dirty="0" smtClean="0">
                <a:ea typeface="宋体" panose="02010600030101010101" pitchFamily="2" charset="-122"/>
              </a:rPr>
              <a:t>Get supplier names for suppliers who supply part P2:</a:t>
            </a:r>
          </a:p>
          <a:p>
            <a:pPr eaLnBrk="1" hangingPunct="1"/>
            <a:endParaRPr lang="zh-CN" altLang="zh-CN" dirty="0" smtClean="0">
              <a:ea typeface="宋体" panose="02010600030101010101" pitchFamily="2" charset="-122"/>
            </a:endParaRPr>
          </a:p>
        </p:txBody>
      </p:sp>
      <p:graphicFrame>
        <p:nvGraphicFramePr>
          <p:cNvPr id="118789" name="Object 2"/>
          <p:cNvGraphicFramePr>
            <a:graphicFrameLocks noChangeAspect="1"/>
          </p:cNvGraphicFramePr>
          <p:nvPr>
            <p:extLst>
              <p:ext uri="{D42A27DB-BD31-4B8C-83A1-F6EECF244321}">
                <p14:modId xmlns:p14="http://schemas.microsoft.com/office/powerpoint/2010/main" val="188747107"/>
              </p:ext>
            </p:extLst>
          </p:nvPr>
        </p:nvGraphicFramePr>
        <p:xfrm>
          <a:off x="2571750" y="2161231"/>
          <a:ext cx="3562350" cy="619125"/>
        </p:xfrm>
        <a:graphic>
          <a:graphicData uri="http://schemas.openxmlformats.org/presentationml/2006/ole">
            <mc:AlternateContent xmlns:mc="http://schemas.openxmlformats.org/markup-compatibility/2006">
              <mc:Choice xmlns:v="urn:schemas-microsoft-com:vml" Requires="v">
                <p:oleObj spid="_x0000_s3380" name="Microsoft 公式 3.0" r:id="rId3" imgW="1370262" imgH="238513" progId="Equation.3">
                  <p:embed/>
                </p:oleObj>
              </mc:Choice>
              <mc:Fallback>
                <p:oleObj name="Microsoft 公式 3.0" r:id="rId3" imgW="1370262" imgH="238513"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1750" y="2161231"/>
                        <a:ext cx="3562350" cy="61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75" name="Rectangle 3"/>
          <p:cNvSpPr>
            <a:spLocks noChangeArrowheads="1"/>
          </p:cNvSpPr>
          <p:nvPr/>
        </p:nvSpPr>
        <p:spPr bwMode="auto">
          <a:xfrm>
            <a:off x="638175" y="3003001"/>
            <a:ext cx="74295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zh-CN" sz="2800" b="1" dirty="0">
                <a:latin typeface="Verdana" panose="020B0604030504040204" pitchFamily="34" charset="0"/>
                <a:ea typeface="宋体" panose="02010600030101010101" pitchFamily="2" charset="-122"/>
              </a:rPr>
              <a:t>Example </a:t>
            </a:r>
            <a:r>
              <a:rPr lang="en-US" altLang="zh-CN" sz="2800" dirty="0">
                <a:latin typeface="Verdana" panose="020B0604030504040204" pitchFamily="34" charset="0"/>
                <a:ea typeface="宋体" panose="02010600030101010101" pitchFamily="2" charset="-122"/>
              </a:rPr>
              <a:t>2:Get supplier names for suppliers who supply at least one red part:</a:t>
            </a:r>
          </a:p>
        </p:txBody>
      </p:sp>
      <p:graphicFrame>
        <p:nvGraphicFramePr>
          <p:cNvPr id="118791" name="Object 4"/>
          <p:cNvGraphicFramePr>
            <a:graphicFrameLocks noChangeAspect="1"/>
          </p:cNvGraphicFramePr>
          <p:nvPr>
            <p:extLst>
              <p:ext uri="{D42A27DB-BD31-4B8C-83A1-F6EECF244321}">
                <p14:modId xmlns:p14="http://schemas.microsoft.com/office/powerpoint/2010/main" val="3634344102"/>
              </p:ext>
            </p:extLst>
          </p:nvPr>
        </p:nvGraphicFramePr>
        <p:xfrm>
          <a:off x="2216150" y="4025638"/>
          <a:ext cx="4845050" cy="642937"/>
        </p:xfrm>
        <a:graphic>
          <a:graphicData uri="http://schemas.openxmlformats.org/presentationml/2006/ole">
            <mc:AlternateContent xmlns:mc="http://schemas.openxmlformats.org/markup-compatibility/2006">
              <mc:Choice xmlns:v="urn:schemas-microsoft-com:vml" Requires="v">
                <p:oleObj spid="_x0000_s3381" name="Microsoft 公式 3.0" r:id="rId5" imgW="1723078" imgH="228440" progId="Equation.3">
                  <p:embed/>
                </p:oleObj>
              </mc:Choice>
              <mc:Fallback>
                <p:oleObj name="Microsoft 公式 3.0" r:id="rId5" imgW="1723078" imgH="2284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16150" y="4025638"/>
                        <a:ext cx="4845050" cy="642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Rectangle 2"/>
          <p:cNvSpPr txBox="1">
            <a:spLocks noChangeArrowheads="1"/>
          </p:cNvSpPr>
          <p:nvPr/>
        </p:nvSpPr>
        <p:spPr>
          <a:xfrm>
            <a:off x="602715" y="259365"/>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zh-CN" altLang="en-US" sz="3600" dirty="0" smtClean="0"/>
              <a:t>综合举例（续）</a:t>
            </a:r>
            <a:endParaRPr lang="en-US" altLang="zh-CN" sz="3600" dirty="0" smtClean="0"/>
          </a:p>
        </p:txBody>
      </p:sp>
      <p:pic>
        <p:nvPicPr>
          <p:cNvPr id="7"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73679" y="4626639"/>
            <a:ext cx="4765222" cy="2231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1762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18789"/>
                                        </p:tgtEl>
                                        <p:attrNameLst>
                                          <p:attrName>style.visibility</p:attrName>
                                        </p:attrNameLst>
                                      </p:cBhvr>
                                      <p:to>
                                        <p:strVal val="visible"/>
                                      </p:to>
                                    </p:set>
                                    <p:animEffect transition="in" filter="blinds(horizontal)">
                                      <p:cBhvr>
                                        <p:cTn id="7" dur="500"/>
                                        <p:tgtEl>
                                          <p:spTgt spid="1187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18791"/>
                                        </p:tgtEl>
                                        <p:attrNameLst>
                                          <p:attrName>style.visibility</p:attrName>
                                        </p:attrNameLst>
                                      </p:cBhvr>
                                      <p:to>
                                        <p:strVal val="visible"/>
                                      </p:to>
                                    </p:set>
                                    <p:animEffect transition="in" filter="blinds(horizontal)">
                                      <p:cBhvr>
                                        <p:cTn id="12" dur="500"/>
                                        <p:tgtEl>
                                          <p:spTgt spid="1187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内容占位符 2"/>
          <p:cNvSpPr>
            <a:spLocks noGrp="1"/>
          </p:cNvSpPr>
          <p:nvPr>
            <p:ph idx="4294967295"/>
          </p:nvPr>
        </p:nvSpPr>
        <p:spPr>
          <a:xfrm>
            <a:off x="602715" y="1227838"/>
            <a:ext cx="7886700" cy="4351338"/>
          </a:xfrm>
        </p:spPr>
        <p:txBody>
          <a:bodyPr/>
          <a:lstStyle/>
          <a:p>
            <a:pPr eaLnBrk="1" hangingPunct="1">
              <a:buFont typeface="Wingdings" panose="05000000000000000000" pitchFamily="2" charset="2"/>
              <a:buNone/>
            </a:pPr>
            <a:r>
              <a:rPr lang="en-US" altLang="zh-CN" b="1" dirty="0" smtClean="0">
                <a:ea typeface="宋体" panose="02010600030101010101" pitchFamily="2" charset="-122"/>
              </a:rPr>
              <a:t>Example 3</a:t>
            </a:r>
            <a:r>
              <a:rPr lang="en-US" altLang="zh-CN" dirty="0" smtClean="0">
                <a:ea typeface="宋体" panose="02010600030101010101" pitchFamily="2" charset="-122"/>
              </a:rPr>
              <a:t>:Get supplier names for suppliers who supply all parts:</a:t>
            </a:r>
          </a:p>
          <a:p>
            <a:pPr eaLnBrk="1" hangingPunct="1"/>
            <a:endParaRPr lang="zh-CN" altLang="zh-CN" dirty="0" smtClean="0">
              <a:ea typeface="宋体" panose="02010600030101010101" pitchFamily="2" charset="-122"/>
            </a:endParaRPr>
          </a:p>
          <a:p>
            <a:pPr eaLnBrk="1" hangingPunct="1">
              <a:buFont typeface="Wingdings" panose="05000000000000000000" pitchFamily="2" charset="2"/>
              <a:buNone/>
            </a:pPr>
            <a:endParaRPr lang="en-US" altLang="zh-CN" b="1" dirty="0" smtClean="0">
              <a:ea typeface="宋体" panose="02010600030101010101" pitchFamily="2" charset="-122"/>
            </a:endParaRPr>
          </a:p>
          <a:p>
            <a:pPr eaLnBrk="1" hangingPunct="1">
              <a:buFont typeface="Wingdings" panose="05000000000000000000" pitchFamily="2" charset="2"/>
              <a:buNone/>
            </a:pPr>
            <a:r>
              <a:rPr lang="en-US" altLang="zh-CN" b="1" dirty="0" smtClean="0">
                <a:ea typeface="宋体" panose="02010600030101010101" pitchFamily="2" charset="-122"/>
              </a:rPr>
              <a:t>Example 4:</a:t>
            </a:r>
            <a:r>
              <a:rPr lang="en-US" altLang="zh-CN" dirty="0" smtClean="0">
                <a:ea typeface="宋体" panose="02010600030101010101" pitchFamily="2" charset="-122"/>
              </a:rPr>
              <a:t>Get supplier numbers for suppliers who supply at least all those parts supplied by supplier S2:</a:t>
            </a:r>
            <a:endParaRPr lang="zh-CN" altLang="zh-CN" dirty="0" smtClean="0">
              <a:ea typeface="宋体" panose="02010600030101010101" pitchFamily="2" charset="-122"/>
            </a:endParaRPr>
          </a:p>
          <a:p>
            <a:pPr eaLnBrk="1" hangingPunct="1"/>
            <a:endParaRPr lang="en-US" altLang="zh-CN" dirty="0" smtClean="0">
              <a:ea typeface="宋体" panose="02010600030101010101" pitchFamily="2" charset="-122"/>
            </a:endParaRPr>
          </a:p>
        </p:txBody>
      </p:sp>
      <p:graphicFrame>
        <p:nvGraphicFramePr>
          <p:cNvPr id="119813" name="Object 2"/>
          <p:cNvGraphicFramePr>
            <a:graphicFrameLocks noChangeAspect="1"/>
          </p:cNvGraphicFramePr>
          <p:nvPr>
            <p:extLst>
              <p:ext uri="{D42A27DB-BD31-4B8C-83A1-F6EECF244321}">
                <p14:modId xmlns:p14="http://schemas.microsoft.com/office/powerpoint/2010/main" val="1451235961"/>
              </p:ext>
            </p:extLst>
          </p:nvPr>
        </p:nvGraphicFramePr>
        <p:xfrm>
          <a:off x="1951191" y="1981136"/>
          <a:ext cx="5572125" cy="762000"/>
        </p:xfrm>
        <a:graphic>
          <a:graphicData uri="http://schemas.openxmlformats.org/presentationml/2006/ole">
            <mc:AlternateContent xmlns:mc="http://schemas.openxmlformats.org/markup-compatibility/2006">
              <mc:Choice xmlns:v="urn:schemas-microsoft-com:vml" Requires="v">
                <p:oleObj spid="_x0000_s4335" name="Microsoft 公式 3.0" r:id="rId3" imgW="1740701" imgH="238513" progId="Equation.3">
                  <p:embed/>
                </p:oleObj>
              </mc:Choice>
              <mc:Fallback>
                <p:oleObj name="Microsoft 公式 3.0" r:id="rId3" imgW="1740701" imgH="238513"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1191" y="1981136"/>
                        <a:ext cx="55721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Rectangle 2"/>
          <p:cNvSpPr txBox="1">
            <a:spLocks noChangeArrowheads="1"/>
          </p:cNvSpPr>
          <p:nvPr/>
        </p:nvSpPr>
        <p:spPr>
          <a:xfrm>
            <a:off x="602715" y="259365"/>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zh-CN" altLang="en-US" sz="3600" dirty="0" smtClean="0"/>
              <a:t>综合举例（续）</a:t>
            </a:r>
            <a:endParaRPr lang="en-US" altLang="zh-CN" sz="3600" dirty="0" smtClean="0"/>
          </a:p>
        </p:txBody>
      </p:sp>
      <p:grpSp>
        <p:nvGrpSpPr>
          <p:cNvPr id="4" name="组合 3"/>
          <p:cNvGrpSpPr/>
          <p:nvPr/>
        </p:nvGrpSpPr>
        <p:grpSpPr>
          <a:xfrm>
            <a:off x="1553454" y="3829279"/>
            <a:ext cx="6234094" cy="858517"/>
            <a:chOff x="1553454" y="5143729"/>
            <a:chExt cx="6234094" cy="858517"/>
          </a:xfrm>
        </p:grpSpPr>
        <p:pic>
          <p:nvPicPr>
            <p:cNvPr id="3" name="图片 2"/>
            <p:cNvPicPr>
              <a:picLocks noChangeAspect="1"/>
            </p:cNvPicPr>
            <p:nvPr/>
          </p:nvPicPr>
          <p:blipFill rotWithShape="1">
            <a:blip r:embed="rId5">
              <a:extLst>
                <a:ext uri="{28A0092B-C50C-407E-A947-70E740481C1C}">
                  <a14:useLocalDpi xmlns:a14="http://schemas.microsoft.com/office/drawing/2010/main" val="0"/>
                </a:ext>
              </a:extLst>
            </a:blip>
            <a:srcRect r="46272"/>
            <a:stretch/>
          </p:blipFill>
          <p:spPr>
            <a:xfrm>
              <a:off x="1553454" y="5187273"/>
              <a:ext cx="2699057" cy="786452"/>
            </a:xfrm>
            <a:prstGeom prst="rect">
              <a:avLst/>
            </a:prstGeom>
          </p:spPr>
        </p:pic>
        <p:pic>
          <p:nvPicPr>
            <p:cNvPr id="8" name="图片 7"/>
            <p:cNvPicPr>
              <a:picLocks noChangeAspect="1"/>
            </p:cNvPicPr>
            <p:nvPr/>
          </p:nvPicPr>
          <p:blipFill rotWithShape="1">
            <a:blip r:embed="rId5">
              <a:extLst>
                <a:ext uri="{28A0092B-C50C-407E-A947-70E740481C1C}">
                  <a14:useLocalDpi xmlns:a14="http://schemas.microsoft.com/office/drawing/2010/main" val="0"/>
                </a:ext>
              </a:extLst>
            </a:blip>
            <a:srcRect r="90351"/>
            <a:stretch/>
          </p:blipFill>
          <p:spPr>
            <a:xfrm>
              <a:off x="4252512" y="5212062"/>
              <a:ext cx="484742" cy="786452"/>
            </a:xfrm>
            <a:prstGeom prst="rect">
              <a:avLst/>
            </a:prstGeom>
          </p:spPr>
        </p:pic>
        <p:pic>
          <p:nvPicPr>
            <p:cNvPr id="9" name="图片 8"/>
            <p:cNvPicPr>
              <a:picLocks noChangeAspect="1"/>
            </p:cNvPicPr>
            <p:nvPr/>
          </p:nvPicPr>
          <p:blipFill rotWithShape="1">
            <a:blip r:embed="rId5">
              <a:extLst>
                <a:ext uri="{28A0092B-C50C-407E-A947-70E740481C1C}">
                  <a14:useLocalDpi xmlns:a14="http://schemas.microsoft.com/office/drawing/2010/main" val="0"/>
                </a:ext>
              </a:extLst>
            </a:blip>
            <a:srcRect l="41525" r="53211"/>
            <a:stretch/>
          </p:blipFill>
          <p:spPr>
            <a:xfrm>
              <a:off x="7523143" y="5203001"/>
              <a:ext cx="264405" cy="786452"/>
            </a:xfrm>
            <a:prstGeom prst="rect">
              <a:avLst/>
            </a:prstGeom>
          </p:spPr>
        </p:pic>
        <p:pic>
          <p:nvPicPr>
            <p:cNvPr id="10" name="图片 9"/>
            <p:cNvPicPr>
              <a:picLocks noChangeAspect="1"/>
            </p:cNvPicPr>
            <p:nvPr/>
          </p:nvPicPr>
          <p:blipFill rotWithShape="1">
            <a:blip r:embed="rId5">
              <a:extLst>
                <a:ext uri="{28A0092B-C50C-407E-A947-70E740481C1C}">
                  <a14:useLocalDpi xmlns:a14="http://schemas.microsoft.com/office/drawing/2010/main" val="0"/>
                </a:ext>
              </a:extLst>
            </a:blip>
            <a:srcRect l="17877" r="73931"/>
            <a:stretch/>
          </p:blipFill>
          <p:spPr>
            <a:xfrm>
              <a:off x="4737254" y="5143729"/>
              <a:ext cx="411526" cy="786452"/>
            </a:xfrm>
            <a:prstGeom prst="rect">
              <a:avLst/>
            </a:prstGeom>
          </p:spPr>
        </p:pic>
        <p:pic>
          <p:nvPicPr>
            <p:cNvPr id="11" name="图片 10"/>
            <p:cNvPicPr>
              <a:picLocks noChangeAspect="1"/>
            </p:cNvPicPr>
            <p:nvPr/>
          </p:nvPicPr>
          <p:blipFill rotWithShape="1">
            <a:blip r:embed="rId5">
              <a:extLst>
                <a:ext uri="{28A0092B-C50C-407E-A947-70E740481C1C}">
                  <a14:useLocalDpi xmlns:a14="http://schemas.microsoft.com/office/drawing/2010/main" val="0"/>
                </a:ext>
              </a:extLst>
            </a:blip>
            <a:srcRect l="53871"/>
            <a:stretch/>
          </p:blipFill>
          <p:spPr>
            <a:xfrm>
              <a:off x="5309518" y="5215794"/>
              <a:ext cx="2317292" cy="786452"/>
            </a:xfrm>
            <a:prstGeom prst="rect">
              <a:avLst/>
            </a:prstGeom>
          </p:spPr>
        </p:pic>
        <p:pic>
          <p:nvPicPr>
            <p:cNvPr id="12" name="图片 11"/>
            <p:cNvPicPr>
              <a:picLocks noChangeAspect="1"/>
            </p:cNvPicPr>
            <p:nvPr/>
          </p:nvPicPr>
          <p:blipFill rotWithShape="1">
            <a:blip r:embed="rId5">
              <a:extLst>
                <a:ext uri="{28A0092B-C50C-407E-A947-70E740481C1C}">
                  <a14:useLocalDpi xmlns:a14="http://schemas.microsoft.com/office/drawing/2010/main" val="0"/>
                </a:ext>
              </a:extLst>
            </a:blip>
            <a:srcRect l="25580" r="69376"/>
            <a:stretch/>
          </p:blipFill>
          <p:spPr>
            <a:xfrm>
              <a:off x="5148780" y="5185950"/>
              <a:ext cx="253388" cy="786452"/>
            </a:xfrm>
            <a:prstGeom prst="rect">
              <a:avLst/>
            </a:prstGeom>
          </p:spPr>
        </p:pic>
      </p:grpSp>
      <p:pic>
        <p:nvPicPr>
          <p:cNvPr id="13"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673679" y="4626639"/>
            <a:ext cx="4765222" cy="2231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22035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19813"/>
                                        </p:tgtEl>
                                        <p:attrNameLst>
                                          <p:attrName>style.visibility</p:attrName>
                                        </p:attrNameLst>
                                      </p:cBhvr>
                                      <p:to>
                                        <p:strVal val="visible"/>
                                      </p:to>
                                    </p:set>
                                    <p:animEffect transition="in" filter="blinds(horizontal)">
                                      <p:cBhvr>
                                        <p:cTn id="7" dur="500"/>
                                        <p:tgtEl>
                                          <p:spTgt spid="1198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2"/>
          <p:cNvSpPr txBox="1">
            <a:spLocks/>
          </p:cNvSpPr>
          <p:nvPr/>
        </p:nvSpPr>
        <p:spPr>
          <a:xfrm>
            <a:off x="714375" y="1268186"/>
            <a:ext cx="7848600" cy="20701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p"/>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n"/>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b="1" dirty="0" smtClean="0">
                <a:ea typeface="宋体" panose="02010600030101010101" pitchFamily="2" charset="-122"/>
              </a:rPr>
              <a:t>课后练习题</a:t>
            </a:r>
            <a:r>
              <a:rPr lang="en-US" altLang="zh-CN" b="1" dirty="0" smtClean="0">
                <a:ea typeface="宋体" panose="02010600030101010101" pitchFamily="2" charset="-122"/>
              </a:rPr>
              <a:t>6</a:t>
            </a:r>
            <a:r>
              <a:rPr lang="zh-CN" altLang="en-US" b="1" dirty="0" smtClean="0">
                <a:ea typeface="宋体" panose="02010600030101010101" pitchFamily="2" charset="-122"/>
              </a:rPr>
              <a:t>：</a:t>
            </a:r>
            <a:endParaRPr lang="en-US" altLang="zh-CN" b="1" dirty="0" smtClean="0">
              <a:ea typeface="宋体" panose="02010600030101010101" pitchFamily="2" charset="-122"/>
            </a:endParaRPr>
          </a:p>
          <a:p>
            <a:pPr>
              <a:buFont typeface="Wingdings" panose="05000000000000000000" pitchFamily="2" charset="2"/>
              <a:buNone/>
            </a:pPr>
            <a:endParaRPr lang="en-US" altLang="zh-CN" b="1" dirty="0">
              <a:ea typeface="宋体" panose="02010600030101010101" pitchFamily="2" charset="-122"/>
            </a:endParaRPr>
          </a:p>
          <a:p>
            <a:pPr>
              <a:buFont typeface="Wingdings" panose="05000000000000000000" pitchFamily="2" charset="2"/>
              <a:buNone/>
            </a:pPr>
            <a:endParaRPr lang="zh-CN" altLang="zh-CN" dirty="0" smtClean="0">
              <a:ea typeface="宋体" panose="02010600030101010101" pitchFamily="2" charset="-122"/>
            </a:endParaRPr>
          </a:p>
        </p:txBody>
      </p:sp>
      <p:sp>
        <p:nvSpPr>
          <p:cNvPr id="3" name="矩形 2"/>
          <p:cNvSpPr/>
          <p:nvPr/>
        </p:nvSpPr>
        <p:spPr>
          <a:xfrm>
            <a:off x="1347324" y="1813592"/>
            <a:ext cx="6429122" cy="1200329"/>
          </a:xfrm>
          <a:prstGeom prst="rect">
            <a:avLst/>
          </a:prstGeom>
        </p:spPr>
        <p:txBody>
          <a:bodyPr wrap="square">
            <a:spAutoFit/>
          </a:bodyPr>
          <a:lstStyle/>
          <a:p>
            <a:pPr algn="just">
              <a:spcAft>
                <a:spcPts val="0"/>
              </a:spcAft>
            </a:pPr>
            <a:r>
              <a:rPr lang="zh-CN" altLang="zh-CN" kern="100" dirty="0">
                <a:latin typeface="Calibri" panose="020F0502020204030204" pitchFamily="34" charset="0"/>
                <a:cs typeface="Times New Roman" panose="02020603050405020304" pitchFamily="18" charset="0"/>
              </a:rPr>
              <a:t>（</a:t>
            </a:r>
            <a:r>
              <a:rPr lang="en-US" altLang="zh-CN" kern="100" dirty="0">
                <a:latin typeface="Calibri" panose="020F0502020204030204" pitchFamily="34" charset="0"/>
                <a:cs typeface="Times New Roman" panose="02020603050405020304" pitchFamily="18" charset="0"/>
              </a:rPr>
              <a:t>3</a:t>
            </a:r>
            <a:r>
              <a:rPr lang="zh-CN" altLang="zh-CN" kern="100" dirty="0">
                <a:latin typeface="Calibri" panose="020F0502020204030204" pitchFamily="34" charset="0"/>
                <a:cs typeface="Times New Roman" panose="02020603050405020304" pitchFamily="18" charset="0"/>
              </a:rPr>
              <a:t>）求供应工程</a:t>
            </a:r>
            <a:r>
              <a:rPr lang="en-US" altLang="zh-CN" kern="100" dirty="0">
                <a:latin typeface="Calibri" panose="020F0502020204030204" pitchFamily="34" charset="0"/>
                <a:cs typeface="Times New Roman" panose="02020603050405020304" pitchFamily="18" charset="0"/>
              </a:rPr>
              <a:t>J1</a:t>
            </a:r>
            <a:r>
              <a:rPr lang="zh-CN" altLang="zh-CN" kern="100" dirty="0">
                <a:latin typeface="Calibri" panose="020F0502020204030204" pitchFamily="34" charset="0"/>
                <a:cs typeface="Times New Roman" panose="02020603050405020304" pitchFamily="18" charset="0"/>
              </a:rPr>
              <a:t>零件为红色的供应商号码</a:t>
            </a:r>
            <a:r>
              <a:rPr lang="en-US" altLang="zh-CN" kern="100" dirty="0" smtClean="0">
                <a:latin typeface="Calibri" panose="020F0502020204030204" pitchFamily="34" charset="0"/>
                <a:cs typeface="Times New Roman" panose="02020603050405020304" pitchFamily="18" charset="0"/>
              </a:rPr>
              <a:t>SNO</a:t>
            </a:r>
          </a:p>
          <a:p>
            <a:pPr algn="just">
              <a:spcAft>
                <a:spcPts val="0"/>
              </a:spcAft>
            </a:pPr>
            <a:r>
              <a:rPr lang="zh-CN" altLang="en-US" kern="100" dirty="0" smtClean="0">
                <a:latin typeface="Calibri" panose="020F0502020204030204" pitchFamily="34" charset="0"/>
                <a:cs typeface="Times New Roman" panose="02020603050405020304" pitchFamily="18" charset="0"/>
              </a:rPr>
              <a:t>（</a:t>
            </a:r>
            <a:r>
              <a:rPr lang="en-US" altLang="zh-CN" kern="100" dirty="0" smtClean="0">
                <a:latin typeface="Calibri" panose="020F0502020204030204" pitchFamily="34" charset="0"/>
                <a:cs typeface="Times New Roman" panose="02020603050405020304" pitchFamily="18" charset="0"/>
              </a:rPr>
              <a:t>4</a:t>
            </a:r>
            <a:r>
              <a:rPr lang="zh-CN" altLang="en-US" kern="100" dirty="0" smtClean="0">
                <a:latin typeface="Calibri" panose="020F0502020204030204" pitchFamily="34" charset="0"/>
                <a:cs typeface="Times New Roman" panose="02020603050405020304" pitchFamily="18" charset="0"/>
              </a:rPr>
              <a:t>）求没有使用天津供应商生产的红色零件的工程号</a:t>
            </a:r>
            <a:r>
              <a:rPr lang="en-US" altLang="zh-CN" kern="100" dirty="0" smtClean="0">
                <a:latin typeface="Calibri" panose="020F0502020204030204" pitchFamily="34" charset="0"/>
                <a:cs typeface="Times New Roman" panose="02020603050405020304" pitchFamily="18" charset="0"/>
              </a:rPr>
              <a:t>JNO</a:t>
            </a:r>
            <a:r>
              <a:rPr lang="en-US" altLang="zh-CN" kern="100" dirty="0">
                <a:latin typeface="Calibri" panose="020F0502020204030204" pitchFamily="34" charset="0"/>
                <a:cs typeface="Times New Roman" panose="02020603050405020304" pitchFamily="18" charset="0"/>
              </a:rPr>
              <a:t> </a:t>
            </a:r>
            <a:endParaRPr lang="zh-CN" altLang="zh-CN" kern="100" dirty="0">
              <a:latin typeface="Calibri" panose="020F0502020204030204" pitchFamily="34" charset="0"/>
              <a:cs typeface="Times New Roman" panose="02020603050405020304" pitchFamily="18" charset="0"/>
            </a:endParaRPr>
          </a:p>
          <a:p>
            <a:pPr algn="just">
              <a:spcAft>
                <a:spcPts val="0"/>
              </a:spcAft>
            </a:pPr>
            <a:r>
              <a:rPr lang="zh-CN" altLang="zh-CN" kern="100" dirty="0">
                <a:latin typeface="Calibri" panose="020F0502020204030204" pitchFamily="34" charset="0"/>
                <a:cs typeface="Times New Roman" panose="02020603050405020304" pitchFamily="18" charset="0"/>
              </a:rPr>
              <a:t>（</a:t>
            </a:r>
            <a:r>
              <a:rPr lang="en-US" altLang="zh-CN" kern="100" dirty="0">
                <a:latin typeface="Calibri" panose="020F0502020204030204" pitchFamily="34" charset="0"/>
                <a:cs typeface="Times New Roman" panose="02020603050405020304" pitchFamily="18" charset="0"/>
              </a:rPr>
              <a:t>5</a:t>
            </a:r>
            <a:r>
              <a:rPr lang="zh-CN" altLang="zh-CN" kern="100" dirty="0">
                <a:latin typeface="Calibri" panose="020F0502020204030204" pitchFamily="34" charset="0"/>
                <a:cs typeface="Times New Roman" panose="02020603050405020304" pitchFamily="18" charset="0"/>
              </a:rPr>
              <a:t>）求至少用了供应商</a:t>
            </a:r>
            <a:r>
              <a:rPr lang="en-US" altLang="zh-CN" kern="100" dirty="0">
                <a:latin typeface="Calibri" panose="020F0502020204030204" pitchFamily="34" charset="0"/>
                <a:cs typeface="Times New Roman" panose="02020603050405020304" pitchFamily="18" charset="0"/>
              </a:rPr>
              <a:t>S1</a:t>
            </a:r>
            <a:r>
              <a:rPr lang="zh-CN" altLang="zh-CN" kern="100" dirty="0">
                <a:latin typeface="Calibri" panose="020F0502020204030204" pitchFamily="34" charset="0"/>
                <a:cs typeface="Times New Roman" panose="02020603050405020304" pitchFamily="18" charset="0"/>
              </a:rPr>
              <a:t>所供应的全部零件的工程号</a:t>
            </a:r>
            <a:r>
              <a:rPr lang="en-US" altLang="zh-CN" kern="100" dirty="0">
                <a:latin typeface="Calibri" panose="020F0502020204030204" pitchFamily="34" charset="0"/>
                <a:cs typeface="Times New Roman" panose="02020603050405020304" pitchFamily="18" charset="0"/>
              </a:rPr>
              <a:t>JNO</a:t>
            </a:r>
            <a:r>
              <a:rPr lang="zh-CN" altLang="zh-CN" kern="100" dirty="0">
                <a:latin typeface="Calibri" panose="020F0502020204030204" pitchFamily="34" charset="0"/>
                <a:cs typeface="Times New Roman" panose="02020603050405020304" pitchFamily="18" charset="0"/>
              </a:rPr>
              <a:t>。</a:t>
            </a:r>
          </a:p>
          <a:p>
            <a:pPr algn="just">
              <a:spcAft>
                <a:spcPts val="0"/>
              </a:spcAft>
            </a:pPr>
            <a:r>
              <a:rPr lang="en-US" altLang="zh-CN" kern="100" dirty="0">
                <a:latin typeface="Calibri" panose="020F0502020204030204" pitchFamily="34" charset="0"/>
                <a:cs typeface="Times New Roman" panose="02020603050405020304" pitchFamily="18" charset="0"/>
              </a:rPr>
              <a:t> </a:t>
            </a:r>
            <a:endParaRPr lang="zh-CN" altLang="zh-CN" kern="100" dirty="0">
              <a:latin typeface="Calibri" panose="020F0502020204030204" pitchFamily="34" charset="0"/>
              <a:cs typeface="Times New Roman" panose="02020603050405020304" pitchFamily="18" charset="0"/>
            </a:endParaRPr>
          </a:p>
        </p:txBody>
      </p:sp>
      <p:pic>
        <p:nvPicPr>
          <p:cNvPr id="4" name="图片 3" descr="C:\Users\DELL\AppData\Local\Temp\1604285882(1).png"/>
          <p:cNvPicPr/>
          <p:nvPr/>
        </p:nvPicPr>
        <p:blipFill rotWithShape="1">
          <a:blip r:embed="rId2">
            <a:extLst>
              <a:ext uri="{28A0092B-C50C-407E-A947-70E740481C1C}">
                <a14:useLocalDpi xmlns:a14="http://schemas.microsoft.com/office/drawing/2010/main" val="0"/>
              </a:ext>
            </a:extLst>
          </a:blip>
          <a:srcRect t="61802"/>
          <a:stretch/>
        </p:blipFill>
        <p:spPr bwMode="auto">
          <a:xfrm>
            <a:off x="1097420" y="2871339"/>
            <a:ext cx="6928929" cy="3168044"/>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18663695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1355</TotalTime>
  <Words>3753</Words>
  <Application>Microsoft Office PowerPoint</Application>
  <PresentationFormat>全屏显示(4:3)</PresentationFormat>
  <Paragraphs>1373</Paragraphs>
  <Slides>66</Slides>
  <Notes>10</Notes>
  <HiddenSlides>3</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2</vt:i4>
      </vt:variant>
      <vt:variant>
        <vt:lpstr>幻灯片标题</vt:lpstr>
      </vt:variant>
      <vt:variant>
        <vt:i4>66</vt:i4>
      </vt:variant>
    </vt:vector>
  </HeadingPairs>
  <TitlesOfParts>
    <vt:vector size="86" baseType="lpstr">
      <vt:lpstr>Arial Unicode MS</vt:lpstr>
      <vt:lpstr>Monaco</vt:lpstr>
      <vt:lpstr>黑体</vt:lpstr>
      <vt:lpstr>黑体</vt:lpstr>
      <vt:lpstr>宋体</vt:lpstr>
      <vt:lpstr>微软雅黑</vt:lpstr>
      <vt:lpstr>Arial</vt:lpstr>
      <vt:lpstr>Book Antiqua</vt:lpstr>
      <vt:lpstr>Calibri</vt:lpstr>
      <vt:lpstr>Calibri Light</vt:lpstr>
      <vt:lpstr>Cambria Math</vt:lpstr>
      <vt:lpstr>Comic Sans MS</vt:lpstr>
      <vt:lpstr>Courier New</vt:lpstr>
      <vt:lpstr>Symbol</vt:lpstr>
      <vt:lpstr>Times New Roman</vt:lpstr>
      <vt:lpstr>Verdana</vt:lpstr>
      <vt:lpstr>Wingdings</vt:lpstr>
      <vt:lpstr>Office 主题</vt:lpstr>
      <vt:lpstr>Document</vt:lpstr>
      <vt:lpstr>Microsoft 公式 3.0</vt:lpstr>
      <vt:lpstr>关系代数</vt:lpstr>
      <vt:lpstr>内容目录</vt:lpstr>
      <vt:lpstr> 关系代数</vt:lpstr>
      <vt:lpstr> 关系代数</vt:lpstr>
      <vt:lpstr>关系代数与SQL的转换</vt:lpstr>
      <vt:lpstr> 关系代数</vt:lpstr>
      <vt:lpstr>（1） 并（Union）</vt:lpstr>
      <vt:lpstr>并（续）</vt:lpstr>
      <vt:lpstr>（2）差（Difference）</vt:lpstr>
      <vt:lpstr>差（续）</vt:lpstr>
      <vt:lpstr>PowerPoint 演示文稿</vt:lpstr>
      <vt:lpstr>（3） 交（Intersection）</vt:lpstr>
      <vt:lpstr>交 （续）</vt:lpstr>
      <vt:lpstr>交 （续）</vt:lpstr>
      <vt:lpstr>（4） 笛卡尔积（Cartesian Product）</vt:lpstr>
      <vt:lpstr>笛卡尔积 （续）</vt:lpstr>
      <vt:lpstr> 关系代数</vt:lpstr>
      <vt:lpstr>集合查询</vt:lpstr>
      <vt:lpstr>集合查询（续）</vt:lpstr>
      <vt:lpstr>集合查询（续）</vt:lpstr>
      <vt:lpstr>集合查询（续）</vt:lpstr>
      <vt:lpstr> 关系代数</vt:lpstr>
      <vt:lpstr>2. 专门的关系运算</vt:lpstr>
      <vt:lpstr>2. 专门的关系运算</vt:lpstr>
      <vt:lpstr>专门的关系运算（续）</vt:lpstr>
      <vt:lpstr>专门的关系运算（续）</vt:lpstr>
      <vt:lpstr>专门的关系运算（续）</vt:lpstr>
      <vt:lpstr>专门的关系运算（续）</vt:lpstr>
      <vt:lpstr>专门的关系运算（续）</vt:lpstr>
      <vt:lpstr>（1）选择（Selection） </vt:lpstr>
      <vt:lpstr>选择（续）</vt:lpstr>
      <vt:lpstr>选择（续）</vt:lpstr>
      <vt:lpstr>2. 投影（Projection） </vt:lpstr>
      <vt:lpstr>投影（续）</vt:lpstr>
      <vt:lpstr>投影（续）</vt:lpstr>
      <vt:lpstr>投影（续）</vt:lpstr>
      <vt:lpstr>3. 连接（Join） </vt:lpstr>
      <vt:lpstr> 连接（续） </vt:lpstr>
      <vt:lpstr> 连接（续） </vt:lpstr>
      <vt:lpstr> 连接（续） </vt:lpstr>
      <vt:lpstr> 连接（续） </vt:lpstr>
      <vt:lpstr> 连接（续） </vt:lpstr>
      <vt:lpstr>连接（续）</vt:lpstr>
      <vt:lpstr>连接（续）</vt:lpstr>
      <vt:lpstr>连接（续）</vt:lpstr>
      <vt:lpstr>连接（续）</vt:lpstr>
      <vt:lpstr>连接（续）</vt:lpstr>
      <vt:lpstr>连接（续）</vt:lpstr>
      <vt:lpstr>连接（续）</vt:lpstr>
      <vt:lpstr>连接（续）</vt:lpstr>
      <vt:lpstr>连接（续）</vt:lpstr>
      <vt:lpstr>4.除运算</vt:lpstr>
      <vt:lpstr>4. 除运算（Division） </vt:lpstr>
      <vt:lpstr>除运算（续）</vt:lpstr>
      <vt:lpstr>除运算（续）</vt:lpstr>
      <vt:lpstr>PowerPoint 演示文稿</vt:lpstr>
      <vt:lpstr>综合举例</vt:lpstr>
      <vt:lpstr>综合举例（续）</vt:lpstr>
      <vt:lpstr>综合举例（续）</vt:lpstr>
      <vt:lpstr>PowerPoint 演示文稿</vt:lpstr>
      <vt:lpstr>专门的关系运算（续）</vt:lpstr>
      <vt:lpstr>综合举例（续）</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DELL</dc:creator>
  <cp:lastModifiedBy>DELL</cp:lastModifiedBy>
  <cp:revision>339</cp:revision>
  <dcterms:created xsi:type="dcterms:W3CDTF">2020-09-13T01:44:02Z</dcterms:created>
  <dcterms:modified xsi:type="dcterms:W3CDTF">2025-10-09T03:17:36Z</dcterms:modified>
</cp:coreProperties>
</file>