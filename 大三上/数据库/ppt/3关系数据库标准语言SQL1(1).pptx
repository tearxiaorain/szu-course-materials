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doc" ContentType="application/msword"/>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4"/>
  </p:notesMasterIdLst>
  <p:sldIdLst>
    <p:sldId id="256" r:id="rId2"/>
    <p:sldId id="259" r:id="rId3"/>
    <p:sldId id="338" r:id="rId4"/>
    <p:sldId id="442" r:id="rId5"/>
    <p:sldId id="340" r:id="rId6"/>
    <p:sldId id="395" r:id="rId7"/>
    <p:sldId id="346" r:id="rId8"/>
    <p:sldId id="358" r:id="rId9"/>
    <p:sldId id="392" r:id="rId10"/>
    <p:sldId id="361" r:id="rId11"/>
    <p:sldId id="362" r:id="rId12"/>
    <p:sldId id="364" r:id="rId13"/>
    <p:sldId id="367" r:id="rId14"/>
    <p:sldId id="393" r:id="rId15"/>
    <p:sldId id="368" r:id="rId16"/>
    <p:sldId id="369" r:id="rId17"/>
    <p:sldId id="370" r:id="rId18"/>
    <p:sldId id="376" r:id="rId19"/>
    <p:sldId id="377" r:id="rId20"/>
    <p:sldId id="378" r:id="rId21"/>
    <p:sldId id="394" r:id="rId22"/>
    <p:sldId id="441" r:id="rId23"/>
    <p:sldId id="396" r:id="rId24"/>
    <p:sldId id="399" r:id="rId25"/>
    <p:sldId id="403" r:id="rId26"/>
    <p:sldId id="404" r:id="rId27"/>
    <p:sldId id="437" r:id="rId28"/>
    <p:sldId id="411" r:id="rId29"/>
    <p:sldId id="414" r:id="rId30"/>
    <p:sldId id="421" r:id="rId31"/>
    <p:sldId id="426" r:id="rId32"/>
    <p:sldId id="429" r:id="rId3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1514" autoAdjust="0"/>
  </p:normalViewPr>
  <p:slideViewPr>
    <p:cSldViewPr snapToGrid="0">
      <p:cViewPr varScale="1">
        <p:scale>
          <a:sx n="105" d="100"/>
          <a:sy n="105" d="100"/>
        </p:scale>
        <p:origin x="70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014743-55CB-4535-BFA3-9EBD9B1C88C9}" type="datetimeFigureOut">
              <a:rPr lang="zh-CN" altLang="en-US" smtClean="0"/>
              <a:t>2025/9/19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58177-CB7F-483B-8710-93D2E5EA7162}" type="slidenum">
              <a:rPr lang="zh-CN" altLang="en-US" smtClean="0"/>
              <a:t>‹#›</a:t>
            </a:fld>
            <a:endParaRPr lang="zh-CN" altLang="en-US"/>
          </a:p>
        </p:txBody>
      </p:sp>
    </p:spTree>
    <p:extLst>
      <p:ext uri="{BB962C8B-B14F-4D97-AF65-F5344CB8AC3E}">
        <p14:creationId xmlns:p14="http://schemas.microsoft.com/office/powerpoint/2010/main" val="4185390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ea typeface="+mn-ea"/>
              </a:rPr>
              <a:t>Embedded DML (Embedded SQL) which supports the manipulation of data from a program in a high-level programming language. </a:t>
            </a:r>
          </a:p>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3</a:t>
            </a:fld>
            <a:endParaRPr lang="zh-CN" altLang="en-US"/>
          </a:p>
        </p:txBody>
      </p:sp>
    </p:spTree>
    <p:extLst>
      <p:ext uri="{BB962C8B-B14F-4D97-AF65-F5344CB8AC3E}">
        <p14:creationId xmlns:p14="http://schemas.microsoft.com/office/powerpoint/2010/main" val="725451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4</a:t>
            </a:fld>
            <a:endParaRPr lang="zh-CN" altLang="en-US"/>
          </a:p>
        </p:txBody>
      </p:sp>
    </p:spTree>
    <p:extLst>
      <p:ext uri="{BB962C8B-B14F-4D97-AF65-F5344CB8AC3E}">
        <p14:creationId xmlns:p14="http://schemas.microsoft.com/office/powerpoint/2010/main" val="2863693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ea typeface="+mn-ea"/>
              </a:rPr>
              <a:t>First developed at IBM's San Jose (now </a:t>
            </a:r>
            <a:r>
              <a:rPr lang="en-US" altLang="zh-CN" sz="1200" dirty="0" err="1" smtClean="0">
                <a:ea typeface="+mn-ea"/>
              </a:rPr>
              <a:t>Almaden</a:t>
            </a:r>
            <a:r>
              <a:rPr lang="en-US" altLang="zh-CN" sz="1200" dirty="0" smtClean="0">
                <a:ea typeface="+mn-ea"/>
              </a:rPr>
              <a:t>) Research Lab. in 1974.</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smtClean="0">
              <a:ea typeface="+mn-ea"/>
            </a:endParaRPr>
          </a:p>
          <a:p>
            <a:r>
              <a:rPr lang="zh-CN" altLang="en-US" sz="1200" b="0" i="0" kern="1200" dirty="0" smtClean="0">
                <a:solidFill>
                  <a:schemeClr val="tx1"/>
                </a:solidFill>
                <a:effectLst/>
                <a:latin typeface="+mn-lt"/>
                <a:ea typeface="+mn-ea"/>
                <a:cs typeface="+mn-cs"/>
              </a:rPr>
              <a:t>如果要了解标准的内容，比较推荐的方法是泛读</a:t>
            </a:r>
            <a:r>
              <a:rPr lang="en-US" altLang="zh-CN" sz="1200" b="0" i="0" kern="1200" dirty="0" smtClean="0">
                <a:solidFill>
                  <a:schemeClr val="tx1"/>
                </a:solidFill>
                <a:effectLst/>
                <a:latin typeface="+mn-lt"/>
                <a:ea typeface="+mn-ea"/>
                <a:cs typeface="+mn-cs"/>
              </a:rPr>
              <a:t>SQL92</a:t>
            </a:r>
            <a:r>
              <a:rPr lang="zh-CN" altLang="en-US" sz="1200" b="0" i="0" kern="1200" dirty="0" smtClean="0">
                <a:solidFill>
                  <a:schemeClr val="tx1"/>
                </a:solidFill>
                <a:effectLst/>
                <a:latin typeface="+mn-lt"/>
                <a:ea typeface="+mn-ea"/>
                <a:cs typeface="+mn-cs"/>
              </a:rPr>
              <a:t>（因为它涉及了</a:t>
            </a:r>
            <a:r>
              <a:rPr lang="en-US" altLang="zh-CN" sz="1200" b="0" i="0" kern="1200" dirty="0" smtClean="0">
                <a:solidFill>
                  <a:schemeClr val="tx1"/>
                </a:solidFill>
                <a:effectLst/>
                <a:latin typeface="+mn-lt"/>
                <a:ea typeface="+mn-ea"/>
                <a:cs typeface="+mn-cs"/>
              </a:rPr>
              <a:t>SQL</a:t>
            </a:r>
            <a:r>
              <a:rPr lang="zh-CN" altLang="en-US" sz="1200" b="0" i="0" kern="1200" dirty="0" smtClean="0">
                <a:solidFill>
                  <a:schemeClr val="tx1"/>
                </a:solidFill>
                <a:effectLst/>
                <a:latin typeface="+mn-lt"/>
                <a:ea typeface="+mn-ea"/>
                <a:cs typeface="+mn-cs"/>
              </a:rPr>
              <a:t>最基础和最核心的一些内容），然后增量式的阅读其他标准。标准在每次更新的时候，委员会的成员们都为大家提供比较好的介绍文档。例如针对最新的</a:t>
            </a:r>
            <a:r>
              <a:rPr lang="en-US" altLang="zh-CN" sz="1200" b="0" i="0" kern="1200" dirty="0" smtClean="0">
                <a:solidFill>
                  <a:schemeClr val="tx1"/>
                </a:solidFill>
                <a:effectLst/>
                <a:latin typeface="+mn-lt"/>
                <a:ea typeface="+mn-ea"/>
                <a:cs typeface="+mn-cs"/>
              </a:rPr>
              <a:t>SQL:2011</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SIGMODRecord</a:t>
            </a:r>
            <a:r>
              <a:rPr lang="zh-CN" altLang="en-US" sz="1200" b="0" i="0" kern="1200" dirty="0" smtClean="0">
                <a:solidFill>
                  <a:schemeClr val="tx1"/>
                </a:solidFill>
                <a:effectLst/>
                <a:latin typeface="+mn-lt"/>
                <a:ea typeface="+mn-ea"/>
                <a:cs typeface="+mn-cs"/>
              </a:rPr>
              <a:t>上就有很不错的介绍：</a:t>
            </a:r>
            <a:r>
              <a:rPr lang="en-US" altLang="zh-CN" sz="1200" b="0" i="0" kern="1200" dirty="0" smtClean="0">
                <a:solidFill>
                  <a:schemeClr val="tx1"/>
                </a:solidFill>
                <a:effectLst/>
                <a:latin typeface="+mn-lt"/>
                <a:ea typeface="+mn-ea"/>
                <a:cs typeface="+mn-cs"/>
              </a:rPr>
              <a:t>http://www.sigmod.org/publications/sigmod-record/1203/pdfs/10.industry.zemke.pdf</a:t>
            </a:r>
          </a:p>
          <a:p>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92 </a:t>
            </a:r>
            <a:r>
              <a:rPr lang="zh-CN" altLang="en-US" sz="1200" b="0" i="0" kern="1200" dirty="0" smtClean="0">
                <a:solidFill>
                  <a:schemeClr val="tx1"/>
                </a:solidFill>
                <a:effectLst/>
                <a:latin typeface="+mn-lt"/>
                <a:ea typeface="+mn-ea"/>
                <a:cs typeface="+mn-cs"/>
              </a:rPr>
              <a:t>包括：</a:t>
            </a:r>
            <a:r>
              <a:rPr lang="zh-CN" altLang="en-US" sz="1200" b="1" i="0" kern="1200" dirty="0" smtClean="0">
                <a:solidFill>
                  <a:schemeClr val="tx1"/>
                </a:solidFill>
                <a:effectLst/>
                <a:latin typeface="+mn-lt"/>
                <a:ea typeface="+mn-ea"/>
                <a:cs typeface="+mn-cs"/>
              </a:rPr>
              <a:t>入门级（</a:t>
            </a:r>
            <a:r>
              <a:rPr lang="en-US" altLang="zh-CN" sz="1200" b="1" i="0" kern="1200" dirty="0" smtClean="0">
                <a:solidFill>
                  <a:schemeClr val="tx1"/>
                </a:solidFill>
                <a:effectLst/>
                <a:latin typeface="+mn-lt"/>
                <a:ea typeface="+mn-ea"/>
                <a:cs typeface="+mn-cs"/>
              </a:rPr>
              <a:t>Entry level</a:t>
            </a:r>
            <a:r>
              <a:rPr lang="zh-CN" altLang="en-US" sz="1200" b="1"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过渡级，中间级，完备级</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可以看出，从</a:t>
            </a:r>
            <a:r>
              <a:rPr lang="en-US" altLang="zh-CN" sz="1200" b="0" i="0" kern="1200" dirty="0" smtClean="0">
                <a:solidFill>
                  <a:schemeClr val="tx1"/>
                </a:solidFill>
                <a:effectLst/>
                <a:latin typeface="+mn-lt"/>
                <a:ea typeface="+mn-ea"/>
                <a:cs typeface="+mn-cs"/>
              </a:rPr>
              <a:t>SQL99</a:t>
            </a:r>
            <a:r>
              <a:rPr lang="zh-CN" altLang="en-US" sz="1200" b="0" i="0" kern="1200" dirty="0" smtClean="0">
                <a:solidFill>
                  <a:schemeClr val="tx1"/>
                </a:solidFill>
                <a:effectLst/>
                <a:latin typeface="+mn-lt"/>
                <a:ea typeface="+mn-ea"/>
                <a:cs typeface="+mn-cs"/>
              </a:rPr>
              <a:t>开始，</a:t>
            </a:r>
            <a:r>
              <a:rPr lang="en-US" altLang="zh-CN" sz="1200" b="0" i="0" kern="1200" dirty="0" smtClean="0">
                <a:solidFill>
                  <a:schemeClr val="tx1"/>
                </a:solidFill>
                <a:effectLst/>
                <a:latin typeface="+mn-lt"/>
                <a:ea typeface="+mn-ea"/>
                <a:cs typeface="+mn-cs"/>
              </a:rPr>
              <a:t>SQL</a:t>
            </a:r>
            <a:r>
              <a:rPr lang="zh-CN" altLang="en-US" sz="1200" b="0" i="0" kern="1200" dirty="0" smtClean="0">
                <a:solidFill>
                  <a:schemeClr val="tx1"/>
                </a:solidFill>
                <a:effectLst/>
                <a:latin typeface="+mn-lt"/>
                <a:ea typeface="+mn-ea"/>
                <a:cs typeface="+mn-cs"/>
              </a:rPr>
              <a:t>标准的个头就非常庞大了，内容包罗万象，已经没有人能够掌握标准的所有内容了。以</a:t>
            </a:r>
            <a:r>
              <a:rPr lang="en-US" altLang="zh-CN" sz="1200" b="0" i="0" kern="1200" dirty="0" smtClean="0">
                <a:solidFill>
                  <a:schemeClr val="tx1"/>
                </a:solidFill>
                <a:effectLst/>
                <a:latin typeface="+mn-lt"/>
                <a:ea typeface="+mn-ea"/>
                <a:cs typeface="+mn-cs"/>
              </a:rPr>
              <a:t>SQL:2003</a:t>
            </a:r>
            <a:r>
              <a:rPr lang="zh-CN" altLang="en-US" sz="1200" b="0" i="0" kern="1200" dirty="0" smtClean="0">
                <a:solidFill>
                  <a:schemeClr val="tx1"/>
                </a:solidFill>
                <a:effectLst/>
                <a:latin typeface="+mn-lt"/>
                <a:ea typeface="+mn-ea"/>
                <a:cs typeface="+mn-cs"/>
              </a:rPr>
              <a:t>为例，它包括以下</a:t>
            </a:r>
            <a:r>
              <a:rPr lang="en-US" altLang="zh-CN" sz="1200" b="0" i="0" kern="1200" dirty="0" smtClean="0">
                <a:solidFill>
                  <a:schemeClr val="tx1"/>
                </a:solidFill>
                <a:effectLst/>
                <a:latin typeface="+mn-lt"/>
                <a:ea typeface="+mn-ea"/>
                <a:cs typeface="+mn-cs"/>
              </a:rPr>
              <a:t>9</a:t>
            </a:r>
            <a:r>
              <a:rPr lang="zh-CN" altLang="en-US" sz="1200" b="0" i="0" kern="1200" dirty="0" smtClean="0">
                <a:solidFill>
                  <a:schemeClr val="tx1"/>
                </a:solidFill>
                <a:effectLst/>
                <a:latin typeface="+mn-lt"/>
                <a:ea typeface="+mn-ea"/>
                <a:cs typeface="+mn-cs"/>
              </a:rPr>
              <a:t>个部分（中间编号空缺是曾经被占用，之后被废弃的标准造成的）：</a:t>
            </a:r>
            <a:r>
              <a:rPr lang="zh-CN" altLang="en-US" dirty="0" smtClean="0"/>
              <a:t/>
            </a:r>
            <a:br>
              <a:rPr lang="zh-CN" altLang="en-US" dirty="0" smtClean="0"/>
            </a:br>
            <a:r>
              <a:rPr lang="zh-CN" altLang="en-US" dirty="0" smtClean="0"/>
              <a:t/>
            </a:r>
            <a:br>
              <a:rPr lang="zh-CN" altLang="en-US" dirty="0" smtClean="0"/>
            </a:br>
            <a:r>
              <a:rPr lang="en-US" altLang="zh-CN" sz="1200" b="0" i="0" kern="1200" dirty="0" smtClean="0">
                <a:solidFill>
                  <a:schemeClr val="tx1"/>
                </a:solidFill>
                <a:effectLst/>
                <a:latin typeface="+mn-lt"/>
                <a:ea typeface="+mn-ea"/>
                <a:cs typeface="+mn-cs"/>
              </a:rPr>
              <a:t>ISO/IEC9075-1: Framework (SQL/Framework)</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9075-2: Foundation (SQL/Foundation)</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9075-3: Call Level Interface (SQL/CLI)</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9075-4: Persistent Stored Modules (SQL/PSM)</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9075-9: Management of External Data (SQL/MED)</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9075-10: Object Language Bindings (SQL/OLB)</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9075-11: Information and Definition Schemas (SQL/Schemata)</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9075-13: Java Routines and Types Using the Java Programming Language(SQL/JRT)</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9075-14: XML-Related Specifications (SQL/XML)</a:t>
            </a:r>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5</a:t>
            </a:fld>
            <a:endParaRPr lang="zh-CN" altLang="en-US"/>
          </a:p>
        </p:txBody>
      </p:sp>
    </p:spTree>
    <p:extLst>
      <p:ext uri="{BB962C8B-B14F-4D97-AF65-F5344CB8AC3E}">
        <p14:creationId xmlns:p14="http://schemas.microsoft.com/office/powerpoint/2010/main" val="871364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ea typeface="+mn-ea"/>
              </a:rPr>
              <a:t>First developed at IBM's San Jose (now </a:t>
            </a:r>
            <a:r>
              <a:rPr lang="en-US" altLang="zh-CN" sz="1200" dirty="0" err="1" smtClean="0">
                <a:ea typeface="+mn-ea"/>
              </a:rPr>
              <a:t>Almaden</a:t>
            </a:r>
            <a:r>
              <a:rPr lang="en-US" altLang="zh-CN" sz="1200" dirty="0" smtClean="0">
                <a:ea typeface="+mn-ea"/>
              </a:rPr>
              <a:t>) Research Lab. in 1974.</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smtClean="0">
              <a:ea typeface="+mn-ea"/>
            </a:endParaRPr>
          </a:p>
          <a:p>
            <a:r>
              <a:rPr lang="zh-CN" altLang="en-US" sz="1200" b="0" i="0" kern="1200" dirty="0" smtClean="0">
                <a:solidFill>
                  <a:schemeClr val="tx1"/>
                </a:solidFill>
                <a:effectLst/>
                <a:latin typeface="+mn-lt"/>
                <a:ea typeface="+mn-ea"/>
                <a:cs typeface="+mn-cs"/>
              </a:rPr>
              <a:t>如果要了解标准的内容，比较推荐的方法是泛读</a:t>
            </a:r>
            <a:r>
              <a:rPr lang="en-US" altLang="zh-CN" sz="1200" b="0" i="0" kern="1200" dirty="0" smtClean="0">
                <a:solidFill>
                  <a:schemeClr val="tx1"/>
                </a:solidFill>
                <a:effectLst/>
                <a:latin typeface="+mn-lt"/>
                <a:ea typeface="+mn-ea"/>
                <a:cs typeface="+mn-cs"/>
              </a:rPr>
              <a:t>SQL92</a:t>
            </a:r>
            <a:r>
              <a:rPr lang="zh-CN" altLang="en-US" sz="1200" b="0" i="0" kern="1200" dirty="0" smtClean="0">
                <a:solidFill>
                  <a:schemeClr val="tx1"/>
                </a:solidFill>
                <a:effectLst/>
                <a:latin typeface="+mn-lt"/>
                <a:ea typeface="+mn-ea"/>
                <a:cs typeface="+mn-cs"/>
              </a:rPr>
              <a:t>（因为它涉及了</a:t>
            </a:r>
            <a:r>
              <a:rPr lang="en-US" altLang="zh-CN" sz="1200" b="0" i="0" kern="1200" dirty="0" smtClean="0">
                <a:solidFill>
                  <a:schemeClr val="tx1"/>
                </a:solidFill>
                <a:effectLst/>
                <a:latin typeface="+mn-lt"/>
                <a:ea typeface="+mn-ea"/>
                <a:cs typeface="+mn-cs"/>
              </a:rPr>
              <a:t>SQL</a:t>
            </a:r>
            <a:r>
              <a:rPr lang="zh-CN" altLang="en-US" sz="1200" b="0" i="0" kern="1200" dirty="0" smtClean="0">
                <a:solidFill>
                  <a:schemeClr val="tx1"/>
                </a:solidFill>
                <a:effectLst/>
                <a:latin typeface="+mn-lt"/>
                <a:ea typeface="+mn-ea"/>
                <a:cs typeface="+mn-cs"/>
              </a:rPr>
              <a:t>最基础和最核心的一些内容），然后增量式的阅读其他标准。标准在每次更新的时候，委员会的成员们都为大家提供比较好的介绍文档。例如针对最新的</a:t>
            </a:r>
            <a:r>
              <a:rPr lang="en-US" altLang="zh-CN" sz="1200" b="0" i="0" kern="1200" dirty="0" smtClean="0">
                <a:solidFill>
                  <a:schemeClr val="tx1"/>
                </a:solidFill>
                <a:effectLst/>
                <a:latin typeface="+mn-lt"/>
                <a:ea typeface="+mn-ea"/>
                <a:cs typeface="+mn-cs"/>
              </a:rPr>
              <a:t>SQL:2011</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SIGMODRecord</a:t>
            </a:r>
            <a:r>
              <a:rPr lang="zh-CN" altLang="en-US" sz="1200" b="0" i="0" kern="1200" dirty="0" smtClean="0">
                <a:solidFill>
                  <a:schemeClr val="tx1"/>
                </a:solidFill>
                <a:effectLst/>
                <a:latin typeface="+mn-lt"/>
                <a:ea typeface="+mn-ea"/>
                <a:cs typeface="+mn-cs"/>
              </a:rPr>
              <a:t>上就有很不错的介绍：</a:t>
            </a:r>
            <a:r>
              <a:rPr lang="en-US" altLang="zh-CN" sz="1200" b="0" i="0" kern="1200" dirty="0" smtClean="0">
                <a:solidFill>
                  <a:schemeClr val="tx1"/>
                </a:solidFill>
                <a:effectLst/>
                <a:latin typeface="+mn-lt"/>
                <a:ea typeface="+mn-ea"/>
                <a:cs typeface="+mn-cs"/>
              </a:rPr>
              <a:t>http://www.sigmod.org/publications/sigmod-record/1203/pdfs/10.industry.zemke.pdf</a:t>
            </a:r>
          </a:p>
          <a:p>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92 </a:t>
            </a:r>
            <a:r>
              <a:rPr lang="zh-CN" altLang="en-US" sz="1200" b="0" i="0" kern="1200" dirty="0" smtClean="0">
                <a:solidFill>
                  <a:schemeClr val="tx1"/>
                </a:solidFill>
                <a:effectLst/>
                <a:latin typeface="+mn-lt"/>
                <a:ea typeface="+mn-ea"/>
                <a:cs typeface="+mn-cs"/>
              </a:rPr>
              <a:t>包括：</a:t>
            </a:r>
            <a:r>
              <a:rPr lang="zh-CN" altLang="en-US" sz="1200" b="1" i="0" kern="1200" dirty="0" smtClean="0">
                <a:solidFill>
                  <a:schemeClr val="tx1"/>
                </a:solidFill>
                <a:effectLst/>
                <a:latin typeface="+mn-lt"/>
                <a:ea typeface="+mn-ea"/>
                <a:cs typeface="+mn-cs"/>
              </a:rPr>
              <a:t>入门级（</a:t>
            </a:r>
            <a:r>
              <a:rPr lang="en-US" altLang="zh-CN" sz="1200" b="1" i="0" kern="1200" dirty="0" smtClean="0">
                <a:solidFill>
                  <a:schemeClr val="tx1"/>
                </a:solidFill>
                <a:effectLst/>
                <a:latin typeface="+mn-lt"/>
                <a:ea typeface="+mn-ea"/>
                <a:cs typeface="+mn-cs"/>
              </a:rPr>
              <a:t>Entry level</a:t>
            </a:r>
            <a:r>
              <a:rPr lang="zh-CN" altLang="en-US" sz="1200" b="1"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过渡级，中间级，完备级</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可以看出，从</a:t>
            </a:r>
            <a:r>
              <a:rPr lang="en-US" altLang="zh-CN" sz="1200" b="0" i="0" kern="1200" dirty="0" smtClean="0">
                <a:solidFill>
                  <a:schemeClr val="tx1"/>
                </a:solidFill>
                <a:effectLst/>
                <a:latin typeface="+mn-lt"/>
                <a:ea typeface="+mn-ea"/>
                <a:cs typeface="+mn-cs"/>
              </a:rPr>
              <a:t>SQL99</a:t>
            </a:r>
            <a:r>
              <a:rPr lang="zh-CN" altLang="en-US" sz="1200" b="0" i="0" kern="1200" dirty="0" smtClean="0">
                <a:solidFill>
                  <a:schemeClr val="tx1"/>
                </a:solidFill>
                <a:effectLst/>
                <a:latin typeface="+mn-lt"/>
                <a:ea typeface="+mn-ea"/>
                <a:cs typeface="+mn-cs"/>
              </a:rPr>
              <a:t>开始，</a:t>
            </a:r>
            <a:r>
              <a:rPr lang="en-US" altLang="zh-CN" sz="1200" b="0" i="0" kern="1200" dirty="0" smtClean="0">
                <a:solidFill>
                  <a:schemeClr val="tx1"/>
                </a:solidFill>
                <a:effectLst/>
                <a:latin typeface="+mn-lt"/>
                <a:ea typeface="+mn-ea"/>
                <a:cs typeface="+mn-cs"/>
              </a:rPr>
              <a:t>SQL</a:t>
            </a:r>
            <a:r>
              <a:rPr lang="zh-CN" altLang="en-US" sz="1200" b="0" i="0" kern="1200" dirty="0" smtClean="0">
                <a:solidFill>
                  <a:schemeClr val="tx1"/>
                </a:solidFill>
                <a:effectLst/>
                <a:latin typeface="+mn-lt"/>
                <a:ea typeface="+mn-ea"/>
                <a:cs typeface="+mn-cs"/>
              </a:rPr>
              <a:t>标准的个头就非常庞大了，内容包罗万象，已经没有人能够掌握标准的所有内容了。以</a:t>
            </a:r>
            <a:r>
              <a:rPr lang="en-US" altLang="zh-CN" sz="1200" b="0" i="0" kern="1200" dirty="0" smtClean="0">
                <a:solidFill>
                  <a:schemeClr val="tx1"/>
                </a:solidFill>
                <a:effectLst/>
                <a:latin typeface="+mn-lt"/>
                <a:ea typeface="+mn-ea"/>
                <a:cs typeface="+mn-cs"/>
              </a:rPr>
              <a:t>SQL:2003</a:t>
            </a:r>
            <a:r>
              <a:rPr lang="zh-CN" altLang="en-US" sz="1200" b="0" i="0" kern="1200" dirty="0" smtClean="0">
                <a:solidFill>
                  <a:schemeClr val="tx1"/>
                </a:solidFill>
                <a:effectLst/>
                <a:latin typeface="+mn-lt"/>
                <a:ea typeface="+mn-ea"/>
                <a:cs typeface="+mn-cs"/>
              </a:rPr>
              <a:t>为例，它包括以下</a:t>
            </a:r>
            <a:r>
              <a:rPr lang="en-US" altLang="zh-CN" sz="1200" b="0" i="0" kern="1200" dirty="0" smtClean="0">
                <a:solidFill>
                  <a:schemeClr val="tx1"/>
                </a:solidFill>
                <a:effectLst/>
                <a:latin typeface="+mn-lt"/>
                <a:ea typeface="+mn-ea"/>
                <a:cs typeface="+mn-cs"/>
              </a:rPr>
              <a:t>9</a:t>
            </a:r>
            <a:r>
              <a:rPr lang="zh-CN" altLang="en-US" sz="1200" b="0" i="0" kern="1200" dirty="0" smtClean="0">
                <a:solidFill>
                  <a:schemeClr val="tx1"/>
                </a:solidFill>
                <a:effectLst/>
                <a:latin typeface="+mn-lt"/>
                <a:ea typeface="+mn-ea"/>
                <a:cs typeface="+mn-cs"/>
              </a:rPr>
              <a:t>个部分（中间编号空缺是曾经被占用，之后被废弃的标准造成的）：</a:t>
            </a:r>
            <a:r>
              <a:rPr lang="zh-CN" altLang="en-US" dirty="0" smtClean="0"/>
              <a:t/>
            </a:r>
            <a:br>
              <a:rPr lang="zh-CN" altLang="en-US" dirty="0" smtClean="0"/>
            </a:br>
            <a:r>
              <a:rPr lang="zh-CN" altLang="en-US" dirty="0" smtClean="0"/>
              <a:t/>
            </a:r>
            <a:br>
              <a:rPr lang="zh-CN" altLang="en-US" dirty="0" smtClean="0"/>
            </a:br>
            <a:r>
              <a:rPr lang="en-US" altLang="zh-CN" sz="1200" b="0" i="0" kern="1200" dirty="0" smtClean="0">
                <a:solidFill>
                  <a:schemeClr val="tx1"/>
                </a:solidFill>
                <a:effectLst/>
                <a:latin typeface="+mn-lt"/>
                <a:ea typeface="+mn-ea"/>
                <a:cs typeface="+mn-cs"/>
              </a:rPr>
              <a:t>ISO/IEC9075-1: Framework (SQL/Framework)</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9075-2: Foundation (SQL/Foundation)</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9075-3: Call Level Interface (SQL/CLI)</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9075-4: Persistent Stored Modules (SQL/PSM)</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9075-9: Management of External Data (SQL/MED)</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9075-10: Object Language Bindings (SQL/OLB)</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9075-11: Information and Definition Schemas (SQL/Schemata)</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9075-13: Java Routines and Types Using the Java Programming Language(SQL/JRT)</a:t>
            </a:r>
            <a:r>
              <a:rPr lang="en-US" altLang="zh-CN" dirty="0" smtClean="0"/>
              <a:t/>
            </a:r>
            <a:br>
              <a:rPr lang="en-US" altLang="zh-CN" dirty="0" smtClean="0"/>
            </a:br>
            <a:r>
              <a:rPr lang="en-US" altLang="zh-CN" sz="1200" b="0" i="0" kern="1200" dirty="0" smtClean="0">
                <a:solidFill>
                  <a:schemeClr val="tx1"/>
                </a:solidFill>
                <a:effectLst/>
                <a:latin typeface="+mn-lt"/>
                <a:ea typeface="+mn-ea"/>
                <a:cs typeface="+mn-cs"/>
              </a:rPr>
              <a:t>ISO/IEC 9075-14: XML-Related Specifications (SQL/XML)</a:t>
            </a:r>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6</a:t>
            </a:fld>
            <a:endParaRPr lang="zh-CN" altLang="en-US"/>
          </a:p>
        </p:txBody>
      </p:sp>
    </p:spTree>
    <p:extLst>
      <p:ext uri="{BB962C8B-B14F-4D97-AF65-F5344CB8AC3E}">
        <p14:creationId xmlns:p14="http://schemas.microsoft.com/office/powerpoint/2010/main" val="770587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在</a:t>
            </a:r>
            <a:r>
              <a:rPr lang="en-US" altLang="zh-CN" sz="1200" b="0" i="0" kern="1200" dirty="0" smtClean="0">
                <a:solidFill>
                  <a:schemeClr val="tx1"/>
                </a:solidFill>
                <a:effectLst/>
                <a:latin typeface="+mn-lt"/>
                <a:ea typeface="+mn-ea"/>
                <a:cs typeface="+mn-cs"/>
              </a:rPr>
              <a:t>MySQL</a:t>
            </a:r>
            <a:r>
              <a:rPr lang="zh-CN" altLang="en-US" sz="1200" b="0" i="0" kern="1200" dirty="0" smtClean="0">
                <a:solidFill>
                  <a:schemeClr val="tx1"/>
                </a:solidFill>
                <a:effectLst/>
                <a:latin typeface="+mn-lt"/>
                <a:ea typeface="+mn-ea"/>
                <a:cs typeface="+mn-cs"/>
              </a:rPr>
              <a:t>中，如果你想修改数据库的名称，你不能直接使用一个简单的“修改”命令来改变数据库的名称。这是因为数据库的名称在创建时就被固定了，你不能直接更改它。但是，你可以通过创建一个新的数据库并迁移原有数据库中的所有数据和结构到新数据库中，然后删除旧的数据库来实现“修改”数据库名称的效果。</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因为在</a:t>
            </a:r>
            <a:r>
              <a:rPr lang="en-US" altLang="zh-CN" sz="1200" b="0" i="0" kern="1200" dirty="0" smtClean="0">
                <a:solidFill>
                  <a:schemeClr val="tx1"/>
                </a:solidFill>
                <a:effectLst/>
                <a:latin typeface="+mn-lt"/>
                <a:ea typeface="+mn-ea"/>
                <a:cs typeface="+mn-cs"/>
              </a:rPr>
              <a:t>MySQL</a:t>
            </a:r>
            <a:r>
              <a:rPr lang="zh-CN" altLang="en-US" sz="1200" b="0" i="0" kern="1200" dirty="0" smtClean="0">
                <a:solidFill>
                  <a:schemeClr val="tx1"/>
                </a:solidFill>
                <a:effectLst/>
                <a:latin typeface="+mn-lt"/>
                <a:ea typeface="+mn-ea"/>
                <a:cs typeface="+mn-cs"/>
              </a:rPr>
              <a:t>中，“模式”这个词通常指的是数据库的模式（</a:t>
            </a:r>
            <a:r>
              <a:rPr lang="en-US" altLang="zh-CN" sz="1200" b="0" i="0" kern="1200" dirty="0" smtClean="0">
                <a:solidFill>
                  <a:schemeClr val="tx1"/>
                </a:solidFill>
                <a:effectLst/>
                <a:latin typeface="+mn-lt"/>
                <a:ea typeface="+mn-ea"/>
                <a:cs typeface="+mn-cs"/>
              </a:rPr>
              <a:t>schema</a:t>
            </a:r>
            <a:r>
              <a:rPr lang="zh-CN" altLang="en-US" sz="1200" b="0" i="0" kern="1200" dirty="0" smtClean="0">
                <a:solidFill>
                  <a:schemeClr val="tx1"/>
                </a:solidFill>
                <a:effectLst/>
                <a:latin typeface="+mn-lt"/>
                <a:ea typeface="+mn-ea"/>
                <a:cs typeface="+mn-cs"/>
              </a:rPr>
              <a:t>），而不是文件系统级别的文件模式。不过，如果你想修改或更新数据库的结构，比如修改表结构、添加索引、更改字段类型等，你可以使用</a:t>
            </a:r>
            <a:r>
              <a:rPr lang="en-US" altLang="zh-CN" dirty="0" smtClean="0"/>
              <a:t>ALTER TABLE</a:t>
            </a:r>
            <a:r>
              <a:rPr lang="zh-CN" altLang="en-US" sz="1200" b="0" i="0" kern="1200" dirty="0" smtClean="0">
                <a:solidFill>
                  <a:schemeClr val="tx1"/>
                </a:solidFill>
                <a:effectLst/>
                <a:latin typeface="+mn-lt"/>
                <a:ea typeface="+mn-ea"/>
                <a:cs typeface="+mn-cs"/>
              </a:rPr>
              <a:t>语句。</a:t>
            </a:r>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8</a:t>
            </a:fld>
            <a:endParaRPr lang="zh-CN" altLang="en-US"/>
          </a:p>
        </p:txBody>
      </p:sp>
    </p:spTree>
    <p:extLst>
      <p:ext uri="{BB962C8B-B14F-4D97-AF65-F5344CB8AC3E}">
        <p14:creationId xmlns:p14="http://schemas.microsoft.com/office/powerpoint/2010/main" val="29133384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创建数据库实现和语法在不同的</a:t>
            </a:r>
            <a:r>
              <a:rPr lang="en-US" altLang="zh-CN" dirty="0" smtClean="0"/>
              <a:t>RDBMS</a:t>
            </a:r>
            <a:r>
              <a:rPr lang="zh-CN" altLang="en-US" dirty="0" smtClean="0"/>
              <a:t>实现之间有很大的差异。 </a:t>
            </a:r>
            <a:r>
              <a:rPr lang="en-US" altLang="zh-CN" dirty="0" smtClean="0"/>
              <a:t>DROP</a:t>
            </a:r>
            <a:r>
              <a:rPr lang="zh-CN" altLang="en-US" dirty="0" smtClean="0"/>
              <a:t>指令或被禁用</a:t>
            </a:r>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9</a:t>
            </a:fld>
            <a:endParaRPr lang="zh-CN" altLang="en-US"/>
          </a:p>
        </p:txBody>
      </p:sp>
    </p:spTree>
    <p:extLst>
      <p:ext uri="{BB962C8B-B14F-4D97-AF65-F5344CB8AC3E}">
        <p14:creationId xmlns:p14="http://schemas.microsoft.com/office/powerpoint/2010/main" val="4082403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11</a:t>
            </a:fld>
            <a:endParaRPr lang="zh-CN" altLang="en-US"/>
          </a:p>
        </p:txBody>
      </p:sp>
    </p:spTree>
    <p:extLst>
      <p:ext uri="{BB962C8B-B14F-4D97-AF65-F5344CB8AC3E}">
        <p14:creationId xmlns:p14="http://schemas.microsoft.com/office/powerpoint/2010/main" val="389386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13</a:t>
            </a:fld>
            <a:endParaRPr lang="zh-CN" altLang="en-US"/>
          </a:p>
        </p:txBody>
      </p:sp>
    </p:spTree>
    <p:extLst>
      <p:ext uri="{BB962C8B-B14F-4D97-AF65-F5344CB8AC3E}">
        <p14:creationId xmlns:p14="http://schemas.microsoft.com/office/powerpoint/2010/main" val="2485250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14</a:t>
            </a:fld>
            <a:endParaRPr lang="zh-CN" altLang="en-US"/>
          </a:p>
        </p:txBody>
      </p:sp>
    </p:spTree>
    <p:extLst>
      <p:ext uri="{BB962C8B-B14F-4D97-AF65-F5344CB8AC3E}">
        <p14:creationId xmlns:p14="http://schemas.microsoft.com/office/powerpoint/2010/main" val="409819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2" eaLnBrk="1" hangingPunct="1">
              <a:buFont typeface="Wingdings" panose="05000000000000000000" pitchFamily="2" charset="2"/>
              <a:buNone/>
            </a:pPr>
            <a:r>
              <a:rPr lang="en-US" altLang="zh-CN" dirty="0" smtClean="0">
                <a:ea typeface="+mn-ea"/>
              </a:rPr>
              <a:t>1) Add, drop, modify table columns </a:t>
            </a:r>
          </a:p>
          <a:p>
            <a:pPr lvl="2" eaLnBrk="1" hangingPunct="1">
              <a:buFont typeface="Wingdings" panose="05000000000000000000" pitchFamily="2" charset="2"/>
              <a:buNone/>
            </a:pPr>
            <a:r>
              <a:rPr lang="en-US" altLang="zh-CN" dirty="0" smtClean="0">
                <a:ea typeface="+mn-ea"/>
              </a:rPr>
              <a:t>2) Add and drop constraints </a:t>
            </a:r>
          </a:p>
          <a:p>
            <a:pPr lvl="2" eaLnBrk="1" hangingPunct="1">
              <a:buFont typeface="Wingdings" panose="05000000000000000000" pitchFamily="2" charset="2"/>
              <a:buNone/>
            </a:pPr>
            <a:r>
              <a:rPr lang="en-US" altLang="zh-CN" dirty="0" smtClean="0">
                <a:ea typeface="+mn-ea"/>
              </a:rPr>
              <a:t>3) Enable and Disable constraints </a:t>
            </a:r>
          </a:p>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18</a:t>
            </a:fld>
            <a:endParaRPr lang="zh-CN" altLang="en-US"/>
          </a:p>
        </p:txBody>
      </p:sp>
    </p:spTree>
    <p:extLst>
      <p:ext uri="{BB962C8B-B14F-4D97-AF65-F5344CB8AC3E}">
        <p14:creationId xmlns:p14="http://schemas.microsoft.com/office/powerpoint/2010/main" val="1040486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21</a:t>
            </a:fld>
            <a:endParaRPr lang="zh-CN" altLang="en-US"/>
          </a:p>
        </p:txBody>
      </p:sp>
    </p:spTree>
    <p:extLst>
      <p:ext uri="{BB962C8B-B14F-4D97-AF65-F5344CB8AC3E}">
        <p14:creationId xmlns:p14="http://schemas.microsoft.com/office/powerpoint/2010/main" val="803727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23</a:t>
            </a:fld>
            <a:endParaRPr lang="zh-CN" altLang="en-US"/>
          </a:p>
        </p:txBody>
      </p:sp>
    </p:spTree>
    <p:extLst>
      <p:ext uri="{BB962C8B-B14F-4D97-AF65-F5344CB8AC3E}">
        <p14:creationId xmlns:p14="http://schemas.microsoft.com/office/powerpoint/2010/main" val="657419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889000">
              <a:lnSpc>
                <a:spcPct val="150000"/>
              </a:lnSpc>
            </a:pPr>
            <a:r>
              <a:rPr lang="zh-CN" altLang="en-US" dirty="0" smtClean="0"/>
              <a:t>组成视图的属性列名：全部省略或全部指定</a:t>
            </a:r>
          </a:p>
          <a:p>
            <a:pPr lvl="1" defTabSz="889000">
              <a:lnSpc>
                <a:spcPct val="150000"/>
              </a:lnSpc>
            </a:pPr>
            <a:r>
              <a:rPr lang="zh-CN" altLang="en-US" dirty="0" smtClean="0"/>
              <a:t>全部省略</a:t>
            </a:r>
            <a:r>
              <a:rPr lang="en-US" altLang="zh-CN" dirty="0" smtClean="0"/>
              <a:t>: </a:t>
            </a:r>
          </a:p>
          <a:p>
            <a:pPr lvl="2" defTabSz="889000">
              <a:lnSpc>
                <a:spcPct val="150000"/>
              </a:lnSpc>
              <a:buSzPct val="87000"/>
              <a:buFont typeface="Wingdings" panose="05000000000000000000" pitchFamily="2" charset="2"/>
              <a:buChar char="l"/>
            </a:pPr>
            <a:r>
              <a:rPr lang="zh-CN" altLang="en-US" sz="2200" dirty="0" smtClean="0"/>
              <a:t>由子查询中</a:t>
            </a:r>
            <a:r>
              <a:rPr lang="en-US" altLang="zh-CN" sz="2200" dirty="0" smtClean="0"/>
              <a:t>SELECT</a:t>
            </a:r>
            <a:r>
              <a:rPr lang="zh-CN" altLang="en-US" sz="2200" dirty="0" smtClean="0"/>
              <a:t>目标列中的诸字段组成</a:t>
            </a:r>
          </a:p>
          <a:p>
            <a:pPr lvl="1" defTabSz="889000">
              <a:lnSpc>
                <a:spcPct val="150000"/>
              </a:lnSpc>
            </a:pPr>
            <a:r>
              <a:rPr lang="zh-CN" altLang="en-US" dirty="0" smtClean="0"/>
              <a:t>明确指定视图的所有列名</a:t>
            </a:r>
            <a:r>
              <a:rPr lang="en-US" altLang="zh-CN" dirty="0" smtClean="0"/>
              <a:t>:</a:t>
            </a:r>
          </a:p>
          <a:p>
            <a:pPr lvl="2" defTabSz="889000">
              <a:lnSpc>
                <a:spcPct val="150000"/>
              </a:lnSpc>
              <a:buSzPct val="87000"/>
              <a:buFont typeface="Wingdings" panose="05000000000000000000" pitchFamily="2" charset="2"/>
              <a:buChar char="l"/>
            </a:pPr>
            <a:r>
              <a:rPr lang="zh-CN" altLang="en-US" sz="2200" dirty="0" smtClean="0"/>
              <a:t>某个目标列是聚集函数或列表达式</a:t>
            </a:r>
          </a:p>
          <a:p>
            <a:pPr lvl="2" defTabSz="889000">
              <a:lnSpc>
                <a:spcPct val="150000"/>
              </a:lnSpc>
              <a:buSzPct val="87000"/>
              <a:buFont typeface="Wingdings" panose="05000000000000000000" pitchFamily="2" charset="2"/>
              <a:buChar char="l"/>
            </a:pPr>
            <a:r>
              <a:rPr lang="zh-CN" altLang="en-US" sz="2200" dirty="0" smtClean="0"/>
              <a:t>多表连接时选出了几个同名列作为视图的字段</a:t>
            </a:r>
          </a:p>
          <a:p>
            <a:pPr lvl="2" defTabSz="889000">
              <a:lnSpc>
                <a:spcPct val="150000"/>
              </a:lnSpc>
              <a:buSzPct val="87000"/>
              <a:buFont typeface="Wingdings" panose="05000000000000000000" pitchFamily="2" charset="2"/>
              <a:buChar char="l"/>
            </a:pPr>
            <a:r>
              <a:rPr lang="zh-CN" altLang="en-US" sz="2200" dirty="0" smtClean="0"/>
              <a:t>需要在视图中为某个列启用新的更合适的名字</a:t>
            </a:r>
          </a:p>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24</a:t>
            </a:fld>
            <a:endParaRPr lang="zh-CN" altLang="en-US"/>
          </a:p>
        </p:txBody>
      </p:sp>
    </p:spTree>
    <p:extLst>
      <p:ext uri="{BB962C8B-B14F-4D97-AF65-F5344CB8AC3E}">
        <p14:creationId xmlns:p14="http://schemas.microsoft.com/office/powerpoint/2010/main" val="342733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27</a:t>
            </a:fld>
            <a:endParaRPr lang="zh-CN" altLang="en-US"/>
          </a:p>
        </p:txBody>
      </p:sp>
    </p:spTree>
    <p:extLst>
      <p:ext uri="{BB962C8B-B14F-4D97-AF65-F5344CB8AC3E}">
        <p14:creationId xmlns:p14="http://schemas.microsoft.com/office/powerpoint/2010/main" val="1068157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29</a:t>
            </a:fld>
            <a:endParaRPr lang="zh-CN" altLang="en-US"/>
          </a:p>
        </p:txBody>
      </p:sp>
    </p:spTree>
    <p:extLst>
      <p:ext uri="{BB962C8B-B14F-4D97-AF65-F5344CB8AC3E}">
        <p14:creationId xmlns:p14="http://schemas.microsoft.com/office/powerpoint/2010/main" val="23940620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30</a:t>
            </a:fld>
            <a:endParaRPr lang="zh-CN" altLang="en-US"/>
          </a:p>
        </p:txBody>
      </p:sp>
    </p:spTree>
    <p:extLst>
      <p:ext uri="{BB962C8B-B14F-4D97-AF65-F5344CB8AC3E}">
        <p14:creationId xmlns:p14="http://schemas.microsoft.com/office/powerpoint/2010/main" val="3384147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solidFill>
                  <a:schemeClr val="tx1"/>
                </a:solid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2025/9/19</a:t>
            </a:fld>
            <a:endParaRPr lang="zh-CN" altLang="en-US"/>
          </a:p>
        </p:txBody>
      </p:sp>
      <p:sp>
        <p:nvSpPr>
          <p:cNvPr id="5" name="Footer Placeholder 4"/>
          <p:cNvSpPr>
            <a:spLocks noGrp="1"/>
          </p:cNvSpPr>
          <p:nvPr>
            <p:ph type="ftr" sz="quarter" idx="11"/>
          </p:nvPr>
        </p:nvSpPr>
        <p:spPr/>
        <p:txBody>
          <a:bodyPr/>
          <a:lstStyle/>
          <a:p>
            <a:r>
              <a:rPr lang="zh-CN" altLang="zh-CN" dirty="0" smtClean="0"/>
              <a:t>数据库系统</a:t>
            </a:r>
            <a:endParaRPr lang="zh-CN" altLang="en-US" dirty="0"/>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22808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91728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508235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t>2025/9/19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206612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t>2025/9/19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5278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t>2025/9/19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216205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2025/9/19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313788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2025/9/19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894247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2025/9/19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23342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93942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408943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28800"/>
            <a:ext cx="8229600" cy="4495800"/>
          </a:xfrm>
        </p:spPr>
        <p:txBody>
          <a:bodyPr/>
          <a:lstStyle/>
          <a:p>
            <a:pPr lvl="0"/>
            <a:endParaRPr lang="zh-CN" altLang="en-US" noProof="0" smtClean="0"/>
          </a:p>
        </p:txBody>
      </p:sp>
      <p:sp>
        <p:nvSpPr>
          <p:cNvPr id="4" name="Rectangle 15"/>
          <p:cNvSpPr>
            <a:spLocks noGrp="1" noChangeArrowheads="1"/>
          </p:cNvSpPr>
          <p:nvPr>
            <p:ph type="dt" sz="half" idx="10"/>
          </p:nvPr>
        </p:nvSpPr>
        <p:spPr>
          <a:xfrm>
            <a:off x="457200" y="6400800"/>
            <a:ext cx="2133600" cy="320675"/>
          </a:xfrm>
          <a:prstGeom prst="rect">
            <a:avLst/>
          </a:prstGeom>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xfrm>
            <a:off x="5219700" y="6381750"/>
            <a:ext cx="3600450" cy="320675"/>
          </a:xfrm>
          <a:prstGeom prst="rect">
            <a:avLst/>
          </a:prstGeom>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934371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82" charset="2"/>
                <a:ea typeface="微软雅黑" panose="020B0503020204020204" pitchFamily="82" charset="2"/>
              </a:defRPr>
            </a:lvl1pPr>
          </a:lstStyle>
          <a:p>
            <a:r>
              <a:rPr kumimoji="1" lang="zh-CN" altLang="en-US" dirty="0"/>
              <a:t>单击此处编辑母版标题样式</a:t>
            </a:r>
          </a:p>
        </p:txBody>
      </p:sp>
      <p:sp>
        <p:nvSpPr>
          <p:cNvPr id="5" name="页脚占位符 4"/>
          <p:cNvSpPr>
            <a:spLocks noGrp="1"/>
          </p:cNvSpPr>
          <p:nvPr>
            <p:ph type="ftr" sz="quarter" idx="11"/>
          </p:nvPr>
        </p:nvSpPr>
        <p:spPr>
          <a:xfrm>
            <a:off x="3028950" y="6547119"/>
            <a:ext cx="3086100" cy="310881"/>
          </a:xfrm>
          <a:prstGeom prst="rect">
            <a:avLst/>
          </a:prstGeom>
        </p:spPr>
        <p:txBody>
          <a:bodyPr vert="horz" lIns="91440" tIns="45720" rIns="91440" bIns="45720" rtlCol="0" anchor="ctr"/>
          <a:lstStyle>
            <a:defPPr>
              <a:defRPr lang="zh-CN"/>
            </a:defPPr>
            <a:lvl1pPr marL="0" algn="ctr" defTabSz="685800" rtl="0" eaLnBrk="1" latinLnBrk="0" hangingPunct="1">
              <a:defRPr sz="900" kern="1200">
                <a:solidFill>
                  <a:schemeClr val="tx1">
                    <a:tint val="75000"/>
                  </a:schemeClr>
                </a:solidFill>
                <a:latin typeface="SimHei" panose="02010609060101010101" pitchFamily="49" charset="-122"/>
                <a:ea typeface="SimHei" panose="02010609060101010101" pitchFamily="49" charset="-122"/>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p:cNvSpPr>
            <a:spLocks noGrp="1"/>
          </p:cNvSpPr>
          <p:nvPr>
            <p:ph type="sldNum" sz="quarter" idx="12"/>
          </p:nvPr>
        </p:nvSpPr>
        <p:spPr/>
        <p:txBody>
          <a:bodyPr/>
          <a:lstStyle/>
          <a:p>
            <a:fld id="{4B0D34C0-35A8-654C-9FBA-7B4E017BD630}" type="slidenum">
              <a:rPr/>
              <a:t>‹#›</a:t>
            </a:fld>
            <a:endParaRPr kumimoji="1" lang="zh-CN" altLang="en-US"/>
          </a:p>
        </p:txBody>
      </p:sp>
    </p:spTree>
    <p:extLst>
      <p:ext uri="{BB962C8B-B14F-4D97-AF65-F5344CB8AC3E}">
        <p14:creationId xmlns:p14="http://schemas.microsoft.com/office/powerpoint/2010/main" val="476375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3000" r="-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3900" y="0"/>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723900" y="1663701"/>
            <a:ext cx="78867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2025/9/19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zh-CN" dirty="0" smtClean="0"/>
              <a:t>数据库系统</a:t>
            </a:r>
            <a:endParaRPr lang="zh-CN" alt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dirty="0"/>
          </a:p>
        </p:txBody>
      </p:sp>
    </p:spTree>
    <p:extLst>
      <p:ext uri="{BB962C8B-B14F-4D97-AF65-F5344CB8AC3E}">
        <p14:creationId xmlns:p14="http://schemas.microsoft.com/office/powerpoint/2010/main" val="131982165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Microsoft_Word_97_-_2003___1.doc"/><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oleObject" Target="../embeddings/Microsoft_Word_97_-_2003___2.doc"/></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t>关系数据库标准语言</a:t>
            </a:r>
            <a:r>
              <a:rPr lang="en-US" altLang="zh-CN" dirty="0"/>
              <a:t>SQL</a:t>
            </a:r>
            <a:endParaRPr lang="zh-CN" altLang="en-US" sz="4400" dirty="0"/>
          </a:p>
        </p:txBody>
      </p:sp>
      <p:sp>
        <p:nvSpPr>
          <p:cNvPr id="3" name="副标题 2"/>
          <p:cNvSpPr>
            <a:spLocks noGrp="1"/>
          </p:cNvSpPr>
          <p:nvPr>
            <p:ph type="subTitle" idx="1"/>
          </p:nvPr>
        </p:nvSpPr>
        <p:spPr/>
        <p:txBody>
          <a:bodyPr/>
          <a:lstStyle/>
          <a:p>
            <a:pPr>
              <a:lnSpc>
                <a:spcPct val="110000"/>
              </a:lnSpc>
            </a:pPr>
            <a:r>
              <a:rPr lang="zh-CN" altLang="en-US" dirty="0"/>
              <a:t>授课教师：张小燕</a:t>
            </a:r>
            <a:endParaRPr lang="en-US" altLang="zh-CN" dirty="0"/>
          </a:p>
          <a:p>
            <a:pPr>
              <a:lnSpc>
                <a:spcPct val="110000"/>
              </a:lnSpc>
            </a:pPr>
            <a:r>
              <a:rPr lang="zh-CN" altLang="en-US" dirty="0" smtClean="0"/>
              <a:t>邮箱：</a:t>
            </a:r>
            <a:r>
              <a:rPr lang="en-US" altLang="zh-CN" dirty="0" smtClean="0"/>
              <a:t>xyzhang15@szu.edu.cn</a:t>
            </a:r>
          </a:p>
          <a:p>
            <a:pPr>
              <a:lnSpc>
                <a:spcPct val="110000"/>
              </a:lnSpc>
            </a:pPr>
            <a:r>
              <a:rPr lang="zh-CN" altLang="en-US" dirty="0" smtClean="0"/>
              <a:t>深圳大学 计算机与软件学院</a:t>
            </a:r>
            <a:endParaRPr lang="en-US" altLang="zh-CN" dirty="0" smtClean="0"/>
          </a:p>
        </p:txBody>
      </p:sp>
    </p:spTree>
    <p:extLst>
      <p:ext uri="{BB962C8B-B14F-4D97-AF65-F5344CB8AC3E}">
        <p14:creationId xmlns:p14="http://schemas.microsoft.com/office/powerpoint/2010/main" val="22427916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内容目录</a:t>
            </a:r>
            <a:endParaRPr lang="en-US" altLang="zh-CN" dirty="0"/>
          </a:p>
        </p:txBody>
      </p:sp>
      <p:sp>
        <p:nvSpPr>
          <p:cNvPr id="3" name="内容占位符 2"/>
          <p:cNvSpPr>
            <a:spLocks noGrp="1"/>
          </p:cNvSpPr>
          <p:nvPr>
            <p:ph idx="1"/>
          </p:nvPr>
        </p:nvSpPr>
        <p:spPr/>
        <p:txBody>
          <a:bodyPr/>
          <a:lstStyle/>
          <a:p>
            <a:r>
              <a:rPr lang="en-US" altLang="zh-CN" dirty="0" smtClean="0"/>
              <a:t>SQL</a:t>
            </a:r>
            <a:r>
              <a:rPr lang="zh-CN" altLang="en-US" dirty="0" smtClean="0"/>
              <a:t>基本介绍</a:t>
            </a:r>
            <a:endParaRPr lang="en-US" altLang="zh-CN" dirty="0" smtClean="0"/>
          </a:p>
          <a:p>
            <a:r>
              <a:rPr lang="zh-CN" altLang="en-US" dirty="0" smtClean="0"/>
              <a:t>数据库定义</a:t>
            </a:r>
            <a:endParaRPr lang="en-US" altLang="zh-CN" dirty="0" smtClean="0"/>
          </a:p>
          <a:p>
            <a:r>
              <a:rPr lang="zh-CN" altLang="en-US" dirty="0" smtClean="0"/>
              <a:t>模式定义</a:t>
            </a:r>
            <a:endParaRPr lang="en-US" altLang="zh-CN" dirty="0" smtClean="0"/>
          </a:p>
          <a:p>
            <a:r>
              <a:rPr lang="zh-CN" altLang="en-US" dirty="0"/>
              <a:t>基本表的定义、删除与</a:t>
            </a:r>
            <a:r>
              <a:rPr lang="zh-CN" altLang="en-US" dirty="0" smtClean="0"/>
              <a:t>修改</a:t>
            </a:r>
            <a:endParaRPr lang="en-US" altLang="zh-CN" dirty="0" smtClean="0"/>
          </a:p>
          <a:p>
            <a:r>
              <a:rPr lang="zh-CN" altLang="en-US" smtClean="0"/>
              <a:t>视图</a:t>
            </a:r>
            <a:endParaRPr lang="en-US" altLang="zh-CN" dirty="0" smtClean="0"/>
          </a:p>
          <a:p>
            <a:endParaRPr lang="en-US" altLang="zh-CN" dirty="0" smtClean="0"/>
          </a:p>
        </p:txBody>
      </p:sp>
    </p:spTree>
    <p:extLst>
      <p:ext uri="{BB962C8B-B14F-4D97-AF65-F5344CB8AC3E}">
        <p14:creationId xmlns:p14="http://schemas.microsoft.com/office/powerpoint/2010/main" val="22764378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p:txBody>
          <a:bodyPr/>
          <a:lstStyle/>
          <a:p>
            <a:pPr eaLnBrk="1" hangingPunct="1"/>
            <a:r>
              <a:rPr lang="en-US" altLang="zh-CN" sz="3600" dirty="0" smtClean="0"/>
              <a:t>1</a:t>
            </a:r>
            <a:r>
              <a:rPr lang="en-US" altLang="zh-CN" sz="3600" dirty="0"/>
              <a:t>.</a:t>
            </a:r>
            <a:r>
              <a:rPr lang="en-US" altLang="zh-CN" sz="3600" dirty="0" smtClean="0"/>
              <a:t> SQL</a:t>
            </a:r>
            <a:r>
              <a:rPr lang="zh-CN" altLang="en-US" sz="3600" dirty="0" smtClean="0"/>
              <a:t>基本介绍</a:t>
            </a:r>
          </a:p>
        </p:txBody>
      </p:sp>
      <p:sp>
        <p:nvSpPr>
          <p:cNvPr id="9219" name="Rectangle 3"/>
          <p:cNvSpPr>
            <a:spLocks noGrp="1" noChangeArrowheads="1"/>
          </p:cNvSpPr>
          <p:nvPr>
            <p:ph type="body" idx="4294967295"/>
          </p:nvPr>
        </p:nvSpPr>
        <p:spPr>
          <a:xfrm>
            <a:off x="457201" y="1412875"/>
            <a:ext cx="7871254" cy="4495800"/>
          </a:xfrm>
        </p:spPr>
        <p:txBody>
          <a:bodyPr>
            <a:normAutofit fontScale="70000" lnSpcReduction="20000"/>
          </a:bodyPr>
          <a:lstStyle/>
          <a:p>
            <a:pPr eaLnBrk="1" hangingPunct="1">
              <a:lnSpc>
                <a:spcPct val="180000"/>
              </a:lnSpc>
            </a:pPr>
            <a:r>
              <a:rPr lang="en-US" altLang="zh-CN" dirty="0" smtClean="0"/>
              <a:t>SQL</a:t>
            </a:r>
            <a:r>
              <a:rPr lang="zh-CN" altLang="en-US" dirty="0" smtClean="0"/>
              <a:t>（</a:t>
            </a:r>
            <a:r>
              <a:rPr lang="en-US" altLang="zh-CN" dirty="0" smtClean="0"/>
              <a:t>Structured Query Language</a:t>
            </a:r>
            <a:r>
              <a:rPr lang="zh-CN" altLang="en-US" dirty="0" smtClean="0"/>
              <a:t>）</a:t>
            </a:r>
          </a:p>
          <a:p>
            <a:pPr eaLnBrk="1" hangingPunct="1">
              <a:lnSpc>
                <a:spcPct val="180000"/>
              </a:lnSpc>
              <a:buFont typeface="Wingdings" panose="05000000000000000000" pitchFamily="2" charset="2"/>
              <a:buNone/>
            </a:pPr>
            <a:r>
              <a:rPr lang="zh-CN" altLang="en-US" dirty="0" smtClean="0"/>
              <a:t>    结构化查询语言，是关系数据库的标准语言</a:t>
            </a:r>
          </a:p>
          <a:p>
            <a:pPr eaLnBrk="1" hangingPunct="1">
              <a:lnSpc>
                <a:spcPct val="180000"/>
              </a:lnSpc>
            </a:pPr>
            <a:r>
              <a:rPr lang="en-US" altLang="zh-CN" dirty="0" smtClean="0"/>
              <a:t>SQL</a:t>
            </a:r>
            <a:r>
              <a:rPr lang="zh-CN" altLang="en-US" dirty="0" smtClean="0"/>
              <a:t>是一个通用的、功能极强的关系数据库语言</a:t>
            </a:r>
            <a:endParaRPr lang="en-US" altLang="zh-CN" dirty="0" smtClean="0"/>
          </a:p>
          <a:p>
            <a:pPr lvl="1">
              <a:lnSpc>
                <a:spcPct val="180000"/>
              </a:lnSpc>
            </a:pPr>
            <a:r>
              <a:rPr lang="zh-CN" altLang="en-US" dirty="0"/>
              <a:t>集数据定义语言（</a:t>
            </a:r>
            <a:r>
              <a:rPr lang="en-US" altLang="zh-CN" dirty="0"/>
              <a:t>DDL</a:t>
            </a:r>
            <a:r>
              <a:rPr lang="zh-CN" altLang="en-US" dirty="0"/>
              <a:t>），数据操纵语言（</a:t>
            </a:r>
            <a:r>
              <a:rPr lang="en-US" altLang="zh-CN" dirty="0"/>
              <a:t>DML</a:t>
            </a:r>
            <a:r>
              <a:rPr lang="zh-CN" altLang="en-US" dirty="0"/>
              <a:t>），数据控制语言（</a:t>
            </a:r>
            <a:r>
              <a:rPr lang="en-US" altLang="zh-CN" dirty="0"/>
              <a:t>DCL</a:t>
            </a:r>
            <a:r>
              <a:rPr lang="zh-CN" altLang="en-US" dirty="0"/>
              <a:t>）功能于一体</a:t>
            </a:r>
            <a:r>
              <a:rPr lang="zh-CN" altLang="en-US" dirty="0" smtClean="0"/>
              <a:t>。</a:t>
            </a:r>
            <a:endParaRPr lang="en-US" altLang="zh-CN" dirty="0" smtClean="0"/>
          </a:p>
          <a:p>
            <a:pPr lvl="1"/>
            <a:r>
              <a:rPr lang="zh-CN" altLang="en-US" dirty="0"/>
              <a:t>可以独立完成数据库生命周期中的全部活动：</a:t>
            </a:r>
          </a:p>
          <a:p>
            <a:pPr lvl="2">
              <a:buSzPct val="87000"/>
              <a:buFont typeface="Wingdings" panose="05000000000000000000" pitchFamily="2" charset="2"/>
              <a:buChar char="l"/>
            </a:pPr>
            <a:r>
              <a:rPr lang="zh-CN" altLang="en-US" sz="2200" dirty="0"/>
              <a:t>定义和修改、删除关系模式，定义和删除视图，插入数据，建立数据库;</a:t>
            </a:r>
          </a:p>
          <a:p>
            <a:pPr lvl="2">
              <a:buSzPct val="87000"/>
              <a:buFont typeface="Wingdings" panose="05000000000000000000" pitchFamily="2" charset="2"/>
              <a:buChar char="l"/>
            </a:pPr>
            <a:r>
              <a:rPr lang="zh-CN" altLang="en-US" sz="2200" dirty="0"/>
              <a:t> 对数据库中的数据进行查询和更新;</a:t>
            </a:r>
          </a:p>
          <a:p>
            <a:pPr lvl="2">
              <a:buSzPct val="87000"/>
              <a:buFont typeface="Wingdings" panose="05000000000000000000" pitchFamily="2" charset="2"/>
              <a:buChar char="l"/>
            </a:pPr>
            <a:r>
              <a:rPr lang="zh-CN" altLang="en-US" sz="2200" dirty="0"/>
              <a:t> 数据库重构和维护</a:t>
            </a:r>
          </a:p>
          <a:p>
            <a:pPr lvl="2">
              <a:buSzPct val="87000"/>
              <a:buFont typeface="Wingdings" panose="05000000000000000000" pitchFamily="2" charset="2"/>
              <a:buChar char="l"/>
            </a:pPr>
            <a:r>
              <a:rPr lang="zh-CN" altLang="en-US" sz="2200" dirty="0"/>
              <a:t>数据库安全性、完整性控制，以及事务</a:t>
            </a:r>
            <a:r>
              <a:rPr lang="zh-CN" altLang="en-US" sz="2200" dirty="0" smtClean="0"/>
              <a:t>控制</a:t>
            </a:r>
            <a:endParaRPr lang="en-US" altLang="zh-CN" sz="2200" dirty="0" smtClean="0"/>
          </a:p>
          <a:p>
            <a:pPr lvl="1">
              <a:buSzPct val="87000"/>
            </a:pPr>
            <a:r>
              <a:rPr lang="zh-CN" altLang="en-US" dirty="0" smtClean="0"/>
              <a:t> </a:t>
            </a:r>
            <a:r>
              <a:rPr lang="en-US" altLang="zh-CN" dirty="0" smtClean="0"/>
              <a:t>SQL</a:t>
            </a:r>
            <a:r>
              <a:rPr lang="zh-CN" altLang="en-US" dirty="0" smtClean="0"/>
              <a:t>能够嵌入到高级语言（例如</a:t>
            </a:r>
            <a:r>
              <a:rPr lang="en-US" altLang="zh-CN" dirty="0" smtClean="0"/>
              <a:t>C</a:t>
            </a:r>
            <a:r>
              <a:rPr lang="zh-CN" altLang="en-US" dirty="0" smtClean="0"/>
              <a:t>，</a:t>
            </a:r>
            <a:r>
              <a:rPr lang="en-US" altLang="zh-CN" dirty="0" smtClean="0"/>
              <a:t>C++</a:t>
            </a:r>
            <a:r>
              <a:rPr lang="zh-CN" altLang="en-US" dirty="0" smtClean="0"/>
              <a:t>，</a:t>
            </a:r>
            <a:r>
              <a:rPr lang="en-US" altLang="zh-CN" dirty="0" smtClean="0"/>
              <a:t>Java</a:t>
            </a:r>
            <a:r>
              <a:rPr lang="zh-CN" altLang="en-US" dirty="0" smtClean="0"/>
              <a:t>）程序中，供程序员设计程序时使用</a:t>
            </a:r>
          </a:p>
          <a:p>
            <a:pPr lvl="1">
              <a:lnSpc>
                <a:spcPct val="180000"/>
              </a:lnSpc>
            </a:pPr>
            <a:endParaRPr lang="zh-CN" altLang="en-US" dirty="0"/>
          </a:p>
          <a:p>
            <a:pPr eaLnBrk="1" hangingPunct="1">
              <a:lnSpc>
                <a:spcPct val="180000"/>
              </a:lnSpc>
            </a:pPr>
            <a:endParaRPr lang="zh-CN" altLang="en-US" dirty="0" smtClean="0"/>
          </a:p>
        </p:txBody>
      </p:sp>
    </p:spTree>
    <p:extLst>
      <p:ext uri="{BB962C8B-B14F-4D97-AF65-F5344CB8AC3E}">
        <p14:creationId xmlns:p14="http://schemas.microsoft.com/office/powerpoint/2010/main" val="12978331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xmlns="" id="{CA02947C-86FA-43A0-AEA7-1533075A3978}"/>
              </a:ext>
            </a:extLst>
          </p:cNvPr>
          <p:cNvSpPr/>
          <p:nvPr/>
        </p:nvSpPr>
        <p:spPr>
          <a:xfrm>
            <a:off x="392065" y="1608843"/>
            <a:ext cx="8286251" cy="1738827"/>
          </a:xfrm>
          <a:prstGeom prst="roundRect">
            <a:avLst>
              <a:gd name="adj" fmla="val 15149"/>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7" name="Shape6">
            <a:extLst>
              <a:ext uri="{FF2B5EF4-FFF2-40B4-BE49-F238E27FC236}">
                <a16:creationId xmlns:a16="http://schemas.microsoft.com/office/drawing/2014/main" xmlns="" id="{82D12675-44BA-4A12-95E2-53CE42E365F2}"/>
              </a:ext>
            </a:extLst>
          </p:cNvPr>
          <p:cNvSpPr/>
          <p:nvPr/>
        </p:nvSpPr>
        <p:spPr>
          <a:xfrm>
            <a:off x="392065" y="3409026"/>
            <a:ext cx="8286251" cy="2219697"/>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88" dirty="0">
              <a:solidFill>
                <a:srgbClr val="6F1787"/>
              </a:solidFill>
              <a:latin typeface="微软雅黑" panose="020B0503020204020204" pitchFamily="82" charset="2"/>
              <a:ea typeface="OPPOSans M" panose="00020600040101010101" pitchFamily="18" charset="-122"/>
            </a:endParaRPr>
          </a:p>
        </p:txBody>
      </p:sp>
      <p:sp>
        <p:nvSpPr>
          <p:cNvPr id="9" name="Shape6">
            <a:extLst>
              <a:ext uri="{FF2B5EF4-FFF2-40B4-BE49-F238E27FC236}">
                <a16:creationId xmlns:a16="http://schemas.microsoft.com/office/drawing/2014/main" xmlns="" id="{2BB58945-69A6-42E9-96FF-DC536AE97366}"/>
              </a:ext>
            </a:extLst>
          </p:cNvPr>
          <p:cNvSpPr/>
          <p:nvPr/>
        </p:nvSpPr>
        <p:spPr>
          <a:xfrm>
            <a:off x="483976" y="3471400"/>
            <a:ext cx="8117099" cy="2096780"/>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88" dirty="0">
              <a:solidFill>
                <a:srgbClr val="6F1787"/>
              </a:solidFill>
              <a:latin typeface="微软雅黑" panose="020B0503020204020204" pitchFamily="82" charset="2"/>
              <a:ea typeface="OPPOSans M" panose="00020600040101010101" pitchFamily="18" charset="-122"/>
            </a:endParaRPr>
          </a:p>
        </p:txBody>
      </p:sp>
      <p:sp>
        <p:nvSpPr>
          <p:cNvPr id="3" name="内容占位符 2">
            <a:extLst>
              <a:ext uri="{FF2B5EF4-FFF2-40B4-BE49-F238E27FC236}">
                <a16:creationId xmlns:a16="http://schemas.microsoft.com/office/drawing/2014/main" xmlns="" id="{DCD9ABD9-66EF-2946-A0AD-5B1C2FEED620}"/>
              </a:ext>
            </a:extLst>
          </p:cNvPr>
          <p:cNvSpPr>
            <a:spLocks noGrp="1"/>
          </p:cNvSpPr>
          <p:nvPr>
            <p:ph idx="4294967295"/>
          </p:nvPr>
        </p:nvSpPr>
        <p:spPr>
          <a:xfrm>
            <a:off x="370047" y="1656700"/>
            <a:ext cx="8449717" cy="1712831"/>
          </a:xfrm>
          <a:prstGeom prst="rect">
            <a:avLst/>
          </a:prstGeom>
        </p:spPr>
        <p:txBody>
          <a:bodyPr>
            <a:normAutofit/>
          </a:bodyPr>
          <a:lstStyle/>
          <a:p>
            <a:r>
              <a:rPr lang="en-US" altLang="zh-CN" sz="1800" dirty="0">
                <a:latin typeface="微软雅黑" panose="020B0503020204020204" pitchFamily="82" charset="2"/>
                <a:ea typeface="微软雅黑" panose="020B0503020204020204" pitchFamily="82" charset="2"/>
                <a:cs typeface="Arial" panose="020B0604020202020204" pitchFamily="34" charset="0"/>
              </a:rPr>
              <a:t>SQL</a:t>
            </a:r>
            <a:r>
              <a:rPr lang="zh-CN" altLang="en-US" sz="1800" dirty="0">
                <a:latin typeface="微软雅黑" panose="020B0503020204020204" pitchFamily="82" charset="2"/>
                <a:ea typeface="微软雅黑" panose="020B0503020204020204" pitchFamily="82" charset="2"/>
                <a:cs typeface="Arial" panose="020B0604020202020204" pitchFamily="34" charset="0"/>
              </a:rPr>
              <a:t>：</a:t>
            </a:r>
            <a:r>
              <a:rPr lang="en-US" altLang="zh-CN" sz="1800" dirty="0">
                <a:latin typeface="微软雅黑" panose="020B0503020204020204" pitchFamily="82" charset="2"/>
                <a:ea typeface="微软雅黑" panose="020B0503020204020204" pitchFamily="82" charset="2"/>
                <a:cs typeface="Arial" panose="020B0604020202020204" pitchFamily="34" charset="0"/>
              </a:rPr>
              <a:t>Structured Query Language</a:t>
            </a:r>
            <a:r>
              <a:rPr lang="zh-CN" altLang="zh-CN" sz="1800" dirty="0">
                <a:latin typeface="微软雅黑" panose="020B0503020204020204" pitchFamily="82" charset="2"/>
                <a:ea typeface="微软雅黑" panose="020B0503020204020204" pitchFamily="82" charset="2"/>
              </a:rPr>
              <a:t>，结构化查询语言</a:t>
            </a:r>
            <a:endParaRPr lang="en-US" altLang="zh-CN" sz="1800" dirty="0">
              <a:latin typeface="微软雅黑" panose="020B0503020204020204" pitchFamily="82" charset="2"/>
              <a:ea typeface="微软雅黑" panose="020B0503020204020204" pitchFamily="82" charset="2"/>
            </a:endParaRPr>
          </a:p>
          <a:p>
            <a:r>
              <a:rPr lang="en-US" altLang="zh-CN" sz="1800" dirty="0">
                <a:latin typeface="微软雅黑" panose="020B0503020204020204" pitchFamily="82" charset="2"/>
                <a:ea typeface="微软雅黑" panose="020B0503020204020204" pitchFamily="82" charset="2"/>
                <a:cs typeface="Arial" panose="020B0604020202020204" pitchFamily="34" charset="0"/>
              </a:rPr>
              <a:t>SQL</a:t>
            </a:r>
            <a:r>
              <a:rPr lang="zh-CN" altLang="zh-CN" sz="1800" dirty="0">
                <a:latin typeface="微软雅黑" panose="020B0503020204020204" pitchFamily="82" charset="2"/>
                <a:ea typeface="微软雅黑" panose="020B0503020204020204" pitchFamily="82" charset="2"/>
              </a:rPr>
              <a:t>是用于管理关系型数据库并对其中的数据进行一系列操作（包括数据插入、查询、修改、删除等）的一种语言</a:t>
            </a:r>
            <a:endParaRPr lang="en-US" altLang="zh-CN" sz="1800" dirty="0">
              <a:latin typeface="微软雅黑" panose="020B0503020204020204" pitchFamily="82" charset="2"/>
              <a:ea typeface="微软雅黑" panose="020B0503020204020204" pitchFamily="82" charset="2"/>
            </a:endParaRPr>
          </a:p>
          <a:p>
            <a:r>
              <a:rPr lang="en-US" altLang="zh-CN" sz="1800" dirty="0" smtClean="0">
                <a:latin typeface="微软雅黑" panose="020B0503020204020204" pitchFamily="82" charset="2"/>
                <a:ea typeface="微软雅黑" panose="020B0503020204020204" pitchFamily="82" charset="2"/>
                <a:cs typeface="Arial" panose="020B0604020202020204" pitchFamily="34" charset="0"/>
              </a:rPr>
              <a:t>SQL</a:t>
            </a:r>
            <a:r>
              <a:rPr lang="zh-CN" altLang="en-US" sz="1800" dirty="0">
                <a:latin typeface="微软雅黑" panose="020B0503020204020204" pitchFamily="82" charset="2"/>
                <a:ea typeface="微软雅黑" panose="020B0503020204020204" pitchFamily="82" charset="2"/>
              </a:rPr>
              <a:t>语言发展概览：</a:t>
            </a:r>
            <a:endParaRPr lang="en-US" altLang="zh-CN" sz="1800" dirty="0">
              <a:latin typeface="微软雅黑" panose="020B0503020204020204" pitchFamily="82" charset="2"/>
              <a:ea typeface="微软雅黑" panose="020B0503020204020204" pitchFamily="82" charset="2"/>
            </a:endParaRPr>
          </a:p>
        </p:txBody>
      </p:sp>
      <p:pic>
        <p:nvPicPr>
          <p:cNvPr id="8" name="图片 7" descr="图示&#10;&#10;描述已自动生成">
            <a:extLst>
              <a:ext uri="{FF2B5EF4-FFF2-40B4-BE49-F238E27FC236}">
                <a16:creationId xmlns:a16="http://schemas.microsoft.com/office/drawing/2014/main" xmlns="" id="{A9910BD6-496A-D709-525E-D81EFD01D4A1}"/>
              </a:ext>
            </a:extLst>
          </p:cNvPr>
          <p:cNvPicPr>
            <a:picLocks noChangeAspect="1"/>
          </p:cNvPicPr>
          <p:nvPr/>
        </p:nvPicPr>
        <p:blipFill rotWithShape="1">
          <a:blip r:embed="rId3"/>
          <a:srcRect l="492" r="857"/>
          <a:stretch/>
        </p:blipFill>
        <p:spPr>
          <a:xfrm>
            <a:off x="566022" y="3692362"/>
            <a:ext cx="7942882" cy="1689669"/>
          </a:xfrm>
          <a:prstGeom prst="rect">
            <a:avLst/>
          </a:prstGeom>
        </p:spPr>
      </p:pic>
      <p:sp>
        <p:nvSpPr>
          <p:cNvPr id="5" name="灯片编号占位符 4">
            <a:extLst>
              <a:ext uri="{FF2B5EF4-FFF2-40B4-BE49-F238E27FC236}">
                <a16:creationId xmlns:a16="http://schemas.microsoft.com/office/drawing/2014/main" xmlns="" id="{68E81813-FA35-EC00-D191-E90730404862}"/>
              </a:ext>
            </a:extLst>
          </p:cNvPr>
          <p:cNvSpPr>
            <a:spLocks noGrp="1"/>
          </p:cNvSpPr>
          <p:nvPr>
            <p:ph type="sldNum" sz="quarter" idx="12"/>
          </p:nvPr>
        </p:nvSpPr>
        <p:spPr/>
        <p:txBody>
          <a:bodyPr/>
          <a:lstStyle/>
          <a:p>
            <a:fld id="{4B0D34C0-35A8-654C-9FBA-7B4E017BD630}" type="slidenum">
              <a:rPr lang="en-US" altLang="zh-CN" smtClean="0"/>
              <a:t>4</a:t>
            </a:fld>
            <a:endParaRPr kumimoji="1" lang="zh-CN" altLang="en-US"/>
          </a:p>
        </p:txBody>
      </p:sp>
      <p:sp>
        <p:nvSpPr>
          <p:cNvPr id="11" name="Rectangle 2"/>
          <p:cNvSpPr>
            <a:spLocks noGrp="1" noChangeArrowheads="1"/>
          </p:cNvSpPr>
          <p:nvPr>
            <p:ph type="title" idx="4294967295"/>
          </p:nvPr>
        </p:nvSpPr>
        <p:spPr>
          <a:xfrm>
            <a:off x="723900" y="0"/>
            <a:ext cx="7886700" cy="1325563"/>
          </a:xfrm>
        </p:spPr>
        <p:txBody>
          <a:bodyPr/>
          <a:lstStyle/>
          <a:p>
            <a:pPr eaLnBrk="1" hangingPunct="1"/>
            <a:r>
              <a:rPr lang="en-US" altLang="zh-CN" sz="3600" dirty="0" smtClean="0"/>
              <a:t>1</a:t>
            </a:r>
            <a:r>
              <a:rPr lang="en-US" altLang="zh-CN" sz="3600" dirty="0"/>
              <a:t>.</a:t>
            </a:r>
            <a:r>
              <a:rPr lang="en-US" altLang="zh-CN" sz="3600" dirty="0" smtClean="0"/>
              <a:t> SQL</a:t>
            </a:r>
            <a:r>
              <a:rPr lang="zh-CN" altLang="en-US" sz="3600" dirty="0" smtClean="0"/>
              <a:t>基本介绍</a:t>
            </a:r>
          </a:p>
        </p:txBody>
      </p:sp>
      <p:sp>
        <p:nvSpPr>
          <p:cNvPr id="12" name="矩形 11"/>
          <p:cNvSpPr/>
          <p:nvPr/>
        </p:nvSpPr>
        <p:spPr>
          <a:xfrm>
            <a:off x="95250" y="5987019"/>
            <a:ext cx="8724514" cy="369332"/>
          </a:xfrm>
          <a:prstGeom prst="rect">
            <a:avLst/>
          </a:prstGeom>
        </p:spPr>
        <p:txBody>
          <a:bodyPr wrap="square">
            <a:spAutoFit/>
          </a:bodyPr>
          <a:lstStyle/>
          <a:p>
            <a:pPr lvl="1">
              <a:buSzPct val="87000"/>
            </a:pPr>
            <a:r>
              <a:rPr lang="en-US" altLang="zh-CN" dirty="0"/>
              <a:t>SQL</a:t>
            </a:r>
            <a:r>
              <a:rPr lang="zh-CN" altLang="en-US" dirty="0"/>
              <a:t>能够嵌入到高级语言（例如</a:t>
            </a:r>
            <a:r>
              <a:rPr lang="en-US" altLang="zh-CN" dirty="0"/>
              <a:t>C</a:t>
            </a:r>
            <a:r>
              <a:rPr lang="zh-CN" altLang="en-US" dirty="0"/>
              <a:t>，</a:t>
            </a:r>
            <a:r>
              <a:rPr lang="en-US" altLang="zh-CN" dirty="0"/>
              <a:t>C++</a:t>
            </a:r>
            <a:r>
              <a:rPr lang="zh-CN" altLang="en-US" dirty="0"/>
              <a:t>，</a:t>
            </a:r>
            <a:r>
              <a:rPr lang="en-US" altLang="zh-CN" dirty="0"/>
              <a:t>Java</a:t>
            </a:r>
            <a:r>
              <a:rPr lang="zh-CN" altLang="en-US" dirty="0"/>
              <a:t>）程序中，供程序员设计程序时使用</a:t>
            </a:r>
          </a:p>
        </p:txBody>
      </p:sp>
    </p:spTree>
    <p:extLst>
      <p:ext uri="{BB962C8B-B14F-4D97-AF65-F5344CB8AC3E}">
        <p14:creationId xmlns:p14="http://schemas.microsoft.com/office/powerpoint/2010/main" val="978265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idx="4294967295"/>
          </p:nvPr>
        </p:nvSpPr>
        <p:spPr>
          <a:xfrm>
            <a:off x="457200" y="106363"/>
            <a:ext cx="8229600" cy="874712"/>
          </a:xfrm>
        </p:spPr>
        <p:txBody>
          <a:bodyPr/>
          <a:lstStyle/>
          <a:p>
            <a:r>
              <a:rPr lang="en-US" altLang="zh-CN" sz="3600" smtClean="0"/>
              <a:t>SQL</a:t>
            </a:r>
            <a:r>
              <a:rPr lang="zh-CN" altLang="en-US" sz="3600" smtClean="0"/>
              <a:t>标准的进展过程</a:t>
            </a:r>
          </a:p>
        </p:txBody>
      </p:sp>
      <p:graphicFrame>
        <p:nvGraphicFramePr>
          <p:cNvPr id="10243" name="Group 3"/>
          <p:cNvGraphicFramePr>
            <a:graphicFrameLocks noGrp="1"/>
          </p:cNvGraphicFramePr>
          <p:nvPr>
            <p:extLst>
              <p:ext uri="{D42A27DB-BD31-4B8C-83A1-F6EECF244321}">
                <p14:modId xmlns:p14="http://schemas.microsoft.com/office/powerpoint/2010/main" val="802654062"/>
              </p:ext>
            </p:extLst>
          </p:nvPr>
        </p:nvGraphicFramePr>
        <p:xfrm>
          <a:off x="891703" y="1359577"/>
          <a:ext cx="7083425" cy="3486647"/>
        </p:xfrm>
        <a:graphic>
          <a:graphicData uri="http://schemas.openxmlformats.org/drawingml/2006/table">
            <a:tbl>
              <a:tblPr/>
              <a:tblGrid>
                <a:gridCol w="2922989"/>
                <a:gridCol w="2037887"/>
                <a:gridCol w="2122549"/>
              </a:tblGrid>
              <a:tr h="357694">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altLang="en-US" sz="2000" b="1" i="0" u="none" strike="noStrike" cap="none" normalizeH="0" baseline="0" dirty="0" smtClean="0">
                          <a:ln>
                            <a:noFill/>
                          </a:ln>
                          <a:solidFill>
                            <a:schemeClr val="tx1"/>
                          </a:solidFill>
                          <a:effectLst/>
                          <a:latin typeface="Arial" pitchFamily="34" charset="0"/>
                          <a:ea typeface="宋体" pitchFamily="2" charset="-122"/>
                        </a:rPr>
                        <a:t>标准</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altLang="en-US" sz="2000" b="1" i="0" u="none" strike="noStrike" cap="none" normalizeH="0" baseline="0" smtClean="0">
                          <a:ln>
                            <a:noFill/>
                          </a:ln>
                          <a:solidFill>
                            <a:schemeClr val="tx1"/>
                          </a:solidFill>
                          <a:effectLst/>
                          <a:latin typeface="Arial" pitchFamily="34" charset="0"/>
                          <a:ea typeface="宋体" pitchFamily="2" charset="-122"/>
                        </a:rPr>
                        <a:t>大致页数 </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altLang="en-US" sz="2000" b="1" i="0" u="none" strike="noStrike" cap="none" normalizeH="0" baseline="0" smtClean="0">
                          <a:ln>
                            <a:noFill/>
                          </a:ln>
                          <a:solidFill>
                            <a:schemeClr val="tx1"/>
                          </a:solidFill>
                          <a:effectLst/>
                          <a:latin typeface="Arial" pitchFamily="34" charset="0"/>
                          <a:ea typeface="宋体" pitchFamily="2" charset="-122"/>
                        </a:rPr>
                        <a:t>发布日期</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29920">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rgbClr val="000000"/>
                          </a:solidFill>
                          <a:effectLst/>
                          <a:latin typeface="Arial" pitchFamily="34" charset="0"/>
                          <a:ea typeface="宋体" pitchFamily="2" charset="-122"/>
                        </a:rPr>
                        <a:t>SQL/86</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endParaRPr kumimoji="0" lang="zh-CN" altLang="en-US" sz="2000" b="1" i="0" u="none" strike="noStrike" cap="none" normalizeH="0" baseline="0" smtClean="0">
                        <a:ln>
                          <a:noFill/>
                        </a:ln>
                        <a:solidFill>
                          <a:srgbClr val="000000"/>
                        </a:solidFill>
                        <a:effectLst/>
                        <a:latin typeface="Calibri" pitchFamily="34" charset="0"/>
                        <a:ea typeface="宋体" pitchFamily="2" charset="-122"/>
                      </a:endParaRP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rgbClr val="000000"/>
                          </a:solidFill>
                          <a:effectLst/>
                          <a:latin typeface="Arial" pitchFamily="34" charset="0"/>
                          <a:ea typeface="宋体" pitchFamily="2" charset="-122"/>
                        </a:rPr>
                        <a:t>1986.10</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17023">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rgbClr val="000000"/>
                          </a:solidFill>
                          <a:effectLst/>
                          <a:latin typeface="Arial" pitchFamily="34" charset="0"/>
                          <a:ea typeface="宋体" pitchFamily="2" charset="-122"/>
                        </a:rPr>
                        <a:t>SQL/89（FIPS 127-1）</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rgbClr val="000000"/>
                          </a:solidFill>
                          <a:effectLst/>
                          <a:latin typeface="Arial" pitchFamily="34" charset="0"/>
                          <a:ea typeface="宋体" pitchFamily="2" charset="-122"/>
                        </a:rPr>
                        <a:t>120</a:t>
                      </a:r>
                      <a:r>
                        <a:rPr kumimoji="0" lang="zh-CN" altLang="en-US" sz="2000" b="1" i="0" u="none" strike="noStrike" cap="none" normalizeH="0" baseline="0" smtClean="0">
                          <a:ln>
                            <a:noFill/>
                          </a:ln>
                          <a:solidFill>
                            <a:srgbClr val="000000"/>
                          </a:solidFill>
                          <a:effectLst/>
                          <a:latin typeface="Arial" pitchFamily="34" charset="0"/>
                          <a:ea typeface="宋体" pitchFamily="2" charset="-122"/>
                        </a:rPr>
                        <a:t>页 </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rgbClr val="000000"/>
                          </a:solidFill>
                          <a:effectLst/>
                          <a:latin typeface="Arial" pitchFamily="34" charset="0"/>
                          <a:ea typeface="宋体" pitchFamily="2" charset="-122"/>
                        </a:rPr>
                        <a:t>1989</a:t>
                      </a:r>
                      <a:r>
                        <a:rPr kumimoji="0" lang="zh-CN" altLang="en-US" sz="2000" b="1" i="0" u="none" strike="noStrike" cap="none" normalizeH="0" baseline="0" smtClean="0">
                          <a:ln>
                            <a:noFill/>
                          </a:ln>
                          <a:solidFill>
                            <a:srgbClr val="000000"/>
                          </a:solidFill>
                          <a:effectLst/>
                          <a:latin typeface="Arial" pitchFamily="34" charset="0"/>
                          <a:ea typeface="宋体" pitchFamily="2" charset="-122"/>
                        </a:rPr>
                        <a:t>年</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29920">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rgbClr val="000000"/>
                          </a:solidFill>
                          <a:effectLst/>
                          <a:latin typeface="Arial" pitchFamily="34" charset="0"/>
                          <a:ea typeface="宋体" pitchFamily="2" charset="-122"/>
                        </a:rPr>
                        <a:t>SQL/92</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rgbClr val="000000"/>
                          </a:solidFill>
                          <a:effectLst/>
                          <a:latin typeface="Arial" pitchFamily="34" charset="0"/>
                          <a:ea typeface="宋体" pitchFamily="2" charset="-122"/>
                        </a:rPr>
                        <a:t>622</a:t>
                      </a:r>
                      <a:r>
                        <a:rPr kumimoji="0" lang="zh-CN" altLang="en-US" sz="2000" b="1" i="0" u="none" strike="noStrike" cap="none" normalizeH="0" baseline="0" smtClean="0">
                          <a:ln>
                            <a:noFill/>
                          </a:ln>
                          <a:solidFill>
                            <a:srgbClr val="000000"/>
                          </a:solidFill>
                          <a:effectLst/>
                          <a:latin typeface="Arial" pitchFamily="34" charset="0"/>
                          <a:ea typeface="宋体" pitchFamily="2" charset="-122"/>
                        </a:rPr>
                        <a:t>页</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rgbClr val="000000"/>
                          </a:solidFill>
                          <a:effectLst/>
                          <a:latin typeface="Arial" pitchFamily="34" charset="0"/>
                          <a:ea typeface="宋体" pitchFamily="2" charset="-122"/>
                        </a:rPr>
                        <a:t>1992</a:t>
                      </a:r>
                      <a:r>
                        <a:rPr kumimoji="0" lang="zh-CN" altLang="en-US" sz="2000" b="1" i="0" u="none" strike="noStrike" cap="none" normalizeH="0" baseline="0" smtClean="0">
                          <a:ln>
                            <a:noFill/>
                          </a:ln>
                          <a:solidFill>
                            <a:srgbClr val="000000"/>
                          </a:solidFill>
                          <a:effectLst/>
                          <a:latin typeface="Arial" pitchFamily="34" charset="0"/>
                          <a:ea typeface="宋体" pitchFamily="2" charset="-122"/>
                        </a:rPr>
                        <a:t>年</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29920">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rgbClr val="000000"/>
                          </a:solidFill>
                          <a:effectLst/>
                          <a:latin typeface="Arial" pitchFamily="34" charset="0"/>
                          <a:ea typeface="宋体" pitchFamily="2" charset="-122"/>
                        </a:rPr>
                        <a:t>SQL99（SQL 3）</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rgbClr val="000000"/>
                          </a:solidFill>
                          <a:effectLst/>
                          <a:latin typeface="Arial" pitchFamily="34" charset="0"/>
                          <a:ea typeface="宋体" pitchFamily="2" charset="-122"/>
                        </a:rPr>
                        <a:t>1700</a:t>
                      </a:r>
                      <a:r>
                        <a:rPr kumimoji="0" lang="zh-CN" altLang="en-US" sz="2000" b="1" i="0" u="none" strike="noStrike" cap="none" normalizeH="0" baseline="0" dirty="0" smtClean="0">
                          <a:ln>
                            <a:noFill/>
                          </a:ln>
                          <a:solidFill>
                            <a:srgbClr val="000000"/>
                          </a:solidFill>
                          <a:effectLst/>
                          <a:latin typeface="Arial" pitchFamily="34" charset="0"/>
                          <a:ea typeface="宋体" pitchFamily="2" charset="-122"/>
                        </a:rPr>
                        <a:t>页 </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rgbClr val="000000"/>
                          </a:solidFill>
                          <a:effectLst/>
                          <a:latin typeface="Arial" pitchFamily="34" charset="0"/>
                          <a:ea typeface="宋体" pitchFamily="2" charset="-122"/>
                        </a:rPr>
                        <a:t>1999</a:t>
                      </a:r>
                      <a:r>
                        <a:rPr kumimoji="0" lang="zh-CN" altLang="en-US" sz="2000" b="1" i="0" u="none" strike="noStrike" cap="none" normalizeH="0" baseline="0" smtClean="0">
                          <a:ln>
                            <a:noFill/>
                          </a:ln>
                          <a:solidFill>
                            <a:srgbClr val="000000"/>
                          </a:solidFill>
                          <a:effectLst/>
                          <a:latin typeface="Arial" pitchFamily="34" charset="0"/>
                          <a:ea typeface="宋体" pitchFamily="2" charset="-122"/>
                        </a:rPr>
                        <a:t>年</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29920">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rgbClr val="000000"/>
                          </a:solidFill>
                          <a:effectLst/>
                          <a:latin typeface="Arial" pitchFamily="34" charset="0"/>
                          <a:ea typeface="宋体" pitchFamily="2" charset="-122"/>
                        </a:rPr>
                        <a:t>SQL2003</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rgbClr val="000000"/>
                          </a:solidFill>
                          <a:effectLst/>
                          <a:latin typeface="Arial" pitchFamily="34" charset="0"/>
                          <a:ea typeface="宋体" pitchFamily="2" charset="-122"/>
                        </a:rPr>
                        <a:t>3600</a:t>
                      </a:r>
                      <a:r>
                        <a:rPr kumimoji="0" lang="zh-CN" altLang="en-US" sz="2000" b="1" i="0" u="none" strike="noStrike" cap="none" normalizeH="0" baseline="0" smtClean="0">
                          <a:ln>
                            <a:noFill/>
                          </a:ln>
                          <a:solidFill>
                            <a:srgbClr val="000000"/>
                          </a:solidFill>
                          <a:effectLst/>
                          <a:latin typeface="Arial" pitchFamily="34" charset="0"/>
                          <a:ea typeface="宋体" pitchFamily="2" charset="-122"/>
                        </a:rPr>
                        <a:t>页</a:t>
                      </a:r>
                      <a:r>
                        <a:rPr kumimoji="0" lang="en-US" sz="2000" b="1" i="0" u="none" strike="noStrike" cap="none" normalizeH="0" baseline="0" smtClean="0">
                          <a:ln>
                            <a:noFill/>
                          </a:ln>
                          <a:solidFill>
                            <a:srgbClr val="000000"/>
                          </a:solidFill>
                          <a:effectLst/>
                          <a:latin typeface="Arial" pitchFamily="34" charset="0"/>
                          <a:ea typeface="宋体" pitchFamily="2" charset="-122"/>
                        </a:rPr>
                        <a:t> </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rgbClr val="000000"/>
                          </a:solidFill>
                          <a:effectLst/>
                          <a:latin typeface="Arial" pitchFamily="34" charset="0"/>
                          <a:ea typeface="宋体" pitchFamily="2" charset="-122"/>
                        </a:rPr>
                        <a:t>2003</a:t>
                      </a:r>
                      <a:r>
                        <a:rPr kumimoji="0" lang="zh-CN" altLang="en-US" sz="2000" b="1" i="0" u="none" strike="noStrike" cap="none" normalizeH="0" baseline="0" smtClean="0">
                          <a:ln>
                            <a:noFill/>
                          </a:ln>
                          <a:solidFill>
                            <a:srgbClr val="000000"/>
                          </a:solidFill>
                          <a:effectLst/>
                          <a:latin typeface="Arial" pitchFamily="34" charset="0"/>
                          <a:ea typeface="宋体" pitchFamily="2" charset="-122"/>
                        </a:rPr>
                        <a:t>年</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58267">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rgbClr val="000000"/>
                          </a:solidFill>
                          <a:effectLst/>
                          <a:latin typeface="Arial" pitchFamily="34" charset="0"/>
                          <a:ea typeface="宋体" pitchFamily="2" charset="-122"/>
                        </a:rPr>
                        <a:t>SQL2011</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endParaRPr kumimoji="0" lang="zh-CN" altLang="en-US" sz="2000" b="1" i="0" u="none" strike="noStrike" cap="none" normalizeH="0" baseline="0" dirty="0" smtClean="0">
                        <a:ln>
                          <a:noFill/>
                        </a:ln>
                        <a:solidFill>
                          <a:srgbClr val="000000"/>
                        </a:solidFill>
                        <a:effectLst/>
                        <a:latin typeface="Arial" pitchFamily="34" charset="0"/>
                        <a:ea typeface="宋体" pitchFamily="2" charset="-122"/>
                      </a:endParaRP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rgbClr val="000000"/>
                          </a:solidFill>
                          <a:effectLst/>
                          <a:latin typeface="Arial" pitchFamily="34" charset="0"/>
                          <a:ea typeface="宋体" pitchFamily="2" charset="-122"/>
                        </a:rPr>
                        <a:t>2011</a:t>
                      </a:r>
                      <a:r>
                        <a:rPr kumimoji="0" lang="zh-CN" altLang="en-US" sz="2000" b="1" i="0" u="none" strike="noStrike" cap="none" normalizeH="0" baseline="0" dirty="0" smtClean="0">
                          <a:ln>
                            <a:noFill/>
                          </a:ln>
                          <a:solidFill>
                            <a:srgbClr val="000000"/>
                          </a:solidFill>
                          <a:effectLst/>
                          <a:latin typeface="Arial" pitchFamily="34" charset="0"/>
                          <a:ea typeface="宋体" pitchFamily="2" charset="-122"/>
                        </a:rPr>
                        <a:t>年</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557464">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rgbClr val="000000"/>
                          </a:solidFill>
                          <a:effectLst/>
                          <a:latin typeface="Arial" pitchFamily="34" charset="0"/>
                          <a:ea typeface="宋体" pitchFamily="2" charset="-122"/>
                        </a:rPr>
                        <a:t>SQL2023</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endParaRPr kumimoji="0" lang="zh-CN" altLang="en-US" sz="2000" b="1" i="0" u="none" strike="noStrike" cap="none" normalizeH="0" baseline="0" smtClean="0">
                        <a:ln>
                          <a:noFill/>
                        </a:ln>
                        <a:solidFill>
                          <a:srgbClr val="000000"/>
                        </a:solidFill>
                        <a:effectLst/>
                        <a:latin typeface="Calibri" pitchFamily="34" charset="0"/>
                        <a:ea typeface="宋体" pitchFamily="2" charset="-122"/>
                      </a:endParaRP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rgbClr val="000000"/>
                          </a:solidFill>
                          <a:effectLst/>
                          <a:latin typeface="Arial" pitchFamily="34" charset="0"/>
                          <a:ea typeface="宋体" pitchFamily="2" charset="-122"/>
                        </a:rPr>
                        <a:t>2023</a:t>
                      </a:r>
                      <a:r>
                        <a:rPr kumimoji="0" lang="zh-CN" altLang="en-US" sz="2000" b="1" i="0" u="none" strike="noStrike" cap="none" normalizeH="0" baseline="0" dirty="0" smtClean="0">
                          <a:ln>
                            <a:noFill/>
                          </a:ln>
                          <a:solidFill>
                            <a:srgbClr val="000000"/>
                          </a:solidFill>
                          <a:effectLst/>
                          <a:latin typeface="Arial" pitchFamily="34" charset="0"/>
                          <a:ea typeface="宋体" pitchFamily="2" charset="-122"/>
                        </a:rPr>
                        <a:t>年</a:t>
                      </a:r>
                    </a:p>
                  </a:txBody>
                  <a:tcPr marL="91443" marR="9144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bl>
          </a:graphicData>
        </a:graphic>
      </p:graphicFrame>
      <p:sp>
        <p:nvSpPr>
          <p:cNvPr id="11305" name="Rectangle 3"/>
          <p:cNvSpPr txBox="1">
            <a:spLocks noChangeArrowheads="1"/>
          </p:cNvSpPr>
          <p:nvPr/>
        </p:nvSpPr>
        <p:spPr bwMode="auto">
          <a:xfrm>
            <a:off x="331358" y="5088186"/>
            <a:ext cx="8038285" cy="1509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smtClean="0"/>
              <a:t>市场中有超过</a:t>
            </a:r>
            <a:r>
              <a:rPr lang="en-US" altLang="zh-CN" sz="2400" dirty="0" smtClean="0"/>
              <a:t>100</a:t>
            </a:r>
            <a:r>
              <a:rPr lang="zh-CN" altLang="en-US" sz="2400" dirty="0" smtClean="0"/>
              <a:t>个</a:t>
            </a:r>
            <a:r>
              <a:rPr lang="en-US" altLang="zh-CN" sz="2400" dirty="0" smtClean="0"/>
              <a:t>SQL</a:t>
            </a:r>
            <a:r>
              <a:rPr lang="zh-CN" altLang="en-US" sz="2400" dirty="0" smtClean="0"/>
              <a:t>相关软件，</a:t>
            </a:r>
            <a:r>
              <a:rPr lang="en-US" altLang="zh-CN" sz="2400" dirty="0" smtClean="0"/>
              <a:t>E.g</a:t>
            </a:r>
            <a:r>
              <a:rPr lang="en-US" altLang="zh-CN" sz="2400" dirty="0"/>
              <a:t>.: Oracle, Sybase, Ingres, Informix, DB2</a:t>
            </a:r>
            <a:r>
              <a:rPr lang="en-US" altLang="zh-CN" sz="2400" dirty="0" smtClean="0"/>
              <a:t>.</a:t>
            </a:r>
            <a:endParaRPr lang="zh-CN" altLang="en-US" sz="2400" dirty="0"/>
          </a:p>
          <a:p>
            <a:pPr eaLnBrk="1" hangingPunct="1">
              <a:spcBef>
                <a:spcPct val="20000"/>
              </a:spcBef>
              <a:buSzPct val="100000"/>
              <a:buFont typeface="Wingdings" panose="05000000000000000000" pitchFamily="2" charset="2"/>
              <a:buNone/>
            </a:pPr>
            <a:r>
              <a:rPr lang="zh-CN" altLang="en-US" sz="2400" b="1" dirty="0" smtClean="0"/>
              <a:t>目前</a:t>
            </a:r>
            <a:r>
              <a:rPr lang="zh-CN" altLang="en-US" sz="2400" b="1" dirty="0"/>
              <a:t>，没有一个数据库系统能够支持</a:t>
            </a:r>
            <a:r>
              <a:rPr lang="en-US" altLang="zh-CN" sz="2400" b="1" dirty="0"/>
              <a:t>SQL</a:t>
            </a:r>
            <a:r>
              <a:rPr lang="zh-CN" altLang="en-US" sz="2400" b="1" dirty="0"/>
              <a:t>标准的所有概念和特性</a:t>
            </a:r>
          </a:p>
        </p:txBody>
      </p:sp>
    </p:spTree>
    <p:extLst>
      <p:ext uri="{BB962C8B-B14F-4D97-AF65-F5344CB8AC3E}">
        <p14:creationId xmlns:p14="http://schemas.microsoft.com/office/powerpoint/2010/main" val="867572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idx="4294967295"/>
          </p:nvPr>
        </p:nvSpPr>
        <p:spPr>
          <a:xfrm>
            <a:off x="457200" y="106363"/>
            <a:ext cx="8229600" cy="874712"/>
          </a:xfrm>
        </p:spPr>
        <p:txBody>
          <a:bodyPr/>
          <a:lstStyle/>
          <a:p>
            <a:r>
              <a:rPr lang="en-US" altLang="zh-CN" sz="3600" smtClean="0"/>
              <a:t>SQL</a:t>
            </a:r>
            <a:r>
              <a:rPr lang="zh-CN" altLang="en-US" sz="3600" smtClean="0"/>
              <a:t>标准的进展过程</a:t>
            </a:r>
          </a:p>
        </p:txBody>
      </p:sp>
      <p:pic>
        <p:nvPicPr>
          <p:cNvPr id="2" name="图片 1"/>
          <p:cNvPicPr>
            <a:picLocks noChangeAspect="1"/>
          </p:cNvPicPr>
          <p:nvPr/>
        </p:nvPicPr>
        <p:blipFill>
          <a:blip r:embed="rId3"/>
          <a:stretch>
            <a:fillRect/>
          </a:stretch>
        </p:blipFill>
        <p:spPr>
          <a:xfrm>
            <a:off x="1335759" y="0"/>
            <a:ext cx="7194972" cy="6858000"/>
          </a:xfrm>
          <a:prstGeom prst="rect">
            <a:avLst/>
          </a:prstGeom>
        </p:spPr>
      </p:pic>
    </p:spTree>
    <p:extLst>
      <p:ext uri="{BB962C8B-B14F-4D97-AF65-F5344CB8AC3E}">
        <p14:creationId xmlns:p14="http://schemas.microsoft.com/office/powerpoint/2010/main" val="36245367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idx="4294967295"/>
          </p:nvPr>
        </p:nvSpPr>
        <p:spPr>
          <a:xfrm>
            <a:off x="914400" y="260350"/>
            <a:ext cx="7391400" cy="561975"/>
          </a:xfrm>
        </p:spPr>
        <p:txBody>
          <a:bodyPr/>
          <a:lstStyle/>
          <a:p>
            <a:r>
              <a:rPr lang="en-US" altLang="zh-CN" sz="3200" dirty="0"/>
              <a:t>1. SQL</a:t>
            </a:r>
            <a:r>
              <a:rPr lang="zh-CN" altLang="en-US" sz="3200" dirty="0"/>
              <a:t>基本介绍</a:t>
            </a:r>
            <a:endParaRPr lang="zh-CN" altLang="en-US" sz="3200" dirty="0" smtClean="0"/>
          </a:p>
        </p:txBody>
      </p:sp>
      <p:sp>
        <p:nvSpPr>
          <p:cNvPr id="1028" name="Rectangle 3"/>
          <p:cNvSpPr>
            <a:spLocks noGrp="1" noChangeArrowheads="1"/>
          </p:cNvSpPr>
          <p:nvPr>
            <p:ph type="body" sz="half" idx="4294967295"/>
          </p:nvPr>
        </p:nvSpPr>
        <p:spPr>
          <a:xfrm>
            <a:off x="457200" y="1341438"/>
            <a:ext cx="7715250" cy="4983162"/>
          </a:xfrm>
        </p:spPr>
        <p:txBody>
          <a:bodyPr/>
          <a:lstStyle/>
          <a:p>
            <a:pPr eaLnBrk="1" hangingPunct="1"/>
            <a:r>
              <a:rPr lang="en-US" altLang="zh-CN" smtClean="0"/>
              <a:t>SQL</a:t>
            </a:r>
            <a:r>
              <a:rPr lang="zh-CN" altLang="en-US" smtClean="0"/>
              <a:t>功能极强，完成核心功能只用了</a:t>
            </a:r>
            <a:r>
              <a:rPr lang="en-US" altLang="zh-CN" smtClean="0"/>
              <a:t>9</a:t>
            </a:r>
            <a:r>
              <a:rPr lang="zh-CN" altLang="en-US" smtClean="0"/>
              <a:t>个动词。</a:t>
            </a:r>
          </a:p>
        </p:txBody>
      </p:sp>
      <p:graphicFrame>
        <p:nvGraphicFramePr>
          <p:cNvPr id="1026" name="Object 2"/>
          <p:cNvGraphicFramePr>
            <a:graphicFrameLocks noGrp="1" noChangeAspect="1"/>
          </p:cNvGraphicFramePr>
          <p:nvPr>
            <p:ph sz="half" idx="4294967295"/>
            <p:extLst>
              <p:ext uri="{D42A27DB-BD31-4B8C-83A1-F6EECF244321}">
                <p14:modId xmlns:p14="http://schemas.microsoft.com/office/powerpoint/2010/main" val="1939646430"/>
              </p:ext>
            </p:extLst>
          </p:nvPr>
        </p:nvGraphicFramePr>
        <p:xfrm>
          <a:off x="277813" y="2085975"/>
          <a:ext cx="8234362" cy="3695700"/>
        </p:xfrm>
        <a:graphic>
          <a:graphicData uri="http://schemas.openxmlformats.org/presentationml/2006/ole">
            <mc:AlternateContent xmlns:mc="http://schemas.openxmlformats.org/markup-compatibility/2006">
              <mc:Choice xmlns:v="urn:schemas-microsoft-com:vml" Requires="v">
                <p:oleObj spid="_x0000_s1202" name="Document" r:id="rId3" imgW="4236513" imgH="1901655" progId="Word.Document.8">
                  <p:embed/>
                </p:oleObj>
              </mc:Choice>
              <mc:Fallback>
                <p:oleObj name="Document" r:id="rId3" imgW="4236513" imgH="1901655" progId="Word.Document.8">
                  <p:embed/>
                  <p:pic>
                    <p:nvPicPr>
                      <p:cNvPr id="0" name=""/>
                      <p:cNvPicPr>
                        <a:picLocks noGrp="1" noChangeAspect="1" noChangeArrowheads="1"/>
                      </p:cNvPicPr>
                      <p:nvPr/>
                    </p:nvPicPr>
                    <p:blipFill>
                      <a:blip r:embed="rId4"/>
                      <a:srcRect/>
                      <a:stretch>
                        <a:fillRect/>
                      </a:stretch>
                    </p:blipFill>
                    <p:spPr bwMode="auto">
                      <a:xfrm>
                        <a:off x="277813" y="2085975"/>
                        <a:ext cx="8234362" cy="369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615045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2"/>
          <p:cNvGraphicFramePr>
            <a:graphicFrameLocks noChangeAspect="1"/>
          </p:cNvGraphicFramePr>
          <p:nvPr>
            <p:extLst>
              <p:ext uri="{D42A27DB-BD31-4B8C-83A1-F6EECF244321}">
                <p14:modId xmlns:p14="http://schemas.microsoft.com/office/powerpoint/2010/main" val="2146004809"/>
              </p:ext>
            </p:extLst>
          </p:nvPr>
        </p:nvGraphicFramePr>
        <p:xfrm>
          <a:off x="-219075" y="3140075"/>
          <a:ext cx="9598025" cy="3268663"/>
        </p:xfrm>
        <a:graphic>
          <a:graphicData uri="http://schemas.openxmlformats.org/presentationml/2006/ole">
            <mc:AlternateContent xmlns:mc="http://schemas.openxmlformats.org/markup-compatibility/2006">
              <mc:Choice xmlns:v="urn:schemas-microsoft-com:vml" Requires="v">
                <p:oleObj spid="_x0000_s2226" name="Document" r:id="rId4" imgW="5634487" imgH="1919618" progId="Word.Document.8">
                  <p:embed/>
                </p:oleObj>
              </mc:Choice>
              <mc:Fallback>
                <p:oleObj name="Document" r:id="rId4" imgW="5634487" imgH="1919618" progId="Word.Document.8">
                  <p:embed/>
                  <p:pic>
                    <p:nvPicPr>
                      <p:cNvPr id="0" name=""/>
                      <p:cNvPicPr>
                        <a:picLocks noChangeAspect="1" noChangeArrowheads="1"/>
                      </p:cNvPicPr>
                      <p:nvPr/>
                    </p:nvPicPr>
                    <p:blipFill>
                      <a:blip r:embed="rId5"/>
                      <a:srcRect/>
                      <a:stretch>
                        <a:fillRect/>
                      </a:stretch>
                    </p:blipFill>
                    <p:spPr bwMode="auto">
                      <a:xfrm>
                        <a:off x="-219075" y="3140075"/>
                        <a:ext cx="9598025" cy="326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2" name="Rectangle 4"/>
          <p:cNvSpPr>
            <a:spLocks noChangeArrowheads="1"/>
          </p:cNvSpPr>
          <p:nvPr/>
        </p:nvSpPr>
        <p:spPr bwMode="auto">
          <a:xfrm>
            <a:off x="402167" y="1139527"/>
            <a:ext cx="7961313" cy="2000548"/>
          </a:xfrm>
          <a:prstGeom prst="rect">
            <a:avLst/>
          </a:prstGeom>
          <a:noFill/>
          <a:ln w="9525">
            <a:noFill/>
            <a:miter lim="800000"/>
            <a:headEnd/>
            <a:tailEnd/>
          </a:ln>
        </p:spPr>
        <p:txBody>
          <a:bodyPr anchor="ctr">
            <a:spAutoFit/>
          </a:bodyPr>
          <a:lstStyle/>
          <a:p>
            <a:pPr>
              <a:buClr>
                <a:schemeClr val="tx1"/>
              </a:buClr>
              <a:buSzPct val="100000"/>
              <a:buFont typeface="Wingdings" pitchFamily="2" charset="2"/>
              <a:buChar char="v"/>
              <a:defRPr/>
            </a:pPr>
            <a:r>
              <a:rPr lang="en-US" altLang="zh-CN" sz="2800" b="1" dirty="0">
                <a:latin typeface="+mn-lt"/>
              </a:rPr>
              <a:t>SQL</a:t>
            </a:r>
            <a:r>
              <a:rPr lang="zh-CN" altLang="en-US" sz="2800" b="1" dirty="0">
                <a:latin typeface="+mn-lt"/>
              </a:rPr>
              <a:t>的数据定义功能</a:t>
            </a:r>
            <a:r>
              <a:rPr lang="en-US" altLang="zh-CN" sz="2800" b="1" dirty="0">
                <a:latin typeface="+mn-lt"/>
              </a:rPr>
              <a:t>: </a:t>
            </a:r>
          </a:p>
          <a:p>
            <a:pPr marL="742950" lvl="1" indent="-285750">
              <a:buClr>
                <a:schemeClr val="tx1"/>
              </a:buClr>
              <a:buSzPct val="100000"/>
              <a:buFont typeface="Wingdings" pitchFamily="2" charset="2"/>
              <a:buChar char="n"/>
              <a:defRPr/>
            </a:pPr>
            <a:r>
              <a:rPr lang="zh-CN" altLang="en-US" sz="2400" b="1" dirty="0" smtClean="0"/>
              <a:t>数据库定义</a:t>
            </a:r>
            <a:endParaRPr lang="en-US" altLang="zh-CN" sz="2400" b="1" dirty="0"/>
          </a:p>
          <a:p>
            <a:pPr marL="742950" lvl="1" indent="-285750">
              <a:buClr>
                <a:schemeClr val="tx1"/>
              </a:buClr>
              <a:buSzPct val="100000"/>
              <a:buFont typeface="Wingdings" pitchFamily="2" charset="2"/>
              <a:buChar char="n"/>
              <a:defRPr/>
            </a:pPr>
            <a:r>
              <a:rPr lang="zh-CN" altLang="en-US" sz="2400" b="1" dirty="0" smtClean="0">
                <a:latin typeface="+mn-lt"/>
              </a:rPr>
              <a:t>模式</a:t>
            </a:r>
            <a:r>
              <a:rPr lang="zh-CN" altLang="en-US" sz="2400" b="1" dirty="0">
                <a:latin typeface="+mn-lt"/>
              </a:rPr>
              <a:t>定义</a:t>
            </a:r>
            <a:endParaRPr lang="zh-CN" altLang="en-US" sz="2000" b="1" dirty="0">
              <a:latin typeface="+mn-lt"/>
            </a:endParaRPr>
          </a:p>
          <a:p>
            <a:pPr marL="742950" lvl="1" indent="-285750">
              <a:buClr>
                <a:schemeClr val="tx1"/>
              </a:buClr>
              <a:buSzPct val="100000"/>
              <a:buFont typeface="Wingdings" pitchFamily="2" charset="2"/>
              <a:buChar char="n"/>
              <a:defRPr/>
            </a:pPr>
            <a:r>
              <a:rPr lang="zh-CN" altLang="en-US" sz="2400" b="1" dirty="0">
                <a:latin typeface="+mn-lt"/>
              </a:rPr>
              <a:t>表定义</a:t>
            </a:r>
            <a:endParaRPr lang="zh-CN" altLang="en-US" sz="2000" b="1" dirty="0">
              <a:latin typeface="+mn-lt"/>
            </a:endParaRPr>
          </a:p>
          <a:p>
            <a:pPr marL="742950" lvl="1" indent="-285750">
              <a:buClr>
                <a:schemeClr val="tx1"/>
              </a:buClr>
              <a:buSzPct val="100000"/>
              <a:buFont typeface="Wingdings" pitchFamily="2" charset="2"/>
              <a:buChar char="n"/>
              <a:defRPr/>
            </a:pPr>
            <a:r>
              <a:rPr lang="zh-CN" altLang="en-US" sz="2400" b="1" dirty="0">
                <a:latin typeface="+mn-lt"/>
              </a:rPr>
              <a:t>视图和索引的定义 </a:t>
            </a:r>
          </a:p>
        </p:txBody>
      </p:sp>
      <p:sp>
        <p:nvSpPr>
          <p:cNvPr id="5" name="Rectangle 2"/>
          <p:cNvSpPr txBox="1">
            <a:spLocks noChangeArrowheads="1"/>
          </p:cNvSpPr>
          <p:nvPr/>
        </p:nvSpPr>
        <p:spPr>
          <a:xfrm>
            <a:off x="723900" y="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altLang="zh-CN" sz="3600" dirty="0" smtClean="0"/>
              <a:t>1. SQL</a:t>
            </a:r>
            <a:r>
              <a:rPr lang="zh-CN" altLang="en-US" sz="3600" dirty="0" smtClean="0"/>
              <a:t>基本介绍</a:t>
            </a:r>
          </a:p>
        </p:txBody>
      </p:sp>
    </p:spTree>
    <p:extLst>
      <p:ext uri="{BB962C8B-B14F-4D97-AF65-F5344CB8AC3E}">
        <p14:creationId xmlns:p14="http://schemas.microsoft.com/office/powerpoint/2010/main" val="28896183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p:cNvSpPr>
            <a:spLocks noGrp="1" noChangeArrowheads="1"/>
          </p:cNvSpPr>
          <p:nvPr>
            <p:ph type="title" idx="4294967295"/>
          </p:nvPr>
        </p:nvSpPr>
        <p:spPr/>
        <p:txBody>
          <a:bodyPr/>
          <a:lstStyle/>
          <a:p>
            <a:pPr eaLnBrk="1" hangingPunct="1"/>
            <a:r>
              <a:rPr lang="en-US" altLang="zh-CN" sz="3600" dirty="0" smtClean="0"/>
              <a:t>2. </a:t>
            </a:r>
            <a:r>
              <a:rPr lang="zh-CN" altLang="en-US" sz="3600" dirty="0" smtClean="0"/>
              <a:t>数据库定义</a:t>
            </a:r>
          </a:p>
        </p:txBody>
      </p:sp>
      <p:sp>
        <p:nvSpPr>
          <p:cNvPr id="23555" name="Rectangle 1027"/>
          <p:cNvSpPr>
            <a:spLocks noGrp="1" noChangeArrowheads="1"/>
          </p:cNvSpPr>
          <p:nvPr>
            <p:ph type="body" idx="4294967295"/>
          </p:nvPr>
        </p:nvSpPr>
        <p:spPr>
          <a:xfrm>
            <a:off x="457200" y="1339850"/>
            <a:ext cx="8435975" cy="4854575"/>
          </a:xfrm>
        </p:spPr>
        <p:txBody>
          <a:bodyPr/>
          <a:lstStyle/>
          <a:p>
            <a:pPr eaLnBrk="1" hangingPunct="1">
              <a:lnSpc>
                <a:spcPct val="150000"/>
              </a:lnSpc>
            </a:pPr>
            <a:r>
              <a:rPr lang="zh-CN" altLang="en-US" dirty="0" smtClean="0"/>
              <a:t>建立数据库</a:t>
            </a:r>
            <a:endParaRPr lang="en-US" altLang="zh-CN" dirty="0" smtClean="0"/>
          </a:p>
          <a:p>
            <a:pPr marL="0" indent="0">
              <a:lnSpc>
                <a:spcPct val="150000"/>
              </a:lnSpc>
              <a:buNone/>
            </a:pPr>
            <a:r>
              <a:rPr lang="en-US" altLang="zh-CN" dirty="0" smtClean="0"/>
              <a:t>CREATE </a:t>
            </a:r>
            <a:r>
              <a:rPr lang="en-US" altLang="zh-CN" dirty="0"/>
              <a:t>DATABASE &lt;</a:t>
            </a:r>
            <a:r>
              <a:rPr lang="en-US" altLang="zh-CN" dirty="0" err="1"/>
              <a:t>database_name</a:t>
            </a:r>
            <a:r>
              <a:rPr lang="en-US" altLang="zh-CN" dirty="0" smtClean="0"/>
              <a:t>&gt;</a:t>
            </a:r>
          </a:p>
          <a:p>
            <a:pPr>
              <a:lnSpc>
                <a:spcPct val="150000"/>
              </a:lnSpc>
            </a:pPr>
            <a:r>
              <a:rPr lang="zh-CN" altLang="en-US" dirty="0" smtClean="0"/>
              <a:t>删除数据库</a:t>
            </a:r>
            <a:endParaRPr lang="en-US" altLang="zh-CN" dirty="0" smtClean="0"/>
          </a:p>
          <a:p>
            <a:pPr marL="0" indent="0">
              <a:lnSpc>
                <a:spcPct val="150000"/>
              </a:lnSpc>
              <a:buNone/>
            </a:pPr>
            <a:r>
              <a:rPr lang="en-US" altLang="zh-CN" dirty="0" smtClean="0"/>
              <a:t> DROP </a:t>
            </a:r>
            <a:r>
              <a:rPr lang="en-US" altLang="zh-CN" dirty="0"/>
              <a:t>DATABASE &lt;</a:t>
            </a:r>
            <a:r>
              <a:rPr lang="en-US" altLang="zh-CN" dirty="0" err="1"/>
              <a:t>database_name</a:t>
            </a:r>
            <a:r>
              <a:rPr lang="en-US" altLang="zh-CN" dirty="0"/>
              <a:t>&gt;</a:t>
            </a:r>
            <a:endParaRPr lang="zh-CN" altLang="zh-CN" dirty="0"/>
          </a:p>
          <a:p>
            <a:pPr>
              <a:lnSpc>
                <a:spcPct val="150000"/>
              </a:lnSpc>
            </a:pPr>
            <a:endParaRPr lang="zh-CN" altLang="zh-CN" dirty="0"/>
          </a:p>
          <a:p>
            <a:pPr eaLnBrk="1" hangingPunct="1">
              <a:lnSpc>
                <a:spcPct val="150000"/>
              </a:lnSpc>
            </a:pPr>
            <a:endParaRPr lang="en-US" altLang="zh-CN" dirty="0" smtClean="0"/>
          </a:p>
          <a:p>
            <a:pPr eaLnBrk="1" hangingPunct="1">
              <a:buFont typeface="Wingdings" panose="05000000000000000000" pitchFamily="2" charset="2"/>
              <a:buNone/>
            </a:pPr>
            <a:endParaRPr lang="en-US" altLang="zh-CN" dirty="0" smtClean="0"/>
          </a:p>
        </p:txBody>
      </p:sp>
    </p:spTree>
    <p:extLst>
      <p:ext uri="{BB962C8B-B14F-4D97-AF65-F5344CB8AC3E}">
        <p14:creationId xmlns:p14="http://schemas.microsoft.com/office/powerpoint/2010/main" val="24314741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body" idx="4294967295"/>
          </p:nvPr>
        </p:nvSpPr>
        <p:spPr>
          <a:xfrm>
            <a:off x="133350" y="1098550"/>
            <a:ext cx="9047163" cy="4495800"/>
          </a:xfrm>
        </p:spPr>
        <p:txBody>
          <a:bodyPr/>
          <a:lstStyle/>
          <a:p>
            <a:pPr eaLnBrk="1" hangingPunct="1">
              <a:lnSpc>
                <a:spcPct val="200000"/>
              </a:lnSpc>
              <a:buFont typeface="Wingdings" panose="05000000000000000000" pitchFamily="2" charset="2"/>
              <a:buNone/>
            </a:pPr>
            <a:r>
              <a:rPr lang="en-US" altLang="zh-CN" sz="2400" dirty="0" smtClean="0"/>
              <a:t>    [</a:t>
            </a:r>
            <a:r>
              <a:rPr lang="zh-CN" altLang="en-US" sz="2400" dirty="0" smtClean="0"/>
              <a:t>例</a:t>
            </a:r>
            <a:r>
              <a:rPr lang="en-US" altLang="zh-CN" sz="2400" dirty="0" smtClean="0"/>
              <a:t>3.1] </a:t>
            </a:r>
            <a:r>
              <a:rPr lang="zh-CN" altLang="en-US" sz="2400" dirty="0" smtClean="0"/>
              <a:t>为用户</a:t>
            </a:r>
            <a:r>
              <a:rPr lang="en-US" altLang="zh-CN" sz="2400" dirty="0" smtClean="0"/>
              <a:t>WANG</a:t>
            </a:r>
            <a:r>
              <a:rPr lang="zh-CN" altLang="en-US" sz="2400" dirty="0" smtClean="0"/>
              <a:t>定义一个学生</a:t>
            </a:r>
            <a:r>
              <a:rPr lang="en-US" altLang="zh-CN" sz="2400" dirty="0" smtClean="0"/>
              <a:t>-</a:t>
            </a:r>
            <a:r>
              <a:rPr lang="zh-CN" altLang="en-US" sz="2400" dirty="0" smtClean="0"/>
              <a:t>课程模式</a:t>
            </a:r>
            <a:r>
              <a:rPr lang="en-US" altLang="zh-CN" sz="2400" dirty="0" smtClean="0"/>
              <a:t>S-T</a:t>
            </a:r>
          </a:p>
          <a:p>
            <a:pPr eaLnBrk="1" hangingPunct="1">
              <a:lnSpc>
                <a:spcPct val="200000"/>
              </a:lnSpc>
              <a:buFont typeface="Wingdings" panose="05000000000000000000" pitchFamily="2" charset="2"/>
              <a:buNone/>
            </a:pPr>
            <a:r>
              <a:rPr lang="en-US" altLang="zh-CN" sz="2400" dirty="0" smtClean="0"/>
              <a:t>            CREATE SCHEMA “S-T” </a:t>
            </a:r>
            <a:r>
              <a:rPr lang="en-US" altLang="zh-CN" sz="2400" dirty="0" smtClean="0">
                <a:solidFill>
                  <a:srgbClr val="FF0000"/>
                </a:solidFill>
              </a:rPr>
              <a:t>AUTHORIZATION WANG</a:t>
            </a:r>
            <a:r>
              <a:rPr lang="en-US" altLang="zh-CN" sz="2400" dirty="0" smtClean="0"/>
              <a:t>;</a:t>
            </a:r>
          </a:p>
          <a:p>
            <a:pPr eaLnBrk="1" hangingPunct="1">
              <a:lnSpc>
                <a:spcPct val="200000"/>
              </a:lnSpc>
              <a:buFont typeface="Wingdings" panose="05000000000000000000" pitchFamily="2" charset="2"/>
              <a:buNone/>
            </a:pPr>
            <a:r>
              <a:rPr lang="en-US" altLang="zh-CN" sz="2400" dirty="0" smtClean="0"/>
              <a:t>    [</a:t>
            </a:r>
            <a:r>
              <a:rPr lang="zh-CN" altLang="en-US" sz="2400" dirty="0" smtClean="0"/>
              <a:t>例</a:t>
            </a:r>
            <a:r>
              <a:rPr lang="en-US" altLang="zh-CN" sz="2400" dirty="0" smtClean="0"/>
              <a:t>3.2] CREATE SCHEMA AUTHORIZATION WANG</a:t>
            </a:r>
            <a:r>
              <a:rPr lang="zh-CN" altLang="en-US" sz="2400" dirty="0" smtClean="0"/>
              <a:t>;</a:t>
            </a:r>
          </a:p>
          <a:p>
            <a:pPr lvl="1" eaLnBrk="1" hangingPunct="1">
              <a:lnSpc>
                <a:spcPct val="200000"/>
              </a:lnSpc>
              <a:buFont typeface="Wingdings" panose="05000000000000000000" pitchFamily="2" charset="2"/>
              <a:buNone/>
            </a:pPr>
            <a:r>
              <a:rPr lang="zh-CN" altLang="en-US" dirty="0" smtClean="0"/>
              <a:t>  该语句没有指定</a:t>
            </a:r>
            <a:r>
              <a:rPr lang="en-US" altLang="zh-CN" dirty="0" smtClean="0"/>
              <a:t>&lt;</a:t>
            </a:r>
            <a:r>
              <a:rPr lang="zh-CN" altLang="en-US" dirty="0" smtClean="0"/>
              <a:t>模式名</a:t>
            </a:r>
            <a:r>
              <a:rPr lang="en-US" altLang="zh-CN" dirty="0" smtClean="0"/>
              <a:t>&gt;</a:t>
            </a:r>
            <a:r>
              <a:rPr lang="zh-CN" altLang="en-US" dirty="0" smtClean="0"/>
              <a:t>，</a:t>
            </a:r>
            <a:r>
              <a:rPr lang="en-US" altLang="zh-CN" dirty="0" smtClean="0"/>
              <a:t>&lt;</a:t>
            </a:r>
            <a:r>
              <a:rPr lang="zh-CN" altLang="en-US" dirty="0" smtClean="0"/>
              <a:t>模式名</a:t>
            </a:r>
            <a:r>
              <a:rPr lang="en-US" altLang="zh-CN" dirty="0" smtClean="0"/>
              <a:t>&gt;</a:t>
            </a:r>
            <a:r>
              <a:rPr lang="zh-CN" altLang="en-US" dirty="0" smtClean="0"/>
              <a:t>隐含为</a:t>
            </a:r>
            <a:r>
              <a:rPr lang="en-US" altLang="zh-CN" dirty="0" smtClean="0"/>
              <a:t>&lt;</a:t>
            </a:r>
            <a:r>
              <a:rPr lang="zh-CN" altLang="en-US" dirty="0" smtClean="0"/>
              <a:t>用户名</a:t>
            </a:r>
            <a:r>
              <a:rPr lang="en-US" altLang="zh-CN" dirty="0" smtClean="0"/>
              <a:t>&gt;</a:t>
            </a:r>
          </a:p>
        </p:txBody>
      </p:sp>
      <p:sp>
        <p:nvSpPr>
          <p:cNvPr id="4" name="Rectangle 1026"/>
          <p:cNvSpPr txBox="1">
            <a:spLocks noChangeArrowheads="1"/>
          </p:cNvSpPr>
          <p:nvPr/>
        </p:nvSpPr>
        <p:spPr>
          <a:xfrm>
            <a:off x="723900" y="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zh-CN" altLang="en-US" sz="3600" dirty="0"/>
              <a:t>定义模式</a:t>
            </a:r>
            <a:endParaRPr lang="zh-CN" altLang="en-US" sz="3600" dirty="0" smtClean="0"/>
          </a:p>
        </p:txBody>
      </p:sp>
    </p:spTree>
    <p:extLst>
      <p:ext uri="{BB962C8B-B14F-4D97-AF65-F5344CB8AC3E}">
        <p14:creationId xmlns:p14="http://schemas.microsoft.com/office/powerpoint/2010/main" val="14077226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p:txBody>
          <a:bodyPr/>
          <a:lstStyle/>
          <a:p>
            <a:pPr eaLnBrk="1" hangingPunct="1"/>
            <a:r>
              <a:rPr lang="zh-CN" altLang="en-US" sz="3600" dirty="0" smtClean="0"/>
              <a:t>定义模式（续）</a:t>
            </a:r>
          </a:p>
        </p:txBody>
      </p:sp>
      <p:sp>
        <p:nvSpPr>
          <p:cNvPr id="31747" name="Rectangle 3"/>
          <p:cNvSpPr>
            <a:spLocks noGrp="1" noChangeArrowheads="1"/>
          </p:cNvSpPr>
          <p:nvPr>
            <p:ph type="body" idx="4294967295"/>
          </p:nvPr>
        </p:nvSpPr>
        <p:spPr>
          <a:xfrm>
            <a:off x="457200" y="1196975"/>
            <a:ext cx="8229600" cy="4854575"/>
          </a:xfrm>
        </p:spPr>
        <p:txBody>
          <a:bodyPr>
            <a:normAutofit fontScale="70000" lnSpcReduction="20000"/>
          </a:bodyPr>
          <a:lstStyle/>
          <a:p>
            <a:pPr eaLnBrk="1" hangingPunct="1">
              <a:lnSpc>
                <a:spcPct val="120000"/>
              </a:lnSpc>
            </a:pPr>
            <a:r>
              <a:rPr lang="zh-CN" altLang="en-US" dirty="0" smtClean="0"/>
              <a:t>在</a:t>
            </a:r>
            <a:r>
              <a:rPr lang="en-US" altLang="zh-CN" dirty="0" smtClean="0"/>
              <a:t>CREATE SCHEMA</a:t>
            </a:r>
            <a:r>
              <a:rPr lang="zh-CN" altLang="en-US" dirty="0" smtClean="0"/>
              <a:t>中可以接受</a:t>
            </a:r>
            <a:r>
              <a:rPr lang="en-US" altLang="zh-CN" dirty="0" smtClean="0"/>
              <a:t>CREATE TABLE</a:t>
            </a:r>
            <a:r>
              <a:rPr lang="zh-CN" altLang="en-US" dirty="0" smtClean="0"/>
              <a:t>，</a:t>
            </a:r>
            <a:r>
              <a:rPr lang="en-US" altLang="zh-CN" dirty="0" smtClean="0"/>
              <a:t>CREATE VIEW</a:t>
            </a:r>
            <a:r>
              <a:rPr lang="zh-CN" altLang="en-US" dirty="0" smtClean="0"/>
              <a:t>和</a:t>
            </a:r>
            <a:r>
              <a:rPr lang="en-US" altLang="zh-CN" dirty="0" smtClean="0"/>
              <a:t>GRANT</a:t>
            </a:r>
            <a:r>
              <a:rPr lang="zh-CN" altLang="en-US" dirty="0" smtClean="0"/>
              <a:t>子句。</a:t>
            </a:r>
          </a:p>
          <a:p>
            <a:pPr eaLnBrk="1" hangingPunct="1">
              <a:lnSpc>
                <a:spcPct val="120000"/>
              </a:lnSpc>
              <a:buFont typeface="Wingdings" panose="05000000000000000000" pitchFamily="2" charset="2"/>
              <a:buNone/>
            </a:pPr>
            <a:r>
              <a:rPr lang="zh-CN" altLang="en-US" dirty="0" smtClean="0">
                <a:solidFill>
                  <a:srgbClr val="FF0000"/>
                </a:solidFill>
              </a:rPr>
              <a:t>   </a:t>
            </a:r>
            <a:r>
              <a:rPr lang="zh-CN" altLang="en-US" sz="2400" dirty="0" smtClean="0">
                <a:solidFill>
                  <a:srgbClr val="FF0000"/>
                </a:solidFill>
              </a:rPr>
              <a:t> </a:t>
            </a:r>
            <a:r>
              <a:rPr lang="en-US" altLang="zh-CN" sz="2400" dirty="0" smtClean="0">
                <a:solidFill>
                  <a:srgbClr val="FF0000"/>
                </a:solidFill>
              </a:rPr>
              <a:t>CREATE SCHEMA &lt;</a:t>
            </a:r>
            <a:r>
              <a:rPr lang="zh-CN" altLang="en-US" sz="2400" dirty="0" smtClean="0">
                <a:solidFill>
                  <a:srgbClr val="FF0000"/>
                </a:solidFill>
              </a:rPr>
              <a:t>模式名</a:t>
            </a:r>
            <a:r>
              <a:rPr lang="en-US" altLang="zh-CN" sz="2400" dirty="0" smtClean="0">
                <a:solidFill>
                  <a:srgbClr val="FF0000"/>
                </a:solidFill>
              </a:rPr>
              <a:t>&gt; AUTHORIZATION &lt;</a:t>
            </a:r>
            <a:r>
              <a:rPr lang="zh-CN" altLang="en-US" sz="2400" dirty="0" smtClean="0">
                <a:solidFill>
                  <a:srgbClr val="FF0000"/>
                </a:solidFill>
              </a:rPr>
              <a:t>用户名</a:t>
            </a:r>
            <a:r>
              <a:rPr lang="en-US" altLang="zh-CN" sz="2400" dirty="0" smtClean="0">
                <a:solidFill>
                  <a:srgbClr val="FF0000"/>
                </a:solidFill>
              </a:rPr>
              <a:t>&gt;[&lt;</a:t>
            </a:r>
            <a:r>
              <a:rPr lang="zh-CN" altLang="en-US" sz="2400" dirty="0" smtClean="0">
                <a:solidFill>
                  <a:srgbClr val="FF0000"/>
                </a:solidFill>
              </a:rPr>
              <a:t>表定义子句</a:t>
            </a:r>
            <a:r>
              <a:rPr lang="en-US" altLang="zh-CN" sz="2400" dirty="0" smtClean="0">
                <a:solidFill>
                  <a:srgbClr val="FF0000"/>
                </a:solidFill>
              </a:rPr>
              <a:t>&gt;|&lt;</a:t>
            </a:r>
            <a:r>
              <a:rPr lang="zh-CN" altLang="en-US" sz="2400" dirty="0" smtClean="0">
                <a:solidFill>
                  <a:srgbClr val="FF0000"/>
                </a:solidFill>
              </a:rPr>
              <a:t>视图定义子句</a:t>
            </a:r>
            <a:r>
              <a:rPr lang="en-US" altLang="zh-CN" sz="2400" dirty="0" smtClean="0">
                <a:solidFill>
                  <a:srgbClr val="FF0000"/>
                </a:solidFill>
              </a:rPr>
              <a:t>&gt;|&lt;</a:t>
            </a:r>
            <a:r>
              <a:rPr lang="zh-CN" altLang="en-US" sz="2400" dirty="0" smtClean="0">
                <a:solidFill>
                  <a:srgbClr val="FF0000"/>
                </a:solidFill>
              </a:rPr>
              <a:t>授权定义子句</a:t>
            </a:r>
            <a:r>
              <a:rPr lang="en-US" altLang="zh-CN" sz="2400" dirty="0" smtClean="0">
                <a:solidFill>
                  <a:srgbClr val="FF0000"/>
                </a:solidFill>
              </a:rPr>
              <a:t>&gt;]</a:t>
            </a:r>
          </a:p>
          <a:p>
            <a:pPr>
              <a:buNone/>
            </a:pPr>
            <a:endParaRPr lang="en-US" altLang="zh-CN" sz="2400" dirty="0" smtClean="0"/>
          </a:p>
          <a:p>
            <a:pPr>
              <a:buNone/>
            </a:pPr>
            <a:r>
              <a:rPr lang="en-US" altLang="zh-CN" sz="2400" dirty="0" smtClean="0"/>
              <a:t>[</a:t>
            </a:r>
            <a:r>
              <a:rPr lang="zh-CN" altLang="en-US" sz="2400" dirty="0"/>
              <a:t>例</a:t>
            </a:r>
            <a:r>
              <a:rPr lang="en-US" altLang="zh-CN" sz="2400" dirty="0"/>
              <a:t>3.3]</a:t>
            </a:r>
            <a:r>
              <a:rPr lang="zh-CN" altLang="en-US" sz="2400" dirty="0"/>
              <a:t>为用户</a:t>
            </a:r>
            <a:r>
              <a:rPr lang="en-US" altLang="zh-CN" sz="2400" dirty="0"/>
              <a:t>ZHANG</a:t>
            </a:r>
            <a:r>
              <a:rPr lang="zh-CN" altLang="en-US" sz="2400" dirty="0"/>
              <a:t>创建了一个模式</a:t>
            </a:r>
            <a:r>
              <a:rPr lang="en-US" altLang="zh-CN" sz="2400" dirty="0"/>
              <a:t>TEST</a:t>
            </a:r>
            <a:r>
              <a:rPr lang="zh-CN" altLang="en-US" sz="2400" dirty="0"/>
              <a:t>，并且在其中定义一个表</a:t>
            </a:r>
            <a:r>
              <a:rPr lang="en-US" altLang="zh-CN" sz="2400" dirty="0"/>
              <a:t>TAB1</a:t>
            </a:r>
          </a:p>
          <a:p>
            <a:pPr>
              <a:buNone/>
            </a:pPr>
            <a:endParaRPr lang="en-US" altLang="zh-CN" sz="2400" dirty="0"/>
          </a:p>
          <a:p>
            <a:pPr>
              <a:buNone/>
            </a:pPr>
            <a:r>
              <a:rPr lang="en-US" altLang="zh-CN" sz="2400" dirty="0"/>
              <a:t>CREATE SCHEMA TEST AUTHORIZATION ZHANG </a:t>
            </a:r>
          </a:p>
          <a:p>
            <a:pPr>
              <a:buNone/>
            </a:pPr>
            <a:r>
              <a:rPr lang="en-US" altLang="zh-CN" sz="2400" dirty="0"/>
              <a:t>CREATE TABLE TAB1</a:t>
            </a:r>
            <a:r>
              <a:rPr lang="zh-CN" altLang="en-US" sz="2400" dirty="0"/>
              <a:t>   ( </a:t>
            </a:r>
            <a:r>
              <a:rPr lang="en-US" altLang="zh-CN" sz="2400" dirty="0"/>
              <a:t>COL1 SMALLINT</a:t>
            </a:r>
            <a:r>
              <a:rPr lang="zh-CN" altLang="en-US" sz="2700" dirty="0"/>
              <a:t>,</a:t>
            </a:r>
            <a:r>
              <a:rPr lang="zh-CN" altLang="en-US" sz="2400" dirty="0"/>
              <a:t> </a:t>
            </a:r>
          </a:p>
          <a:p>
            <a:pPr>
              <a:buNone/>
            </a:pPr>
            <a:r>
              <a:rPr lang="zh-CN" altLang="en-US" sz="2400" dirty="0" smtClean="0"/>
              <a:t>                                            </a:t>
            </a:r>
            <a:r>
              <a:rPr lang="en-US" altLang="zh-CN" sz="2400" dirty="0" smtClean="0"/>
              <a:t>COL2 </a:t>
            </a:r>
            <a:r>
              <a:rPr lang="en-US" altLang="zh-CN" sz="2400" dirty="0"/>
              <a:t>INT</a:t>
            </a:r>
            <a:r>
              <a:rPr lang="zh-CN" altLang="en-US" sz="2700" dirty="0"/>
              <a:t>,</a:t>
            </a:r>
            <a:endParaRPr lang="zh-CN" altLang="en-US" sz="2400" dirty="0"/>
          </a:p>
          <a:p>
            <a:pPr>
              <a:buNone/>
            </a:pPr>
            <a:r>
              <a:rPr lang="zh-CN" altLang="en-US" sz="2400" dirty="0"/>
              <a:t>                                            </a:t>
            </a:r>
            <a:r>
              <a:rPr lang="en-US" altLang="zh-CN" sz="2400" dirty="0"/>
              <a:t>COL3 CHAR</a:t>
            </a:r>
            <a:r>
              <a:rPr lang="zh-CN" altLang="en-US" sz="2400" dirty="0"/>
              <a:t>(</a:t>
            </a:r>
            <a:r>
              <a:rPr lang="en-US" altLang="zh-CN" sz="2400" dirty="0"/>
              <a:t>20</a:t>
            </a:r>
            <a:r>
              <a:rPr lang="zh-CN" altLang="en-US" sz="2400" dirty="0"/>
              <a:t>)</a:t>
            </a:r>
            <a:r>
              <a:rPr lang="zh-CN" altLang="en-US" sz="2700" dirty="0"/>
              <a:t>,</a:t>
            </a:r>
            <a:endParaRPr lang="zh-CN" altLang="en-US" sz="2400" dirty="0"/>
          </a:p>
          <a:p>
            <a:pPr>
              <a:buNone/>
            </a:pPr>
            <a:r>
              <a:rPr lang="zh-CN" altLang="en-US" sz="2400" dirty="0"/>
              <a:t>                                            </a:t>
            </a:r>
            <a:r>
              <a:rPr lang="en-US" altLang="zh-CN" sz="2400" dirty="0"/>
              <a:t>COL4 NUMERIC</a:t>
            </a:r>
            <a:r>
              <a:rPr lang="zh-CN" altLang="en-US" sz="2400" dirty="0"/>
              <a:t>(</a:t>
            </a:r>
            <a:r>
              <a:rPr lang="en-US" altLang="zh-CN" sz="2400" dirty="0"/>
              <a:t>10,3</a:t>
            </a:r>
            <a:r>
              <a:rPr lang="zh-CN" altLang="en-US" sz="2400" dirty="0"/>
              <a:t>)</a:t>
            </a:r>
            <a:r>
              <a:rPr lang="zh-CN" altLang="en-US" sz="2700" dirty="0"/>
              <a:t>,</a:t>
            </a:r>
            <a:endParaRPr lang="zh-CN" altLang="en-US" sz="2400" dirty="0"/>
          </a:p>
          <a:p>
            <a:pPr>
              <a:buNone/>
            </a:pPr>
            <a:r>
              <a:rPr lang="zh-CN" altLang="en-US" sz="2400" dirty="0"/>
              <a:t>                                            </a:t>
            </a:r>
            <a:r>
              <a:rPr lang="en-US" altLang="zh-CN" sz="2400" dirty="0"/>
              <a:t>COL5 DECIMAL</a:t>
            </a:r>
            <a:r>
              <a:rPr lang="zh-CN" altLang="en-US" sz="2400" dirty="0"/>
              <a:t>(</a:t>
            </a:r>
            <a:r>
              <a:rPr lang="en-US" altLang="zh-CN" sz="2400" dirty="0"/>
              <a:t>5,2</a:t>
            </a:r>
            <a:r>
              <a:rPr lang="zh-CN" altLang="en-US" sz="2400" dirty="0"/>
              <a:t>)</a:t>
            </a:r>
          </a:p>
          <a:p>
            <a:pPr>
              <a:buNone/>
            </a:pPr>
            <a:r>
              <a:rPr lang="en-US" altLang="zh-CN" sz="2400" dirty="0"/>
              <a:t>                                          </a:t>
            </a:r>
            <a:r>
              <a:rPr lang="zh-CN" altLang="en-US" sz="2400" dirty="0"/>
              <a:t>)</a:t>
            </a:r>
            <a:r>
              <a:rPr lang="zh-CN" altLang="en-US" sz="2400" dirty="0" smtClean="0"/>
              <a:t>;   </a:t>
            </a:r>
            <a:endParaRPr lang="zh-CN" altLang="en-US" sz="2400" dirty="0"/>
          </a:p>
          <a:p>
            <a:pPr eaLnBrk="1" hangingPunct="1">
              <a:lnSpc>
                <a:spcPct val="120000"/>
              </a:lnSpc>
              <a:buFont typeface="Wingdings" panose="05000000000000000000" pitchFamily="2" charset="2"/>
              <a:buNone/>
            </a:pPr>
            <a:endParaRPr lang="en-US" altLang="zh-CN" sz="2400" dirty="0" smtClean="0"/>
          </a:p>
        </p:txBody>
      </p:sp>
    </p:spTree>
    <p:extLst>
      <p:ext uri="{BB962C8B-B14F-4D97-AF65-F5344CB8AC3E}">
        <p14:creationId xmlns:p14="http://schemas.microsoft.com/office/powerpoint/2010/main" val="23224756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p:txBody>
          <a:bodyPr/>
          <a:lstStyle/>
          <a:p>
            <a:pPr eaLnBrk="1" hangingPunct="1"/>
            <a:r>
              <a:rPr lang="en-US" altLang="zh-CN" sz="3600" dirty="0" smtClean="0"/>
              <a:t> </a:t>
            </a:r>
            <a:r>
              <a:rPr lang="zh-CN" altLang="en-US" sz="3600" dirty="0" smtClean="0"/>
              <a:t>删除模式</a:t>
            </a:r>
          </a:p>
        </p:txBody>
      </p:sp>
      <p:sp>
        <p:nvSpPr>
          <p:cNvPr id="33795" name="Rectangle 3"/>
          <p:cNvSpPr>
            <a:spLocks noGrp="1" noChangeArrowheads="1"/>
          </p:cNvSpPr>
          <p:nvPr>
            <p:ph type="body" idx="4294967295"/>
          </p:nvPr>
        </p:nvSpPr>
        <p:spPr>
          <a:xfrm>
            <a:off x="457200" y="1098550"/>
            <a:ext cx="8229600" cy="4810125"/>
          </a:xfrm>
        </p:spPr>
        <p:txBody>
          <a:bodyPr>
            <a:normAutofit fontScale="92500" lnSpcReduction="10000"/>
          </a:bodyPr>
          <a:lstStyle/>
          <a:p>
            <a:pPr eaLnBrk="1" hangingPunct="1">
              <a:lnSpc>
                <a:spcPct val="140000"/>
              </a:lnSpc>
            </a:pPr>
            <a:r>
              <a:rPr lang="en-US" altLang="zh-CN" sz="2400" dirty="0" smtClean="0"/>
              <a:t>DROP SCHEMA &lt;</a:t>
            </a:r>
            <a:r>
              <a:rPr lang="zh-CN" altLang="en-US" sz="2400" dirty="0" smtClean="0"/>
              <a:t>模式名</a:t>
            </a:r>
            <a:r>
              <a:rPr lang="en-US" altLang="zh-CN" sz="2400" dirty="0" smtClean="0"/>
              <a:t>&gt; &lt;CASCADE|RESTRICT&gt;</a:t>
            </a:r>
          </a:p>
          <a:p>
            <a:pPr lvl="1" eaLnBrk="1" hangingPunct="1">
              <a:lnSpc>
                <a:spcPct val="140000"/>
              </a:lnSpc>
            </a:pPr>
            <a:r>
              <a:rPr lang="en-US" altLang="zh-CN" dirty="0" smtClean="0"/>
              <a:t>CASCADE（</a:t>
            </a:r>
            <a:r>
              <a:rPr lang="zh-CN" altLang="en-US" dirty="0" smtClean="0"/>
              <a:t>级联</a:t>
            </a:r>
            <a:r>
              <a:rPr lang="en-US" altLang="zh-CN" dirty="0" smtClean="0"/>
              <a:t>）</a:t>
            </a:r>
          </a:p>
          <a:p>
            <a:pPr lvl="2" eaLnBrk="1" hangingPunct="1">
              <a:lnSpc>
                <a:spcPct val="140000"/>
              </a:lnSpc>
              <a:buSzPct val="87000"/>
              <a:buFont typeface="Wingdings" panose="05000000000000000000" pitchFamily="2" charset="2"/>
              <a:buChar char="l"/>
            </a:pPr>
            <a:r>
              <a:rPr lang="zh-CN" altLang="en-US" sz="2200" dirty="0" smtClean="0"/>
              <a:t>删除模式的同时把该模式中所有的数据库对象全部删除</a:t>
            </a:r>
          </a:p>
          <a:p>
            <a:pPr lvl="1" eaLnBrk="1" hangingPunct="1">
              <a:lnSpc>
                <a:spcPct val="140000"/>
              </a:lnSpc>
            </a:pPr>
            <a:r>
              <a:rPr lang="en-US" altLang="zh-CN" dirty="0" smtClean="0"/>
              <a:t>RESTRICT（</a:t>
            </a:r>
            <a:r>
              <a:rPr lang="zh-CN" altLang="en-US" dirty="0" smtClean="0"/>
              <a:t>限制</a:t>
            </a:r>
            <a:r>
              <a:rPr lang="en-US" altLang="zh-CN" dirty="0" smtClean="0"/>
              <a:t>）</a:t>
            </a:r>
          </a:p>
          <a:p>
            <a:pPr lvl="2" eaLnBrk="1" hangingPunct="1">
              <a:lnSpc>
                <a:spcPct val="140000"/>
              </a:lnSpc>
              <a:buSzPct val="87000"/>
              <a:buFont typeface="Wingdings" panose="05000000000000000000" pitchFamily="2" charset="2"/>
              <a:buChar char="l"/>
            </a:pPr>
            <a:r>
              <a:rPr lang="zh-CN" altLang="en-US" sz="2200" dirty="0" smtClean="0"/>
              <a:t>如果该模式中定义了下属的数据库对象（如表、视图等），则拒绝该删除语句的执行。</a:t>
            </a:r>
          </a:p>
          <a:p>
            <a:pPr lvl="2" eaLnBrk="1" hangingPunct="1">
              <a:lnSpc>
                <a:spcPct val="140000"/>
              </a:lnSpc>
              <a:buSzPct val="87000"/>
              <a:buFont typeface="Wingdings" panose="05000000000000000000" pitchFamily="2" charset="2"/>
              <a:buChar char="l"/>
            </a:pPr>
            <a:r>
              <a:rPr lang="zh-CN" altLang="en-US" sz="2200" dirty="0" smtClean="0"/>
              <a:t>仅当该模式中没有任何下属的对象时才能执行。</a:t>
            </a:r>
            <a:endParaRPr lang="en-US" altLang="zh-CN" sz="2200" dirty="0" smtClean="0"/>
          </a:p>
          <a:p>
            <a:pPr>
              <a:lnSpc>
                <a:spcPct val="120000"/>
              </a:lnSpc>
              <a:buNone/>
            </a:pPr>
            <a:r>
              <a:rPr lang="en-US" altLang="zh-CN" sz="2400" dirty="0"/>
              <a:t>[</a:t>
            </a:r>
            <a:r>
              <a:rPr lang="zh-CN" altLang="en-US" sz="2400" dirty="0"/>
              <a:t>例</a:t>
            </a:r>
            <a:r>
              <a:rPr lang="en-US" altLang="zh-CN" sz="2400" dirty="0"/>
              <a:t>3.4]  DROP SCHEMA ZHANG CASCADE</a:t>
            </a:r>
            <a:r>
              <a:rPr lang="zh-CN" altLang="en-US" sz="2400" dirty="0"/>
              <a:t>;</a:t>
            </a:r>
          </a:p>
          <a:p>
            <a:pPr>
              <a:lnSpc>
                <a:spcPct val="120000"/>
              </a:lnSpc>
              <a:buNone/>
            </a:pPr>
            <a:r>
              <a:rPr lang="zh-CN" altLang="en-US" sz="2400" dirty="0" smtClean="0"/>
              <a:t>         </a:t>
            </a:r>
            <a:r>
              <a:rPr lang="zh-CN" altLang="en-US" sz="2400" dirty="0"/>
              <a:t>删除模式</a:t>
            </a:r>
            <a:r>
              <a:rPr lang="en-US" altLang="zh-CN" sz="2400" dirty="0"/>
              <a:t>ZHANG</a:t>
            </a:r>
          </a:p>
          <a:p>
            <a:pPr>
              <a:lnSpc>
                <a:spcPct val="120000"/>
              </a:lnSpc>
              <a:buNone/>
            </a:pPr>
            <a:r>
              <a:rPr lang="en-US" altLang="zh-CN" sz="2400" dirty="0"/>
              <a:t>         </a:t>
            </a:r>
            <a:r>
              <a:rPr lang="zh-CN" altLang="en-US" sz="2400" dirty="0"/>
              <a:t>同时该模式中定义的表</a:t>
            </a:r>
            <a:r>
              <a:rPr lang="en-US" altLang="zh-CN" sz="2400" dirty="0"/>
              <a:t>TAB1</a:t>
            </a:r>
            <a:r>
              <a:rPr lang="zh-CN" altLang="en-US" sz="2400" dirty="0"/>
              <a:t>也被删除</a:t>
            </a:r>
          </a:p>
          <a:p>
            <a:pPr lvl="2" eaLnBrk="1" hangingPunct="1">
              <a:lnSpc>
                <a:spcPct val="140000"/>
              </a:lnSpc>
              <a:buSzPct val="87000"/>
              <a:buFont typeface="Wingdings" panose="05000000000000000000" pitchFamily="2" charset="2"/>
              <a:buChar char="l"/>
            </a:pPr>
            <a:endParaRPr lang="zh-CN" altLang="en-US" sz="2200" dirty="0" smtClean="0"/>
          </a:p>
        </p:txBody>
      </p:sp>
    </p:spTree>
    <p:extLst>
      <p:ext uri="{BB962C8B-B14F-4D97-AF65-F5344CB8AC3E}">
        <p14:creationId xmlns:p14="http://schemas.microsoft.com/office/powerpoint/2010/main" val="5206340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p:txBody>
          <a:bodyPr/>
          <a:lstStyle/>
          <a:p>
            <a:pPr eaLnBrk="1" hangingPunct="1"/>
            <a:r>
              <a:rPr lang="en-US" altLang="zh-CN" sz="3600" dirty="0" smtClean="0"/>
              <a:t>3. </a:t>
            </a:r>
            <a:r>
              <a:rPr lang="zh-CN" altLang="en-US" sz="3600" dirty="0" smtClean="0"/>
              <a:t>基本表的定义、删除与修改</a:t>
            </a:r>
          </a:p>
        </p:txBody>
      </p:sp>
      <p:sp>
        <p:nvSpPr>
          <p:cNvPr id="36867" name="Rectangle 3"/>
          <p:cNvSpPr>
            <a:spLocks noGrp="1" noChangeArrowheads="1"/>
          </p:cNvSpPr>
          <p:nvPr>
            <p:ph type="body" idx="4294967295"/>
          </p:nvPr>
        </p:nvSpPr>
        <p:spPr>
          <a:xfrm>
            <a:off x="107950" y="1244686"/>
            <a:ext cx="9036050" cy="5472113"/>
          </a:xfrm>
        </p:spPr>
        <p:txBody>
          <a:bodyPr/>
          <a:lstStyle/>
          <a:p>
            <a:pPr algn="just" eaLnBrk="1" hangingPunct="1"/>
            <a:r>
              <a:rPr lang="zh-CN" altLang="en-US" dirty="0" smtClean="0"/>
              <a:t>定义基本表</a:t>
            </a:r>
          </a:p>
          <a:p>
            <a:pPr algn="just" eaLnBrk="1" hangingPunct="1">
              <a:buFont typeface="Wingdings" panose="05000000000000000000" pitchFamily="2" charset="2"/>
              <a:buNone/>
            </a:pPr>
            <a:r>
              <a:rPr lang="zh-CN" altLang="en-US" sz="1800" dirty="0" smtClean="0"/>
              <a:t>		</a:t>
            </a:r>
            <a:r>
              <a:rPr lang="en-US" altLang="zh-CN" sz="2200" dirty="0" smtClean="0"/>
              <a:t>CREATE TABLE &lt;</a:t>
            </a:r>
            <a:r>
              <a:rPr lang="zh-CN" altLang="en-US" sz="2200" dirty="0" smtClean="0"/>
              <a:t>表名</a:t>
            </a:r>
            <a:r>
              <a:rPr lang="en-US" altLang="zh-CN" sz="2200" dirty="0" smtClean="0"/>
              <a:t>&gt;</a:t>
            </a:r>
          </a:p>
          <a:p>
            <a:pPr lvl="1" algn="just" eaLnBrk="1" hangingPunct="1">
              <a:buFont typeface="Wingdings" panose="05000000000000000000" pitchFamily="2" charset="2"/>
              <a:buNone/>
            </a:pPr>
            <a:r>
              <a:rPr lang="en-US" altLang="zh-CN" sz="2200" dirty="0" smtClean="0"/>
              <a:t>      </a:t>
            </a:r>
            <a:r>
              <a:rPr lang="zh-CN" altLang="en-US" sz="2200" dirty="0" smtClean="0"/>
              <a:t>(</a:t>
            </a:r>
            <a:r>
              <a:rPr lang="en-US" altLang="zh-CN" sz="2200" dirty="0" smtClean="0"/>
              <a:t>&lt;</a:t>
            </a:r>
            <a:r>
              <a:rPr lang="zh-CN" altLang="en-US" sz="2200" dirty="0" smtClean="0"/>
              <a:t>列名</a:t>
            </a:r>
            <a:r>
              <a:rPr lang="en-US" altLang="zh-CN" sz="2200" dirty="0" smtClean="0"/>
              <a:t>&gt; &lt;</a:t>
            </a:r>
            <a:r>
              <a:rPr lang="zh-CN" altLang="en-US" sz="2200" dirty="0" smtClean="0"/>
              <a:t>数据类型</a:t>
            </a:r>
            <a:r>
              <a:rPr lang="en-US" altLang="zh-CN" sz="2200" dirty="0" smtClean="0"/>
              <a:t>&gt;[ &lt;</a:t>
            </a:r>
            <a:r>
              <a:rPr lang="zh-CN" altLang="en-US" sz="2200" dirty="0" smtClean="0">
                <a:solidFill>
                  <a:srgbClr val="FF0000"/>
                </a:solidFill>
              </a:rPr>
              <a:t>列级完整性约束条件</a:t>
            </a:r>
            <a:r>
              <a:rPr lang="en-US" altLang="zh-CN" sz="2200" dirty="0" smtClean="0"/>
              <a:t>&gt; ]</a:t>
            </a:r>
          </a:p>
          <a:p>
            <a:pPr lvl="1" algn="just" eaLnBrk="1" hangingPunct="1">
              <a:buFont typeface="Wingdings" panose="05000000000000000000" pitchFamily="2" charset="2"/>
              <a:buNone/>
            </a:pPr>
            <a:r>
              <a:rPr lang="en-US" altLang="zh-CN" sz="2200" dirty="0" smtClean="0"/>
              <a:t>      [</a:t>
            </a:r>
            <a:r>
              <a:rPr lang="zh-CN" altLang="en-US" sz="2200" dirty="0" smtClean="0"/>
              <a:t>,</a:t>
            </a:r>
            <a:r>
              <a:rPr lang="en-US" altLang="zh-CN" sz="2200" dirty="0" smtClean="0"/>
              <a:t>&lt;</a:t>
            </a:r>
            <a:r>
              <a:rPr lang="zh-CN" altLang="en-US" sz="2200" dirty="0" smtClean="0"/>
              <a:t>列名</a:t>
            </a:r>
            <a:r>
              <a:rPr lang="en-US" altLang="zh-CN" sz="2200" dirty="0" smtClean="0"/>
              <a:t>&gt; &lt;</a:t>
            </a:r>
            <a:r>
              <a:rPr lang="zh-CN" altLang="en-US" sz="2200" dirty="0" smtClean="0"/>
              <a:t>数据类型</a:t>
            </a:r>
            <a:r>
              <a:rPr lang="en-US" altLang="zh-CN" sz="2200" dirty="0" smtClean="0"/>
              <a:t>&gt;[ &lt;</a:t>
            </a:r>
            <a:r>
              <a:rPr lang="zh-CN" altLang="en-US" sz="2200" dirty="0" smtClean="0"/>
              <a:t>列级完整性约束条件</a:t>
            </a:r>
            <a:r>
              <a:rPr lang="en-US" altLang="zh-CN" sz="2200" dirty="0" smtClean="0"/>
              <a:t>&gt;] ] </a:t>
            </a:r>
          </a:p>
          <a:p>
            <a:pPr lvl="1" algn="just" eaLnBrk="1" hangingPunct="1">
              <a:buFont typeface="Wingdings" panose="05000000000000000000" pitchFamily="2" charset="2"/>
              <a:buNone/>
            </a:pPr>
            <a:r>
              <a:rPr lang="en-US" altLang="zh-CN" sz="2200" dirty="0" smtClean="0">
                <a:latin typeface="Courier New" panose="02070309020205020404" pitchFamily="49" charset="0"/>
              </a:rPr>
              <a:t>   …</a:t>
            </a:r>
          </a:p>
          <a:p>
            <a:pPr lvl="1" algn="just" eaLnBrk="1" hangingPunct="1">
              <a:buFont typeface="Wingdings" panose="05000000000000000000" pitchFamily="2" charset="2"/>
              <a:buNone/>
            </a:pPr>
            <a:r>
              <a:rPr lang="en-US" altLang="zh-CN" sz="2200" dirty="0" smtClean="0"/>
              <a:t>      [</a:t>
            </a:r>
            <a:r>
              <a:rPr lang="zh-CN" altLang="en-US" sz="2200" dirty="0" smtClean="0"/>
              <a:t>,</a:t>
            </a:r>
            <a:r>
              <a:rPr lang="en-US" altLang="zh-CN" sz="2200" dirty="0" smtClean="0"/>
              <a:t>&lt;</a:t>
            </a:r>
            <a:r>
              <a:rPr lang="zh-CN" altLang="en-US" sz="2200" dirty="0" smtClean="0">
                <a:solidFill>
                  <a:srgbClr val="FF0000"/>
                </a:solidFill>
              </a:rPr>
              <a:t>表级完整性约束条件</a:t>
            </a:r>
            <a:r>
              <a:rPr lang="en-US" altLang="zh-CN" sz="2200" dirty="0" smtClean="0"/>
              <a:t>&gt; ] </a:t>
            </a:r>
            <a:r>
              <a:rPr lang="zh-CN" altLang="en-US" sz="2200" dirty="0" smtClean="0"/>
              <a:t>);</a:t>
            </a:r>
          </a:p>
          <a:p>
            <a:pPr lvl="1" algn="just" eaLnBrk="1" hangingPunct="1"/>
            <a:r>
              <a:rPr lang="en-US" altLang="zh-CN" dirty="0" smtClean="0">
                <a:solidFill>
                  <a:srgbClr val="FF00FF"/>
                </a:solidFill>
              </a:rPr>
              <a:t>&lt;</a:t>
            </a:r>
            <a:r>
              <a:rPr lang="zh-CN" altLang="en-US" dirty="0" smtClean="0">
                <a:solidFill>
                  <a:srgbClr val="FF00FF"/>
                </a:solidFill>
              </a:rPr>
              <a:t>表名</a:t>
            </a:r>
            <a:r>
              <a:rPr lang="en-US" altLang="zh-CN" dirty="0" smtClean="0">
                <a:solidFill>
                  <a:srgbClr val="FF00FF"/>
                </a:solidFill>
              </a:rPr>
              <a:t>&gt;</a:t>
            </a:r>
            <a:r>
              <a:rPr lang="zh-CN" altLang="en-US" dirty="0" smtClean="0"/>
              <a:t>：所要定义的基本表的名字</a:t>
            </a:r>
          </a:p>
          <a:p>
            <a:pPr lvl="1" algn="just" eaLnBrk="1" hangingPunct="1"/>
            <a:r>
              <a:rPr lang="en-US" altLang="zh-CN" dirty="0" smtClean="0">
                <a:solidFill>
                  <a:srgbClr val="FF00FF"/>
                </a:solidFill>
              </a:rPr>
              <a:t>&lt;</a:t>
            </a:r>
            <a:r>
              <a:rPr lang="zh-CN" altLang="en-US" dirty="0" smtClean="0">
                <a:solidFill>
                  <a:srgbClr val="FF00FF"/>
                </a:solidFill>
              </a:rPr>
              <a:t>列名</a:t>
            </a:r>
            <a:r>
              <a:rPr lang="en-US" altLang="zh-CN" dirty="0" smtClean="0">
                <a:solidFill>
                  <a:srgbClr val="FF00FF"/>
                </a:solidFill>
              </a:rPr>
              <a:t>&gt;</a:t>
            </a:r>
            <a:r>
              <a:rPr lang="zh-CN" altLang="en-US" dirty="0" smtClean="0"/>
              <a:t>：组成该表的各个属性（列）</a:t>
            </a:r>
          </a:p>
          <a:p>
            <a:pPr lvl="1" algn="just" eaLnBrk="1" hangingPunct="1"/>
            <a:r>
              <a:rPr lang="en-US" altLang="zh-CN" dirty="0" smtClean="0">
                <a:solidFill>
                  <a:srgbClr val="FF00FF"/>
                </a:solidFill>
              </a:rPr>
              <a:t>&lt;</a:t>
            </a:r>
            <a:r>
              <a:rPr lang="zh-CN" altLang="en-US" dirty="0" smtClean="0">
                <a:solidFill>
                  <a:srgbClr val="FF00FF"/>
                </a:solidFill>
              </a:rPr>
              <a:t>列级完整性约束条件</a:t>
            </a:r>
            <a:r>
              <a:rPr lang="en-US" altLang="zh-CN" dirty="0" smtClean="0">
                <a:solidFill>
                  <a:srgbClr val="FF00FF"/>
                </a:solidFill>
              </a:rPr>
              <a:t>&gt;</a:t>
            </a:r>
            <a:r>
              <a:rPr lang="zh-CN" altLang="en-US" dirty="0" smtClean="0"/>
              <a:t>：涉及相应属性列的完整性约束条件</a:t>
            </a:r>
          </a:p>
          <a:p>
            <a:pPr lvl="1" eaLnBrk="1" hangingPunct="1"/>
            <a:r>
              <a:rPr lang="en-US" altLang="zh-CN" dirty="0" smtClean="0">
                <a:solidFill>
                  <a:srgbClr val="FF00FF"/>
                </a:solidFill>
              </a:rPr>
              <a:t>&lt;</a:t>
            </a:r>
            <a:r>
              <a:rPr lang="zh-CN" altLang="en-US" dirty="0" smtClean="0">
                <a:solidFill>
                  <a:srgbClr val="FF00FF"/>
                </a:solidFill>
              </a:rPr>
              <a:t>表级完整性约束条件</a:t>
            </a:r>
            <a:r>
              <a:rPr lang="en-US" altLang="zh-CN" dirty="0" smtClean="0">
                <a:solidFill>
                  <a:srgbClr val="FF00FF"/>
                </a:solidFill>
              </a:rPr>
              <a:t>&gt;</a:t>
            </a:r>
            <a:r>
              <a:rPr lang="zh-CN" altLang="en-US" dirty="0" smtClean="0"/>
              <a:t>：涉及一个或多个属性列的完整性约束条件 </a:t>
            </a:r>
            <a:endParaRPr lang="en-US" altLang="zh-CN" dirty="0" smtClean="0"/>
          </a:p>
          <a:p>
            <a:pPr lvl="1" eaLnBrk="1" hangingPunct="1"/>
            <a:r>
              <a:rPr lang="zh-CN" altLang="en-US" dirty="0" smtClean="0"/>
              <a:t>如果完整性约束条件涉及到该表的多个属性列，则必须定义在表级上，否则既可以定义在列级也可以定义在表级。 </a:t>
            </a:r>
          </a:p>
          <a:p>
            <a:pPr eaLnBrk="1" hangingPunct="1">
              <a:lnSpc>
                <a:spcPct val="120000"/>
              </a:lnSpc>
              <a:buFont typeface="Wingdings" panose="05000000000000000000" pitchFamily="2" charset="2"/>
              <a:buNone/>
            </a:pPr>
            <a:endParaRPr lang="zh-CN" altLang="en-US" sz="1800" dirty="0" smtClean="0"/>
          </a:p>
        </p:txBody>
      </p:sp>
    </p:spTree>
    <p:extLst>
      <p:ext uri="{BB962C8B-B14F-4D97-AF65-F5344CB8AC3E}">
        <p14:creationId xmlns:p14="http://schemas.microsoft.com/office/powerpoint/2010/main" val="22506143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914400" y="188913"/>
            <a:ext cx="7391400" cy="563562"/>
          </a:xfrm>
        </p:spPr>
        <p:txBody>
          <a:bodyPr>
            <a:normAutofit fontScale="90000"/>
          </a:bodyPr>
          <a:lstStyle/>
          <a:p>
            <a:pPr eaLnBrk="1" hangingPunct="1"/>
            <a:r>
              <a:rPr lang="zh-CN" altLang="en-US" sz="3600" dirty="0" smtClean="0"/>
              <a:t>数据表示例</a:t>
            </a:r>
            <a:endParaRPr lang="en-US" altLang="zh-CN" sz="3600" dirty="0" smtClean="0"/>
          </a:p>
        </p:txBody>
      </p:sp>
      <p:sp>
        <p:nvSpPr>
          <p:cNvPr id="84996" name="Rectangle 83"/>
          <p:cNvSpPr>
            <a:spLocks noChangeArrowheads="1"/>
          </p:cNvSpPr>
          <p:nvPr/>
        </p:nvSpPr>
        <p:spPr bwMode="auto">
          <a:xfrm>
            <a:off x="468313" y="2133600"/>
            <a:ext cx="91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dirty="0"/>
              <a:t> </a:t>
            </a:r>
            <a:r>
              <a:rPr lang="en-US" altLang="zh-CN" sz="2200" b="1" dirty="0"/>
              <a:t>Student</a:t>
            </a:r>
          </a:p>
        </p:txBody>
      </p:sp>
      <p:sp>
        <p:nvSpPr>
          <p:cNvPr id="84997" name="Rectangle 91"/>
          <p:cNvSpPr>
            <a:spLocks noChangeArrowheads="1"/>
          </p:cNvSpPr>
          <p:nvPr/>
        </p:nvSpPr>
        <p:spPr bwMode="auto">
          <a:xfrm>
            <a:off x="539750" y="1127125"/>
            <a:ext cx="7488238"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400" b="1"/>
              <a:t>学生</a:t>
            </a:r>
            <a:r>
              <a:rPr lang="en-US" altLang="zh-CN" sz="2400" b="1"/>
              <a:t>-</a:t>
            </a:r>
            <a:r>
              <a:rPr lang="zh-CN" altLang="en-US" sz="2400" b="1"/>
              <a:t>课程数据库</a:t>
            </a:r>
            <a:r>
              <a:rPr lang="en-US" altLang="zh-CN" sz="2400" b="1"/>
              <a:t>:</a:t>
            </a:r>
          </a:p>
          <a:p>
            <a:pPr eaLnBrk="1" hangingPunct="1">
              <a:lnSpc>
                <a:spcPct val="120000"/>
              </a:lnSpc>
            </a:pPr>
            <a:r>
              <a:rPr lang="en-US" altLang="zh-CN" sz="2400" b="1"/>
              <a:t>     </a:t>
            </a:r>
            <a:r>
              <a:rPr lang="zh-CN" altLang="en-US" sz="2400" b="1"/>
              <a:t>学生关系</a:t>
            </a:r>
            <a:r>
              <a:rPr lang="en-US" altLang="zh-CN" sz="2400" b="1"/>
              <a:t>Student</a:t>
            </a:r>
            <a:r>
              <a:rPr lang="zh-CN" altLang="en-US" sz="2400" b="1"/>
              <a:t>、课程关系</a:t>
            </a:r>
            <a:r>
              <a:rPr lang="en-US" altLang="zh-CN" sz="2400" b="1"/>
              <a:t>Course</a:t>
            </a:r>
            <a:r>
              <a:rPr lang="zh-CN" altLang="en-US" sz="2400" b="1"/>
              <a:t>和选修</a:t>
            </a:r>
            <a:r>
              <a:rPr lang="zh-CN" altLang="en-US" sz="2200" b="1"/>
              <a:t>关系</a:t>
            </a:r>
            <a:r>
              <a:rPr lang="en-US" altLang="zh-CN" sz="2200" b="1"/>
              <a:t>SC</a:t>
            </a:r>
          </a:p>
        </p:txBody>
      </p:sp>
      <p:graphicFrame>
        <p:nvGraphicFramePr>
          <p:cNvPr id="341263" name="Group 271"/>
          <p:cNvGraphicFramePr>
            <a:graphicFrameLocks noGrp="1"/>
          </p:cNvGraphicFramePr>
          <p:nvPr>
            <p:ph idx="1"/>
            <p:extLst/>
          </p:nvPr>
        </p:nvGraphicFramePr>
        <p:xfrm>
          <a:off x="1892411" y="2133600"/>
          <a:ext cx="5970490" cy="1979668"/>
        </p:xfrm>
        <a:graphic>
          <a:graphicData uri="http://schemas.openxmlformats.org/drawingml/2006/table">
            <a:tbl>
              <a:tblPr>
                <a:tableStyleId>{2D5ABB26-0587-4C30-8999-92F81FD0307C}</a:tableStyleId>
              </a:tblPr>
              <a:tblGrid>
                <a:gridCol w="1194329"/>
                <a:gridCol w="1194328"/>
                <a:gridCol w="1193176"/>
                <a:gridCol w="1194329"/>
                <a:gridCol w="1194328"/>
              </a:tblGrid>
              <a:tr h="5309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Sno</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姓名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Sname</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性别</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Ssex</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年龄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Sage</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所在系</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Sdept</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201215121</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李勇</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男</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201215122</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刘晨</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女</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19</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201215123</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王敏</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女</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18</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MA</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201215125</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张立</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男</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19</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IS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7" name="Group 575"/>
          <p:cNvGraphicFramePr>
            <a:graphicFrameLocks/>
          </p:cNvGraphicFramePr>
          <p:nvPr>
            <p:extLst/>
          </p:nvPr>
        </p:nvGraphicFramePr>
        <p:xfrm>
          <a:off x="230743" y="4326269"/>
          <a:ext cx="4277647" cy="2431296"/>
        </p:xfrm>
        <a:graphic>
          <a:graphicData uri="http://schemas.openxmlformats.org/drawingml/2006/table">
            <a:tbl>
              <a:tblPr/>
              <a:tblGrid>
                <a:gridCol w="1069879"/>
                <a:gridCol w="1132428"/>
                <a:gridCol w="1006395"/>
                <a:gridCol w="1068945"/>
              </a:tblGrid>
              <a:tr h="38177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Cname</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先行课</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Cpno</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学分</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Ccredit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数据库</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数学</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信息系统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操作系统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数据结构</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数据处理</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PASCAL</a:t>
                      </a: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语言</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Text Box 502"/>
          <p:cNvSpPr txBox="1">
            <a:spLocks noChangeArrowheads="1"/>
          </p:cNvSpPr>
          <p:nvPr/>
        </p:nvSpPr>
        <p:spPr bwMode="auto">
          <a:xfrm>
            <a:off x="198938" y="3786381"/>
            <a:ext cx="1154112"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Course</a:t>
            </a:r>
          </a:p>
        </p:txBody>
      </p:sp>
      <p:graphicFrame>
        <p:nvGraphicFramePr>
          <p:cNvPr id="9" name="Group 384"/>
          <p:cNvGraphicFramePr>
            <a:graphicFrameLocks/>
          </p:cNvGraphicFramePr>
          <p:nvPr>
            <p:extLst/>
          </p:nvPr>
        </p:nvGraphicFramePr>
        <p:xfrm>
          <a:off x="4877656" y="4440329"/>
          <a:ext cx="3729163" cy="2317236"/>
        </p:xfrm>
        <a:graphic>
          <a:graphicData uri="http://schemas.openxmlformats.org/drawingml/2006/table">
            <a:tbl>
              <a:tblPr/>
              <a:tblGrid>
                <a:gridCol w="1907375"/>
                <a:gridCol w="874213"/>
                <a:gridCol w="947575"/>
              </a:tblGrid>
              <a:tr h="60539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Sno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Grade</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85</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88</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 name="Rectangle 185"/>
          <p:cNvSpPr>
            <a:spLocks noChangeArrowheads="1"/>
          </p:cNvSpPr>
          <p:nvPr/>
        </p:nvSpPr>
        <p:spPr bwMode="auto">
          <a:xfrm>
            <a:off x="4610100" y="4073856"/>
            <a:ext cx="10795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b="1" dirty="0"/>
              <a:t>SC</a:t>
            </a:r>
          </a:p>
        </p:txBody>
      </p:sp>
    </p:spTree>
    <p:extLst>
      <p:ext uri="{BB962C8B-B14F-4D97-AF65-F5344CB8AC3E}">
        <p14:creationId xmlns:p14="http://schemas.microsoft.com/office/powerpoint/2010/main" val="14487995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p:txBody>
          <a:bodyPr/>
          <a:lstStyle/>
          <a:p>
            <a:pPr eaLnBrk="1" hangingPunct="1"/>
            <a:r>
              <a:rPr lang="zh-CN" altLang="en-US" sz="3600" smtClean="0"/>
              <a:t>学生表</a:t>
            </a:r>
            <a:r>
              <a:rPr lang="en-US" altLang="zh-CN" sz="3600" smtClean="0"/>
              <a:t>Student</a:t>
            </a:r>
          </a:p>
        </p:txBody>
      </p:sp>
      <p:sp>
        <p:nvSpPr>
          <p:cNvPr id="37891" name="Rectangle 3"/>
          <p:cNvSpPr>
            <a:spLocks noGrp="1" noChangeArrowheads="1"/>
          </p:cNvSpPr>
          <p:nvPr>
            <p:ph type="body" idx="4294967295"/>
          </p:nvPr>
        </p:nvSpPr>
        <p:spPr>
          <a:xfrm>
            <a:off x="432486" y="1325563"/>
            <a:ext cx="8867775" cy="4276725"/>
          </a:xfrm>
        </p:spPr>
        <p:txBody>
          <a:bodyPr>
            <a:normAutofit lnSpcReduction="10000"/>
          </a:bodyPr>
          <a:lstStyle/>
          <a:p>
            <a:pPr algn="just" eaLnBrk="1" hangingPunct="1">
              <a:buFont typeface="Wingdings" panose="05000000000000000000" pitchFamily="2" charset="2"/>
              <a:buNone/>
            </a:pPr>
            <a:r>
              <a:rPr lang="en-US" altLang="zh-CN" sz="2400" dirty="0" smtClean="0"/>
              <a:t>[</a:t>
            </a:r>
            <a:r>
              <a:rPr lang="zh-CN" altLang="en-US" sz="2400" dirty="0" smtClean="0"/>
              <a:t>例</a:t>
            </a:r>
            <a:r>
              <a:rPr lang="en-US" altLang="zh-CN" sz="2400" dirty="0" smtClean="0"/>
              <a:t>3.5]  </a:t>
            </a:r>
            <a:r>
              <a:rPr lang="zh-CN" altLang="en-US" sz="2400" dirty="0" smtClean="0"/>
              <a:t>建立“学生”表</a:t>
            </a:r>
            <a:r>
              <a:rPr lang="en-US" altLang="zh-CN" sz="2400" dirty="0" smtClean="0"/>
              <a:t>Student</a:t>
            </a:r>
            <a:r>
              <a:rPr lang="zh-CN" altLang="en-US" sz="2400" dirty="0" smtClean="0"/>
              <a:t>。学号是主码，姓名取值唯一。</a:t>
            </a:r>
          </a:p>
          <a:p>
            <a:pPr eaLnBrk="1" hangingPunct="1">
              <a:buFont typeface="Wingdings" panose="05000000000000000000" pitchFamily="2" charset="2"/>
              <a:buNone/>
            </a:pPr>
            <a:r>
              <a:rPr lang="zh-CN" altLang="en-US" sz="1800" dirty="0" smtClean="0"/>
              <a:t>     </a:t>
            </a:r>
          </a:p>
          <a:p>
            <a:pPr eaLnBrk="1" hangingPunct="1">
              <a:buFont typeface="Wingdings" panose="05000000000000000000" pitchFamily="2" charset="2"/>
              <a:buNone/>
            </a:pPr>
            <a:r>
              <a:rPr lang="en-US" altLang="zh-CN" sz="2400" dirty="0" smtClean="0"/>
              <a:t>CREATE TABLE Student          </a:t>
            </a:r>
          </a:p>
          <a:p>
            <a:pPr eaLnBrk="1" hangingPunct="1">
              <a:buFont typeface="Wingdings" panose="05000000000000000000" pitchFamily="2" charset="2"/>
              <a:buNone/>
            </a:pPr>
            <a:r>
              <a:rPr lang="en-US" altLang="zh-CN" sz="2400" dirty="0" smtClean="0"/>
              <a:t>      </a:t>
            </a:r>
            <a:r>
              <a:rPr lang="zh-CN" altLang="en-US" sz="2400" dirty="0" smtClean="0"/>
              <a:t>(</a:t>
            </a:r>
            <a:r>
              <a:rPr lang="en-US" altLang="zh-CN" sz="2400" dirty="0" err="1" smtClean="0"/>
              <a:t>Sno</a:t>
            </a:r>
            <a:r>
              <a:rPr lang="en-US" altLang="zh-CN" sz="2400" dirty="0" smtClean="0"/>
              <a:t>   CHAR</a:t>
            </a:r>
            <a:r>
              <a:rPr lang="zh-CN" altLang="en-US" sz="2400" dirty="0" smtClean="0"/>
              <a:t>(</a:t>
            </a:r>
            <a:r>
              <a:rPr lang="en-US" altLang="zh-CN" sz="2400" dirty="0" smtClean="0"/>
              <a:t>9</a:t>
            </a:r>
            <a:r>
              <a:rPr lang="zh-CN" altLang="en-US" sz="2400" dirty="0" smtClean="0"/>
              <a:t>)</a:t>
            </a:r>
            <a:r>
              <a:rPr lang="en-US" altLang="zh-CN" sz="2400" dirty="0" smtClean="0"/>
              <a:t> </a:t>
            </a:r>
            <a:r>
              <a:rPr lang="en-US" altLang="zh-CN" sz="2400" dirty="0" smtClean="0">
                <a:solidFill>
                  <a:srgbClr val="FF00FF"/>
                </a:solidFill>
              </a:rPr>
              <a:t>PRIMARY KEY</a:t>
            </a:r>
            <a:r>
              <a:rPr lang="zh-CN" altLang="en-US" sz="2400" dirty="0" smtClean="0"/>
              <a:t>, </a:t>
            </a:r>
            <a:r>
              <a:rPr lang="en-US" altLang="zh-CN" sz="2400" dirty="0" smtClean="0"/>
              <a:t/>
            </a:r>
            <a:br>
              <a:rPr lang="en-US" altLang="zh-CN" sz="2400" dirty="0" smtClean="0"/>
            </a:br>
            <a:r>
              <a:rPr lang="en-US" altLang="zh-CN" sz="2400" dirty="0" smtClean="0"/>
              <a:t>                                          </a:t>
            </a:r>
            <a:r>
              <a:rPr lang="en-US" altLang="zh-CN" sz="2000" dirty="0" smtClean="0"/>
              <a:t>/* </a:t>
            </a:r>
            <a:r>
              <a:rPr lang="zh-CN" altLang="en-US" sz="2000" dirty="0" smtClean="0"/>
              <a:t>列级完整性约束条件</a:t>
            </a:r>
            <a:r>
              <a:rPr lang="en-US" altLang="zh-CN" sz="2000" dirty="0" smtClean="0"/>
              <a:t>,</a:t>
            </a:r>
            <a:r>
              <a:rPr lang="en-US" altLang="zh-CN" sz="2000" dirty="0" err="1" smtClean="0"/>
              <a:t>Sno</a:t>
            </a:r>
            <a:r>
              <a:rPr lang="zh-CN" altLang="en-US" sz="2000" dirty="0" smtClean="0"/>
              <a:t>是主码*</a:t>
            </a:r>
            <a:r>
              <a:rPr lang="en-US" altLang="zh-CN" sz="2000" dirty="0" smtClean="0"/>
              <a:t>/        </a:t>
            </a:r>
            <a:r>
              <a:rPr lang="en-US" altLang="zh-CN" sz="2400" dirty="0" smtClean="0"/>
              <a:t>          </a:t>
            </a:r>
          </a:p>
          <a:p>
            <a:pPr eaLnBrk="1" hangingPunct="1">
              <a:buFont typeface="Wingdings" panose="05000000000000000000" pitchFamily="2" charset="2"/>
              <a:buNone/>
            </a:pPr>
            <a:r>
              <a:rPr lang="en-US" altLang="zh-CN" sz="2400" dirty="0" smtClean="0"/>
              <a:t> </a:t>
            </a:r>
            <a:r>
              <a:rPr lang="zh-CN" altLang="en-US" sz="2400" dirty="0" smtClean="0"/>
              <a:t>       </a:t>
            </a:r>
            <a:r>
              <a:rPr lang="en-US" altLang="zh-CN" sz="2400" dirty="0" err="1" smtClean="0"/>
              <a:t>Sname</a:t>
            </a:r>
            <a:r>
              <a:rPr lang="en-US" altLang="zh-CN" sz="2400" dirty="0" smtClean="0"/>
              <a:t> CHAR</a:t>
            </a:r>
            <a:r>
              <a:rPr lang="zh-CN" altLang="en-US" sz="2400" dirty="0" smtClean="0"/>
              <a:t>(</a:t>
            </a:r>
            <a:r>
              <a:rPr lang="en-US" altLang="zh-CN" sz="2400" dirty="0" smtClean="0"/>
              <a:t>20</a:t>
            </a:r>
            <a:r>
              <a:rPr lang="zh-CN" altLang="en-US" sz="2400" dirty="0" smtClean="0"/>
              <a:t>)</a:t>
            </a:r>
            <a:r>
              <a:rPr lang="en-US" altLang="zh-CN" sz="2400" dirty="0" smtClean="0"/>
              <a:t> </a:t>
            </a:r>
            <a:r>
              <a:rPr lang="en-US" altLang="zh-CN" sz="2400" dirty="0" smtClean="0">
                <a:solidFill>
                  <a:srgbClr val="FF00FF"/>
                </a:solidFill>
              </a:rPr>
              <a:t>UNIQUE</a:t>
            </a:r>
            <a:r>
              <a:rPr lang="zh-CN" altLang="en-US" sz="2400" dirty="0" smtClean="0"/>
              <a:t>,            </a:t>
            </a:r>
            <a:r>
              <a:rPr lang="zh-CN" altLang="en-US" sz="2000" dirty="0" smtClean="0"/>
              <a:t> </a:t>
            </a:r>
            <a:r>
              <a:rPr lang="en-US" altLang="zh-CN" sz="2000" dirty="0" smtClean="0"/>
              <a:t>/* </a:t>
            </a:r>
            <a:r>
              <a:rPr lang="en-US" altLang="zh-CN" sz="2000" dirty="0" err="1" smtClean="0"/>
              <a:t>Sname</a:t>
            </a:r>
            <a:r>
              <a:rPr lang="zh-CN" altLang="en-US" sz="2000" dirty="0" smtClean="0"/>
              <a:t>取唯一值*</a:t>
            </a:r>
            <a:r>
              <a:rPr lang="en-US" altLang="zh-CN" sz="2000" dirty="0" smtClean="0"/>
              <a:t>/</a:t>
            </a:r>
          </a:p>
          <a:p>
            <a:pPr eaLnBrk="1" hangingPunct="1">
              <a:buFont typeface="Wingdings" panose="05000000000000000000" pitchFamily="2" charset="2"/>
              <a:buNone/>
            </a:pPr>
            <a:r>
              <a:rPr lang="en-US" altLang="zh-CN" sz="2400" dirty="0" smtClean="0"/>
              <a:t>        </a:t>
            </a:r>
            <a:r>
              <a:rPr lang="en-US" altLang="zh-CN" sz="2400" dirty="0" err="1" smtClean="0"/>
              <a:t>Ssex</a:t>
            </a:r>
            <a:r>
              <a:rPr lang="en-US" altLang="zh-CN" sz="2400" dirty="0" smtClean="0"/>
              <a:t>    CHAR</a:t>
            </a:r>
            <a:r>
              <a:rPr lang="zh-CN" altLang="en-US" sz="2400" dirty="0" smtClean="0"/>
              <a:t>(</a:t>
            </a:r>
            <a:r>
              <a:rPr lang="en-US" altLang="zh-CN" sz="2400" dirty="0" smtClean="0"/>
              <a:t>2</a:t>
            </a:r>
            <a:r>
              <a:rPr lang="zh-CN" altLang="en-US" sz="2400" dirty="0" smtClean="0"/>
              <a:t>),</a:t>
            </a:r>
          </a:p>
          <a:p>
            <a:pPr eaLnBrk="1" hangingPunct="1">
              <a:buFont typeface="Wingdings" panose="05000000000000000000" pitchFamily="2" charset="2"/>
              <a:buNone/>
            </a:pPr>
            <a:r>
              <a:rPr lang="zh-CN" altLang="en-US" sz="2400" dirty="0" smtClean="0"/>
              <a:t>        </a:t>
            </a:r>
            <a:r>
              <a:rPr lang="en-US" altLang="zh-CN" sz="2400" dirty="0" smtClean="0"/>
              <a:t>Sage   SMALLINT</a:t>
            </a:r>
            <a:r>
              <a:rPr lang="zh-CN" altLang="en-US" sz="2400" dirty="0" smtClean="0"/>
              <a:t>,</a:t>
            </a:r>
          </a:p>
          <a:p>
            <a:pPr eaLnBrk="1" hangingPunct="1">
              <a:buFont typeface="Wingdings" panose="05000000000000000000" pitchFamily="2" charset="2"/>
              <a:buNone/>
            </a:pPr>
            <a:r>
              <a:rPr lang="zh-CN" altLang="en-US" sz="2400" dirty="0" smtClean="0"/>
              <a:t>        </a:t>
            </a:r>
            <a:r>
              <a:rPr lang="en-US" altLang="zh-CN" sz="2400" dirty="0" err="1" smtClean="0"/>
              <a:t>Sdept</a:t>
            </a:r>
            <a:r>
              <a:rPr lang="en-US" altLang="zh-CN" sz="2400" dirty="0" smtClean="0"/>
              <a:t>  CHAR</a:t>
            </a:r>
            <a:r>
              <a:rPr lang="zh-CN" altLang="en-US" sz="2400" dirty="0" smtClean="0"/>
              <a:t>(</a:t>
            </a:r>
            <a:r>
              <a:rPr lang="en-US" altLang="zh-CN" sz="2400" dirty="0" smtClean="0"/>
              <a:t>20</a:t>
            </a:r>
            <a:r>
              <a:rPr lang="zh-CN" altLang="en-US" sz="2400" dirty="0" smtClean="0"/>
              <a:t>)</a:t>
            </a:r>
          </a:p>
          <a:p>
            <a:pPr eaLnBrk="1" hangingPunct="1">
              <a:buFont typeface="Wingdings" panose="05000000000000000000" pitchFamily="2" charset="2"/>
              <a:buNone/>
            </a:pPr>
            <a:r>
              <a:rPr lang="en-US" altLang="zh-CN" sz="2400" dirty="0" smtClean="0"/>
              <a:t>      </a:t>
            </a:r>
            <a:r>
              <a:rPr lang="zh-CN" altLang="en-US" sz="2400" dirty="0" smtClean="0"/>
              <a:t>); </a:t>
            </a:r>
          </a:p>
        </p:txBody>
      </p:sp>
      <p:sp>
        <p:nvSpPr>
          <p:cNvPr id="36868" name="AutoShape 7"/>
          <p:cNvSpPr>
            <a:spLocks noChangeArrowheads="1"/>
          </p:cNvSpPr>
          <p:nvPr/>
        </p:nvSpPr>
        <p:spPr bwMode="auto">
          <a:xfrm>
            <a:off x="5596152" y="1798638"/>
            <a:ext cx="914400" cy="609600"/>
          </a:xfrm>
          <a:prstGeom prst="wedgeRoundRectCallout">
            <a:avLst>
              <a:gd name="adj1" fmla="val -151287"/>
              <a:gd name="adj2" fmla="val 79306"/>
              <a:gd name="adj3" fmla="val 16667"/>
            </a:avLst>
          </a:prstGeom>
          <a:gradFill rotWithShape="1">
            <a:gsLst>
              <a:gs pos="0">
                <a:srgbClr val="CCFFFF">
                  <a:alpha val="73000"/>
                </a:srgbClr>
              </a:gs>
              <a:gs pos="100000">
                <a:srgbClr val="B9CC4A"/>
              </a:gs>
            </a:gsLst>
            <a:lin ang="5400000" scaled="1"/>
          </a:gradFill>
          <a:ln w="25400">
            <a:solidFill>
              <a:srgbClr val="FF99CC"/>
            </a:solidFill>
            <a:miter lim="800000"/>
            <a:headEnd/>
            <a:tailEnd/>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主码</a:t>
            </a:r>
          </a:p>
        </p:txBody>
      </p:sp>
      <p:sp>
        <p:nvSpPr>
          <p:cNvPr id="5" name="AutoShape 7"/>
          <p:cNvSpPr>
            <a:spLocks noChangeArrowheads="1"/>
          </p:cNvSpPr>
          <p:nvPr/>
        </p:nvSpPr>
        <p:spPr bwMode="auto">
          <a:xfrm>
            <a:off x="6156325" y="3700463"/>
            <a:ext cx="1079500" cy="609600"/>
          </a:xfrm>
          <a:prstGeom prst="wedgeRoundRectCallout">
            <a:avLst>
              <a:gd name="adj1" fmla="val -196079"/>
              <a:gd name="adj2" fmla="val -87884"/>
              <a:gd name="adj3" fmla="val 16667"/>
            </a:avLst>
          </a:prstGeom>
          <a:gradFill rotWithShape="1">
            <a:gsLst>
              <a:gs pos="0">
                <a:srgbClr val="CCFFFF">
                  <a:alpha val="73000"/>
                </a:srgbClr>
              </a:gs>
              <a:gs pos="100000">
                <a:srgbClr val="B9CC4A"/>
              </a:gs>
            </a:gsLst>
            <a:lin ang="5400000" scaled="1"/>
          </a:gradFill>
          <a:ln w="25400">
            <a:solidFill>
              <a:srgbClr val="FF99CC"/>
            </a:solidFill>
            <a:miter lim="800000"/>
            <a:headEnd/>
            <a:tailEnd/>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t>UNIQUE</a:t>
            </a:r>
          </a:p>
          <a:p>
            <a:pPr algn="ctr" eaLnBrk="1" hangingPunct="1"/>
            <a:r>
              <a:rPr lang="zh-CN" altLang="en-US" sz="1600" b="1"/>
              <a:t>约束</a:t>
            </a:r>
          </a:p>
        </p:txBody>
      </p:sp>
    </p:spTree>
    <p:extLst>
      <p:ext uri="{BB962C8B-B14F-4D97-AF65-F5344CB8AC3E}">
        <p14:creationId xmlns:p14="http://schemas.microsoft.com/office/powerpoint/2010/main" val="38001881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6868"/>
                                        </p:tgtEl>
                                        <p:attrNameLst>
                                          <p:attrName>style.visibility</p:attrName>
                                        </p:attrNameLst>
                                      </p:cBhvr>
                                      <p:to>
                                        <p:strVal val="visible"/>
                                      </p:to>
                                    </p:set>
                                    <p:animEffect transition="in" filter="box(in)">
                                      <p:cBhvr>
                                        <p:cTn id="7" dur="500"/>
                                        <p:tgtEl>
                                          <p:spTgt spid="368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animBg="1" autoUpdateAnimBg="0"/>
      <p:bldP spid="5"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p:txBody>
          <a:bodyPr/>
          <a:lstStyle/>
          <a:p>
            <a:pPr eaLnBrk="1" hangingPunct="1"/>
            <a:r>
              <a:rPr lang="zh-CN" altLang="en-US" sz="3600" smtClean="0"/>
              <a:t>课程表</a:t>
            </a:r>
            <a:r>
              <a:rPr lang="en-US" altLang="zh-CN" sz="3600" smtClean="0"/>
              <a:t>Course</a:t>
            </a:r>
          </a:p>
        </p:txBody>
      </p:sp>
      <p:sp>
        <p:nvSpPr>
          <p:cNvPr id="38915" name="Rectangle 3"/>
          <p:cNvSpPr>
            <a:spLocks noGrp="1" noChangeArrowheads="1"/>
          </p:cNvSpPr>
          <p:nvPr>
            <p:ph type="body" idx="4294967295"/>
          </p:nvPr>
        </p:nvSpPr>
        <p:spPr>
          <a:xfrm>
            <a:off x="107950" y="1325563"/>
            <a:ext cx="9036050" cy="4495800"/>
          </a:xfrm>
        </p:spPr>
        <p:txBody>
          <a:bodyPr/>
          <a:lstStyle/>
          <a:p>
            <a:pPr eaLnBrk="1" hangingPunct="1">
              <a:buFont typeface="Wingdings" panose="05000000000000000000" pitchFamily="2" charset="2"/>
              <a:buNone/>
            </a:pPr>
            <a:r>
              <a:rPr lang="en-US" altLang="zh-CN" sz="2400" dirty="0" smtClean="0">
                <a:latin typeface="宋体" panose="02010600030101010101" pitchFamily="2" charset="-122"/>
              </a:rPr>
              <a:t> </a:t>
            </a:r>
            <a:r>
              <a:rPr lang="en-US" altLang="zh-CN" sz="2400" dirty="0" smtClean="0"/>
              <a:t>[</a:t>
            </a:r>
            <a:r>
              <a:rPr lang="zh-CN" altLang="en-US" sz="2400" dirty="0" smtClean="0"/>
              <a:t>例</a:t>
            </a:r>
            <a:r>
              <a:rPr lang="en-US" altLang="zh-CN" sz="2400" dirty="0" smtClean="0"/>
              <a:t>3.6 ]</a:t>
            </a:r>
            <a:r>
              <a:rPr lang="en-US" altLang="zh-CN" sz="2400" dirty="0" smtClean="0">
                <a:latin typeface="宋体" panose="02010600030101010101" pitchFamily="2" charset="-122"/>
              </a:rPr>
              <a:t> </a:t>
            </a:r>
            <a:r>
              <a:rPr lang="zh-CN" altLang="en-US" sz="2400" dirty="0" smtClean="0">
                <a:latin typeface="宋体" panose="02010600030101010101" pitchFamily="2" charset="-122"/>
              </a:rPr>
              <a:t>建立一个“课程”表</a:t>
            </a:r>
            <a:r>
              <a:rPr lang="en-US" altLang="zh-CN" sz="2400" dirty="0" smtClean="0"/>
              <a:t>Course</a:t>
            </a:r>
          </a:p>
          <a:p>
            <a:pPr eaLnBrk="1" hangingPunct="1">
              <a:buFont typeface="Wingdings" panose="05000000000000000000" pitchFamily="2" charset="2"/>
              <a:buNone/>
            </a:pPr>
            <a:r>
              <a:rPr lang="zh-CN" altLang="en-US" sz="2400" dirty="0" smtClean="0"/>
              <a:t>	</a:t>
            </a:r>
            <a:r>
              <a:rPr lang="en-US" altLang="zh-CN" sz="2400" dirty="0" smtClean="0"/>
              <a:t>CREATE TABLE  Course</a:t>
            </a:r>
          </a:p>
          <a:p>
            <a:pPr eaLnBrk="1" hangingPunct="1">
              <a:buFont typeface="Wingdings" panose="05000000000000000000" pitchFamily="2" charset="2"/>
              <a:buNone/>
            </a:pPr>
            <a:r>
              <a:rPr lang="en-US" altLang="zh-CN" sz="2400" dirty="0" smtClean="0"/>
              <a:t>     </a:t>
            </a:r>
            <a:r>
              <a:rPr lang="zh-CN" altLang="en-US" sz="2400" dirty="0" smtClean="0"/>
              <a:t>  </a:t>
            </a:r>
            <a:r>
              <a:rPr lang="en-US" altLang="zh-CN" sz="2400" dirty="0" smtClean="0"/>
              <a:t>  </a:t>
            </a:r>
            <a:r>
              <a:rPr lang="zh-CN" altLang="en-US" sz="2400" dirty="0" smtClean="0"/>
              <a:t> (</a:t>
            </a:r>
            <a:r>
              <a:rPr lang="en-US" altLang="zh-CN" sz="2400" dirty="0" err="1" smtClean="0"/>
              <a:t>Cno</a:t>
            </a:r>
            <a:r>
              <a:rPr lang="en-US" altLang="zh-CN" sz="2400" dirty="0" smtClean="0"/>
              <a:t>       CHAR</a:t>
            </a:r>
            <a:r>
              <a:rPr lang="zh-CN" altLang="en-US" sz="2400" dirty="0" smtClean="0"/>
              <a:t>(</a:t>
            </a:r>
            <a:r>
              <a:rPr lang="en-US" altLang="zh-CN" sz="2400" dirty="0" smtClean="0"/>
              <a:t>4</a:t>
            </a:r>
            <a:r>
              <a:rPr lang="zh-CN" altLang="en-US" sz="2400" dirty="0" smtClean="0"/>
              <a:t>)</a:t>
            </a:r>
            <a:r>
              <a:rPr lang="en-US" altLang="zh-CN" sz="2400" dirty="0" smtClean="0"/>
              <a:t> PRIMARY KEY</a:t>
            </a:r>
            <a:r>
              <a:rPr lang="zh-CN" altLang="en-US" sz="2400" dirty="0" smtClean="0"/>
              <a:t>,</a:t>
            </a:r>
          </a:p>
          <a:p>
            <a:pPr eaLnBrk="1" hangingPunct="1">
              <a:buFont typeface="Wingdings" panose="05000000000000000000" pitchFamily="2" charset="2"/>
              <a:buNone/>
            </a:pPr>
            <a:r>
              <a:rPr lang="zh-CN" altLang="en-US" sz="2400" dirty="0" smtClean="0"/>
              <a:t>        </a:t>
            </a:r>
            <a:r>
              <a:rPr lang="en-US" altLang="zh-CN" sz="2400" dirty="0" smtClean="0"/>
              <a:t>	</a:t>
            </a:r>
            <a:r>
              <a:rPr lang="zh-CN" altLang="en-US" sz="2400" dirty="0" smtClean="0"/>
              <a:t> </a:t>
            </a:r>
            <a:r>
              <a:rPr lang="en-US" altLang="zh-CN" sz="2400" dirty="0" err="1" smtClean="0"/>
              <a:t>Cname</a:t>
            </a:r>
            <a:r>
              <a:rPr lang="en-US" altLang="zh-CN" sz="2400" dirty="0" smtClean="0"/>
              <a:t>  CHAR</a:t>
            </a:r>
            <a:r>
              <a:rPr lang="zh-CN" altLang="en-US" sz="2400" dirty="0" smtClean="0"/>
              <a:t>(</a:t>
            </a:r>
            <a:r>
              <a:rPr lang="en-US" altLang="zh-CN" sz="2400" dirty="0" smtClean="0"/>
              <a:t>40</a:t>
            </a:r>
            <a:r>
              <a:rPr lang="zh-CN" altLang="en-US" sz="2400" dirty="0" smtClean="0"/>
              <a:t>),            </a:t>
            </a:r>
          </a:p>
          <a:p>
            <a:pPr eaLnBrk="1" hangingPunct="1">
              <a:buFont typeface="Wingdings" panose="05000000000000000000" pitchFamily="2" charset="2"/>
              <a:buNone/>
            </a:pPr>
            <a:r>
              <a:rPr lang="zh-CN" altLang="en-US" sz="2400" dirty="0" smtClean="0"/>
              <a:t>         </a:t>
            </a:r>
            <a:r>
              <a:rPr lang="en-US" altLang="zh-CN" sz="2400" dirty="0" smtClean="0"/>
              <a:t>	</a:t>
            </a:r>
            <a:r>
              <a:rPr lang="zh-CN" altLang="en-US" sz="2400" dirty="0" smtClean="0"/>
              <a:t> </a:t>
            </a:r>
            <a:r>
              <a:rPr lang="en-US" altLang="zh-CN" sz="2400" dirty="0" err="1" smtClean="0"/>
              <a:t>Cpno</a:t>
            </a:r>
            <a:r>
              <a:rPr lang="en-US" altLang="zh-CN" sz="2400" dirty="0" smtClean="0"/>
              <a:t>     CHAR</a:t>
            </a:r>
            <a:r>
              <a:rPr lang="zh-CN" altLang="en-US" sz="2400" dirty="0" smtClean="0"/>
              <a:t>(</a:t>
            </a:r>
            <a:r>
              <a:rPr lang="en-US" altLang="zh-CN" sz="2400" dirty="0" smtClean="0"/>
              <a:t>4</a:t>
            </a:r>
            <a:r>
              <a:rPr lang="zh-CN" altLang="en-US" sz="2400" dirty="0" smtClean="0"/>
              <a:t>),               	                      </a:t>
            </a:r>
          </a:p>
          <a:p>
            <a:pPr eaLnBrk="1" hangingPunct="1">
              <a:buFont typeface="Wingdings" panose="05000000000000000000" pitchFamily="2" charset="2"/>
              <a:buNone/>
            </a:pPr>
            <a:r>
              <a:rPr lang="zh-CN" altLang="en-US" sz="2400" dirty="0" smtClean="0"/>
              <a:t>            </a:t>
            </a:r>
            <a:r>
              <a:rPr lang="en-US" altLang="zh-CN" sz="2400" dirty="0" err="1" smtClean="0"/>
              <a:t>Ccredit</a:t>
            </a:r>
            <a:r>
              <a:rPr lang="en-US" altLang="zh-CN" sz="2400" dirty="0" smtClean="0"/>
              <a:t>  SMALLINT</a:t>
            </a:r>
            <a:r>
              <a:rPr lang="zh-CN" altLang="en-US" sz="2400" dirty="0" smtClean="0"/>
              <a:t>，</a:t>
            </a:r>
          </a:p>
          <a:p>
            <a:pPr eaLnBrk="1" hangingPunct="1">
              <a:buFont typeface="Wingdings" panose="05000000000000000000" pitchFamily="2" charset="2"/>
              <a:buNone/>
            </a:pPr>
            <a:r>
              <a:rPr lang="zh-CN" altLang="en-US" sz="2400" dirty="0" smtClean="0"/>
              <a:t>            </a:t>
            </a:r>
            <a:r>
              <a:rPr lang="en-US" altLang="zh-CN" sz="2400" dirty="0" smtClean="0"/>
              <a:t>FOREIGN KEY </a:t>
            </a:r>
            <a:r>
              <a:rPr lang="zh-CN" altLang="en-US" sz="2400" dirty="0" smtClean="0"/>
              <a:t>(</a:t>
            </a:r>
            <a:r>
              <a:rPr lang="en-US" altLang="zh-CN" sz="2400" dirty="0" err="1" smtClean="0"/>
              <a:t>Cpno</a:t>
            </a:r>
            <a:r>
              <a:rPr lang="zh-CN" altLang="en-US" sz="2400" dirty="0" smtClean="0"/>
              <a:t>)</a:t>
            </a:r>
            <a:r>
              <a:rPr lang="en-US" altLang="zh-CN" sz="2400" dirty="0" smtClean="0"/>
              <a:t> REFERENCES  Course</a:t>
            </a:r>
            <a:r>
              <a:rPr lang="zh-CN" altLang="en-US" sz="2400" dirty="0" smtClean="0"/>
              <a:t>(</a:t>
            </a:r>
            <a:r>
              <a:rPr lang="en-US" altLang="zh-CN" sz="2400" dirty="0" err="1" smtClean="0"/>
              <a:t>Cno</a:t>
            </a:r>
            <a:r>
              <a:rPr lang="zh-CN" altLang="en-US" sz="2400" dirty="0" smtClean="0"/>
              <a:t>)</a:t>
            </a:r>
            <a:r>
              <a:rPr lang="en-US" altLang="zh-CN" sz="2400" dirty="0" smtClean="0"/>
              <a:t> </a:t>
            </a:r>
          </a:p>
          <a:p>
            <a:pPr eaLnBrk="1" hangingPunct="1">
              <a:buFont typeface="Wingdings" panose="05000000000000000000" pitchFamily="2" charset="2"/>
              <a:buNone/>
            </a:pPr>
            <a:r>
              <a:rPr lang="en-US" altLang="zh-CN" sz="2400" dirty="0" smtClean="0"/>
              <a:t>       </a:t>
            </a:r>
            <a:r>
              <a:rPr lang="zh-CN" altLang="en-US" sz="2400" dirty="0" smtClean="0"/>
              <a:t>   )</a:t>
            </a:r>
            <a:r>
              <a:rPr lang="en-US" altLang="zh-CN" sz="2400" dirty="0" smtClean="0"/>
              <a:t>; </a:t>
            </a:r>
          </a:p>
        </p:txBody>
      </p:sp>
      <p:sp>
        <p:nvSpPr>
          <p:cNvPr id="37892" name="AutoShape 6"/>
          <p:cNvSpPr>
            <a:spLocks noChangeArrowheads="1"/>
          </p:cNvSpPr>
          <p:nvPr/>
        </p:nvSpPr>
        <p:spPr bwMode="auto">
          <a:xfrm>
            <a:off x="5727357" y="2688926"/>
            <a:ext cx="1008063" cy="528638"/>
          </a:xfrm>
          <a:prstGeom prst="wedgeRoundRectCallout">
            <a:avLst>
              <a:gd name="adj1" fmla="val -211301"/>
              <a:gd name="adj2" fmla="val 58407"/>
              <a:gd name="adj3" fmla="val 16667"/>
            </a:avLst>
          </a:prstGeom>
          <a:gradFill rotWithShape="1">
            <a:gsLst>
              <a:gs pos="0">
                <a:srgbClr val="C4F2D2"/>
              </a:gs>
              <a:gs pos="100000">
                <a:srgbClr val="F6FDF8"/>
              </a:gs>
            </a:gsLst>
            <a:lin ang="5400000" scaled="1"/>
          </a:gradFill>
          <a:ln w="25400">
            <a:solidFill>
              <a:schemeClr val="accent1"/>
            </a:solidFill>
            <a:miter lim="800000"/>
            <a:headEnd/>
            <a:tailEnd/>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先修课</a:t>
            </a:r>
            <a:r>
              <a:rPr lang="zh-CN" altLang="en-US"/>
              <a:t> </a:t>
            </a:r>
          </a:p>
        </p:txBody>
      </p:sp>
      <p:sp>
        <p:nvSpPr>
          <p:cNvPr id="37893" name="AutoShape 8"/>
          <p:cNvSpPr>
            <a:spLocks noChangeArrowheads="1"/>
          </p:cNvSpPr>
          <p:nvPr/>
        </p:nvSpPr>
        <p:spPr bwMode="auto">
          <a:xfrm>
            <a:off x="4714875" y="4586288"/>
            <a:ext cx="2447925" cy="1008062"/>
          </a:xfrm>
          <a:prstGeom prst="wedgeRoundRectCallout">
            <a:avLst>
              <a:gd name="adj1" fmla="val -58755"/>
              <a:gd name="adj2" fmla="val -83856"/>
              <a:gd name="adj3" fmla="val 16667"/>
            </a:avLst>
          </a:prstGeom>
          <a:gradFill rotWithShape="1">
            <a:gsLst>
              <a:gs pos="0">
                <a:srgbClr val="C4F2D2"/>
              </a:gs>
              <a:gs pos="100000">
                <a:srgbClr val="E9FAEE"/>
              </a:gs>
            </a:gsLst>
            <a:lin ang="5400000" scaled="1"/>
          </a:gradFill>
          <a:ln w="25400">
            <a:solidFill>
              <a:srgbClr val="00FFFF"/>
            </a:solidFill>
            <a:miter lim="800000"/>
            <a:headEnd/>
            <a:tailEnd/>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r>
              <a:rPr lang="en-US" altLang="zh-CN" b="1"/>
              <a:t>Cpno</a:t>
            </a:r>
            <a:r>
              <a:rPr lang="zh-CN" altLang="en-US" b="1"/>
              <a:t>是外码</a:t>
            </a:r>
          </a:p>
          <a:p>
            <a:pPr eaLnBrk="1" hangingPunct="1"/>
            <a:r>
              <a:rPr lang="zh-CN" altLang="en-US" b="1"/>
              <a:t>   被参照表是</a:t>
            </a:r>
            <a:r>
              <a:rPr lang="en-US" altLang="zh-CN" b="1"/>
              <a:t>Course</a:t>
            </a:r>
          </a:p>
          <a:p>
            <a:pPr eaLnBrk="1" hangingPunct="1"/>
            <a:r>
              <a:rPr lang="zh-CN" altLang="en-US" b="1"/>
              <a:t>   被参照列是</a:t>
            </a:r>
            <a:r>
              <a:rPr lang="en-US" altLang="zh-CN" b="1"/>
              <a:t>Cno</a:t>
            </a:r>
          </a:p>
        </p:txBody>
      </p:sp>
    </p:spTree>
    <p:extLst>
      <p:ext uri="{BB962C8B-B14F-4D97-AF65-F5344CB8AC3E}">
        <p14:creationId xmlns:p14="http://schemas.microsoft.com/office/powerpoint/2010/main" val="3950461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 calcmode="lin" valueType="num">
                                      <p:cBhvr additive="base">
                                        <p:cTn id="7" dur="500" fill="hold"/>
                                        <p:tgtEl>
                                          <p:spTgt spid="37892"/>
                                        </p:tgtEl>
                                        <p:attrNameLst>
                                          <p:attrName>ppt_x</p:attrName>
                                        </p:attrNameLst>
                                      </p:cBhvr>
                                      <p:tavLst>
                                        <p:tav tm="0">
                                          <p:val>
                                            <p:strVal val="#ppt_x"/>
                                          </p:val>
                                        </p:tav>
                                        <p:tav tm="100000">
                                          <p:val>
                                            <p:strVal val="#ppt_x"/>
                                          </p:val>
                                        </p:tav>
                                      </p:tavLst>
                                    </p:anim>
                                    <p:anim calcmode="lin" valueType="num">
                                      <p:cBhvr additive="base">
                                        <p:cTn id="8" dur="500" fill="hold"/>
                                        <p:tgtEl>
                                          <p:spTgt spid="3789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3"/>
                                        </p:tgtEl>
                                        <p:attrNameLst>
                                          <p:attrName>style.visibility</p:attrName>
                                        </p:attrNameLst>
                                      </p:cBhvr>
                                      <p:to>
                                        <p:strVal val="visible"/>
                                      </p:to>
                                    </p:set>
                                    <p:anim calcmode="lin" valueType="num">
                                      <p:cBhvr additive="base">
                                        <p:cTn id="13" dur="500" fill="hold"/>
                                        <p:tgtEl>
                                          <p:spTgt spid="37893"/>
                                        </p:tgtEl>
                                        <p:attrNameLst>
                                          <p:attrName>ppt_x</p:attrName>
                                        </p:attrNameLst>
                                      </p:cBhvr>
                                      <p:tavLst>
                                        <p:tav tm="0">
                                          <p:val>
                                            <p:strVal val="#ppt_x"/>
                                          </p:val>
                                        </p:tav>
                                        <p:tav tm="100000">
                                          <p:val>
                                            <p:strVal val="#ppt_x"/>
                                          </p:val>
                                        </p:tav>
                                      </p:tavLst>
                                    </p:anim>
                                    <p:anim calcmode="lin" valueType="num">
                                      <p:cBhvr additive="base">
                                        <p:cTn id="14"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nimBg="1" autoUpdateAnimBg="0"/>
      <p:bldP spid="37893"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p:txBody>
          <a:bodyPr/>
          <a:lstStyle/>
          <a:p>
            <a:pPr eaLnBrk="1" hangingPunct="1"/>
            <a:r>
              <a:rPr lang="zh-CN" altLang="en-US" sz="3600" smtClean="0"/>
              <a:t>学生选课表</a:t>
            </a:r>
            <a:r>
              <a:rPr lang="en-US" altLang="zh-CN" sz="3600" smtClean="0"/>
              <a:t>SC</a:t>
            </a:r>
          </a:p>
        </p:txBody>
      </p:sp>
      <p:sp>
        <p:nvSpPr>
          <p:cNvPr id="39939" name="Rectangle 3"/>
          <p:cNvSpPr>
            <a:spLocks noGrp="1" noChangeArrowheads="1"/>
          </p:cNvSpPr>
          <p:nvPr>
            <p:ph type="body" idx="4294967295"/>
          </p:nvPr>
        </p:nvSpPr>
        <p:spPr>
          <a:xfrm>
            <a:off x="473676" y="1255069"/>
            <a:ext cx="8229600" cy="4854575"/>
          </a:xfrm>
        </p:spPr>
        <p:txBody>
          <a:bodyPr>
            <a:normAutofit fontScale="92500" lnSpcReduction="10000"/>
          </a:bodyPr>
          <a:lstStyle/>
          <a:p>
            <a:pPr eaLnBrk="1" hangingPunct="1">
              <a:buFont typeface="Wingdings" panose="05000000000000000000" pitchFamily="2" charset="2"/>
              <a:buNone/>
            </a:pPr>
            <a:r>
              <a:rPr lang="en-US" altLang="zh-CN" sz="2400" dirty="0" smtClean="0"/>
              <a:t>[</a:t>
            </a:r>
            <a:r>
              <a:rPr lang="zh-CN" altLang="en-US" sz="2400" dirty="0" smtClean="0"/>
              <a:t>例</a:t>
            </a:r>
            <a:r>
              <a:rPr lang="en-US" altLang="zh-CN" sz="2400" dirty="0" smtClean="0"/>
              <a:t>3.7]  </a:t>
            </a:r>
            <a:r>
              <a:rPr lang="zh-CN" altLang="en-US" sz="2400" dirty="0" smtClean="0">
                <a:latin typeface="宋体" panose="02010600030101010101" pitchFamily="2" charset="-122"/>
              </a:rPr>
              <a:t>建立一个学生选课表</a:t>
            </a:r>
            <a:r>
              <a:rPr lang="en-US" altLang="zh-CN" sz="2400" dirty="0" smtClean="0"/>
              <a:t>SC</a:t>
            </a:r>
          </a:p>
          <a:p>
            <a:pPr eaLnBrk="1" hangingPunct="1">
              <a:buFont typeface="Wingdings" panose="05000000000000000000" pitchFamily="2" charset="2"/>
              <a:buNone/>
            </a:pPr>
            <a:r>
              <a:rPr lang="en-US" altLang="zh-CN" sz="1600" dirty="0" smtClean="0"/>
              <a:t>	</a:t>
            </a:r>
          </a:p>
          <a:p>
            <a:pPr eaLnBrk="1" hangingPunct="1">
              <a:buFont typeface="Wingdings" panose="05000000000000000000" pitchFamily="2" charset="2"/>
              <a:buNone/>
            </a:pPr>
            <a:r>
              <a:rPr lang="zh-CN" altLang="en-US" sz="2200" dirty="0" smtClean="0"/>
              <a:t> 	</a:t>
            </a:r>
            <a:r>
              <a:rPr lang="en-US" altLang="zh-CN" sz="2200" dirty="0" smtClean="0"/>
              <a:t>CREATE TABLE  SC</a:t>
            </a:r>
          </a:p>
          <a:p>
            <a:pPr eaLnBrk="1" hangingPunct="1">
              <a:buFont typeface="Wingdings" panose="05000000000000000000" pitchFamily="2" charset="2"/>
              <a:buNone/>
            </a:pPr>
            <a:r>
              <a:rPr lang="en-US" altLang="zh-CN" sz="2200" dirty="0" smtClean="0"/>
              <a:t>          </a:t>
            </a:r>
            <a:r>
              <a:rPr lang="zh-CN" altLang="en-US" sz="2200" dirty="0" smtClean="0"/>
              <a:t>(</a:t>
            </a:r>
            <a:r>
              <a:rPr lang="en-US" altLang="zh-CN" sz="2200" dirty="0" err="1" smtClean="0"/>
              <a:t>Sno</a:t>
            </a:r>
            <a:r>
              <a:rPr lang="en-US" altLang="zh-CN" sz="2200" dirty="0" smtClean="0"/>
              <a:t>  CHAR</a:t>
            </a:r>
            <a:r>
              <a:rPr lang="zh-CN" altLang="en-US" sz="2200" dirty="0" smtClean="0"/>
              <a:t>(</a:t>
            </a:r>
            <a:r>
              <a:rPr lang="en-US" altLang="zh-CN" sz="2200" dirty="0" smtClean="0"/>
              <a:t>9</a:t>
            </a:r>
            <a:r>
              <a:rPr lang="zh-CN" altLang="en-US" sz="2200" dirty="0" smtClean="0"/>
              <a:t>), </a:t>
            </a:r>
          </a:p>
          <a:p>
            <a:pPr eaLnBrk="1" hangingPunct="1">
              <a:buFont typeface="Wingdings" panose="05000000000000000000" pitchFamily="2" charset="2"/>
              <a:buNone/>
            </a:pPr>
            <a:r>
              <a:rPr lang="zh-CN" altLang="en-US" sz="2200" dirty="0" smtClean="0"/>
              <a:t>           </a:t>
            </a:r>
            <a:r>
              <a:rPr lang="en-US" altLang="zh-CN" sz="2200" dirty="0" err="1" smtClean="0"/>
              <a:t>Cno</a:t>
            </a:r>
            <a:r>
              <a:rPr lang="en-US" altLang="zh-CN" sz="2200" dirty="0" smtClean="0"/>
              <a:t>  CHAR</a:t>
            </a:r>
            <a:r>
              <a:rPr lang="zh-CN" altLang="en-US" sz="2200" dirty="0" smtClean="0"/>
              <a:t>(</a:t>
            </a:r>
            <a:r>
              <a:rPr lang="en-US" altLang="zh-CN" sz="2200" dirty="0" smtClean="0"/>
              <a:t>4</a:t>
            </a:r>
            <a:r>
              <a:rPr lang="zh-CN" altLang="en-US" sz="2200" dirty="0" smtClean="0"/>
              <a:t>),  </a:t>
            </a:r>
          </a:p>
          <a:p>
            <a:pPr eaLnBrk="1" hangingPunct="1">
              <a:buFont typeface="Wingdings" panose="05000000000000000000" pitchFamily="2" charset="2"/>
              <a:buNone/>
            </a:pPr>
            <a:r>
              <a:rPr lang="zh-CN" altLang="en-US" sz="2200" dirty="0" smtClean="0"/>
              <a:t>           </a:t>
            </a:r>
            <a:r>
              <a:rPr lang="en-US" altLang="zh-CN" sz="2200" dirty="0" smtClean="0"/>
              <a:t>Grade  SMALLINT</a:t>
            </a:r>
            <a:r>
              <a:rPr lang="zh-CN" altLang="en-US" sz="2200" dirty="0" smtClean="0"/>
              <a:t>，</a:t>
            </a:r>
          </a:p>
          <a:p>
            <a:pPr eaLnBrk="1" hangingPunct="1">
              <a:buFont typeface="Wingdings" panose="05000000000000000000" pitchFamily="2" charset="2"/>
              <a:buNone/>
            </a:pPr>
            <a:r>
              <a:rPr lang="zh-CN" altLang="en-US" sz="2200" dirty="0" smtClean="0"/>
              <a:t>           </a:t>
            </a:r>
            <a:r>
              <a:rPr lang="en-US" altLang="zh-CN" sz="2200" dirty="0" smtClean="0"/>
              <a:t>PRIMARY KEY </a:t>
            </a:r>
            <a:r>
              <a:rPr lang="zh-CN" altLang="en-US" sz="2200" dirty="0" smtClean="0"/>
              <a:t>(</a:t>
            </a:r>
            <a:r>
              <a:rPr lang="en-US" altLang="zh-CN" sz="2200" dirty="0" err="1" smtClean="0"/>
              <a:t>Sno</a:t>
            </a:r>
            <a:r>
              <a:rPr lang="zh-CN" altLang="en-US" sz="2200" dirty="0" smtClean="0"/>
              <a:t>,</a:t>
            </a:r>
            <a:r>
              <a:rPr lang="en-US" altLang="zh-CN" sz="2200" dirty="0" err="1" smtClean="0"/>
              <a:t>Cno</a:t>
            </a:r>
            <a:r>
              <a:rPr lang="zh-CN" altLang="en-US" sz="2200" dirty="0" smtClean="0"/>
              <a:t>),  </a:t>
            </a:r>
          </a:p>
          <a:p>
            <a:pPr eaLnBrk="1" hangingPunct="1">
              <a:buFont typeface="Wingdings" panose="05000000000000000000" pitchFamily="2" charset="2"/>
              <a:buNone/>
            </a:pPr>
            <a:r>
              <a:rPr lang="zh-CN" altLang="en-US" sz="1800" dirty="0" smtClean="0"/>
              <a:t>                          </a:t>
            </a:r>
            <a:r>
              <a:rPr lang="en-US" altLang="zh-CN" sz="1800" dirty="0" smtClean="0"/>
              <a:t>/* </a:t>
            </a:r>
            <a:r>
              <a:rPr lang="zh-CN" altLang="en-US" sz="1800" dirty="0" smtClean="0"/>
              <a:t>主码由两个属性构成，必须作为表级完整性进行定义*</a:t>
            </a:r>
            <a:r>
              <a:rPr lang="en-US" altLang="zh-CN" sz="1800" dirty="0" smtClean="0"/>
              <a:t>/</a:t>
            </a:r>
          </a:p>
          <a:p>
            <a:pPr eaLnBrk="1" hangingPunct="1">
              <a:buFont typeface="Wingdings" panose="05000000000000000000" pitchFamily="2" charset="2"/>
              <a:buNone/>
            </a:pPr>
            <a:r>
              <a:rPr lang="en-US" altLang="zh-CN" sz="2200" dirty="0" smtClean="0"/>
              <a:t>      </a:t>
            </a:r>
            <a:r>
              <a:rPr lang="zh-CN" altLang="en-US" sz="2200" dirty="0" smtClean="0"/>
              <a:t>     </a:t>
            </a:r>
            <a:r>
              <a:rPr lang="en-US" altLang="zh-CN" sz="2200" dirty="0" smtClean="0"/>
              <a:t>FOREIGN KEY </a:t>
            </a:r>
            <a:r>
              <a:rPr lang="zh-CN" altLang="en-US" sz="2200" dirty="0" smtClean="0"/>
              <a:t>(</a:t>
            </a:r>
            <a:r>
              <a:rPr lang="en-US" altLang="zh-CN" sz="2200" dirty="0" err="1" smtClean="0"/>
              <a:t>Sno</a:t>
            </a:r>
            <a:r>
              <a:rPr lang="zh-CN" altLang="en-US" sz="2200" dirty="0" smtClean="0"/>
              <a:t>)</a:t>
            </a:r>
            <a:r>
              <a:rPr lang="en-US" altLang="zh-CN" sz="2200" dirty="0" smtClean="0"/>
              <a:t> REFERENCES Student</a:t>
            </a:r>
            <a:r>
              <a:rPr lang="zh-CN" altLang="en-US" sz="2200" dirty="0" smtClean="0"/>
              <a:t>(</a:t>
            </a:r>
            <a:r>
              <a:rPr lang="en-US" altLang="zh-CN" sz="2200" dirty="0" err="1" smtClean="0"/>
              <a:t>Sno</a:t>
            </a:r>
            <a:r>
              <a:rPr lang="zh-CN" altLang="en-US" sz="2200" dirty="0" smtClean="0"/>
              <a:t>),</a:t>
            </a:r>
          </a:p>
          <a:p>
            <a:pPr eaLnBrk="1" hangingPunct="1">
              <a:buFont typeface="Wingdings" panose="05000000000000000000" pitchFamily="2" charset="2"/>
              <a:buNone/>
            </a:pPr>
            <a:r>
              <a:rPr lang="zh-CN" altLang="en-US" sz="1800" dirty="0" smtClean="0"/>
              <a:t>                         </a:t>
            </a:r>
            <a:r>
              <a:rPr lang="en-US" altLang="zh-CN" sz="1800" dirty="0" smtClean="0"/>
              <a:t>/* </a:t>
            </a:r>
            <a:r>
              <a:rPr lang="zh-CN" altLang="en-US" sz="1800" dirty="0" smtClean="0"/>
              <a:t>表级完整性约束条件，</a:t>
            </a:r>
            <a:r>
              <a:rPr lang="en-US" altLang="zh-CN" sz="1800" dirty="0" err="1" smtClean="0"/>
              <a:t>Sno</a:t>
            </a:r>
            <a:r>
              <a:rPr lang="zh-CN" altLang="en-US" sz="1800" dirty="0" smtClean="0"/>
              <a:t>是外码，被参照表是</a:t>
            </a:r>
            <a:r>
              <a:rPr lang="en-US" altLang="zh-CN" sz="1800" dirty="0" smtClean="0"/>
              <a:t>Student */</a:t>
            </a:r>
          </a:p>
          <a:p>
            <a:pPr eaLnBrk="1" hangingPunct="1">
              <a:buFont typeface="Wingdings" panose="05000000000000000000" pitchFamily="2" charset="2"/>
              <a:buNone/>
            </a:pPr>
            <a:r>
              <a:rPr lang="en-US" altLang="zh-CN" sz="2200" dirty="0" smtClean="0"/>
              <a:t>      </a:t>
            </a:r>
            <a:r>
              <a:rPr lang="zh-CN" altLang="en-US" sz="2200" dirty="0" smtClean="0"/>
              <a:t>     </a:t>
            </a:r>
            <a:r>
              <a:rPr lang="en-US" altLang="zh-CN" sz="2200" dirty="0" smtClean="0"/>
              <a:t>FOREIGN KEY </a:t>
            </a:r>
            <a:r>
              <a:rPr lang="zh-CN" altLang="en-US" sz="2200" dirty="0" smtClean="0"/>
              <a:t>(</a:t>
            </a:r>
            <a:r>
              <a:rPr lang="en-US" altLang="zh-CN" sz="2200" dirty="0" err="1" smtClean="0"/>
              <a:t>Cno</a:t>
            </a:r>
            <a:r>
              <a:rPr lang="zh-CN" altLang="en-US" sz="2200" dirty="0" smtClean="0"/>
              <a:t>)</a:t>
            </a:r>
            <a:r>
              <a:rPr lang="en-US" altLang="zh-CN" sz="2200" dirty="0" smtClean="0"/>
              <a:t>REFERENCES Course</a:t>
            </a:r>
            <a:r>
              <a:rPr lang="zh-CN" altLang="en-US" sz="2200" dirty="0" smtClean="0"/>
              <a:t>(</a:t>
            </a:r>
            <a:r>
              <a:rPr lang="en-US" altLang="zh-CN" sz="2200" dirty="0" err="1" smtClean="0"/>
              <a:t>Cno</a:t>
            </a:r>
            <a:r>
              <a:rPr lang="zh-CN" altLang="en-US" sz="2200" dirty="0" smtClean="0"/>
              <a:t>)</a:t>
            </a:r>
          </a:p>
          <a:p>
            <a:pPr eaLnBrk="1" hangingPunct="1">
              <a:buFont typeface="Wingdings" panose="05000000000000000000" pitchFamily="2" charset="2"/>
              <a:buNone/>
            </a:pPr>
            <a:r>
              <a:rPr lang="en-US" altLang="zh-CN" sz="1800" dirty="0" smtClean="0"/>
              <a:t>                          /* </a:t>
            </a:r>
            <a:r>
              <a:rPr lang="zh-CN" altLang="en-US" sz="1800" dirty="0" smtClean="0"/>
              <a:t>表级完整性约束条件， </a:t>
            </a:r>
            <a:r>
              <a:rPr lang="en-US" altLang="zh-CN" sz="1800" dirty="0" err="1" smtClean="0"/>
              <a:t>Cno</a:t>
            </a:r>
            <a:r>
              <a:rPr lang="zh-CN" altLang="en-US" sz="1800" dirty="0" smtClean="0"/>
              <a:t>是外码，被参照表是</a:t>
            </a:r>
            <a:r>
              <a:rPr lang="en-US" altLang="zh-CN" sz="1800" dirty="0" smtClean="0"/>
              <a:t>Course*/</a:t>
            </a:r>
          </a:p>
          <a:p>
            <a:pPr eaLnBrk="1" hangingPunct="1">
              <a:buFont typeface="Wingdings" panose="05000000000000000000" pitchFamily="2" charset="2"/>
              <a:buNone/>
            </a:pPr>
            <a:r>
              <a:rPr lang="zh-CN" altLang="en-US" sz="2200" dirty="0" smtClean="0"/>
              <a:t>        )</a:t>
            </a:r>
            <a:r>
              <a:rPr lang="en-US" altLang="zh-CN" sz="2200" dirty="0" smtClean="0"/>
              <a:t>; </a:t>
            </a:r>
          </a:p>
        </p:txBody>
      </p:sp>
    </p:spTree>
    <p:extLst>
      <p:ext uri="{BB962C8B-B14F-4D97-AF65-F5344CB8AC3E}">
        <p14:creationId xmlns:p14="http://schemas.microsoft.com/office/powerpoint/2010/main" val="22823589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p:txBody>
          <a:bodyPr/>
          <a:lstStyle/>
          <a:p>
            <a:pPr eaLnBrk="1" hangingPunct="1"/>
            <a:r>
              <a:rPr lang="zh-CN" altLang="en-US" sz="3600" dirty="0" smtClean="0"/>
              <a:t>修改基本表</a:t>
            </a:r>
          </a:p>
        </p:txBody>
      </p:sp>
      <p:sp>
        <p:nvSpPr>
          <p:cNvPr id="46083" name="Rectangle 3"/>
          <p:cNvSpPr>
            <a:spLocks noGrp="1" noChangeArrowheads="1"/>
          </p:cNvSpPr>
          <p:nvPr>
            <p:ph type="body" idx="4294967295"/>
          </p:nvPr>
        </p:nvSpPr>
        <p:spPr>
          <a:xfrm>
            <a:off x="539750" y="1268413"/>
            <a:ext cx="8785225" cy="3959225"/>
          </a:xfrm>
        </p:spPr>
        <p:txBody>
          <a:bodyPr>
            <a:normAutofit/>
          </a:bodyPr>
          <a:lstStyle/>
          <a:p>
            <a:pPr eaLnBrk="1" hangingPunct="1">
              <a:lnSpc>
                <a:spcPct val="150000"/>
              </a:lnSpc>
              <a:buFont typeface="Wingdings" panose="05000000000000000000" pitchFamily="2" charset="2"/>
              <a:buNone/>
            </a:pPr>
            <a:r>
              <a:rPr lang="en-US" altLang="zh-CN" sz="2400" dirty="0" smtClean="0">
                <a:solidFill>
                  <a:srgbClr val="FF0000"/>
                </a:solidFill>
              </a:rPr>
              <a:t>ALTER TABLE &lt;</a:t>
            </a:r>
            <a:r>
              <a:rPr lang="zh-CN" altLang="en-US" sz="2400" dirty="0" smtClean="0">
                <a:solidFill>
                  <a:srgbClr val="FF0000"/>
                </a:solidFill>
              </a:rPr>
              <a:t>表名</a:t>
            </a:r>
            <a:r>
              <a:rPr lang="en-US" altLang="zh-CN" sz="2400" dirty="0" smtClean="0">
                <a:solidFill>
                  <a:srgbClr val="FF0000"/>
                </a:solidFill>
              </a:rPr>
              <a:t>&gt;  _________?</a:t>
            </a:r>
            <a:endParaRPr lang="en-US" altLang="zh-CN" sz="2400" u="sng" dirty="0" smtClean="0">
              <a:solidFill>
                <a:srgbClr val="FF0000"/>
              </a:solidFill>
            </a:endParaRPr>
          </a:p>
          <a:p>
            <a:pPr marL="457200" lvl="3" indent="0">
              <a:lnSpc>
                <a:spcPct val="150000"/>
              </a:lnSpc>
              <a:buClr>
                <a:schemeClr val="hlink"/>
              </a:buClr>
              <a:buFont typeface="Arial" panose="020B0604020202020204" pitchFamily="34" charset="0"/>
              <a:buNone/>
            </a:pPr>
            <a:r>
              <a:rPr lang="en-US" altLang="zh-CN" dirty="0" smtClean="0"/>
              <a:t>[ ADD[COLUMN] &lt;</a:t>
            </a:r>
            <a:r>
              <a:rPr lang="zh-CN" altLang="en-US" dirty="0" smtClean="0"/>
              <a:t>新列名</a:t>
            </a:r>
            <a:r>
              <a:rPr lang="en-US" altLang="zh-CN" dirty="0" smtClean="0"/>
              <a:t>&gt; &lt;</a:t>
            </a:r>
            <a:r>
              <a:rPr lang="zh-CN" altLang="en-US" dirty="0" smtClean="0"/>
              <a:t>数据类型</a:t>
            </a:r>
            <a:r>
              <a:rPr lang="en-US" altLang="zh-CN" dirty="0" smtClean="0"/>
              <a:t>&gt; [ </a:t>
            </a:r>
            <a:r>
              <a:rPr lang="zh-CN" altLang="en-US" dirty="0" smtClean="0"/>
              <a:t>完整性约束 </a:t>
            </a:r>
            <a:r>
              <a:rPr lang="en-US" altLang="zh-CN" dirty="0" smtClean="0"/>
              <a:t>] ]</a:t>
            </a:r>
          </a:p>
          <a:p>
            <a:pPr lvl="1">
              <a:lnSpc>
                <a:spcPct val="150000"/>
              </a:lnSpc>
              <a:buFont typeface="Wingdings" panose="05000000000000000000" pitchFamily="2" charset="2"/>
              <a:buNone/>
            </a:pPr>
            <a:r>
              <a:rPr lang="en-US" altLang="zh-CN" sz="1800" dirty="0" smtClean="0"/>
              <a:t>[ ADD &lt;</a:t>
            </a:r>
            <a:r>
              <a:rPr lang="zh-CN" altLang="en-US" sz="1800" dirty="0" smtClean="0"/>
              <a:t>表级完整性约束</a:t>
            </a:r>
            <a:r>
              <a:rPr lang="en-US" altLang="zh-CN" sz="1400" dirty="0" smtClean="0"/>
              <a:t>&gt;]</a:t>
            </a:r>
          </a:p>
          <a:p>
            <a:pPr lvl="1">
              <a:lnSpc>
                <a:spcPct val="150000"/>
              </a:lnSpc>
              <a:buFont typeface="Wingdings" panose="05000000000000000000" pitchFamily="2" charset="2"/>
              <a:buNone/>
            </a:pPr>
            <a:r>
              <a:rPr lang="en-US" altLang="zh-CN" sz="1800" dirty="0" smtClean="0"/>
              <a:t>[ DROP [ COLUMN ] &lt;</a:t>
            </a:r>
            <a:r>
              <a:rPr lang="zh-CN" altLang="en-US" sz="1800" dirty="0" smtClean="0"/>
              <a:t>列名</a:t>
            </a:r>
            <a:r>
              <a:rPr lang="en-US" altLang="zh-CN" sz="1400" dirty="0" smtClean="0"/>
              <a:t>&gt; [CASCADE| RESTRICT] ]</a:t>
            </a:r>
          </a:p>
          <a:p>
            <a:pPr lvl="1">
              <a:lnSpc>
                <a:spcPct val="150000"/>
              </a:lnSpc>
              <a:buFont typeface="Wingdings" panose="05000000000000000000" pitchFamily="2" charset="2"/>
              <a:buNone/>
            </a:pPr>
            <a:r>
              <a:rPr lang="en-US" altLang="zh-CN" sz="1800" dirty="0" smtClean="0"/>
              <a:t>[ DROP CONSTRAINT&lt;</a:t>
            </a:r>
            <a:r>
              <a:rPr lang="zh-CN" altLang="en-US" sz="1800" dirty="0" smtClean="0"/>
              <a:t>完整性约束名</a:t>
            </a:r>
            <a:r>
              <a:rPr lang="en-US" altLang="zh-CN" sz="1800" dirty="0" smtClean="0"/>
              <a:t>&gt;[ RESTRICT | CASCADE ]</a:t>
            </a:r>
            <a:r>
              <a:rPr lang="en-US" altLang="zh-CN" sz="2000" dirty="0" smtClean="0"/>
              <a:t> ]</a:t>
            </a:r>
          </a:p>
          <a:p>
            <a:pPr lvl="1">
              <a:lnSpc>
                <a:spcPct val="150000"/>
              </a:lnSpc>
              <a:buNone/>
            </a:pPr>
            <a:r>
              <a:rPr lang="en-US" altLang="zh-CN" sz="1600" dirty="0"/>
              <a:t>[ALTER COLUMN &lt;</a:t>
            </a:r>
            <a:r>
              <a:rPr lang="zh-CN" altLang="en-US" sz="1600" dirty="0"/>
              <a:t>列名</a:t>
            </a:r>
            <a:r>
              <a:rPr lang="en-US" altLang="zh-CN" sz="1600" dirty="0"/>
              <a:t>&gt;&lt;</a:t>
            </a:r>
            <a:r>
              <a:rPr lang="zh-CN" altLang="en-US" sz="1600" dirty="0"/>
              <a:t>数据类型</a:t>
            </a:r>
            <a:r>
              <a:rPr lang="en-US" altLang="zh-CN" sz="1600" dirty="0"/>
              <a:t>&gt; ] </a:t>
            </a:r>
            <a:r>
              <a:rPr lang="zh-CN" altLang="en-US" sz="1600" dirty="0"/>
              <a:t>;</a:t>
            </a:r>
            <a:endParaRPr lang="en-US" altLang="zh-CN" sz="1600" dirty="0"/>
          </a:p>
          <a:p>
            <a:pPr eaLnBrk="1" hangingPunct="1">
              <a:lnSpc>
                <a:spcPct val="150000"/>
              </a:lnSpc>
              <a:buFont typeface="Wingdings" panose="05000000000000000000" pitchFamily="2" charset="2"/>
              <a:buNone/>
            </a:pPr>
            <a:endParaRPr lang="en-US" altLang="zh-CN" sz="2000" dirty="0" smtClean="0"/>
          </a:p>
        </p:txBody>
      </p:sp>
    </p:spTree>
    <p:extLst>
      <p:ext uri="{BB962C8B-B14F-4D97-AF65-F5344CB8AC3E}">
        <p14:creationId xmlns:p14="http://schemas.microsoft.com/office/powerpoint/2010/main" val="37314977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idx="4294967295"/>
          </p:nvPr>
        </p:nvSpPr>
        <p:spPr/>
        <p:txBody>
          <a:bodyPr/>
          <a:lstStyle/>
          <a:p>
            <a:pPr eaLnBrk="1" hangingPunct="1"/>
            <a:r>
              <a:rPr lang="zh-CN" altLang="en-US" sz="3600" smtClean="0"/>
              <a:t>修改基本表（续）</a:t>
            </a:r>
          </a:p>
        </p:txBody>
      </p:sp>
      <p:sp>
        <p:nvSpPr>
          <p:cNvPr id="47107" name="内容占位符 2"/>
          <p:cNvSpPr>
            <a:spLocks noGrp="1"/>
          </p:cNvSpPr>
          <p:nvPr>
            <p:ph idx="4294967295"/>
          </p:nvPr>
        </p:nvSpPr>
        <p:spPr>
          <a:xfrm>
            <a:off x="457200" y="1054100"/>
            <a:ext cx="8229600" cy="4895850"/>
          </a:xfrm>
        </p:spPr>
        <p:txBody>
          <a:bodyPr>
            <a:normAutofit lnSpcReduction="10000"/>
          </a:bodyPr>
          <a:lstStyle/>
          <a:p>
            <a:pPr eaLnBrk="1" hangingPunct="1">
              <a:lnSpc>
                <a:spcPct val="120000"/>
              </a:lnSpc>
              <a:buFont typeface="Wingdings" panose="05000000000000000000" pitchFamily="2" charset="2"/>
              <a:buChar char="n"/>
            </a:pPr>
            <a:r>
              <a:rPr lang="en-US" altLang="zh-CN" sz="2400" dirty="0" smtClean="0"/>
              <a:t>&lt;</a:t>
            </a:r>
            <a:r>
              <a:rPr lang="zh-CN" altLang="en-US" sz="2400" dirty="0" smtClean="0"/>
              <a:t>表名</a:t>
            </a:r>
            <a:r>
              <a:rPr lang="en-US" altLang="zh-CN" sz="2400" dirty="0" smtClean="0"/>
              <a:t>&gt;</a:t>
            </a:r>
            <a:r>
              <a:rPr lang="zh-CN" altLang="en-US" sz="2400" dirty="0" smtClean="0"/>
              <a:t>是要修改的基本表</a:t>
            </a:r>
            <a:endParaRPr lang="zh-CN" altLang="en-US" sz="2000" dirty="0" smtClean="0"/>
          </a:p>
          <a:p>
            <a:pPr eaLnBrk="1" hangingPunct="1">
              <a:lnSpc>
                <a:spcPct val="120000"/>
              </a:lnSpc>
              <a:buFont typeface="Wingdings" panose="05000000000000000000" pitchFamily="2" charset="2"/>
              <a:buChar char="n"/>
            </a:pPr>
            <a:r>
              <a:rPr lang="en-US" altLang="zh-CN" sz="2400" dirty="0" smtClean="0">
                <a:solidFill>
                  <a:srgbClr val="FF00FF"/>
                </a:solidFill>
              </a:rPr>
              <a:t>ADD</a:t>
            </a:r>
            <a:r>
              <a:rPr lang="zh-CN" altLang="en-US" sz="2400" dirty="0" smtClean="0"/>
              <a:t>子句用于增加新列、新的列级完整性约束条件和新的表级完整性约束条件</a:t>
            </a:r>
            <a:endParaRPr lang="zh-CN" altLang="en-US" sz="2000" dirty="0" smtClean="0"/>
          </a:p>
          <a:p>
            <a:pPr eaLnBrk="1" hangingPunct="1">
              <a:lnSpc>
                <a:spcPct val="120000"/>
              </a:lnSpc>
              <a:buFont typeface="Wingdings" panose="05000000000000000000" pitchFamily="2" charset="2"/>
              <a:buChar char="n"/>
            </a:pPr>
            <a:r>
              <a:rPr lang="en-US" altLang="zh-CN" sz="2400" dirty="0" smtClean="0">
                <a:solidFill>
                  <a:srgbClr val="FF00FF"/>
                </a:solidFill>
              </a:rPr>
              <a:t>DROP COLUMN</a:t>
            </a:r>
            <a:r>
              <a:rPr lang="zh-CN" altLang="en-US" sz="2400" dirty="0" smtClean="0"/>
              <a:t>子句用于删除表中的列</a:t>
            </a:r>
            <a:endParaRPr lang="zh-CN" altLang="en-US" sz="2000" dirty="0" smtClean="0"/>
          </a:p>
          <a:p>
            <a:pPr lvl="1" eaLnBrk="1" hangingPunct="1">
              <a:lnSpc>
                <a:spcPct val="120000"/>
              </a:lnSpc>
            </a:pPr>
            <a:r>
              <a:rPr lang="zh-CN" altLang="en-US" sz="2000" dirty="0" smtClean="0"/>
              <a:t>如果指定了</a:t>
            </a:r>
            <a:r>
              <a:rPr lang="en-US" altLang="zh-CN" sz="2000" dirty="0" smtClean="0"/>
              <a:t>CASCADE</a:t>
            </a:r>
            <a:r>
              <a:rPr lang="zh-CN" altLang="en-US" sz="2000" dirty="0" smtClean="0"/>
              <a:t>短语，则自动删除引用了该列的其他对象</a:t>
            </a:r>
            <a:endParaRPr lang="zh-CN" altLang="en-US" sz="1800" dirty="0" smtClean="0"/>
          </a:p>
          <a:p>
            <a:pPr lvl="1" eaLnBrk="1" hangingPunct="1">
              <a:lnSpc>
                <a:spcPct val="120000"/>
              </a:lnSpc>
            </a:pPr>
            <a:r>
              <a:rPr lang="zh-CN" altLang="en-US" sz="2000" dirty="0" smtClean="0"/>
              <a:t>如果指定了</a:t>
            </a:r>
            <a:r>
              <a:rPr lang="en-US" altLang="zh-CN" sz="2000" dirty="0" smtClean="0"/>
              <a:t>RESTRICT</a:t>
            </a:r>
            <a:r>
              <a:rPr lang="zh-CN" altLang="en-US" sz="2000" dirty="0" smtClean="0"/>
              <a:t>短语，则如果该列被其他对象引用，关系数据库管理系统将拒绝删除该列</a:t>
            </a:r>
            <a:endParaRPr lang="zh-CN" altLang="en-US" sz="1800" dirty="0" smtClean="0"/>
          </a:p>
          <a:p>
            <a:pPr eaLnBrk="1" hangingPunct="1">
              <a:lnSpc>
                <a:spcPct val="120000"/>
              </a:lnSpc>
              <a:buFont typeface="Wingdings" panose="05000000000000000000" pitchFamily="2" charset="2"/>
              <a:buChar char="n"/>
            </a:pPr>
            <a:r>
              <a:rPr lang="en-US" altLang="zh-CN" sz="2400" dirty="0" smtClean="0">
                <a:solidFill>
                  <a:srgbClr val="FF00FF"/>
                </a:solidFill>
              </a:rPr>
              <a:t>DROP CONSTRAINT</a:t>
            </a:r>
            <a:r>
              <a:rPr lang="zh-CN" altLang="en-US" sz="2400" dirty="0" smtClean="0"/>
              <a:t>子句用于删除指定的完整性约束条件</a:t>
            </a:r>
            <a:endParaRPr lang="zh-CN" altLang="en-US" sz="2000" dirty="0" smtClean="0"/>
          </a:p>
          <a:p>
            <a:pPr eaLnBrk="1" hangingPunct="1">
              <a:lnSpc>
                <a:spcPct val="120000"/>
              </a:lnSpc>
              <a:buFont typeface="Wingdings" panose="05000000000000000000" pitchFamily="2" charset="2"/>
              <a:buChar char="n"/>
            </a:pPr>
            <a:r>
              <a:rPr lang="en-US" altLang="zh-CN" sz="2400" dirty="0" smtClean="0">
                <a:solidFill>
                  <a:srgbClr val="FF00FF"/>
                </a:solidFill>
              </a:rPr>
              <a:t>ALTER COLUMN</a:t>
            </a:r>
            <a:r>
              <a:rPr lang="zh-CN" altLang="en-US" sz="2400" dirty="0" smtClean="0"/>
              <a:t>子句用于修改原有的列定义，包括修改列名和数据类型</a:t>
            </a:r>
            <a:endParaRPr lang="zh-CN" altLang="en-US" sz="2000" dirty="0" smtClean="0"/>
          </a:p>
          <a:p>
            <a:pPr eaLnBrk="1" hangingPunct="1">
              <a:buFont typeface="Wingdings" panose="05000000000000000000" pitchFamily="2" charset="2"/>
              <a:buChar char="n"/>
            </a:pPr>
            <a:endParaRPr lang="zh-CN" altLang="en-US" sz="1800" b="0" dirty="0" smtClean="0"/>
          </a:p>
          <a:p>
            <a:pPr eaLnBrk="1" hangingPunct="1">
              <a:buFont typeface="Wingdings" panose="05000000000000000000" pitchFamily="2" charset="2"/>
              <a:buChar char="n"/>
            </a:pPr>
            <a:endParaRPr lang="zh-CN" altLang="en-US" sz="1600" b="0" dirty="0" smtClean="0"/>
          </a:p>
          <a:p>
            <a:pPr eaLnBrk="1" hangingPunct="1">
              <a:buFont typeface="Wingdings" panose="05000000000000000000" pitchFamily="2" charset="2"/>
              <a:buChar char="n"/>
            </a:pPr>
            <a:endParaRPr lang="zh-CN" altLang="en-US" sz="1600" b="0" dirty="0" smtClean="0"/>
          </a:p>
          <a:p>
            <a:pPr eaLnBrk="1" hangingPunct="1"/>
            <a:endParaRPr lang="zh-CN" altLang="en-US" dirty="0" smtClean="0"/>
          </a:p>
        </p:txBody>
      </p:sp>
    </p:spTree>
    <p:extLst>
      <p:ext uri="{BB962C8B-B14F-4D97-AF65-F5344CB8AC3E}">
        <p14:creationId xmlns:p14="http://schemas.microsoft.com/office/powerpoint/2010/main" val="13529910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smtClean="0"/>
              <a:t>修改基本表（续）</a:t>
            </a:r>
          </a:p>
        </p:txBody>
      </p:sp>
      <p:sp>
        <p:nvSpPr>
          <p:cNvPr id="48131" name="Rectangle 3"/>
          <p:cNvSpPr>
            <a:spLocks noGrp="1" noChangeArrowheads="1"/>
          </p:cNvSpPr>
          <p:nvPr>
            <p:ph type="body" idx="4294967295"/>
          </p:nvPr>
        </p:nvSpPr>
        <p:spPr>
          <a:xfrm>
            <a:off x="0" y="1098550"/>
            <a:ext cx="8820150" cy="5097463"/>
          </a:xfrm>
        </p:spPr>
        <p:txBody>
          <a:bodyPr>
            <a:normAutofit/>
          </a:bodyPr>
          <a:lstStyle/>
          <a:p>
            <a:pPr algn="just" eaLnBrk="1" hangingPunct="1">
              <a:lnSpc>
                <a:spcPct val="140000"/>
              </a:lnSpc>
              <a:spcBef>
                <a:spcPct val="0"/>
              </a:spcBef>
              <a:buFont typeface="Wingdings" panose="05000000000000000000" pitchFamily="2" charset="2"/>
              <a:buNone/>
            </a:pPr>
            <a:r>
              <a:rPr lang="en-US" altLang="zh-CN" sz="2400" dirty="0" smtClean="0"/>
              <a:t>[</a:t>
            </a:r>
            <a:r>
              <a:rPr lang="zh-CN" altLang="en-US" sz="2400" dirty="0" smtClean="0"/>
              <a:t>例</a:t>
            </a:r>
            <a:r>
              <a:rPr lang="en-US" altLang="zh-CN" sz="2400" dirty="0" smtClean="0"/>
              <a:t>3.8] </a:t>
            </a:r>
            <a:r>
              <a:rPr lang="zh-CN" altLang="en-US" sz="2400" dirty="0" smtClean="0"/>
              <a:t>向</a:t>
            </a:r>
            <a:r>
              <a:rPr lang="en-US" altLang="zh-CN" sz="2400" dirty="0" smtClean="0"/>
              <a:t>Student</a:t>
            </a:r>
            <a:r>
              <a:rPr lang="zh-CN" altLang="en-US" sz="2400" dirty="0" smtClean="0"/>
              <a:t>表增加</a:t>
            </a:r>
            <a:r>
              <a:rPr lang="zh-CN" altLang="en-US" sz="2400" dirty="0" smtClean="0">
                <a:latin typeface="Courier New" panose="02070309020205020404" pitchFamily="49" charset="0"/>
              </a:rPr>
              <a:t>“</a:t>
            </a:r>
            <a:r>
              <a:rPr lang="zh-CN" altLang="en-US" sz="2400" dirty="0" smtClean="0"/>
              <a:t>入学时间</a:t>
            </a:r>
            <a:r>
              <a:rPr lang="zh-CN" altLang="en-US" sz="2400" dirty="0" smtClean="0">
                <a:latin typeface="Courier New" panose="02070309020205020404" pitchFamily="49" charset="0"/>
              </a:rPr>
              <a:t>”</a:t>
            </a:r>
            <a:r>
              <a:rPr lang="zh-CN" altLang="en-US" sz="2400" dirty="0" smtClean="0"/>
              <a:t>列，其数据类型为日期型</a:t>
            </a:r>
            <a:endParaRPr lang="en-US" altLang="zh-CN" sz="2400" dirty="0" smtClean="0"/>
          </a:p>
          <a:p>
            <a:pPr algn="just" eaLnBrk="1" hangingPunct="1">
              <a:lnSpc>
                <a:spcPct val="140000"/>
              </a:lnSpc>
              <a:spcBef>
                <a:spcPct val="0"/>
              </a:spcBef>
              <a:buFont typeface="Wingdings" panose="05000000000000000000" pitchFamily="2" charset="2"/>
              <a:buNone/>
            </a:pPr>
            <a:endParaRPr lang="zh-CN" altLang="en-US" sz="2400" dirty="0" smtClean="0"/>
          </a:p>
          <a:p>
            <a:pPr lvl="1" algn="just" eaLnBrk="1" hangingPunct="1">
              <a:lnSpc>
                <a:spcPct val="140000"/>
              </a:lnSpc>
              <a:spcBef>
                <a:spcPct val="0"/>
              </a:spcBef>
              <a:buFont typeface="Wingdings" panose="05000000000000000000" pitchFamily="2" charset="2"/>
              <a:buNone/>
            </a:pPr>
            <a:r>
              <a:rPr lang="zh-CN" altLang="en-US" sz="2000" dirty="0" smtClean="0">
                <a:solidFill>
                  <a:srgbClr val="FF0000"/>
                </a:solidFill>
              </a:rPr>
              <a:t>     </a:t>
            </a:r>
            <a:r>
              <a:rPr lang="en-US" altLang="zh-CN" dirty="0" smtClean="0">
                <a:solidFill>
                  <a:srgbClr val="FF0000"/>
                </a:solidFill>
              </a:rPr>
              <a:t>ALTER TABLE Student </a:t>
            </a:r>
            <a:r>
              <a:rPr lang="en-US" altLang="zh-CN" u="sng" dirty="0" smtClean="0"/>
              <a:t>ADD </a:t>
            </a:r>
            <a:r>
              <a:rPr lang="en-US" altLang="zh-CN" u="sng" dirty="0" err="1" smtClean="0"/>
              <a:t>S_entrance</a:t>
            </a:r>
            <a:r>
              <a:rPr lang="en-US" altLang="zh-CN" u="sng" dirty="0" smtClean="0"/>
              <a:t> DATE</a:t>
            </a:r>
            <a:r>
              <a:rPr lang="zh-CN" altLang="en-US" dirty="0" smtClean="0"/>
              <a:t>;</a:t>
            </a:r>
            <a:endParaRPr lang="en-US" altLang="zh-CN" dirty="0" smtClean="0"/>
          </a:p>
          <a:p>
            <a:pPr lvl="1" eaLnBrk="1" hangingPunct="1">
              <a:lnSpc>
                <a:spcPct val="140000"/>
              </a:lnSpc>
              <a:spcBef>
                <a:spcPct val="0"/>
              </a:spcBef>
              <a:buFont typeface="Wingdings" panose="05000000000000000000" pitchFamily="2" charset="2"/>
              <a:buNone/>
            </a:pPr>
            <a:r>
              <a:rPr lang="zh-CN" altLang="en-US" dirty="0" smtClean="0"/>
              <a:t>不管基本表中原来是否已有数据，新增加的列一律为空值</a:t>
            </a:r>
            <a:r>
              <a:rPr lang="zh-CN" altLang="en-US" b="0" dirty="0" smtClean="0">
                <a:latin typeface="Courier New" panose="02070309020205020404" pitchFamily="49" charset="0"/>
              </a:rPr>
              <a:t> </a:t>
            </a:r>
            <a:endParaRPr lang="en-US" altLang="zh-CN" b="0" dirty="0" smtClean="0">
              <a:latin typeface="Courier New" panose="02070309020205020404" pitchFamily="49" charset="0"/>
            </a:endParaRPr>
          </a:p>
          <a:p>
            <a:pPr lvl="1" eaLnBrk="1" hangingPunct="1">
              <a:lnSpc>
                <a:spcPct val="140000"/>
              </a:lnSpc>
              <a:spcBef>
                <a:spcPct val="0"/>
              </a:spcBef>
              <a:buFont typeface="Wingdings" panose="05000000000000000000" pitchFamily="2" charset="2"/>
              <a:buNone/>
            </a:pPr>
            <a:endParaRPr lang="en-US" altLang="zh-CN" b="0" dirty="0" smtClean="0">
              <a:latin typeface="Courier New" panose="02070309020205020404" pitchFamily="49" charset="0"/>
            </a:endParaRPr>
          </a:p>
          <a:p>
            <a:pPr>
              <a:lnSpc>
                <a:spcPct val="140000"/>
              </a:lnSpc>
              <a:spcBef>
                <a:spcPct val="0"/>
              </a:spcBef>
              <a:buNone/>
            </a:pPr>
            <a:r>
              <a:rPr lang="en-US" altLang="zh-CN" sz="2400" dirty="0" smtClean="0"/>
              <a:t>[</a:t>
            </a:r>
            <a:r>
              <a:rPr lang="zh-CN" altLang="en-US" sz="2400" dirty="0"/>
              <a:t>例</a:t>
            </a:r>
            <a:r>
              <a:rPr lang="en-US" altLang="zh-CN" sz="2400" dirty="0"/>
              <a:t>3.10]</a:t>
            </a:r>
            <a:r>
              <a:rPr lang="zh-CN" altLang="en-US" sz="2400" dirty="0"/>
              <a:t> 增加课程名称必须取唯一值的约束条件。</a:t>
            </a:r>
          </a:p>
          <a:p>
            <a:pPr>
              <a:lnSpc>
                <a:spcPct val="140000"/>
              </a:lnSpc>
              <a:spcBef>
                <a:spcPct val="0"/>
              </a:spcBef>
              <a:buNone/>
            </a:pPr>
            <a:r>
              <a:rPr lang="zh-CN" altLang="en-US" sz="2000" dirty="0"/>
              <a:t>    		</a:t>
            </a:r>
            <a:r>
              <a:rPr lang="en-US" altLang="zh-CN" sz="2400" dirty="0">
                <a:solidFill>
                  <a:srgbClr val="FF0000"/>
                </a:solidFill>
              </a:rPr>
              <a:t>ALTER TABLE Course </a:t>
            </a:r>
            <a:r>
              <a:rPr lang="en-US" altLang="zh-CN" sz="2400" u="sng" dirty="0"/>
              <a:t>ADD UNIQUE</a:t>
            </a:r>
            <a:r>
              <a:rPr lang="zh-CN" altLang="en-US" sz="2400" u="sng" dirty="0"/>
              <a:t>(</a:t>
            </a:r>
            <a:r>
              <a:rPr lang="en-US" altLang="zh-CN" sz="2400" u="sng" dirty="0" err="1"/>
              <a:t>Cname</a:t>
            </a:r>
            <a:r>
              <a:rPr lang="zh-CN" altLang="en-US" sz="2400" u="sng" dirty="0"/>
              <a:t>)</a:t>
            </a:r>
            <a:r>
              <a:rPr lang="en-US" altLang="zh-CN" sz="2400" u="sng" dirty="0"/>
              <a:t>; </a:t>
            </a:r>
            <a:endParaRPr lang="en-US" altLang="zh-CN" sz="2400" u="sng" dirty="0" smtClean="0"/>
          </a:p>
          <a:p>
            <a:pPr>
              <a:lnSpc>
                <a:spcPct val="140000"/>
              </a:lnSpc>
              <a:spcBef>
                <a:spcPct val="0"/>
              </a:spcBef>
              <a:buNone/>
            </a:pPr>
            <a:endParaRPr lang="en-US" altLang="zh-CN" sz="2400" dirty="0"/>
          </a:p>
          <a:p>
            <a:pPr>
              <a:lnSpc>
                <a:spcPct val="140000"/>
              </a:lnSpc>
              <a:spcBef>
                <a:spcPct val="0"/>
              </a:spcBef>
              <a:buNone/>
            </a:pPr>
            <a:endParaRPr lang="en-US" altLang="zh-CN" sz="2400" dirty="0"/>
          </a:p>
          <a:p>
            <a:pPr lvl="1" eaLnBrk="1" hangingPunct="1">
              <a:lnSpc>
                <a:spcPct val="140000"/>
              </a:lnSpc>
              <a:spcBef>
                <a:spcPct val="0"/>
              </a:spcBef>
              <a:buFont typeface="Wingdings" panose="05000000000000000000" pitchFamily="2" charset="2"/>
              <a:buNone/>
            </a:pPr>
            <a:endParaRPr lang="zh-CN" altLang="en-US" b="0" dirty="0" smtClean="0">
              <a:latin typeface="Courier New" panose="02070309020205020404" pitchFamily="49" charset="0"/>
            </a:endParaRPr>
          </a:p>
        </p:txBody>
      </p:sp>
    </p:spTree>
    <p:extLst>
      <p:ext uri="{BB962C8B-B14F-4D97-AF65-F5344CB8AC3E}">
        <p14:creationId xmlns:p14="http://schemas.microsoft.com/office/powerpoint/2010/main" val="251501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131">
                                            <p:txEl>
                                              <p:pRg st="2" end="2"/>
                                            </p:txEl>
                                          </p:spTgt>
                                        </p:tgtEl>
                                        <p:attrNameLst>
                                          <p:attrName>style.visibility</p:attrName>
                                        </p:attrNameLst>
                                      </p:cBhvr>
                                      <p:to>
                                        <p:strVal val="visible"/>
                                      </p:to>
                                    </p:set>
                                    <p:animEffect transition="in" filter="fade">
                                      <p:cBhvr>
                                        <p:cTn id="7" dur="500"/>
                                        <p:tgtEl>
                                          <p:spTgt spid="48131">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8131">
                                            <p:txEl>
                                              <p:pRg st="3" end="3"/>
                                            </p:txEl>
                                          </p:spTgt>
                                        </p:tgtEl>
                                        <p:attrNameLst>
                                          <p:attrName>style.visibility</p:attrName>
                                        </p:attrNameLst>
                                      </p:cBhvr>
                                      <p:to>
                                        <p:strVal val="visible"/>
                                      </p:to>
                                    </p:set>
                                    <p:animEffect transition="in" filter="fade">
                                      <p:cBhvr>
                                        <p:cTn id="10" dur="500"/>
                                        <p:tgtEl>
                                          <p:spTgt spid="4813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48131">
                                            <p:txEl>
                                              <p:pRg st="6" end="6"/>
                                            </p:txEl>
                                          </p:spTgt>
                                        </p:tgtEl>
                                        <p:attrNameLst>
                                          <p:attrName>style.visibility</p:attrName>
                                        </p:attrNameLst>
                                      </p:cBhvr>
                                      <p:to>
                                        <p:strVal val="visible"/>
                                      </p:to>
                                    </p:set>
                                    <p:animEffect transition="in" filter="fade">
                                      <p:cBhvr>
                                        <p:cTn id="15" dur="1000"/>
                                        <p:tgtEl>
                                          <p:spTgt spid="48131">
                                            <p:txEl>
                                              <p:pRg st="6" end="6"/>
                                            </p:txEl>
                                          </p:spTgt>
                                        </p:tgtEl>
                                      </p:cBhvr>
                                    </p:animEffect>
                                    <p:anim calcmode="lin" valueType="num">
                                      <p:cBhvr>
                                        <p:cTn id="16" dur="1000" fill="hold"/>
                                        <p:tgtEl>
                                          <p:spTgt spid="48131">
                                            <p:txEl>
                                              <p:pRg st="6" end="6"/>
                                            </p:txEl>
                                          </p:spTgt>
                                        </p:tgtEl>
                                        <p:attrNameLst>
                                          <p:attrName>ppt_x</p:attrName>
                                        </p:attrNameLst>
                                      </p:cBhvr>
                                      <p:tavLst>
                                        <p:tav tm="0">
                                          <p:val>
                                            <p:strVal val="#ppt_x"/>
                                          </p:val>
                                        </p:tav>
                                        <p:tav tm="100000">
                                          <p:val>
                                            <p:strVal val="#ppt_x"/>
                                          </p:val>
                                        </p:tav>
                                      </p:tavLst>
                                    </p:anim>
                                    <p:anim calcmode="lin" valueType="num">
                                      <p:cBhvr>
                                        <p:cTn id="17" dur="1000" fill="hold"/>
                                        <p:tgtEl>
                                          <p:spTgt spid="4813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smtClean="0"/>
              <a:t>修改基本表（续）</a:t>
            </a:r>
          </a:p>
        </p:txBody>
      </p:sp>
      <p:sp>
        <p:nvSpPr>
          <p:cNvPr id="48131" name="Rectangle 3"/>
          <p:cNvSpPr>
            <a:spLocks noGrp="1" noChangeArrowheads="1"/>
          </p:cNvSpPr>
          <p:nvPr>
            <p:ph type="body" idx="4294967295"/>
          </p:nvPr>
        </p:nvSpPr>
        <p:spPr>
          <a:xfrm>
            <a:off x="0" y="1098550"/>
            <a:ext cx="8820150" cy="5467007"/>
          </a:xfrm>
        </p:spPr>
        <p:txBody>
          <a:bodyPr>
            <a:normAutofit/>
          </a:bodyPr>
          <a:lstStyle/>
          <a:p>
            <a:pPr>
              <a:lnSpc>
                <a:spcPct val="140000"/>
              </a:lnSpc>
              <a:spcBef>
                <a:spcPct val="0"/>
              </a:spcBef>
              <a:buNone/>
            </a:pPr>
            <a:r>
              <a:rPr lang="en-US" altLang="zh-CN" sz="2400" dirty="0" smtClean="0"/>
              <a:t>[</a:t>
            </a:r>
            <a:r>
              <a:rPr lang="zh-CN" altLang="en-US" sz="2400" dirty="0" smtClean="0"/>
              <a:t>例</a:t>
            </a:r>
            <a:r>
              <a:rPr lang="en-US" altLang="zh-CN" sz="2400" dirty="0" smtClean="0"/>
              <a:t>]</a:t>
            </a:r>
            <a:r>
              <a:rPr lang="zh-CN" altLang="en-US" sz="2400" dirty="0" smtClean="0"/>
              <a:t> </a:t>
            </a:r>
            <a:r>
              <a:rPr lang="zh-CN" altLang="en-US" sz="2400" dirty="0"/>
              <a:t>将年龄的数据类型由字符型（假设原来的数据类型是字符型）改为整数。</a:t>
            </a:r>
          </a:p>
          <a:p>
            <a:pPr>
              <a:lnSpc>
                <a:spcPct val="140000"/>
              </a:lnSpc>
              <a:spcBef>
                <a:spcPct val="0"/>
              </a:spcBef>
              <a:buNone/>
            </a:pPr>
            <a:r>
              <a:rPr lang="zh-CN" altLang="en-US" sz="2000" dirty="0"/>
              <a:t>    		</a:t>
            </a:r>
            <a:r>
              <a:rPr lang="en-US" altLang="zh-CN" sz="2400" dirty="0">
                <a:solidFill>
                  <a:srgbClr val="FF0000"/>
                </a:solidFill>
              </a:rPr>
              <a:t>ALTER TABLE Student </a:t>
            </a:r>
            <a:r>
              <a:rPr lang="en-US" altLang="zh-CN" sz="2400" u="sng" dirty="0"/>
              <a:t>ALTER COLUMN Sage INT</a:t>
            </a:r>
            <a:r>
              <a:rPr lang="zh-CN" altLang="en-US" sz="2400" u="sng" dirty="0"/>
              <a:t>;</a:t>
            </a:r>
            <a:endParaRPr lang="en-US" altLang="zh-CN" sz="2400" u="sng" dirty="0"/>
          </a:p>
          <a:p>
            <a:pPr>
              <a:lnSpc>
                <a:spcPct val="140000"/>
              </a:lnSpc>
              <a:spcBef>
                <a:spcPct val="0"/>
              </a:spcBef>
              <a:buNone/>
            </a:pPr>
            <a:r>
              <a:rPr lang="en-US" altLang="zh-CN" sz="2400" dirty="0" smtClean="0"/>
              <a:t>      </a:t>
            </a:r>
          </a:p>
          <a:p>
            <a:pPr>
              <a:lnSpc>
                <a:spcPct val="140000"/>
              </a:lnSpc>
              <a:spcBef>
                <a:spcPct val="0"/>
              </a:spcBef>
              <a:buNone/>
            </a:pPr>
            <a:r>
              <a:rPr lang="en-US" altLang="zh-CN" sz="2400" dirty="0" smtClean="0">
                <a:solidFill>
                  <a:srgbClr val="FF0000"/>
                </a:solidFill>
              </a:rPr>
              <a:t>MYSQL</a:t>
            </a:r>
            <a:r>
              <a:rPr lang="zh-CN" altLang="en-US" sz="2400" dirty="0" smtClean="0">
                <a:solidFill>
                  <a:srgbClr val="FF0000"/>
                </a:solidFill>
              </a:rPr>
              <a:t>采用格式：</a:t>
            </a:r>
            <a:endParaRPr lang="en-US" altLang="zh-CN" sz="2400" dirty="0" smtClean="0">
              <a:solidFill>
                <a:srgbClr val="FF0000"/>
              </a:solidFill>
            </a:endParaRPr>
          </a:p>
          <a:p>
            <a:pPr>
              <a:lnSpc>
                <a:spcPct val="140000"/>
              </a:lnSpc>
              <a:spcBef>
                <a:spcPct val="0"/>
              </a:spcBef>
              <a:buNone/>
            </a:pPr>
            <a:r>
              <a:rPr lang="en-US" altLang="zh-CN" sz="2400" dirty="0" smtClean="0">
                <a:solidFill>
                  <a:srgbClr val="FF0000"/>
                </a:solidFill>
              </a:rPr>
              <a:t> ALTER </a:t>
            </a:r>
            <a:r>
              <a:rPr lang="en-US" altLang="zh-CN" sz="2400" dirty="0">
                <a:solidFill>
                  <a:srgbClr val="FF0000"/>
                </a:solidFill>
              </a:rPr>
              <a:t>TABLE </a:t>
            </a:r>
            <a:r>
              <a:rPr lang="en-US" altLang="zh-CN" sz="2400" dirty="0" err="1" smtClean="0">
                <a:solidFill>
                  <a:srgbClr val="FF0000"/>
                </a:solidFill>
              </a:rPr>
              <a:t>table_name</a:t>
            </a:r>
            <a:r>
              <a:rPr lang="en-US" altLang="zh-CN" sz="2400" dirty="0" smtClean="0">
                <a:solidFill>
                  <a:srgbClr val="FF0000"/>
                </a:solidFill>
              </a:rPr>
              <a:t> </a:t>
            </a:r>
            <a:r>
              <a:rPr lang="en-US" altLang="zh-CN" sz="2400" dirty="0">
                <a:solidFill>
                  <a:srgbClr val="FF0000"/>
                </a:solidFill>
              </a:rPr>
              <a:t>MODIFY </a:t>
            </a:r>
            <a:r>
              <a:rPr lang="en-US" altLang="zh-CN" sz="2400" dirty="0" err="1">
                <a:solidFill>
                  <a:srgbClr val="FF0000"/>
                </a:solidFill>
              </a:rPr>
              <a:t>column_name</a:t>
            </a:r>
            <a:r>
              <a:rPr lang="en-US" altLang="zh-CN" sz="2400" dirty="0">
                <a:solidFill>
                  <a:srgbClr val="FF0000"/>
                </a:solidFill>
              </a:rPr>
              <a:t> datatype; </a:t>
            </a:r>
          </a:p>
          <a:p>
            <a:pPr>
              <a:lnSpc>
                <a:spcPct val="140000"/>
              </a:lnSpc>
              <a:spcBef>
                <a:spcPct val="0"/>
              </a:spcBef>
              <a:buNone/>
            </a:pPr>
            <a:r>
              <a:rPr lang="en-US" altLang="zh-CN" sz="2400" dirty="0" smtClean="0">
                <a:solidFill>
                  <a:srgbClr val="FF0000"/>
                </a:solidFill>
              </a:rPr>
              <a:t> ALTER </a:t>
            </a:r>
            <a:r>
              <a:rPr lang="en-US" altLang="zh-CN" sz="2400" dirty="0">
                <a:solidFill>
                  <a:srgbClr val="FF0000"/>
                </a:solidFill>
              </a:rPr>
              <a:t>TABLE </a:t>
            </a:r>
            <a:r>
              <a:rPr lang="en-US" altLang="zh-CN" sz="2400" dirty="0"/>
              <a:t>Student</a:t>
            </a:r>
            <a:r>
              <a:rPr lang="en-US" altLang="zh-CN" sz="2400" dirty="0" smtClean="0">
                <a:solidFill>
                  <a:srgbClr val="FF0000"/>
                </a:solidFill>
              </a:rPr>
              <a:t> </a:t>
            </a:r>
            <a:r>
              <a:rPr lang="en-US" altLang="zh-CN" sz="2400" dirty="0">
                <a:solidFill>
                  <a:srgbClr val="FF0000"/>
                </a:solidFill>
              </a:rPr>
              <a:t>MODIFY </a:t>
            </a:r>
            <a:r>
              <a:rPr lang="en-US" altLang="zh-CN" sz="2400" dirty="0"/>
              <a:t>Sage INT</a:t>
            </a:r>
            <a:r>
              <a:rPr lang="en-US" altLang="zh-CN" sz="2400" dirty="0" smtClean="0">
                <a:solidFill>
                  <a:srgbClr val="FF0000"/>
                </a:solidFill>
              </a:rPr>
              <a:t>; </a:t>
            </a:r>
            <a:endParaRPr lang="en-US" altLang="zh-CN" sz="2400" dirty="0">
              <a:solidFill>
                <a:srgbClr val="FF0000"/>
              </a:solidFill>
            </a:endParaRPr>
          </a:p>
          <a:p>
            <a:pPr>
              <a:lnSpc>
                <a:spcPct val="140000"/>
              </a:lnSpc>
              <a:spcBef>
                <a:spcPct val="0"/>
              </a:spcBef>
              <a:buNone/>
            </a:pPr>
            <a:endParaRPr lang="zh-CN" altLang="en-US" sz="2400" dirty="0"/>
          </a:p>
          <a:p>
            <a:pPr>
              <a:lnSpc>
                <a:spcPct val="140000"/>
              </a:lnSpc>
              <a:spcBef>
                <a:spcPct val="0"/>
              </a:spcBef>
              <a:buNone/>
            </a:pPr>
            <a:r>
              <a:rPr lang="en-US" altLang="zh-CN" sz="2400" dirty="0" smtClean="0"/>
              <a:t>[</a:t>
            </a:r>
            <a:r>
              <a:rPr lang="zh-CN" altLang="en-US" sz="2400" dirty="0" smtClean="0"/>
              <a:t>例</a:t>
            </a:r>
            <a:r>
              <a:rPr lang="en-US" altLang="zh-CN" sz="2400" dirty="0" smtClean="0"/>
              <a:t>]</a:t>
            </a:r>
            <a:r>
              <a:rPr lang="zh-CN" altLang="en-US" sz="2400" dirty="0" smtClean="0"/>
              <a:t> 从学生表格删除性别列</a:t>
            </a:r>
            <a:endParaRPr lang="en-US" altLang="zh-CN" sz="2400" dirty="0" smtClean="0"/>
          </a:p>
          <a:p>
            <a:pPr>
              <a:lnSpc>
                <a:spcPct val="140000"/>
              </a:lnSpc>
              <a:spcBef>
                <a:spcPct val="0"/>
              </a:spcBef>
              <a:buNone/>
            </a:pPr>
            <a:r>
              <a:rPr lang="en-US" altLang="zh-CN" sz="2400" dirty="0" smtClean="0"/>
              <a:t>ALTER </a:t>
            </a:r>
            <a:r>
              <a:rPr lang="en-US" altLang="zh-CN" sz="2400" dirty="0"/>
              <a:t>TABLE Student</a:t>
            </a:r>
            <a:r>
              <a:rPr lang="en-US" altLang="zh-CN" sz="2400" dirty="0" smtClean="0"/>
              <a:t> </a:t>
            </a:r>
            <a:r>
              <a:rPr lang="en-US" altLang="zh-CN" sz="2400" dirty="0"/>
              <a:t>DROP </a:t>
            </a:r>
            <a:r>
              <a:rPr lang="en-US" altLang="zh-CN" sz="2400" b="1" dirty="0" err="1" smtClean="0"/>
              <a:t>Ssex</a:t>
            </a:r>
            <a:r>
              <a:rPr lang="en-US" altLang="zh-CN" sz="2400" dirty="0" smtClean="0"/>
              <a:t>; </a:t>
            </a:r>
            <a:endParaRPr lang="en-US" altLang="zh-CN" sz="2400" dirty="0"/>
          </a:p>
          <a:p>
            <a:pPr>
              <a:lnSpc>
                <a:spcPct val="140000"/>
              </a:lnSpc>
              <a:spcBef>
                <a:spcPct val="0"/>
              </a:spcBef>
              <a:buNone/>
            </a:pPr>
            <a:endParaRPr lang="en-US" altLang="zh-CN" sz="2400" dirty="0"/>
          </a:p>
          <a:p>
            <a:pPr>
              <a:lnSpc>
                <a:spcPct val="140000"/>
              </a:lnSpc>
              <a:spcBef>
                <a:spcPct val="0"/>
              </a:spcBef>
              <a:buNone/>
            </a:pPr>
            <a:endParaRPr lang="en-US" altLang="zh-CN" sz="2400" dirty="0"/>
          </a:p>
          <a:p>
            <a:pPr>
              <a:lnSpc>
                <a:spcPct val="140000"/>
              </a:lnSpc>
              <a:spcBef>
                <a:spcPct val="0"/>
              </a:spcBef>
              <a:buNone/>
            </a:pPr>
            <a:endParaRPr lang="en-US" altLang="zh-CN" sz="2400" dirty="0"/>
          </a:p>
          <a:p>
            <a:pPr lvl="1" eaLnBrk="1" hangingPunct="1">
              <a:lnSpc>
                <a:spcPct val="140000"/>
              </a:lnSpc>
              <a:spcBef>
                <a:spcPct val="0"/>
              </a:spcBef>
              <a:buFont typeface="Wingdings" panose="05000000000000000000" pitchFamily="2" charset="2"/>
              <a:buNone/>
            </a:pPr>
            <a:endParaRPr lang="zh-CN" altLang="en-US" b="0" dirty="0" smtClean="0">
              <a:latin typeface="Courier New" panose="02070309020205020404" pitchFamily="49" charset="0"/>
            </a:endParaRPr>
          </a:p>
        </p:txBody>
      </p:sp>
    </p:spTree>
    <p:extLst>
      <p:ext uri="{BB962C8B-B14F-4D97-AF65-F5344CB8AC3E}">
        <p14:creationId xmlns:p14="http://schemas.microsoft.com/office/powerpoint/2010/main" val="8353058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5" name="Group 1055"/>
          <p:cNvGrpSpPr>
            <a:grpSpLocks/>
          </p:cNvGrpSpPr>
          <p:nvPr/>
        </p:nvGrpSpPr>
        <p:grpSpPr bwMode="auto">
          <a:xfrm>
            <a:off x="755650" y="2036763"/>
            <a:ext cx="7561263" cy="3816350"/>
            <a:chOff x="0" y="0"/>
            <a:chExt cx="4763" cy="2404"/>
          </a:xfrm>
        </p:grpSpPr>
        <p:sp>
          <p:nvSpPr>
            <p:cNvPr id="18437" name="Rectangle 1028"/>
            <p:cNvSpPr>
              <a:spLocks noChangeArrowheads="1"/>
            </p:cNvSpPr>
            <p:nvPr/>
          </p:nvSpPr>
          <p:spPr bwMode="auto">
            <a:xfrm>
              <a:off x="1134" y="0"/>
              <a:ext cx="725" cy="363"/>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SQL</a:t>
              </a:r>
            </a:p>
          </p:txBody>
        </p:sp>
        <p:sp>
          <p:nvSpPr>
            <p:cNvPr id="18438" name="Rectangle 1029"/>
            <p:cNvSpPr>
              <a:spLocks noChangeArrowheads="1"/>
            </p:cNvSpPr>
            <p:nvPr/>
          </p:nvSpPr>
          <p:spPr bwMode="auto">
            <a:xfrm>
              <a:off x="2812" y="680"/>
              <a:ext cx="725" cy="363"/>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视图</a:t>
              </a:r>
              <a:r>
                <a:rPr lang="en-US" altLang="zh-CN" b="1"/>
                <a:t>2</a:t>
              </a:r>
            </a:p>
          </p:txBody>
        </p:sp>
        <p:sp>
          <p:nvSpPr>
            <p:cNvPr id="18439" name="Rectangle 1030"/>
            <p:cNvSpPr>
              <a:spLocks noChangeArrowheads="1"/>
            </p:cNvSpPr>
            <p:nvPr/>
          </p:nvSpPr>
          <p:spPr bwMode="auto">
            <a:xfrm>
              <a:off x="1134" y="680"/>
              <a:ext cx="725" cy="363"/>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FF0000"/>
                  </a:solidFill>
                </a:rPr>
                <a:t>视图</a:t>
              </a:r>
              <a:r>
                <a:rPr lang="en-US" altLang="zh-CN" b="1" dirty="0"/>
                <a:t>1</a:t>
              </a:r>
            </a:p>
          </p:txBody>
        </p:sp>
        <p:sp>
          <p:nvSpPr>
            <p:cNvPr id="18440" name="Rectangle 1031"/>
            <p:cNvSpPr>
              <a:spLocks noChangeArrowheads="1"/>
            </p:cNvSpPr>
            <p:nvPr/>
          </p:nvSpPr>
          <p:spPr bwMode="auto">
            <a:xfrm>
              <a:off x="1179" y="1361"/>
              <a:ext cx="725" cy="363"/>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基本表</a:t>
              </a:r>
              <a:r>
                <a:rPr lang="en-US" altLang="zh-CN" b="1"/>
                <a:t>2</a:t>
              </a:r>
            </a:p>
          </p:txBody>
        </p:sp>
        <p:sp>
          <p:nvSpPr>
            <p:cNvPr id="18441" name="Rectangle 1032"/>
            <p:cNvSpPr>
              <a:spLocks noChangeArrowheads="1"/>
            </p:cNvSpPr>
            <p:nvPr/>
          </p:nvSpPr>
          <p:spPr bwMode="auto">
            <a:xfrm>
              <a:off x="90" y="1361"/>
              <a:ext cx="725" cy="363"/>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FF0000"/>
                  </a:solidFill>
                </a:rPr>
                <a:t>基本表</a:t>
              </a:r>
              <a:r>
                <a:rPr lang="en-US" altLang="zh-CN" b="1" dirty="0"/>
                <a:t>1</a:t>
              </a:r>
            </a:p>
          </p:txBody>
        </p:sp>
        <p:sp>
          <p:nvSpPr>
            <p:cNvPr id="18442" name="Rectangle 1033"/>
            <p:cNvSpPr>
              <a:spLocks noChangeArrowheads="1"/>
            </p:cNvSpPr>
            <p:nvPr/>
          </p:nvSpPr>
          <p:spPr bwMode="auto">
            <a:xfrm>
              <a:off x="2268" y="1361"/>
              <a:ext cx="725" cy="363"/>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基本表</a:t>
              </a:r>
              <a:r>
                <a:rPr lang="en-US" altLang="zh-CN" b="1"/>
                <a:t>3</a:t>
              </a:r>
            </a:p>
          </p:txBody>
        </p:sp>
        <p:sp>
          <p:nvSpPr>
            <p:cNvPr id="18443" name="Rectangle 1034"/>
            <p:cNvSpPr>
              <a:spLocks noChangeArrowheads="1"/>
            </p:cNvSpPr>
            <p:nvPr/>
          </p:nvSpPr>
          <p:spPr bwMode="auto">
            <a:xfrm>
              <a:off x="3311" y="1361"/>
              <a:ext cx="725" cy="363"/>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基本表</a:t>
              </a:r>
              <a:r>
                <a:rPr lang="en-US" altLang="zh-CN" b="1"/>
                <a:t>4</a:t>
              </a:r>
            </a:p>
          </p:txBody>
        </p:sp>
        <p:sp>
          <p:nvSpPr>
            <p:cNvPr id="18444" name="Rectangle 1035"/>
            <p:cNvSpPr>
              <a:spLocks noChangeArrowheads="1"/>
            </p:cNvSpPr>
            <p:nvPr/>
          </p:nvSpPr>
          <p:spPr bwMode="auto">
            <a:xfrm>
              <a:off x="3311" y="1996"/>
              <a:ext cx="748" cy="363"/>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存储文件</a:t>
              </a:r>
              <a:r>
                <a:rPr lang="en-US" altLang="zh-CN" b="1"/>
                <a:t>2</a:t>
              </a:r>
            </a:p>
          </p:txBody>
        </p:sp>
        <p:sp>
          <p:nvSpPr>
            <p:cNvPr id="18445" name="Rectangle 1036"/>
            <p:cNvSpPr>
              <a:spLocks noChangeArrowheads="1"/>
            </p:cNvSpPr>
            <p:nvPr/>
          </p:nvSpPr>
          <p:spPr bwMode="auto">
            <a:xfrm>
              <a:off x="1179" y="2041"/>
              <a:ext cx="748" cy="363"/>
            </a:xfrm>
            <a:prstGeom prst="rect">
              <a:avLst/>
            </a:prstGeom>
            <a:gradFill rotWithShape="0">
              <a:gsLst>
                <a:gs pos="0">
                  <a:srgbClr val="FFFFFF"/>
                </a:gs>
                <a:gs pos="100000">
                  <a:srgbClr val="BBBBBB"/>
                </a:gs>
              </a:gsLst>
              <a:lin ang="5400000" scaled="1"/>
            </a:gradFill>
            <a:ln w="25400">
              <a:solidFill>
                <a:schemeClr val="tx1"/>
              </a:solidFill>
              <a:miter lim="800000"/>
              <a:headEnd/>
              <a:tailEnd/>
            </a:ln>
          </p:spPr>
          <p:txBody>
            <a:bodyPr wrap="none"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FF0000"/>
                  </a:solidFill>
                </a:rPr>
                <a:t>存储文件</a:t>
              </a:r>
              <a:r>
                <a:rPr lang="en-US" altLang="zh-CN" b="1" dirty="0"/>
                <a:t>1</a:t>
              </a:r>
            </a:p>
          </p:txBody>
        </p:sp>
        <p:sp>
          <p:nvSpPr>
            <p:cNvPr id="18446" name="Line 1037"/>
            <p:cNvSpPr>
              <a:spLocks noChangeShapeType="1"/>
            </p:cNvSpPr>
            <p:nvPr/>
          </p:nvSpPr>
          <p:spPr bwMode="auto">
            <a:xfrm flipH="1">
              <a:off x="272" y="363"/>
              <a:ext cx="998" cy="998"/>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7" name="Line 1038"/>
            <p:cNvSpPr>
              <a:spLocks noChangeShapeType="1"/>
            </p:cNvSpPr>
            <p:nvPr/>
          </p:nvSpPr>
          <p:spPr bwMode="auto">
            <a:xfrm>
              <a:off x="1451" y="363"/>
              <a:ext cx="0" cy="317"/>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8" name="Line 1039"/>
            <p:cNvSpPr>
              <a:spLocks noChangeShapeType="1"/>
            </p:cNvSpPr>
            <p:nvPr/>
          </p:nvSpPr>
          <p:spPr bwMode="auto">
            <a:xfrm>
              <a:off x="1451" y="1043"/>
              <a:ext cx="0" cy="317"/>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9" name="Line 1040"/>
            <p:cNvSpPr>
              <a:spLocks noChangeShapeType="1"/>
            </p:cNvSpPr>
            <p:nvPr/>
          </p:nvSpPr>
          <p:spPr bwMode="auto">
            <a:xfrm>
              <a:off x="1451" y="1723"/>
              <a:ext cx="0" cy="318"/>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0" name="Line 1043"/>
            <p:cNvSpPr>
              <a:spLocks noChangeShapeType="1"/>
            </p:cNvSpPr>
            <p:nvPr/>
          </p:nvSpPr>
          <p:spPr bwMode="auto">
            <a:xfrm>
              <a:off x="1724" y="363"/>
              <a:ext cx="1315" cy="317"/>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1" name="Line 1044"/>
            <p:cNvSpPr>
              <a:spLocks noChangeShapeType="1"/>
            </p:cNvSpPr>
            <p:nvPr/>
          </p:nvSpPr>
          <p:spPr bwMode="auto">
            <a:xfrm flipH="1">
              <a:off x="2676" y="1043"/>
              <a:ext cx="318" cy="318"/>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2" name="Line 1045"/>
            <p:cNvSpPr>
              <a:spLocks noChangeShapeType="1"/>
            </p:cNvSpPr>
            <p:nvPr/>
          </p:nvSpPr>
          <p:spPr bwMode="auto">
            <a:xfrm>
              <a:off x="3311" y="1043"/>
              <a:ext cx="499" cy="318"/>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3" name="Line 1046"/>
            <p:cNvSpPr>
              <a:spLocks noChangeShapeType="1"/>
            </p:cNvSpPr>
            <p:nvPr/>
          </p:nvSpPr>
          <p:spPr bwMode="auto">
            <a:xfrm>
              <a:off x="363" y="1723"/>
              <a:ext cx="1043" cy="318"/>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4" name="Line 1047"/>
            <p:cNvSpPr>
              <a:spLocks noChangeShapeType="1"/>
            </p:cNvSpPr>
            <p:nvPr/>
          </p:nvSpPr>
          <p:spPr bwMode="auto">
            <a:xfrm flipH="1">
              <a:off x="1542" y="1723"/>
              <a:ext cx="1089" cy="318"/>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5" name="Line 1048"/>
            <p:cNvSpPr>
              <a:spLocks noChangeShapeType="1"/>
            </p:cNvSpPr>
            <p:nvPr/>
          </p:nvSpPr>
          <p:spPr bwMode="auto">
            <a:xfrm>
              <a:off x="3674" y="1723"/>
              <a:ext cx="0" cy="273"/>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6" name="Line 1049"/>
            <p:cNvSpPr>
              <a:spLocks noChangeShapeType="1"/>
            </p:cNvSpPr>
            <p:nvPr/>
          </p:nvSpPr>
          <p:spPr bwMode="auto">
            <a:xfrm>
              <a:off x="0" y="499"/>
              <a:ext cx="4536" cy="0"/>
            </a:xfrm>
            <a:prstGeom prst="line">
              <a:avLst/>
            </a:prstGeom>
            <a:noFill/>
            <a:ln w="254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7" name="Line 1050"/>
            <p:cNvSpPr>
              <a:spLocks noChangeShapeType="1"/>
            </p:cNvSpPr>
            <p:nvPr/>
          </p:nvSpPr>
          <p:spPr bwMode="auto">
            <a:xfrm>
              <a:off x="21" y="1158"/>
              <a:ext cx="4536" cy="0"/>
            </a:xfrm>
            <a:prstGeom prst="line">
              <a:avLst/>
            </a:prstGeom>
            <a:noFill/>
            <a:ln w="254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8" name="Line 1051"/>
            <p:cNvSpPr>
              <a:spLocks noChangeShapeType="1"/>
            </p:cNvSpPr>
            <p:nvPr/>
          </p:nvSpPr>
          <p:spPr bwMode="auto">
            <a:xfrm>
              <a:off x="21" y="1890"/>
              <a:ext cx="4536" cy="0"/>
            </a:xfrm>
            <a:prstGeom prst="line">
              <a:avLst/>
            </a:prstGeom>
            <a:noFill/>
            <a:ln w="254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9" name="Text Box 1052"/>
            <p:cNvSpPr txBox="1">
              <a:spLocks noChangeArrowheads="1"/>
            </p:cNvSpPr>
            <p:nvPr/>
          </p:nvSpPr>
          <p:spPr bwMode="auto">
            <a:xfrm>
              <a:off x="4037" y="771"/>
              <a:ext cx="6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latin typeface="Times New Roman" panose="02020603050405020304" pitchFamily="18" charset="0"/>
                </a:rPr>
                <a:t>外模式</a:t>
              </a:r>
            </a:p>
          </p:txBody>
        </p:sp>
        <p:sp>
          <p:nvSpPr>
            <p:cNvPr id="18460" name="Text Box 1053"/>
            <p:cNvSpPr txBox="1">
              <a:spLocks noChangeArrowheads="1"/>
            </p:cNvSpPr>
            <p:nvPr/>
          </p:nvSpPr>
          <p:spPr bwMode="auto">
            <a:xfrm>
              <a:off x="4037" y="1406"/>
              <a:ext cx="6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latin typeface="Times New Roman" panose="02020603050405020304" pitchFamily="18" charset="0"/>
                </a:rPr>
                <a:t>模 式</a:t>
              </a:r>
            </a:p>
          </p:txBody>
        </p:sp>
        <p:sp>
          <p:nvSpPr>
            <p:cNvPr id="18461" name="Text Box 1054"/>
            <p:cNvSpPr txBox="1">
              <a:spLocks noChangeArrowheads="1"/>
            </p:cNvSpPr>
            <p:nvPr/>
          </p:nvSpPr>
          <p:spPr bwMode="auto">
            <a:xfrm>
              <a:off x="4082" y="2086"/>
              <a:ext cx="6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latin typeface="Times New Roman" panose="02020603050405020304" pitchFamily="18" charset="0"/>
                </a:rPr>
                <a:t>内模式</a:t>
              </a:r>
            </a:p>
          </p:txBody>
        </p:sp>
      </p:grpSp>
      <p:sp>
        <p:nvSpPr>
          <p:cNvPr id="18436" name="Rectangle 1056"/>
          <p:cNvSpPr>
            <a:spLocks noChangeArrowheads="1"/>
          </p:cNvSpPr>
          <p:nvPr/>
        </p:nvSpPr>
        <p:spPr bwMode="auto">
          <a:xfrm>
            <a:off x="457200" y="1098550"/>
            <a:ext cx="5535613"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20000"/>
              </a:spcBef>
              <a:buClr>
                <a:schemeClr val="hlink"/>
              </a:buClr>
              <a:buFont typeface="Wingdings" panose="05000000000000000000" pitchFamily="2" charset="2"/>
              <a:buNone/>
            </a:pPr>
            <a:r>
              <a:rPr lang="en-US" altLang="zh-CN" sz="2800" b="1"/>
              <a:t>SQL</a:t>
            </a:r>
            <a:r>
              <a:rPr lang="zh-CN" altLang="en-US" sz="2800" b="1"/>
              <a:t>支持关系数据库三级模式结构</a:t>
            </a:r>
          </a:p>
        </p:txBody>
      </p:sp>
      <p:sp>
        <p:nvSpPr>
          <p:cNvPr id="30" name="Rectangle 2"/>
          <p:cNvSpPr txBox="1">
            <a:spLocks noChangeArrowheads="1"/>
          </p:cNvSpPr>
          <p:nvPr/>
        </p:nvSpPr>
        <p:spPr>
          <a:xfrm>
            <a:off x="723900" y="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altLang="zh-CN" sz="3600" dirty="0" smtClean="0"/>
              <a:t>4.  </a:t>
            </a:r>
            <a:r>
              <a:rPr lang="zh-CN" altLang="en-US" sz="3600" dirty="0"/>
              <a:t>视图 （</a:t>
            </a:r>
            <a:r>
              <a:rPr lang="en-US" altLang="zh-CN" sz="3600" dirty="0"/>
              <a:t>view</a:t>
            </a:r>
            <a:r>
              <a:rPr lang="zh-CN" altLang="en-US" sz="3600" dirty="0"/>
              <a:t>）</a:t>
            </a:r>
            <a:endParaRPr lang="zh-CN" altLang="en-US" sz="3600" dirty="0" smtClean="0"/>
          </a:p>
        </p:txBody>
      </p:sp>
    </p:spTree>
    <p:extLst>
      <p:ext uri="{BB962C8B-B14F-4D97-AF65-F5344CB8AC3E}">
        <p14:creationId xmlns:p14="http://schemas.microsoft.com/office/powerpoint/2010/main" val="16628526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p:txBody>
          <a:bodyPr/>
          <a:lstStyle/>
          <a:p>
            <a:pPr eaLnBrk="1" hangingPunct="1"/>
            <a:r>
              <a:rPr lang="en-US" altLang="zh-CN" sz="3600" dirty="0" smtClean="0"/>
              <a:t>4.  </a:t>
            </a:r>
            <a:r>
              <a:rPr lang="zh-CN" altLang="en-US" sz="3600" dirty="0" smtClean="0"/>
              <a:t>视图 （</a:t>
            </a:r>
            <a:r>
              <a:rPr lang="en-US" altLang="zh-CN" sz="3600" dirty="0" smtClean="0"/>
              <a:t>view</a:t>
            </a:r>
            <a:r>
              <a:rPr lang="zh-CN" altLang="en-US" sz="3600" dirty="0" smtClean="0"/>
              <a:t>）</a:t>
            </a:r>
          </a:p>
        </p:txBody>
      </p:sp>
      <p:sp>
        <p:nvSpPr>
          <p:cNvPr id="39939" name="Rectangle 3"/>
          <p:cNvSpPr>
            <a:spLocks noGrp="1" noChangeArrowheads="1"/>
          </p:cNvSpPr>
          <p:nvPr>
            <p:ph type="body" idx="4294967295"/>
          </p:nvPr>
        </p:nvSpPr>
        <p:spPr>
          <a:xfrm>
            <a:off x="684213" y="1268412"/>
            <a:ext cx="7772400" cy="4894643"/>
          </a:xfrm>
        </p:spPr>
        <p:txBody>
          <a:bodyPr>
            <a:normAutofit fontScale="92500"/>
          </a:bodyPr>
          <a:lstStyle/>
          <a:p>
            <a:pPr eaLnBrk="1" hangingPunct="1">
              <a:lnSpc>
                <a:spcPct val="120000"/>
              </a:lnSpc>
            </a:pPr>
            <a:r>
              <a:rPr lang="zh-CN" altLang="en-US" dirty="0" smtClean="0"/>
              <a:t>视图的特点</a:t>
            </a:r>
          </a:p>
          <a:p>
            <a:pPr lvl="1" eaLnBrk="1" hangingPunct="1">
              <a:lnSpc>
                <a:spcPct val="170000"/>
              </a:lnSpc>
            </a:pPr>
            <a:r>
              <a:rPr lang="zh-CN" altLang="en-US" dirty="0" smtClean="0"/>
              <a:t>虚表，是从一个或几个基本表（或视图）导出的表</a:t>
            </a:r>
          </a:p>
          <a:p>
            <a:pPr lvl="1" eaLnBrk="1" hangingPunct="1">
              <a:lnSpc>
                <a:spcPct val="170000"/>
              </a:lnSpc>
              <a:spcBef>
                <a:spcPct val="40000"/>
              </a:spcBef>
            </a:pPr>
            <a:r>
              <a:rPr lang="zh-CN" altLang="en-US" dirty="0" smtClean="0"/>
              <a:t>只存放视图的定义，不存放视图对应的数据</a:t>
            </a:r>
          </a:p>
          <a:p>
            <a:pPr lvl="1" eaLnBrk="1" hangingPunct="1">
              <a:lnSpc>
                <a:spcPct val="170000"/>
              </a:lnSpc>
              <a:spcBef>
                <a:spcPct val="40000"/>
              </a:spcBef>
            </a:pPr>
            <a:r>
              <a:rPr lang="zh-CN" altLang="en-US" dirty="0" smtClean="0"/>
              <a:t>基表中的数据发生变化，从视图中查询出的数据也随之改变</a:t>
            </a:r>
            <a:endParaRPr lang="en-US" altLang="zh-CN" dirty="0" smtClean="0"/>
          </a:p>
          <a:p>
            <a:pPr>
              <a:lnSpc>
                <a:spcPct val="170000"/>
              </a:lnSpc>
              <a:spcBef>
                <a:spcPct val="40000"/>
              </a:spcBef>
            </a:pPr>
            <a:r>
              <a:rPr lang="zh-CN" altLang="en-US" dirty="0" smtClean="0"/>
              <a:t>建立视图</a:t>
            </a:r>
            <a:endParaRPr lang="en-US" altLang="zh-CN" dirty="0" smtClean="0"/>
          </a:p>
          <a:p>
            <a:pPr>
              <a:lnSpc>
                <a:spcPct val="170000"/>
              </a:lnSpc>
              <a:spcBef>
                <a:spcPct val="40000"/>
              </a:spcBef>
            </a:pPr>
            <a:r>
              <a:rPr lang="zh-CN" altLang="en-US" dirty="0" smtClean="0"/>
              <a:t>删除视图</a:t>
            </a:r>
          </a:p>
        </p:txBody>
      </p:sp>
    </p:spTree>
    <p:extLst>
      <p:ext uri="{BB962C8B-B14F-4D97-AF65-F5344CB8AC3E}">
        <p14:creationId xmlns:p14="http://schemas.microsoft.com/office/powerpoint/2010/main" val="29114907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p:txBody>
          <a:bodyPr/>
          <a:lstStyle/>
          <a:p>
            <a:pPr eaLnBrk="1" hangingPunct="1"/>
            <a:r>
              <a:rPr lang="zh-CN" altLang="en-US" sz="3600" dirty="0" smtClean="0"/>
              <a:t>建立视图</a:t>
            </a:r>
          </a:p>
        </p:txBody>
      </p:sp>
      <p:sp>
        <p:nvSpPr>
          <p:cNvPr id="43011" name="Rectangle 3"/>
          <p:cNvSpPr>
            <a:spLocks noGrp="1" noChangeArrowheads="1"/>
          </p:cNvSpPr>
          <p:nvPr>
            <p:ph type="body" idx="4294967295"/>
          </p:nvPr>
        </p:nvSpPr>
        <p:spPr>
          <a:xfrm>
            <a:off x="457200" y="1098550"/>
            <a:ext cx="8229600" cy="5470525"/>
          </a:xfrm>
        </p:spPr>
        <p:txBody>
          <a:bodyPr>
            <a:normAutofit fontScale="92500"/>
          </a:bodyPr>
          <a:lstStyle/>
          <a:p>
            <a:pPr eaLnBrk="1" hangingPunct="1">
              <a:lnSpc>
                <a:spcPct val="120000"/>
              </a:lnSpc>
              <a:spcBef>
                <a:spcPct val="0"/>
              </a:spcBef>
            </a:pPr>
            <a:r>
              <a:rPr lang="zh-CN" altLang="en-US" dirty="0" smtClean="0"/>
              <a:t>语句格式</a:t>
            </a:r>
          </a:p>
          <a:p>
            <a:pPr eaLnBrk="1" hangingPunct="1">
              <a:lnSpc>
                <a:spcPct val="120000"/>
              </a:lnSpc>
              <a:spcBef>
                <a:spcPct val="0"/>
              </a:spcBef>
              <a:buFont typeface="Wingdings" panose="05000000000000000000" pitchFamily="2" charset="2"/>
              <a:buNone/>
            </a:pPr>
            <a:r>
              <a:rPr lang="zh-CN" altLang="en-US" sz="2400" dirty="0" smtClean="0"/>
              <a:t>       </a:t>
            </a:r>
            <a:r>
              <a:rPr lang="en-US" altLang="zh-CN" sz="2400" dirty="0" smtClean="0">
                <a:solidFill>
                  <a:srgbClr val="FF00FF"/>
                </a:solidFill>
              </a:rPr>
              <a:t>CREATE  VIEW</a:t>
            </a:r>
            <a:r>
              <a:rPr lang="en-US" altLang="zh-CN" sz="2400" dirty="0" smtClean="0"/>
              <a:t> </a:t>
            </a:r>
          </a:p>
          <a:p>
            <a:pPr eaLnBrk="1" hangingPunct="1">
              <a:lnSpc>
                <a:spcPct val="120000"/>
              </a:lnSpc>
              <a:spcBef>
                <a:spcPct val="0"/>
              </a:spcBef>
              <a:buFont typeface="Wingdings" panose="05000000000000000000" pitchFamily="2" charset="2"/>
              <a:buNone/>
            </a:pPr>
            <a:r>
              <a:rPr lang="en-US" altLang="zh-CN" sz="2400" dirty="0" smtClean="0"/>
              <a:t>             &lt;</a:t>
            </a:r>
            <a:r>
              <a:rPr lang="zh-CN" altLang="en-US" sz="2400" dirty="0" smtClean="0"/>
              <a:t>视图名</a:t>
            </a:r>
            <a:r>
              <a:rPr lang="en-US" altLang="zh-CN" sz="2400" dirty="0" smtClean="0"/>
              <a:t>&gt;  [</a:t>
            </a:r>
            <a:r>
              <a:rPr lang="zh-CN" altLang="en-US" sz="2400" dirty="0" smtClean="0"/>
              <a:t>(</a:t>
            </a:r>
            <a:r>
              <a:rPr lang="en-US" altLang="zh-CN" sz="2400" dirty="0" smtClean="0"/>
              <a:t>&lt;</a:t>
            </a:r>
            <a:r>
              <a:rPr lang="zh-CN" altLang="en-US" sz="2400" dirty="0" smtClean="0"/>
              <a:t>列名</a:t>
            </a:r>
            <a:r>
              <a:rPr lang="en-US" altLang="zh-CN" sz="2400" dirty="0" smtClean="0"/>
              <a:t>&gt;  [</a:t>
            </a:r>
            <a:r>
              <a:rPr lang="zh-CN" altLang="en-US" sz="2400" dirty="0" smtClean="0"/>
              <a:t>,</a:t>
            </a:r>
            <a:r>
              <a:rPr lang="en-US" altLang="zh-CN" sz="2400" dirty="0" smtClean="0"/>
              <a:t>&lt;</a:t>
            </a:r>
            <a:r>
              <a:rPr lang="zh-CN" altLang="en-US" sz="2400" dirty="0" smtClean="0"/>
              <a:t>列名</a:t>
            </a:r>
            <a:r>
              <a:rPr lang="en-US" altLang="zh-CN" sz="2400" dirty="0" smtClean="0"/>
              <a:t>&gt;]…</a:t>
            </a:r>
            <a:r>
              <a:rPr lang="zh-CN" altLang="en-US" sz="2400" dirty="0" smtClean="0"/>
              <a:t>)</a:t>
            </a:r>
            <a:r>
              <a:rPr lang="en-US" altLang="zh-CN" sz="2400" dirty="0" smtClean="0"/>
              <a:t>]</a:t>
            </a:r>
          </a:p>
          <a:p>
            <a:pPr lvl="1">
              <a:buNone/>
            </a:pPr>
            <a:r>
              <a:rPr lang="en-US" altLang="zh-CN" sz="2400" dirty="0" smtClean="0">
                <a:solidFill>
                  <a:srgbClr val="FF3399"/>
                </a:solidFill>
              </a:rPr>
              <a:t>       </a:t>
            </a:r>
            <a:r>
              <a:rPr lang="en-US" altLang="zh-CN" sz="2400" dirty="0" smtClean="0">
                <a:solidFill>
                  <a:srgbClr val="FF00FF"/>
                </a:solidFill>
              </a:rPr>
              <a:t>AS</a:t>
            </a:r>
            <a:r>
              <a:rPr lang="en-US" altLang="zh-CN" sz="2400" dirty="0" smtClean="0"/>
              <a:t>  </a:t>
            </a:r>
          </a:p>
          <a:p>
            <a:pPr lvl="1">
              <a:buNone/>
            </a:pPr>
            <a:r>
              <a:rPr lang="en-US" altLang="zh-CN" sz="2400" dirty="0" smtClean="0"/>
              <a:t>&lt;</a:t>
            </a:r>
            <a:r>
              <a:rPr lang="zh-CN" altLang="en-US" sz="2400" dirty="0" smtClean="0"/>
              <a:t>子查询，</a:t>
            </a:r>
            <a:endParaRPr lang="en-US" altLang="zh-CN" sz="2400" dirty="0" smtClean="0"/>
          </a:p>
          <a:p>
            <a:pPr lvl="1">
              <a:buNone/>
            </a:pPr>
            <a:r>
              <a:rPr lang="zh-CN" altLang="en-US" sz="2400" dirty="0" smtClean="0"/>
              <a:t>如， </a:t>
            </a:r>
            <a:r>
              <a:rPr lang="en-US" altLang="zh-CN" dirty="0" smtClean="0"/>
              <a:t>SELECT </a:t>
            </a:r>
            <a:r>
              <a:rPr lang="en-US" altLang="zh-CN" dirty="0" err="1"/>
              <a:t>column_list</a:t>
            </a:r>
            <a:r>
              <a:rPr lang="en-US" altLang="zh-CN" dirty="0"/>
              <a:t> </a:t>
            </a:r>
            <a:r>
              <a:rPr lang="en-US" altLang="zh-CN" dirty="0" smtClean="0"/>
              <a:t>FROM </a:t>
            </a:r>
            <a:r>
              <a:rPr lang="en-US" altLang="zh-CN" dirty="0" err="1"/>
              <a:t>table_name</a:t>
            </a:r>
            <a:r>
              <a:rPr lang="en-US" altLang="zh-CN" dirty="0"/>
              <a:t> [WHERE condition]; </a:t>
            </a:r>
          </a:p>
          <a:p>
            <a:pPr eaLnBrk="1" hangingPunct="1">
              <a:lnSpc>
                <a:spcPct val="120000"/>
              </a:lnSpc>
              <a:spcBef>
                <a:spcPct val="0"/>
              </a:spcBef>
              <a:buFont typeface="Wingdings" panose="05000000000000000000" pitchFamily="2" charset="2"/>
              <a:buNone/>
            </a:pPr>
            <a:r>
              <a:rPr lang="en-US" altLang="zh-CN" sz="2400" dirty="0" smtClean="0"/>
              <a:t>       &gt; </a:t>
            </a:r>
          </a:p>
          <a:p>
            <a:pPr eaLnBrk="1" hangingPunct="1">
              <a:lnSpc>
                <a:spcPct val="120000"/>
              </a:lnSpc>
              <a:spcBef>
                <a:spcPct val="0"/>
              </a:spcBef>
              <a:buFont typeface="Wingdings" panose="05000000000000000000" pitchFamily="2" charset="2"/>
              <a:buNone/>
            </a:pPr>
            <a:r>
              <a:rPr lang="en-US" altLang="zh-CN" sz="2400" dirty="0" smtClean="0"/>
              <a:t>       [</a:t>
            </a:r>
            <a:r>
              <a:rPr lang="en-US" altLang="zh-CN" sz="2400" dirty="0" smtClean="0">
                <a:solidFill>
                  <a:srgbClr val="FF00FF"/>
                </a:solidFill>
              </a:rPr>
              <a:t>WITH  CHECK  OPTION</a:t>
            </a:r>
            <a:r>
              <a:rPr lang="en-US" altLang="zh-CN" sz="2400" dirty="0" smtClean="0"/>
              <a:t>]</a:t>
            </a:r>
            <a:r>
              <a:rPr lang="zh-CN" altLang="en-US" sz="2400" dirty="0" smtClean="0"/>
              <a:t>;</a:t>
            </a:r>
            <a:endParaRPr lang="en-US" altLang="zh-CN" sz="2400" dirty="0" smtClean="0"/>
          </a:p>
          <a:p>
            <a:pPr>
              <a:lnSpc>
                <a:spcPct val="120000"/>
              </a:lnSpc>
              <a:spcBef>
                <a:spcPct val="0"/>
              </a:spcBef>
            </a:pPr>
            <a:r>
              <a:rPr lang="en-US" altLang="zh-CN" dirty="0"/>
              <a:t>WITH CHECK OPTION</a:t>
            </a:r>
          </a:p>
          <a:p>
            <a:pPr lvl="1">
              <a:lnSpc>
                <a:spcPct val="120000"/>
              </a:lnSpc>
              <a:spcBef>
                <a:spcPct val="0"/>
              </a:spcBef>
            </a:pPr>
            <a:r>
              <a:rPr lang="zh-CN" altLang="en-US" dirty="0"/>
              <a:t>对视图进行</a:t>
            </a:r>
            <a:r>
              <a:rPr lang="en-US" altLang="zh-CN" dirty="0"/>
              <a:t>UPDATE</a:t>
            </a:r>
            <a:r>
              <a:rPr lang="zh-CN" altLang="en-US" dirty="0"/>
              <a:t>，</a:t>
            </a:r>
            <a:r>
              <a:rPr lang="en-US" altLang="zh-CN" dirty="0"/>
              <a:t>INSERT</a:t>
            </a:r>
            <a:r>
              <a:rPr lang="zh-CN" altLang="en-US" dirty="0"/>
              <a:t>和</a:t>
            </a:r>
            <a:r>
              <a:rPr lang="en-US" altLang="zh-CN" dirty="0"/>
              <a:t>DELETE</a:t>
            </a:r>
            <a:r>
              <a:rPr lang="zh-CN" altLang="en-US" dirty="0"/>
              <a:t>操作时要保证更新、插入或删除的行满足视图定义中的谓词条件（即子查询中的条件表达式）</a:t>
            </a:r>
          </a:p>
          <a:p>
            <a:pPr>
              <a:lnSpc>
                <a:spcPct val="120000"/>
              </a:lnSpc>
              <a:spcBef>
                <a:spcPct val="0"/>
              </a:spcBef>
            </a:pPr>
            <a:r>
              <a:rPr lang="zh-CN" altLang="en-US" dirty="0"/>
              <a:t>子查询可以是任意的</a:t>
            </a:r>
            <a:r>
              <a:rPr lang="en-US" altLang="zh-CN" dirty="0"/>
              <a:t>SELECT</a:t>
            </a:r>
            <a:r>
              <a:rPr lang="zh-CN" altLang="en-US" dirty="0" smtClean="0"/>
              <a:t>语句。</a:t>
            </a:r>
            <a:endParaRPr lang="zh-CN" altLang="en-US" dirty="0"/>
          </a:p>
          <a:p>
            <a:pPr eaLnBrk="1" hangingPunct="1">
              <a:lnSpc>
                <a:spcPct val="120000"/>
              </a:lnSpc>
              <a:spcBef>
                <a:spcPct val="0"/>
              </a:spcBef>
              <a:buFont typeface="Wingdings" panose="05000000000000000000" pitchFamily="2" charset="2"/>
              <a:buNone/>
            </a:pPr>
            <a:endParaRPr lang="zh-CN" altLang="en-US" sz="2400" dirty="0" smtClean="0"/>
          </a:p>
        </p:txBody>
      </p:sp>
    </p:spTree>
    <p:extLst>
      <p:ext uri="{BB962C8B-B14F-4D97-AF65-F5344CB8AC3E}">
        <p14:creationId xmlns:p14="http://schemas.microsoft.com/office/powerpoint/2010/main" val="17088060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p:txBody>
          <a:bodyPr/>
          <a:lstStyle/>
          <a:p>
            <a:pPr eaLnBrk="1" hangingPunct="1"/>
            <a:r>
              <a:rPr lang="zh-CN" altLang="en-US" sz="3600" smtClean="0"/>
              <a:t>建立视图（续）</a:t>
            </a:r>
          </a:p>
        </p:txBody>
      </p:sp>
      <p:sp>
        <p:nvSpPr>
          <p:cNvPr id="47107" name="Rectangle 3"/>
          <p:cNvSpPr>
            <a:spLocks noGrp="1" noChangeArrowheads="1"/>
          </p:cNvSpPr>
          <p:nvPr>
            <p:ph type="body" idx="4294967295"/>
          </p:nvPr>
        </p:nvSpPr>
        <p:spPr>
          <a:xfrm>
            <a:off x="457200" y="1254125"/>
            <a:ext cx="7859713" cy="4335463"/>
          </a:xfrm>
        </p:spPr>
        <p:txBody>
          <a:bodyPr/>
          <a:lstStyle/>
          <a:p>
            <a:pPr eaLnBrk="1" hangingPunct="1">
              <a:buFont typeface="Wingdings" panose="05000000000000000000" pitchFamily="2" charset="2"/>
              <a:buNone/>
            </a:pPr>
            <a:r>
              <a:rPr lang="en-US" altLang="zh-CN" sz="2400" dirty="0" smtClean="0"/>
              <a:t> [</a:t>
            </a:r>
            <a:r>
              <a:rPr lang="zh-CN" altLang="en-US" sz="2400" dirty="0" smtClean="0"/>
              <a:t>例</a:t>
            </a:r>
            <a:r>
              <a:rPr lang="en-US" altLang="zh-CN" sz="2400" dirty="0" smtClean="0"/>
              <a:t>3.84]  </a:t>
            </a:r>
            <a:r>
              <a:rPr lang="zh-CN" altLang="en-US" sz="2400" dirty="0" smtClean="0"/>
              <a:t>建立信息系学生的视图。</a:t>
            </a:r>
          </a:p>
          <a:p>
            <a:pPr eaLnBrk="1" hangingPunct="1">
              <a:buFont typeface="Wingdings" panose="05000000000000000000" pitchFamily="2" charset="2"/>
              <a:buNone/>
            </a:pPr>
            <a:endParaRPr lang="zh-CN" altLang="en-US" dirty="0" smtClean="0"/>
          </a:p>
          <a:p>
            <a:pPr eaLnBrk="1" hangingPunct="1">
              <a:buFont typeface="Wingdings" panose="05000000000000000000" pitchFamily="2" charset="2"/>
              <a:buNone/>
            </a:pPr>
            <a:r>
              <a:rPr lang="zh-CN" altLang="en-US" sz="2400" dirty="0" smtClean="0"/>
              <a:t>        </a:t>
            </a:r>
            <a:r>
              <a:rPr lang="en-US" altLang="zh-CN" sz="2400" dirty="0" smtClean="0"/>
              <a:t>CREATE VIEW </a:t>
            </a:r>
            <a:r>
              <a:rPr lang="en-US" altLang="zh-CN" sz="2400" dirty="0" err="1" smtClean="0"/>
              <a:t>IS_Student</a:t>
            </a:r>
            <a:endParaRPr lang="en-US" altLang="zh-CN" sz="2400" dirty="0" smtClean="0"/>
          </a:p>
          <a:p>
            <a:pPr eaLnBrk="1" hangingPunct="1">
              <a:buFont typeface="Wingdings" panose="05000000000000000000" pitchFamily="2" charset="2"/>
              <a:buNone/>
            </a:pPr>
            <a:r>
              <a:rPr lang="en-US" altLang="zh-CN" sz="2400" dirty="0" smtClean="0"/>
              <a:t>        AS </a:t>
            </a:r>
          </a:p>
          <a:p>
            <a:pPr eaLnBrk="1" hangingPunct="1">
              <a:buFont typeface="Wingdings" panose="05000000000000000000" pitchFamily="2" charset="2"/>
              <a:buNone/>
            </a:pPr>
            <a:r>
              <a:rPr lang="en-US" altLang="zh-CN" sz="2400" dirty="0" smtClean="0"/>
              <a:t>        SELECT </a:t>
            </a:r>
            <a:r>
              <a:rPr lang="en-US" altLang="zh-CN" sz="2400" dirty="0" err="1" smtClean="0"/>
              <a:t>Sno</a:t>
            </a:r>
            <a:r>
              <a:rPr lang="zh-CN" altLang="en-US" sz="2400" dirty="0" smtClean="0"/>
              <a:t>,</a:t>
            </a:r>
            <a:r>
              <a:rPr lang="en-US" altLang="zh-CN" sz="2400" dirty="0" err="1" smtClean="0"/>
              <a:t>Sname</a:t>
            </a:r>
            <a:r>
              <a:rPr lang="zh-CN" altLang="en-US" sz="2400" dirty="0" smtClean="0"/>
              <a:t>,</a:t>
            </a:r>
            <a:r>
              <a:rPr lang="en-US" altLang="zh-CN" sz="2400" dirty="0" smtClean="0"/>
              <a:t>Sage</a:t>
            </a:r>
          </a:p>
          <a:p>
            <a:pPr eaLnBrk="1" hangingPunct="1">
              <a:buFont typeface="Wingdings" panose="05000000000000000000" pitchFamily="2" charset="2"/>
              <a:buNone/>
            </a:pPr>
            <a:r>
              <a:rPr lang="en-US" altLang="zh-CN" sz="2400" dirty="0" smtClean="0"/>
              <a:t>        FROM     Student</a:t>
            </a:r>
          </a:p>
          <a:p>
            <a:pPr eaLnBrk="1" hangingPunct="1">
              <a:buFont typeface="Wingdings" panose="05000000000000000000" pitchFamily="2" charset="2"/>
              <a:buNone/>
            </a:pPr>
            <a:r>
              <a:rPr lang="en-US" altLang="zh-CN" sz="2400" dirty="0" smtClean="0"/>
              <a:t>        WHERE  </a:t>
            </a:r>
            <a:r>
              <a:rPr lang="en-US" altLang="zh-CN" sz="2400" dirty="0" err="1" smtClean="0"/>
              <a:t>Sdept</a:t>
            </a:r>
            <a:r>
              <a:rPr lang="en-US" altLang="zh-CN" sz="2400" dirty="0" smtClean="0"/>
              <a:t>= 'IS'</a:t>
            </a:r>
            <a:r>
              <a:rPr lang="zh-CN" altLang="en-US" sz="2400" dirty="0" smtClean="0"/>
              <a:t>;</a:t>
            </a:r>
          </a:p>
        </p:txBody>
      </p:sp>
      <p:sp>
        <p:nvSpPr>
          <p:cNvPr id="4" name="Rectangle 83"/>
          <p:cNvSpPr>
            <a:spLocks noChangeArrowheads="1"/>
          </p:cNvSpPr>
          <p:nvPr/>
        </p:nvSpPr>
        <p:spPr bwMode="auto">
          <a:xfrm>
            <a:off x="532321" y="4675632"/>
            <a:ext cx="91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dirty="0"/>
              <a:t> </a:t>
            </a:r>
            <a:r>
              <a:rPr lang="en-US" altLang="zh-CN" sz="2200" b="1" dirty="0"/>
              <a:t>Student</a:t>
            </a:r>
          </a:p>
        </p:txBody>
      </p:sp>
      <p:graphicFrame>
        <p:nvGraphicFramePr>
          <p:cNvPr id="5" name="Group 271"/>
          <p:cNvGraphicFramePr>
            <a:graphicFrameLocks/>
          </p:cNvGraphicFramePr>
          <p:nvPr>
            <p:extLst>
              <p:ext uri="{D42A27DB-BD31-4B8C-83A1-F6EECF244321}">
                <p14:modId xmlns:p14="http://schemas.microsoft.com/office/powerpoint/2010/main" val="2183172444"/>
              </p:ext>
            </p:extLst>
          </p:nvPr>
        </p:nvGraphicFramePr>
        <p:xfrm>
          <a:off x="1956419" y="4675632"/>
          <a:ext cx="5970490" cy="1979668"/>
        </p:xfrm>
        <a:graphic>
          <a:graphicData uri="http://schemas.openxmlformats.org/drawingml/2006/table">
            <a:tbl>
              <a:tblPr>
                <a:tableStyleId>{2D5ABB26-0587-4C30-8999-92F81FD0307C}</a:tableStyleId>
              </a:tblPr>
              <a:tblGrid>
                <a:gridCol w="1194329"/>
                <a:gridCol w="1194328"/>
                <a:gridCol w="1193176"/>
                <a:gridCol w="1194329"/>
                <a:gridCol w="1194328"/>
              </a:tblGrid>
              <a:tr h="5309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Sno</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姓名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Sname</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性别</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Ssex</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年龄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Sage</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所在系</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Sdept</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201215121</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李勇</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男</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201215122</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刘晨</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女</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19</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201215123</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王敏</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女</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18</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MA</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201215125</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张立</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男</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19</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IS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42331539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smtClean="0"/>
              <a:t>建立视图（续）</a:t>
            </a:r>
          </a:p>
        </p:txBody>
      </p:sp>
      <p:sp>
        <p:nvSpPr>
          <p:cNvPr id="48131" name="Rectangle 3"/>
          <p:cNvSpPr>
            <a:spLocks noGrp="1" noChangeArrowheads="1"/>
          </p:cNvSpPr>
          <p:nvPr>
            <p:ph type="body" idx="4294967295"/>
          </p:nvPr>
        </p:nvSpPr>
        <p:spPr>
          <a:xfrm>
            <a:off x="611188" y="1196975"/>
            <a:ext cx="7772400" cy="4833938"/>
          </a:xfrm>
        </p:spPr>
        <p:txBody>
          <a:bodyPr>
            <a:normAutofit fontScale="85000" lnSpcReduction="10000"/>
          </a:bodyPr>
          <a:lstStyle/>
          <a:p>
            <a:pPr eaLnBrk="1" hangingPunct="1">
              <a:lnSpc>
                <a:spcPct val="130000"/>
              </a:lnSpc>
              <a:buFont typeface="Wingdings" panose="05000000000000000000" pitchFamily="2" charset="2"/>
              <a:buNone/>
            </a:pPr>
            <a:r>
              <a:rPr lang="en-US" altLang="zh-CN" sz="2400" dirty="0" smtClean="0"/>
              <a:t>[</a:t>
            </a:r>
            <a:r>
              <a:rPr lang="zh-CN" altLang="en-US" sz="2400" dirty="0" smtClean="0"/>
              <a:t>例</a:t>
            </a:r>
            <a:r>
              <a:rPr lang="en-US" altLang="zh-CN" sz="2400" dirty="0" smtClean="0"/>
              <a:t>3.85]</a:t>
            </a:r>
            <a:r>
              <a:rPr lang="zh-CN" altLang="en-US" sz="2400" dirty="0" smtClean="0"/>
              <a:t>建立信息系学生的视图，并要求进行修改和插入操作时仍需保证该视图只有信息系的学生 </a:t>
            </a:r>
            <a:r>
              <a:rPr lang="zh-CN" altLang="en-US" sz="2000" dirty="0" smtClean="0"/>
              <a:t>。</a:t>
            </a:r>
          </a:p>
          <a:p>
            <a:pPr eaLnBrk="1" hangingPunct="1">
              <a:lnSpc>
                <a:spcPct val="130000"/>
              </a:lnSpc>
              <a:buFont typeface="Wingdings" panose="05000000000000000000" pitchFamily="2" charset="2"/>
              <a:buNone/>
            </a:pPr>
            <a:r>
              <a:rPr lang="zh-CN" altLang="en-US" sz="1800" dirty="0" smtClean="0"/>
              <a:t>   </a:t>
            </a:r>
            <a:r>
              <a:rPr lang="zh-CN" altLang="en-US" sz="2400" dirty="0" smtClean="0"/>
              <a:t>      </a:t>
            </a:r>
            <a:r>
              <a:rPr lang="en-US" altLang="zh-CN" sz="2400" dirty="0" smtClean="0"/>
              <a:t>CREATE VIEW </a:t>
            </a:r>
            <a:r>
              <a:rPr lang="en-US" altLang="zh-CN" sz="2400" dirty="0" err="1" smtClean="0"/>
              <a:t>IS_Student</a:t>
            </a:r>
            <a:endParaRPr lang="en-US" altLang="zh-CN" sz="2400" dirty="0" smtClean="0"/>
          </a:p>
          <a:p>
            <a:pPr eaLnBrk="1" hangingPunct="1">
              <a:lnSpc>
                <a:spcPct val="130000"/>
              </a:lnSpc>
              <a:buFont typeface="Wingdings" panose="05000000000000000000" pitchFamily="2" charset="2"/>
              <a:buNone/>
            </a:pPr>
            <a:r>
              <a:rPr lang="en-US" altLang="zh-CN" sz="2400" dirty="0" smtClean="0"/>
              <a:t>        AS </a:t>
            </a:r>
          </a:p>
          <a:p>
            <a:pPr eaLnBrk="1" hangingPunct="1">
              <a:lnSpc>
                <a:spcPct val="130000"/>
              </a:lnSpc>
              <a:buFont typeface="Wingdings" panose="05000000000000000000" pitchFamily="2" charset="2"/>
              <a:buNone/>
            </a:pPr>
            <a:r>
              <a:rPr lang="en-US" altLang="zh-CN" sz="2400" dirty="0" smtClean="0"/>
              <a:t>        SELECT </a:t>
            </a:r>
            <a:r>
              <a:rPr lang="en-US" altLang="zh-CN" sz="2400" dirty="0" err="1" smtClean="0"/>
              <a:t>Sno</a:t>
            </a:r>
            <a:r>
              <a:rPr lang="zh-CN" altLang="en-US" sz="2400" dirty="0" smtClean="0"/>
              <a:t>,</a:t>
            </a:r>
            <a:r>
              <a:rPr lang="en-US" altLang="zh-CN" sz="2400" dirty="0" err="1" smtClean="0"/>
              <a:t>Sname</a:t>
            </a:r>
            <a:r>
              <a:rPr lang="zh-CN" altLang="en-US" sz="2400" dirty="0" smtClean="0"/>
              <a:t>,</a:t>
            </a:r>
            <a:r>
              <a:rPr lang="en-US" altLang="zh-CN" sz="2400" dirty="0" smtClean="0"/>
              <a:t>Sage</a:t>
            </a:r>
          </a:p>
          <a:p>
            <a:pPr eaLnBrk="1" hangingPunct="1">
              <a:lnSpc>
                <a:spcPct val="130000"/>
              </a:lnSpc>
              <a:buFont typeface="Wingdings" panose="05000000000000000000" pitchFamily="2" charset="2"/>
              <a:buNone/>
            </a:pPr>
            <a:r>
              <a:rPr lang="en-US" altLang="zh-CN" sz="2400" dirty="0" smtClean="0"/>
              <a:t>        FROM  Student</a:t>
            </a:r>
          </a:p>
          <a:p>
            <a:pPr eaLnBrk="1" hangingPunct="1">
              <a:lnSpc>
                <a:spcPct val="130000"/>
              </a:lnSpc>
              <a:buFont typeface="Wingdings" panose="05000000000000000000" pitchFamily="2" charset="2"/>
              <a:buNone/>
            </a:pPr>
            <a:r>
              <a:rPr lang="en-US" altLang="zh-CN" sz="2400" dirty="0" smtClean="0"/>
              <a:t>        WHERE  </a:t>
            </a:r>
            <a:r>
              <a:rPr lang="en-US" altLang="zh-CN" sz="2400" dirty="0" err="1" smtClean="0"/>
              <a:t>Sdept</a:t>
            </a:r>
            <a:r>
              <a:rPr lang="en-US" altLang="zh-CN" sz="2400" dirty="0" smtClean="0"/>
              <a:t>= 'IS'</a:t>
            </a:r>
          </a:p>
          <a:p>
            <a:pPr eaLnBrk="1" hangingPunct="1">
              <a:lnSpc>
                <a:spcPct val="130000"/>
              </a:lnSpc>
              <a:buFont typeface="Wingdings" panose="05000000000000000000" pitchFamily="2" charset="2"/>
              <a:buNone/>
            </a:pPr>
            <a:r>
              <a:rPr lang="en-US" altLang="zh-CN" sz="2400" dirty="0" smtClean="0"/>
              <a:t>        </a:t>
            </a:r>
            <a:r>
              <a:rPr lang="en-US" altLang="zh-CN" sz="2400" dirty="0" smtClean="0">
                <a:solidFill>
                  <a:srgbClr val="FF0000"/>
                </a:solidFill>
              </a:rPr>
              <a:t>WITH CHECK OPTION</a:t>
            </a:r>
            <a:r>
              <a:rPr lang="zh-CN" altLang="en-US" sz="2400" dirty="0" smtClean="0">
                <a:solidFill>
                  <a:srgbClr val="FF0000"/>
                </a:solidFill>
              </a:rPr>
              <a:t>;</a:t>
            </a:r>
            <a:endParaRPr lang="en-US" altLang="zh-CN" sz="2400" dirty="0" smtClean="0">
              <a:solidFill>
                <a:srgbClr val="FF0000"/>
              </a:solidFill>
            </a:endParaRPr>
          </a:p>
          <a:p>
            <a:pPr>
              <a:lnSpc>
                <a:spcPct val="130000"/>
              </a:lnSpc>
              <a:buNone/>
            </a:pPr>
            <a:r>
              <a:rPr lang="zh-CN" altLang="en-US" sz="2400" dirty="0"/>
              <a:t>定义</a:t>
            </a:r>
            <a:r>
              <a:rPr lang="en-US" altLang="zh-CN" sz="2400" dirty="0" err="1"/>
              <a:t>IS_Student</a:t>
            </a:r>
            <a:r>
              <a:rPr lang="zh-CN" altLang="en-US" sz="2400" dirty="0"/>
              <a:t>视图时加上了</a:t>
            </a:r>
            <a:r>
              <a:rPr lang="en-US" altLang="zh-CN" sz="2400" dirty="0"/>
              <a:t>WITH CHECK OPTION</a:t>
            </a:r>
            <a:r>
              <a:rPr lang="zh-CN" altLang="en-US" sz="2400" dirty="0"/>
              <a:t>子句，对该视图进行插入、修改和删除操作时，</a:t>
            </a:r>
            <a:r>
              <a:rPr lang="en-US" altLang="zh-CN" sz="2400" dirty="0"/>
              <a:t>RDBMS</a:t>
            </a:r>
            <a:r>
              <a:rPr lang="zh-CN" altLang="en-US" sz="2400" dirty="0"/>
              <a:t>会自动加上</a:t>
            </a:r>
            <a:r>
              <a:rPr lang="en-US" altLang="zh-CN" sz="2400" dirty="0" err="1"/>
              <a:t>Sdept</a:t>
            </a:r>
            <a:r>
              <a:rPr lang="en-US" altLang="zh-CN" sz="2400" dirty="0"/>
              <a:t>='IS'</a:t>
            </a:r>
            <a:r>
              <a:rPr lang="zh-CN" altLang="en-US" sz="2400" dirty="0"/>
              <a:t>的条件。</a:t>
            </a:r>
          </a:p>
          <a:p>
            <a:pPr eaLnBrk="1" hangingPunct="1">
              <a:lnSpc>
                <a:spcPct val="130000"/>
              </a:lnSpc>
              <a:buFont typeface="Wingdings" panose="05000000000000000000" pitchFamily="2" charset="2"/>
              <a:buNone/>
            </a:pPr>
            <a:endParaRPr lang="zh-CN" altLang="en-US" sz="2400" dirty="0" smtClean="0">
              <a:solidFill>
                <a:srgbClr val="FF0000"/>
              </a:solidFill>
            </a:endParaRPr>
          </a:p>
        </p:txBody>
      </p:sp>
    </p:spTree>
    <p:extLst>
      <p:ext uri="{BB962C8B-B14F-4D97-AF65-F5344CB8AC3E}">
        <p14:creationId xmlns:p14="http://schemas.microsoft.com/office/powerpoint/2010/main" val="39717566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smtClean="0"/>
              <a:t>建立视图（续）</a:t>
            </a:r>
          </a:p>
        </p:txBody>
      </p:sp>
      <p:sp>
        <p:nvSpPr>
          <p:cNvPr id="48131" name="Rectangle 3"/>
          <p:cNvSpPr>
            <a:spLocks noGrp="1" noChangeArrowheads="1"/>
          </p:cNvSpPr>
          <p:nvPr>
            <p:ph type="body" idx="4294967295"/>
          </p:nvPr>
        </p:nvSpPr>
        <p:spPr>
          <a:xfrm>
            <a:off x="611188" y="1196975"/>
            <a:ext cx="7772400" cy="4833938"/>
          </a:xfrm>
        </p:spPr>
        <p:txBody>
          <a:bodyPr>
            <a:normAutofit fontScale="92500" lnSpcReduction="10000"/>
          </a:bodyPr>
          <a:lstStyle/>
          <a:p>
            <a:r>
              <a:rPr lang="en-US" altLang="zh-CN" sz="2400" dirty="0"/>
              <a:t>create   table   table1 </a:t>
            </a:r>
            <a:br>
              <a:rPr lang="en-US" altLang="zh-CN" sz="2400" dirty="0"/>
            </a:br>
            <a:r>
              <a:rPr lang="en-US" altLang="zh-CN" sz="2400" dirty="0"/>
              <a:t>(</a:t>
            </a:r>
            <a:r>
              <a:rPr lang="en-US" altLang="zh-CN" sz="2400" dirty="0" err="1"/>
              <a:t>bm</a:t>
            </a:r>
            <a:r>
              <a:rPr lang="en-US" altLang="zh-CN" sz="2400" dirty="0"/>
              <a:t>   float </a:t>
            </a:r>
            <a:r>
              <a:rPr lang="en-US" altLang="zh-CN" sz="2400" dirty="0" smtClean="0"/>
              <a:t>) </a:t>
            </a:r>
            <a:endParaRPr lang="en-US" altLang="zh-CN" sz="2400" dirty="0"/>
          </a:p>
          <a:p>
            <a:r>
              <a:rPr lang="en-US" altLang="zh-CN" sz="2400" dirty="0"/>
              <a:t>insert   into   table1   values(5000) </a:t>
            </a:r>
          </a:p>
          <a:p>
            <a:r>
              <a:rPr lang="en-US" altLang="zh-CN" sz="2400" dirty="0"/>
              <a:t>create   view   </a:t>
            </a:r>
            <a:r>
              <a:rPr lang="en-US" altLang="zh-CN" sz="2400" dirty="0" err="1" smtClean="0"/>
              <a:t>TestViewCheckOption</a:t>
            </a:r>
            <a:r>
              <a:rPr lang="en-US" altLang="zh-CN" sz="2400" dirty="0" smtClean="0"/>
              <a:t> </a:t>
            </a:r>
            <a:r>
              <a:rPr lang="en-US" altLang="zh-CN" sz="2400" dirty="0"/>
              <a:t>  </a:t>
            </a:r>
            <a:br>
              <a:rPr lang="en-US" altLang="zh-CN" sz="2400" dirty="0"/>
            </a:br>
            <a:r>
              <a:rPr lang="en-US" altLang="zh-CN" sz="2400" dirty="0"/>
              <a:t>AS </a:t>
            </a:r>
            <a:br>
              <a:rPr lang="en-US" altLang="zh-CN" sz="2400" dirty="0"/>
            </a:br>
            <a:r>
              <a:rPr lang="en-US" altLang="zh-CN" sz="2400" dirty="0"/>
              <a:t>select   *   from   Table1   where   </a:t>
            </a:r>
            <a:r>
              <a:rPr lang="en-US" altLang="zh-CN" sz="2400" dirty="0" err="1"/>
              <a:t>Bm</a:t>
            </a:r>
            <a:r>
              <a:rPr lang="en-US" altLang="zh-CN" sz="2400" dirty="0"/>
              <a:t>   &lt;   5003 </a:t>
            </a:r>
            <a:br>
              <a:rPr lang="en-US" altLang="zh-CN" sz="2400" dirty="0"/>
            </a:br>
            <a:r>
              <a:rPr lang="en-US" altLang="zh-CN" sz="2400" dirty="0"/>
              <a:t>with   check   option </a:t>
            </a:r>
          </a:p>
          <a:p>
            <a:r>
              <a:rPr lang="en-US" altLang="zh-CN" sz="2400" dirty="0"/>
              <a:t>update   </a:t>
            </a:r>
            <a:r>
              <a:rPr lang="en-US" altLang="zh-CN" sz="2400" dirty="0" err="1"/>
              <a:t>TestViewCheckOption</a:t>
            </a:r>
            <a:r>
              <a:rPr lang="en-US" altLang="zh-CN" sz="2400" dirty="0"/>
              <a:t>   set   </a:t>
            </a:r>
            <a:r>
              <a:rPr lang="en-US" altLang="zh-CN" sz="2400" dirty="0" err="1"/>
              <a:t>Bm</a:t>
            </a:r>
            <a:r>
              <a:rPr lang="en-US" altLang="zh-CN" sz="2400" dirty="0"/>
              <a:t>   =   5005   </a:t>
            </a:r>
            <a:br>
              <a:rPr lang="en-US" altLang="zh-CN" sz="2400" dirty="0"/>
            </a:br>
            <a:r>
              <a:rPr lang="en-US" altLang="zh-CN" sz="2400" dirty="0"/>
              <a:t>go </a:t>
            </a:r>
            <a:r>
              <a:rPr lang="en-US" altLang="zh-CN" sz="2000" dirty="0"/>
              <a:t/>
            </a:r>
            <a:br>
              <a:rPr lang="en-US" altLang="zh-CN" sz="2000" dirty="0"/>
            </a:br>
            <a:r>
              <a:rPr lang="zh-CN" altLang="en-US" sz="2400" dirty="0"/>
              <a:t>－－－执行结果 </a:t>
            </a:r>
            <a:br>
              <a:rPr lang="zh-CN" altLang="en-US" sz="2400" dirty="0"/>
            </a:br>
            <a:r>
              <a:rPr lang="zh-CN" altLang="en-US" sz="2400" dirty="0"/>
              <a:t>服务器</a:t>
            </a:r>
            <a:r>
              <a:rPr lang="en-US" altLang="zh-CN" sz="2400" dirty="0"/>
              <a:t>:   </a:t>
            </a:r>
            <a:r>
              <a:rPr lang="zh-CN" altLang="en-US" sz="2400" dirty="0"/>
              <a:t>消息   </a:t>
            </a:r>
            <a:r>
              <a:rPr lang="en-US" altLang="zh-CN" sz="2400" dirty="0"/>
              <a:t>550</a:t>
            </a:r>
            <a:r>
              <a:rPr lang="zh-CN" altLang="en-US" sz="2400" dirty="0"/>
              <a:t>，级别   </a:t>
            </a:r>
            <a:r>
              <a:rPr lang="en-US" altLang="zh-CN" sz="2400" dirty="0"/>
              <a:t>16</a:t>
            </a:r>
            <a:r>
              <a:rPr lang="zh-CN" altLang="en-US" sz="2400" dirty="0"/>
              <a:t>，状态   </a:t>
            </a:r>
            <a:r>
              <a:rPr lang="en-US" altLang="zh-CN" sz="2400" dirty="0"/>
              <a:t>1</a:t>
            </a:r>
            <a:r>
              <a:rPr lang="zh-CN" altLang="en-US" sz="2400" dirty="0"/>
              <a:t>，行   </a:t>
            </a:r>
            <a:r>
              <a:rPr lang="en-US" altLang="zh-CN" sz="2400" dirty="0"/>
              <a:t>1 </a:t>
            </a:r>
            <a:br>
              <a:rPr lang="en-US" altLang="zh-CN" sz="2400" dirty="0"/>
            </a:br>
            <a:r>
              <a:rPr lang="zh-CN" altLang="en-US" sz="2400" dirty="0"/>
              <a:t>试图进行的插入或更新已失败，原因是目标视图或者目标视图所跨越的某一视图指定了   </a:t>
            </a:r>
            <a:r>
              <a:rPr lang="en-US" altLang="zh-CN" sz="2400" dirty="0"/>
              <a:t>WITH   CHECK   OPTION</a:t>
            </a:r>
            <a:r>
              <a:rPr lang="zh-CN" altLang="en-US" sz="2400" dirty="0"/>
              <a:t>，而该操作的一个或多个结果行又不符合   </a:t>
            </a:r>
            <a:r>
              <a:rPr lang="en-US" altLang="zh-CN" sz="2400" dirty="0"/>
              <a:t>CHECK   OPTION   </a:t>
            </a:r>
            <a:r>
              <a:rPr lang="zh-CN" altLang="en-US" sz="2400" dirty="0"/>
              <a:t>约束的条件。 </a:t>
            </a:r>
          </a:p>
          <a:p>
            <a:pPr eaLnBrk="1" hangingPunct="1">
              <a:lnSpc>
                <a:spcPct val="130000"/>
              </a:lnSpc>
              <a:buFont typeface="Wingdings" panose="05000000000000000000" pitchFamily="2" charset="2"/>
              <a:buNone/>
            </a:pPr>
            <a:endParaRPr lang="zh-CN" altLang="en-US" sz="2400" dirty="0" smtClean="0">
              <a:solidFill>
                <a:srgbClr val="FF0000"/>
              </a:solidFill>
            </a:endParaRPr>
          </a:p>
        </p:txBody>
      </p:sp>
    </p:spTree>
    <p:extLst>
      <p:ext uri="{BB962C8B-B14F-4D97-AF65-F5344CB8AC3E}">
        <p14:creationId xmlns:p14="http://schemas.microsoft.com/office/powerpoint/2010/main" val="350583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8131">
                                            <p:txEl>
                                              <p:pRg st="3" end="3"/>
                                            </p:txEl>
                                          </p:spTgt>
                                        </p:tgtEl>
                                        <p:attrNameLst>
                                          <p:attrName>style.visibility</p:attrName>
                                        </p:attrNameLst>
                                      </p:cBhvr>
                                      <p:to>
                                        <p:strVal val="visible"/>
                                      </p:to>
                                    </p:set>
                                    <p:animEffect transition="in" filter="fade">
                                      <p:cBhvr>
                                        <p:cTn id="7" dur="1000"/>
                                        <p:tgtEl>
                                          <p:spTgt spid="48131">
                                            <p:txEl>
                                              <p:pRg st="3" end="3"/>
                                            </p:txEl>
                                          </p:spTgt>
                                        </p:tgtEl>
                                      </p:cBhvr>
                                    </p:animEffect>
                                    <p:anim calcmode="lin" valueType="num">
                                      <p:cBhvr>
                                        <p:cTn id="8" dur="1000" fill="hold"/>
                                        <p:tgtEl>
                                          <p:spTgt spid="48131">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813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p:txBody>
          <a:bodyPr/>
          <a:lstStyle/>
          <a:p>
            <a:pPr eaLnBrk="1" hangingPunct="1"/>
            <a:r>
              <a:rPr lang="zh-CN" altLang="en-US" sz="3600" dirty="0" smtClean="0"/>
              <a:t>删除视图</a:t>
            </a:r>
          </a:p>
        </p:txBody>
      </p:sp>
      <p:sp>
        <p:nvSpPr>
          <p:cNvPr id="55299" name="Rectangle 3"/>
          <p:cNvSpPr>
            <a:spLocks noGrp="1" noChangeArrowheads="1"/>
          </p:cNvSpPr>
          <p:nvPr>
            <p:ph type="body" idx="4294967295"/>
          </p:nvPr>
        </p:nvSpPr>
        <p:spPr/>
        <p:txBody>
          <a:bodyPr/>
          <a:lstStyle/>
          <a:p>
            <a:pPr eaLnBrk="1" hangingPunct="1"/>
            <a:r>
              <a:rPr lang="zh-CN" altLang="en-US" dirty="0" smtClean="0"/>
              <a:t>语句的格式：</a:t>
            </a:r>
          </a:p>
          <a:p>
            <a:pPr eaLnBrk="1" hangingPunct="1">
              <a:buFont typeface="Wingdings" panose="05000000000000000000" pitchFamily="2" charset="2"/>
              <a:buNone/>
            </a:pPr>
            <a:r>
              <a:rPr lang="zh-CN" altLang="en-US" dirty="0" smtClean="0"/>
              <a:t>		</a:t>
            </a:r>
            <a:r>
              <a:rPr lang="en-US" altLang="zh-CN" dirty="0" smtClean="0"/>
              <a:t>DROP  VIEW  &lt;</a:t>
            </a:r>
            <a:r>
              <a:rPr lang="zh-CN" altLang="en-US" dirty="0" smtClean="0"/>
              <a:t>视图名</a:t>
            </a:r>
            <a:r>
              <a:rPr lang="en-US" altLang="zh-CN" dirty="0" smtClean="0"/>
              <a:t>&gt;[CASCADE]</a:t>
            </a:r>
            <a:r>
              <a:rPr lang="zh-CN" altLang="en-US" dirty="0" smtClean="0"/>
              <a:t>;</a:t>
            </a:r>
          </a:p>
          <a:p>
            <a:pPr lvl="1">
              <a:lnSpc>
                <a:spcPct val="130000"/>
              </a:lnSpc>
            </a:pPr>
            <a:r>
              <a:rPr lang="zh-CN" altLang="en-US" dirty="0" smtClean="0"/>
              <a:t>该语句从数据字典中删除指定的视图定义</a:t>
            </a:r>
          </a:p>
          <a:p>
            <a:pPr lvl="1">
              <a:lnSpc>
                <a:spcPct val="130000"/>
              </a:lnSpc>
            </a:pPr>
            <a:r>
              <a:rPr lang="zh-CN" altLang="en-US" dirty="0" smtClean="0"/>
              <a:t>如果该视图上还导出了其他视图，使用</a:t>
            </a:r>
            <a:r>
              <a:rPr lang="en-US" altLang="zh-CN" dirty="0" smtClean="0"/>
              <a:t>CASCADE</a:t>
            </a:r>
            <a:r>
              <a:rPr lang="zh-CN" altLang="en-US" dirty="0" smtClean="0"/>
              <a:t>级联删除语句，把该视图和由它导出的所有视图一起删除 </a:t>
            </a:r>
          </a:p>
          <a:p>
            <a:pPr lvl="1">
              <a:lnSpc>
                <a:spcPct val="130000"/>
              </a:lnSpc>
            </a:pPr>
            <a:r>
              <a:rPr lang="zh-CN" altLang="en-US" dirty="0" smtClean="0"/>
              <a:t>删除基表时，由该基表导出的所有视图定义都必须显式地使用</a:t>
            </a:r>
            <a:r>
              <a:rPr lang="en-US" altLang="zh-CN" dirty="0" smtClean="0"/>
              <a:t>DROP VIEW</a:t>
            </a:r>
            <a:r>
              <a:rPr lang="zh-CN" altLang="en-US" dirty="0" smtClean="0"/>
              <a:t>语句删除 </a:t>
            </a:r>
          </a:p>
        </p:txBody>
      </p:sp>
    </p:spTree>
    <p:extLst>
      <p:ext uri="{BB962C8B-B14F-4D97-AF65-F5344CB8AC3E}">
        <p14:creationId xmlns:p14="http://schemas.microsoft.com/office/powerpoint/2010/main" val="40505475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idx="4294967295"/>
          </p:nvPr>
        </p:nvSpPr>
        <p:spPr/>
        <p:txBody>
          <a:bodyPr/>
          <a:lstStyle/>
          <a:p>
            <a:pPr eaLnBrk="1" hangingPunct="1"/>
            <a:r>
              <a:rPr lang="zh-CN" altLang="en-US" sz="3600" dirty="0" smtClean="0"/>
              <a:t>查询视图</a:t>
            </a:r>
          </a:p>
        </p:txBody>
      </p:sp>
      <p:sp>
        <p:nvSpPr>
          <p:cNvPr id="58371" name="Rectangle 3"/>
          <p:cNvSpPr>
            <a:spLocks noGrp="1" noChangeArrowheads="1"/>
          </p:cNvSpPr>
          <p:nvPr>
            <p:ph type="body" idx="4294967295"/>
          </p:nvPr>
        </p:nvSpPr>
        <p:spPr>
          <a:xfrm>
            <a:off x="457200" y="1196975"/>
            <a:ext cx="8229600" cy="4854575"/>
          </a:xfrm>
        </p:spPr>
        <p:txBody>
          <a:bodyPr/>
          <a:lstStyle/>
          <a:p>
            <a:pPr eaLnBrk="1" hangingPunct="1">
              <a:lnSpc>
                <a:spcPct val="130000"/>
              </a:lnSpc>
              <a:spcAft>
                <a:spcPct val="30000"/>
              </a:spcAft>
            </a:pPr>
            <a:r>
              <a:rPr lang="zh-CN" altLang="en-US" dirty="0" smtClean="0"/>
              <a:t>用户角度：查询视图与查询基本表相同</a:t>
            </a:r>
            <a:endParaRPr lang="en-US" altLang="zh-CN" dirty="0" smtClean="0"/>
          </a:p>
          <a:p>
            <a:pPr eaLnBrk="1" hangingPunct="1">
              <a:lnSpc>
                <a:spcPct val="130000"/>
              </a:lnSpc>
              <a:spcAft>
                <a:spcPct val="30000"/>
              </a:spcAft>
            </a:pPr>
            <a:endParaRPr lang="en-US" altLang="zh-CN" dirty="0"/>
          </a:p>
          <a:p>
            <a:pPr>
              <a:buNone/>
            </a:pPr>
            <a:r>
              <a:rPr lang="en-US" altLang="zh-CN" sz="2400" dirty="0"/>
              <a:t>[</a:t>
            </a:r>
            <a:r>
              <a:rPr lang="zh-CN" altLang="en-US" sz="2400" dirty="0"/>
              <a:t>例</a:t>
            </a:r>
            <a:r>
              <a:rPr lang="en-US" altLang="zh-CN" sz="2400" dirty="0"/>
              <a:t>3.92]  </a:t>
            </a:r>
            <a:r>
              <a:rPr lang="zh-CN" altLang="en-US" sz="2400" dirty="0"/>
              <a:t>在信息系学生的视图中找出年龄小于</a:t>
            </a:r>
            <a:r>
              <a:rPr lang="en-US" altLang="zh-CN" sz="2400" dirty="0"/>
              <a:t>20</a:t>
            </a:r>
            <a:r>
              <a:rPr lang="zh-CN" altLang="en-US" sz="2400" dirty="0"/>
              <a:t>岁的学生。</a:t>
            </a:r>
          </a:p>
          <a:p>
            <a:pPr lvl="1">
              <a:buNone/>
            </a:pPr>
            <a:r>
              <a:rPr lang="zh-CN" altLang="en-US" sz="2200" dirty="0"/>
              <a:t>      </a:t>
            </a:r>
            <a:r>
              <a:rPr lang="zh-CN" altLang="en-US" dirty="0"/>
              <a:t> </a:t>
            </a:r>
            <a:r>
              <a:rPr lang="en-US" altLang="zh-CN" dirty="0"/>
              <a:t>SELECT   </a:t>
            </a:r>
            <a:r>
              <a:rPr lang="en-US" altLang="zh-CN" dirty="0" err="1"/>
              <a:t>Sno</a:t>
            </a:r>
            <a:r>
              <a:rPr lang="zh-CN" altLang="en-US" dirty="0"/>
              <a:t>,</a:t>
            </a:r>
            <a:r>
              <a:rPr lang="en-US" altLang="zh-CN" dirty="0"/>
              <a:t>Sage</a:t>
            </a:r>
          </a:p>
          <a:p>
            <a:pPr lvl="1">
              <a:buNone/>
            </a:pPr>
            <a:r>
              <a:rPr lang="en-US" altLang="zh-CN" dirty="0"/>
              <a:t>       FROM      </a:t>
            </a:r>
            <a:r>
              <a:rPr lang="en-US" altLang="zh-CN" dirty="0" err="1"/>
              <a:t>IS_Student</a:t>
            </a:r>
            <a:endParaRPr lang="en-US" altLang="zh-CN" dirty="0"/>
          </a:p>
          <a:p>
            <a:pPr lvl="1">
              <a:buNone/>
            </a:pPr>
            <a:r>
              <a:rPr lang="en-US" altLang="zh-CN" dirty="0"/>
              <a:t>       WHERE   Sage&lt;20</a:t>
            </a:r>
            <a:r>
              <a:rPr lang="zh-CN" altLang="en-US" dirty="0"/>
              <a:t>;</a:t>
            </a:r>
          </a:p>
          <a:p>
            <a:pPr eaLnBrk="1" hangingPunct="1">
              <a:lnSpc>
                <a:spcPct val="130000"/>
              </a:lnSpc>
              <a:spcAft>
                <a:spcPct val="30000"/>
              </a:spcAft>
            </a:pPr>
            <a:endParaRPr lang="zh-CN" altLang="en-US" dirty="0" smtClean="0"/>
          </a:p>
        </p:txBody>
      </p:sp>
    </p:spTree>
    <p:extLst>
      <p:ext uri="{BB962C8B-B14F-4D97-AF65-F5344CB8AC3E}">
        <p14:creationId xmlns:p14="http://schemas.microsoft.com/office/powerpoint/2010/main" val="23458796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p:txBody>
          <a:bodyPr/>
          <a:lstStyle/>
          <a:p>
            <a:pPr eaLnBrk="1" hangingPunct="1"/>
            <a:r>
              <a:rPr lang="zh-CN" altLang="en-US" sz="3600" dirty="0" smtClean="0"/>
              <a:t>更新视图</a:t>
            </a:r>
          </a:p>
        </p:txBody>
      </p:sp>
      <p:sp>
        <p:nvSpPr>
          <p:cNvPr id="65539" name="Rectangle 3"/>
          <p:cNvSpPr>
            <a:spLocks noGrp="1" noChangeArrowheads="1"/>
          </p:cNvSpPr>
          <p:nvPr>
            <p:ph type="body" idx="4294967295"/>
          </p:nvPr>
        </p:nvSpPr>
        <p:spPr>
          <a:xfrm>
            <a:off x="684213" y="1123950"/>
            <a:ext cx="7772400" cy="5127625"/>
          </a:xfrm>
        </p:spPr>
        <p:txBody>
          <a:bodyPr/>
          <a:lstStyle/>
          <a:p>
            <a:pPr eaLnBrk="1" hangingPunct="1">
              <a:lnSpc>
                <a:spcPct val="130000"/>
              </a:lnSpc>
              <a:buFont typeface="Wingdings" panose="05000000000000000000" pitchFamily="2" charset="2"/>
              <a:buNone/>
            </a:pPr>
            <a:r>
              <a:rPr lang="en-US" altLang="zh-CN" sz="2400" dirty="0" smtClean="0"/>
              <a:t>[</a:t>
            </a:r>
            <a:r>
              <a:rPr lang="zh-CN" altLang="en-US" sz="2400" dirty="0" smtClean="0"/>
              <a:t>例</a:t>
            </a:r>
            <a:r>
              <a:rPr lang="en-US" altLang="zh-CN" sz="2400" dirty="0" smtClean="0"/>
              <a:t>3.95]  </a:t>
            </a:r>
            <a:r>
              <a:rPr lang="zh-CN" altLang="en-US" sz="2400" dirty="0" smtClean="0"/>
              <a:t>将信息系学生视图</a:t>
            </a:r>
            <a:r>
              <a:rPr lang="en-US" altLang="zh-CN" sz="2400" dirty="0" err="1" smtClean="0"/>
              <a:t>IS_Student</a:t>
            </a:r>
            <a:r>
              <a:rPr lang="zh-CN" altLang="en-US" sz="2400" dirty="0" smtClean="0"/>
              <a:t>中学号</a:t>
            </a:r>
            <a:r>
              <a:rPr lang="en-US" altLang="zh-CN" sz="2400" dirty="0" smtClean="0"/>
              <a:t>”201215122”</a:t>
            </a:r>
            <a:r>
              <a:rPr lang="zh-CN" altLang="en-US" sz="2400" dirty="0" smtClean="0"/>
              <a:t>的学生姓名改为</a:t>
            </a:r>
            <a:r>
              <a:rPr lang="en-US" altLang="zh-CN" sz="2400" dirty="0" smtClean="0"/>
              <a:t>”</a:t>
            </a:r>
            <a:r>
              <a:rPr lang="zh-CN" altLang="en-US" sz="2400" dirty="0" smtClean="0"/>
              <a:t>刘辰</a:t>
            </a:r>
            <a:r>
              <a:rPr lang="en-US" altLang="zh-CN" sz="2400" dirty="0" smtClean="0"/>
              <a:t>”</a:t>
            </a:r>
            <a:r>
              <a:rPr lang="zh-CN" altLang="en-US" sz="2400" dirty="0" smtClean="0"/>
              <a:t>。</a:t>
            </a:r>
          </a:p>
          <a:p>
            <a:pPr lvl="2">
              <a:lnSpc>
                <a:spcPct val="130000"/>
              </a:lnSpc>
              <a:buFont typeface="Arial" panose="020B0604020202020204" pitchFamily="34" charset="0"/>
              <a:buNone/>
            </a:pPr>
            <a:r>
              <a:rPr lang="en-US" altLang="zh-CN" sz="2400" dirty="0" smtClean="0"/>
              <a:t>UPDATE </a:t>
            </a:r>
            <a:r>
              <a:rPr lang="en-US" altLang="zh-CN" sz="2400" dirty="0" smtClean="0">
                <a:solidFill>
                  <a:srgbClr val="FF00FF"/>
                </a:solidFill>
              </a:rPr>
              <a:t> </a:t>
            </a:r>
            <a:r>
              <a:rPr lang="en-US" altLang="zh-CN" sz="2400" dirty="0" err="1" smtClean="0">
                <a:solidFill>
                  <a:srgbClr val="FF00FF"/>
                </a:solidFill>
              </a:rPr>
              <a:t>IS_Student</a:t>
            </a:r>
            <a:endParaRPr lang="en-US" altLang="zh-CN" sz="2800" dirty="0" smtClean="0">
              <a:solidFill>
                <a:srgbClr val="FF00FF"/>
              </a:solidFill>
            </a:endParaRPr>
          </a:p>
          <a:p>
            <a:pPr lvl="2">
              <a:lnSpc>
                <a:spcPct val="130000"/>
              </a:lnSpc>
              <a:buFont typeface="Arial" panose="020B0604020202020204" pitchFamily="34" charset="0"/>
              <a:buNone/>
            </a:pPr>
            <a:r>
              <a:rPr lang="en-US" altLang="zh-CN" sz="2400" dirty="0" smtClean="0"/>
              <a:t>SET  </a:t>
            </a:r>
            <a:r>
              <a:rPr lang="en-US" altLang="zh-CN" sz="2400" dirty="0" err="1" smtClean="0"/>
              <a:t>Sname</a:t>
            </a:r>
            <a:r>
              <a:rPr lang="en-US" altLang="zh-CN" sz="2400" dirty="0" smtClean="0"/>
              <a:t>= '</a:t>
            </a:r>
            <a:r>
              <a:rPr lang="zh-CN" altLang="en-US" sz="2400" dirty="0" smtClean="0"/>
              <a:t>刘辰</a:t>
            </a:r>
            <a:r>
              <a:rPr lang="en-US" altLang="zh-CN" sz="2400" dirty="0" smtClean="0"/>
              <a:t>'</a:t>
            </a:r>
          </a:p>
          <a:p>
            <a:pPr lvl="2">
              <a:lnSpc>
                <a:spcPct val="130000"/>
              </a:lnSpc>
              <a:buFont typeface="Arial" panose="020B0604020202020204" pitchFamily="34" charset="0"/>
              <a:buNone/>
            </a:pPr>
            <a:r>
              <a:rPr lang="en-US" altLang="zh-CN" sz="2400" dirty="0" smtClean="0"/>
              <a:t>WHERE  </a:t>
            </a:r>
            <a:r>
              <a:rPr lang="en-US" altLang="zh-CN" sz="2400" dirty="0" err="1" smtClean="0"/>
              <a:t>Sno</a:t>
            </a:r>
            <a:r>
              <a:rPr lang="en-US" altLang="zh-CN" sz="2400" dirty="0" smtClean="0"/>
              <a:t>= ' 201215122 '</a:t>
            </a:r>
            <a:r>
              <a:rPr lang="zh-CN" altLang="en-US" sz="2400" dirty="0" smtClean="0"/>
              <a:t>;</a:t>
            </a:r>
          </a:p>
          <a:p>
            <a:pPr lvl="1">
              <a:lnSpc>
                <a:spcPct val="130000"/>
              </a:lnSpc>
              <a:buFont typeface="Wingdings" panose="05000000000000000000" pitchFamily="2" charset="2"/>
              <a:buNone/>
            </a:pPr>
            <a:r>
              <a:rPr lang="zh-CN" altLang="en-US" dirty="0" smtClean="0"/>
              <a:t>转换后的语句：</a:t>
            </a:r>
          </a:p>
          <a:p>
            <a:pPr lvl="2">
              <a:lnSpc>
                <a:spcPct val="130000"/>
              </a:lnSpc>
              <a:buFont typeface="Arial" panose="020B0604020202020204" pitchFamily="34" charset="0"/>
              <a:buNone/>
            </a:pPr>
            <a:r>
              <a:rPr lang="en-US" altLang="zh-CN" sz="2400" dirty="0" smtClean="0"/>
              <a:t>UPDATE </a:t>
            </a:r>
            <a:r>
              <a:rPr lang="en-US" altLang="zh-CN" sz="2400" dirty="0" smtClean="0">
                <a:solidFill>
                  <a:srgbClr val="FF00FF"/>
                </a:solidFill>
              </a:rPr>
              <a:t> Student</a:t>
            </a:r>
          </a:p>
          <a:p>
            <a:pPr lvl="2">
              <a:lnSpc>
                <a:spcPct val="130000"/>
              </a:lnSpc>
              <a:buFont typeface="Arial" panose="020B0604020202020204" pitchFamily="34" charset="0"/>
              <a:buNone/>
            </a:pPr>
            <a:r>
              <a:rPr lang="en-US" altLang="zh-CN" sz="2400" dirty="0" smtClean="0"/>
              <a:t>SET </a:t>
            </a:r>
            <a:r>
              <a:rPr lang="en-US" altLang="zh-CN" sz="2400" dirty="0" err="1" smtClean="0"/>
              <a:t>Sname</a:t>
            </a:r>
            <a:r>
              <a:rPr lang="en-US" altLang="zh-CN" sz="2400" dirty="0" smtClean="0"/>
              <a:t>= '</a:t>
            </a:r>
            <a:r>
              <a:rPr lang="zh-CN" altLang="en-US" sz="2400" dirty="0" smtClean="0"/>
              <a:t>刘辰</a:t>
            </a:r>
            <a:r>
              <a:rPr lang="en-US" altLang="zh-CN" sz="2400" dirty="0" smtClean="0"/>
              <a:t>'</a:t>
            </a:r>
          </a:p>
          <a:p>
            <a:pPr lvl="2">
              <a:lnSpc>
                <a:spcPct val="130000"/>
              </a:lnSpc>
              <a:buFont typeface="Arial" panose="020B0604020202020204" pitchFamily="34" charset="0"/>
              <a:buNone/>
            </a:pPr>
            <a:r>
              <a:rPr lang="en-US" altLang="zh-CN" sz="2400" dirty="0" smtClean="0"/>
              <a:t>WHERE </a:t>
            </a:r>
            <a:r>
              <a:rPr lang="en-US" altLang="zh-CN" sz="2400" dirty="0" err="1" smtClean="0"/>
              <a:t>Sno</a:t>
            </a:r>
            <a:r>
              <a:rPr lang="en-US" altLang="zh-CN" sz="2400" dirty="0" smtClean="0"/>
              <a:t>= ' 201215122 ' AND </a:t>
            </a:r>
            <a:r>
              <a:rPr lang="en-US" altLang="zh-CN" sz="2400" dirty="0" err="1" smtClean="0">
                <a:solidFill>
                  <a:srgbClr val="FF00FF"/>
                </a:solidFill>
              </a:rPr>
              <a:t>Sdept</a:t>
            </a:r>
            <a:r>
              <a:rPr lang="en-US" altLang="zh-CN" sz="2400" dirty="0" smtClean="0">
                <a:solidFill>
                  <a:srgbClr val="FF00FF"/>
                </a:solidFill>
              </a:rPr>
              <a:t>= 'IS'</a:t>
            </a:r>
            <a:r>
              <a:rPr lang="zh-CN" altLang="en-US" sz="2400" dirty="0" smtClean="0"/>
              <a:t>;</a:t>
            </a:r>
          </a:p>
        </p:txBody>
      </p:sp>
    </p:spTree>
    <p:extLst>
      <p:ext uri="{BB962C8B-B14F-4D97-AF65-F5344CB8AC3E}">
        <p14:creationId xmlns:p14="http://schemas.microsoft.com/office/powerpoint/2010/main" val="11341255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p:txBody>
          <a:bodyPr/>
          <a:lstStyle/>
          <a:p>
            <a:pPr eaLnBrk="1" hangingPunct="1"/>
            <a:r>
              <a:rPr lang="zh-CN" altLang="en-US" sz="3600" smtClean="0"/>
              <a:t>更新视图（续）</a:t>
            </a:r>
            <a:endParaRPr lang="zh-CN" altLang="en-US" sz="3600" smtClean="0">
              <a:latin typeface="宋体" panose="02010600030101010101" pitchFamily="2" charset="-122"/>
            </a:endParaRPr>
          </a:p>
        </p:txBody>
      </p:sp>
      <p:sp>
        <p:nvSpPr>
          <p:cNvPr id="70659" name="Rectangle 3"/>
          <p:cNvSpPr>
            <a:spLocks noGrp="1" noChangeArrowheads="1"/>
          </p:cNvSpPr>
          <p:nvPr>
            <p:ph type="body" idx="4294967295"/>
          </p:nvPr>
        </p:nvSpPr>
        <p:spPr>
          <a:xfrm>
            <a:off x="109538" y="1052513"/>
            <a:ext cx="9001125" cy="5329237"/>
          </a:xfrm>
        </p:spPr>
        <p:txBody>
          <a:bodyPr/>
          <a:lstStyle/>
          <a:p>
            <a:pPr>
              <a:lnSpc>
                <a:spcPct val="120000"/>
              </a:lnSpc>
            </a:pPr>
            <a:r>
              <a:rPr lang="en-US" altLang="zh-CN" dirty="0" smtClean="0"/>
              <a:t>DB2</a:t>
            </a:r>
            <a:r>
              <a:rPr lang="zh-CN" altLang="en-US" dirty="0" smtClean="0"/>
              <a:t>对视图更新的限制：</a:t>
            </a:r>
          </a:p>
          <a:p>
            <a:pPr lvl="1">
              <a:lnSpc>
                <a:spcPct val="120000"/>
              </a:lnSpc>
            </a:pPr>
            <a:r>
              <a:rPr lang="zh-CN" altLang="en-US" dirty="0" smtClean="0"/>
              <a:t>若视图是由两个以上基本表导出的，则此视图不允许更新。</a:t>
            </a:r>
          </a:p>
          <a:p>
            <a:pPr lvl="1">
              <a:lnSpc>
                <a:spcPct val="120000"/>
              </a:lnSpc>
            </a:pPr>
            <a:r>
              <a:rPr lang="zh-CN" altLang="en-US" dirty="0" smtClean="0"/>
              <a:t>若视图的字段来自字段表达式或常数，则不允许对此视图执行</a:t>
            </a:r>
            <a:r>
              <a:rPr lang="en-US" altLang="zh-CN" dirty="0" smtClean="0"/>
              <a:t>INSERT</a:t>
            </a:r>
            <a:r>
              <a:rPr lang="zh-CN" altLang="en-US" dirty="0" smtClean="0"/>
              <a:t>和</a:t>
            </a:r>
            <a:r>
              <a:rPr lang="en-US" altLang="zh-CN" dirty="0" smtClean="0"/>
              <a:t>UPDATE</a:t>
            </a:r>
            <a:r>
              <a:rPr lang="zh-CN" altLang="en-US" dirty="0" smtClean="0"/>
              <a:t>操作，但允许执行</a:t>
            </a:r>
            <a:r>
              <a:rPr lang="en-US" altLang="zh-CN" dirty="0" smtClean="0"/>
              <a:t>DELETE</a:t>
            </a:r>
            <a:r>
              <a:rPr lang="zh-CN" altLang="en-US" dirty="0" smtClean="0"/>
              <a:t>操作。</a:t>
            </a:r>
          </a:p>
          <a:p>
            <a:pPr lvl="1">
              <a:lnSpc>
                <a:spcPct val="120000"/>
              </a:lnSpc>
            </a:pPr>
            <a:r>
              <a:rPr lang="zh-CN" altLang="en-US" dirty="0" smtClean="0"/>
              <a:t>若视图的字段来自集函数，则此视图不允许更新。</a:t>
            </a:r>
          </a:p>
          <a:p>
            <a:pPr lvl="1">
              <a:lnSpc>
                <a:spcPct val="120000"/>
              </a:lnSpc>
            </a:pPr>
            <a:r>
              <a:rPr lang="zh-CN" altLang="en-US" dirty="0" smtClean="0"/>
              <a:t>若视图定义中含有</a:t>
            </a:r>
            <a:r>
              <a:rPr lang="en-US" altLang="zh-CN" dirty="0" smtClean="0"/>
              <a:t>GROUP BY</a:t>
            </a:r>
            <a:r>
              <a:rPr lang="zh-CN" altLang="en-US" dirty="0" smtClean="0"/>
              <a:t>子句，则此视图不允许更新。</a:t>
            </a:r>
          </a:p>
          <a:p>
            <a:pPr lvl="1">
              <a:lnSpc>
                <a:spcPct val="120000"/>
              </a:lnSpc>
            </a:pPr>
            <a:r>
              <a:rPr lang="zh-CN" altLang="en-US" dirty="0" smtClean="0"/>
              <a:t>若视图定义中含有</a:t>
            </a:r>
            <a:r>
              <a:rPr lang="en-US" altLang="zh-CN" dirty="0" smtClean="0"/>
              <a:t>DISTINCT</a:t>
            </a:r>
            <a:r>
              <a:rPr lang="zh-CN" altLang="en-US" dirty="0" smtClean="0"/>
              <a:t>短语，则此视图不允许更新。</a:t>
            </a:r>
            <a:endParaRPr lang="en-US" altLang="zh-CN" dirty="0" smtClean="0"/>
          </a:p>
          <a:p>
            <a:pPr lvl="1">
              <a:lnSpc>
                <a:spcPct val="120000"/>
              </a:lnSpc>
            </a:pPr>
            <a:r>
              <a:rPr lang="zh-CN" altLang="en-US" dirty="0" smtClean="0"/>
              <a:t>若视图定义中有嵌套查询，并且内层查询的</a:t>
            </a:r>
            <a:r>
              <a:rPr lang="en-US" altLang="zh-CN" dirty="0" smtClean="0"/>
              <a:t>FROM</a:t>
            </a:r>
            <a:r>
              <a:rPr lang="zh-CN" altLang="en-US" dirty="0" smtClean="0"/>
              <a:t>子句中涉及的表也是导出该视图的基本表，则此视图不允许更新。</a:t>
            </a:r>
          </a:p>
          <a:p>
            <a:pPr lvl="1">
              <a:lnSpc>
                <a:spcPct val="120000"/>
              </a:lnSpc>
            </a:pPr>
            <a:endParaRPr lang="zh-CN" altLang="en-US" dirty="0" smtClean="0"/>
          </a:p>
        </p:txBody>
      </p:sp>
    </p:spTree>
    <p:extLst>
      <p:ext uri="{BB962C8B-B14F-4D97-AF65-F5344CB8AC3E}">
        <p14:creationId xmlns:p14="http://schemas.microsoft.com/office/powerpoint/2010/main" val="18956607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p:txBody>
          <a:bodyPr/>
          <a:lstStyle/>
          <a:p>
            <a:pPr eaLnBrk="1" hangingPunct="1"/>
            <a:r>
              <a:rPr lang="zh-CN" altLang="en-US" sz="3600" dirty="0" smtClean="0"/>
              <a:t>视图的作用</a:t>
            </a:r>
          </a:p>
        </p:txBody>
      </p:sp>
      <p:sp>
        <p:nvSpPr>
          <p:cNvPr id="73731" name="Rectangle 3"/>
          <p:cNvSpPr>
            <a:spLocks noGrp="1" noChangeArrowheads="1"/>
          </p:cNvSpPr>
          <p:nvPr>
            <p:ph type="body" idx="4294967295"/>
          </p:nvPr>
        </p:nvSpPr>
        <p:spPr>
          <a:xfrm>
            <a:off x="457200" y="1339850"/>
            <a:ext cx="8578850" cy="4854575"/>
          </a:xfrm>
        </p:spPr>
        <p:txBody>
          <a:bodyPr>
            <a:normAutofit fontScale="85000" lnSpcReduction="20000"/>
          </a:bodyPr>
          <a:lstStyle/>
          <a:p>
            <a:pPr eaLnBrk="1" hangingPunct="1">
              <a:lnSpc>
                <a:spcPct val="150000"/>
              </a:lnSpc>
            </a:pPr>
            <a:r>
              <a:rPr lang="zh-CN" altLang="en-US" dirty="0" smtClean="0"/>
              <a:t>优点：</a:t>
            </a:r>
            <a:endParaRPr lang="en-US" altLang="zh-CN" dirty="0" smtClean="0"/>
          </a:p>
          <a:p>
            <a:pPr lvl="1">
              <a:lnSpc>
                <a:spcPct val="150000"/>
              </a:lnSpc>
            </a:pPr>
            <a:r>
              <a:rPr lang="zh-CN" altLang="en-US" dirty="0" smtClean="0"/>
              <a:t>视图能够简化用户的操作</a:t>
            </a:r>
          </a:p>
          <a:p>
            <a:pPr lvl="1">
              <a:lnSpc>
                <a:spcPct val="150000"/>
              </a:lnSpc>
            </a:pPr>
            <a:r>
              <a:rPr lang="zh-CN" altLang="en-US" dirty="0" smtClean="0"/>
              <a:t>视图使用户能以多种角度看待同一数据 </a:t>
            </a:r>
          </a:p>
          <a:p>
            <a:pPr lvl="1">
              <a:lnSpc>
                <a:spcPct val="150000"/>
              </a:lnSpc>
            </a:pPr>
            <a:r>
              <a:rPr lang="zh-CN" altLang="en-US" dirty="0" smtClean="0"/>
              <a:t>视图对重构数据库提供了一定程度的逻辑独立性 </a:t>
            </a:r>
          </a:p>
          <a:p>
            <a:pPr lvl="1">
              <a:lnSpc>
                <a:spcPct val="150000"/>
              </a:lnSpc>
            </a:pPr>
            <a:r>
              <a:rPr lang="zh-CN" altLang="en-US" dirty="0" smtClean="0"/>
              <a:t>视图能够对机密数据提供安全保护</a:t>
            </a:r>
          </a:p>
          <a:p>
            <a:pPr lvl="1">
              <a:lnSpc>
                <a:spcPct val="150000"/>
              </a:lnSpc>
            </a:pPr>
            <a:r>
              <a:rPr lang="zh-CN" altLang="en-US" dirty="0" smtClean="0"/>
              <a:t>适当的利用视图可以更清晰的表达查询</a:t>
            </a:r>
            <a:endParaRPr lang="en-US" altLang="zh-CN" dirty="0" smtClean="0"/>
          </a:p>
          <a:p>
            <a:pPr lvl="1">
              <a:lnSpc>
                <a:spcPct val="150000"/>
              </a:lnSpc>
            </a:pPr>
            <a:r>
              <a:rPr lang="zh-CN" altLang="en-US" dirty="0" smtClean="0"/>
              <a:t>节约存储成本</a:t>
            </a:r>
            <a:endParaRPr lang="en-US" altLang="zh-CN" dirty="0" smtClean="0"/>
          </a:p>
          <a:p>
            <a:pPr>
              <a:lnSpc>
                <a:spcPct val="150000"/>
              </a:lnSpc>
            </a:pPr>
            <a:r>
              <a:rPr lang="zh-CN" altLang="en-US" dirty="0" smtClean="0"/>
              <a:t>缺点</a:t>
            </a:r>
            <a:endParaRPr lang="en-US" altLang="zh-CN" dirty="0" smtClean="0"/>
          </a:p>
          <a:p>
            <a:pPr lvl="1">
              <a:lnSpc>
                <a:spcPct val="150000"/>
              </a:lnSpc>
            </a:pPr>
            <a:r>
              <a:rPr lang="zh-CN" altLang="en-US" dirty="0"/>
              <a:t>每次引用视图时使用处理</a:t>
            </a:r>
            <a:r>
              <a:rPr lang="zh-CN" altLang="en-US" dirty="0" smtClean="0"/>
              <a:t>时间</a:t>
            </a:r>
            <a:endParaRPr lang="en-US" altLang="zh-CN" dirty="0" smtClean="0"/>
          </a:p>
          <a:p>
            <a:pPr lvl="1"/>
            <a:r>
              <a:rPr lang="zh-CN" altLang="en-US" dirty="0" smtClean="0"/>
              <a:t>可以</a:t>
            </a:r>
            <a:r>
              <a:rPr lang="zh-CN" altLang="en-US" dirty="0"/>
              <a:t>或不可以直接更新</a:t>
            </a:r>
          </a:p>
          <a:p>
            <a:pPr>
              <a:lnSpc>
                <a:spcPct val="150000"/>
              </a:lnSpc>
            </a:pPr>
            <a:endParaRPr lang="en-US" altLang="zh-CN" dirty="0" smtClean="0"/>
          </a:p>
          <a:p>
            <a:pPr eaLnBrk="1" hangingPunct="1">
              <a:lnSpc>
                <a:spcPct val="150000"/>
              </a:lnSpc>
            </a:pPr>
            <a:endParaRPr lang="zh-CN" altLang="en-US" dirty="0" smtClean="0"/>
          </a:p>
          <a:p>
            <a:pPr eaLnBrk="1" hangingPunct="1"/>
            <a:endParaRPr lang="en-US" altLang="zh-CN" dirty="0" smtClean="0"/>
          </a:p>
        </p:txBody>
      </p:sp>
    </p:spTree>
    <p:extLst>
      <p:ext uri="{BB962C8B-B14F-4D97-AF65-F5344CB8AC3E}">
        <p14:creationId xmlns:p14="http://schemas.microsoft.com/office/powerpoint/2010/main" val="30533100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1363</TotalTime>
  <Words>2432</Words>
  <Application>Microsoft Office PowerPoint</Application>
  <PresentationFormat>全屏显示(4:3)</PresentationFormat>
  <Paragraphs>448</Paragraphs>
  <Slides>32</Slides>
  <Notes>16</Notes>
  <HiddenSlides>3</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32</vt:i4>
      </vt:variant>
    </vt:vector>
  </HeadingPairs>
  <TitlesOfParts>
    <vt:vector size="45" baseType="lpstr">
      <vt:lpstr>OPPOSans M</vt:lpstr>
      <vt:lpstr>SimHei</vt:lpstr>
      <vt:lpstr>宋体</vt:lpstr>
      <vt:lpstr>微软雅黑</vt:lpstr>
      <vt:lpstr>Arial</vt:lpstr>
      <vt:lpstr>Calibri</vt:lpstr>
      <vt:lpstr>Calibri Light</vt:lpstr>
      <vt:lpstr>Courier New</vt:lpstr>
      <vt:lpstr>Times New Roman</vt:lpstr>
      <vt:lpstr>Wingdings</vt:lpstr>
      <vt:lpstr>Office 主题</vt:lpstr>
      <vt:lpstr>Microsoft Word 97 - 2003 文档</vt:lpstr>
      <vt:lpstr>Document</vt:lpstr>
      <vt:lpstr>关系数据库标准语言SQL</vt:lpstr>
      <vt:lpstr>内容目录</vt:lpstr>
      <vt:lpstr>1. SQL基本介绍</vt:lpstr>
      <vt:lpstr>1. SQL基本介绍</vt:lpstr>
      <vt:lpstr>SQL标准的进展过程</vt:lpstr>
      <vt:lpstr>SQL标准的进展过程</vt:lpstr>
      <vt:lpstr>1. SQL基本介绍</vt:lpstr>
      <vt:lpstr>PowerPoint 演示文稿</vt:lpstr>
      <vt:lpstr>2. 数据库定义</vt:lpstr>
      <vt:lpstr>PowerPoint 演示文稿</vt:lpstr>
      <vt:lpstr>定义模式（续）</vt:lpstr>
      <vt:lpstr> 删除模式</vt:lpstr>
      <vt:lpstr>3. 基本表的定义、删除与修改</vt:lpstr>
      <vt:lpstr>数据表示例</vt:lpstr>
      <vt:lpstr>学生表Student</vt:lpstr>
      <vt:lpstr>课程表Course</vt:lpstr>
      <vt:lpstr>学生选课表SC</vt:lpstr>
      <vt:lpstr>修改基本表</vt:lpstr>
      <vt:lpstr>修改基本表（续）</vt:lpstr>
      <vt:lpstr>修改基本表（续）</vt:lpstr>
      <vt:lpstr>修改基本表（续）</vt:lpstr>
      <vt:lpstr>PowerPoint 演示文稿</vt:lpstr>
      <vt:lpstr>4.  视图 （view）</vt:lpstr>
      <vt:lpstr>建立视图</vt:lpstr>
      <vt:lpstr>建立视图（续）</vt:lpstr>
      <vt:lpstr>建立视图（续）</vt:lpstr>
      <vt:lpstr>建立视图（续）</vt:lpstr>
      <vt:lpstr>删除视图</vt:lpstr>
      <vt:lpstr>查询视图</vt:lpstr>
      <vt:lpstr>更新视图</vt:lpstr>
      <vt:lpstr>更新视图（续）</vt:lpstr>
      <vt:lpstr>视图的作用</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DELL</cp:lastModifiedBy>
  <cp:revision>312</cp:revision>
  <dcterms:created xsi:type="dcterms:W3CDTF">2020-09-13T01:44:02Z</dcterms:created>
  <dcterms:modified xsi:type="dcterms:W3CDTF">2025-09-19T05:20:34Z</dcterms:modified>
</cp:coreProperties>
</file>