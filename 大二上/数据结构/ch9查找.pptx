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35"/>
  </p:notesMasterIdLst>
  <p:handoutMasterIdLst>
    <p:handoutMasterId r:id="rId36"/>
  </p:handoutMasterIdLst>
  <p:sldIdLst>
    <p:sldId id="408" r:id="rId2"/>
    <p:sldId id="411" r:id="rId3"/>
    <p:sldId id="412" r:id="rId4"/>
    <p:sldId id="413" r:id="rId5"/>
    <p:sldId id="414" r:id="rId6"/>
    <p:sldId id="415" r:id="rId7"/>
    <p:sldId id="416" r:id="rId8"/>
    <p:sldId id="417" r:id="rId9"/>
    <p:sldId id="418" r:id="rId10"/>
    <p:sldId id="419" r:id="rId11"/>
    <p:sldId id="421" r:id="rId12"/>
    <p:sldId id="423" r:id="rId13"/>
    <p:sldId id="424" r:id="rId14"/>
    <p:sldId id="425" r:id="rId15"/>
    <p:sldId id="426" r:id="rId16"/>
    <p:sldId id="427" r:id="rId17"/>
    <p:sldId id="428" r:id="rId18"/>
    <p:sldId id="429" r:id="rId19"/>
    <p:sldId id="430" r:id="rId20"/>
    <p:sldId id="569" r:id="rId21"/>
    <p:sldId id="431" r:id="rId22"/>
    <p:sldId id="557" r:id="rId23"/>
    <p:sldId id="558" r:id="rId24"/>
    <p:sldId id="432" r:id="rId25"/>
    <p:sldId id="433" r:id="rId26"/>
    <p:sldId id="434" r:id="rId27"/>
    <p:sldId id="435" r:id="rId28"/>
    <p:sldId id="436" r:id="rId29"/>
    <p:sldId id="551" r:id="rId30"/>
    <p:sldId id="437" r:id="rId31"/>
    <p:sldId id="438" r:id="rId32"/>
    <p:sldId id="439" r:id="rId33"/>
    <p:sldId id="559" r:id="rId34"/>
  </p:sldIdLst>
  <p:sldSz cx="9144000" cy="6858000" type="screen4x3"/>
  <p:notesSz cx="7053263" cy="9309100"/>
  <p:defaultTextStyle>
    <a:defPPr>
      <a:defRPr lang="zh-CN"/>
    </a:defPPr>
    <a:lvl1pPr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b="1" i="1"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b="1" i="1"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32">
          <p15:clr>
            <a:srgbClr val="A4A3A4"/>
          </p15:clr>
        </p15:guide>
        <p15:guide id="2" pos="22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FFFF00"/>
    <a:srgbClr val="0033CC"/>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04" autoAdjust="0"/>
    <p:restoredTop sz="86635" autoAdjust="0"/>
  </p:normalViewPr>
  <p:slideViewPr>
    <p:cSldViewPr>
      <p:cViewPr varScale="1">
        <p:scale>
          <a:sx n="63" d="100"/>
          <a:sy n="63" d="100"/>
        </p:scale>
        <p:origin x="632"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216"/>
    </p:cViewPr>
  </p:sorterViewPr>
  <p:notesViewPr>
    <p:cSldViewPr>
      <p:cViewPr varScale="1">
        <p:scale>
          <a:sx n="40" d="100"/>
          <a:sy n="40" d="100"/>
        </p:scale>
        <p:origin x="-2194" y="-72"/>
      </p:cViewPr>
      <p:guideLst>
        <p:guide orient="horz" pos="2932"/>
        <p:guide pos="2222"/>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6DDA489-5CA9-42AC-87B5-EC6CC08386F3}"/>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5FBFC0E0-53C5-48C9-8D8B-44EE296BEEFC}"/>
              </a:ext>
            </a:extLst>
          </p:cNvPr>
          <p:cNvSpPr>
            <a:spLocks noGrp="1"/>
          </p:cNvSpPr>
          <p:nvPr>
            <p:ph type="dt" sz="quarter"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CACD4E5C-7694-4C1D-A680-E1D8703E6176}" type="datetimeFigureOut">
              <a:rPr lang="zh-CN" altLang="en-US"/>
              <a:pPr>
                <a:defRPr/>
              </a:pPr>
              <a:t>2024/11/10</a:t>
            </a:fld>
            <a:endParaRPr lang="zh-CN" altLang="en-US"/>
          </a:p>
        </p:txBody>
      </p:sp>
      <p:sp>
        <p:nvSpPr>
          <p:cNvPr id="4" name="页脚占位符 3">
            <a:extLst>
              <a:ext uri="{FF2B5EF4-FFF2-40B4-BE49-F238E27FC236}">
                <a16:creationId xmlns:a16="http://schemas.microsoft.com/office/drawing/2014/main" id="{A7BAF90B-F5BC-4C64-B964-7D061D5AD06D}"/>
              </a:ext>
            </a:extLst>
          </p:cNvPr>
          <p:cNvSpPr>
            <a:spLocks noGrp="1"/>
          </p:cNvSpPr>
          <p:nvPr>
            <p:ph type="ftr" sz="quarter" idx="2"/>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5" name="灯片编号占位符 4">
            <a:extLst>
              <a:ext uri="{FF2B5EF4-FFF2-40B4-BE49-F238E27FC236}">
                <a16:creationId xmlns:a16="http://schemas.microsoft.com/office/drawing/2014/main" id="{3BA8F92B-09B1-4BAB-85D5-AD49FB3979FB}"/>
              </a:ext>
            </a:extLst>
          </p:cNvPr>
          <p:cNvSpPr>
            <a:spLocks noGrp="1"/>
          </p:cNvSpPr>
          <p:nvPr>
            <p:ph type="sldNum" sz="quarter" idx="3"/>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38EC63C6-01A6-4CCC-BA52-6C0016C1108C}"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6E815836-6893-47BF-BF99-B202F59B3DFA}"/>
              </a:ext>
            </a:extLst>
          </p:cNvPr>
          <p:cNvSpPr>
            <a:spLocks noGrp="1"/>
          </p:cNvSpPr>
          <p:nvPr>
            <p:ph type="hdr" sz="quarter"/>
          </p:nvPr>
        </p:nvSpPr>
        <p:spPr>
          <a:xfrm>
            <a:off x="0" y="0"/>
            <a:ext cx="3055938" cy="465138"/>
          </a:xfrm>
          <a:prstGeom prst="rect">
            <a:avLst/>
          </a:prstGeom>
        </p:spPr>
        <p:txBody>
          <a:bodyPr vert="horz" lIns="93497" tIns="46749" rIns="93497" bIns="46749" rtlCol="0"/>
          <a:lstStyle>
            <a:lvl1pPr algn="l" eaLnBrk="1" hangingPunct="1">
              <a:spcBef>
                <a:spcPct val="50000"/>
              </a:spcBef>
              <a:defRPr sz="1200"/>
            </a:lvl1pPr>
          </a:lstStyle>
          <a:p>
            <a:pPr>
              <a:defRPr/>
            </a:pPr>
            <a:endParaRPr lang="zh-CN" altLang="en-US"/>
          </a:p>
        </p:txBody>
      </p:sp>
      <p:sp>
        <p:nvSpPr>
          <p:cNvPr id="3" name="日期占位符 2">
            <a:extLst>
              <a:ext uri="{FF2B5EF4-FFF2-40B4-BE49-F238E27FC236}">
                <a16:creationId xmlns:a16="http://schemas.microsoft.com/office/drawing/2014/main" id="{7170F3E2-B6C6-48C3-9597-6C8DB5BB536A}"/>
              </a:ext>
            </a:extLst>
          </p:cNvPr>
          <p:cNvSpPr>
            <a:spLocks noGrp="1"/>
          </p:cNvSpPr>
          <p:nvPr>
            <p:ph type="dt" idx="1"/>
          </p:nvPr>
        </p:nvSpPr>
        <p:spPr>
          <a:xfrm>
            <a:off x="3995738" y="0"/>
            <a:ext cx="3055937" cy="465138"/>
          </a:xfrm>
          <a:prstGeom prst="rect">
            <a:avLst/>
          </a:prstGeom>
        </p:spPr>
        <p:txBody>
          <a:bodyPr vert="horz" lIns="93497" tIns="46749" rIns="93497" bIns="46749" rtlCol="0"/>
          <a:lstStyle>
            <a:lvl1pPr algn="r" eaLnBrk="1" hangingPunct="1">
              <a:spcBef>
                <a:spcPct val="50000"/>
              </a:spcBef>
              <a:defRPr sz="1200"/>
            </a:lvl1pPr>
          </a:lstStyle>
          <a:p>
            <a:pPr>
              <a:defRPr/>
            </a:pPr>
            <a:fld id="{812FDD5B-07F5-485A-A1E1-007F0A3B4DB8}" type="datetimeFigureOut">
              <a:rPr lang="zh-CN" altLang="en-US"/>
              <a:pPr>
                <a:defRPr/>
              </a:pPr>
              <a:t>2024/11/10</a:t>
            </a:fld>
            <a:endParaRPr lang="zh-CN" altLang="en-US"/>
          </a:p>
        </p:txBody>
      </p:sp>
      <p:sp>
        <p:nvSpPr>
          <p:cNvPr id="4" name="幻灯片图像占位符 3">
            <a:extLst>
              <a:ext uri="{FF2B5EF4-FFF2-40B4-BE49-F238E27FC236}">
                <a16:creationId xmlns:a16="http://schemas.microsoft.com/office/drawing/2014/main" id="{0C818B51-FB66-41DC-A460-8C3C04DD0156}"/>
              </a:ext>
            </a:extLst>
          </p:cNvPr>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pPr lvl="0"/>
            <a:endParaRPr lang="zh-CN" altLang="en-US" noProof="0"/>
          </a:p>
        </p:txBody>
      </p:sp>
      <p:sp>
        <p:nvSpPr>
          <p:cNvPr id="5" name="备注占位符 4">
            <a:extLst>
              <a:ext uri="{FF2B5EF4-FFF2-40B4-BE49-F238E27FC236}">
                <a16:creationId xmlns:a16="http://schemas.microsoft.com/office/drawing/2014/main" id="{95074656-E628-4F43-8311-8A300EABE939}"/>
              </a:ext>
            </a:extLst>
          </p:cNvPr>
          <p:cNvSpPr>
            <a:spLocks noGrp="1"/>
          </p:cNvSpPr>
          <p:nvPr>
            <p:ph type="body" sz="quarter" idx="3"/>
          </p:nvPr>
        </p:nvSpPr>
        <p:spPr>
          <a:xfrm>
            <a:off x="704850" y="4421188"/>
            <a:ext cx="5643563" cy="4189412"/>
          </a:xfrm>
          <a:prstGeom prst="rect">
            <a:avLst/>
          </a:prstGeom>
        </p:spPr>
        <p:txBody>
          <a:bodyPr vert="horz" lIns="93497" tIns="46749" rIns="93497" bIns="4674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8A24EFC2-612D-49FC-99F1-53061A4FF448}"/>
              </a:ext>
            </a:extLst>
          </p:cNvPr>
          <p:cNvSpPr>
            <a:spLocks noGrp="1"/>
          </p:cNvSpPr>
          <p:nvPr>
            <p:ph type="ftr" sz="quarter" idx="4"/>
          </p:nvPr>
        </p:nvSpPr>
        <p:spPr>
          <a:xfrm>
            <a:off x="0" y="8842375"/>
            <a:ext cx="3055938" cy="465138"/>
          </a:xfrm>
          <a:prstGeom prst="rect">
            <a:avLst/>
          </a:prstGeom>
        </p:spPr>
        <p:txBody>
          <a:bodyPr vert="horz" lIns="93497" tIns="46749" rIns="93497" bIns="46749" rtlCol="0" anchor="b"/>
          <a:lstStyle>
            <a:lvl1pPr algn="l" eaLnBrk="1" hangingPunct="1">
              <a:spcBef>
                <a:spcPct val="50000"/>
              </a:spcBef>
              <a:defRPr sz="1200"/>
            </a:lvl1pPr>
          </a:lstStyle>
          <a:p>
            <a:pPr>
              <a:defRPr/>
            </a:pPr>
            <a:endParaRPr lang="zh-CN" altLang="en-US"/>
          </a:p>
        </p:txBody>
      </p:sp>
      <p:sp>
        <p:nvSpPr>
          <p:cNvPr id="7" name="灯片编号占位符 6">
            <a:extLst>
              <a:ext uri="{FF2B5EF4-FFF2-40B4-BE49-F238E27FC236}">
                <a16:creationId xmlns:a16="http://schemas.microsoft.com/office/drawing/2014/main" id="{424CD612-98FB-43F2-8E6D-0693C10EBDA4}"/>
              </a:ext>
            </a:extLst>
          </p:cNvPr>
          <p:cNvSpPr>
            <a:spLocks noGrp="1"/>
          </p:cNvSpPr>
          <p:nvPr>
            <p:ph type="sldNum" sz="quarter" idx="5"/>
          </p:nvPr>
        </p:nvSpPr>
        <p:spPr>
          <a:xfrm>
            <a:off x="3995738" y="8842375"/>
            <a:ext cx="3055937" cy="465138"/>
          </a:xfrm>
          <a:prstGeom prst="rect">
            <a:avLst/>
          </a:prstGeom>
        </p:spPr>
        <p:txBody>
          <a:bodyPr vert="horz" wrap="square" lIns="93497" tIns="46749" rIns="93497" bIns="46749" numCol="1" anchor="b" anchorCtr="0" compatLnSpc="1">
            <a:prstTxWarp prst="textNoShape">
              <a:avLst/>
            </a:prstTxWarp>
          </a:bodyPr>
          <a:lstStyle>
            <a:lvl1pPr algn="r" eaLnBrk="1" hangingPunct="1">
              <a:spcBef>
                <a:spcPct val="50000"/>
              </a:spcBef>
              <a:defRPr sz="1200"/>
            </a:lvl1pPr>
          </a:lstStyle>
          <a:p>
            <a:pPr>
              <a:defRPr/>
            </a:pPr>
            <a:fld id="{E2886F1E-DF14-4423-9EAE-CA0AC5D32B3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 = 1 + 2*2 + 3*2^2 + … + (h-1)*2^(h-2) + h*2^(h-1)</a:t>
            </a:r>
          </a:p>
          <a:p>
            <a:r>
              <a:rPr lang="en-US" altLang="zh-CN" dirty="0"/>
              <a:t>2S =      2   +  2*2^2 + …                           + (h-1)*2^(h-1)   + h*2^h</a:t>
            </a:r>
          </a:p>
          <a:p>
            <a:r>
              <a:rPr lang="en-US" altLang="zh-CN" dirty="0"/>
              <a:t>2S-S = -1 – 2 – 2^2 - … - 2^(h-1) + h*2^h = 1 – 2^h + h*2^h  = -n + (n+1)log(n+1)  = S</a:t>
            </a:r>
          </a:p>
          <a:p>
            <a:r>
              <a:rPr lang="en-US" altLang="zh-CN" dirty="0"/>
              <a:t>ASL = S/n</a:t>
            </a:r>
          </a:p>
          <a:p>
            <a:endParaRPr lang="en-US" altLang="zh-CN" dirty="0"/>
          </a:p>
          <a:p>
            <a:endParaRPr lang="zh-CN" altLang="en-US" dirty="0"/>
          </a:p>
        </p:txBody>
      </p:sp>
      <p:sp>
        <p:nvSpPr>
          <p:cNvPr id="4" name="灯片编号占位符 3"/>
          <p:cNvSpPr>
            <a:spLocks noGrp="1"/>
          </p:cNvSpPr>
          <p:nvPr>
            <p:ph type="sldNum" sz="quarter" idx="5"/>
          </p:nvPr>
        </p:nvSpPr>
        <p:spPr/>
        <p:txBody>
          <a:bodyPr/>
          <a:lstStyle/>
          <a:p>
            <a:pPr>
              <a:defRPr/>
            </a:pPr>
            <a:fld id="{E2886F1E-DF14-4423-9EAE-CA0AC5D32B39}" type="slidenum">
              <a:rPr lang="zh-CN" altLang="en-US" smtClean="0"/>
              <a:pPr>
                <a:defRPr/>
              </a:pPr>
              <a:t>26</a:t>
            </a:fld>
            <a:endParaRPr lang="zh-CN" altLang="en-US"/>
          </a:p>
        </p:txBody>
      </p:sp>
    </p:spTree>
    <p:extLst>
      <p:ext uri="{BB962C8B-B14F-4D97-AF65-F5344CB8AC3E}">
        <p14:creationId xmlns:p14="http://schemas.microsoft.com/office/powerpoint/2010/main" val="2476473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AutoShape 7">
            <a:extLst>
              <a:ext uri="{FF2B5EF4-FFF2-40B4-BE49-F238E27FC236}">
                <a16:creationId xmlns:a16="http://schemas.microsoft.com/office/drawing/2014/main" id="{BC8DE780-610B-4008-8E72-25884B50F1B4}"/>
              </a:ext>
            </a:extLst>
          </p:cNvPr>
          <p:cNvSpPr>
            <a:spLocks noChangeArrowheads="1"/>
          </p:cNvSpPr>
          <p:nvPr/>
        </p:nvSpPr>
        <p:spPr bwMode="auto">
          <a:xfrm>
            <a:off x="685800" y="3589338"/>
            <a:ext cx="7772400"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2194" name="Rectangle 2"/>
          <p:cNvSpPr>
            <a:spLocks noGrp="1" noChangeArrowheads="1"/>
          </p:cNvSpPr>
          <p:nvPr>
            <p:ph type="ctrTitle"/>
          </p:nvPr>
        </p:nvSpPr>
        <p:spPr>
          <a:xfrm>
            <a:off x="685800" y="1133475"/>
            <a:ext cx="7772400" cy="2339975"/>
          </a:xfrm>
        </p:spPr>
        <p:txBody>
          <a:bodyPr/>
          <a:lstStyle>
            <a:lvl1pPr algn="ctr">
              <a:defRPr sz="4400"/>
            </a:lvl1pPr>
          </a:lstStyle>
          <a:p>
            <a:r>
              <a:rPr lang="zh-CN" altLang="en-US"/>
              <a:t>单击此处编辑母版标题样式</a:t>
            </a:r>
          </a:p>
        </p:txBody>
      </p:sp>
      <p:sp>
        <p:nvSpPr>
          <p:cNvPr id="392195" name="Rectangle 3"/>
          <p:cNvSpPr>
            <a:spLocks noGrp="1" noChangeArrowheads="1"/>
          </p:cNvSpPr>
          <p:nvPr>
            <p:ph type="subTitle" idx="1"/>
          </p:nvPr>
        </p:nvSpPr>
        <p:spPr>
          <a:xfrm>
            <a:off x="701675" y="3833813"/>
            <a:ext cx="7756525" cy="1600200"/>
          </a:xfrm>
        </p:spPr>
        <p:txBody>
          <a:bodyPr/>
          <a:lstStyle>
            <a:lvl1pPr marL="0" indent="0" algn="ctr">
              <a:buFont typeface="Wingdings" pitchFamily="2" charset="2"/>
              <a:buNone/>
              <a:defRPr sz="2600"/>
            </a:lvl1pPr>
          </a:lstStyle>
          <a:p>
            <a:r>
              <a:rPr lang="zh-CN" altLang="en-US"/>
              <a:t>单击此处编辑母版副标题样式</a:t>
            </a:r>
          </a:p>
        </p:txBody>
      </p:sp>
      <p:sp>
        <p:nvSpPr>
          <p:cNvPr id="5" name="Rectangle 4">
            <a:extLst>
              <a:ext uri="{FF2B5EF4-FFF2-40B4-BE49-F238E27FC236}">
                <a16:creationId xmlns:a16="http://schemas.microsoft.com/office/drawing/2014/main" id="{1A34EAFF-A8E2-45EE-A57D-8D167A0DED7F}"/>
              </a:ext>
            </a:extLst>
          </p:cNvPr>
          <p:cNvSpPr>
            <a:spLocks noGrp="1" noChangeArrowheads="1"/>
          </p:cNvSpPr>
          <p:nvPr>
            <p:ph type="dt" sz="half" idx="10"/>
          </p:nvPr>
        </p:nvSpPr>
        <p:spPr>
          <a:xfrm>
            <a:off x="685800" y="6248400"/>
            <a:ext cx="1905000" cy="457200"/>
          </a:xfrm>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F636BBAD-8BB2-49CE-A7B1-BF91DEC311EC}"/>
              </a:ext>
            </a:extLst>
          </p:cNvPr>
          <p:cNvSpPr>
            <a:spLocks noGrp="1" noChangeArrowheads="1"/>
          </p:cNvSpPr>
          <p:nvPr>
            <p:ph type="ftr" sz="quarter" idx="11"/>
          </p:nvPr>
        </p:nvSpPr>
        <p:spPr>
          <a:xfrm>
            <a:off x="3124200" y="6248400"/>
            <a:ext cx="2895600" cy="457200"/>
          </a:xfrm>
        </p:spPr>
        <p:txBody>
          <a:bodyPr/>
          <a:lstStyle>
            <a:lvl1pPr algn="ctr">
              <a:defRPr/>
            </a:lvl1pPr>
          </a:lstStyle>
          <a:p>
            <a:pPr>
              <a:defRPr/>
            </a:pPr>
            <a:r>
              <a:rPr lang="en-US" altLang="zh-CN"/>
              <a:t>‹#›</a:t>
            </a:r>
          </a:p>
        </p:txBody>
      </p:sp>
      <p:sp>
        <p:nvSpPr>
          <p:cNvPr id="7" name="Slide Number Placeholder 6">
            <a:extLst>
              <a:ext uri="{FF2B5EF4-FFF2-40B4-BE49-F238E27FC236}">
                <a16:creationId xmlns:a16="http://schemas.microsoft.com/office/drawing/2014/main" id="{6BDEA920-43DE-45E4-9929-A62557FF9038}"/>
              </a:ext>
            </a:extLst>
          </p:cNvPr>
          <p:cNvSpPr>
            <a:spLocks noGrp="1" noChangeArrowheads="1"/>
          </p:cNvSpPr>
          <p:nvPr>
            <p:ph type="sldNum" sz="quarter" idx="12"/>
          </p:nvPr>
        </p:nvSpPr>
        <p:spPr bwMode="auto">
          <a:xfrm>
            <a:off x="6553200" y="6248400"/>
            <a:ext cx="1905000" cy="457200"/>
          </a:xfrm>
          <a:prstGeom prst="rect">
            <a:avLst/>
          </a:prstGeom>
          <a:ln>
            <a:miter lim="800000"/>
            <a:headEnd/>
            <a:tailEnd/>
          </a:ln>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AEFB9E9D-B4A0-4754-82A5-D6F3B5F5C043}" type="slidenum">
              <a:rPr lang="en-US" altLang="zh-CN"/>
              <a:pPr>
                <a:defRPr/>
              </a:pPr>
              <a:t>‹#›</a:t>
            </a:fld>
            <a:endParaRPr lang="en-US" altLang="zh-CN"/>
          </a:p>
        </p:txBody>
      </p:sp>
    </p:spTree>
    <p:extLst>
      <p:ext uri="{BB962C8B-B14F-4D97-AF65-F5344CB8AC3E}">
        <p14:creationId xmlns:p14="http://schemas.microsoft.com/office/powerpoint/2010/main" val="155029361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0920B2E7-C9A8-435D-8207-81D13DC0BF79}"/>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C552FDF-5124-4879-A6AC-1FBB684EC70C}"/>
              </a:ext>
            </a:extLst>
          </p:cNvPr>
          <p:cNvSpPr>
            <a:spLocks noGrp="1" noChangeArrowheads="1"/>
          </p:cNvSpPr>
          <p:nvPr>
            <p:ph type="ftr" sz="quarter" idx="11"/>
          </p:nvPr>
        </p:nvSpPr>
        <p:spPr/>
        <p:txBody>
          <a:bodyPr/>
          <a:lstStyle>
            <a:lvl1pPr>
              <a:defRPr/>
            </a:lvl1pPr>
          </a:lstStyle>
          <a:p>
            <a:pPr>
              <a:defRPr/>
            </a:pPr>
            <a:fld id="{BED4C918-4673-4FD1-9DE6-62282A0F5C38}" type="slidenum">
              <a:rPr lang="en-US" altLang="zh-CN"/>
              <a:pPr>
                <a:defRPr/>
              </a:pPr>
              <a:t>‹#›</a:t>
            </a:fld>
            <a:endParaRPr lang="en-US" altLang="zh-CN"/>
          </a:p>
        </p:txBody>
      </p:sp>
    </p:spTree>
    <p:extLst>
      <p:ext uri="{BB962C8B-B14F-4D97-AF65-F5344CB8AC3E}">
        <p14:creationId xmlns:p14="http://schemas.microsoft.com/office/powerpoint/2010/main" val="177019220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a:extLst>
              <a:ext uri="{FF2B5EF4-FFF2-40B4-BE49-F238E27FC236}">
                <a16:creationId xmlns:a16="http://schemas.microsoft.com/office/drawing/2014/main" id="{70A6D034-68FD-41BD-98B9-DE4BC0836D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7EC6100-CCD9-4C2C-949A-CF10BF801370}"/>
              </a:ext>
            </a:extLst>
          </p:cNvPr>
          <p:cNvSpPr>
            <a:spLocks noGrp="1" noChangeArrowheads="1"/>
          </p:cNvSpPr>
          <p:nvPr>
            <p:ph type="ftr" sz="quarter" idx="11"/>
          </p:nvPr>
        </p:nvSpPr>
        <p:spPr/>
        <p:txBody>
          <a:bodyPr/>
          <a:lstStyle>
            <a:lvl1pPr>
              <a:defRPr/>
            </a:lvl1pPr>
          </a:lstStyle>
          <a:p>
            <a:pPr>
              <a:defRPr/>
            </a:pPr>
            <a:fld id="{25F29EE8-9238-40D9-B914-CD91B7A90F54}" type="slidenum">
              <a:rPr lang="en-US" altLang="zh-CN"/>
              <a:pPr>
                <a:defRPr/>
              </a:pPr>
              <a:t>‹#›</a:t>
            </a:fld>
            <a:endParaRPr lang="en-US" altLang="zh-CN"/>
          </a:p>
        </p:txBody>
      </p:sp>
    </p:spTree>
    <p:extLst>
      <p:ext uri="{BB962C8B-B14F-4D97-AF65-F5344CB8AC3E}">
        <p14:creationId xmlns:p14="http://schemas.microsoft.com/office/powerpoint/2010/main" val="153380557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5667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3438" y="1341438"/>
            <a:ext cx="3924300" cy="4967287"/>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a:extLst>
              <a:ext uri="{FF2B5EF4-FFF2-40B4-BE49-F238E27FC236}">
                <a16:creationId xmlns:a16="http://schemas.microsoft.com/office/drawing/2014/main" id="{BB6A0732-3534-42BD-B5BA-43131CEEB729}"/>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F0439E7-C58E-406E-8BE8-55992C8AD1B9}"/>
              </a:ext>
            </a:extLst>
          </p:cNvPr>
          <p:cNvSpPr>
            <a:spLocks noGrp="1" noChangeArrowheads="1"/>
          </p:cNvSpPr>
          <p:nvPr>
            <p:ph type="ftr" sz="quarter" idx="11"/>
          </p:nvPr>
        </p:nvSpPr>
        <p:spPr/>
        <p:txBody>
          <a:bodyPr/>
          <a:lstStyle>
            <a:lvl1pPr>
              <a:defRPr/>
            </a:lvl1pPr>
          </a:lstStyle>
          <a:p>
            <a:pPr>
              <a:defRPr/>
            </a:pPr>
            <a:fld id="{623D1820-A405-4A5B-8C6B-D4251DE20CED}" type="slidenum">
              <a:rPr lang="en-US" altLang="zh-CN"/>
              <a:pPr>
                <a:defRPr/>
              </a:pPr>
              <a:t>‹#›</a:t>
            </a:fld>
            <a:endParaRPr lang="en-US" altLang="zh-CN"/>
          </a:p>
        </p:txBody>
      </p:sp>
    </p:spTree>
    <p:extLst>
      <p:ext uri="{BB962C8B-B14F-4D97-AF65-F5344CB8AC3E}">
        <p14:creationId xmlns:p14="http://schemas.microsoft.com/office/powerpoint/2010/main" val="27124903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a:extLst>
              <a:ext uri="{FF2B5EF4-FFF2-40B4-BE49-F238E27FC236}">
                <a16:creationId xmlns:a16="http://schemas.microsoft.com/office/drawing/2014/main" id="{85B09823-5458-4AA2-8873-5E2E0D3F01B4}"/>
              </a:ext>
            </a:extLst>
          </p:cNvPr>
          <p:cNvSpPr>
            <a:spLocks noGrp="1" noChangeArrowheads="1"/>
          </p:cNvSpPr>
          <p:nvPr>
            <p:ph type="dt" sz="half" idx="10"/>
          </p:nvPr>
        </p:nvSpPr>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8BA993A1-60A7-4850-896A-D45AE1D714E8}"/>
              </a:ext>
            </a:extLst>
          </p:cNvPr>
          <p:cNvSpPr>
            <a:spLocks noGrp="1" noChangeArrowheads="1"/>
          </p:cNvSpPr>
          <p:nvPr>
            <p:ph type="ftr" sz="quarter" idx="11"/>
          </p:nvPr>
        </p:nvSpPr>
        <p:spPr/>
        <p:txBody>
          <a:bodyPr/>
          <a:lstStyle>
            <a:lvl1pPr>
              <a:defRPr/>
            </a:lvl1pPr>
          </a:lstStyle>
          <a:p>
            <a:pPr>
              <a:defRPr/>
            </a:pPr>
            <a:fld id="{9450DBA7-4FBC-42A4-BED9-64859011D117}" type="slidenum">
              <a:rPr lang="en-US" altLang="zh-CN"/>
              <a:pPr>
                <a:defRPr/>
              </a:pPr>
              <a:t>‹#›</a:t>
            </a:fld>
            <a:endParaRPr lang="en-US" altLang="zh-CN"/>
          </a:p>
        </p:txBody>
      </p:sp>
    </p:spTree>
    <p:extLst>
      <p:ext uri="{BB962C8B-B14F-4D97-AF65-F5344CB8AC3E}">
        <p14:creationId xmlns:p14="http://schemas.microsoft.com/office/powerpoint/2010/main" val="962667714"/>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a:extLst>
              <a:ext uri="{FF2B5EF4-FFF2-40B4-BE49-F238E27FC236}">
                <a16:creationId xmlns:a16="http://schemas.microsoft.com/office/drawing/2014/main" id="{4BE9AA11-1C93-42DF-8149-14581DC2E7B5}"/>
              </a:ext>
            </a:extLst>
          </p:cNvPr>
          <p:cNvSpPr>
            <a:spLocks noGrp="1" noChangeArrowheads="1"/>
          </p:cNvSpPr>
          <p:nvPr>
            <p:ph type="dt" sz="half" idx="10"/>
          </p:nvPr>
        </p:nvSpPr>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3B49ECF1-D00D-4561-879C-4396851CB4D8}"/>
              </a:ext>
            </a:extLst>
          </p:cNvPr>
          <p:cNvSpPr>
            <a:spLocks noGrp="1" noChangeArrowheads="1"/>
          </p:cNvSpPr>
          <p:nvPr>
            <p:ph type="ftr" sz="quarter" idx="11"/>
          </p:nvPr>
        </p:nvSpPr>
        <p:spPr/>
        <p:txBody>
          <a:bodyPr/>
          <a:lstStyle>
            <a:lvl1pPr>
              <a:defRPr/>
            </a:lvl1pPr>
          </a:lstStyle>
          <a:p>
            <a:pPr>
              <a:defRPr/>
            </a:pPr>
            <a:fld id="{FB17DF36-A72F-4060-B13B-AE7AA7141250}" type="slidenum">
              <a:rPr lang="en-US" altLang="zh-CN"/>
              <a:pPr>
                <a:defRPr/>
              </a:pPr>
              <a:t>‹#›</a:t>
            </a:fld>
            <a:endParaRPr lang="en-US" altLang="zh-CN"/>
          </a:p>
        </p:txBody>
      </p:sp>
    </p:spTree>
    <p:extLst>
      <p:ext uri="{BB962C8B-B14F-4D97-AF65-F5344CB8AC3E}">
        <p14:creationId xmlns:p14="http://schemas.microsoft.com/office/powerpoint/2010/main" val="127297761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84BAE7E8-CCD9-4F53-9D77-1EFCDDAEE6F1}"/>
              </a:ext>
            </a:extLst>
          </p:cNvPr>
          <p:cNvSpPr>
            <a:spLocks noGrp="1" noChangeArrowheads="1"/>
          </p:cNvSpPr>
          <p:nvPr>
            <p:ph type="dt" sz="half" idx="10"/>
          </p:nvPr>
        </p:nvSpPr>
        <p:spPr/>
        <p:txBody>
          <a:bodyPr/>
          <a:lstStyle>
            <a:lvl1pPr>
              <a:defRPr/>
            </a:lvl1pPr>
          </a:lstStyle>
          <a:p>
            <a:pPr>
              <a:defRPr/>
            </a:pPr>
            <a:endParaRPr lang="en-US" altLang="zh-CN"/>
          </a:p>
        </p:txBody>
      </p:sp>
      <p:sp>
        <p:nvSpPr>
          <p:cNvPr id="3" name="Rectangle 6">
            <a:extLst>
              <a:ext uri="{FF2B5EF4-FFF2-40B4-BE49-F238E27FC236}">
                <a16:creationId xmlns:a16="http://schemas.microsoft.com/office/drawing/2014/main" id="{C8135134-BAEF-4D6A-AE2A-1E9A9C518663}"/>
              </a:ext>
            </a:extLst>
          </p:cNvPr>
          <p:cNvSpPr>
            <a:spLocks noGrp="1" noChangeArrowheads="1"/>
          </p:cNvSpPr>
          <p:nvPr>
            <p:ph type="ftr" sz="quarter" idx="11"/>
          </p:nvPr>
        </p:nvSpPr>
        <p:spPr/>
        <p:txBody>
          <a:bodyPr/>
          <a:lstStyle>
            <a:lvl1pPr>
              <a:defRPr/>
            </a:lvl1pPr>
          </a:lstStyle>
          <a:p>
            <a:pPr>
              <a:defRPr/>
            </a:pPr>
            <a:fld id="{BBE82323-E455-47E7-A754-0A63A55F216F}" type="slidenum">
              <a:rPr lang="en-US" altLang="zh-CN"/>
              <a:pPr>
                <a:defRPr/>
              </a:pPr>
              <a:t>‹#›</a:t>
            </a:fld>
            <a:endParaRPr lang="en-US" altLang="zh-CN"/>
          </a:p>
        </p:txBody>
      </p:sp>
    </p:spTree>
    <p:extLst>
      <p:ext uri="{BB962C8B-B14F-4D97-AF65-F5344CB8AC3E}">
        <p14:creationId xmlns:p14="http://schemas.microsoft.com/office/powerpoint/2010/main" val="161408523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8856343D-6C7D-4349-92EF-0AA1D2C42E70}"/>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6A9E0AF-AAD7-46CE-8EA5-082CFE368AFC}"/>
              </a:ext>
            </a:extLst>
          </p:cNvPr>
          <p:cNvSpPr>
            <a:spLocks noGrp="1" noChangeArrowheads="1"/>
          </p:cNvSpPr>
          <p:nvPr>
            <p:ph type="ftr" sz="quarter" idx="11"/>
          </p:nvPr>
        </p:nvSpPr>
        <p:spPr/>
        <p:txBody>
          <a:bodyPr/>
          <a:lstStyle>
            <a:lvl1pPr>
              <a:defRPr/>
            </a:lvl1pPr>
          </a:lstStyle>
          <a:p>
            <a:pPr>
              <a:defRPr/>
            </a:pPr>
            <a:fld id="{D433F731-DA8A-4C5D-B067-63C1C1E82C0F}" type="slidenum">
              <a:rPr lang="en-US" altLang="zh-CN"/>
              <a:pPr>
                <a:defRPr/>
              </a:pPr>
              <a:t>‹#›</a:t>
            </a:fld>
            <a:endParaRPr lang="en-US" altLang="zh-CN"/>
          </a:p>
        </p:txBody>
      </p:sp>
    </p:spTree>
    <p:extLst>
      <p:ext uri="{BB962C8B-B14F-4D97-AF65-F5344CB8AC3E}">
        <p14:creationId xmlns:p14="http://schemas.microsoft.com/office/powerpoint/2010/main" val="418536547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a:extLst>
              <a:ext uri="{FF2B5EF4-FFF2-40B4-BE49-F238E27FC236}">
                <a16:creationId xmlns:a16="http://schemas.microsoft.com/office/drawing/2014/main" id="{BC6E6A3B-0218-4C79-ADD9-851384F5B472}"/>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80F1F2E3-7DFE-4382-A3DF-5766B9007BB6}"/>
              </a:ext>
            </a:extLst>
          </p:cNvPr>
          <p:cNvSpPr>
            <a:spLocks noGrp="1" noChangeArrowheads="1"/>
          </p:cNvSpPr>
          <p:nvPr>
            <p:ph type="ftr" sz="quarter" idx="11"/>
          </p:nvPr>
        </p:nvSpPr>
        <p:spPr/>
        <p:txBody>
          <a:bodyPr/>
          <a:lstStyle>
            <a:lvl1pPr>
              <a:defRPr/>
            </a:lvl1pPr>
          </a:lstStyle>
          <a:p>
            <a:pPr>
              <a:defRPr/>
            </a:pPr>
            <a:fld id="{18D2653D-44F1-4EAA-B6BF-DA10394E2549}" type="slidenum">
              <a:rPr lang="en-US" altLang="zh-CN"/>
              <a:pPr>
                <a:defRPr/>
              </a:pPr>
              <a:t>‹#›</a:t>
            </a:fld>
            <a:endParaRPr lang="en-US" altLang="zh-CN"/>
          </a:p>
        </p:txBody>
      </p:sp>
    </p:spTree>
    <p:extLst>
      <p:ext uri="{BB962C8B-B14F-4D97-AF65-F5344CB8AC3E}">
        <p14:creationId xmlns:p14="http://schemas.microsoft.com/office/powerpoint/2010/main" val="42764166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49F25BD4-43A6-4658-AD94-845FE399DCB2}"/>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FD850C8D-6CA9-4D6B-9EAB-8932CFAF0035}"/>
              </a:ext>
            </a:extLst>
          </p:cNvPr>
          <p:cNvSpPr>
            <a:spLocks noGrp="1" noChangeArrowheads="1"/>
          </p:cNvSpPr>
          <p:nvPr>
            <p:ph type="ftr" sz="quarter" idx="11"/>
          </p:nvPr>
        </p:nvSpPr>
        <p:spPr/>
        <p:txBody>
          <a:bodyPr/>
          <a:lstStyle>
            <a:lvl1pPr>
              <a:defRPr/>
            </a:lvl1pPr>
          </a:lstStyle>
          <a:p>
            <a:pPr>
              <a:defRPr/>
            </a:pPr>
            <a:fld id="{64793927-80C2-4A1D-A722-2DF6B0F029CE}" type="slidenum">
              <a:rPr lang="en-US" altLang="zh-CN"/>
              <a:pPr>
                <a:defRPr/>
              </a:pPr>
              <a:t>‹#›</a:t>
            </a:fld>
            <a:endParaRPr lang="en-US" altLang="zh-CN"/>
          </a:p>
        </p:txBody>
      </p:sp>
    </p:spTree>
    <p:extLst>
      <p:ext uri="{BB962C8B-B14F-4D97-AF65-F5344CB8AC3E}">
        <p14:creationId xmlns:p14="http://schemas.microsoft.com/office/powerpoint/2010/main" val="900329416"/>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3838" y="304800"/>
            <a:ext cx="2001837" cy="60039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566738" y="304800"/>
            <a:ext cx="5854700" cy="60039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a:extLst>
              <a:ext uri="{FF2B5EF4-FFF2-40B4-BE49-F238E27FC236}">
                <a16:creationId xmlns:a16="http://schemas.microsoft.com/office/drawing/2014/main" id="{97FDA43B-58FE-4440-89F6-138D0E9350AB}"/>
              </a:ext>
            </a:extLst>
          </p:cNvPr>
          <p:cNvSpPr>
            <a:spLocks noGrp="1" noChangeArrowheads="1"/>
          </p:cNvSpPr>
          <p:nvPr>
            <p:ph type="dt" sz="half" idx="10"/>
          </p:nvPr>
        </p:nvSpPr>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D3A674E-0327-4716-8C90-A56F98B20960}"/>
              </a:ext>
            </a:extLst>
          </p:cNvPr>
          <p:cNvSpPr>
            <a:spLocks noGrp="1" noChangeArrowheads="1"/>
          </p:cNvSpPr>
          <p:nvPr>
            <p:ph type="ftr" sz="quarter" idx="11"/>
          </p:nvPr>
        </p:nvSpPr>
        <p:spPr/>
        <p:txBody>
          <a:bodyPr/>
          <a:lstStyle>
            <a:lvl1pPr>
              <a:defRPr/>
            </a:lvl1pPr>
          </a:lstStyle>
          <a:p>
            <a:pPr>
              <a:defRPr/>
            </a:pPr>
            <a:fld id="{0DDF9C4D-452E-4A35-9FC2-4446F6F4800C}" type="slidenum">
              <a:rPr lang="en-US" altLang="zh-CN"/>
              <a:pPr>
                <a:defRPr/>
              </a:pPr>
              <a:t>‹#›</a:t>
            </a:fld>
            <a:endParaRPr lang="en-US" altLang="zh-CN"/>
          </a:p>
        </p:txBody>
      </p:sp>
    </p:spTree>
    <p:extLst>
      <p:ext uri="{BB962C8B-B14F-4D97-AF65-F5344CB8AC3E}">
        <p14:creationId xmlns:p14="http://schemas.microsoft.com/office/powerpoint/2010/main" val="124196246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7BD2B31-8D2D-4896-8AC1-798F6B9B4598}"/>
              </a:ext>
            </a:extLst>
          </p:cNvPr>
          <p:cNvSpPr>
            <a:spLocks noGrp="1" noChangeArrowheads="1"/>
          </p:cNvSpPr>
          <p:nvPr>
            <p:ph type="title"/>
          </p:nvPr>
        </p:nvSpPr>
        <p:spPr bwMode="auto">
          <a:xfrm>
            <a:off x="574675" y="304800"/>
            <a:ext cx="8001000" cy="67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983424D8-0466-423F-B728-EB202D5CCB7E}"/>
              </a:ext>
            </a:extLst>
          </p:cNvPr>
          <p:cNvSpPr>
            <a:spLocks noGrp="1" noChangeArrowheads="1"/>
          </p:cNvSpPr>
          <p:nvPr>
            <p:ph type="body" idx="1"/>
          </p:nvPr>
        </p:nvSpPr>
        <p:spPr bwMode="auto">
          <a:xfrm>
            <a:off x="566738" y="1341438"/>
            <a:ext cx="8001000" cy="496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AutoShape 4">
            <a:extLst>
              <a:ext uri="{FF2B5EF4-FFF2-40B4-BE49-F238E27FC236}">
                <a16:creationId xmlns:a16="http://schemas.microsoft.com/office/drawing/2014/main" id="{ECC09B63-93A1-4EFF-A2AB-A51FF9BBEAA5}"/>
              </a:ext>
            </a:extLst>
          </p:cNvPr>
          <p:cNvSpPr>
            <a:spLocks noChangeArrowheads="1"/>
          </p:cNvSpPr>
          <p:nvPr/>
        </p:nvSpPr>
        <p:spPr bwMode="auto">
          <a:xfrm>
            <a:off x="611188" y="1125538"/>
            <a:ext cx="7958137" cy="109537"/>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zh-CN" altLang="en-US"/>
          </a:p>
        </p:txBody>
      </p:sp>
      <p:sp>
        <p:nvSpPr>
          <p:cNvPr id="391173" name="Rectangle 5">
            <a:extLst>
              <a:ext uri="{FF2B5EF4-FFF2-40B4-BE49-F238E27FC236}">
                <a16:creationId xmlns:a16="http://schemas.microsoft.com/office/drawing/2014/main" id="{002344CA-3748-4BE0-AE09-12A872D96C64}"/>
              </a:ext>
            </a:extLst>
          </p:cNvPr>
          <p:cNvSpPr>
            <a:spLocks noGrp="1" noChangeArrowheads="1"/>
          </p:cNvSpPr>
          <p:nvPr>
            <p:ph type="dt" sz="half" idx="2"/>
          </p:nvPr>
        </p:nvSpPr>
        <p:spPr bwMode="auto">
          <a:xfrm>
            <a:off x="609600" y="6245225"/>
            <a:ext cx="19812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0"/>
              </a:spcBef>
              <a:defRPr sz="1200" b="0" i="0">
                <a:latin typeface="Verdana" pitchFamily="34" charset="0"/>
              </a:defRPr>
            </a:lvl1pPr>
          </a:lstStyle>
          <a:p>
            <a:pPr>
              <a:defRPr/>
            </a:pPr>
            <a:endParaRPr lang="en-US" altLang="zh-CN"/>
          </a:p>
        </p:txBody>
      </p:sp>
      <p:sp>
        <p:nvSpPr>
          <p:cNvPr id="391174" name="Rectangle 6">
            <a:extLst>
              <a:ext uri="{FF2B5EF4-FFF2-40B4-BE49-F238E27FC236}">
                <a16:creationId xmlns:a16="http://schemas.microsoft.com/office/drawing/2014/main" id="{9B1A2CC4-AE9B-4143-AFDD-447CD53DF83C}"/>
              </a:ext>
            </a:extLst>
          </p:cNvPr>
          <p:cNvSpPr>
            <a:spLocks noGrp="1" noChangeArrowheads="1"/>
          </p:cNvSpPr>
          <p:nvPr>
            <p:ph type="ftr" sz="quarter" idx="3"/>
          </p:nvPr>
        </p:nvSpPr>
        <p:spPr bwMode="auto">
          <a:xfrm>
            <a:off x="7191375" y="6381750"/>
            <a:ext cx="1952625"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i="0">
                <a:latin typeface="Verdana" panose="020B0604030504040204" pitchFamily="34" charset="0"/>
              </a:defRPr>
            </a:lvl1pPr>
          </a:lstStyle>
          <a:p>
            <a:pPr>
              <a:defRPr/>
            </a:pPr>
            <a:fld id="{790B65A0-2926-4C69-8321-067D3A66B6D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04" r:id="rId1"/>
    <p:sldLayoutId id="2147483905" r:id="rId2"/>
    <p:sldLayoutId id="2147483906" r:id="rId3"/>
    <p:sldLayoutId id="2147483907" r:id="rId4"/>
    <p:sldLayoutId id="2147483908" r:id="rId5"/>
    <p:sldLayoutId id="2147483909" r:id="rId6"/>
    <p:sldLayoutId id="2147483910" r:id="rId7"/>
    <p:sldLayoutId id="2147483911" r:id="rId8"/>
    <p:sldLayoutId id="2147483912" r:id="rId9"/>
    <p:sldLayoutId id="2147483913" r:id="rId10"/>
    <p:sldLayoutId id="2147483914" r:id="rId11"/>
  </p:sldLayoutIdLst>
  <p:transition/>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Times New Roman" pitchFamily="18" charset="0"/>
          <a:ea typeface="黑体" pitchFamily="2" charset="-122"/>
        </a:defRPr>
      </a:lvl2pPr>
      <a:lvl3pPr algn="l" rtl="0" eaLnBrk="0" fontAlgn="base" hangingPunct="0">
        <a:spcBef>
          <a:spcPct val="0"/>
        </a:spcBef>
        <a:spcAft>
          <a:spcPct val="0"/>
        </a:spcAft>
        <a:defRPr sz="4200">
          <a:solidFill>
            <a:schemeClr val="tx2"/>
          </a:solidFill>
          <a:latin typeface="Times New Roman" pitchFamily="18" charset="0"/>
          <a:ea typeface="黑体" pitchFamily="2" charset="-122"/>
        </a:defRPr>
      </a:lvl3pPr>
      <a:lvl4pPr algn="l" rtl="0" eaLnBrk="0" fontAlgn="base" hangingPunct="0">
        <a:spcBef>
          <a:spcPct val="0"/>
        </a:spcBef>
        <a:spcAft>
          <a:spcPct val="0"/>
        </a:spcAft>
        <a:defRPr sz="4200">
          <a:solidFill>
            <a:schemeClr val="tx2"/>
          </a:solidFill>
          <a:latin typeface="Times New Roman" pitchFamily="18" charset="0"/>
          <a:ea typeface="黑体" pitchFamily="2" charset="-122"/>
        </a:defRPr>
      </a:lvl4pPr>
      <a:lvl5pPr algn="l" rtl="0" eaLnBrk="0" fontAlgn="base" hangingPunct="0">
        <a:spcBef>
          <a:spcPct val="0"/>
        </a:spcBef>
        <a:spcAft>
          <a:spcPct val="0"/>
        </a:spcAft>
        <a:defRPr sz="4200">
          <a:solidFill>
            <a:schemeClr val="tx2"/>
          </a:solidFill>
          <a:latin typeface="Times New Roman" pitchFamily="18" charset="0"/>
          <a:ea typeface="黑体" pitchFamily="2" charset="-122"/>
        </a:defRPr>
      </a:lvl5pPr>
      <a:lvl6pPr marL="457200" algn="l" rtl="0" fontAlgn="base">
        <a:spcBef>
          <a:spcPct val="0"/>
        </a:spcBef>
        <a:spcAft>
          <a:spcPct val="0"/>
        </a:spcAft>
        <a:defRPr sz="4200">
          <a:solidFill>
            <a:schemeClr val="tx2"/>
          </a:solidFill>
          <a:latin typeface="Times New Roman" pitchFamily="18" charset="0"/>
          <a:ea typeface="黑体" pitchFamily="2" charset="-122"/>
        </a:defRPr>
      </a:lvl6pPr>
      <a:lvl7pPr marL="914400" algn="l" rtl="0" fontAlgn="base">
        <a:spcBef>
          <a:spcPct val="0"/>
        </a:spcBef>
        <a:spcAft>
          <a:spcPct val="0"/>
        </a:spcAft>
        <a:defRPr sz="4200">
          <a:solidFill>
            <a:schemeClr val="tx2"/>
          </a:solidFill>
          <a:latin typeface="Times New Roman" pitchFamily="18" charset="0"/>
          <a:ea typeface="黑体" pitchFamily="2" charset="-122"/>
        </a:defRPr>
      </a:lvl7pPr>
      <a:lvl8pPr marL="1371600" algn="l" rtl="0" fontAlgn="base">
        <a:spcBef>
          <a:spcPct val="0"/>
        </a:spcBef>
        <a:spcAft>
          <a:spcPct val="0"/>
        </a:spcAft>
        <a:defRPr sz="4200">
          <a:solidFill>
            <a:schemeClr val="tx2"/>
          </a:solidFill>
          <a:latin typeface="Times New Roman" pitchFamily="18" charset="0"/>
          <a:ea typeface="黑体" pitchFamily="2" charset="-122"/>
        </a:defRPr>
      </a:lvl8pPr>
      <a:lvl9pPr marL="1828800" algn="l" rtl="0" fontAlgn="base">
        <a:spcBef>
          <a:spcPct val="0"/>
        </a:spcBef>
        <a:spcAft>
          <a:spcPct val="0"/>
        </a:spcAft>
        <a:defRPr sz="4200">
          <a:solidFill>
            <a:schemeClr val="tx2"/>
          </a:solidFill>
          <a:latin typeface="Times New Roman" pitchFamily="18" charset="0"/>
          <a:ea typeface="黑体" pitchFamily="2" charset="-122"/>
        </a:defRPr>
      </a:lvl9pPr>
    </p:titleStyle>
    <p:bodyStyle>
      <a:lvl1pPr marL="469900" indent="-469900" algn="l" rtl="0" eaLnBrk="0" fontAlgn="base" hangingPunct="0">
        <a:spcBef>
          <a:spcPct val="10000"/>
        </a:spcBef>
        <a:spcAft>
          <a:spcPct val="0"/>
        </a:spcAft>
        <a:buClr>
          <a:schemeClr val="accent2"/>
        </a:buClr>
        <a:buFont typeface="Wingdings" panose="05000000000000000000" pitchFamily="2" charset="2"/>
        <a:buChar char="o"/>
        <a:defRPr sz="2800">
          <a:solidFill>
            <a:schemeClr val="tx1"/>
          </a:solidFill>
          <a:latin typeface="+mn-lt"/>
          <a:ea typeface="+mn-ea"/>
          <a:cs typeface="+mn-cs"/>
        </a:defRPr>
      </a:lvl1pPr>
      <a:lvl2pPr marL="908050" indent="-436563" algn="l" rtl="0" eaLnBrk="0" fontAlgn="base" hangingPunct="0">
        <a:spcBef>
          <a:spcPct val="10000"/>
        </a:spcBef>
        <a:spcAft>
          <a:spcPct val="0"/>
        </a:spcAft>
        <a:buClr>
          <a:schemeClr val="accent2"/>
        </a:buClr>
        <a:buFont typeface="Wingdings" panose="05000000000000000000" pitchFamily="2" charset="2"/>
        <a:buChar char="n"/>
        <a:defRPr sz="2400">
          <a:solidFill>
            <a:srgbClr val="0033CC"/>
          </a:solidFill>
          <a:latin typeface="+mn-lt"/>
          <a:ea typeface="+mn-ea"/>
        </a:defRPr>
      </a:lvl2pPr>
      <a:lvl3pPr marL="1304925" indent="-395288" algn="l" rtl="0" eaLnBrk="0" fontAlgn="base" hangingPunct="0">
        <a:spcBef>
          <a:spcPct val="10000"/>
        </a:spcBef>
        <a:spcAft>
          <a:spcPct val="0"/>
        </a:spcAft>
        <a:buClr>
          <a:schemeClr val="accent2"/>
        </a:buClr>
        <a:buFont typeface="Wingdings" panose="05000000000000000000" pitchFamily="2" charset="2"/>
        <a:buChar char="p"/>
        <a:defRPr sz="2000">
          <a:solidFill>
            <a:srgbClr val="009900"/>
          </a:solidFill>
          <a:latin typeface="+mn-lt"/>
          <a:ea typeface="+mn-ea"/>
        </a:defRPr>
      </a:lvl3pPr>
      <a:lvl4pPr marL="1693863" indent="-387350" algn="l" rtl="0" eaLnBrk="0" fontAlgn="base" hangingPunct="0">
        <a:spcBef>
          <a:spcPct val="10000"/>
        </a:spcBef>
        <a:spcAft>
          <a:spcPct val="0"/>
        </a:spcAft>
        <a:buClr>
          <a:schemeClr val="accent2"/>
        </a:buClr>
        <a:buFont typeface="Wingdings" panose="05000000000000000000" pitchFamily="2" charset="2"/>
        <a:buChar char="n"/>
        <a:defRPr>
          <a:solidFill>
            <a:schemeClr val="tx1"/>
          </a:solidFill>
          <a:latin typeface="+mn-lt"/>
          <a:ea typeface="+mn-ea"/>
        </a:defRPr>
      </a:lvl4pPr>
      <a:lvl5pPr marL="2093913" indent="-398463" algn="l" rtl="0" eaLnBrk="0" fontAlgn="base" hangingPunct="0">
        <a:spcBef>
          <a:spcPct val="10000"/>
        </a:spcBef>
        <a:spcAft>
          <a:spcPct val="0"/>
        </a:spcAft>
        <a:buClr>
          <a:schemeClr val="accent2"/>
        </a:buClr>
        <a:buFont typeface="Wingdings" panose="05000000000000000000" pitchFamily="2" charset="2"/>
        <a:buChar char="§"/>
        <a:defRPr>
          <a:solidFill>
            <a:schemeClr val="tx1"/>
          </a:solidFill>
          <a:latin typeface="+mn-lt"/>
          <a:ea typeface="+mn-ea"/>
        </a:defRPr>
      </a:lvl5pPr>
      <a:lvl6pPr marL="25511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6pPr>
      <a:lvl7pPr marL="30083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7pPr>
      <a:lvl8pPr marL="34655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8pPr>
      <a:lvl9pPr marL="3922713" indent="-398463" algn="l" rtl="0" fontAlgn="base">
        <a:spcBef>
          <a:spcPct val="10000"/>
        </a:spcBef>
        <a:spcAft>
          <a:spcPct val="0"/>
        </a:spcAft>
        <a:buClr>
          <a:schemeClr val="accent2"/>
        </a:buClr>
        <a:buFont typeface="Wingdings"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3.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3510091-EB74-466B-85A5-2EC8BAEC572B}"/>
              </a:ext>
            </a:extLst>
          </p:cNvPr>
          <p:cNvSpPr>
            <a:spLocks noGrp="1" noChangeArrowheads="1"/>
          </p:cNvSpPr>
          <p:nvPr>
            <p:ph type="ctrTitle"/>
          </p:nvPr>
        </p:nvSpPr>
        <p:spPr/>
        <p:txBody>
          <a:bodyPr/>
          <a:lstStyle/>
          <a:p>
            <a:pPr eaLnBrk="1" hangingPunct="1"/>
            <a:r>
              <a:rPr lang="zh-CN" altLang="en-US" sz="6600" dirty="0"/>
              <a:t>数据结构</a:t>
            </a:r>
            <a:br>
              <a:rPr lang="zh-CN" altLang="en-US" sz="4000" dirty="0"/>
            </a:br>
            <a:endParaRPr lang="en-US" altLang="zh-CN" sz="4000" dirty="0"/>
          </a:p>
        </p:txBody>
      </p:sp>
      <p:sp>
        <p:nvSpPr>
          <p:cNvPr id="2" name="副标题 1">
            <a:extLst>
              <a:ext uri="{FF2B5EF4-FFF2-40B4-BE49-F238E27FC236}">
                <a16:creationId xmlns:a16="http://schemas.microsoft.com/office/drawing/2014/main" id="{34EA4402-E735-4C6A-8957-B5BA733F8176}"/>
              </a:ext>
            </a:extLst>
          </p:cNvPr>
          <p:cNvSpPr>
            <a:spLocks noGrp="1"/>
          </p:cNvSpPr>
          <p:nvPr>
            <p:ph type="subTitle" idx="1"/>
          </p:nvPr>
        </p:nvSpPr>
        <p:spPr/>
        <p:txBody>
          <a:bodyPr/>
          <a:lstStyle/>
          <a:p>
            <a:pPr>
              <a:defRPr/>
            </a:pPr>
            <a:r>
              <a:rPr lang="zh-CN" altLang="en-US" sz="4000" dirty="0">
                <a:solidFill>
                  <a:schemeClr val="tx2"/>
                </a:solidFill>
                <a:latin typeface="+mj-lt"/>
                <a:ea typeface="+mj-ea"/>
                <a:cs typeface="+mj-cs"/>
              </a:rPr>
              <a:t>第九章 查找</a:t>
            </a:r>
          </a:p>
        </p:txBody>
      </p:sp>
      <p:sp>
        <p:nvSpPr>
          <p:cNvPr id="3" name="Text Box 10">
            <a:extLst>
              <a:ext uri="{FF2B5EF4-FFF2-40B4-BE49-F238E27FC236}">
                <a16:creationId xmlns:a16="http://schemas.microsoft.com/office/drawing/2014/main" id="{5119230B-83E4-420C-81F4-EBB02AEBEBDF}"/>
              </a:ext>
            </a:extLst>
          </p:cNvPr>
          <p:cNvSpPr txBox="1">
            <a:spLocks noChangeArrowheads="1"/>
          </p:cNvSpPr>
          <p:nvPr/>
        </p:nvSpPr>
        <p:spPr bwMode="auto">
          <a:xfrm>
            <a:off x="236537" y="5434013"/>
            <a:ext cx="8686800" cy="132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400">
                <a:solidFill>
                  <a:schemeClr val="tx1"/>
                </a:solidFill>
                <a:latin typeface="Tahoma" pitchFamily="34" charset="0"/>
                <a:ea typeface="宋体" pitchFamily="2" charset="-122"/>
              </a:defRPr>
            </a:lvl1pPr>
            <a:lvl2pPr marL="742950" indent="-285750" eaLnBrk="0" hangingPunct="0">
              <a:defRPr sz="2400">
                <a:solidFill>
                  <a:schemeClr val="tx1"/>
                </a:solidFill>
                <a:latin typeface="Tahoma" pitchFamily="34" charset="0"/>
                <a:ea typeface="宋体" pitchFamily="2" charset="-122"/>
              </a:defRPr>
            </a:lvl2pPr>
            <a:lvl3pPr marL="1143000" indent="-228600" eaLnBrk="0" hangingPunct="0">
              <a:defRPr sz="2400">
                <a:solidFill>
                  <a:schemeClr val="tx1"/>
                </a:solidFill>
                <a:latin typeface="Tahoma" pitchFamily="34" charset="0"/>
                <a:ea typeface="宋体" pitchFamily="2" charset="-122"/>
              </a:defRPr>
            </a:lvl3pPr>
            <a:lvl4pPr marL="1600200" indent="-228600" eaLnBrk="0" hangingPunct="0">
              <a:defRPr sz="2400">
                <a:solidFill>
                  <a:schemeClr val="tx1"/>
                </a:solidFill>
                <a:latin typeface="Tahoma" pitchFamily="34" charset="0"/>
                <a:ea typeface="宋体" pitchFamily="2" charset="-122"/>
              </a:defRPr>
            </a:lvl4pPr>
            <a:lvl5pPr marL="2057400" indent="-228600" eaLnBrk="0" hangingPunct="0">
              <a:defRPr sz="2400">
                <a:solidFill>
                  <a:schemeClr val="tx1"/>
                </a:solidFill>
                <a:latin typeface="Tahoma" pitchFamily="34" charset="0"/>
                <a:ea typeface="宋体" pitchFamily="2" charset="-122"/>
              </a:defRPr>
            </a:lvl5pPr>
            <a:lvl6pPr marL="25146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6pPr>
            <a:lvl7pPr marL="29718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7pPr>
            <a:lvl8pPr marL="34290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8pPr>
            <a:lvl9pPr marL="3886200" indent="-228600" eaLnBrk="0" fontAlgn="base" hangingPunct="0">
              <a:spcBef>
                <a:spcPct val="0"/>
              </a:spcBef>
              <a:spcAft>
                <a:spcPct val="0"/>
              </a:spcAft>
              <a:buFont typeface="Arial" pitchFamily="34" charset="0"/>
              <a:defRPr sz="2400">
                <a:solidFill>
                  <a:schemeClr val="tx1"/>
                </a:solidFill>
                <a:latin typeface="Tahoma" pitchFamily="34" charset="0"/>
                <a:ea typeface="宋体" pitchFamily="2" charset="-122"/>
              </a:defRPr>
            </a:lvl9pPr>
          </a:lstStyle>
          <a:p>
            <a:pPr algn="ctr" eaLnBrk="1" hangingPunct="1"/>
            <a:endParaRPr lang="zh-CN" altLang="en-US" sz="2800" b="1" dirty="0">
              <a:latin typeface="楷体_GB2312" pitchFamily="1" charset="-122"/>
              <a:ea typeface="楷体_GB2312" pitchFamily="1" charset="-122"/>
            </a:endParaRPr>
          </a:p>
          <a:p>
            <a:pPr algn="ctr" eaLnBrk="1" hangingPunct="1"/>
            <a:endParaRPr lang="zh-CN" altLang="en-US" sz="2800" b="1" dirty="0">
              <a:latin typeface="楷体_GB2312" pitchFamily="1" charset="-122"/>
              <a:ea typeface="楷体_GB2312" pitchFamily="1" charset="-122"/>
            </a:endParaRPr>
          </a:p>
          <a:p>
            <a:pPr algn="r" eaLnBrk="1" hangingPunct="1"/>
            <a:r>
              <a:rPr lang="zh-CN" altLang="en-US" i="0" dirty="0">
                <a:solidFill>
                  <a:srgbClr val="808080"/>
                </a:solidFill>
                <a:latin typeface="宋体" pitchFamily="2" charset="-122"/>
              </a:rPr>
              <a:t>深圳大学计算机与软件学院</a:t>
            </a:r>
            <a:endParaRPr lang="zh-CN" altLang="en-US" sz="3200" i="0" dirty="0">
              <a:solidFill>
                <a:srgbClr val="808080"/>
              </a:solidFill>
              <a:latin typeface="华文行楷" pitchFamily="2" charset="-122"/>
              <a:ea typeface="华文行楷" pitchFamily="2" charset="-122"/>
            </a:endParaRPr>
          </a:p>
        </p:txBody>
      </p:sp>
      <p:sp>
        <p:nvSpPr>
          <p:cNvPr id="5" name="灯片编号占位符 4"/>
          <p:cNvSpPr>
            <a:spLocks noGrp="1"/>
          </p:cNvSpPr>
          <p:nvPr>
            <p:ph type="sldNum" sz="quarter" idx="12"/>
          </p:nvPr>
        </p:nvSpPr>
        <p:spPr/>
        <p:txBody>
          <a:bodyPr/>
          <a:lstStyle/>
          <a:p>
            <a:pPr>
              <a:defRPr/>
            </a:pPr>
            <a:fld id="{AEFB9E9D-B4A0-4754-82A5-D6F3B5F5C043}" type="slidenum">
              <a:rPr lang="en-US" altLang="zh-CN" smtClean="0"/>
              <a:pPr>
                <a:defRPr/>
              </a:pPr>
              <a:t>1</a:t>
            </a:fld>
            <a:endParaRPr lang="en-US" altLang="zh-CN"/>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a:xfrm>
            <a:off x="571472" y="1285860"/>
            <a:ext cx="5715000" cy="595322"/>
          </a:xfrm>
        </p:spPr>
        <p:txBody>
          <a:bodyPr/>
          <a:lstStyle/>
          <a:p>
            <a:pPr algn="l" eaLnBrk="1" hangingPunct="1"/>
            <a:r>
              <a:rPr lang="zh-CN" altLang="en-US" sz="3200" dirty="0">
                <a:latin typeface="黑体" pitchFamily="49" charset="-122"/>
                <a:ea typeface="黑体" pitchFamily="49" charset="-122"/>
              </a:rPr>
              <a:t>一、查找表(</a:t>
            </a:r>
            <a:r>
              <a:rPr lang="en-US" altLang="zh-CN" sz="3200" dirty="0">
                <a:latin typeface="黑体" pitchFamily="49" charset="-122"/>
                <a:ea typeface="黑体" pitchFamily="49" charset="-122"/>
              </a:rPr>
              <a:t>Search Table)</a:t>
            </a:r>
          </a:p>
        </p:txBody>
      </p:sp>
      <p:sp>
        <p:nvSpPr>
          <p:cNvPr id="614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7A080396-B2DB-4FF9-9E45-08DE5E3F6B51}" type="slidenum">
              <a:rPr lang="zh-CN" altLang="en-US"/>
              <a:pPr algn="r" eaLnBrk="1" hangingPunct="1">
                <a:spcBef>
                  <a:spcPct val="50000"/>
                </a:spcBef>
                <a:buFont typeface="Arial" pitchFamily="34" charset="0"/>
                <a:buNone/>
              </a:pPr>
              <a:t>2</a:t>
            </a:fld>
            <a:endParaRPr lang="en-US" altLang="zh-CN"/>
          </a:p>
        </p:txBody>
      </p:sp>
      <p:sp>
        <p:nvSpPr>
          <p:cNvPr id="6148" name="Text Box 4"/>
          <p:cNvSpPr txBox="1">
            <a:spLocks noChangeArrowheads="1"/>
          </p:cNvSpPr>
          <p:nvPr/>
        </p:nvSpPr>
        <p:spPr bwMode="auto">
          <a:xfrm>
            <a:off x="614394" y="302105"/>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第一节　查找的概念</a:t>
            </a:r>
          </a:p>
        </p:txBody>
      </p:sp>
      <p:sp>
        <p:nvSpPr>
          <p:cNvPr id="6149" name="Rectangle 5"/>
          <p:cNvSpPr>
            <a:spLocks noGrp="1" noChangeArrowheads="1"/>
          </p:cNvSpPr>
          <p:nvPr>
            <p:ph type="body" idx="4294967295"/>
          </p:nvPr>
        </p:nvSpPr>
        <p:spPr>
          <a:xfrm>
            <a:off x="571472" y="2000240"/>
            <a:ext cx="8072494"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查找表是由同一类型的数据元素</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或记录</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构成的集合</a:t>
            </a:r>
          </a:p>
          <a:p>
            <a:pPr eaLnBrk="1" hangingPunct="1">
              <a:lnSpc>
                <a:spcPct val="90000"/>
              </a:lnSpc>
              <a:spcBef>
                <a:spcPct val="30000"/>
              </a:spcBef>
            </a:pPr>
            <a:r>
              <a:rPr lang="zh-CN" altLang="en-US" dirty="0">
                <a:latin typeface="黑体" pitchFamily="49" charset="-122"/>
                <a:ea typeface="黑体" pitchFamily="49" charset="-122"/>
              </a:rPr>
              <a:t>对查找表的操作</a:t>
            </a:r>
            <a:r>
              <a:rPr lang="en-US" altLang="zh-CN" dirty="0">
                <a:latin typeface="黑体" pitchFamily="49" charset="-122"/>
                <a:ea typeface="黑体" pitchFamily="49" charset="-122"/>
              </a:rPr>
              <a:t>:</a:t>
            </a: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1.</a:t>
            </a:r>
            <a:r>
              <a:rPr lang="zh-CN" altLang="en-US" dirty="0">
                <a:latin typeface="黑体" pitchFamily="49" charset="-122"/>
                <a:ea typeface="黑体" pitchFamily="49" charset="-122"/>
              </a:rPr>
              <a:t>查询某个</a:t>
            </a:r>
            <a:r>
              <a:rPr lang="zh-CN" altLang="en-US" dirty="0">
                <a:latin typeface="Times New Roman" pitchFamily="18" charset="0"/>
                <a:ea typeface="黑体" pitchFamily="49" charset="-122"/>
              </a:rPr>
              <a:t>“</a:t>
            </a:r>
            <a:r>
              <a:rPr lang="zh-CN" altLang="en-US" dirty="0">
                <a:latin typeface="黑体" pitchFamily="49" charset="-122"/>
                <a:ea typeface="黑体" pitchFamily="49" charset="-122"/>
              </a:rPr>
              <a:t>特定的</a:t>
            </a:r>
            <a:r>
              <a:rPr lang="zh-CN" altLang="en-US" dirty="0">
                <a:latin typeface="Times New Roman" pitchFamily="18" charset="0"/>
                <a:ea typeface="黑体" pitchFamily="49" charset="-122"/>
              </a:rPr>
              <a:t>”</a:t>
            </a:r>
            <a:r>
              <a:rPr lang="zh-CN" altLang="en-US" dirty="0">
                <a:latin typeface="黑体" pitchFamily="49" charset="-122"/>
                <a:ea typeface="黑体" pitchFamily="49" charset="-122"/>
              </a:rPr>
              <a:t>数据元素是否在查找表中；</a:t>
            </a: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2.</a:t>
            </a:r>
            <a:r>
              <a:rPr lang="zh-CN" altLang="en-US" dirty="0">
                <a:latin typeface="黑体" pitchFamily="49" charset="-122"/>
                <a:ea typeface="黑体" pitchFamily="49" charset="-122"/>
              </a:rPr>
              <a:t>检索某个</a:t>
            </a:r>
            <a:r>
              <a:rPr lang="zh-CN" altLang="en-US" dirty="0">
                <a:latin typeface="Times New Roman" pitchFamily="18" charset="0"/>
                <a:ea typeface="黑体" pitchFamily="49" charset="-122"/>
              </a:rPr>
              <a:t>“</a:t>
            </a:r>
            <a:r>
              <a:rPr lang="zh-CN" altLang="en-US" dirty="0">
                <a:latin typeface="黑体" pitchFamily="49" charset="-122"/>
                <a:ea typeface="黑体" pitchFamily="49" charset="-122"/>
              </a:rPr>
              <a:t>特定的</a:t>
            </a:r>
            <a:r>
              <a:rPr lang="zh-CN" altLang="en-US" dirty="0">
                <a:latin typeface="Times New Roman" pitchFamily="18" charset="0"/>
                <a:ea typeface="黑体" pitchFamily="49" charset="-122"/>
              </a:rPr>
              <a:t>”</a:t>
            </a:r>
            <a:r>
              <a:rPr lang="zh-CN" altLang="en-US" dirty="0">
                <a:latin typeface="黑体" pitchFamily="49" charset="-122"/>
                <a:ea typeface="黑体" pitchFamily="49" charset="-122"/>
              </a:rPr>
              <a:t>数据元素的各种属性；</a:t>
            </a: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3.</a:t>
            </a:r>
            <a:r>
              <a:rPr lang="zh-CN" altLang="en-US" dirty="0">
                <a:latin typeface="黑体" pitchFamily="49" charset="-122"/>
                <a:ea typeface="黑体" pitchFamily="49" charset="-122"/>
              </a:rPr>
              <a:t>在查找表中插入一个数据元素；</a:t>
            </a: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4.</a:t>
            </a:r>
            <a:r>
              <a:rPr lang="zh-CN" altLang="en-US" dirty="0">
                <a:latin typeface="黑体" pitchFamily="49" charset="-122"/>
                <a:ea typeface="黑体" pitchFamily="49" charset="-122"/>
              </a:rPr>
              <a:t>从查找表中删去某个数据元素</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49">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149">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149">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14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648199A3-A4B9-42F5-8869-ACA4CF2EB107}" type="slidenum">
              <a:rPr lang="zh-CN" altLang="en-US"/>
              <a:pPr algn="r" eaLnBrk="1" hangingPunct="1">
                <a:spcBef>
                  <a:spcPct val="50000"/>
                </a:spcBef>
                <a:buFont typeface="Arial" pitchFamily="34" charset="0"/>
                <a:buNone/>
              </a:pPr>
              <a:t>3</a:t>
            </a:fld>
            <a:endParaRPr lang="en-US" altLang="zh-CN"/>
          </a:p>
        </p:txBody>
      </p:sp>
      <p:sp>
        <p:nvSpPr>
          <p:cNvPr id="7173" name="Rectangle 5"/>
          <p:cNvSpPr>
            <a:spLocks noGrp="1" noChangeArrowheads="1"/>
          </p:cNvSpPr>
          <p:nvPr>
            <p:ph type="body" idx="4294967295"/>
          </p:nvPr>
        </p:nvSpPr>
        <p:spPr>
          <a:xfrm>
            <a:off x="614394" y="1249890"/>
            <a:ext cx="8763000" cy="3090890"/>
          </a:xfrm>
        </p:spPr>
        <p:txBody>
          <a:bodyPr/>
          <a:lstStyle/>
          <a:p>
            <a:pPr eaLnBrk="1" hangingPunct="1">
              <a:lnSpc>
                <a:spcPct val="90000"/>
              </a:lnSpc>
              <a:spcBef>
                <a:spcPct val="30000"/>
              </a:spcBef>
            </a:pPr>
            <a:r>
              <a:rPr lang="zh-CN" altLang="en-US" dirty="0">
                <a:latin typeface="黑体" pitchFamily="49" charset="-122"/>
                <a:ea typeface="黑体" pitchFamily="49" charset="-122"/>
              </a:rPr>
              <a:t>静态查找表</a:t>
            </a:r>
          </a:p>
          <a:p>
            <a:pPr eaLnBrk="1" hangingPunct="1">
              <a:lnSpc>
                <a:spcPct val="90000"/>
              </a:lnSpc>
              <a:spcBef>
                <a:spcPct val="30000"/>
              </a:spcBef>
              <a:buFont typeface="Wingdings" pitchFamily="2" charset="2"/>
              <a:buNone/>
            </a:pPr>
            <a:r>
              <a:rPr lang="zh-CN" altLang="en-US" dirty="0">
                <a:latin typeface="黑体" pitchFamily="49" charset="-122"/>
                <a:ea typeface="黑体" pitchFamily="49" charset="-122"/>
              </a:rPr>
              <a:t>　 仅作查询和检索操作的查找表。</a:t>
            </a:r>
          </a:p>
          <a:p>
            <a:pPr eaLnBrk="1" hangingPunct="1">
              <a:lnSpc>
                <a:spcPct val="90000"/>
              </a:lnSpc>
              <a:spcBef>
                <a:spcPct val="30000"/>
              </a:spcBef>
            </a:pPr>
            <a:endParaRPr lang="zh-CN" altLang="en-US" b="1" dirty="0">
              <a:latin typeface="黑体" pitchFamily="49" charset="-122"/>
              <a:ea typeface="黑体" pitchFamily="49" charset="-122"/>
            </a:endParaRPr>
          </a:p>
          <a:p>
            <a:pPr eaLnBrk="1" hangingPunct="1">
              <a:lnSpc>
                <a:spcPct val="90000"/>
              </a:lnSpc>
              <a:spcBef>
                <a:spcPct val="30000"/>
              </a:spcBef>
            </a:pPr>
            <a:r>
              <a:rPr lang="zh-CN" altLang="en-US" dirty="0">
                <a:latin typeface="黑体" pitchFamily="49" charset="-122"/>
                <a:ea typeface="黑体" pitchFamily="49" charset="-122"/>
              </a:rPr>
              <a:t>动态查找表</a:t>
            </a:r>
          </a:p>
          <a:p>
            <a:pPr eaLnBrk="1" hangingPunct="1">
              <a:lnSpc>
                <a:spcPct val="90000"/>
              </a:lnSpc>
              <a:spcBef>
                <a:spcPct val="30000"/>
              </a:spcBef>
              <a:buFont typeface="Wingdings" pitchFamily="2" charset="2"/>
              <a:buNone/>
            </a:pPr>
            <a:r>
              <a:rPr lang="zh-CN" altLang="en-US" dirty="0">
                <a:latin typeface="黑体" pitchFamily="49" charset="-122"/>
                <a:ea typeface="黑体" pitchFamily="49" charset="-122"/>
              </a:rPr>
              <a:t>　 在查找过程中同时</a:t>
            </a:r>
            <a:r>
              <a:rPr lang="zh-CN" altLang="en-US" dirty="0">
                <a:solidFill>
                  <a:schemeClr val="hlink"/>
                </a:solidFill>
                <a:latin typeface="黑体" pitchFamily="49" charset="-122"/>
                <a:ea typeface="黑体" pitchFamily="49" charset="-122"/>
              </a:rPr>
              <a:t>插入</a:t>
            </a:r>
            <a:r>
              <a:rPr lang="zh-CN" altLang="en-US" dirty="0">
                <a:latin typeface="黑体" pitchFamily="49" charset="-122"/>
                <a:ea typeface="黑体" pitchFamily="49" charset="-122"/>
              </a:rPr>
              <a:t>查找表中不存在的数据元素， </a:t>
            </a:r>
            <a:endParaRPr lang="en-US" altLang="zh-CN" dirty="0">
              <a:latin typeface="黑体" pitchFamily="49" charset="-122"/>
              <a:ea typeface="黑体" pitchFamily="49" charset="-122"/>
            </a:endParaRP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   </a:t>
            </a:r>
            <a:r>
              <a:rPr lang="zh-CN" altLang="en-US" dirty="0">
                <a:latin typeface="黑体" pitchFamily="49" charset="-122"/>
                <a:ea typeface="黑体" pitchFamily="49" charset="-122"/>
              </a:rPr>
              <a:t>或者从查找表中</a:t>
            </a:r>
            <a:r>
              <a:rPr lang="zh-CN" altLang="en-US" dirty="0">
                <a:solidFill>
                  <a:schemeClr val="hlink"/>
                </a:solidFill>
                <a:latin typeface="黑体" pitchFamily="49" charset="-122"/>
                <a:ea typeface="黑体" pitchFamily="49" charset="-122"/>
              </a:rPr>
              <a:t>删除</a:t>
            </a:r>
            <a:r>
              <a:rPr lang="zh-CN" altLang="en-US" dirty="0">
                <a:latin typeface="黑体" pitchFamily="49" charset="-122"/>
                <a:ea typeface="黑体" pitchFamily="49" charset="-122"/>
              </a:rPr>
              <a:t>已存在的某个数据元素</a:t>
            </a:r>
          </a:p>
        </p:txBody>
      </p:sp>
      <p:sp>
        <p:nvSpPr>
          <p:cNvPr id="7" name="Text Box 4"/>
          <p:cNvSpPr txBox="1">
            <a:spLocks noChangeArrowheads="1"/>
          </p:cNvSpPr>
          <p:nvPr/>
        </p:nvSpPr>
        <p:spPr bwMode="auto">
          <a:xfrm>
            <a:off x="614394" y="302105"/>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一、查找表分类</a:t>
            </a:r>
          </a:p>
        </p:txBody>
      </p:sp>
      <p:sp>
        <p:nvSpPr>
          <p:cNvPr id="2" name="对话气泡: 圆角矩形 1">
            <a:extLst>
              <a:ext uri="{FF2B5EF4-FFF2-40B4-BE49-F238E27FC236}">
                <a16:creationId xmlns:a16="http://schemas.microsoft.com/office/drawing/2014/main" id="{F50CEAEA-C0D5-4BFA-8D53-2A1306BDB810}"/>
              </a:ext>
            </a:extLst>
          </p:cNvPr>
          <p:cNvSpPr/>
          <p:nvPr/>
        </p:nvSpPr>
        <p:spPr bwMode="auto">
          <a:xfrm>
            <a:off x="5572861" y="1127461"/>
            <a:ext cx="3326870" cy="476726"/>
          </a:xfrm>
          <a:prstGeom prst="wedgeRoundRectCallout">
            <a:avLst>
              <a:gd name="adj1" fmla="val -43566"/>
              <a:gd name="adj2" fmla="val 102652"/>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插入、删除效率低。</a:t>
            </a:r>
          </a:p>
        </p:txBody>
      </p:sp>
      <p:sp>
        <p:nvSpPr>
          <p:cNvPr id="8" name="对话气泡: 圆角矩形 7">
            <a:extLst>
              <a:ext uri="{FF2B5EF4-FFF2-40B4-BE49-F238E27FC236}">
                <a16:creationId xmlns:a16="http://schemas.microsoft.com/office/drawing/2014/main" id="{813B3905-0107-4AE9-81AA-BD8E0EDD8751}"/>
              </a:ext>
            </a:extLst>
          </p:cNvPr>
          <p:cNvSpPr/>
          <p:nvPr/>
        </p:nvSpPr>
        <p:spPr bwMode="auto">
          <a:xfrm>
            <a:off x="5884297" y="2404426"/>
            <a:ext cx="3182854" cy="476726"/>
          </a:xfrm>
          <a:prstGeom prst="wedgeRoundRectCallout">
            <a:avLst>
              <a:gd name="adj1" fmla="val -45483"/>
              <a:gd name="adj2" fmla="val 175667"/>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lang="zh-CN" altLang="en-US" sz="2800" i="0" dirty="0"/>
              <a:t>插入、删除效率高。</a:t>
            </a:r>
            <a:endParaRPr kumimoji="0" lang="zh-CN" altLang="en-US" sz="2800" b="1" i="0" u="none" strike="noStrike" cap="none" normalizeH="0" baseline="0" dirty="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7173">
                                            <p:txEl>
                                              <p:pRg st="4" end="4"/>
                                            </p:txEl>
                                          </p:spTgt>
                                        </p:tgtEl>
                                        <p:attrNameLst>
                                          <p:attrName>style.visibility</p:attrName>
                                        </p:attrNameLst>
                                      </p:cBhvr>
                                      <p:to>
                                        <p:strVal val="visible"/>
                                      </p:to>
                                    </p:set>
                                    <p:animEffect transition="in" filter="blinds(horizontal)">
                                      <p:cBhvr>
                                        <p:cTn id="11" dur="500"/>
                                        <p:tgtEl>
                                          <p:spTgt spid="7173">
                                            <p:txEl>
                                              <p:pRg st="4" end="4"/>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3" presetClass="entr" presetSubtype="10" fill="hold" nodeType="clickEffect">
                                  <p:stCondLst>
                                    <p:cond delay="0"/>
                                  </p:stCondLst>
                                  <p:childTnLst>
                                    <p:set>
                                      <p:cBhvr>
                                        <p:cTn id="15" dur="1" fill="hold">
                                          <p:stCondLst>
                                            <p:cond delay="0"/>
                                          </p:stCondLst>
                                        </p:cTn>
                                        <p:tgtEl>
                                          <p:spTgt spid="7173">
                                            <p:txEl>
                                              <p:pRg st="5" end="5"/>
                                            </p:txEl>
                                          </p:spTgt>
                                        </p:tgtEl>
                                        <p:attrNameLst>
                                          <p:attrName>style.visibility</p:attrName>
                                        </p:attrNameLst>
                                      </p:cBhvr>
                                      <p:to>
                                        <p:strVal val="visible"/>
                                      </p:to>
                                    </p:set>
                                    <p:animEffect transition="in" filter="blinds(horizontal)">
                                      <p:cBhvr>
                                        <p:cTn id="16" dur="500"/>
                                        <p:tgtEl>
                                          <p:spTgt spid="7173">
                                            <p:txEl>
                                              <p:pRg st="5" end="5"/>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171C8268-3634-4501-8F9C-02D86CE10098}" type="slidenum">
              <a:rPr lang="zh-CN" altLang="en-US"/>
              <a:pPr algn="r" eaLnBrk="1" hangingPunct="1">
                <a:spcBef>
                  <a:spcPct val="50000"/>
                </a:spcBef>
                <a:buFont typeface="Arial" pitchFamily="34" charset="0"/>
                <a:buNone/>
              </a:pPr>
              <a:t>4</a:t>
            </a:fld>
            <a:endParaRPr lang="en-US" altLang="zh-CN"/>
          </a:p>
        </p:txBody>
      </p:sp>
      <p:sp>
        <p:nvSpPr>
          <p:cNvPr id="8197" name="Rectangle 5"/>
          <p:cNvSpPr>
            <a:spLocks noGrp="1" noChangeArrowheads="1"/>
          </p:cNvSpPr>
          <p:nvPr>
            <p:ph type="body" idx="4294967295"/>
          </p:nvPr>
        </p:nvSpPr>
        <p:spPr>
          <a:xfrm>
            <a:off x="591135" y="1268760"/>
            <a:ext cx="8763000" cy="4038600"/>
          </a:xfrm>
        </p:spPr>
        <p:txBody>
          <a:bodyPr/>
          <a:lstStyle/>
          <a:p>
            <a:pPr eaLnBrk="1" hangingPunct="1">
              <a:spcBef>
                <a:spcPct val="70000"/>
              </a:spcBef>
            </a:pPr>
            <a:r>
              <a:rPr lang="zh-CN" altLang="en-US" dirty="0">
                <a:solidFill>
                  <a:srgbClr val="FF0000"/>
                </a:solidFill>
                <a:latin typeface="+mn-ea"/>
              </a:rPr>
              <a:t>关键字</a:t>
            </a:r>
            <a:r>
              <a:rPr lang="zh-CN" altLang="en-US" dirty="0">
                <a:latin typeface="+mn-ea"/>
              </a:rPr>
              <a:t>是数据元素（或记录）中某个数据项的值，用以标识（识别）一个数据元素（或记录）</a:t>
            </a:r>
          </a:p>
          <a:p>
            <a:pPr eaLnBrk="1" hangingPunct="1">
              <a:spcBef>
                <a:spcPct val="70000"/>
              </a:spcBef>
            </a:pPr>
            <a:endParaRPr lang="zh-CN" altLang="en-US" dirty="0">
              <a:latin typeface="+mn-ea"/>
            </a:endParaRPr>
          </a:p>
          <a:p>
            <a:pPr eaLnBrk="1" hangingPunct="1">
              <a:spcBef>
                <a:spcPct val="70000"/>
              </a:spcBef>
            </a:pPr>
            <a:r>
              <a:rPr lang="zh-CN" altLang="en-US" dirty="0">
                <a:latin typeface="+mn-ea"/>
              </a:rPr>
              <a:t>主关键字：可以识别唯一的一个记录的关键字</a:t>
            </a:r>
          </a:p>
          <a:p>
            <a:pPr eaLnBrk="1" hangingPunct="1">
              <a:spcBef>
                <a:spcPct val="70000"/>
              </a:spcBef>
            </a:pPr>
            <a:r>
              <a:rPr lang="zh-CN" altLang="en-US" dirty="0">
                <a:latin typeface="+mn-ea"/>
              </a:rPr>
              <a:t>次关键字：能识别若干记录的关键字</a:t>
            </a:r>
          </a:p>
        </p:txBody>
      </p:sp>
      <p:sp>
        <p:nvSpPr>
          <p:cNvPr id="7" name="Text Box 4"/>
          <p:cNvSpPr txBox="1">
            <a:spLocks noChangeArrowheads="1"/>
          </p:cNvSpPr>
          <p:nvPr/>
        </p:nvSpPr>
        <p:spPr bwMode="auto">
          <a:xfrm>
            <a:off x="614394" y="285728"/>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二、关键字</a:t>
            </a:r>
            <a:r>
              <a:rPr lang="en-US" altLang="zh-CN" sz="4400" i="0" dirty="0">
                <a:solidFill>
                  <a:schemeClr val="tx2"/>
                </a:solidFill>
                <a:latin typeface="Tahoma" panose="020B0604030504040204" pitchFamily="34" charset="0"/>
                <a:ea typeface="隶书" pitchFamily="49" charset="-122"/>
              </a:rPr>
              <a:t>(Key)</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197">
                                            <p:txEl>
                                              <p:pRg st="2" end="2"/>
                                            </p:txEl>
                                          </p:spTgt>
                                        </p:tgtEl>
                                        <p:attrNameLst>
                                          <p:attrName>style.visibility</p:attrName>
                                        </p:attrNameLst>
                                      </p:cBhvr>
                                      <p:to>
                                        <p:strVal val="visible"/>
                                      </p:to>
                                    </p:set>
                                    <p:animEffect transition="in" filter="blinds(horizontal)">
                                      <p:cBhvr>
                                        <p:cTn id="7" dur="500"/>
                                        <p:tgtEl>
                                          <p:spTgt spid="8197">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197">
                                            <p:txEl>
                                              <p:pRg st="3" end="3"/>
                                            </p:txEl>
                                          </p:spTgt>
                                        </p:tgtEl>
                                        <p:attrNameLst>
                                          <p:attrName>style.visibility</p:attrName>
                                        </p:attrNameLst>
                                      </p:cBhvr>
                                      <p:to>
                                        <p:strVal val="visible"/>
                                      </p:to>
                                    </p:set>
                                    <p:animEffect transition="in" filter="blinds(horizontal)">
                                      <p:cBhvr>
                                        <p:cTn id="12" dur="500"/>
                                        <p:tgtEl>
                                          <p:spTgt spid="819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138FDE86-17FF-490F-9EA3-961648D4ADAB}" type="slidenum">
              <a:rPr lang="zh-CN" altLang="en-US"/>
              <a:pPr algn="r" eaLnBrk="1" hangingPunct="1">
                <a:spcBef>
                  <a:spcPct val="50000"/>
                </a:spcBef>
                <a:buFont typeface="Arial" pitchFamily="34" charset="0"/>
                <a:buNone/>
              </a:pPr>
              <a:t>5</a:t>
            </a:fld>
            <a:endParaRPr lang="en-US" altLang="zh-CN"/>
          </a:p>
        </p:txBody>
      </p:sp>
      <p:sp>
        <p:nvSpPr>
          <p:cNvPr id="9221" name="Rectangle 5"/>
          <p:cNvSpPr>
            <a:spLocks noGrp="1" noChangeArrowheads="1"/>
          </p:cNvSpPr>
          <p:nvPr>
            <p:ph type="body" idx="4294967295"/>
          </p:nvPr>
        </p:nvSpPr>
        <p:spPr>
          <a:xfrm>
            <a:off x="614394" y="1268760"/>
            <a:ext cx="8763000" cy="4038600"/>
          </a:xfrm>
        </p:spPr>
        <p:txBody>
          <a:bodyPr/>
          <a:lstStyle/>
          <a:p>
            <a:pPr eaLnBrk="1" hangingPunct="1">
              <a:spcBef>
                <a:spcPct val="70000"/>
              </a:spcBef>
            </a:pPr>
            <a:r>
              <a:rPr lang="zh-CN" altLang="en-US" dirty="0">
                <a:solidFill>
                  <a:srgbClr val="FF0000"/>
                </a:solidFill>
                <a:latin typeface="黑体" pitchFamily="49" charset="-122"/>
                <a:ea typeface="黑体" pitchFamily="49" charset="-122"/>
              </a:rPr>
              <a:t>查找</a:t>
            </a:r>
            <a:r>
              <a:rPr lang="zh-CN" altLang="en-US" dirty="0">
                <a:latin typeface="黑体" pitchFamily="49" charset="-122"/>
                <a:ea typeface="黑体" pitchFamily="49" charset="-122"/>
              </a:rPr>
              <a:t>是根据给定的某个值，在查找表中确定一个其关键字等于给定值的数据元素（或记录）。 </a:t>
            </a:r>
          </a:p>
          <a:p>
            <a:pPr eaLnBrk="1" hangingPunct="1">
              <a:spcBef>
                <a:spcPct val="70000"/>
              </a:spcBef>
            </a:pPr>
            <a:endParaRPr lang="zh-CN" altLang="en-US" dirty="0">
              <a:latin typeface="黑体" pitchFamily="49" charset="-122"/>
              <a:ea typeface="黑体" pitchFamily="49" charset="-122"/>
            </a:endParaRPr>
          </a:p>
          <a:p>
            <a:pPr eaLnBrk="1" hangingPunct="1">
              <a:spcBef>
                <a:spcPct val="70000"/>
              </a:spcBef>
            </a:pPr>
            <a:r>
              <a:rPr lang="zh-CN" altLang="en-US" dirty="0">
                <a:latin typeface="黑体" pitchFamily="49" charset="-122"/>
                <a:ea typeface="黑体" pitchFamily="49" charset="-122"/>
              </a:rPr>
              <a:t>查找成功：在查找表中查找到指定的记录</a:t>
            </a:r>
          </a:p>
          <a:p>
            <a:pPr eaLnBrk="1" hangingPunct="1">
              <a:spcBef>
                <a:spcPct val="70000"/>
              </a:spcBef>
            </a:pPr>
            <a:r>
              <a:rPr lang="zh-CN" altLang="en-US" dirty="0">
                <a:latin typeface="黑体" pitchFamily="49" charset="-122"/>
                <a:ea typeface="黑体" pitchFamily="49" charset="-122"/>
              </a:rPr>
              <a:t>查找不成功：在查找表中没有找到指定记录</a:t>
            </a:r>
          </a:p>
        </p:txBody>
      </p:sp>
      <p:sp>
        <p:nvSpPr>
          <p:cNvPr id="7" name="Text Box 4"/>
          <p:cNvSpPr txBox="1">
            <a:spLocks noChangeArrowheads="1"/>
          </p:cNvSpPr>
          <p:nvPr/>
        </p:nvSpPr>
        <p:spPr bwMode="auto">
          <a:xfrm>
            <a:off x="614394" y="214290"/>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三、查找</a:t>
            </a:r>
            <a:r>
              <a:rPr lang="en-US" altLang="zh-CN" sz="4400" i="0" dirty="0">
                <a:solidFill>
                  <a:schemeClr val="tx2"/>
                </a:solidFill>
                <a:latin typeface="Tahoma" panose="020B0604030504040204" pitchFamily="34" charset="0"/>
                <a:ea typeface="隶书" pitchFamily="49" charset="-122"/>
              </a:rPr>
              <a:t>(Searching)</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9221">
                                            <p:txEl>
                                              <p:pRg st="2" end="2"/>
                                            </p:txEl>
                                          </p:spTgt>
                                        </p:tgtEl>
                                        <p:attrNameLst>
                                          <p:attrName>style.visibility</p:attrName>
                                        </p:attrNameLst>
                                      </p:cBhvr>
                                      <p:to>
                                        <p:strVal val="visible"/>
                                      </p:to>
                                    </p:set>
                                    <p:animEffect transition="in" filter="blinds(horizontal)">
                                      <p:cBhvr>
                                        <p:cTn id="7" dur="500"/>
                                        <p:tgtEl>
                                          <p:spTgt spid="9221">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9221">
                                            <p:txEl>
                                              <p:pRg st="3" end="3"/>
                                            </p:txEl>
                                          </p:spTgt>
                                        </p:tgtEl>
                                        <p:attrNameLst>
                                          <p:attrName>style.visibility</p:attrName>
                                        </p:attrNameLst>
                                      </p:cBhvr>
                                      <p:to>
                                        <p:strVal val="visible"/>
                                      </p:to>
                                    </p:set>
                                    <p:animEffect transition="in" filter="blinds(horizontal)">
                                      <p:cBhvr>
                                        <p:cTn id="12" dur="500"/>
                                        <p:tgtEl>
                                          <p:spTgt spid="92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4E0FE65E-DAD7-4124-B13F-6CFEB0833D67}" type="slidenum">
              <a:rPr lang="zh-CN" altLang="en-US"/>
              <a:pPr algn="r" eaLnBrk="1" hangingPunct="1">
                <a:spcBef>
                  <a:spcPct val="50000"/>
                </a:spcBef>
                <a:buFont typeface="Arial" pitchFamily="34" charset="0"/>
                <a:buNone/>
              </a:pPr>
              <a:t>6</a:t>
            </a:fld>
            <a:endParaRPr lang="en-US" altLang="zh-CN"/>
          </a:p>
        </p:txBody>
      </p:sp>
      <p:sp>
        <p:nvSpPr>
          <p:cNvPr id="10245" name="Rectangle 5"/>
          <p:cNvSpPr>
            <a:spLocks noGrp="1" noChangeArrowheads="1"/>
          </p:cNvSpPr>
          <p:nvPr>
            <p:ph type="body" idx="4294967295"/>
          </p:nvPr>
        </p:nvSpPr>
        <p:spPr>
          <a:xfrm>
            <a:off x="614394" y="1266804"/>
            <a:ext cx="8763000" cy="2162196"/>
          </a:xfrm>
        </p:spPr>
        <p:txBody>
          <a:bodyPr/>
          <a:lstStyle/>
          <a:p>
            <a:pPr eaLnBrk="1" hangingPunct="1">
              <a:spcBef>
                <a:spcPct val="70000"/>
              </a:spcBef>
            </a:pPr>
            <a:r>
              <a:rPr lang="zh-CN" altLang="en-US" dirty="0">
                <a:latin typeface="黑体" pitchFamily="49" charset="-122"/>
                <a:ea typeface="黑体" pitchFamily="49" charset="-122"/>
              </a:rPr>
              <a:t>时间复杂度</a:t>
            </a:r>
          </a:p>
          <a:p>
            <a:pPr eaLnBrk="1" hangingPunct="1">
              <a:spcBef>
                <a:spcPct val="70000"/>
              </a:spcBef>
            </a:pPr>
            <a:r>
              <a:rPr lang="zh-CN" altLang="en-US" dirty="0">
                <a:latin typeface="黑体" pitchFamily="49" charset="-122"/>
                <a:ea typeface="黑体" pitchFamily="49" charset="-122"/>
              </a:rPr>
              <a:t>空间复杂度</a:t>
            </a:r>
          </a:p>
          <a:p>
            <a:pPr eaLnBrk="1" hangingPunct="1">
              <a:spcBef>
                <a:spcPct val="70000"/>
              </a:spcBef>
            </a:pPr>
            <a:r>
              <a:rPr lang="zh-CN" altLang="en-US" dirty="0">
                <a:solidFill>
                  <a:srgbClr val="FF0000"/>
                </a:solidFill>
                <a:latin typeface="黑体" pitchFamily="49" charset="-122"/>
                <a:ea typeface="黑体" pitchFamily="49" charset="-122"/>
              </a:rPr>
              <a:t>平均查找长度</a:t>
            </a:r>
            <a:r>
              <a:rPr lang="en-US" altLang="zh-CN" dirty="0">
                <a:solidFill>
                  <a:srgbClr val="FF0000"/>
                </a:solidFill>
                <a:latin typeface="黑体" pitchFamily="49" charset="-122"/>
                <a:ea typeface="黑体" pitchFamily="49" charset="-122"/>
              </a:rPr>
              <a:t>ASL</a:t>
            </a:r>
          </a:p>
        </p:txBody>
      </p:sp>
      <p:sp>
        <p:nvSpPr>
          <p:cNvPr id="7" name="Text Box 4"/>
          <p:cNvSpPr txBox="1">
            <a:spLocks noChangeArrowheads="1"/>
          </p:cNvSpPr>
          <p:nvPr/>
        </p:nvSpPr>
        <p:spPr bwMode="auto">
          <a:xfrm>
            <a:off x="614394" y="214290"/>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四、衡量查找算法的标准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5">
                                            <p:txEl>
                                              <p:pRg st="2" end="2"/>
                                            </p:txEl>
                                          </p:spTgt>
                                        </p:tgtEl>
                                        <p:attrNameLst>
                                          <p:attrName>style.visibility</p:attrName>
                                        </p:attrNameLst>
                                      </p:cBhvr>
                                      <p:to>
                                        <p:strVal val="visible"/>
                                      </p:to>
                                    </p:set>
                                    <p:animEffect transition="in" filter="blinds(horizontal)">
                                      <p:cBhvr>
                                        <p:cTn id="7" dur="500"/>
                                        <p:tgtEl>
                                          <p:spTgt spid="1024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661EF753-F570-48B3-A110-69EB7450BCB8}" type="slidenum">
              <a:rPr lang="zh-CN" altLang="en-US"/>
              <a:pPr algn="r" eaLnBrk="1" hangingPunct="1">
                <a:spcBef>
                  <a:spcPct val="50000"/>
                </a:spcBef>
                <a:buFont typeface="Arial" pitchFamily="34" charset="0"/>
                <a:buNone/>
              </a:pPr>
              <a:t>7</a:t>
            </a:fld>
            <a:endParaRPr lang="en-US" altLang="zh-CN"/>
          </a:p>
        </p:txBody>
      </p:sp>
      <p:sp>
        <p:nvSpPr>
          <p:cNvPr id="11269" name="Rectangle 5"/>
          <p:cNvSpPr>
            <a:spLocks noGrp="1" noChangeArrowheads="1"/>
          </p:cNvSpPr>
          <p:nvPr>
            <p:ph type="body" idx="4294967295"/>
          </p:nvPr>
        </p:nvSpPr>
        <p:spPr>
          <a:xfrm>
            <a:off x="461994" y="1268760"/>
            <a:ext cx="8763000" cy="3608056"/>
          </a:xfrm>
        </p:spPr>
        <p:txBody>
          <a:bodyPr/>
          <a:lstStyle/>
          <a:p>
            <a:pPr eaLnBrk="1" hangingPunct="1">
              <a:spcBef>
                <a:spcPct val="70000"/>
              </a:spcBef>
            </a:pPr>
            <a:r>
              <a:rPr lang="zh-CN" altLang="en-US" dirty="0">
                <a:latin typeface="黑体" pitchFamily="49" charset="-122"/>
                <a:ea typeface="黑体" pitchFamily="49" charset="-122"/>
              </a:rPr>
              <a:t>平均查找长度定义为确定记录在表中的位置所进行的和关键字比较的次数的平均值</a:t>
            </a:r>
          </a:p>
          <a:p>
            <a:pPr eaLnBrk="1" hangingPunct="1">
              <a:buFont typeface="Wingdings" pitchFamily="2" charset="2"/>
              <a:buNone/>
            </a:pPr>
            <a:r>
              <a:rPr lang="en-US" altLang="zh-CN" dirty="0">
                <a:latin typeface="黑体" pitchFamily="49" charset="-122"/>
                <a:ea typeface="黑体" pitchFamily="49" charset="-122"/>
              </a:rPr>
              <a:t>           n</a:t>
            </a:r>
          </a:p>
          <a:p>
            <a:pPr eaLnBrk="1" hangingPunct="1">
              <a:lnSpc>
                <a:spcPct val="80000"/>
              </a:lnSpc>
              <a:spcBef>
                <a:spcPct val="0"/>
              </a:spcBef>
              <a:buFont typeface="Wingdings" pitchFamily="2" charset="2"/>
              <a:buNone/>
            </a:pPr>
            <a:r>
              <a:rPr lang="en-US" altLang="zh-CN" dirty="0">
                <a:latin typeface="黑体" pitchFamily="49" charset="-122"/>
                <a:ea typeface="黑体" pitchFamily="49" charset="-122"/>
              </a:rPr>
              <a:t>    ASL = ∑ </a:t>
            </a:r>
            <a:r>
              <a:rPr lang="en-US" altLang="zh-CN" dirty="0" err="1">
                <a:latin typeface="黑体" pitchFamily="49" charset="-122"/>
                <a:ea typeface="黑体" pitchFamily="49" charset="-122"/>
              </a:rPr>
              <a:t>P</a:t>
            </a:r>
            <a:r>
              <a:rPr lang="en-US" altLang="zh-CN" baseline="-25000" dirty="0" err="1">
                <a:latin typeface="黑体" pitchFamily="49" charset="-122"/>
                <a:ea typeface="黑体" pitchFamily="49" charset="-122"/>
              </a:rPr>
              <a:t>i</a:t>
            </a:r>
            <a:r>
              <a:rPr lang="en-US" altLang="zh-CN" dirty="0" err="1">
                <a:latin typeface="黑体" pitchFamily="49" charset="-122"/>
                <a:ea typeface="黑体" pitchFamily="49" charset="-122"/>
              </a:rPr>
              <a:t>C</a:t>
            </a:r>
            <a:r>
              <a:rPr lang="en-US" altLang="zh-CN" baseline="-25000" dirty="0" err="1">
                <a:latin typeface="黑体" pitchFamily="49" charset="-122"/>
                <a:ea typeface="黑体" pitchFamily="49" charset="-122"/>
              </a:rPr>
              <a:t>i</a:t>
            </a:r>
            <a:endParaRPr lang="en-US" altLang="zh-CN" baseline="-25000" dirty="0">
              <a:latin typeface="黑体" pitchFamily="49" charset="-122"/>
              <a:ea typeface="黑体" pitchFamily="49" charset="-122"/>
            </a:endParaRPr>
          </a:p>
          <a:p>
            <a:pPr eaLnBrk="1" hangingPunct="1">
              <a:lnSpc>
                <a:spcPct val="60000"/>
              </a:lnSpc>
              <a:spcBef>
                <a:spcPct val="0"/>
              </a:spcBef>
              <a:buFont typeface="Wingdings" pitchFamily="2" charset="2"/>
              <a:buNone/>
            </a:pPr>
            <a:r>
              <a:rPr lang="en-US" altLang="zh-CN" dirty="0">
                <a:latin typeface="黑体" pitchFamily="49" charset="-122"/>
                <a:ea typeface="黑体" pitchFamily="49" charset="-122"/>
              </a:rPr>
              <a:t>          </a:t>
            </a:r>
            <a:r>
              <a:rPr lang="en-US" altLang="zh-CN" dirty="0" err="1">
                <a:latin typeface="黑体" pitchFamily="49" charset="-122"/>
                <a:ea typeface="黑体" pitchFamily="49" charset="-122"/>
              </a:rPr>
              <a:t>i</a:t>
            </a:r>
            <a:r>
              <a:rPr lang="en-US" altLang="zh-CN" dirty="0">
                <a:latin typeface="黑体" pitchFamily="49" charset="-122"/>
                <a:ea typeface="黑体" pitchFamily="49" charset="-122"/>
              </a:rPr>
              <a:t>=1</a:t>
            </a:r>
          </a:p>
          <a:p>
            <a:pPr eaLnBrk="1" hangingPunct="1">
              <a:spcBef>
                <a:spcPct val="40000"/>
              </a:spcBef>
            </a:pPr>
            <a:r>
              <a:rPr lang="en-US" altLang="zh-CN" dirty="0">
                <a:latin typeface="黑体" pitchFamily="49" charset="-122"/>
                <a:ea typeface="黑体" pitchFamily="49" charset="-122"/>
              </a:rPr>
              <a:t>n</a:t>
            </a:r>
            <a:r>
              <a:rPr lang="zh-CN" altLang="en-US" dirty="0">
                <a:latin typeface="黑体" pitchFamily="49" charset="-122"/>
                <a:ea typeface="黑体" pitchFamily="49" charset="-122"/>
              </a:rPr>
              <a:t>为查找表的长度，即表中所含元素的个数</a:t>
            </a:r>
          </a:p>
          <a:p>
            <a:pPr eaLnBrk="1" hangingPunct="1">
              <a:spcBef>
                <a:spcPct val="0"/>
              </a:spcBef>
            </a:pPr>
            <a:r>
              <a:rPr lang="en-US" altLang="zh-CN" dirty="0">
                <a:latin typeface="黑体" pitchFamily="49" charset="-122"/>
                <a:ea typeface="黑体" pitchFamily="49" charset="-122"/>
              </a:rPr>
              <a:t>P</a:t>
            </a:r>
            <a:r>
              <a:rPr lang="en-US" altLang="zh-CN" baseline="-25000" dirty="0">
                <a:latin typeface="黑体" pitchFamily="49" charset="-122"/>
                <a:ea typeface="黑体" pitchFamily="49" charset="-122"/>
              </a:rPr>
              <a:t>i</a:t>
            </a:r>
            <a:r>
              <a:rPr lang="zh-CN" altLang="en-US" dirty="0">
                <a:latin typeface="黑体" pitchFamily="49" charset="-122"/>
                <a:ea typeface="黑体" pitchFamily="49" charset="-122"/>
              </a:rPr>
              <a:t>为查找第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个元素的概率(</a:t>
            </a:r>
            <a:r>
              <a:rPr lang="en-US" altLang="zh-CN" dirty="0">
                <a:latin typeface="黑体" pitchFamily="49" charset="-122"/>
                <a:ea typeface="黑体" pitchFamily="49" charset="-122"/>
              </a:rPr>
              <a:t>∑P</a:t>
            </a:r>
            <a:r>
              <a:rPr lang="en-US" altLang="zh-CN" baseline="-25000" dirty="0">
                <a:latin typeface="黑体" pitchFamily="49" charset="-122"/>
                <a:ea typeface="黑体" pitchFamily="49" charset="-122"/>
              </a:rPr>
              <a:t>i</a:t>
            </a:r>
            <a:r>
              <a:rPr lang="en-US" altLang="zh-CN" dirty="0">
                <a:latin typeface="黑体" pitchFamily="49" charset="-122"/>
                <a:ea typeface="黑体" pitchFamily="49" charset="-122"/>
              </a:rPr>
              <a:t>=1</a:t>
            </a:r>
            <a:r>
              <a:rPr lang="zh-CN" altLang="en-US" dirty="0">
                <a:latin typeface="黑体" pitchFamily="49" charset="-122"/>
                <a:ea typeface="黑体" pitchFamily="49" charset="-122"/>
              </a:rPr>
              <a:t>)</a:t>
            </a:r>
          </a:p>
          <a:p>
            <a:pPr eaLnBrk="1" hangingPunct="1">
              <a:spcBef>
                <a:spcPct val="0"/>
              </a:spcBef>
            </a:pPr>
            <a:r>
              <a:rPr lang="en-US" altLang="zh-CN" dirty="0">
                <a:latin typeface="黑体" pitchFamily="49" charset="-122"/>
                <a:ea typeface="黑体" pitchFamily="49" charset="-122"/>
              </a:rPr>
              <a:t>C</a:t>
            </a:r>
            <a:r>
              <a:rPr lang="en-US" altLang="zh-CN" baseline="-25000" dirty="0">
                <a:latin typeface="黑体" pitchFamily="49" charset="-122"/>
                <a:ea typeface="黑体" pitchFamily="49" charset="-122"/>
              </a:rPr>
              <a:t>i</a:t>
            </a:r>
            <a:r>
              <a:rPr lang="zh-CN" altLang="en-US" dirty="0">
                <a:latin typeface="黑体" pitchFamily="49" charset="-122"/>
                <a:ea typeface="黑体" pitchFamily="49" charset="-122"/>
              </a:rPr>
              <a:t>是查找第</a:t>
            </a:r>
            <a:r>
              <a:rPr lang="en-US" altLang="zh-CN" dirty="0" err="1">
                <a:latin typeface="黑体" pitchFamily="49" charset="-122"/>
                <a:ea typeface="黑体" pitchFamily="49" charset="-122"/>
              </a:rPr>
              <a:t>i</a:t>
            </a:r>
            <a:r>
              <a:rPr lang="zh-CN" altLang="en-US" dirty="0">
                <a:latin typeface="黑体" pitchFamily="49" charset="-122"/>
                <a:ea typeface="黑体" pitchFamily="49" charset="-122"/>
              </a:rPr>
              <a:t>个元素时同给定值</a:t>
            </a:r>
            <a:r>
              <a:rPr lang="en-US" altLang="zh-CN" dirty="0">
                <a:latin typeface="黑体" pitchFamily="49" charset="-122"/>
                <a:ea typeface="黑体" pitchFamily="49" charset="-122"/>
              </a:rPr>
              <a:t>K</a:t>
            </a:r>
            <a:r>
              <a:rPr lang="zh-CN" altLang="en-US" dirty="0">
                <a:latin typeface="黑体" pitchFamily="49" charset="-122"/>
                <a:ea typeface="黑体" pitchFamily="49" charset="-122"/>
              </a:rPr>
              <a:t>比较的次数</a:t>
            </a:r>
          </a:p>
        </p:txBody>
      </p:sp>
      <p:sp>
        <p:nvSpPr>
          <p:cNvPr id="7" name="Text Box 4"/>
          <p:cNvSpPr txBox="1">
            <a:spLocks noChangeArrowheads="1"/>
          </p:cNvSpPr>
          <p:nvPr/>
        </p:nvSpPr>
        <p:spPr bwMode="auto">
          <a:xfrm>
            <a:off x="614394" y="159229"/>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五、平均查找长度</a:t>
            </a:r>
            <a:r>
              <a:rPr lang="en-US" altLang="zh-CN" sz="4400" i="0" dirty="0">
                <a:solidFill>
                  <a:schemeClr val="tx2"/>
                </a:solidFill>
                <a:latin typeface="Tahoma" panose="020B0604030504040204" pitchFamily="34" charset="0"/>
                <a:ea typeface="隶书" pitchFamily="49" charset="-122"/>
              </a:rPr>
              <a:t>(ASL)</a:t>
            </a:r>
            <a:endParaRPr lang="zh-CN" altLang="en-US" sz="4400" i="0" dirty="0">
              <a:solidFill>
                <a:schemeClr val="tx2"/>
              </a:solidFill>
              <a:latin typeface="Tahoma" panose="020B0604030504040204" pitchFamily="34" charset="0"/>
              <a:ea typeface="隶书" pitchFamily="49" charset="-122"/>
            </a:endParaRPr>
          </a:p>
        </p:txBody>
      </p:sp>
      <p:sp>
        <p:nvSpPr>
          <p:cNvPr id="8" name="对话气泡: 圆角矩形 7">
            <a:extLst>
              <a:ext uri="{FF2B5EF4-FFF2-40B4-BE49-F238E27FC236}">
                <a16:creationId xmlns:a16="http://schemas.microsoft.com/office/drawing/2014/main" id="{EBF1B644-FD75-4BE3-9ABC-03455C55FBE8}"/>
              </a:ext>
            </a:extLst>
          </p:cNvPr>
          <p:cNvSpPr/>
          <p:nvPr/>
        </p:nvSpPr>
        <p:spPr bwMode="auto">
          <a:xfrm>
            <a:off x="5652120" y="2852936"/>
            <a:ext cx="2088232" cy="476726"/>
          </a:xfrm>
          <a:prstGeom prst="wedgeRoundRectCallout">
            <a:avLst>
              <a:gd name="adj1" fmla="val -96340"/>
              <a:gd name="adj2" fmla="val 195586"/>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通常等概率</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idx="4294967295"/>
          </p:nvPr>
        </p:nvSpPr>
        <p:spPr>
          <a:xfrm>
            <a:off x="528670" y="1142984"/>
            <a:ext cx="5715000" cy="685800"/>
          </a:xfrm>
        </p:spPr>
        <p:txBody>
          <a:bodyPr/>
          <a:lstStyle/>
          <a:p>
            <a:pPr algn="l" eaLnBrk="1" hangingPunct="1"/>
            <a:r>
              <a:rPr lang="zh-CN" altLang="en-US" sz="3200">
                <a:latin typeface="黑体" pitchFamily="49" charset="-122"/>
                <a:ea typeface="黑体" pitchFamily="49" charset="-122"/>
              </a:rPr>
              <a:t>一、顺序查找</a:t>
            </a:r>
          </a:p>
        </p:txBody>
      </p:sp>
      <p:sp>
        <p:nvSpPr>
          <p:cNvPr id="12291"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2F5C400E-21CD-4A86-8DF9-016EC517CEC4}" type="slidenum">
              <a:rPr lang="zh-CN" altLang="en-US"/>
              <a:pPr algn="r" eaLnBrk="1" hangingPunct="1">
                <a:spcBef>
                  <a:spcPct val="50000"/>
                </a:spcBef>
                <a:buFont typeface="Arial" pitchFamily="34" charset="0"/>
                <a:buNone/>
              </a:pPr>
              <a:t>8</a:t>
            </a:fld>
            <a:endParaRPr lang="en-US" altLang="zh-CN"/>
          </a:p>
        </p:txBody>
      </p:sp>
      <p:sp>
        <p:nvSpPr>
          <p:cNvPr id="12292"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第二节　静态查找表</a:t>
            </a:r>
          </a:p>
        </p:txBody>
      </p:sp>
      <p:sp>
        <p:nvSpPr>
          <p:cNvPr id="12293" name="Rectangle 5"/>
          <p:cNvSpPr>
            <a:spLocks noGrp="1" noChangeArrowheads="1"/>
          </p:cNvSpPr>
          <p:nvPr>
            <p:ph type="body" idx="4294967295"/>
          </p:nvPr>
        </p:nvSpPr>
        <p:spPr>
          <a:xfrm>
            <a:off x="452470" y="1981184"/>
            <a:ext cx="8763000" cy="1807856"/>
          </a:xfrm>
        </p:spPr>
        <p:txBody>
          <a:bodyPr/>
          <a:lstStyle/>
          <a:p>
            <a:pPr eaLnBrk="1" hangingPunct="1">
              <a:spcBef>
                <a:spcPct val="70000"/>
              </a:spcBef>
            </a:pPr>
            <a:r>
              <a:rPr lang="zh-CN" altLang="en-US" dirty="0">
                <a:latin typeface="黑体" pitchFamily="49" charset="-122"/>
                <a:ea typeface="黑体" pitchFamily="49" charset="-122"/>
              </a:rPr>
              <a:t>顺序查找算法是顺序表的查找方法</a:t>
            </a:r>
          </a:p>
          <a:p>
            <a:pPr eaLnBrk="1" hangingPunct="1">
              <a:spcBef>
                <a:spcPct val="70000"/>
              </a:spcBef>
            </a:pPr>
            <a:r>
              <a:rPr lang="zh-CN" altLang="en-US" dirty="0">
                <a:latin typeface="黑体" pitchFamily="49" charset="-122"/>
                <a:ea typeface="黑体" pitchFamily="49" charset="-122"/>
              </a:rPr>
              <a:t>在顺序查找算法中，以顺序表或线性链表表示静态查找表</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5B1920CD-625B-4CCE-A3B4-D4965AF691CC}" type="slidenum">
              <a:rPr lang="zh-CN" altLang="en-US"/>
              <a:pPr algn="r" eaLnBrk="1" hangingPunct="1">
                <a:spcBef>
                  <a:spcPct val="50000"/>
                </a:spcBef>
                <a:buFont typeface="Arial" pitchFamily="34" charset="0"/>
                <a:buNone/>
              </a:pPr>
              <a:t>9</a:t>
            </a:fld>
            <a:endParaRPr lang="en-US" altLang="zh-CN"/>
          </a:p>
        </p:txBody>
      </p:sp>
      <p:sp>
        <p:nvSpPr>
          <p:cNvPr id="13317" name="Rectangle 5"/>
          <p:cNvSpPr>
            <a:spLocks noGrp="1" noChangeArrowheads="1"/>
          </p:cNvSpPr>
          <p:nvPr>
            <p:ph type="body" idx="4294967295"/>
          </p:nvPr>
        </p:nvSpPr>
        <p:spPr>
          <a:xfrm>
            <a:off x="561482" y="1121668"/>
            <a:ext cx="8763000" cy="4038600"/>
          </a:xfrm>
        </p:spPr>
        <p:txBody>
          <a:bodyPr/>
          <a:lstStyle/>
          <a:p>
            <a:pPr eaLnBrk="1" hangingPunct="1">
              <a:spcBef>
                <a:spcPct val="70000"/>
              </a:spcBef>
            </a:pPr>
            <a:r>
              <a:rPr lang="zh-CN" altLang="en-US" dirty="0">
                <a:latin typeface="黑体" pitchFamily="49" charset="-122"/>
                <a:ea typeface="黑体" pitchFamily="49" charset="-122"/>
              </a:rPr>
              <a:t>顺序查找算法：</a:t>
            </a:r>
          </a:p>
          <a:p>
            <a:pPr eaLnBrk="1" hangingPunct="1">
              <a:spcBef>
                <a:spcPct val="70000"/>
              </a:spcBef>
              <a:buFont typeface="Wingdings" pitchFamily="2" charset="2"/>
              <a:buNone/>
            </a:pPr>
            <a:r>
              <a:rPr lang="en-US" altLang="zh-CN" dirty="0">
                <a:latin typeface="黑体" pitchFamily="49" charset="-122"/>
                <a:ea typeface="黑体" pitchFamily="49" charset="-122"/>
              </a:rPr>
              <a:t>1.</a:t>
            </a:r>
            <a:r>
              <a:rPr lang="zh-CN" altLang="en-US" dirty="0">
                <a:latin typeface="黑体" pitchFamily="49" charset="-122"/>
                <a:ea typeface="黑体" pitchFamily="49" charset="-122"/>
              </a:rPr>
              <a:t>从表中最后一个记录开始</a:t>
            </a:r>
          </a:p>
          <a:p>
            <a:pPr eaLnBrk="1" hangingPunct="1">
              <a:spcBef>
                <a:spcPct val="70000"/>
              </a:spcBef>
              <a:buFont typeface="Wingdings" pitchFamily="2" charset="2"/>
              <a:buNone/>
            </a:pPr>
            <a:r>
              <a:rPr lang="en-US" altLang="zh-CN" dirty="0">
                <a:latin typeface="黑体" pitchFamily="49" charset="-122"/>
                <a:ea typeface="黑体" pitchFamily="49" charset="-122"/>
              </a:rPr>
              <a:t>2.</a:t>
            </a:r>
            <a:r>
              <a:rPr lang="zh-CN" altLang="en-US" dirty="0">
                <a:latin typeface="黑体" pitchFamily="49" charset="-122"/>
                <a:ea typeface="黑体" pitchFamily="49" charset="-122"/>
              </a:rPr>
              <a:t>逐个进行记录的关键字和给定值的比较</a:t>
            </a:r>
          </a:p>
          <a:p>
            <a:pPr eaLnBrk="1" hangingPunct="1">
              <a:spcBef>
                <a:spcPct val="70000"/>
              </a:spcBef>
              <a:buFont typeface="Wingdings" pitchFamily="2" charset="2"/>
              <a:buNone/>
            </a:pPr>
            <a:r>
              <a:rPr lang="en-US" altLang="zh-CN" dirty="0">
                <a:latin typeface="黑体" pitchFamily="49" charset="-122"/>
                <a:ea typeface="黑体" pitchFamily="49" charset="-122"/>
              </a:rPr>
              <a:t>3.</a:t>
            </a:r>
            <a:r>
              <a:rPr lang="zh-CN" altLang="en-US" dirty="0">
                <a:latin typeface="黑体" pitchFamily="49" charset="-122"/>
                <a:ea typeface="黑体" pitchFamily="49" charset="-122"/>
              </a:rPr>
              <a:t>若某个记录比较相等，则查找成功</a:t>
            </a:r>
          </a:p>
          <a:p>
            <a:pPr eaLnBrk="1" hangingPunct="1">
              <a:spcBef>
                <a:spcPct val="70000"/>
              </a:spcBef>
              <a:buFont typeface="Wingdings" pitchFamily="2" charset="2"/>
              <a:buNone/>
            </a:pPr>
            <a:r>
              <a:rPr lang="en-US" altLang="zh-CN" dirty="0">
                <a:latin typeface="黑体" pitchFamily="49" charset="-122"/>
                <a:ea typeface="黑体" pitchFamily="49" charset="-122"/>
              </a:rPr>
              <a:t>4.</a:t>
            </a:r>
            <a:r>
              <a:rPr lang="zh-CN" altLang="en-US" dirty="0">
                <a:latin typeface="黑体" pitchFamily="49" charset="-122"/>
                <a:ea typeface="黑体" pitchFamily="49" charset="-122"/>
              </a:rPr>
              <a:t>若直到第</a:t>
            </a:r>
            <a:r>
              <a:rPr lang="en-US" altLang="zh-CN" dirty="0">
                <a:latin typeface="黑体" pitchFamily="49" charset="-122"/>
                <a:ea typeface="黑体" pitchFamily="49" charset="-122"/>
              </a:rPr>
              <a:t>1</a:t>
            </a:r>
            <a:r>
              <a:rPr lang="zh-CN" altLang="en-US" dirty="0">
                <a:latin typeface="黑体" pitchFamily="49" charset="-122"/>
                <a:ea typeface="黑体" pitchFamily="49" charset="-122"/>
              </a:rPr>
              <a:t>个记录都比较不等，则查找不成功</a:t>
            </a:r>
          </a:p>
        </p:txBody>
      </p:sp>
      <p:sp>
        <p:nvSpPr>
          <p:cNvPr id="7"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一、顺序查找算法 </a:t>
            </a:r>
          </a:p>
        </p:txBody>
      </p:sp>
      <p:sp>
        <p:nvSpPr>
          <p:cNvPr id="2" name="矩形 1">
            <a:extLst>
              <a:ext uri="{FF2B5EF4-FFF2-40B4-BE49-F238E27FC236}">
                <a16:creationId xmlns:a16="http://schemas.microsoft.com/office/drawing/2014/main" id="{67076F33-1F24-44AD-A4FD-DD587356EC26}"/>
              </a:ext>
            </a:extLst>
          </p:cNvPr>
          <p:cNvSpPr/>
          <p:nvPr/>
        </p:nvSpPr>
        <p:spPr bwMode="auto">
          <a:xfrm>
            <a:off x="2062662" y="1835352"/>
            <a:ext cx="2149298" cy="576064"/>
          </a:xfrm>
          <a:prstGeom prst="rect">
            <a:avLst/>
          </a:prstGeom>
          <a:noFill/>
          <a:ln w="4445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8" name="对话气泡: 圆角矩形 7">
            <a:extLst>
              <a:ext uri="{FF2B5EF4-FFF2-40B4-BE49-F238E27FC236}">
                <a16:creationId xmlns:a16="http://schemas.microsoft.com/office/drawing/2014/main" id="{4ED9F533-6687-4209-BBA6-602F182BF47C}"/>
              </a:ext>
            </a:extLst>
          </p:cNvPr>
          <p:cNvSpPr/>
          <p:nvPr/>
        </p:nvSpPr>
        <p:spPr bwMode="auto">
          <a:xfrm>
            <a:off x="4572000" y="548680"/>
            <a:ext cx="2736304" cy="953453"/>
          </a:xfrm>
          <a:prstGeom prst="wedgeRoundRectCallout">
            <a:avLst>
              <a:gd name="adj1" fmla="val -63728"/>
              <a:gd name="adj2" fmla="val 111237"/>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从后往前。为何不从前往后？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31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31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一、顺序查找实现</a:t>
            </a:r>
          </a:p>
        </p:txBody>
      </p:sp>
      <p:sp>
        <p:nvSpPr>
          <p:cNvPr id="3" name="文本框 2">
            <a:extLst>
              <a:ext uri="{FF2B5EF4-FFF2-40B4-BE49-F238E27FC236}">
                <a16:creationId xmlns:a16="http://schemas.microsoft.com/office/drawing/2014/main" id="{924A5437-0735-59F7-ECD5-F689152AD807}"/>
              </a:ext>
            </a:extLst>
          </p:cNvPr>
          <p:cNvSpPr txBox="1"/>
          <p:nvPr/>
        </p:nvSpPr>
        <p:spPr>
          <a:xfrm>
            <a:off x="542956" y="1162006"/>
            <a:ext cx="8925588" cy="5262979"/>
          </a:xfrm>
          <a:prstGeom prst="rect">
            <a:avLst/>
          </a:prstGeom>
          <a:noFill/>
        </p:spPr>
        <p:txBody>
          <a:bodyPr wrap="square">
            <a:spAutoFit/>
          </a:bodyPr>
          <a:lstStyle/>
          <a:p>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表长为</a:t>
            </a:r>
            <a:r>
              <a:rPr lang="en-US" altLang="zh-CN" sz="2800" b="0" i="0" dirty="0">
                <a:solidFill>
                  <a:srgbClr val="008000"/>
                </a:solidFill>
                <a:effectLst/>
                <a:latin typeface="+mn-ea"/>
                <a:ea typeface="+mn-ea"/>
              </a:rPr>
              <a:t>n</a:t>
            </a:r>
            <a:r>
              <a:rPr lang="zh-CN" altLang="en-US" sz="2800" b="0" i="0" dirty="0">
                <a:solidFill>
                  <a:srgbClr val="008000"/>
                </a:solidFill>
                <a:effectLst/>
                <a:latin typeface="+mn-ea"/>
                <a:ea typeface="+mn-ea"/>
              </a:rPr>
              <a:t>的数组</a:t>
            </a:r>
            <a:r>
              <a:rPr lang="en-US" altLang="zh-CN" sz="2800" b="0" i="0" dirty="0" err="1">
                <a:solidFill>
                  <a:srgbClr val="008000"/>
                </a:solidFill>
                <a:effectLst/>
                <a:latin typeface="+mn-ea"/>
                <a:ea typeface="+mn-ea"/>
              </a:rPr>
              <a:t>elem</a:t>
            </a:r>
            <a:r>
              <a:rPr lang="zh-CN" altLang="en-US" sz="2800" b="0" i="0" dirty="0">
                <a:solidFill>
                  <a:srgbClr val="008000"/>
                </a:solidFill>
                <a:effectLst/>
                <a:latin typeface="+mn-ea"/>
                <a:ea typeface="+mn-ea"/>
              </a:rPr>
              <a:t>中查找</a:t>
            </a:r>
            <a:r>
              <a:rPr lang="en-US" altLang="zh-CN" sz="2800" b="0" i="0" dirty="0">
                <a:solidFill>
                  <a:srgbClr val="008000"/>
                </a:solidFill>
                <a:effectLst/>
                <a:latin typeface="+mn-ea"/>
                <a:ea typeface="+mn-ea"/>
              </a:rPr>
              <a:t>key</a:t>
            </a:r>
            <a:endParaRPr lang="en-US" altLang="zh-CN" sz="2800" b="0" i="0" dirty="0">
              <a:solidFill>
                <a:srgbClr val="000000"/>
              </a:solidFill>
              <a:effectLst/>
              <a:latin typeface="+mn-ea"/>
              <a:ea typeface="+mn-ea"/>
            </a:endParaRPr>
          </a:p>
          <a:p>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795E26"/>
                </a:solidFill>
                <a:effectLst/>
                <a:latin typeface="+mn-ea"/>
                <a:ea typeface="+mn-ea"/>
              </a:rPr>
              <a:t>search</a:t>
            </a:r>
            <a:r>
              <a:rPr lang="en-US" altLang="zh-CN" sz="2800" b="0" i="0" dirty="0">
                <a:solidFill>
                  <a:srgbClr val="000000"/>
                </a:solidFill>
                <a:effectLst/>
                <a:latin typeface="+mn-ea"/>
                <a:ea typeface="+mn-ea"/>
              </a:rPr>
              <a:t>(</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a:t>
            </a:r>
            <a:r>
              <a:rPr lang="en-US" altLang="zh-CN" sz="2800" b="0" i="0" dirty="0" err="1">
                <a:solidFill>
                  <a:srgbClr val="001080"/>
                </a:solidFill>
                <a:effectLst/>
                <a:latin typeface="+mn-ea"/>
                <a:ea typeface="+mn-ea"/>
              </a:rPr>
              <a:t>elem</a:t>
            </a:r>
            <a:r>
              <a:rPr lang="en-US" altLang="zh-CN" sz="2800" b="0" i="0" dirty="0" err="1">
                <a:solidFill>
                  <a:srgbClr val="000000"/>
                </a:solidFill>
                <a:effectLst/>
                <a:latin typeface="+mn-ea"/>
                <a:ea typeface="+mn-ea"/>
              </a:rPr>
              <a:t>,</a:t>
            </a:r>
            <a:r>
              <a:rPr lang="en-US" altLang="zh-CN" sz="2800" b="0" i="0" dirty="0" err="1">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 </a:t>
            </a:r>
            <a:r>
              <a:rPr lang="en-US" altLang="zh-CN" sz="2800" b="0" i="0" dirty="0">
                <a:solidFill>
                  <a:srgbClr val="0000FF"/>
                </a:solidFill>
                <a:effectLst/>
                <a:latin typeface="+mn-ea"/>
                <a:ea typeface="+mn-ea"/>
              </a:rPr>
              <a:t>int</a:t>
            </a:r>
            <a:r>
              <a:rPr lang="en-US" altLang="zh-CN" sz="2800" b="0" i="0" dirty="0">
                <a:solidFill>
                  <a:srgbClr val="000000"/>
                </a:solidFill>
                <a:effectLst/>
                <a:latin typeface="+mn-ea"/>
                <a:ea typeface="+mn-ea"/>
              </a:rPr>
              <a:t> </a:t>
            </a:r>
            <a:r>
              <a:rPr lang="en-US" altLang="zh-CN" sz="2800" b="0" i="0" dirty="0">
                <a:solidFill>
                  <a:srgbClr val="001080"/>
                </a:solidFill>
                <a:effectLst/>
                <a:latin typeface="+mn-ea"/>
                <a:ea typeface="+mn-ea"/>
              </a:rPr>
              <a:t>key</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elem</a:t>
            </a:r>
            <a:r>
              <a:rPr lang="en-US" altLang="zh-CN" sz="2800" b="0" i="0" dirty="0">
                <a:solidFill>
                  <a:srgbClr val="000000"/>
                </a:solidFill>
                <a:effectLst/>
                <a:latin typeface="+mn-ea"/>
                <a:ea typeface="+mn-ea"/>
              </a:rPr>
              <a:t>[</a:t>
            </a:r>
            <a:r>
              <a:rPr lang="en-US" altLang="zh-CN" sz="2800" b="0" i="0" dirty="0">
                <a:solidFill>
                  <a:srgbClr val="098658"/>
                </a:solidFill>
                <a:effectLst/>
                <a:latin typeface="+mn-ea"/>
                <a:ea typeface="+mn-ea"/>
              </a:rPr>
              <a:t>0</a:t>
            </a:r>
            <a:r>
              <a:rPr lang="en-US" altLang="zh-CN" sz="2800" b="0" i="0" dirty="0">
                <a:solidFill>
                  <a:srgbClr val="000000"/>
                </a:solidFill>
                <a:effectLst/>
                <a:latin typeface="+mn-ea"/>
                <a:ea typeface="+mn-ea"/>
              </a:rPr>
              <a:t>] = </a:t>
            </a:r>
            <a:r>
              <a:rPr lang="en-US" altLang="zh-CN" sz="2800" b="0" i="0" dirty="0">
                <a:solidFill>
                  <a:srgbClr val="001080"/>
                </a:solidFill>
                <a:effectLst/>
                <a:latin typeface="+mn-ea"/>
                <a:ea typeface="+mn-ea"/>
              </a:rPr>
              <a:t>key</a:t>
            </a:r>
            <a:r>
              <a:rPr lang="en-US" altLang="zh-CN" sz="2800" b="0" i="0" dirty="0">
                <a:solidFill>
                  <a:srgbClr val="000000"/>
                </a:solidFill>
                <a:effectLst/>
                <a:latin typeface="+mn-ea"/>
                <a:ea typeface="+mn-ea"/>
              </a:rPr>
              <a:t>;</a:t>
            </a:r>
            <a:r>
              <a:rPr lang="en-US" altLang="zh-CN" sz="2800" b="0" i="0" dirty="0">
                <a:solidFill>
                  <a:srgbClr val="008000"/>
                </a:solidFill>
                <a:effectLst/>
                <a:latin typeface="+mn-ea"/>
                <a:ea typeface="+mn-ea"/>
              </a:rPr>
              <a:t>     // </a:t>
            </a:r>
            <a:r>
              <a:rPr lang="zh-CN" altLang="en-US" sz="2800" b="0" i="0" dirty="0">
                <a:solidFill>
                  <a:srgbClr val="008000"/>
                </a:solidFill>
                <a:effectLst/>
                <a:latin typeface="+mn-ea"/>
                <a:ea typeface="+mn-ea"/>
              </a:rPr>
              <a:t>哨兵</a:t>
            </a:r>
            <a:endParaRPr lang="zh-CN" altLang="en-US" sz="2800" b="0" i="0" dirty="0">
              <a:solidFill>
                <a:srgbClr val="000000"/>
              </a:solidFill>
              <a:effectLst/>
              <a:latin typeface="+mn-ea"/>
              <a:ea typeface="+mn-ea"/>
            </a:endParaRPr>
          </a:p>
          <a:p>
            <a:br>
              <a:rPr lang="zh-CN" altLang="en-US" sz="2800" b="0" i="0" dirty="0">
                <a:solidFill>
                  <a:srgbClr val="000000"/>
                </a:solidFill>
                <a:effectLst/>
                <a:latin typeface="+mn-ea"/>
                <a:ea typeface="+mn-ea"/>
              </a:rPr>
            </a:br>
            <a:r>
              <a:rPr lang="zh-CN" altLang="en-US" sz="2800" b="0" i="0" dirty="0">
                <a:solidFill>
                  <a:srgbClr val="008000"/>
                </a:solidFill>
                <a:effectLst/>
                <a:latin typeface="+mn-ea"/>
                <a:ea typeface="+mn-ea"/>
              </a:rPr>
              <a:t>    </a:t>
            </a:r>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从后往前比较，查找成功，返回位置，否则返回</a:t>
            </a:r>
            <a:r>
              <a:rPr lang="en-US" altLang="zh-CN" sz="2800" b="0" i="0" dirty="0">
                <a:solidFill>
                  <a:srgbClr val="008000"/>
                </a:solidFill>
                <a:effectLst/>
                <a:latin typeface="+mn-ea"/>
                <a:ea typeface="+mn-ea"/>
              </a:rPr>
              <a:t>0</a:t>
            </a:r>
            <a:endParaRPr lang="zh-CN" altLang="en-US" sz="2800" b="0" i="0" dirty="0">
              <a:solidFill>
                <a:srgbClr val="000000"/>
              </a:solidFill>
              <a:effectLst/>
              <a:latin typeface="+mn-ea"/>
              <a:ea typeface="+mn-ea"/>
            </a:endParaRPr>
          </a:p>
          <a:p>
            <a:r>
              <a:rPr lang="zh-CN" altLang="en-US" sz="2800" b="0" i="0" dirty="0">
                <a:solidFill>
                  <a:srgbClr val="000000"/>
                </a:solidFill>
                <a:effectLst/>
                <a:latin typeface="+mn-ea"/>
                <a:ea typeface="+mn-ea"/>
              </a:rPr>
              <a:t>    </a:t>
            </a:r>
            <a:r>
              <a:rPr lang="en-US" altLang="zh-CN" sz="2800" b="0" i="0" dirty="0">
                <a:solidFill>
                  <a:srgbClr val="AF00DB"/>
                </a:solidFill>
                <a:effectLst/>
                <a:latin typeface="+mn-ea"/>
                <a:ea typeface="+mn-ea"/>
              </a:rPr>
              <a:t>for</a:t>
            </a:r>
            <a:r>
              <a:rPr lang="en-US" altLang="zh-CN" sz="2800" b="0" i="0" dirty="0">
                <a:solidFill>
                  <a:srgbClr val="000000"/>
                </a:solidFill>
                <a:effectLst/>
                <a:latin typeface="+mn-ea"/>
                <a:ea typeface="+mn-ea"/>
              </a:rPr>
              <a:t>(</a:t>
            </a:r>
            <a:r>
              <a:rPr lang="en-US" altLang="zh-CN" sz="2800" b="0" i="0" dirty="0" err="1">
                <a:solidFill>
                  <a:srgbClr val="267F99"/>
                </a:solidFill>
                <a:effectLst/>
                <a:latin typeface="+mn-ea"/>
                <a:ea typeface="+mn-ea"/>
              </a:rPr>
              <a:t>size_t</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a:t>
            </a:r>
            <a:r>
              <a:rPr lang="en-US" altLang="zh-CN" sz="2800" b="0" i="0" dirty="0">
                <a:solidFill>
                  <a:srgbClr val="001080"/>
                </a:solidFill>
                <a:effectLst/>
                <a:latin typeface="+mn-ea"/>
                <a:ea typeface="+mn-ea"/>
              </a:rPr>
              <a:t>n</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if</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elem</a:t>
            </a:r>
            <a:r>
              <a:rPr lang="en-US" altLang="zh-CN" sz="2800" b="0" i="0" dirty="0">
                <a:solidFill>
                  <a:srgbClr val="000000"/>
                </a:solidFill>
                <a:effectLst/>
                <a:latin typeface="+mn-ea"/>
                <a:ea typeface="+mn-ea"/>
              </a:rPr>
              <a:t>[</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 == </a:t>
            </a:r>
            <a:r>
              <a:rPr lang="en-US" altLang="zh-CN" sz="2800" b="0" i="0" dirty="0">
                <a:solidFill>
                  <a:srgbClr val="001080"/>
                </a:solidFill>
                <a:effectLst/>
                <a:latin typeface="+mn-ea"/>
                <a:ea typeface="+mn-ea"/>
              </a:rPr>
              <a:t>key</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            </a:t>
            </a:r>
            <a:r>
              <a:rPr lang="en-US" altLang="zh-CN" sz="2800" b="0" i="0" dirty="0">
                <a:solidFill>
                  <a:srgbClr val="AF00DB"/>
                </a:solidFill>
                <a:effectLst/>
                <a:latin typeface="+mn-ea"/>
                <a:ea typeface="+mn-ea"/>
              </a:rPr>
              <a:t>return</a:t>
            </a:r>
            <a:r>
              <a:rPr lang="en-US" altLang="zh-CN" sz="2800" b="0" i="0" dirty="0">
                <a:solidFill>
                  <a:srgbClr val="000000"/>
                </a:solidFill>
                <a:effectLst/>
                <a:latin typeface="+mn-ea"/>
                <a:ea typeface="+mn-ea"/>
              </a:rPr>
              <a:t> </a:t>
            </a:r>
            <a:r>
              <a:rPr lang="en-US" altLang="zh-CN" sz="2800" b="0" i="0" dirty="0" err="1">
                <a:solidFill>
                  <a:srgbClr val="001080"/>
                </a:solidFill>
                <a:effectLst/>
                <a:latin typeface="+mn-ea"/>
                <a:ea typeface="+mn-ea"/>
              </a:rPr>
              <a:t>i</a:t>
            </a:r>
            <a:r>
              <a:rPr lang="en-US" altLang="zh-CN" sz="2800" b="0" i="0" dirty="0">
                <a:solidFill>
                  <a:srgbClr val="000000"/>
                </a:solidFill>
                <a:effectLst/>
                <a:latin typeface="+mn-ea"/>
                <a:ea typeface="+mn-ea"/>
              </a:rPr>
              <a:t>;</a:t>
            </a:r>
          </a:p>
          <a:p>
            <a:r>
              <a:rPr lang="en-US" altLang="zh-CN" sz="2800" b="0" i="0" dirty="0">
                <a:solidFill>
                  <a:srgbClr val="000000"/>
                </a:solidFill>
                <a:effectLst/>
                <a:latin typeface="+mn-ea"/>
                <a:ea typeface="+mn-ea"/>
              </a:rPr>
              <a:t>}</a:t>
            </a:r>
          </a:p>
          <a:p>
            <a:r>
              <a:rPr lang="en-US" altLang="zh-CN" sz="2800" b="0" i="0" dirty="0">
                <a:solidFill>
                  <a:srgbClr val="008000"/>
                </a:solidFill>
                <a:effectLst/>
                <a:latin typeface="+mn-ea"/>
                <a:ea typeface="+mn-ea"/>
              </a:rPr>
              <a:t>// </a:t>
            </a:r>
            <a:r>
              <a:rPr lang="zh-CN" altLang="en-US" sz="2800" b="0" i="0" dirty="0">
                <a:solidFill>
                  <a:srgbClr val="008000"/>
                </a:solidFill>
                <a:effectLst/>
                <a:latin typeface="+mn-ea"/>
                <a:ea typeface="+mn-ea"/>
              </a:rPr>
              <a:t>设置哨兵目的是省略对下标越界的检查，节省</a:t>
            </a:r>
            <a:endParaRPr lang="en-US" altLang="zh-CN" sz="2800" b="0" i="0" dirty="0">
              <a:solidFill>
                <a:srgbClr val="008000"/>
              </a:solidFill>
              <a:effectLst/>
              <a:latin typeface="+mn-ea"/>
              <a:ea typeface="+mn-ea"/>
            </a:endParaRPr>
          </a:p>
          <a:p>
            <a:r>
              <a:rPr lang="en-US" altLang="zh-CN" sz="2800" b="0" i="0" dirty="0">
                <a:solidFill>
                  <a:srgbClr val="008000"/>
                </a:solidFill>
                <a:latin typeface="+mn-ea"/>
                <a:ea typeface="+mn-ea"/>
              </a:rPr>
              <a:t>// </a:t>
            </a:r>
            <a:r>
              <a:rPr lang="en-US" altLang="zh-CN" sz="2800" b="0" i="0" dirty="0">
                <a:solidFill>
                  <a:srgbClr val="008000"/>
                </a:solidFill>
                <a:effectLst/>
                <a:latin typeface="+mn-ea"/>
                <a:ea typeface="+mn-ea"/>
              </a:rPr>
              <a:t>1/3</a:t>
            </a:r>
            <a:r>
              <a:rPr lang="zh-CN" altLang="en-US" sz="2800" b="0" i="0" dirty="0">
                <a:solidFill>
                  <a:srgbClr val="008000"/>
                </a:solidFill>
                <a:effectLst/>
                <a:latin typeface="+mn-ea"/>
                <a:ea typeface="+mn-ea"/>
              </a:rPr>
              <a:t>计算量</a:t>
            </a:r>
            <a:r>
              <a:rPr lang="en-US" altLang="zh-CN" sz="2800" b="0" i="0" dirty="0">
                <a:solidFill>
                  <a:srgbClr val="008000"/>
                </a:solidFill>
                <a:effectLst/>
                <a:latin typeface="+mn-ea"/>
                <a:ea typeface="+mn-ea"/>
              </a:rPr>
              <a:t>,</a:t>
            </a:r>
            <a:r>
              <a:rPr lang="zh-CN" altLang="en-US" sz="2800" b="0" i="0" dirty="0">
                <a:solidFill>
                  <a:srgbClr val="008000"/>
                </a:solidFill>
                <a:effectLst/>
                <a:latin typeface="+mn-ea"/>
                <a:ea typeface="+mn-ea"/>
              </a:rPr>
              <a:t>提高算法执行效率</a:t>
            </a:r>
            <a:endParaRPr lang="zh-CN" altLang="en-US" sz="2800" b="0" i="0" dirty="0">
              <a:solidFill>
                <a:srgbClr val="000000"/>
              </a:solidFill>
              <a:effectLst/>
              <a:latin typeface="+mn-ea"/>
              <a:ea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矩形 1"/>
          <p:cNvSpPr>
            <a:spLocks noChangeArrowheads="1"/>
          </p:cNvSpPr>
          <p:nvPr/>
        </p:nvSpPr>
        <p:spPr bwMode="auto">
          <a:xfrm>
            <a:off x="659606" y="1248837"/>
            <a:ext cx="8341550" cy="523220"/>
          </a:xfrm>
          <a:prstGeom prst="rect">
            <a:avLst/>
          </a:prstGeom>
          <a:noFill/>
          <a:ln w="9525">
            <a:noFill/>
            <a:miter lim="800000"/>
            <a:headEnd/>
            <a:tailEnd/>
          </a:ln>
        </p:spPr>
        <p:txBody>
          <a:bodyPr wrap="square">
            <a:spAutoFit/>
          </a:bodyPr>
          <a:lstStyle/>
          <a:p>
            <a:r>
              <a:rPr lang="en-US" altLang="zh-CN" sz="2800" b="0" i="0" dirty="0">
                <a:latin typeface="+mn-ea"/>
                <a:ea typeface="+mn-ea"/>
              </a:rPr>
              <a:t>DWORD t1=</a:t>
            </a:r>
            <a:r>
              <a:rPr lang="en-US" altLang="zh-CN" sz="2800" b="0" i="0" dirty="0" err="1">
                <a:latin typeface="+mn-ea"/>
                <a:ea typeface="+mn-ea"/>
              </a:rPr>
              <a:t>GetTickCount</a:t>
            </a:r>
            <a:r>
              <a:rPr lang="en-US" altLang="zh-CN" sz="2800" b="0" i="0" dirty="0">
                <a:latin typeface="+mn-ea"/>
                <a:ea typeface="+mn-ea"/>
              </a:rPr>
              <a:t>(); //</a:t>
            </a:r>
            <a:r>
              <a:rPr lang="zh-CN" altLang="en-US" sz="2800" b="0" i="0" dirty="0">
                <a:latin typeface="+mn-ea"/>
                <a:ea typeface="+mn-ea"/>
              </a:rPr>
              <a:t>开机经过的毫秒数</a:t>
            </a:r>
            <a:endParaRPr lang="en-US" altLang="zh-CN" sz="2800" b="0" i="0" dirty="0">
              <a:latin typeface="+mn-ea"/>
              <a:ea typeface="+mn-ea"/>
            </a:endParaRPr>
          </a:p>
        </p:txBody>
      </p:sp>
      <p:graphicFrame>
        <p:nvGraphicFramePr>
          <p:cNvPr id="2" name="表格 1"/>
          <p:cNvGraphicFramePr>
            <a:graphicFrameLocks noGrp="1"/>
          </p:cNvGraphicFramePr>
          <p:nvPr>
            <p:extLst>
              <p:ext uri="{D42A27DB-BD31-4B8C-83A1-F6EECF244321}">
                <p14:modId xmlns:p14="http://schemas.microsoft.com/office/powerpoint/2010/main" val="692990725"/>
              </p:ext>
            </p:extLst>
          </p:nvPr>
        </p:nvGraphicFramePr>
        <p:xfrm>
          <a:off x="833937" y="2131116"/>
          <a:ext cx="7992888" cy="2663825"/>
        </p:xfrm>
        <a:graphic>
          <a:graphicData uri="http://schemas.openxmlformats.org/drawingml/2006/table">
            <a:tbl>
              <a:tblPr firstRow="1" bandRow="1">
                <a:tableStyleId>{E8B1032C-EA38-4F05-BA0D-38AFFFC7BED3}</a:tableStyleId>
              </a:tblPr>
              <a:tblGrid>
                <a:gridCol w="2664296">
                  <a:extLst>
                    <a:ext uri="{9D8B030D-6E8A-4147-A177-3AD203B41FA5}">
                      <a16:colId xmlns:a16="http://schemas.microsoft.com/office/drawing/2014/main" val="20000"/>
                    </a:ext>
                  </a:extLst>
                </a:gridCol>
                <a:gridCol w="2304256">
                  <a:extLst>
                    <a:ext uri="{9D8B030D-6E8A-4147-A177-3AD203B41FA5}">
                      <a16:colId xmlns:a16="http://schemas.microsoft.com/office/drawing/2014/main" val="20001"/>
                    </a:ext>
                  </a:extLst>
                </a:gridCol>
                <a:gridCol w="3024336">
                  <a:extLst>
                    <a:ext uri="{9D8B030D-6E8A-4147-A177-3AD203B41FA5}">
                      <a16:colId xmlns:a16="http://schemas.microsoft.com/office/drawing/2014/main" val="20002"/>
                    </a:ext>
                  </a:extLst>
                </a:gridCol>
              </a:tblGrid>
              <a:tr h="532765">
                <a:tc>
                  <a:txBody>
                    <a:bodyPr/>
                    <a:lstStyle/>
                    <a:p>
                      <a:endParaRPr lang="zh-CN" altLang="en-US" sz="2800" dirty="0">
                        <a:latin typeface="+mn-ea"/>
                        <a:ea typeface="+mn-ea"/>
                      </a:endParaRPr>
                    </a:p>
                  </a:txBody>
                  <a:tcPr marT="45712" marB="45712" anchor="ctr"/>
                </a:tc>
                <a:tc>
                  <a:txBody>
                    <a:bodyPr/>
                    <a:lstStyle/>
                    <a:p>
                      <a:r>
                        <a:rPr lang="en-US" altLang="zh-CN" sz="2800" dirty="0">
                          <a:latin typeface="+mn-ea"/>
                          <a:ea typeface="+mn-ea"/>
                        </a:rPr>
                        <a:t>  </a:t>
                      </a:r>
                      <a:r>
                        <a:rPr lang="zh-CN" altLang="en-US" sz="2800" dirty="0">
                          <a:latin typeface="+mn-ea"/>
                          <a:ea typeface="+mn-ea"/>
                        </a:rPr>
                        <a:t>哨兵算法</a:t>
                      </a:r>
                    </a:p>
                  </a:txBody>
                  <a:tcPr marT="45712" marB="45712" anchor="ctr"/>
                </a:tc>
                <a:tc>
                  <a:txBody>
                    <a:bodyPr/>
                    <a:lstStyle/>
                    <a:p>
                      <a:r>
                        <a:rPr lang="en-US" altLang="zh-CN" sz="2800" dirty="0">
                          <a:latin typeface="+mn-ea"/>
                          <a:ea typeface="+mn-ea"/>
                        </a:rPr>
                        <a:t>  </a:t>
                      </a:r>
                      <a:r>
                        <a:rPr lang="zh-CN" altLang="en-US" sz="2800" dirty="0">
                          <a:latin typeface="+mn-ea"/>
                          <a:ea typeface="+mn-ea"/>
                        </a:rPr>
                        <a:t>从头至尾查找</a:t>
                      </a:r>
                    </a:p>
                  </a:txBody>
                  <a:tcPr marT="45712" marB="45712" anchor="ctr"/>
                </a:tc>
                <a:extLst>
                  <a:ext uri="{0D108BD9-81ED-4DB2-BD59-A6C34878D82A}">
                    <a16:rowId xmlns:a16="http://schemas.microsoft.com/office/drawing/2014/main" val="10000"/>
                  </a:ext>
                </a:extLst>
              </a:tr>
              <a:tr h="532765">
                <a:tc>
                  <a:txBody>
                    <a:bodyPr/>
                    <a:lstStyle/>
                    <a:p>
                      <a:pPr algn="ctr"/>
                      <a:r>
                        <a:rPr lang="en-US" altLang="zh-CN" sz="2800" dirty="0">
                          <a:latin typeface="+mn-ea"/>
                          <a:ea typeface="+mn-ea"/>
                        </a:rPr>
                        <a:t>char, 9*10^8</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2172</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2297</a:t>
                      </a:r>
                      <a:endParaRPr lang="zh-CN" altLang="en-US" sz="2800" dirty="0">
                        <a:latin typeface="+mn-ea"/>
                        <a:ea typeface="+mn-ea"/>
                      </a:endParaRPr>
                    </a:p>
                  </a:txBody>
                  <a:tcPr marT="45712" marB="45712" anchor="ctr"/>
                </a:tc>
                <a:extLst>
                  <a:ext uri="{0D108BD9-81ED-4DB2-BD59-A6C34878D82A}">
                    <a16:rowId xmlns:a16="http://schemas.microsoft.com/office/drawing/2014/main" val="10001"/>
                  </a:ext>
                </a:extLst>
              </a:tr>
              <a:tr h="532765">
                <a:tc>
                  <a:txBody>
                    <a:bodyPr/>
                    <a:lstStyle/>
                    <a:p>
                      <a:pPr algn="ctr"/>
                      <a:r>
                        <a:rPr lang="en-US" altLang="zh-CN" sz="2800" dirty="0">
                          <a:latin typeface="+mn-ea"/>
                          <a:ea typeface="+mn-ea"/>
                        </a:rPr>
                        <a:t>char, 5*10^8</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1172</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1219</a:t>
                      </a:r>
                      <a:endParaRPr lang="zh-CN" altLang="en-US" sz="2800" dirty="0">
                        <a:latin typeface="+mn-ea"/>
                        <a:ea typeface="+mn-ea"/>
                      </a:endParaRPr>
                    </a:p>
                  </a:txBody>
                  <a:tcPr marT="45712" marB="45712" anchor="ctr"/>
                </a:tc>
                <a:extLst>
                  <a:ext uri="{0D108BD9-81ED-4DB2-BD59-A6C34878D82A}">
                    <a16:rowId xmlns:a16="http://schemas.microsoft.com/office/drawing/2014/main" val="10002"/>
                  </a:ext>
                </a:extLst>
              </a:tr>
              <a:tr h="532765">
                <a:tc>
                  <a:txBody>
                    <a:bodyPr/>
                    <a:lstStyle/>
                    <a:p>
                      <a:pPr algn="ctr"/>
                      <a:r>
                        <a:rPr lang="en-US" altLang="zh-CN" sz="2800" dirty="0" err="1">
                          <a:latin typeface="+mn-ea"/>
                          <a:ea typeface="+mn-ea"/>
                        </a:rPr>
                        <a:t>int</a:t>
                      </a:r>
                      <a:r>
                        <a:rPr lang="en-US" altLang="zh-CN" sz="2800" dirty="0">
                          <a:latin typeface="+mn-ea"/>
                          <a:ea typeface="+mn-ea"/>
                        </a:rPr>
                        <a:t>, 5*10^7</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109</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125</a:t>
                      </a:r>
                      <a:endParaRPr lang="zh-CN" altLang="en-US" sz="2800" dirty="0">
                        <a:latin typeface="+mn-ea"/>
                        <a:ea typeface="+mn-ea"/>
                      </a:endParaRPr>
                    </a:p>
                  </a:txBody>
                  <a:tcPr marT="45712" marB="45712" anchor="ctr"/>
                </a:tc>
                <a:extLst>
                  <a:ext uri="{0D108BD9-81ED-4DB2-BD59-A6C34878D82A}">
                    <a16:rowId xmlns:a16="http://schemas.microsoft.com/office/drawing/2014/main" val="10003"/>
                  </a:ext>
                </a:extLst>
              </a:tr>
              <a:tr h="532765">
                <a:tc>
                  <a:txBody>
                    <a:bodyPr/>
                    <a:lstStyle/>
                    <a:p>
                      <a:pPr algn="ctr"/>
                      <a:r>
                        <a:rPr lang="en-US" altLang="zh-CN" sz="2800" dirty="0" err="1">
                          <a:latin typeface="+mn-ea"/>
                          <a:ea typeface="+mn-ea"/>
                        </a:rPr>
                        <a:t>int</a:t>
                      </a:r>
                      <a:r>
                        <a:rPr lang="zh-CN" altLang="en-US" sz="2800" dirty="0">
                          <a:latin typeface="+mn-ea"/>
                          <a:ea typeface="+mn-ea"/>
                        </a:rPr>
                        <a:t>，</a:t>
                      </a:r>
                      <a:r>
                        <a:rPr lang="en-US" altLang="zh-CN" sz="2800" dirty="0">
                          <a:latin typeface="+mn-ea"/>
                          <a:ea typeface="+mn-ea"/>
                        </a:rPr>
                        <a:t>5*10^6</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15</a:t>
                      </a:r>
                      <a:endParaRPr lang="zh-CN" altLang="en-US" sz="2800" dirty="0">
                        <a:latin typeface="+mn-ea"/>
                        <a:ea typeface="+mn-ea"/>
                      </a:endParaRPr>
                    </a:p>
                  </a:txBody>
                  <a:tcPr marT="45712" marB="45712" anchor="ctr"/>
                </a:tc>
                <a:tc>
                  <a:txBody>
                    <a:bodyPr/>
                    <a:lstStyle/>
                    <a:p>
                      <a:pPr algn="ctr"/>
                      <a:r>
                        <a:rPr lang="en-US" altLang="zh-CN" sz="2800" dirty="0">
                          <a:latin typeface="+mn-ea"/>
                          <a:ea typeface="+mn-ea"/>
                        </a:rPr>
                        <a:t>16</a:t>
                      </a:r>
                      <a:endParaRPr lang="zh-CN" altLang="en-US" sz="2800" dirty="0">
                        <a:latin typeface="+mn-ea"/>
                        <a:ea typeface="+mn-ea"/>
                      </a:endParaRPr>
                    </a:p>
                  </a:txBody>
                  <a:tcPr marT="45712" marB="45712" anchor="ctr"/>
                </a:tc>
                <a:extLst>
                  <a:ext uri="{0D108BD9-81ED-4DB2-BD59-A6C34878D82A}">
                    <a16:rowId xmlns:a16="http://schemas.microsoft.com/office/drawing/2014/main" val="10004"/>
                  </a:ext>
                </a:extLst>
              </a:tr>
            </a:tbl>
          </a:graphicData>
        </a:graphic>
      </p:graphicFrame>
      <p:sp>
        <p:nvSpPr>
          <p:cNvPr id="7"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性能测试）</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Line 5"/>
          <p:cNvSpPr>
            <a:spLocks noChangeShapeType="1"/>
          </p:cNvSpPr>
          <p:nvPr/>
        </p:nvSpPr>
        <p:spPr bwMode="auto">
          <a:xfrm flipV="1">
            <a:off x="7313539" y="2564978"/>
            <a:ext cx="0" cy="352425"/>
          </a:xfrm>
          <a:prstGeom prst="line">
            <a:avLst/>
          </a:prstGeom>
          <a:noFill/>
          <a:ln w="9525">
            <a:solidFill>
              <a:srgbClr val="003366"/>
            </a:solidFill>
            <a:round/>
            <a:headEnd/>
            <a:tailEnd type="triangle" w="med" len="med"/>
          </a:ln>
          <a:effectLst/>
        </p:spPr>
        <p:txBody>
          <a:bodyPr wrap="none" anchor="ctr"/>
          <a:lstStyle/>
          <a:p>
            <a:endParaRPr lang="zh-CN" altLang="en-US" i="0"/>
          </a:p>
        </p:txBody>
      </p:sp>
      <p:sp>
        <p:nvSpPr>
          <p:cNvPr id="18438" name="Text Box 6"/>
          <p:cNvSpPr txBox="1">
            <a:spLocks noChangeArrowheads="1"/>
          </p:cNvSpPr>
          <p:nvPr/>
        </p:nvSpPr>
        <p:spPr bwMode="auto">
          <a:xfrm>
            <a:off x="7080176" y="2869778"/>
            <a:ext cx="666750" cy="396875"/>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i=11</a:t>
            </a:r>
          </a:p>
        </p:txBody>
      </p:sp>
      <p:sp>
        <p:nvSpPr>
          <p:cNvPr id="18439" name="AutoShape 7"/>
          <p:cNvSpPr>
            <a:spLocks noChangeArrowheads="1"/>
          </p:cNvSpPr>
          <p:nvPr/>
        </p:nvSpPr>
        <p:spPr bwMode="auto">
          <a:xfrm>
            <a:off x="4611614" y="1345778"/>
            <a:ext cx="1622425" cy="369888"/>
          </a:xfrm>
          <a:prstGeom prst="wedgeEllipseCallout">
            <a:avLst>
              <a:gd name="adj1" fmla="val -43736"/>
              <a:gd name="adj2" fmla="val 70171"/>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zh-CN" altLang="en-US" sz="2000" b="1" i="0">
                <a:solidFill>
                  <a:srgbClr val="FF0000"/>
                </a:solidFill>
                <a:latin typeface="Times New Roman" pitchFamily="18" charset="0"/>
                <a:ea typeface="楷体_GB2312" pitchFamily="1" charset="-122"/>
              </a:rPr>
              <a:t>找</a:t>
            </a:r>
            <a:r>
              <a:rPr lang="en-US" altLang="zh-CN" sz="2000" b="1" i="0">
                <a:solidFill>
                  <a:srgbClr val="FF0000"/>
                </a:solidFill>
                <a:latin typeface="Times New Roman" pitchFamily="18" charset="0"/>
                <a:ea typeface="楷体_GB2312" pitchFamily="1" charset="-122"/>
              </a:rPr>
              <a:t>64</a:t>
            </a:r>
          </a:p>
        </p:txBody>
      </p:sp>
      <p:sp>
        <p:nvSpPr>
          <p:cNvPr id="18440" name="AutoShape 8"/>
          <p:cNvSpPr>
            <a:spLocks noChangeArrowheads="1"/>
          </p:cNvSpPr>
          <p:nvPr/>
        </p:nvSpPr>
        <p:spPr bwMode="auto">
          <a:xfrm>
            <a:off x="1041326" y="2831677"/>
            <a:ext cx="914400" cy="609600"/>
          </a:xfrm>
          <a:prstGeom prst="cloudCallout">
            <a:avLst>
              <a:gd name="adj1" fmla="val -47292"/>
              <a:gd name="adj2" fmla="val -99533"/>
            </a:avLst>
          </a:prstGeom>
          <a:solidFill>
            <a:srgbClr val="FFCCFF"/>
          </a:solidFill>
          <a:ln w="9525">
            <a:solidFill>
              <a:srgbClr val="003366"/>
            </a:solidFill>
            <a:round/>
            <a:headEnd/>
            <a:tailEnd/>
          </a:ln>
          <a:effectLst/>
        </p:spPr>
        <p:txBody>
          <a:bodyPr wrap="none" anchor="ctr"/>
          <a:lstStyle/>
          <a:p>
            <a:pPr algn="ctr" eaLnBrk="1" hangingPunct="1">
              <a:buFont typeface="Arial" pitchFamily="34" charset="0"/>
              <a:buNone/>
            </a:pPr>
            <a:r>
              <a:rPr lang="zh-CN" altLang="en-US" sz="2000" b="1" i="0" dirty="0">
                <a:solidFill>
                  <a:srgbClr val="3333FF"/>
                </a:solidFill>
                <a:latin typeface="Times New Roman" pitchFamily="18" charset="0"/>
              </a:rPr>
              <a:t>哨兵</a:t>
            </a:r>
          </a:p>
        </p:txBody>
      </p:sp>
      <p:sp>
        <p:nvSpPr>
          <p:cNvPr id="18441" name="Line 9"/>
          <p:cNvSpPr>
            <a:spLocks noChangeShapeType="1"/>
          </p:cNvSpPr>
          <p:nvPr/>
        </p:nvSpPr>
        <p:spPr bwMode="auto">
          <a:xfrm flipV="1">
            <a:off x="4951339" y="2564978"/>
            <a:ext cx="0" cy="352425"/>
          </a:xfrm>
          <a:prstGeom prst="line">
            <a:avLst/>
          </a:prstGeom>
          <a:noFill/>
          <a:ln w="9525">
            <a:solidFill>
              <a:srgbClr val="003366"/>
            </a:solidFill>
            <a:round/>
            <a:headEnd/>
            <a:tailEnd type="triangle" w="med" len="med"/>
          </a:ln>
          <a:effectLst/>
        </p:spPr>
        <p:txBody>
          <a:bodyPr wrap="none" anchor="ctr"/>
          <a:lstStyle/>
          <a:p>
            <a:endParaRPr lang="zh-CN" altLang="en-US" i="0"/>
          </a:p>
        </p:txBody>
      </p:sp>
      <p:sp>
        <p:nvSpPr>
          <p:cNvPr id="18442" name="Text Box 10"/>
          <p:cNvSpPr txBox="1">
            <a:spLocks noChangeArrowheads="1"/>
          </p:cNvSpPr>
          <p:nvPr/>
        </p:nvSpPr>
        <p:spPr bwMode="auto">
          <a:xfrm>
            <a:off x="4641776" y="2869778"/>
            <a:ext cx="666750" cy="396875"/>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latin typeface="Times New Roman" pitchFamily="18" charset="0"/>
              </a:rPr>
              <a:t>i=7</a:t>
            </a:r>
          </a:p>
        </p:txBody>
      </p:sp>
      <p:sp>
        <p:nvSpPr>
          <p:cNvPr id="18443" name="Line 11"/>
          <p:cNvSpPr>
            <a:spLocks noChangeShapeType="1"/>
          </p:cNvSpPr>
          <p:nvPr/>
        </p:nvSpPr>
        <p:spPr bwMode="auto">
          <a:xfrm flipV="1">
            <a:off x="5541889" y="2564978"/>
            <a:ext cx="0" cy="352425"/>
          </a:xfrm>
          <a:prstGeom prst="line">
            <a:avLst/>
          </a:prstGeom>
          <a:noFill/>
          <a:ln w="9525">
            <a:solidFill>
              <a:srgbClr val="003366"/>
            </a:solidFill>
            <a:round/>
            <a:headEnd/>
            <a:tailEnd type="triangle" w="med" len="med"/>
          </a:ln>
          <a:effectLst/>
        </p:spPr>
        <p:txBody>
          <a:bodyPr wrap="none" anchor="ctr"/>
          <a:lstStyle/>
          <a:p>
            <a:endParaRPr lang="zh-CN" altLang="en-US" i="0"/>
          </a:p>
        </p:txBody>
      </p:sp>
      <p:sp>
        <p:nvSpPr>
          <p:cNvPr id="18444" name="Text Box 12"/>
          <p:cNvSpPr txBox="1">
            <a:spLocks noChangeArrowheads="1"/>
          </p:cNvSpPr>
          <p:nvPr/>
        </p:nvSpPr>
        <p:spPr bwMode="auto">
          <a:xfrm>
            <a:off x="5232326" y="2869778"/>
            <a:ext cx="666750" cy="396875"/>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latin typeface="Times New Roman" pitchFamily="18" charset="0"/>
              </a:rPr>
              <a:t>i=8</a:t>
            </a:r>
          </a:p>
        </p:txBody>
      </p:sp>
      <p:sp>
        <p:nvSpPr>
          <p:cNvPr id="18445" name="Line 13"/>
          <p:cNvSpPr>
            <a:spLocks noChangeShapeType="1"/>
          </p:cNvSpPr>
          <p:nvPr/>
        </p:nvSpPr>
        <p:spPr bwMode="auto">
          <a:xfrm flipV="1">
            <a:off x="6132439" y="2564978"/>
            <a:ext cx="0" cy="352425"/>
          </a:xfrm>
          <a:prstGeom prst="line">
            <a:avLst/>
          </a:prstGeom>
          <a:noFill/>
          <a:ln w="9525">
            <a:solidFill>
              <a:srgbClr val="003366"/>
            </a:solidFill>
            <a:round/>
            <a:headEnd/>
            <a:tailEnd type="triangle" w="med" len="med"/>
          </a:ln>
          <a:effectLst/>
        </p:spPr>
        <p:txBody>
          <a:bodyPr wrap="none" anchor="ctr"/>
          <a:lstStyle/>
          <a:p>
            <a:endParaRPr lang="zh-CN" altLang="en-US" i="0"/>
          </a:p>
        </p:txBody>
      </p:sp>
      <p:sp>
        <p:nvSpPr>
          <p:cNvPr id="18446" name="Text Box 14"/>
          <p:cNvSpPr txBox="1">
            <a:spLocks noChangeArrowheads="1"/>
          </p:cNvSpPr>
          <p:nvPr/>
        </p:nvSpPr>
        <p:spPr bwMode="auto">
          <a:xfrm>
            <a:off x="5822876" y="2869778"/>
            <a:ext cx="666750" cy="396875"/>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latin typeface="Times New Roman" pitchFamily="18" charset="0"/>
              </a:rPr>
              <a:t>i=9</a:t>
            </a:r>
          </a:p>
        </p:txBody>
      </p:sp>
      <p:sp>
        <p:nvSpPr>
          <p:cNvPr id="18447" name="Line 15"/>
          <p:cNvSpPr>
            <a:spLocks noChangeShapeType="1"/>
          </p:cNvSpPr>
          <p:nvPr/>
        </p:nvSpPr>
        <p:spPr bwMode="auto">
          <a:xfrm flipV="1">
            <a:off x="6703939" y="2564978"/>
            <a:ext cx="0" cy="352425"/>
          </a:xfrm>
          <a:prstGeom prst="line">
            <a:avLst/>
          </a:prstGeom>
          <a:noFill/>
          <a:ln w="9525">
            <a:solidFill>
              <a:srgbClr val="003366"/>
            </a:solidFill>
            <a:round/>
            <a:headEnd/>
            <a:tailEnd type="triangle" w="med" len="med"/>
          </a:ln>
          <a:effectLst/>
        </p:spPr>
        <p:txBody>
          <a:bodyPr wrap="none" anchor="ctr"/>
          <a:lstStyle/>
          <a:p>
            <a:endParaRPr lang="zh-CN" altLang="en-US" i="0"/>
          </a:p>
        </p:txBody>
      </p:sp>
      <p:sp>
        <p:nvSpPr>
          <p:cNvPr id="18448" name="Text Box 16"/>
          <p:cNvSpPr txBox="1">
            <a:spLocks noChangeArrowheads="1"/>
          </p:cNvSpPr>
          <p:nvPr/>
        </p:nvSpPr>
        <p:spPr bwMode="auto">
          <a:xfrm>
            <a:off x="6394376" y="2869778"/>
            <a:ext cx="666750" cy="396875"/>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latin typeface="Times New Roman" pitchFamily="18" charset="0"/>
              </a:rPr>
              <a:t>i=10</a:t>
            </a:r>
          </a:p>
        </p:txBody>
      </p:sp>
      <p:sp>
        <p:nvSpPr>
          <p:cNvPr id="18449" name="Text Box 17"/>
          <p:cNvSpPr txBox="1">
            <a:spLocks noChangeArrowheads="1"/>
          </p:cNvSpPr>
          <p:nvPr/>
        </p:nvSpPr>
        <p:spPr bwMode="auto">
          <a:xfrm>
            <a:off x="6370564" y="3296816"/>
            <a:ext cx="1487487" cy="406400"/>
          </a:xfrm>
          <a:prstGeom prst="rect">
            <a:avLst/>
          </a:prstGeom>
          <a:solidFill>
            <a:srgbClr val="FFCCFF"/>
          </a:solidFill>
          <a:ln w="9525">
            <a:solidFill>
              <a:srgbClr val="003366"/>
            </a:solidFill>
            <a:miter lim="800000"/>
            <a:headEnd/>
            <a:tailEnd/>
          </a:ln>
          <a:effectLst/>
        </p:spPr>
        <p:txBody>
          <a:bodyPr wrap="none">
            <a:spAutoFit/>
          </a:bodyPr>
          <a:lstStyle/>
          <a:p>
            <a:pPr eaLnBrk="1" hangingPunct="1">
              <a:buFont typeface="Arial" pitchFamily="34" charset="0"/>
              <a:buNone/>
            </a:pPr>
            <a:r>
              <a:rPr lang="zh-CN" altLang="en-US" sz="2000" b="1" i="0">
                <a:solidFill>
                  <a:srgbClr val="003300"/>
                </a:solidFill>
                <a:latin typeface="Times New Roman" pitchFamily="18" charset="0"/>
              </a:rPr>
              <a:t>比较次数</a:t>
            </a:r>
            <a:r>
              <a:rPr lang="en-US" altLang="zh-CN" sz="2000" b="1" i="0">
                <a:solidFill>
                  <a:srgbClr val="003300"/>
                </a:solidFill>
                <a:latin typeface="Times New Roman" pitchFamily="18" charset="0"/>
              </a:rPr>
              <a:t>=5</a:t>
            </a:r>
          </a:p>
        </p:txBody>
      </p:sp>
      <p:grpSp>
        <p:nvGrpSpPr>
          <p:cNvPr id="2" name="Group 19"/>
          <p:cNvGrpSpPr>
            <a:grpSpLocks/>
          </p:cNvGrpSpPr>
          <p:nvPr/>
        </p:nvGrpSpPr>
        <p:grpSpPr bwMode="auto">
          <a:xfrm>
            <a:off x="755576" y="1772816"/>
            <a:ext cx="7162800" cy="739775"/>
            <a:chOff x="0" y="0"/>
            <a:chExt cx="4512" cy="466"/>
          </a:xfrm>
        </p:grpSpPr>
        <p:sp>
          <p:nvSpPr>
            <p:cNvPr id="18452" name="Text Box 20"/>
            <p:cNvSpPr txBox="1">
              <a:spLocks noChangeArrowheads="1"/>
            </p:cNvSpPr>
            <p:nvPr/>
          </p:nvSpPr>
          <p:spPr bwMode="auto">
            <a:xfrm>
              <a:off x="48" y="0"/>
              <a:ext cx="4464"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 0      1       2       3       4       5       6        7        8       9      10     11</a:t>
              </a:r>
            </a:p>
          </p:txBody>
        </p:sp>
        <p:grpSp>
          <p:nvGrpSpPr>
            <p:cNvPr id="3" name="Group 21"/>
            <p:cNvGrpSpPr>
              <a:grpSpLocks/>
            </p:cNvGrpSpPr>
            <p:nvPr/>
          </p:nvGrpSpPr>
          <p:grpSpPr bwMode="auto">
            <a:xfrm>
              <a:off x="0" y="211"/>
              <a:ext cx="4320" cy="255"/>
              <a:chOff x="0" y="0"/>
              <a:chExt cx="4032" cy="255"/>
            </a:xfrm>
          </p:grpSpPr>
          <p:sp>
            <p:nvSpPr>
              <p:cNvPr id="18454" name="Rectangle 22"/>
              <p:cNvSpPr>
                <a:spLocks noChangeArrowheads="1"/>
              </p:cNvSpPr>
              <p:nvPr/>
            </p:nvSpPr>
            <p:spPr bwMode="auto">
              <a:xfrm>
                <a:off x="0"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chemeClr val="hlink"/>
                    </a:solidFill>
                    <a:latin typeface="Times New Roman" pitchFamily="18" charset="0"/>
                  </a:rPr>
                  <a:t>64</a:t>
                </a:r>
                <a:endParaRPr lang="en-US" altLang="zh-CN" sz="2000" b="1" i="0">
                  <a:solidFill>
                    <a:srgbClr val="003300"/>
                  </a:solidFill>
                  <a:latin typeface="Times New Roman" pitchFamily="18" charset="0"/>
                </a:endParaRPr>
              </a:p>
            </p:txBody>
          </p:sp>
          <p:sp>
            <p:nvSpPr>
              <p:cNvPr id="18455" name="Rectangle 23"/>
              <p:cNvSpPr>
                <a:spLocks noChangeArrowheads="1"/>
              </p:cNvSpPr>
              <p:nvPr/>
            </p:nvSpPr>
            <p:spPr bwMode="auto">
              <a:xfrm>
                <a:off x="336"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18456" name="Rectangle 24"/>
              <p:cNvSpPr>
                <a:spLocks noChangeArrowheads="1"/>
              </p:cNvSpPr>
              <p:nvPr/>
            </p:nvSpPr>
            <p:spPr bwMode="auto">
              <a:xfrm>
                <a:off x="672"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18457" name="Rectangle 25"/>
              <p:cNvSpPr>
                <a:spLocks noChangeArrowheads="1"/>
              </p:cNvSpPr>
              <p:nvPr/>
            </p:nvSpPr>
            <p:spPr bwMode="auto">
              <a:xfrm>
                <a:off x="1008"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18458" name="Rectangle 26"/>
              <p:cNvSpPr>
                <a:spLocks noChangeArrowheads="1"/>
              </p:cNvSpPr>
              <p:nvPr/>
            </p:nvSpPr>
            <p:spPr bwMode="auto">
              <a:xfrm>
                <a:off x="1344"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18459" name="Rectangle 27"/>
              <p:cNvSpPr>
                <a:spLocks noChangeArrowheads="1"/>
              </p:cNvSpPr>
              <p:nvPr/>
            </p:nvSpPr>
            <p:spPr bwMode="auto">
              <a:xfrm>
                <a:off x="1680"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18460" name="Rectangle 28"/>
              <p:cNvSpPr>
                <a:spLocks noChangeArrowheads="1"/>
              </p:cNvSpPr>
              <p:nvPr/>
            </p:nvSpPr>
            <p:spPr bwMode="auto">
              <a:xfrm>
                <a:off x="2016"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18461" name="Rectangle 29"/>
              <p:cNvSpPr>
                <a:spLocks noChangeArrowheads="1"/>
              </p:cNvSpPr>
              <p:nvPr/>
            </p:nvSpPr>
            <p:spPr bwMode="auto">
              <a:xfrm>
                <a:off x="2352"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64</a:t>
                </a:r>
              </a:p>
            </p:txBody>
          </p:sp>
          <p:sp>
            <p:nvSpPr>
              <p:cNvPr id="18462" name="Rectangle 30"/>
              <p:cNvSpPr>
                <a:spLocks noChangeArrowheads="1"/>
              </p:cNvSpPr>
              <p:nvPr/>
            </p:nvSpPr>
            <p:spPr bwMode="auto">
              <a:xfrm>
                <a:off x="2688"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18463" name="Rectangle 31"/>
              <p:cNvSpPr>
                <a:spLocks noChangeArrowheads="1"/>
              </p:cNvSpPr>
              <p:nvPr/>
            </p:nvSpPr>
            <p:spPr bwMode="auto">
              <a:xfrm>
                <a:off x="3024"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18464" name="Rectangle 32"/>
              <p:cNvSpPr>
                <a:spLocks noChangeArrowheads="1"/>
              </p:cNvSpPr>
              <p:nvPr/>
            </p:nvSpPr>
            <p:spPr bwMode="auto">
              <a:xfrm>
                <a:off x="3360"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18465" name="Rectangle 33"/>
              <p:cNvSpPr>
                <a:spLocks noChangeArrowheads="1"/>
              </p:cNvSpPr>
              <p:nvPr/>
            </p:nvSpPr>
            <p:spPr bwMode="auto">
              <a:xfrm>
                <a:off x="3696" y="0"/>
                <a:ext cx="336"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sp>
        <p:nvSpPr>
          <p:cNvPr id="4" name="Rectangle 18">
            <a:extLst>
              <a:ext uri="{FF2B5EF4-FFF2-40B4-BE49-F238E27FC236}">
                <a16:creationId xmlns:a16="http://schemas.microsoft.com/office/drawing/2014/main" id="{509AAA11-D95E-3A93-1783-1580FFA6D7B1}"/>
              </a:ext>
            </a:extLst>
          </p:cNvPr>
          <p:cNvSpPr>
            <a:spLocks noChangeArrowheads="1"/>
          </p:cNvSpPr>
          <p:nvPr/>
        </p:nvSpPr>
        <p:spPr bwMode="auto">
          <a:xfrm>
            <a:off x="3220263" y="130649"/>
            <a:ext cx="3579826" cy="769441"/>
          </a:xfrm>
          <a:prstGeom prst="rect">
            <a:avLst/>
          </a:prstGeom>
          <a:noFill/>
          <a:ln w="9525">
            <a:noFill/>
            <a:miter lim="800000"/>
            <a:headEnd/>
            <a:tailEnd/>
          </a:ln>
          <a:effectLst/>
        </p:spPr>
        <p:txBody>
          <a:bodyPr wrap="none">
            <a:spAutoFit/>
          </a:bodyPr>
          <a:lstStyle/>
          <a:p>
            <a:pPr algn="ctr" eaLnBrk="1" hangingPunct="1">
              <a:spcBef>
                <a:spcPct val="50000"/>
              </a:spcBef>
            </a:pPr>
            <a:r>
              <a:rPr lang="zh-CN" altLang="en-US" sz="4400" i="0" dirty="0">
                <a:solidFill>
                  <a:schemeClr val="tx2"/>
                </a:solidFill>
                <a:latin typeface="Tahoma" panose="020B0604030504040204" pitchFamily="34" charset="0"/>
                <a:ea typeface="隶书" pitchFamily="49" charset="-122"/>
              </a:rPr>
              <a:t>顺序查找举例</a:t>
            </a:r>
          </a:p>
        </p:txBody>
      </p:sp>
      <p:sp>
        <p:nvSpPr>
          <p:cNvPr id="6" name="文本框 5">
            <a:extLst>
              <a:ext uri="{FF2B5EF4-FFF2-40B4-BE49-F238E27FC236}">
                <a16:creationId xmlns:a16="http://schemas.microsoft.com/office/drawing/2014/main" id="{AB0D95B4-BE65-3482-C78F-415694039980}"/>
              </a:ext>
            </a:extLst>
          </p:cNvPr>
          <p:cNvSpPr txBox="1"/>
          <p:nvPr/>
        </p:nvSpPr>
        <p:spPr>
          <a:xfrm>
            <a:off x="659869" y="3622462"/>
            <a:ext cx="4572000" cy="2677656"/>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800" b="1" i="0" u="none" strike="noStrike" kern="1200" cap="none" spc="0" normalizeH="0" baseline="0" noProof="0" dirty="0">
                <a:ln>
                  <a:noFill/>
                </a:ln>
                <a:solidFill>
                  <a:srgbClr val="FF0000"/>
                </a:solidFill>
                <a:effectLst/>
                <a:uLnTx/>
                <a:uFillTx/>
                <a:latin typeface="Times New Roman" pitchFamily="18" charset="0"/>
                <a:ea typeface="宋体" panose="02010600030101010101" pitchFamily="2" charset="-122"/>
                <a:cs typeface="+mn-cs"/>
              </a:rPr>
              <a:t>比较次数：</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查找第</a:t>
            </a:r>
            <a:r>
              <a:rPr kumimoji="0" lang="en-US" altLang="zh-CN"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n</a:t>
            </a: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个元素：    1</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查找第</a:t>
            </a:r>
            <a:r>
              <a:rPr kumimoji="0" lang="en-US" altLang="zh-CN"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n-1</a:t>
            </a: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个元素：2</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查找第</a:t>
            </a:r>
            <a:r>
              <a:rPr kumimoji="0" lang="en-US" altLang="zh-CN" sz="2800" b="1" i="0" u="none" strike="noStrike" kern="1200" cap="none" spc="0" normalizeH="0" baseline="0" noProof="0" dirty="0" err="1">
                <a:ln>
                  <a:noFill/>
                </a:ln>
                <a:solidFill>
                  <a:srgbClr val="003300"/>
                </a:solidFill>
                <a:effectLst/>
                <a:uLnTx/>
                <a:uFillTx/>
                <a:latin typeface="Times New Roman" pitchFamily="18" charset="0"/>
                <a:ea typeface="宋体" panose="02010600030101010101" pitchFamily="2" charset="-122"/>
                <a:cs typeface="+mn-cs"/>
              </a:rPr>
              <a:t>i</a:t>
            </a: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个元素：    </a:t>
            </a:r>
            <a:r>
              <a:rPr kumimoji="0" lang="en-US" altLang="zh-CN"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n+1-i</a:t>
            </a:r>
          </a:p>
          <a:p>
            <a:pPr marL="0" marR="0" lvl="0" indent="0" algn="l" defTabSz="914400" rtl="0" eaLnBrk="1" fontAlgn="base" latinLnBrk="0" hangingPunct="1">
              <a:lnSpc>
                <a:spcPct val="100000"/>
              </a:lnSpc>
              <a:spcBef>
                <a:spcPct val="0"/>
              </a:spcBef>
              <a:spcAft>
                <a:spcPct val="0"/>
              </a:spcAft>
              <a:buClrTx/>
              <a:buSzTx/>
              <a:buFont typeface="Arial" pitchFamily="34" charset="0"/>
              <a:buNone/>
              <a:tabLst/>
              <a:defRPr/>
            </a:pPr>
            <a:r>
              <a:rPr kumimoji="0" lang="zh-CN" altLang="en-US"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查找失败：             </a:t>
            </a:r>
            <a:r>
              <a:rPr kumimoji="0" lang="en-US" altLang="zh-CN" sz="2800" b="1" i="0" u="none" strike="noStrike" kern="1200" cap="none" spc="0" normalizeH="0" baseline="0" noProof="0" dirty="0">
                <a:ln>
                  <a:noFill/>
                </a:ln>
                <a:solidFill>
                  <a:srgbClr val="003300"/>
                </a:solidFill>
                <a:effectLst/>
                <a:uLnTx/>
                <a:uFillTx/>
                <a:latin typeface="Times New Roman" pitchFamily="18" charset="0"/>
                <a:ea typeface="宋体" panose="02010600030101010101" pitchFamily="2" charset="-122"/>
                <a:cs typeface="+mn-cs"/>
              </a:rPr>
              <a:t>n+1</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18438"/>
                                        </p:tgtEl>
                                        <p:attrNameLst>
                                          <p:attrName>style.visibility</p:attrName>
                                        </p:attrNameLst>
                                      </p:cBhvr>
                                      <p:to>
                                        <p:strVal val="hidden"/>
                                      </p:to>
                                    </p:set>
                                  </p:childTnLst>
                                </p:cTn>
                              </p:par>
                              <p:par>
                                <p:cTn id="17" presetID="1" presetClass="exit" presetSubtype="0" fill="hold" grpId="1" nodeType="withEffect">
                                  <p:stCondLst>
                                    <p:cond delay="0"/>
                                  </p:stCondLst>
                                  <p:childTnLst>
                                    <p:set>
                                      <p:cBhvr>
                                        <p:cTn id="18" dur="1" fill="hold">
                                          <p:stCondLst>
                                            <p:cond delay="0"/>
                                          </p:stCondLst>
                                        </p:cTn>
                                        <p:tgtEl>
                                          <p:spTgt spid="18437"/>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44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4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1" nodeType="clickEffect">
                                  <p:stCondLst>
                                    <p:cond delay="0"/>
                                  </p:stCondLst>
                                  <p:childTnLst>
                                    <p:set>
                                      <p:cBhvr>
                                        <p:cTn id="28" dur="1" fill="hold">
                                          <p:stCondLst>
                                            <p:cond delay="0"/>
                                          </p:stCondLst>
                                        </p:cTn>
                                        <p:tgtEl>
                                          <p:spTgt spid="18447"/>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18448"/>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445"/>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446"/>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xit" presetSubtype="0" fill="hold" grpId="1" nodeType="clickEffect">
                                  <p:stCondLst>
                                    <p:cond delay="0"/>
                                  </p:stCondLst>
                                  <p:childTnLst>
                                    <p:set>
                                      <p:cBhvr>
                                        <p:cTn id="40" dur="1" fill="hold">
                                          <p:stCondLst>
                                            <p:cond delay="0"/>
                                          </p:stCondLst>
                                        </p:cTn>
                                        <p:tgtEl>
                                          <p:spTgt spid="18445"/>
                                        </p:tgtEl>
                                        <p:attrNameLst>
                                          <p:attrName>style.visibility</p:attrName>
                                        </p:attrNameLst>
                                      </p:cBhvr>
                                      <p:to>
                                        <p:strVal val="hidden"/>
                                      </p:to>
                                    </p:set>
                                  </p:childTnLst>
                                </p:cTn>
                              </p:par>
                              <p:par>
                                <p:cTn id="41" presetID="1" presetClass="exit" presetSubtype="0" fill="hold" grpId="1" nodeType="withEffect">
                                  <p:stCondLst>
                                    <p:cond delay="0"/>
                                  </p:stCondLst>
                                  <p:childTnLst>
                                    <p:set>
                                      <p:cBhvr>
                                        <p:cTn id="42" dur="1" fill="hold">
                                          <p:stCondLst>
                                            <p:cond delay="0"/>
                                          </p:stCondLst>
                                        </p:cTn>
                                        <p:tgtEl>
                                          <p:spTgt spid="18446"/>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84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444"/>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xit" presetSubtype="0" fill="hold" grpId="1" nodeType="clickEffect">
                                  <p:stCondLst>
                                    <p:cond delay="0"/>
                                  </p:stCondLst>
                                  <p:childTnLst>
                                    <p:set>
                                      <p:cBhvr>
                                        <p:cTn id="52" dur="1" fill="hold">
                                          <p:stCondLst>
                                            <p:cond delay="0"/>
                                          </p:stCondLst>
                                        </p:cTn>
                                        <p:tgtEl>
                                          <p:spTgt spid="18443"/>
                                        </p:tgtEl>
                                        <p:attrNameLst>
                                          <p:attrName>style.visibility</p:attrName>
                                        </p:attrNameLst>
                                      </p:cBhvr>
                                      <p:to>
                                        <p:strVal val="hidden"/>
                                      </p:to>
                                    </p:set>
                                  </p:childTnLst>
                                </p:cTn>
                              </p:par>
                              <p:par>
                                <p:cTn id="53" presetID="1" presetClass="exit" presetSubtype="0" fill="hold" grpId="1" nodeType="withEffect">
                                  <p:stCondLst>
                                    <p:cond delay="0"/>
                                  </p:stCondLst>
                                  <p:childTnLst>
                                    <p:set>
                                      <p:cBhvr>
                                        <p:cTn id="54" dur="1" fill="hold">
                                          <p:stCondLst>
                                            <p:cond delay="0"/>
                                          </p:stCondLst>
                                        </p:cTn>
                                        <p:tgtEl>
                                          <p:spTgt spid="18444"/>
                                        </p:tgtEl>
                                        <p:attrNameLst>
                                          <p:attrName>style.visibility</p:attrName>
                                        </p:attrNameLst>
                                      </p:cBhvr>
                                      <p:to>
                                        <p:strVal val="hidden"/>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844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4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44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animBg="1"/>
      <p:bldP spid="18437" grpId="1" animBg="1"/>
      <p:bldP spid="18438" grpId="0"/>
      <p:bldP spid="18438" grpId="1"/>
      <p:bldP spid="18440" grpId="0" animBg="1"/>
      <p:bldP spid="18441" grpId="0" animBg="1"/>
      <p:bldP spid="18442" grpId="0"/>
      <p:bldP spid="18443" grpId="0" animBg="1"/>
      <p:bldP spid="18443" grpId="1" animBg="1"/>
      <p:bldP spid="18444" grpId="0"/>
      <p:bldP spid="18444" grpId="1"/>
      <p:bldP spid="18445" grpId="0" animBg="1"/>
      <p:bldP spid="18445" grpId="1" animBg="1"/>
      <p:bldP spid="18446" grpId="0"/>
      <p:bldP spid="18446" grpId="1"/>
      <p:bldP spid="18447" grpId="0" animBg="1"/>
      <p:bldP spid="18447" grpId="1" animBg="1"/>
      <p:bldP spid="18448" grpId="0"/>
      <p:bldP spid="18448" grpId="1"/>
      <p:bldP spid="1844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EDF0BDE3-4FB0-40AC-BDC5-9AA13BF73B9A}" type="slidenum">
              <a:rPr lang="zh-CN" altLang="en-US"/>
              <a:pPr algn="r" eaLnBrk="1" hangingPunct="1">
                <a:spcBef>
                  <a:spcPct val="50000"/>
                </a:spcBef>
                <a:buFont typeface="Arial" pitchFamily="34" charset="0"/>
                <a:buNone/>
              </a:pPr>
              <a:t>13</a:t>
            </a:fld>
            <a:endParaRPr lang="en-US" altLang="zh-CN"/>
          </a:p>
        </p:txBody>
      </p:sp>
      <p:sp>
        <p:nvSpPr>
          <p:cNvPr id="19461" name="Rectangle 5"/>
          <p:cNvSpPr>
            <a:spLocks noGrp="1" noChangeArrowheads="1"/>
          </p:cNvSpPr>
          <p:nvPr>
            <p:ph type="body" idx="4294967295"/>
          </p:nvPr>
        </p:nvSpPr>
        <p:spPr>
          <a:xfrm>
            <a:off x="542956" y="1409700"/>
            <a:ext cx="8763000" cy="4038600"/>
          </a:xfrm>
        </p:spPr>
        <p:txBody>
          <a:bodyPr/>
          <a:lstStyle/>
          <a:p>
            <a:pPr eaLnBrk="1" hangingPunct="1">
              <a:spcBef>
                <a:spcPct val="70000"/>
              </a:spcBef>
            </a:pPr>
            <a:r>
              <a:rPr lang="zh-CN" altLang="en-US" dirty="0">
                <a:latin typeface="+mn-ea"/>
              </a:rPr>
              <a:t>对顺序表而言，</a:t>
            </a:r>
            <a:r>
              <a:rPr lang="en-US" altLang="zh-CN" dirty="0" err="1">
                <a:latin typeface="+mn-ea"/>
              </a:rPr>
              <a:t>C</a:t>
            </a:r>
            <a:r>
              <a:rPr lang="en-US" altLang="zh-CN" baseline="-25000" dirty="0" err="1">
                <a:latin typeface="+mn-ea"/>
              </a:rPr>
              <a:t>i</a:t>
            </a:r>
            <a:r>
              <a:rPr lang="en-US" altLang="zh-CN" dirty="0">
                <a:latin typeface="+mn-ea"/>
              </a:rPr>
              <a:t>=n-i+1</a:t>
            </a:r>
          </a:p>
          <a:p>
            <a:pPr eaLnBrk="1" hangingPunct="1">
              <a:spcBef>
                <a:spcPct val="70000"/>
              </a:spcBef>
            </a:pPr>
            <a:r>
              <a:rPr lang="zh-CN" altLang="en-US" dirty="0">
                <a:latin typeface="+mn-ea"/>
              </a:rPr>
              <a:t>在等概率查找的情况下，</a:t>
            </a:r>
            <a:r>
              <a:rPr lang="en-US" altLang="zh-CN" dirty="0">
                <a:latin typeface="+mn-ea"/>
              </a:rPr>
              <a:t>P</a:t>
            </a:r>
            <a:r>
              <a:rPr lang="en-US" altLang="zh-CN" baseline="-25000" dirty="0">
                <a:latin typeface="+mn-ea"/>
              </a:rPr>
              <a:t>i</a:t>
            </a:r>
            <a:r>
              <a:rPr lang="en-US" altLang="zh-CN" dirty="0">
                <a:latin typeface="+mn-ea"/>
              </a:rPr>
              <a:t>=1/n</a:t>
            </a:r>
          </a:p>
          <a:p>
            <a:pPr eaLnBrk="1" hangingPunct="1">
              <a:spcBef>
                <a:spcPct val="70000"/>
              </a:spcBef>
            </a:pPr>
            <a:r>
              <a:rPr lang="en-US" altLang="zh-CN" dirty="0">
                <a:latin typeface="+mn-ea"/>
              </a:rPr>
              <a:t>ASL</a:t>
            </a:r>
            <a:r>
              <a:rPr lang="zh-CN" altLang="en-US" baseline="-25000" dirty="0">
                <a:latin typeface="+mn-ea"/>
              </a:rPr>
              <a:t>成功</a:t>
            </a:r>
            <a:r>
              <a:rPr lang="en-US" altLang="zh-CN" dirty="0">
                <a:latin typeface="+mn-ea"/>
              </a:rPr>
              <a:t>=n*P</a:t>
            </a:r>
            <a:r>
              <a:rPr lang="en-US" altLang="zh-CN" baseline="-25000" dirty="0">
                <a:latin typeface="+mn-ea"/>
              </a:rPr>
              <a:t>1</a:t>
            </a:r>
            <a:r>
              <a:rPr lang="en-US" altLang="zh-CN" dirty="0">
                <a:latin typeface="+mn-ea"/>
              </a:rPr>
              <a:t> +(n-1)P</a:t>
            </a:r>
            <a:r>
              <a:rPr lang="en-US" altLang="zh-CN" baseline="-25000" dirty="0">
                <a:latin typeface="+mn-ea"/>
              </a:rPr>
              <a:t>2</a:t>
            </a:r>
            <a:r>
              <a:rPr lang="en-US" altLang="zh-CN" dirty="0">
                <a:latin typeface="+mn-ea"/>
              </a:rPr>
              <a:t> +…+ 2P</a:t>
            </a:r>
            <a:r>
              <a:rPr lang="en-US" altLang="zh-CN" baseline="-25000" dirty="0">
                <a:latin typeface="+mn-ea"/>
              </a:rPr>
              <a:t>n-1</a:t>
            </a:r>
            <a:r>
              <a:rPr lang="en-US" altLang="zh-CN" dirty="0">
                <a:latin typeface="+mn-ea"/>
              </a:rPr>
              <a:t>+ </a:t>
            </a:r>
            <a:r>
              <a:rPr lang="en-US" altLang="zh-CN" dirty="0" err="1">
                <a:latin typeface="+mn-ea"/>
              </a:rPr>
              <a:t>P</a:t>
            </a:r>
            <a:r>
              <a:rPr lang="en-US" altLang="zh-CN" baseline="-25000" dirty="0" err="1">
                <a:latin typeface="+mn-ea"/>
              </a:rPr>
              <a:t>n</a:t>
            </a:r>
            <a:r>
              <a:rPr lang="en-US" altLang="zh-CN" dirty="0">
                <a:latin typeface="+mn-ea"/>
              </a:rPr>
              <a:t> = (n+1)/2</a:t>
            </a:r>
            <a:endParaRPr lang="zh-CN" altLang="en-US" dirty="0">
              <a:latin typeface="+mn-ea"/>
            </a:endParaRPr>
          </a:p>
        </p:txBody>
      </p:sp>
      <p:sp>
        <p:nvSpPr>
          <p:cNvPr id="18439" name="AutoShape 7"/>
          <p:cNvSpPr>
            <a:spLocks noChangeArrowheads="1"/>
          </p:cNvSpPr>
          <p:nvPr/>
        </p:nvSpPr>
        <p:spPr bwMode="auto">
          <a:xfrm>
            <a:off x="2700339" y="4797425"/>
            <a:ext cx="4391942" cy="1603375"/>
          </a:xfrm>
          <a:prstGeom prst="cloudCallout">
            <a:avLst>
              <a:gd name="adj1" fmla="val -69138"/>
              <a:gd name="adj2" fmla="val -141391"/>
            </a:avLst>
          </a:prstGeom>
          <a:solidFill>
            <a:srgbClr val="FFFF00"/>
          </a:solidFill>
          <a:ln w="9525">
            <a:solidFill>
              <a:srgbClr val="FF6600"/>
            </a:solidFill>
            <a:round/>
            <a:headEnd/>
            <a:tailEnd/>
          </a:ln>
          <a:effectLst/>
        </p:spPr>
        <p:txBody>
          <a:bodyPr/>
          <a:lstStyle/>
          <a:p>
            <a:pPr algn="ctr" eaLnBrk="1" hangingPunct="1">
              <a:buFont typeface="Arial" pitchFamily="34" charset="0"/>
              <a:buNone/>
            </a:pPr>
            <a:r>
              <a:rPr lang="zh-CN" altLang="en-US" sz="2800" b="0" i="0" dirty="0">
                <a:latin typeface="黑体" panose="02010609060101010101" pitchFamily="49" charset="-122"/>
                <a:ea typeface="黑体" panose="02010609060101010101" pitchFamily="49" charset="-122"/>
              </a:rPr>
              <a:t>此为查找成功时，查找不成功？</a:t>
            </a:r>
          </a:p>
        </p:txBody>
      </p:sp>
      <p:sp>
        <p:nvSpPr>
          <p:cNvPr id="8"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一、顺序查找算法分析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18439"/>
                                        </p:tgtEl>
                                        <p:attrNameLst>
                                          <p:attrName>style.visibility</p:attrName>
                                        </p:attrNameLst>
                                      </p:cBhvr>
                                      <p:to>
                                        <p:strVal val="visible"/>
                                      </p:to>
                                    </p:set>
                                    <p:animEffect transition="in" filter="strips(downRight)">
                                      <p:cBhvr>
                                        <p:cTn id="7"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9" grpId="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EA5AF19A-C714-488C-8F6F-E0455F0DC79F}" type="slidenum">
              <a:rPr lang="zh-CN" altLang="en-US"/>
              <a:pPr algn="r" eaLnBrk="1" hangingPunct="1">
                <a:spcBef>
                  <a:spcPct val="50000"/>
                </a:spcBef>
                <a:buFont typeface="Arial" pitchFamily="34" charset="0"/>
                <a:buNone/>
              </a:pPr>
              <a:t>14</a:t>
            </a:fld>
            <a:endParaRPr lang="en-US" altLang="zh-CN"/>
          </a:p>
        </p:txBody>
      </p:sp>
      <p:sp>
        <p:nvSpPr>
          <p:cNvPr id="20485" name="Rectangle 5"/>
          <p:cNvSpPr>
            <a:spLocks noGrp="1" noChangeArrowheads="1"/>
          </p:cNvSpPr>
          <p:nvPr>
            <p:ph type="body" idx="4294967295"/>
          </p:nvPr>
        </p:nvSpPr>
        <p:spPr>
          <a:xfrm>
            <a:off x="566710" y="1257773"/>
            <a:ext cx="8763000" cy="1617663"/>
          </a:xfrm>
        </p:spPr>
        <p:txBody>
          <a:bodyPr/>
          <a:lstStyle/>
          <a:p>
            <a:pPr eaLnBrk="1" hangingPunct="1">
              <a:spcBef>
                <a:spcPct val="70000"/>
              </a:spcBef>
            </a:pPr>
            <a:r>
              <a:rPr lang="zh-CN" altLang="en-US" dirty="0">
                <a:latin typeface="黑体" pitchFamily="49" charset="-122"/>
                <a:ea typeface="黑体" pitchFamily="49" charset="-122"/>
              </a:rPr>
              <a:t>思考：假设查找不成功和查找成功的概率相同，且每个元素查找成功的概率也相同，分析平均查找长度。</a:t>
            </a:r>
            <a:endParaRPr lang="en-US" altLang="zh-CN" dirty="0">
              <a:latin typeface="黑体" pitchFamily="49" charset="-122"/>
              <a:ea typeface="黑体" pitchFamily="49" charset="-122"/>
            </a:endParaRPr>
          </a:p>
          <a:p>
            <a:pPr eaLnBrk="1" hangingPunct="1">
              <a:spcBef>
                <a:spcPct val="70000"/>
              </a:spcBef>
            </a:pPr>
            <a:endParaRPr lang="zh-CN" altLang="en-US" b="1" dirty="0">
              <a:latin typeface="黑体" pitchFamily="49" charset="-122"/>
              <a:ea typeface="黑体" pitchFamily="49" charset="-122"/>
            </a:endParaRPr>
          </a:p>
        </p:txBody>
      </p:sp>
      <p:sp>
        <p:nvSpPr>
          <p:cNvPr id="2" name="矩形 1"/>
          <p:cNvSpPr>
            <a:spLocks noChangeArrowheads="1"/>
          </p:cNvSpPr>
          <p:nvPr/>
        </p:nvSpPr>
        <p:spPr bwMode="auto">
          <a:xfrm>
            <a:off x="1131888" y="3110452"/>
            <a:ext cx="7707312" cy="523220"/>
          </a:xfrm>
          <a:prstGeom prst="rect">
            <a:avLst/>
          </a:prstGeom>
          <a:noFill/>
          <a:ln w="9525">
            <a:noFill/>
            <a:miter lim="800000"/>
            <a:headEnd/>
            <a:tailEnd/>
          </a:ln>
        </p:spPr>
        <p:txBody>
          <a:bodyPr>
            <a:spAutoFit/>
          </a:bodyPr>
          <a:lstStyle/>
          <a:p>
            <a:pPr eaLnBrk="1" hangingPunct="1">
              <a:spcBef>
                <a:spcPct val="70000"/>
              </a:spcBef>
            </a:pPr>
            <a:r>
              <a:rPr lang="en-US" altLang="zh-CN" sz="2800" b="0" i="0" dirty="0">
                <a:latin typeface="黑体" pitchFamily="49" charset="-122"/>
                <a:ea typeface="黑体" pitchFamily="49" charset="-122"/>
              </a:rPr>
              <a:t>ASL= (n+1)/2 + (n+1)/(2*2) = 3(n+1)/4</a:t>
            </a:r>
            <a:endParaRPr lang="zh-CN" altLang="en-US" sz="2800" b="0" i="0" dirty="0">
              <a:latin typeface="黑体" pitchFamily="49" charset="-122"/>
              <a:ea typeface="黑体" pitchFamily="49" charset="-122"/>
            </a:endParaRPr>
          </a:p>
        </p:txBody>
      </p:sp>
      <p:sp>
        <p:nvSpPr>
          <p:cNvPr id="8"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查找不成功分析）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8CADF55E-9409-4678-880B-D397E349B395}" type="slidenum">
              <a:rPr lang="zh-CN" altLang="en-US"/>
              <a:pPr algn="r" eaLnBrk="1" hangingPunct="1">
                <a:spcBef>
                  <a:spcPct val="50000"/>
                </a:spcBef>
                <a:buFont typeface="Arial" pitchFamily="34" charset="0"/>
                <a:buNone/>
              </a:pPr>
              <a:t>15</a:t>
            </a:fld>
            <a:endParaRPr lang="en-US" altLang="zh-CN"/>
          </a:p>
        </p:txBody>
      </p:sp>
      <p:sp>
        <p:nvSpPr>
          <p:cNvPr id="19461" name="Rectangle 5"/>
          <p:cNvSpPr>
            <a:spLocks noGrp="1" noChangeArrowheads="1"/>
          </p:cNvSpPr>
          <p:nvPr>
            <p:ph type="body" idx="4294967295"/>
          </p:nvPr>
        </p:nvSpPr>
        <p:spPr>
          <a:xfrm>
            <a:off x="548094" y="1409700"/>
            <a:ext cx="8334372" cy="2739380"/>
          </a:xfrm>
        </p:spPr>
        <p:txBody>
          <a:bodyPr/>
          <a:lstStyle/>
          <a:p>
            <a:pPr eaLnBrk="1" hangingPunct="1">
              <a:spcBef>
                <a:spcPct val="70000"/>
              </a:spcBef>
            </a:pPr>
            <a:r>
              <a:rPr lang="zh-CN" altLang="en-US" dirty="0">
                <a:latin typeface="+mn-ea"/>
              </a:rPr>
              <a:t>如果被查找的记录概率不等时，取</a:t>
            </a:r>
            <a:r>
              <a:rPr lang="en-US" altLang="zh-CN" dirty="0">
                <a:latin typeface="+mn-ea"/>
              </a:rPr>
              <a:t>P</a:t>
            </a:r>
            <a:r>
              <a:rPr lang="en-US" altLang="zh-CN" baseline="-25000" dirty="0">
                <a:latin typeface="+mn-ea"/>
              </a:rPr>
              <a:t>n</a:t>
            </a:r>
            <a:r>
              <a:rPr lang="en-US" altLang="zh-CN" dirty="0">
                <a:latin typeface="+mn-ea"/>
              </a:rPr>
              <a:t>≥P</a:t>
            </a:r>
            <a:r>
              <a:rPr lang="en-US" altLang="zh-CN" baseline="-25000" dirty="0">
                <a:latin typeface="+mn-ea"/>
              </a:rPr>
              <a:t>n-1</a:t>
            </a:r>
            <a:r>
              <a:rPr lang="en-US" altLang="zh-CN" dirty="0">
                <a:latin typeface="+mn-ea"/>
              </a:rPr>
              <a:t>≥···≥P</a:t>
            </a:r>
            <a:r>
              <a:rPr lang="en-US" altLang="zh-CN" baseline="-25000" dirty="0">
                <a:latin typeface="+mn-ea"/>
              </a:rPr>
              <a:t>2</a:t>
            </a:r>
            <a:r>
              <a:rPr lang="en-US" altLang="zh-CN" dirty="0">
                <a:latin typeface="+mn-ea"/>
              </a:rPr>
              <a:t>≥P</a:t>
            </a:r>
            <a:r>
              <a:rPr lang="en-US" altLang="zh-CN" baseline="-25000" dirty="0">
                <a:latin typeface="+mn-ea"/>
              </a:rPr>
              <a:t>1</a:t>
            </a:r>
          </a:p>
          <a:p>
            <a:pPr eaLnBrk="1" hangingPunct="1">
              <a:spcBef>
                <a:spcPct val="70000"/>
              </a:spcBef>
            </a:pPr>
            <a:r>
              <a:rPr lang="zh-CN" altLang="en-US" dirty="0">
                <a:latin typeface="+mn-ea"/>
              </a:rPr>
              <a:t>若查找概率无法事先测定，则查找过程采取的改进办法是，在每次查找之后，将刚刚查找到的记录直接移至表尾的位置上</a:t>
            </a:r>
          </a:p>
        </p:txBody>
      </p:sp>
      <p:sp>
        <p:nvSpPr>
          <p:cNvPr id="7"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不等概率</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461">
                                            <p:txEl>
                                              <p:pRg st="1" end="1"/>
                                            </p:txEl>
                                          </p:spTgt>
                                        </p:tgtEl>
                                        <p:attrNameLst>
                                          <p:attrName>style.visibility</p:attrName>
                                        </p:attrNameLst>
                                      </p:cBhvr>
                                      <p:to>
                                        <p:strVal val="visible"/>
                                      </p:to>
                                    </p:set>
                                    <p:animEffect transition="in" filter="blinds(horizontal)">
                                      <p:cBhvr>
                                        <p:cTn id="7" dur="500"/>
                                        <p:tgtEl>
                                          <p:spTgt spid="19461">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BEE0227B-9449-4E90-9B5D-565193F5A7CB}" type="slidenum">
              <a:rPr lang="zh-CN" altLang="en-US"/>
              <a:pPr algn="r" eaLnBrk="1" hangingPunct="1">
                <a:spcBef>
                  <a:spcPct val="50000"/>
                </a:spcBef>
                <a:buFont typeface="Arial" pitchFamily="34" charset="0"/>
                <a:buNone/>
              </a:pPr>
              <a:t>16</a:t>
            </a:fld>
            <a:endParaRPr lang="en-US" altLang="zh-CN"/>
          </a:p>
        </p:txBody>
      </p:sp>
      <p:sp>
        <p:nvSpPr>
          <p:cNvPr id="20485" name="Rectangle 5"/>
          <p:cNvSpPr>
            <a:spLocks noGrp="1" noChangeArrowheads="1"/>
          </p:cNvSpPr>
          <p:nvPr>
            <p:ph type="body" idx="4294967295"/>
          </p:nvPr>
        </p:nvSpPr>
        <p:spPr>
          <a:xfrm>
            <a:off x="578182" y="1340768"/>
            <a:ext cx="7262802" cy="4038600"/>
          </a:xfrm>
        </p:spPr>
        <p:txBody>
          <a:bodyPr/>
          <a:lstStyle/>
          <a:p>
            <a:pPr eaLnBrk="1" hangingPunct="1">
              <a:lnSpc>
                <a:spcPct val="90000"/>
              </a:lnSpc>
            </a:pPr>
            <a:r>
              <a:rPr lang="zh-CN" altLang="en-US" dirty="0">
                <a:latin typeface="黑体" pitchFamily="49" charset="-122"/>
                <a:ea typeface="黑体" pitchFamily="49" charset="-122"/>
              </a:rPr>
              <a:t>优点：</a:t>
            </a:r>
          </a:p>
          <a:p>
            <a:pPr eaLnBrk="1" hangingPunct="1">
              <a:lnSpc>
                <a:spcPct val="90000"/>
              </a:lnSpc>
              <a:buFont typeface="Wingdings" pitchFamily="2" charset="2"/>
              <a:buNone/>
            </a:pPr>
            <a:r>
              <a:rPr lang="zh-CN" altLang="en-US" dirty="0">
                <a:latin typeface="黑体" pitchFamily="49" charset="-122"/>
                <a:ea typeface="黑体" pitchFamily="49" charset="-122"/>
              </a:rPr>
              <a:t>1.简单</a:t>
            </a:r>
          </a:p>
          <a:p>
            <a:pPr eaLnBrk="1" hangingPunct="1">
              <a:lnSpc>
                <a:spcPct val="90000"/>
              </a:lnSpc>
              <a:buFont typeface="Wingdings" pitchFamily="2" charset="2"/>
              <a:buNone/>
            </a:pPr>
            <a:r>
              <a:rPr lang="zh-CN" altLang="en-US" dirty="0">
                <a:latin typeface="黑体" pitchFamily="49" charset="-122"/>
                <a:ea typeface="黑体" pitchFamily="49" charset="-122"/>
              </a:rPr>
              <a:t>2.适应面广(对表的结构无任何要求)</a:t>
            </a:r>
          </a:p>
          <a:p>
            <a:pPr eaLnBrk="1" hangingPunct="1">
              <a:lnSpc>
                <a:spcPct val="90000"/>
              </a:lnSpc>
            </a:pPr>
            <a:endParaRPr lang="zh-CN" altLang="en-US" dirty="0">
              <a:latin typeface="黑体" pitchFamily="49" charset="-122"/>
              <a:ea typeface="黑体" pitchFamily="49" charset="-122"/>
            </a:endParaRPr>
          </a:p>
          <a:p>
            <a:pPr eaLnBrk="1" hangingPunct="1">
              <a:lnSpc>
                <a:spcPct val="90000"/>
              </a:lnSpc>
            </a:pPr>
            <a:r>
              <a:rPr lang="zh-CN" altLang="en-US" dirty="0">
                <a:latin typeface="黑体" pitchFamily="49" charset="-122"/>
                <a:ea typeface="黑体" pitchFamily="49" charset="-122"/>
              </a:rPr>
              <a:t>缺点：</a:t>
            </a:r>
          </a:p>
          <a:p>
            <a:pPr eaLnBrk="1" hangingPunct="1">
              <a:lnSpc>
                <a:spcPct val="90000"/>
              </a:lnSpc>
              <a:buFont typeface="Wingdings" pitchFamily="2" charset="2"/>
              <a:buNone/>
            </a:pPr>
            <a:r>
              <a:rPr lang="zh-CN" altLang="en-US" dirty="0">
                <a:latin typeface="黑体" pitchFamily="49" charset="-122"/>
                <a:ea typeface="黑体" pitchFamily="49" charset="-122"/>
              </a:rPr>
              <a:t>1.平均查找长度较大</a:t>
            </a:r>
          </a:p>
          <a:p>
            <a:pPr eaLnBrk="1" hangingPunct="1">
              <a:lnSpc>
                <a:spcPct val="90000"/>
              </a:lnSpc>
              <a:buFont typeface="Wingdings" pitchFamily="2" charset="2"/>
              <a:buNone/>
            </a:pPr>
            <a:r>
              <a:rPr lang="zh-CN" altLang="en-US" dirty="0">
                <a:latin typeface="黑体" pitchFamily="49" charset="-122"/>
                <a:ea typeface="黑体" pitchFamily="49" charset="-122"/>
              </a:rPr>
              <a:t>2.特别是当</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很大时，查找效率很低</a:t>
            </a:r>
          </a:p>
        </p:txBody>
      </p:sp>
      <p:sp>
        <p:nvSpPr>
          <p:cNvPr id="7"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一、顺序查找特点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0485">
                                            <p:txEl>
                                              <p:pRg st="1" end="1"/>
                                            </p:txEl>
                                          </p:spTgt>
                                        </p:tgtEl>
                                        <p:attrNameLst>
                                          <p:attrName>style.visibility</p:attrName>
                                        </p:attrNameLst>
                                      </p:cBhvr>
                                      <p:to>
                                        <p:strVal val="visible"/>
                                      </p:to>
                                    </p:set>
                                    <p:animEffect transition="in" filter="blinds(horizontal)">
                                      <p:cBhvr>
                                        <p:cTn id="7" dur="500"/>
                                        <p:tgtEl>
                                          <p:spTgt spid="2048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0485">
                                            <p:txEl>
                                              <p:pRg st="2" end="2"/>
                                            </p:txEl>
                                          </p:spTgt>
                                        </p:tgtEl>
                                        <p:attrNameLst>
                                          <p:attrName>style.visibility</p:attrName>
                                        </p:attrNameLst>
                                      </p:cBhvr>
                                      <p:to>
                                        <p:strVal val="visible"/>
                                      </p:to>
                                    </p:set>
                                    <p:animEffect transition="in" filter="blinds(horizontal)">
                                      <p:cBhvr>
                                        <p:cTn id="12" dur="500"/>
                                        <p:tgtEl>
                                          <p:spTgt spid="2048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0485">
                                            <p:txEl>
                                              <p:pRg st="4" end="4"/>
                                            </p:txEl>
                                          </p:spTgt>
                                        </p:tgtEl>
                                        <p:attrNameLst>
                                          <p:attrName>style.visibility</p:attrName>
                                        </p:attrNameLst>
                                      </p:cBhvr>
                                      <p:to>
                                        <p:strVal val="visible"/>
                                      </p:to>
                                    </p:set>
                                    <p:animEffect transition="in" filter="blinds(horizontal)">
                                      <p:cBhvr>
                                        <p:cTn id="17" dur="500"/>
                                        <p:tgtEl>
                                          <p:spTgt spid="20485">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0485">
                                            <p:txEl>
                                              <p:pRg st="5" end="5"/>
                                            </p:txEl>
                                          </p:spTgt>
                                        </p:tgtEl>
                                        <p:attrNameLst>
                                          <p:attrName>style.visibility</p:attrName>
                                        </p:attrNameLst>
                                      </p:cBhvr>
                                      <p:to>
                                        <p:strVal val="visible"/>
                                      </p:to>
                                    </p:set>
                                    <p:animEffect transition="in" filter="blinds(horizontal)">
                                      <p:cBhvr>
                                        <p:cTn id="22" dur="500"/>
                                        <p:tgtEl>
                                          <p:spTgt spid="20485">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20485">
                                            <p:txEl>
                                              <p:pRg st="6" end="6"/>
                                            </p:txEl>
                                          </p:spTgt>
                                        </p:tgtEl>
                                        <p:attrNameLst>
                                          <p:attrName>style.visibility</p:attrName>
                                        </p:attrNameLst>
                                      </p:cBhvr>
                                      <p:to>
                                        <p:strVal val="visible"/>
                                      </p:to>
                                    </p:set>
                                    <p:animEffect transition="in" filter="blinds(horizontal)">
                                      <p:cBhvr>
                                        <p:cTn id="27" dur="500"/>
                                        <p:tgtEl>
                                          <p:spTgt spid="2048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a:xfrm>
            <a:off x="528670" y="1123968"/>
            <a:ext cx="5715000" cy="685800"/>
          </a:xfrm>
        </p:spPr>
        <p:txBody>
          <a:bodyPr/>
          <a:lstStyle/>
          <a:p>
            <a:pPr algn="l" eaLnBrk="1" hangingPunct="1"/>
            <a:r>
              <a:rPr lang="zh-CN" altLang="en-US" sz="3200" dirty="0">
                <a:latin typeface="黑体" pitchFamily="49" charset="-122"/>
                <a:ea typeface="黑体" pitchFamily="49" charset="-122"/>
              </a:rPr>
              <a:t>二、折半查找</a:t>
            </a:r>
          </a:p>
        </p:txBody>
      </p:sp>
      <p:sp>
        <p:nvSpPr>
          <p:cNvPr id="23555"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CB2A0321-A677-4F3D-81F1-914D0FFCBF84}" type="slidenum">
              <a:rPr lang="zh-CN" altLang="en-US"/>
              <a:pPr algn="r" eaLnBrk="1" hangingPunct="1">
                <a:spcBef>
                  <a:spcPct val="50000"/>
                </a:spcBef>
                <a:buFont typeface="Arial" pitchFamily="34" charset="0"/>
                <a:buNone/>
              </a:pPr>
              <a:t>17</a:t>
            </a:fld>
            <a:endParaRPr lang="en-US" altLang="zh-CN"/>
          </a:p>
        </p:txBody>
      </p:sp>
      <p:sp>
        <p:nvSpPr>
          <p:cNvPr id="21509" name="Rectangle 5"/>
          <p:cNvSpPr>
            <a:spLocks noGrp="1" noChangeArrowheads="1"/>
          </p:cNvSpPr>
          <p:nvPr>
            <p:ph type="body" idx="4294967295"/>
          </p:nvPr>
        </p:nvSpPr>
        <p:spPr>
          <a:xfrm>
            <a:off x="452470" y="1962168"/>
            <a:ext cx="8763000" cy="4038600"/>
          </a:xfrm>
        </p:spPr>
        <p:txBody>
          <a:bodyPr/>
          <a:lstStyle/>
          <a:p>
            <a:pPr eaLnBrk="1" hangingPunct="1">
              <a:lnSpc>
                <a:spcPct val="90000"/>
              </a:lnSpc>
              <a:spcBef>
                <a:spcPct val="50000"/>
              </a:spcBef>
            </a:pPr>
            <a:r>
              <a:rPr lang="zh-CN" altLang="en-US" dirty="0">
                <a:latin typeface="黑体" pitchFamily="49" charset="-122"/>
                <a:ea typeface="黑体" pitchFamily="49" charset="-122"/>
              </a:rPr>
              <a:t>折半查找算法是</a:t>
            </a:r>
            <a:r>
              <a:rPr lang="zh-CN" altLang="en-US" dirty="0">
                <a:solidFill>
                  <a:srgbClr val="FF0000"/>
                </a:solidFill>
                <a:latin typeface="黑体" pitchFamily="49" charset="-122"/>
                <a:ea typeface="黑体" pitchFamily="49" charset="-122"/>
              </a:rPr>
              <a:t>有序表</a:t>
            </a:r>
            <a:r>
              <a:rPr lang="zh-CN" altLang="en-US" dirty="0">
                <a:latin typeface="黑体" pitchFamily="49" charset="-122"/>
                <a:ea typeface="黑体" pitchFamily="49" charset="-122"/>
              </a:rPr>
              <a:t>的查找方法</a:t>
            </a:r>
          </a:p>
          <a:p>
            <a:pPr eaLnBrk="1" hangingPunct="1">
              <a:lnSpc>
                <a:spcPct val="90000"/>
              </a:lnSpc>
              <a:spcBef>
                <a:spcPct val="50000"/>
              </a:spcBef>
            </a:pPr>
            <a:r>
              <a:rPr lang="zh-CN" altLang="en-US" dirty="0">
                <a:latin typeface="黑体" pitchFamily="49" charset="-122"/>
                <a:ea typeface="黑体" pitchFamily="49" charset="-122"/>
              </a:rPr>
              <a:t>在折半查找算法中，静态查找表按关键字大小的次序，有序地存放在</a:t>
            </a:r>
            <a:r>
              <a:rPr lang="zh-CN" altLang="en-US" dirty="0">
                <a:solidFill>
                  <a:srgbClr val="FF0000"/>
                </a:solidFill>
                <a:latin typeface="黑体" pitchFamily="49" charset="-122"/>
                <a:ea typeface="黑体" pitchFamily="49" charset="-122"/>
              </a:rPr>
              <a:t>顺序表</a:t>
            </a:r>
            <a:r>
              <a:rPr lang="zh-CN" altLang="en-US" dirty="0">
                <a:latin typeface="黑体" pitchFamily="49" charset="-122"/>
                <a:ea typeface="黑体" pitchFamily="49" charset="-122"/>
              </a:rPr>
              <a:t>中</a:t>
            </a:r>
          </a:p>
          <a:p>
            <a:pPr eaLnBrk="1" hangingPunct="1">
              <a:lnSpc>
                <a:spcPct val="90000"/>
              </a:lnSpc>
              <a:spcBef>
                <a:spcPct val="100000"/>
              </a:spcBef>
            </a:pPr>
            <a:r>
              <a:rPr lang="zh-CN" altLang="en-US" dirty="0">
                <a:latin typeface="黑体" pitchFamily="49" charset="-122"/>
                <a:ea typeface="黑体" pitchFamily="49" charset="-122"/>
              </a:rPr>
              <a:t>折半查找的原理是：</a:t>
            </a:r>
          </a:p>
          <a:p>
            <a:pPr eaLnBrk="1" hangingPunct="1">
              <a:lnSpc>
                <a:spcPct val="90000"/>
              </a:lnSpc>
              <a:spcBef>
                <a:spcPct val="50000"/>
              </a:spcBef>
              <a:buFont typeface="Wingdings" pitchFamily="2" charset="2"/>
              <a:buNone/>
            </a:pPr>
            <a:r>
              <a:rPr lang="en-US" altLang="zh-CN" dirty="0">
                <a:latin typeface="黑体" pitchFamily="49" charset="-122"/>
                <a:ea typeface="黑体" pitchFamily="49" charset="-122"/>
              </a:rPr>
              <a:t>1.</a:t>
            </a:r>
            <a:r>
              <a:rPr lang="zh-CN" altLang="en-US" dirty="0">
                <a:latin typeface="黑体" pitchFamily="49" charset="-122"/>
                <a:ea typeface="黑体" pitchFamily="49" charset="-122"/>
              </a:rPr>
              <a:t>先确定待查记录所在的范围</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前部分或后部分</a:t>
            </a:r>
            <a:r>
              <a:rPr lang="en-US" altLang="zh-CN" dirty="0">
                <a:latin typeface="黑体" pitchFamily="49" charset="-122"/>
                <a:ea typeface="黑体" pitchFamily="49" charset="-122"/>
              </a:rPr>
              <a:t>)</a:t>
            </a:r>
          </a:p>
          <a:p>
            <a:pPr eaLnBrk="1" hangingPunct="1">
              <a:lnSpc>
                <a:spcPct val="90000"/>
              </a:lnSpc>
              <a:spcBef>
                <a:spcPct val="50000"/>
              </a:spcBef>
              <a:buFont typeface="Wingdings" pitchFamily="2" charset="2"/>
              <a:buNone/>
            </a:pPr>
            <a:r>
              <a:rPr lang="en-US" altLang="zh-CN" dirty="0">
                <a:latin typeface="黑体" pitchFamily="49" charset="-122"/>
                <a:ea typeface="黑体" pitchFamily="49" charset="-122"/>
              </a:rPr>
              <a:t>2.</a:t>
            </a:r>
            <a:r>
              <a:rPr lang="zh-CN" altLang="en-US" dirty="0">
                <a:latin typeface="黑体" pitchFamily="49" charset="-122"/>
                <a:ea typeface="黑体" pitchFamily="49" charset="-122"/>
              </a:rPr>
              <a:t>逐步缩小</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一半</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范围直到找</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不</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到该记录为止</a:t>
            </a:r>
          </a:p>
        </p:txBody>
      </p:sp>
      <p:sp>
        <p:nvSpPr>
          <p:cNvPr id="7"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第二节　静态查找表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1509">
                                            <p:txEl>
                                              <p:pRg st="3" end="3"/>
                                            </p:txEl>
                                          </p:spTgt>
                                        </p:tgtEl>
                                        <p:attrNameLst>
                                          <p:attrName>style.visibility</p:attrName>
                                        </p:attrNameLst>
                                      </p:cBhvr>
                                      <p:to>
                                        <p:strVal val="visible"/>
                                      </p:to>
                                    </p:set>
                                    <p:animEffect transition="in" filter="blinds(horizontal)">
                                      <p:cBhvr>
                                        <p:cTn id="7" dur="500"/>
                                        <p:tgtEl>
                                          <p:spTgt spid="21509">
                                            <p:txEl>
                                              <p:pRg st="3" end="3"/>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1509">
                                            <p:txEl>
                                              <p:pRg st="4" end="4"/>
                                            </p:txEl>
                                          </p:spTgt>
                                        </p:tgtEl>
                                        <p:attrNameLst>
                                          <p:attrName>style.visibility</p:attrName>
                                        </p:attrNameLst>
                                      </p:cBhvr>
                                      <p:to>
                                        <p:strVal val="visible"/>
                                      </p:to>
                                    </p:set>
                                    <p:animEffect transition="in" filter="blinds(horizontal)">
                                      <p:cBhvr>
                                        <p:cTn id="12" dur="500"/>
                                        <p:tgtEl>
                                          <p:spTgt spid="2150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776A87EC-57E3-4D05-9CDC-FD4D086026A0}" type="slidenum">
              <a:rPr lang="zh-CN" altLang="en-US"/>
              <a:pPr algn="r" eaLnBrk="1" hangingPunct="1">
                <a:spcBef>
                  <a:spcPct val="50000"/>
                </a:spcBef>
                <a:buFont typeface="Arial" pitchFamily="34" charset="0"/>
                <a:buNone/>
              </a:pPr>
              <a:t>18</a:t>
            </a:fld>
            <a:endParaRPr lang="en-US" altLang="zh-CN"/>
          </a:p>
        </p:txBody>
      </p:sp>
      <p:sp>
        <p:nvSpPr>
          <p:cNvPr id="22533" name="Rectangle 5"/>
          <p:cNvSpPr>
            <a:spLocks noGrp="1" noChangeArrowheads="1"/>
          </p:cNvSpPr>
          <p:nvPr>
            <p:ph type="body" idx="4294967295"/>
          </p:nvPr>
        </p:nvSpPr>
        <p:spPr>
          <a:xfrm>
            <a:off x="542956" y="1300009"/>
            <a:ext cx="8763000" cy="4038600"/>
          </a:xfrm>
        </p:spPr>
        <p:txBody>
          <a:bodyPr/>
          <a:lstStyle/>
          <a:p>
            <a:pPr eaLnBrk="1" hangingPunct="1">
              <a:lnSpc>
                <a:spcPct val="90000"/>
              </a:lnSpc>
              <a:spcBef>
                <a:spcPct val="30000"/>
              </a:spcBef>
              <a:buFont typeface="Wingdings" pitchFamily="2" charset="2"/>
              <a:buNone/>
            </a:pPr>
            <a:r>
              <a:rPr lang="en-US" altLang="zh-CN" sz="2800" b="1" dirty="0">
                <a:latin typeface="黑体" pitchFamily="49" charset="-122"/>
                <a:ea typeface="黑体" pitchFamily="49" charset="-122"/>
              </a:rPr>
              <a:t>1.</a:t>
            </a:r>
            <a:r>
              <a:rPr lang="en-US" altLang="zh-CN" sz="2800" dirty="0">
                <a:latin typeface="黑体" pitchFamily="49" charset="-122"/>
                <a:ea typeface="黑体" pitchFamily="49" charset="-122"/>
              </a:rPr>
              <a:t>n</a:t>
            </a:r>
            <a:r>
              <a:rPr lang="zh-CN" altLang="en-US" sz="2800" dirty="0">
                <a:latin typeface="黑体" pitchFamily="49" charset="-122"/>
                <a:ea typeface="黑体" pitchFamily="49" charset="-122"/>
              </a:rPr>
              <a:t>个对象从小到大存放在有序顺序表</a:t>
            </a:r>
            <a:r>
              <a:rPr lang="en-US" altLang="zh-CN" sz="2800" dirty="0">
                <a:latin typeface="黑体" pitchFamily="49" charset="-122"/>
                <a:ea typeface="黑体" pitchFamily="49" charset="-122"/>
              </a:rPr>
              <a:t>ST</a:t>
            </a:r>
            <a:r>
              <a:rPr lang="zh-CN" altLang="en-US" sz="2800" dirty="0">
                <a:latin typeface="黑体" pitchFamily="49" charset="-122"/>
                <a:ea typeface="黑体" pitchFamily="49" charset="-122"/>
              </a:rPr>
              <a:t>中，</a:t>
            </a:r>
            <a:r>
              <a:rPr lang="en-US" altLang="zh-CN" sz="2800" dirty="0">
                <a:latin typeface="黑体" pitchFamily="49" charset="-122"/>
                <a:ea typeface="黑体" pitchFamily="49" charset="-122"/>
              </a:rPr>
              <a:t>k</a:t>
            </a:r>
            <a:r>
              <a:rPr lang="zh-CN" altLang="en-US" sz="2800" dirty="0">
                <a:latin typeface="黑体" pitchFamily="49" charset="-122"/>
                <a:ea typeface="黑体" pitchFamily="49" charset="-122"/>
              </a:rPr>
              <a:t>为给定值</a:t>
            </a:r>
          </a:p>
          <a:p>
            <a:pPr eaLnBrk="1" hangingPunct="1">
              <a:lnSpc>
                <a:spcPct val="90000"/>
              </a:lnSpc>
              <a:spcBef>
                <a:spcPct val="30000"/>
              </a:spcBef>
              <a:buFont typeface="Wingdings" pitchFamily="2" charset="2"/>
              <a:buNone/>
            </a:pPr>
            <a:r>
              <a:rPr lang="zh-CN" altLang="en-US" sz="2800" dirty="0">
                <a:latin typeface="黑体" pitchFamily="49" charset="-122"/>
                <a:ea typeface="黑体" pitchFamily="49" charset="-122"/>
              </a:rPr>
              <a:t>2.设</a:t>
            </a:r>
            <a:r>
              <a:rPr lang="en-US" altLang="zh-CN" sz="2800" dirty="0">
                <a:latin typeface="黑体" pitchFamily="49" charset="-122"/>
                <a:ea typeface="黑体" pitchFamily="49" charset="-122"/>
              </a:rPr>
              <a:t>low</a:t>
            </a:r>
            <a:r>
              <a:rPr lang="zh-CN" altLang="en-US" sz="2800" dirty="0">
                <a:latin typeface="黑体" pitchFamily="49" charset="-122"/>
                <a:ea typeface="黑体" pitchFamily="49" charset="-122"/>
              </a:rPr>
              <a:t>、</a:t>
            </a:r>
            <a:r>
              <a:rPr lang="en-US" altLang="zh-CN" sz="2800" dirty="0">
                <a:latin typeface="黑体" pitchFamily="49" charset="-122"/>
                <a:ea typeface="黑体" pitchFamily="49" charset="-122"/>
              </a:rPr>
              <a:t>high</a:t>
            </a:r>
            <a:r>
              <a:rPr lang="zh-CN" altLang="en-US" sz="2800" dirty="0">
                <a:latin typeface="黑体" pitchFamily="49" charset="-122"/>
                <a:ea typeface="黑体" pitchFamily="49" charset="-122"/>
              </a:rPr>
              <a:t>指向待查元素所在区间的下界、上界</a:t>
            </a:r>
            <a:endParaRPr lang="en-US" altLang="zh-CN" sz="2800" dirty="0">
              <a:latin typeface="黑体" pitchFamily="49" charset="-122"/>
              <a:ea typeface="黑体" pitchFamily="49" charset="-122"/>
            </a:endParaRPr>
          </a:p>
          <a:p>
            <a:pPr eaLnBrk="1" hangingPunct="1">
              <a:lnSpc>
                <a:spcPct val="90000"/>
              </a:lnSpc>
              <a:spcBef>
                <a:spcPct val="30000"/>
              </a:spcBef>
              <a:buFont typeface="Wingdings" pitchFamily="2" charset="2"/>
              <a:buNone/>
            </a:pPr>
            <a:r>
              <a:rPr lang="en-US" altLang="zh-CN" dirty="0">
                <a:latin typeface="黑体" pitchFamily="49" charset="-122"/>
                <a:ea typeface="黑体" pitchFamily="49" charset="-122"/>
              </a:rPr>
              <a:t>  </a:t>
            </a:r>
            <a:r>
              <a:rPr lang="zh-CN" altLang="en-US" sz="2800" dirty="0">
                <a:latin typeface="黑体" pitchFamily="49" charset="-122"/>
                <a:ea typeface="黑体" pitchFamily="49" charset="-122"/>
              </a:rPr>
              <a:t>即</a:t>
            </a:r>
            <a:r>
              <a:rPr lang="en-US" altLang="zh-CN" sz="2800" dirty="0">
                <a:latin typeface="黑体" pitchFamily="49" charset="-122"/>
                <a:ea typeface="黑体" pitchFamily="49" charset="-122"/>
              </a:rPr>
              <a:t>low=1, high=n</a:t>
            </a:r>
          </a:p>
          <a:p>
            <a:pPr eaLnBrk="1" hangingPunct="1">
              <a:lnSpc>
                <a:spcPct val="90000"/>
              </a:lnSpc>
              <a:spcBef>
                <a:spcPct val="30000"/>
              </a:spcBef>
              <a:buFont typeface="Wingdings" pitchFamily="2" charset="2"/>
              <a:buNone/>
            </a:pPr>
            <a:r>
              <a:rPr lang="zh-CN" altLang="en-US" sz="2800" dirty="0">
                <a:latin typeface="黑体" pitchFamily="49" charset="-122"/>
                <a:ea typeface="黑体" pitchFamily="49" charset="-122"/>
              </a:rPr>
              <a:t>3.设</a:t>
            </a:r>
            <a:r>
              <a:rPr lang="en-US" altLang="zh-CN" sz="2800" dirty="0">
                <a:latin typeface="黑体" pitchFamily="49" charset="-122"/>
                <a:ea typeface="黑体" pitchFamily="49" charset="-122"/>
              </a:rPr>
              <a:t>mid</a:t>
            </a:r>
            <a:r>
              <a:rPr lang="zh-CN" altLang="en-US" sz="2800" dirty="0">
                <a:latin typeface="黑体" pitchFamily="49" charset="-122"/>
                <a:ea typeface="黑体" pitchFamily="49" charset="-122"/>
              </a:rPr>
              <a:t>指向待区间的中点，即</a:t>
            </a:r>
            <a:r>
              <a:rPr lang="en-US" altLang="zh-CN" sz="2800" dirty="0">
                <a:latin typeface="黑体" pitchFamily="49" charset="-122"/>
                <a:ea typeface="黑体" pitchFamily="49" charset="-122"/>
              </a:rPr>
              <a:t>mid=(</a:t>
            </a:r>
            <a:r>
              <a:rPr lang="en-US" altLang="zh-CN" sz="2800" dirty="0" err="1">
                <a:latin typeface="黑体" pitchFamily="49" charset="-122"/>
                <a:ea typeface="黑体" pitchFamily="49" charset="-122"/>
              </a:rPr>
              <a:t>low+high</a:t>
            </a:r>
            <a:r>
              <a:rPr lang="en-US" altLang="zh-CN" sz="2800" dirty="0">
                <a:latin typeface="黑体" pitchFamily="49" charset="-122"/>
                <a:ea typeface="黑体" pitchFamily="49" charset="-122"/>
              </a:rPr>
              <a:t>)/2</a:t>
            </a:r>
          </a:p>
          <a:p>
            <a:pPr eaLnBrk="1" hangingPunct="1">
              <a:lnSpc>
                <a:spcPct val="90000"/>
              </a:lnSpc>
              <a:spcBef>
                <a:spcPct val="30000"/>
              </a:spcBef>
              <a:buFont typeface="Wingdings" pitchFamily="2" charset="2"/>
              <a:buNone/>
            </a:pPr>
            <a:r>
              <a:rPr lang="zh-CN" altLang="en-US" sz="2800" dirty="0">
                <a:latin typeface="黑体" pitchFamily="49" charset="-122"/>
                <a:ea typeface="黑体" pitchFamily="49" charset="-122"/>
              </a:rPr>
              <a:t>4.让</a:t>
            </a:r>
            <a:r>
              <a:rPr lang="en-US" altLang="zh-CN" sz="2800" dirty="0">
                <a:latin typeface="黑体" pitchFamily="49" charset="-122"/>
                <a:ea typeface="黑体" pitchFamily="49" charset="-122"/>
              </a:rPr>
              <a:t>k</a:t>
            </a:r>
            <a:r>
              <a:rPr lang="zh-CN" altLang="en-US" sz="2800" dirty="0">
                <a:latin typeface="黑体" pitchFamily="49" charset="-122"/>
                <a:ea typeface="黑体" pitchFamily="49" charset="-122"/>
              </a:rPr>
              <a:t>与</a:t>
            </a:r>
            <a:r>
              <a:rPr lang="en-US" altLang="zh-CN" sz="2800" dirty="0">
                <a:latin typeface="黑体" pitchFamily="49" charset="-122"/>
                <a:ea typeface="黑体" pitchFamily="49" charset="-122"/>
              </a:rPr>
              <a:t>mid</a:t>
            </a:r>
            <a:r>
              <a:rPr lang="zh-CN" altLang="en-US" sz="2800" dirty="0">
                <a:latin typeface="黑体" pitchFamily="49" charset="-122"/>
                <a:ea typeface="黑体" pitchFamily="49" charset="-122"/>
              </a:rPr>
              <a:t>指向的记录比较</a:t>
            </a:r>
          </a:p>
          <a:p>
            <a:pPr eaLnBrk="1" hangingPunct="1">
              <a:spcBef>
                <a:spcPct val="0"/>
              </a:spcBef>
              <a:buFont typeface="Wingdings" pitchFamily="2" charset="2"/>
              <a:buNone/>
            </a:pPr>
            <a:r>
              <a:rPr lang="zh-CN" altLang="en-US" sz="2800" dirty="0">
                <a:latin typeface="黑体" pitchFamily="49" charset="-122"/>
                <a:ea typeface="黑体" pitchFamily="49" charset="-122"/>
              </a:rPr>
              <a:t>  若</a:t>
            </a:r>
            <a:r>
              <a:rPr lang="en-US" altLang="zh-CN" sz="2800" dirty="0">
                <a:latin typeface="黑体" pitchFamily="49" charset="-122"/>
                <a:ea typeface="黑体" pitchFamily="49" charset="-122"/>
              </a:rPr>
              <a:t>k=ST[mid].key</a:t>
            </a:r>
            <a:r>
              <a:rPr lang="zh-CN" altLang="en-US" sz="2800" dirty="0">
                <a:latin typeface="黑体" pitchFamily="49" charset="-122"/>
                <a:ea typeface="黑体" pitchFamily="49" charset="-122"/>
              </a:rPr>
              <a:t>，查找成功</a:t>
            </a:r>
          </a:p>
          <a:p>
            <a:pPr eaLnBrk="1" hangingPunct="1">
              <a:spcBef>
                <a:spcPct val="0"/>
              </a:spcBef>
              <a:buFont typeface="Wingdings" pitchFamily="2" charset="2"/>
              <a:buNone/>
            </a:pPr>
            <a:r>
              <a:rPr lang="zh-CN" altLang="en-US" sz="2800" dirty="0">
                <a:latin typeface="黑体" pitchFamily="49" charset="-122"/>
                <a:ea typeface="黑体" pitchFamily="49" charset="-122"/>
              </a:rPr>
              <a:t>  若</a:t>
            </a:r>
            <a:r>
              <a:rPr lang="en-US" altLang="zh-CN" sz="2800" dirty="0">
                <a:latin typeface="黑体" pitchFamily="49" charset="-122"/>
                <a:ea typeface="黑体" pitchFamily="49" charset="-122"/>
              </a:rPr>
              <a:t>k&lt;ST[mid].key</a:t>
            </a:r>
            <a:r>
              <a:rPr lang="zh-CN" altLang="en-US" sz="2800" dirty="0">
                <a:latin typeface="黑体" pitchFamily="49" charset="-122"/>
                <a:ea typeface="黑体" pitchFamily="49" charset="-122"/>
              </a:rPr>
              <a:t>，则</a:t>
            </a:r>
            <a:r>
              <a:rPr lang="en-US" altLang="zh-CN" sz="2800" dirty="0">
                <a:latin typeface="黑体" pitchFamily="49" charset="-122"/>
                <a:ea typeface="黑体" pitchFamily="49" charset="-122"/>
              </a:rPr>
              <a:t>high=mid-1	[</a:t>
            </a:r>
            <a:r>
              <a:rPr lang="zh-CN" altLang="en-US" sz="2800" dirty="0">
                <a:latin typeface="黑体" pitchFamily="49" charset="-122"/>
                <a:ea typeface="黑体" pitchFamily="49" charset="-122"/>
              </a:rPr>
              <a:t>上半区间]</a:t>
            </a:r>
          </a:p>
          <a:p>
            <a:pPr eaLnBrk="1" hangingPunct="1">
              <a:spcBef>
                <a:spcPct val="0"/>
              </a:spcBef>
              <a:buFont typeface="Wingdings" pitchFamily="2" charset="2"/>
              <a:buNone/>
            </a:pPr>
            <a:r>
              <a:rPr lang="zh-CN" altLang="en-US" sz="2800" dirty="0">
                <a:latin typeface="黑体" pitchFamily="49" charset="-122"/>
                <a:ea typeface="黑体" pitchFamily="49" charset="-122"/>
              </a:rPr>
              <a:t>  若</a:t>
            </a:r>
            <a:r>
              <a:rPr lang="en-US" altLang="zh-CN" sz="2800" dirty="0">
                <a:latin typeface="黑体" pitchFamily="49" charset="-122"/>
                <a:ea typeface="黑体" pitchFamily="49" charset="-122"/>
              </a:rPr>
              <a:t>k&gt;ST[mid].key</a:t>
            </a:r>
            <a:r>
              <a:rPr lang="zh-CN" altLang="en-US" sz="2800" dirty="0">
                <a:latin typeface="黑体" pitchFamily="49" charset="-122"/>
                <a:ea typeface="黑体" pitchFamily="49" charset="-122"/>
              </a:rPr>
              <a:t>，则</a:t>
            </a:r>
            <a:r>
              <a:rPr lang="en-US" altLang="zh-CN" sz="2800" dirty="0">
                <a:latin typeface="黑体" pitchFamily="49" charset="-122"/>
                <a:ea typeface="黑体" pitchFamily="49" charset="-122"/>
              </a:rPr>
              <a:t>low=mid+1		[</a:t>
            </a:r>
            <a:r>
              <a:rPr lang="zh-CN" altLang="en-US" sz="2800" dirty="0">
                <a:latin typeface="黑体" pitchFamily="49" charset="-122"/>
                <a:ea typeface="黑体" pitchFamily="49" charset="-122"/>
              </a:rPr>
              <a:t>下半区间]</a:t>
            </a:r>
          </a:p>
          <a:p>
            <a:pPr eaLnBrk="1" hangingPunct="1">
              <a:lnSpc>
                <a:spcPct val="90000"/>
              </a:lnSpc>
              <a:spcBef>
                <a:spcPct val="30000"/>
              </a:spcBef>
              <a:buFont typeface="Wingdings" pitchFamily="2" charset="2"/>
              <a:buNone/>
            </a:pPr>
            <a:r>
              <a:rPr lang="en-US" altLang="zh-CN" sz="2800" dirty="0">
                <a:latin typeface="黑体" pitchFamily="49" charset="-122"/>
                <a:ea typeface="黑体" pitchFamily="49" charset="-122"/>
              </a:rPr>
              <a:t>5.</a:t>
            </a:r>
            <a:r>
              <a:rPr lang="zh-CN" altLang="en-US" sz="2800" dirty="0">
                <a:latin typeface="黑体" pitchFamily="49" charset="-122"/>
                <a:ea typeface="黑体" pitchFamily="49" charset="-122"/>
              </a:rPr>
              <a:t>重复3,4操作，直至</a:t>
            </a:r>
            <a:r>
              <a:rPr lang="en-US" altLang="zh-CN" sz="2800" dirty="0">
                <a:latin typeface="黑体" pitchFamily="49" charset="-122"/>
                <a:ea typeface="黑体" pitchFamily="49" charset="-122"/>
              </a:rPr>
              <a:t>low&gt;high</a:t>
            </a:r>
            <a:r>
              <a:rPr lang="zh-CN" altLang="en-US" sz="2800" dirty="0">
                <a:latin typeface="黑体" pitchFamily="49" charset="-122"/>
                <a:ea typeface="黑体" pitchFamily="49" charset="-122"/>
              </a:rPr>
              <a:t>时，查找失败。</a:t>
            </a:r>
          </a:p>
        </p:txBody>
      </p:sp>
      <p:sp>
        <p:nvSpPr>
          <p:cNvPr id="7"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二、折半查找算法</a:t>
            </a:r>
          </a:p>
        </p:txBody>
      </p:sp>
      <p:sp>
        <p:nvSpPr>
          <p:cNvPr id="6" name="对话气泡: 圆角矩形 5">
            <a:extLst>
              <a:ext uri="{FF2B5EF4-FFF2-40B4-BE49-F238E27FC236}">
                <a16:creationId xmlns:a16="http://schemas.microsoft.com/office/drawing/2014/main" id="{2BE4CD58-9413-4FFC-BB88-E208DCC24E21}"/>
              </a:ext>
            </a:extLst>
          </p:cNvPr>
          <p:cNvSpPr/>
          <p:nvPr/>
        </p:nvSpPr>
        <p:spPr bwMode="auto">
          <a:xfrm>
            <a:off x="3187868" y="435567"/>
            <a:ext cx="5651332" cy="476726"/>
          </a:xfrm>
          <a:prstGeom prst="wedgeRoundRectCallout">
            <a:avLst>
              <a:gd name="adj1" fmla="val -10792"/>
              <a:gd name="adj2" fmla="val 124256"/>
              <a:gd name="adj3" fmla="val 16667"/>
            </a:avLst>
          </a:prstGeom>
          <a:solidFill>
            <a:srgbClr val="FFFF00"/>
          </a:solid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r>
              <a:rPr kumimoji="0" lang="zh-CN" altLang="en-US" sz="2800" b="1" i="0" u="none" strike="noStrike" cap="none" normalizeH="0" baseline="0" dirty="0">
                <a:ln>
                  <a:noFill/>
                </a:ln>
                <a:solidFill>
                  <a:schemeClr val="tx1"/>
                </a:solidFill>
                <a:effectLst/>
                <a:latin typeface="Times New Roman" pitchFamily="18" charset="0"/>
                <a:ea typeface="宋体" pitchFamily="2" charset="-122"/>
              </a:rPr>
              <a:t>不能链表。需要随机访问中间元素</a:t>
            </a:r>
          </a:p>
        </p:txBody>
      </p:sp>
      <p:sp>
        <p:nvSpPr>
          <p:cNvPr id="2" name="矩形 1">
            <a:extLst>
              <a:ext uri="{FF2B5EF4-FFF2-40B4-BE49-F238E27FC236}">
                <a16:creationId xmlns:a16="http://schemas.microsoft.com/office/drawing/2014/main" id="{F6CEB656-F2C9-4864-B912-D0F127BF6F8D}"/>
              </a:ext>
            </a:extLst>
          </p:cNvPr>
          <p:cNvSpPr/>
          <p:nvPr/>
        </p:nvSpPr>
        <p:spPr bwMode="auto">
          <a:xfrm>
            <a:off x="4737240" y="1300009"/>
            <a:ext cx="1872208" cy="504056"/>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3" name="矩形 2">
            <a:extLst>
              <a:ext uri="{FF2B5EF4-FFF2-40B4-BE49-F238E27FC236}">
                <a16:creationId xmlns:a16="http://schemas.microsoft.com/office/drawing/2014/main" id="{6BA78363-F371-EFA0-BFF8-110A7DE25CE2}"/>
              </a:ext>
            </a:extLst>
          </p:cNvPr>
          <p:cNvSpPr/>
          <p:nvPr/>
        </p:nvSpPr>
        <p:spPr bwMode="auto">
          <a:xfrm>
            <a:off x="1691680" y="3789040"/>
            <a:ext cx="1224136" cy="360040"/>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53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253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253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22533">
                                            <p:txEl>
                                              <p:pRg st="5" end="5"/>
                                            </p:txEl>
                                          </p:spTgt>
                                        </p:tgtEl>
                                        <p:attrNameLst>
                                          <p:attrName>style.visibility</p:attrName>
                                        </p:attrNameLst>
                                      </p:cBhvr>
                                      <p:to>
                                        <p:strVal val="visible"/>
                                      </p:to>
                                    </p:set>
                                    <p:animEffect transition="in" filter="blinds(horizontal)">
                                      <p:cBhvr>
                                        <p:cTn id="21" dur="500"/>
                                        <p:tgtEl>
                                          <p:spTgt spid="22533">
                                            <p:txEl>
                                              <p:pRg st="5" end="5"/>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nodeType="clickEffect">
                                  <p:stCondLst>
                                    <p:cond delay="0"/>
                                  </p:stCondLst>
                                  <p:childTnLst>
                                    <p:set>
                                      <p:cBhvr>
                                        <p:cTn id="25" dur="1" fill="hold">
                                          <p:stCondLst>
                                            <p:cond delay="0"/>
                                          </p:stCondLst>
                                        </p:cTn>
                                        <p:tgtEl>
                                          <p:spTgt spid="22533">
                                            <p:txEl>
                                              <p:pRg st="6" end="6"/>
                                            </p:txEl>
                                          </p:spTgt>
                                        </p:tgtEl>
                                        <p:attrNameLst>
                                          <p:attrName>style.visibility</p:attrName>
                                        </p:attrNameLst>
                                      </p:cBhvr>
                                      <p:to>
                                        <p:strVal val="visible"/>
                                      </p:to>
                                    </p:set>
                                    <p:animEffect transition="in" filter="blinds(horizontal)">
                                      <p:cBhvr>
                                        <p:cTn id="26" dur="500"/>
                                        <p:tgtEl>
                                          <p:spTgt spid="22533">
                                            <p:txEl>
                                              <p:pRg st="6" end="6"/>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nodeType="clickEffect">
                                  <p:stCondLst>
                                    <p:cond delay="0"/>
                                  </p:stCondLst>
                                  <p:childTnLst>
                                    <p:set>
                                      <p:cBhvr>
                                        <p:cTn id="30" dur="1" fill="hold">
                                          <p:stCondLst>
                                            <p:cond delay="0"/>
                                          </p:stCondLst>
                                        </p:cTn>
                                        <p:tgtEl>
                                          <p:spTgt spid="22533">
                                            <p:txEl>
                                              <p:pRg st="7" end="7"/>
                                            </p:txEl>
                                          </p:spTgt>
                                        </p:tgtEl>
                                        <p:attrNameLst>
                                          <p:attrName>style.visibility</p:attrName>
                                        </p:attrNameLst>
                                      </p:cBhvr>
                                      <p:to>
                                        <p:strVal val="visible"/>
                                      </p:to>
                                    </p:set>
                                    <p:animEffect transition="in" filter="blinds(horizontal)">
                                      <p:cBhvr>
                                        <p:cTn id="31" dur="500"/>
                                        <p:tgtEl>
                                          <p:spTgt spid="22533">
                                            <p:txEl>
                                              <p:pRg st="7" end="7"/>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22533">
                                            <p:txEl>
                                              <p:pRg st="8" end="8"/>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6"/>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192FB9E3-82BA-4355-93A3-5F08687EDA20}" type="slidenum">
              <a:rPr lang="zh-CN" altLang="en-US"/>
              <a:pPr algn="r" eaLnBrk="1" hangingPunct="1">
                <a:spcBef>
                  <a:spcPct val="50000"/>
                </a:spcBef>
                <a:buFont typeface="Arial" pitchFamily="34" charset="0"/>
                <a:buNone/>
              </a:pPr>
              <a:t>19</a:t>
            </a:fld>
            <a:endParaRPr lang="en-US" altLang="zh-CN"/>
          </a:p>
        </p:txBody>
      </p:sp>
      <p:sp>
        <p:nvSpPr>
          <p:cNvPr id="25606" name="AutoShape 6"/>
          <p:cNvSpPr>
            <a:spLocks noChangeArrowheads="1"/>
          </p:cNvSpPr>
          <p:nvPr/>
        </p:nvSpPr>
        <p:spPr bwMode="auto">
          <a:xfrm>
            <a:off x="4724400" y="1282278"/>
            <a:ext cx="1622425" cy="369888"/>
          </a:xfrm>
          <a:prstGeom prst="wedgeEllipseCallout">
            <a:avLst>
              <a:gd name="adj1" fmla="val -31407"/>
              <a:gd name="adj2" fmla="val 90773"/>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zh-CN" altLang="en-US" sz="2000" b="1" i="0">
                <a:solidFill>
                  <a:srgbClr val="FF0000"/>
                </a:solidFill>
                <a:latin typeface="Times New Roman" pitchFamily="18" charset="0"/>
                <a:ea typeface="楷体_GB2312" pitchFamily="1" charset="-122"/>
              </a:rPr>
              <a:t>找</a:t>
            </a:r>
            <a:r>
              <a:rPr lang="en-US" altLang="zh-CN" sz="2000" b="1" i="0">
                <a:solidFill>
                  <a:srgbClr val="FF0000"/>
                </a:solidFill>
                <a:latin typeface="Times New Roman" pitchFamily="18" charset="0"/>
                <a:ea typeface="楷体_GB2312" pitchFamily="1" charset="-122"/>
              </a:rPr>
              <a:t>64</a:t>
            </a:r>
          </a:p>
        </p:txBody>
      </p:sp>
      <p:grpSp>
        <p:nvGrpSpPr>
          <p:cNvPr id="2" name="Group 8"/>
          <p:cNvGrpSpPr>
            <a:grpSpLocks/>
          </p:cNvGrpSpPr>
          <p:nvPr/>
        </p:nvGrpSpPr>
        <p:grpSpPr bwMode="auto">
          <a:xfrm>
            <a:off x="1276350" y="1772816"/>
            <a:ext cx="6591300" cy="739775"/>
            <a:chOff x="0" y="0"/>
            <a:chExt cx="4152" cy="466"/>
          </a:xfrm>
        </p:grpSpPr>
        <p:sp>
          <p:nvSpPr>
            <p:cNvPr id="25653" name="Text Box 9"/>
            <p:cNvSpPr txBox="1">
              <a:spLocks noChangeArrowheads="1"/>
            </p:cNvSpPr>
            <p:nvPr/>
          </p:nvSpPr>
          <p:spPr bwMode="auto">
            <a:xfrm>
              <a:off x="72" y="0"/>
              <a:ext cx="4080"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1       2       3       4       5       6       7        8       9      10     11</a:t>
              </a:r>
            </a:p>
          </p:txBody>
        </p:sp>
        <p:grpSp>
          <p:nvGrpSpPr>
            <p:cNvPr id="3" name="Group 10"/>
            <p:cNvGrpSpPr>
              <a:grpSpLocks/>
            </p:cNvGrpSpPr>
            <p:nvPr/>
          </p:nvGrpSpPr>
          <p:grpSpPr bwMode="auto">
            <a:xfrm>
              <a:off x="0" y="211"/>
              <a:ext cx="3960" cy="255"/>
              <a:chOff x="0" y="0"/>
              <a:chExt cx="3960" cy="255"/>
            </a:xfrm>
          </p:grpSpPr>
          <p:sp>
            <p:nvSpPr>
              <p:cNvPr id="25655" name="Rectangle 11"/>
              <p:cNvSpPr>
                <a:spLocks noChangeArrowheads="1"/>
              </p:cNvSpPr>
              <p:nvPr/>
            </p:nvSpPr>
            <p:spPr bwMode="auto">
              <a:xfrm>
                <a:off x="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25656" name="Rectangle 12"/>
              <p:cNvSpPr>
                <a:spLocks noChangeArrowheads="1"/>
              </p:cNvSpPr>
              <p:nvPr/>
            </p:nvSpPr>
            <p:spPr bwMode="auto">
              <a:xfrm>
                <a:off x="3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25657" name="Rectangle 13"/>
              <p:cNvSpPr>
                <a:spLocks noChangeArrowheads="1"/>
              </p:cNvSpPr>
              <p:nvPr/>
            </p:nvSpPr>
            <p:spPr bwMode="auto">
              <a:xfrm>
                <a:off x="7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25658" name="Rectangle 14"/>
              <p:cNvSpPr>
                <a:spLocks noChangeArrowheads="1"/>
              </p:cNvSpPr>
              <p:nvPr/>
            </p:nvSpPr>
            <p:spPr bwMode="auto">
              <a:xfrm>
                <a:off x="10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25659" name="Rectangle 15"/>
              <p:cNvSpPr>
                <a:spLocks noChangeArrowheads="1"/>
              </p:cNvSpPr>
              <p:nvPr/>
            </p:nvSpPr>
            <p:spPr bwMode="auto">
              <a:xfrm>
                <a:off x="14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25660" name="Rectangle 16"/>
              <p:cNvSpPr>
                <a:spLocks noChangeArrowheads="1"/>
              </p:cNvSpPr>
              <p:nvPr/>
            </p:nvSpPr>
            <p:spPr bwMode="auto">
              <a:xfrm>
                <a:off x="18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25661" name="Rectangle 17"/>
              <p:cNvSpPr>
                <a:spLocks noChangeArrowheads="1"/>
              </p:cNvSpPr>
              <p:nvPr/>
            </p:nvSpPr>
            <p:spPr bwMode="auto">
              <a:xfrm>
                <a:off x="21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chemeClr val="hlink"/>
                    </a:solidFill>
                    <a:latin typeface="Times New Roman" pitchFamily="18" charset="0"/>
                  </a:rPr>
                  <a:t>64</a:t>
                </a:r>
              </a:p>
            </p:txBody>
          </p:sp>
          <p:sp>
            <p:nvSpPr>
              <p:cNvPr id="25662" name="Rectangle 18"/>
              <p:cNvSpPr>
                <a:spLocks noChangeArrowheads="1"/>
              </p:cNvSpPr>
              <p:nvPr/>
            </p:nvSpPr>
            <p:spPr bwMode="auto">
              <a:xfrm>
                <a:off x="25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25663" name="Rectangle 19"/>
              <p:cNvSpPr>
                <a:spLocks noChangeArrowheads="1"/>
              </p:cNvSpPr>
              <p:nvPr/>
            </p:nvSpPr>
            <p:spPr bwMode="auto">
              <a:xfrm>
                <a:off x="28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25664" name="Rectangle 20"/>
              <p:cNvSpPr>
                <a:spLocks noChangeArrowheads="1"/>
              </p:cNvSpPr>
              <p:nvPr/>
            </p:nvSpPr>
            <p:spPr bwMode="auto">
              <a:xfrm>
                <a:off x="32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25665" name="Rectangle 21"/>
              <p:cNvSpPr>
                <a:spLocks noChangeArrowheads="1"/>
              </p:cNvSpPr>
              <p:nvPr/>
            </p:nvSpPr>
            <p:spPr bwMode="auto">
              <a:xfrm>
                <a:off x="36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sp>
        <p:nvSpPr>
          <p:cNvPr id="23602" name="Line 22"/>
          <p:cNvSpPr>
            <a:spLocks noChangeShapeType="1"/>
          </p:cNvSpPr>
          <p:nvPr/>
        </p:nvSpPr>
        <p:spPr bwMode="auto">
          <a:xfrm flipH="1" flipV="1">
            <a:off x="1582738" y="2515766"/>
            <a:ext cx="1587" cy="376237"/>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603" name="Text Box 23"/>
          <p:cNvSpPr txBox="1">
            <a:spLocks noChangeArrowheads="1"/>
          </p:cNvSpPr>
          <p:nvPr/>
        </p:nvSpPr>
        <p:spPr bwMode="auto">
          <a:xfrm>
            <a:off x="1047750" y="2693566"/>
            <a:ext cx="946150" cy="396875"/>
          </a:xfrm>
          <a:prstGeom prst="rect">
            <a:avLst/>
          </a:prstGeom>
          <a:noFill/>
          <a:ln w="9525">
            <a:noFill/>
            <a:miter lim="800000"/>
            <a:headEnd/>
            <a:tailEnd/>
          </a:ln>
          <a:effectLst/>
        </p:spPr>
        <p:txBody>
          <a:bodyPr lIns="0" rIns="0">
            <a:spAutoFit/>
          </a:bodyPr>
          <a:lstStyle/>
          <a:p>
            <a:pPr algn="ctr" eaLnBrk="1" hangingPunct="1">
              <a:buFont typeface="Arial" pitchFamily="34" charset="0"/>
              <a:buNone/>
            </a:pPr>
            <a:r>
              <a:rPr lang="en-US" altLang="zh-CN" sz="2000" b="1" i="0">
                <a:solidFill>
                  <a:srgbClr val="0CDD07"/>
                </a:solidFill>
                <a:latin typeface="Times New Roman" pitchFamily="18" charset="0"/>
              </a:rPr>
              <a:t>Low=1</a:t>
            </a:r>
          </a:p>
        </p:txBody>
      </p:sp>
      <p:sp>
        <p:nvSpPr>
          <p:cNvPr id="23604" name="Line 24"/>
          <p:cNvSpPr>
            <a:spLocks noChangeShapeType="1"/>
          </p:cNvSpPr>
          <p:nvPr/>
        </p:nvSpPr>
        <p:spPr bwMode="auto">
          <a:xfrm flipV="1">
            <a:off x="7356475" y="2536403"/>
            <a:ext cx="0" cy="349250"/>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605" name="Text Box 25"/>
          <p:cNvSpPr txBox="1">
            <a:spLocks noChangeArrowheads="1"/>
          </p:cNvSpPr>
          <p:nvPr/>
        </p:nvSpPr>
        <p:spPr bwMode="auto">
          <a:xfrm>
            <a:off x="6838950" y="2687216"/>
            <a:ext cx="11430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High=11</a:t>
            </a:r>
          </a:p>
        </p:txBody>
      </p:sp>
      <p:sp>
        <p:nvSpPr>
          <p:cNvPr id="23606" name="Line 26"/>
          <p:cNvSpPr>
            <a:spLocks noChangeShapeType="1"/>
          </p:cNvSpPr>
          <p:nvPr/>
        </p:nvSpPr>
        <p:spPr bwMode="auto">
          <a:xfrm flipV="1">
            <a:off x="4405313" y="2515766"/>
            <a:ext cx="0" cy="347662"/>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607" name="Text Box 27"/>
          <p:cNvSpPr txBox="1">
            <a:spLocks noChangeArrowheads="1"/>
          </p:cNvSpPr>
          <p:nvPr/>
        </p:nvSpPr>
        <p:spPr bwMode="auto">
          <a:xfrm>
            <a:off x="3943350" y="2664991"/>
            <a:ext cx="9144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mid=6</a:t>
            </a:r>
          </a:p>
        </p:txBody>
      </p:sp>
      <p:grpSp>
        <p:nvGrpSpPr>
          <p:cNvPr id="4" name="Group 29"/>
          <p:cNvGrpSpPr>
            <a:grpSpLocks/>
          </p:cNvGrpSpPr>
          <p:nvPr/>
        </p:nvGrpSpPr>
        <p:grpSpPr bwMode="auto">
          <a:xfrm>
            <a:off x="1295400" y="2958678"/>
            <a:ext cx="6591300" cy="739775"/>
            <a:chOff x="0" y="0"/>
            <a:chExt cx="4152" cy="466"/>
          </a:xfrm>
        </p:grpSpPr>
        <p:sp>
          <p:nvSpPr>
            <p:cNvPr id="25640" name="Text Box 30"/>
            <p:cNvSpPr txBox="1">
              <a:spLocks noChangeArrowheads="1"/>
            </p:cNvSpPr>
            <p:nvPr/>
          </p:nvSpPr>
          <p:spPr bwMode="auto">
            <a:xfrm>
              <a:off x="72" y="0"/>
              <a:ext cx="4080"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dirty="0">
                  <a:solidFill>
                    <a:srgbClr val="003300"/>
                  </a:solidFill>
                  <a:latin typeface="Times New Roman" pitchFamily="18" charset="0"/>
                </a:rPr>
                <a:t>1       2       3       4       5       6       7        8       9      10     11</a:t>
              </a:r>
            </a:p>
          </p:txBody>
        </p:sp>
        <p:grpSp>
          <p:nvGrpSpPr>
            <p:cNvPr id="5" name="Group 31"/>
            <p:cNvGrpSpPr>
              <a:grpSpLocks/>
            </p:cNvGrpSpPr>
            <p:nvPr/>
          </p:nvGrpSpPr>
          <p:grpSpPr bwMode="auto">
            <a:xfrm>
              <a:off x="0" y="211"/>
              <a:ext cx="3960" cy="255"/>
              <a:chOff x="0" y="0"/>
              <a:chExt cx="3960" cy="255"/>
            </a:xfrm>
          </p:grpSpPr>
          <p:sp>
            <p:nvSpPr>
              <p:cNvPr id="25642" name="Rectangle 32"/>
              <p:cNvSpPr>
                <a:spLocks noChangeArrowheads="1"/>
              </p:cNvSpPr>
              <p:nvPr/>
            </p:nvSpPr>
            <p:spPr bwMode="auto">
              <a:xfrm>
                <a:off x="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25643" name="Rectangle 33"/>
              <p:cNvSpPr>
                <a:spLocks noChangeArrowheads="1"/>
              </p:cNvSpPr>
              <p:nvPr/>
            </p:nvSpPr>
            <p:spPr bwMode="auto">
              <a:xfrm>
                <a:off x="3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25644" name="Rectangle 34"/>
              <p:cNvSpPr>
                <a:spLocks noChangeArrowheads="1"/>
              </p:cNvSpPr>
              <p:nvPr/>
            </p:nvSpPr>
            <p:spPr bwMode="auto">
              <a:xfrm>
                <a:off x="7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25645" name="Rectangle 35"/>
              <p:cNvSpPr>
                <a:spLocks noChangeArrowheads="1"/>
              </p:cNvSpPr>
              <p:nvPr/>
            </p:nvSpPr>
            <p:spPr bwMode="auto">
              <a:xfrm>
                <a:off x="10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25646" name="Rectangle 36"/>
              <p:cNvSpPr>
                <a:spLocks noChangeArrowheads="1"/>
              </p:cNvSpPr>
              <p:nvPr/>
            </p:nvSpPr>
            <p:spPr bwMode="auto">
              <a:xfrm>
                <a:off x="14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25647" name="Rectangle 37"/>
              <p:cNvSpPr>
                <a:spLocks noChangeArrowheads="1"/>
              </p:cNvSpPr>
              <p:nvPr/>
            </p:nvSpPr>
            <p:spPr bwMode="auto">
              <a:xfrm>
                <a:off x="18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25648" name="Rectangle 38"/>
              <p:cNvSpPr>
                <a:spLocks noChangeArrowheads="1"/>
              </p:cNvSpPr>
              <p:nvPr/>
            </p:nvSpPr>
            <p:spPr bwMode="auto">
              <a:xfrm>
                <a:off x="21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chemeClr val="hlink"/>
                    </a:solidFill>
                    <a:latin typeface="Times New Roman" pitchFamily="18" charset="0"/>
                  </a:rPr>
                  <a:t>64</a:t>
                </a:r>
              </a:p>
            </p:txBody>
          </p:sp>
          <p:sp>
            <p:nvSpPr>
              <p:cNvPr id="25649" name="Rectangle 39"/>
              <p:cNvSpPr>
                <a:spLocks noChangeArrowheads="1"/>
              </p:cNvSpPr>
              <p:nvPr/>
            </p:nvSpPr>
            <p:spPr bwMode="auto">
              <a:xfrm>
                <a:off x="25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25650" name="Rectangle 40"/>
              <p:cNvSpPr>
                <a:spLocks noChangeArrowheads="1"/>
              </p:cNvSpPr>
              <p:nvPr/>
            </p:nvSpPr>
            <p:spPr bwMode="auto">
              <a:xfrm>
                <a:off x="28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25651" name="Rectangle 41"/>
              <p:cNvSpPr>
                <a:spLocks noChangeArrowheads="1"/>
              </p:cNvSpPr>
              <p:nvPr/>
            </p:nvSpPr>
            <p:spPr bwMode="auto">
              <a:xfrm>
                <a:off x="32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25652" name="Rectangle 42"/>
              <p:cNvSpPr>
                <a:spLocks noChangeArrowheads="1"/>
              </p:cNvSpPr>
              <p:nvPr/>
            </p:nvSpPr>
            <p:spPr bwMode="auto">
              <a:xfrm>
                <a:off x="36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sp>
        <p:nvSpPr>
          <p:cNvPr id="23582" name="Line 43"/>
          <p:cNvSpPr>
            <a:spLocks noChangeShapeType="1"/>
          </p:cNvSpPr>
          <p:nvPr/>
        </p:nvSpPr>
        <p:spPr bwMode="auto">
          <a:xfrm flipH="1" flipV="1">
            <a:off x="5029200" y="3720678"/>
            <a:ext cx="0" cy="381000"/>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583" name="Text Box 44"/>
          <p:cNvSpPr txBox="1">
            <a:spLocks noChangeArrowheads="1"/>
          </p:cNvSpPr>
          <p:nvPr/>
        </p:nvSpPr>
        <p:spPr bwMode="auto">
          <a:xfrm>
            <a:off x="4572000" y="3873078"/>
            <a:ext cx="946150" cy="396875"/>
          </a:xfrm>
          <a:prstGeom prst="rect">
            <a:avLst/>
          </a:prstGeom>
          <a:noFill/>
          <a:ln w="9525">
            <a:noFill/>
            <a:miter lim="800000"/>
            <a:headEnd/>
            <a:tailEnd/>
          </a:ln>
          <a:effectLst/>
        </p:spPr>
        <p:txBody>
          <a:bodyPr lIns="0" rIns="0">
            <a:spAutoFit/>
          </a:bodyPr>
          <a:lstStyle/>
          <a:p>
            <a:pPr algn="ctr" eaLnBrk="1" hangingPunct="1">
              <a:buFont typeface="Arial" pitchFamily="34" charset="0"/>
              <a:buNone/>
            </a:pPr>
            <a:r>
              <a:rPr lang="en-US" altLang="zh-CN" sz="2000" b="1" i="0">
                <a:solidFill>
                  <a:srgbClr val="0CDD07"/>
                </a:solidFill>
                <a:latin typeface="Times New Roman" pitchFamily="18" charset="0"/>
              </a:rPr>
              <a:t>Low=7</a:t>
            </a:r>
          </a:p>
        </p:txBody>
      </p:sp>
      <p:sp>
        <p:nvSpPr>
          <p:cNvPr id="23584" name="Line 45"/>
          <p:cNvSpPr>
            <a:spLocks noChangeShapeType="1"/>
          </p:cNvSpPr>
          <p:nvPr/>
        </p:nvSpPr>
        <p:spPr bwMode="auto">
          <a:xfrm flipV="1">
            <a:off x="7375525" y="3722266"/>
            <a:ext cx="0" cy="349250"/>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585" name="Text Box 46"/>
          <p:cNvSpPr txBox="1">
            <a:spLocks noChangeArrowheads="1"/>
          </p:cNvSpPr>
          <p:nvPr/>
        </p:nvSpPr>
        <p:spPr bwMode="auto">
          <a:xfrm>
            <a:off x="6858000" y="3866728"/>
            <a:ext cx="11430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High=11</a:t>
            </a:r>
          </a:p>
        </p:txBody>
      </p:sp>
      <p:sp>
        <p:nvSpPr>
          <p:cNvPr id="23586" name="Line 47"/>
          <p:cNvSpPr>
            <a:spLocks noChangeShapeType="1"/>
          </p:cNvSpPr>
          <p:nvPr/>
        </p:nvSpPr>
        <p:spPr bwMode="auto">
          <a:xfrm flipV="1">
            <a:off x="6172200" y="3720678"/>
            <a:ext cx="0" cy="347663"/>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587" name="Text Box 48"/>
          <p:cNvSpPr txBox="1">
            <a:spLocks noChangeArrowheads="1"/>
          </p:cNvSpPr>
          <p:nvPr/>
        </p:nvSpPr>
        <p:spPr bwMode="auto">
          <a:xfrm>
            <a:off x="5791200" y="3873078"/>
            <a:ext cx="9144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mid=9</a:t>
            </a:r>
          </a:p>
        </p:txBody>
      </p:sp>
      <p:grpSp>
        <p:nvGrpSpPr>
          <p:cNvPr id="6" name="Group 50"/>
          <p:cNvGrpSpPr>
            <a:grpSpLocks/>
          </p:cNvGrpSpPr>
          <p:nvPr/>
        </p:nvGrpSpPr>
        <p:grpSpPr bwMode="auto">
          <a:xfrm>
            <a:off x="1295400" y="4330278"/>
            <a:ext cx="6591300" cy="739775"/>
            <a:chOff x="0" y="0"/>
            <a:chExt cx="4152" cy="466"/>
          </a:xfrm>
        </p:grpSpPr>
        <p:sp>
          <p:nvSpPr>
            <p:cNvPr id="25627" name="Text Box 51"/>
            <p:cNvSpPr txBox="1">
              <a:spLocks noChangeArrowheads="1"/>
            </p:cNvSpPr>
            <p:nvPr/>
          </p:nvSpPr>
          <p:spPr bwMode="auto">
            <a:xfrm>
              <a:off x="72" y="0"/>
              <a:ext cx="4080"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1       2       3       4       5       6       7        8       9      10     11</a:t>
              </a:r>
            </a:p>
          </p:txBody>
        </p:sp>
        <p:grpSp>
          <p:nvGrpSpPr>
            <p:cNvPr id="7" name="Group 52"/>
            <p:cNvGrpSpPr>
              <a:grpSpLocks/>
            </p:cNvGrpSpPr>
            <p:nvPr/>
          </p:nvGrpSpPr>
          <p:grpSpPr bwMode="auto">
            <a:xfrm>
              <a:off x="0" y="211"/>
              <a:ext cx="3960" cy="255"/>
              <a:chOff x="0" y="0"/>
              <a:chExt cx="3960" cy="255"/>
            </a:xfrm>
          </p:grpSpPr>
          <p:sp>
            <p:nvSpPr>
              <p:cNvPr id="25629" name="Rectangle 53"/>
              <p:cNvSpPr>
                <a:spLocks noChangeArrowheads="1"/>
              </p:cNvSpPr>
              <p:nvPr/>
            </p:nvSpPr>
            <p:spPr bwMode="auto">
              <a:xfrm>
                <a:off x="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25630" name="Rectangle 54"/>
              <p:cNvSpPr>
                <a:spLocks noChangeArrowheads="1"/>
              </p:cNvSpPr>
              <p:nvPr/>
            </p:nvSpPr>
            <p:spPr bwMode="auto">
              <a:xfrm>
                <a:off x="3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25631" name="Rectangle 55"/>
              <p:cNvSpPr>
                <a:spLocks noChangeArrowheads="1"/>
              </p:cNvSpPr>
              <p:nvPr/>
            </p:nvSpPr>
            <p:spPr bwMode="auto">
              <a:xfrm>
                <a:off x="7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25632" name="Rectangle 56"/>
              <p:cNvSpPr>
                <a:spLocks noChangeArrowheads="1"/>
              </p:cNvSpPr>
              <p:nvPr/>
            </p:nvSpPr>
            <p:spPr bwMode="auto">
              <a:xfrm>
                <a:off x="10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25633" name="Rectangle 57"/>
              <p:cNvSpPr>
                <a:spLocks noChangeArrowheads="1"/>
              </p:cNvSpPr>
              <p:nvPr/>
            </p:nvSpPr>
            <p:spPr bwMode="auto">
              <a:xfrm>
                <a:off x="14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25634" name="Rectangle 58"/>
              <p:cNvSpPr>
                <a:spLocks noChangeArrowheads="1"/>
              </p:cNvSpPr>
              <p:nvPr/>
            </p:nvSpPr>
            <p:spPr bwMode="auto">
              <a:xfrm>
                <a:off x="18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25635" name="Rectangle 59"/>
              <p:cNvSpPr>
                <a:spLocks noChangeArrowheads="1"/>
              </p:cNvSpPr>
              <p:nvPr/>
            </p:nvSpPr>
            <p:spPr bwMode="auto">
              <a:xfrm>
                <a:off x="21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chemeClr val="hlink"/>
                    </a:solidFill>
                    <a:latin typeface="Times New Roman" pitchFamily="18" charset="0"/>
                  </a:rPr>
                  <a:t>64</a:t>
                </a:r>
              </a:p>
            </p:txBody>
          </p:sp>
          <p:sp>
            <p:nvSpPr>
              <p:cNvPr id="25636" name="Rectangle 60"/>
              <p:cNvSpPr>
                <a:spLocks noChangeArrowheads="1"/>
              </p:cNvSpPr>
              <p:nvPr/>
            </p:nvSpPr>
            <p:spPr bwMode="auto">
              <a:xfrm>
                <a:off x="25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25637" name="Rectangle 61"/>
              <p:cNvSpPr>
                <a:spLocks noChangeArrowheads="1"/>
              </p:cNvSpPr>
              <p:nvPr/>
            </p:nvSpPr>
            <p:spPr bwMode="auto">
              <a:xfrm>
                <a:off x="28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25638" name="Rectangle 62"/>
              <p:cNvSpPr>
                <a:spLocks noChangeArrowheads="1"/>
              </p:cNvSpPr>
              <p:nvPr/>
            </p:nvSpPr>
            <p:spPr bwMode="auto">
              <a:xfrm>
                <a:off x="32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25639" name="Rectangle 63"/>
              <p:cNvSpPr>
                <a:spLocks noChangeArrowheads="1"/>
              </p:cNvSpPr>
              <p:nvPr/>
            </p:nvSpPr>
            <p:spPr bwMode="auto">
              <a:xfrm>
                <a:off x="36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sp>
        <p:nvSpPr>
          <p:cNvPr id="23563" name="Line 64"/>
          <p:cNvSpPr>
            <a:spLocks noChangeShapeType="1"/>
          </p:cNvSpPr>
          <p:nvPr/>
        </p:nvSpPr>
        <p:spPr bwMode="auto">
          <a:xfrm flipH="1" flipV="1">
            <a:off x="5029200" y="5092278"/>
            <a:ext cx="0" cy="381000"/>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564" name="Text Box 65"/>
          <p:cNvSpPr txBox="1">
            <a:spLocks noChangeArrowheads="1"/>
          </p:cNvSpPr>
          <p:nvPr/>
        </p:nvSpPr>
        <p:spPr bwMode="auto">
          <a:xfrm>
            <a:off x="4616450" y="5441528"/>
            <a:ext cx="946150" cy="383246"/>
          </a:xfrm>
          <a:prstGeom prst="rect">
            <a:avLst/>
          </a:prstGeom>
          <a:noFill/>
          <a:ln w="9525">
            <a:noFill/>
            <a:miter lim="800000"/>
            <a:headEnd/>
            <a:tailEnd/>
          </a:ln>
          <a:effectLst/>
        </p:spPr>
        <p:txBody>
          <a:bodyPr lIns="0" tIns="0" rIns="0" bIns="0">
            <a:spAutoFit/>
          </a:bodyPr>
          <a:lstStyle/>
          <a:p>
            <a:pPr algn="ctr" eaLnBrk="1" hangingPunct="1">
              <a:lnSpc>
                <a:spcPct val="60000"/>
              </a:lnSpc>
              <a:buFont typeface="Arial" pitchFamily="34" charset="0"/>
              <a:buNone/>
            </a:pPr>
            <a:r>
              <a:rPr lang="en-US" altLang="zh-CN" sz="2000" b="1" i="0">
                <a:solidFill>
                  <a:srgbClr val="0CDD07"/>
                </a:solidFill>
                <a:latin typeface="Times New Roman" pitchFamily="18" charset="0"/>
              </a:rPr>
              <a:t>Low=7</a:t>
            </a:r>
          </a:p>
          <a:p>
            <a:pPr algn="ctr" eaLnBrk="1" hangingPunct="1">
              <a:lnSpc>
                <a:spcPct val="60000"/>
              </a:lnSpc>
              <a:buFont typeface="Arial" pitchFamily="34" charset="0"/>
              <a:buNone/>
            </a:pPr>
            <a:r>
              <a:rPr lang="en-US" altLang="zh-CN" sz="2000" b="1" i="0">
                <a:solidFill>
                  <a:srgbClr val="0CDD07"/>
                </a:solidFill>
                <a:latin typeface="Times New Roman" pitchFamily="18" charset="0"/>
              </a:rPr>
              <a:t>mid=7</a:t>
            </a:r>
          </a:p>
        </p:txBody>
      </p:sp>
      <p:sp>
        <p:nvSpPr>
          <p:cNvPr id="23565" name="Line 66"/>
          <p:cNvSpPr>
            <a:spLocks noChangeShapeType="1"/>
          </p:cNvSpPr>
          <p:nvPr/>
        </p:nvSpPr>
        <p:spPr bwMode="auto">
          <a:xfrm flipV="1">
            <a:off x="5638800" y="5092278"/>
            <a:ext cx="0" cy="349250"/>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3566" name="Text Box 67"/>
          <p:cNvSpPr txBox="1">
            <a:spLocks noChangeArrowheads="1"/>
          </p:cNvSpPr>
          <p:nvPr/>
        </p:nvSpPr>
        <p:spPr bwMode="auto">
          <a:xfrm>
            <a:off x="5486400" y="5381203"/>
            <a:ext cx="11430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High=8</a:t>
            </a:r>
          </a:p>
        </p:txBody>
      </p:sp>
      <p:sp>
        <p:nvSpPr>
          <p:cNvPr id="23567" name="Line 68"/>
          <p:cNvSpPr>
            <a:spLocks noChangeShapeType="1"/>
          </p:cNvSpPr>
          <p:nvPr/>
        </p:nvSpPr>
        <p:spPr bwMode="auto">
          <a:xfrm flipV="1">
            <a:off x="5181600" y="5092278"/>
            <a:ext cx="0" cy="347663"/>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66"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二、折半查找举例</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查找成功）</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6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60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360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604"/>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60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360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58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358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358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358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58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3587"/>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356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356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3564"/>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356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235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02" grpId="0" animBg="1"/>
      <p:bldP spid="23603" grpId="0"/>
      <p:bldP spid="23604" grpId="0" animBg="1"/>
      <p:bldP spid="23605" grpId="0"/>
      <p:bldP spid="23606" grpId="0" animBg="1"/>
      <p:bldP spid="23607" grpId="0"/>
      <p:bldP spid="23582" grpId="0" animBg="1"/>
      <p:bldP spid="23583" grpId="0"/>
      <p:bldP spid="23584" grpId="0" animBg="1"/>
      <p:bldP spid="23585" grpId="0"/>
      <p:bldP spid="23586" grpId="0" animBg="1"/>
      <p:bldP spid="23587" grpId="0"/>
      <p:bldP spid="23563" grpId="0" animBg="1"/>
      <p:bldP spid="23564" grpId="0"/>
      <p:bldP spid="23565" grpId="0" animBg="1"/>
      <p:bldP spid="23566" grpId="0"/>
      <p:bldP spid="2356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CD6FD-CBC1-9E76-6967-8AB0B947F578}"/>
            </a:ext>
          </a:extLst>
        </p:cNvPr>
        <p:cNvGrpSpPr/>
        <p:nvPr/>
      </p:nvGrpSpPr>
      <p:grpSpPr>
        <a:xfrm>
          <a:off x="0" y="0"/>
          <a:ext cx="0" cy="0"/>
          <a:chOff x="0" y="0"/>
          <a:chExt cx="0" cy="0"/>
        </a:xfrm>
      </p:grpSpPr>
      <p:sp>
        <p:nvSpPr>
          <p:cNvPr id="25603" name="Text Box 3">
            <a:extLst>
              <a:ext uri="{FF2B5EF4-FFF2-40B4-BE49-F238E27FC236}">
                <a16:creationId xmlns:a16="http://schemas.microsoft.com/office/drawing/2014/main" id="{36D969E6-B31F-E2EE-1426-99CB2A53756A}"/>
              </a:ext>
            </a:extLst>
          </p:cNvPr>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192FB9E3-82BA-4355-93A3-5F08687EDA20}" type="slidenum">
              <a:rPr lang="zh-CN" altLang="en-US"/>
              <a:pPr algn="r" eaLnBrk="1" hangingPunct="1">
                <a:spcBef>
                  <a:spcPct val="50000"/>
                </a:spcBef>
                <a:buFont typeface="Arial" pitchFamily="34" charset="0"/>
                <a:buNone/>
              </a:pPr>
              <a:t>20</a:t>
            </a:fld>
            <a:endParaRPr lang="en-US" altLang="zh-CN"/>
          </a:p>
        </p:txBody>
      </p:sp>
      <p:sp>
        <p:nvSpPr>
          <p:cNvPr id="25606" name="AutoShape 6">
            <a:extLst>
              <a:ext uri="{FF2B5EF4-FFF2-40B4-BE49-F238E27FC236}">
                <a16:creationId xmlns:a16="http://schemas.microsoft.com/office/drawing/2014/main" id="{A83ECFDD-53DF-4D6F-EC96-9C17D8EA7D2E}"/>
              </a:ext>
            </a:extLst>
          </p:cNvPr>
          <p:cNvSpPr>
            <a:spLocks noChangeArrowheads="1"/>
          </p:cNvSpPr>
          <p:nvPr/>
        </p:nvSpPr>
        <p:spPr bwMode="auto">
          <a:xfrm>
            <a:off x="4724400" y="1282278"/>
            <a:ext cx="1622425" cy="369888"/>
          </a:xfrm>
          <a:prstGeom prst="wedgeEllipseCallout">
            <a:avLst>
              <a:gd name="adj1" fmla="val -31407"/>
              <a:gd name="adj2" fmla="val 90773"/>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zh-CN" altLang="en-US" sz="2000" b="1" i="0">
                <a:solidFill>
                  <a:srgbClr val="FF0000"/>
                </a:solidFill>
                <a:latin typeface="Times New Roman" pitchFamily="18" charset="0"/>
                <a:ea typeface="楷体_GB2312" pitchFamily="1" charset="-122"/>
              </a:rPr>
              <a:t>找</a:t>
            </a:r>
            <a:r>
              <a:rPr lang="en-US" altLang="zh-CN" sz="2000" b="1" i="0">
                <a:solidFill>
                  <a:srgbClr val="FF0000"/>
                </a:solidFill>
                <a:latin typeface="Times New Roman" pitchFamily="18" charset="0"/>
                <a:ea typeface="楷体_GB2312" pitchFamily="1" charset="-122"/>
              </a:rPr>
              <a:t>64</a:t>
            </a:r>
          </a:p>
        </p:txBody>
      </p:sp>
      <p:grpSp>
        <p:nvGrpSpPr>
          <p:cNvPr id="2" name="Group 8">
            <a:extLst>
              <a:ext uri="{FF2B5EF4-FFF2-40B4-BE49-F238E27FC236}">
                <a16:creationId xmlns:a16="http://schemas.microsoft.com/office/drawing/2014/main" id="{1BBE311A-C0E2-1018-752A-D84F174C3637}"/>
              </a:ext>
            </a:extLst>
          </p:cNvPr>
          <p:cNvGrpSpPr>
            <a:grpSpLocks/>
          </p:cNvGrpSpPr>
          <p:nvPr/>
        </p:nvGrpSpPr>
        <p:grpSpPr bwMode="auto">
          <a:xfrm>
            <a:off x="1276350" y="1772816"/>
            <a:ext cx="6591300" cy="739775"/>
            <a:chOff x="0" y="0"/>
            <a:chExt cx="4152" cy="466"/>
          </a:xfrm>
        </p:grpSpPr>
        <p:sp>
          <p:nvSpPr>
            <p:cNvPr id="25653" name="Text Box 9">
              <a:extLst>
                <a:ext uri="{FF2B5EF4-FFF2-40B4-BE49-F238E27FC236}">
                  <a16:creationId xmlns:a16="http://schemas.microsoft.com/office/drawing/2014/main" id="{7A528D51-A2C4-F568-F25B-5CBF061C7B02}"/>
                </a:ext>
              </a:extLst>
            </p:cNvPr>
            <p:cNvSpPr txBox="1">
              <a:spLocks noChangeArrowheads="1"/>
            </p:cNvSpPr>
            <p:nvPr/>
          </p:nvSpPr>
          <p:spPr bwMode="auto">
            <a:xfrm>
              <a:off x="72" y="0"/>
              <a:ext cx="4080"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1       2       3       4       5       6       7        8       9      10     11</a:t>
              </a:r>
            </a:p>
          </p:txBody>
        </p:sp>
        <p:grpSp>
          <p:nvGrpSpPr>
            <p:cNvPr id="3" name="Group 10">
              <a:extLst>
                <a:ext uri="{FF2B5EF4-FFF2-40B4-BE49-F238E27FC236}">
                  <a16:creationId xmlns:a16="http://schemas.microsoft.com/office/drawing/2014/main" id="{A5E8DB7A-4042-1736-7D68-063B0CAD4125}"/>
                </a:ext>
              </a:extLst>
            </p:cNvPr>
            <p:cNvGrpSpPr>
              <a:grpSpLocks/>
            </p:cNvGrpSpPr>
            <p:nvPr/>
          </p:nvGrpSpPr>
          <p:grpSpPr bwMode="auto">
            <a:xfrm>
              <a:off x="0" y="211"/>
              <a:ext cx="3960" cy="255"/>
              <a:chOff x="0" y="0"/>
              <a:chExt cx="3960" cy="255"/>
            </a:xfrm>
          </p:grpSpPr>
          <p:sp>
            <p:nvSpPr>
              <p:cNvPr id="25655" name="Rectangle 11">
                <a:extLst>
                  <a:ext uri="{FF2B5EF4-FFF2-40B4-BE49-F238E27FC236}">
                    <a16:creationId xmlns:a16="http://schemas.microsoft.com/office/drawing/2014/main" id="{FC488AD9-BA77-1DE7-397A-B5CA5D506EA1}"/>
                  </a:ext>
                </a:extLst>
              </p:cNvPr>
              <p:cNvSpPr>
                <a:spLocks noChangeArrowheads="1"/>
              </p:cNvSpPr>
              <p:nvPr/>
            </p:nvSpPr>
            <p:spPr bwMode="auto">
              <a:xfrm>
                <a:off x="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25656" name="Rectangle 12">
                <a:extLst>
                  <a:ext uri="{FF2B5EF4-FFF2-40B4-BE49-F238E27FC236}">
                    <a16:creationId xmlns:a16="http://schemas.microsoft.com/office/drawing/2014/main" id="{78B22547-37AC-7ED0-F91E-73E8B31B822A}"/>
                  </a:ext>
                </a:extLst>
              </p:cNvPr>
              <p:cNvSpPr>
                <a:spLocks noChangeArrowheads="1"/>
              </p:cNvSpPr>
              <p:nvPr/>
            </p:nvSpPr>
            <p:spPr bwMode="auto">
              <a:xfrm>
                <a:off x="3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25657" name="Rectangle 13">
                <a:extLst>
                  <a:ext uri="{FF2B5EF4-FFF2-40B4-BE49-F238E27FC236}">
                    <a16:creationId xmlns:a16="http://schemas.microsoft.com/office/drawing/2014/main" id="{DCE0B422-FC91-97D6-FD52-84133ABBEE9A}"/>
                  </a:ext>
                </a:extLst>
              </p:cNvPr>
              <p:cNvSpPr>
                <a:spLocks noChangeArrowheads="1"/>
              </p:cNvSpPr>
              <p:nvPr/>
            </p:nvSpPr>
            <p:spPr bwMode="auto">
              <a:xfrm>
                <a:off x="7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25658" name="Rectangle 14">
                <a:extLst>
                  <a:ext uri="{FF2B5EF4-FFF2-40B4-BE49-F238E27FC236}">
                    <a16:creationId xmlns:a16="http://schemas.microsoft.com/office/drawing/2014/main" id="{6ED080E8-1511-2590-452B-152416BD60D4}"/>
                  </a:ext>
                </a:extLst>
              </p:cNvPr>
              <p:cNvSpPr>
                <a:spLocks noChangeArrowheads="1"/>
              </p:cNvSpPr>
              <p:nvPr/>
            </p:nvSpPr>
            <p:spPr bwMode="auto">
              <a:xfrm>
                <a:off x="10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25659" name="Rectangle 15">
                <a:extLst>
                  <a:ext uri="{FF2B5EF4-FFF2-40B4-BE49-F238E27FC236}">
                    <a16:creationId xmlns:a16="http://schemas.microsoft.com/office/drawing/2014/main" id="{32EE5A5C-D009-11E3-A3A3-B57A9109869F}"/>
                  </a:ext>
                </a:extLst>
              </p:cNvPr>
              <p:cNvSpPr>
                <a:spLocks noChangeArrowheads="1"/>
              </p:cNvSpPr>
              <p:nvPr/>
            </p:nvSpPr>
            <p:spPr bwMode="auto">
              <a:xfrm>
                <a:off x="14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25660" name="Rectangle 16">
                <a:extLst>
                  <a:ext uri="{FF2B5EF4-FFF2-40B4-BE49-F238E27FC236}">
                    <a16:creationId xmlns:a16="http://schemas.microsoft.com/office/drawing/2014/main" id="{633CF87A-8DAE-CA96-62B5-5641CC912CCD}"/>
                  </a:ext>
                </a:extLst>
              </p:cNvPr>
              <p:cNvSpPr>
                <a:spLocks noChangeArrowheads="1"/>
              </p:cNvSpPr>
              <p:nvPr/>
            </p:nvSpPr>
            <p:spPr bwMode="auto">
              <a:xfrm>
                <a:off x="18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25661" name="Rectangle 17">
                <a:extLst>
                  <a:ext uri="{FF2B5EF4-FFF2-40B4-BE49-F238E27FC236}">
                    <a16:creationId xmlns:a16="http://schemas.microsoft.com/office/drawing/2014/main" id="{99EA8BB3-6D83-B29F-9FFA-CFCD46A09EDA}"/>
                  </a:ext>
                </a:extLst>
              </p:cNvPr>
              <p:cNvSpPr>
                <a:spLocks noChangeArrowheads="1"/>
              </p:cNvSpPr>
              <p:nvPr/>
            </p:nvSpPr>
            <p:spPr bwMode="auto">
              <a:xfrm>
                <a:off x="21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chemeClr val="hlink"/>
                    </a:solidFill>
                    <a:latin typeface="Times New Roman" pitchFamily="18" charset="0"/>
                  </a:rPr>
                  <a:t>64</a:t>
                </a:r>
              </a:p>
            </p:txBody>
          </p:sp>
          <p:sp>
            <p:nvSpPr>
              <p:cNvPr id="25662" name="Rectangle 18">
                <a:extLst>
                  <a:ext uri="{FF2B5EF4-FFF2-40B4-BE49-F238E27FC236}">
                    <a16:creationId xmlns:a16="http://schemas.microsoft.com/office/drawing/2014/main" id="{FFAA4C9F-433B-05C7-F6AC-721A7BB335CA}"/>
                  </a:ext>
                </a:extLst>
              </p:cNvPr>
              <p:cNvSpPr>
                <a:spLocks noChangeArrowheads="1"/>
              </p:cNvSpPr>
              <p:nvPr/>
            </p:nvSpPr>
            <p:spPr bwMode="auto">
              <a:xfrm>
                <a:off x="25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25663" name="Rectangle 19">
                <a:extLst>
                  <a:ext uri="{FF2B5EF4-FFF2-40B4-BE49-F238E27FC236}">
                    <a16:creationId xmlns:a16="http://schemas.microsoft.com/office/drawing/2014/main" id="{31E5C948-4923-CB83-6554-2529892962F4}"/>
                  </a:ext>
                </a:extLst>
              </p:cNvPr>
              <p:cNvSpPr>
                <a:spLocks noChangeArrowheads="1"/>
              </p:cNvSpPr>
              <p:nvPr/>
            </p:nvSpPr>
            <p:spPr bwMode="auto">
              <a:xfrm>
                <a:off x="28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25664" name="Rectangle 20">
                <a:extLst>
                  <a:ext uri="{FF2B5EF4-FFF2-40B4-BE49-F238E27FC236}">
                    <a16:creationId xmlns:a16="http://schemas.microsoft.com/office/drawing/2014/main" id="{D07604D8-E269-C4B0-7F1C-2C4C863B8253}"/>
                  </a:ext>
                </a:extLst>
              </p:cNvPr>
              <p:cNvSpPr>
                <a:spLocks noChangeArrowheads="1"/>
              </p:cNvSpPr>
              <p:nvPr/>
            </p:nvSpPr>
            <p:spPr bwMode="auto">
              <a:xfrm>
                <a:off x="32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25665" name="Rectangle 21">
                <a:extLst>
                  <a:ext uri="{FF2B5EF4-FFF2-40B4-BE49-F238E27FC236}">
                    <a16:creationId xmlns:a16="http://schemas.microsoft.com/office/drawing/2014/main" id="{8794BAF5-0A43-83E9-5768-5D76A320E160}"/>
                  </a:ext>
                </a:extLst>
              </p:cNvPr>
              <p:cNvSpPr>
                <a:spLocks noChangeArrowheads="1"/>
              </p:cNvSpPr>
              <p:nvPr/>
            </p:nvSpPr>
            <p:spPr bwMode="auto">
              <a:xfrm>
                <a:off x="36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sp>
        <p:nvSpPr>
          <p:cNvPr id="66" name="Text Box 4">
            <a:extLst>
              <a:ext uri="{FF2B5EF4-FFF2-40B4-BE49-F238E27FC236}">
                <a16:creationId xmlns:a16="http://schemas.microsoft.com/office/drawing/2014/main" id="{C40A08B3-21AE-1F80-2884-C5AB76669C93}"/>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二、折半查找举例</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查找成功）</a:t>
            </a:r>
          </a:p>
        </p:txBody>
      </p:sp>
      <p:sp>
        <p:nvSpPr>
          <p:cNvPr id="8" name="文本框 7">
            <a:extLst>
              <a:ext uri="{FF2B5EF4-FFF2-40B4-BE49-F238E27FC236}">
                <a16:creationId xmlns:a16="http://schemas.microsoft.com/office/drawing/2014/main" id="{67D095FA-D14C-ADE1-6E2F-EBCF1E3EB8A0}"/>
              </a:ext>
            </a:extLst>
          </p:cNvPr>
          <p:cNvSpPr txBox="1"/>
          <p:nvPr/>
        </p:nvSpPr>
        <p:spPr>
          <a:xfrm>
            <a:off x="542956" y="2924944"/>
            <a:ext cx="8133500" cy="523220"/>
          </a:xfrm>
          <a:prstGeom prst="rect">
            <a:avLst/>
          </a:prstGeom>
          <a:noFill/>
        </p:spPr>
        <p:txBody>
          <a:bodyPr wrap="square" rtlCol="0">
            <a:spAutoFit/>
          </a:bodyPr>
          <a:lstStyle/>
          <a:p>
            <a:r>
              <a:rPr lang="en-US" altLang="zh-CN" sz="2800" b="0" i="0" dirty="0">
                <a:latin typeface="+mn-ea"/>
                <a:ea typeface="+mn-ea"/>
              </a:rPr>
              <a:t>1)low=1,high=11,mid=(1+11)/2=6,elem[6]&lt;key</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6EE9F00F-9120-7985-6547-E3E3516BC358}"/>
              </a:ext>
            </a:extLst>
          </p:cNvPr>
          <p:cNvSpPr txBox="1"/>
          <p:nvPr/>
        </p:nvSpPr>
        <p:spPr>
          <a:xfrm>
            <a:off x="562400" y="3465690"/>
            <a:ext cx="9122168" cy="523220"/>
          </a:xfrm>
          <a:prstGeom prst="rect">
            <a:avLst/>
          </a:prstGeom>
          <a:noFill/>
        </p:spPr>
        <p:txBody>
          <a:bodyPr wrap="square" rtlCol="0">
            <a:spAutoFit/>
          </a:bodyPr>
          <a:lstStyle/>
          <a:p>
            <a:r>
              <a:rPr lang="en-US" altLang="zh-CN" sz="2800" b="0" i="0" dirty="0">
                <a:latin typeface="+mn-ea"/>
                <a:ea typeface="+mn-ea"/>
              </a:rPr>
              <a:t>2)low=mid+1=7,high=11,mid=(7+11)/2=9,elem[9]&gt;key</a:t>
            </a:r>
            <a:endParaRPr lang="zh-CN" altLang="en-US" sz="2800" b="0" i="0" dirty="0">
              <a:latin typeface="+mn-ea"/>
              <a:ea typeface="+mn-ea"/>
            </a:endParaRPr>
          </a:p>
        </p:txBody>
      </p:sp>
      <p:sp>
        <p:nvSpPr>
          <p:cNvPr id="10" name="文本框 9">
            <a:extLst>
              <a:ext uri="{FF2B5EF4-FFF2-40B4-BE49-F238E27FC236}">
                <a16:creationId xmlns:a16="http://schemas.microsoft.com/office/drawing/2014/main" id="{8054D650-F6CD-1761-D3B3-C0EAF649F2E8}"/>
              </a:ext>
            </a:extLst>
          </p:cNvPr>
          <p:cNvSpPr txBox="1"/>
          <p:nvPr/>
        </p:nvSpPr>
        <p:spPr>
          <a:xfrm>
            <a:off x="589720" y="4090566"/>
            <a:ext cx="9122168" cy="523220"/>
          </a:xfrm>
          <a:prstGeom prst="rect">
            <a:avLst/>
          </a:prstGeom>
          <a:noFill/>
        </p:spPr>
        <p:txBody>
          <a:bodyPr wrap="square" rtlCol="0">
            <a:spAutoFit/>
          </a:bodyPr>
          <a:lstStyle/>
          <a:p>
            <a:r>
              <a:rPr lang="en-US" altLang="zh-CN" sz="2800" b="0" i="0" dirty="0">
                <a:latin typeface="+mn-ea"/>
                <a:ea typeface="+mn-ea"/>
              </a:rPr>
              <a:t>3)low=7,high=mid-1=8,mid=(7+8)/2=7,elem[7]=key</a:t>
            </a:r>
            <a:endParaRPr lang="zh-CN" altLang="en-US" sz="2800" b="0" i="0" dirty="0">
              <a:latin typeface="+mn-ea"/>
              <a:ea typeface="+mn-ea"/>
            </a:endParaRPr>
          </a:p>
        </p:txBody>
      </p:sp>
      <p:sp>
        <p:nvSpPr>
          <p:cNvPr id="11" name="文本框 10">
            <a:extLst>
              <a:ext uri="{FF2B5EF4-FFF2-40B4-BE49-F238E27FC236}">
                <a16:creationId xmlns:a16="http://schemas.microsoft.com/office/drawing/2014/main" id="{C87F2ED3-9D82-4809-5B74-A63A2010B907}"/>
              </a:ext>
            </a:extLst>
          </p:cNvPr>
          <p:cNvSpPr txBox="1"/>
          <p:nvPr/>
        </p:nvSpPr>
        <p:spPr>
          <a:xfrm>
            <a:off x="683568" y="4869160"/>
            <a:ext cx="2088232" cy="523220"/>
          </a:xfrm>
          <a:prstGeom prst="rect">
            <a:avLst/>
          </a:prstGeom>
          <a:noFill/>
        </p:spPr>
        <p:txBody>
          <a:bodyPr wrap="square" rtlCol="0">
            <a:spAutoFit/>
          </a:bodyPr>
          <a:lstStyle/>
          <a:p>
            <a:r>
              <a:rPr lang="zh-CN" altLang="en-US" sz="2800" b="0" i="0" dirty="0">
                <a:latin typeface="黑体" panose="02010609060101010101" pitchFamily="49" charset="-122"/>
                <a:ea typeface="黑体" panose="02010609060101010101" pitchFamily="49" charset="-122"/>
              </a:rPr>
              <a:t>查找成功。</a:t>
            </a:r>
          </a:p>
        </p:txBody>
      </p:sp>
    </p:spTree>
    <p:extLst>
      <p:ext uri="{BB962C8B-B14F-4D97-AF65-F5344CB8AC3E}">
        <p14:creationId xmlns:p14="http://schemas.microsoft.com/office/powerpoint/2010/main" val="90886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CB816B21-831F-4AD4-BFDD-646F2BCA971D}" type="slidenum">
              <a:rPr lang="zh-CN" altLang="en-US"/>
              <a:pPr algn="r" eaLnBrk="1" hangingPunct="1">
                <a:spcBef>
                  <a:spcPct val="50000"/>
                </a:spcBef>
                <a:buFont typeface="Arial" pitchFamily="34" charset="0"/>
                <a:buNone/>
              </a:pPr>
              <a:t>21</a:t>
            </a:fld>
            <a:endParaRPr lang="en-US" altLang="zh-CN"/>
          </a:p>
        </p:txBody>
      </p:sp>
      <p:sp>
        <p:nvSpPr>
          <p:cNvPr id="26629" name="Rectangle 5"/>
          <p:cNvSpPr>
            <a:spLocks noGrp="1" noChangeArrowheads="1"/>
          </p:cNvSpPr>
          <p:nvPr>
            <p:ph type="body" idx="4294967295"/>
          </p:nvPr>
        </p:nvSpPr>
        <p:spPr>
          <a:xfrm>
            <a:off x="524694" y="5607520"/>
            <a:ext cx="8763000" cy="929694"/>
          </a:xfrm>
        </p:spPr>
        <p:txBody>
          <a:bodyPr/>
          <a:lstStyle/>
          <a:p>
            <a:pPr eaLnBrk="1" hangingPunct="1">
              <a:lnSpc>
                <a:spcPct val="90000"/>
              </a:lnSpc>
              <a:spcBef>
                <a:spcPct val="50000"/>
              </a:spcBef>
            </a:pPr>
            <a:r>
              <a:rPr lang="zh-CN" altLang="en-US" dirty="0">
                <a:latin typeface="黑体" pitchFamily="49" charset="-122"/>
                <a:ea typeface="黑体" pitchFamily="49" charset="-122"/>
              </a:rPr>
              <a:t>当下界</a:t>
            </a:r>
            <a:r>
              <a:rPr lang="en-US" altLang="zh-CN" dirty="0">
                <a:latin typeface="黑体" pitchFamily="49" charset="-122"/>
                <a:ea typeface="黑体" pitchFamily="49" charset="-122"/>
              </a:rPr>
              <a:t>low</a:t>
            </a:r>
            <a:r>
              <a:rPr lang="zh-CN" altLang="en-US" dirty="0">
                <a:latin typeface="黑体" pitchFamily="49" charset="-122"/>
                <a:ea typeface="黑体" pitchFamily="49" charset="-122"/>
              </a:rPr>
              <a:t>大于上界</a:t>
            </a:r>
            <a:r>
              <a:rPr lang="en-US" altLang="zh-CN" dirty="0">
                <a:latin typeface="黑体" pitchFamily="49" charset="-122"/>
                <a:ea typeface="黑体" pitchFamily="49" charset="-122"/>
              </a:rPr>
              <a:t>high</a:t>
            </a:r>
            <a:r>
              <a:rPr lang="zh-CN" altLang="en-US" dirty="0">
                <a:latin typeface="黑体" pitchFamily="49" charset="-122"/>
                <a:ea typeface="黑体" pitchFamily="49" charset="-122"/>
              </a:rPr>
              <a:t>时，说明有序表中没有关键字等于</a:t>
            </a:r>
            <a:r>
              <a:rPr lang="en-US" altLang="zh-CN" dirty="0">
                <a:latin typeface="黑体" pitchFamily="49" charset="-122"/>
                <a:ea typeface="黑体" pitchFamily="49" charset="-122"/>
              </a:rPr>
              <a:t>Key</a:t>
            </a:r>
            <a:r>
              <a:rPr lang="zh-CN" altLang="en-US" dirty="0">
                <a:latin typeface="黑体" pitchFamily="49" charset="-122"/>
                <a:ea typeface="黑体" pitchFamily="49" charset="-122"/>
              </a:rPr>
              <a:t>的元素，查找不成功。</a:t>
            </a:r>
          </a:p>
        </p:txBody>
      </p:sp>
      <p:grpSp>
        <p:nvGrpSpPr>
          <p:cNvPr id="2" name="Group 7"/>
          <p:cNvGrpSpPr>
            <a:grpSpLocks/>
          </p:cNvGrpSpPr>
          <p:nvPr/>
        </p:nvGrpSpPr>
        <p:grpSpPr bwMode="auto">
          <a:xfrm>
            <a:off x="1403648" y="1772816"/>
            <a:ext cx="6591300" cy="739775"/>
            <a:chOff x="0" y="0"/>
            <a:chExt cx="4152" cy="466"/>
          </a:xfrm>
        </p:grpSpPr>
        <p:sp>
          <p:nvSpPr>
            <p:cNvPr id="26637" name="Text Box 8"/>
            <p:cNvSpPr txBox="1">
              <a:spLocks noChangeArrowheads="1"/>
            </p:cNvSpPr>
            <p:nvPr/>
          </p:nvSpPr>
          <p:spPr bwMode="auto">
            <a:xfrm>
              <a:off x="72" y="0"/>
              <a:ext cx="4080"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1       2       3       4       5       6       7        8       9      10     11</a:t>
              </a:r>
            </a:p>
          </p:txBody>
        </p:sp>
        <p:grpSp>
          <p:nvGrpSpPr>
            <p:cNvPr id="3" name="Group 9"/>
            <p:cNvGrpSpPr>
              <a:grpSpLocks/>
            </p:cNvGrpSpPr>
            <p:nvPr/>
          </p:nvGrpSpPr>
          <p:grpSpPr bwMode="auto">
            <a:xfrm>
              <a:off x="0" y="211"/>
              <a:ext cx="3960" cy="255"/>
              <a:chOff x="0" y="0"/>
              <a:chExt cx="3960" cy="255"/>
            </a:xfrm>
          </p:grpSpPr>
          <p:sp>
            <p:nvSpPr>
              <p:cNvPr id="26639" name="Rectangle 10"/>
              <p:cNvSpPr>
                <a:spLocks noChangeArrowheads="1"/>
              </p:cNvSpPr>
              <p:nvPr/>
            </p:nvSpPr>
            <p:spPr bwMode="auto">
              <a:xfrm>
                <a:off x="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26640" name="Rectangle 11"/>
              <p:cNvSpPr>
                <a:spLocks noChangeArrowheads="1"/>
              </p:cNvSpPr>
              <p:nvPr/>
            </p:nvSpPr>
            <p:spPr bwMode="auto">
              <a:xfrm>
                <a:off x="3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26641" name="Rectangle 12"/>
              <p:cNvSpPr>
                <a:spLocks noChangeArrowheads="1"/>
              </p:cNvSpPr>
              <p:nvPr/>
            </p:nvSpPr>
            <p:spPr bwMode="auto">
              <a:xfrm>
                <a:off x="7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26642" name="Rectangle 13"/>
              <p:cNvSpPr>
                <a:spLocks noChangeArrowheads="1"/>
              </p:cNvSpPr>
              <p:nvPr/>
            </p:nvSpPr>
            <p:spPr bwMode="auto">
              <a:xfrm>
                <a:off x="10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26643" name="Rectangle 14"/>
              <p:cNvSpPr>
                <a:spLocks noChangeArrowheads="1"/>
              </p:cNvSpPr>
              <p:nvPr/>
            </p:nvSpPr>
            <p:spPr bwMode="auto">
              <a:xfrm>
                <a:off x="14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26644" name="Rectangle 15"/>
              <p:cNvSpPr>
                <a:spLocks noChangeArrowheads="1"/>
              </p:cNvSpPr>
              <p:nvPr/>
            </p:nvSpPr>
            <p:spPr bwMode="auto">
              <a:xfrm>
                <a:off x="18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26645" name="Rectangle 16"/>
              <p:cNvSpPr>
                <a:spLocks noChangeArrowheads="1"/>
              </p:cNvSpPr>
              <p:nvPr/>
            </p:nvSpPr>
            <p:spPr bwMode="auto">
              <a:xfrm>
                <a:off x="216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dirty="0">
                    <a:latin typeface="Times New Roman" pitchFamily="18" charset="0"/>
                  </a:rPr>
                  <a:t>64</a:t>
                </a:r>
              </a:p>
            </p:txBody>
          </p:sp>
          <p:sp>
            <p:nvSpPr>
              <p:cNvPr id="26646" name="Rectangle 17"/>
              <p:cNvSpPr>
                <a:spLocks noChangeArrowheads="1"/>
              </p:cNvSpPr>
              <p:nvPr/>
            </p:nvSpPr>
            <p:spPr bwMode="auto">
              <a:xfrm>
                <a:off x="252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26647" name="Rectangle 18"/>
              <p:cNvSpPr>
                <a:spLocks noChangeArrowheads="1"/>
              </p:cNvSpPr>
              <p:nvPr/>
            </p:nvSpPr>
            <p:spPr bwMode="auto">
              <a:xfrm>
                <a:off x="288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26648" name="Rectangle 19"/>
              <p:cNvSpPr>
                <a:spLocks noChangeArrowheads="1"/>
              </p:cNvSpPr>
              <p:nvPr/>
            </p:nvSpPr>
            <p:spPr bwMode="auto">
              <a:xfrm>
                <a:off x="324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26649" name="Rectangle 20"/>
              <p:cNvSpPr>
                <a:spLocks noChangeArrowheads="1"/>
              </p:cNvSpPr>
              <p:nvPr/>
            </p:nvSpPr>
            <p:spPr bwMode="auto">
              <a:xfrm>
                <a:off x="3600" y="0"/>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sp>
        <p:nvSpPr>
          <p:cNvPr id="26632" name="Line 21"/>
          <p:cNvSpPr>
            <a:spLocks noChangeShapeType="1"/>
          </p:cNvSpPr>
          <p:nvPr/>
        </p:nvSpPr>
        <p:spPr bwMode="auto">
          <a:xfrm flipV="1">
            <a:off x="4527848" y="2458616"/>
            <a:ext cx="0" cy="349250"/>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6633" name="Text Box 22"/>
          <p:cNvSpPr txBox="1">
            <a:spLocks noChangeArrowheads="1"/>
          </p:cNvSpPr>
          <p:nvPr/>
        </p:nvSpPr>
        <p:spPr bwMode="auto">
          <a:xfrm>
            <a:off x="3918248" y="2687216"/>
            <a:ext cx="11430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High=6</a:t>
            </a:r>
          </a:p>
        </p:txBody>
      </p:sp>
      <p:sp>
        <p:nvSpPr>
          <p:cNvPr id="26634" name="Line 23"/>
          <p:cNvSpPr>
            <a:spLocks noChangeShapeType="1"/>
          </p:cNvSpPr>
          <p:nvPr/>
        </p:nvSpPr>
        <p:spPr bwMode="auto">
          <a:xfrm flipV="1">
            <a:off x="5137448" y="2458616"/>
            <a:ext cx="0" cy="347663"/>
          </a:xfrm>
          <a:prstGeom prst="line">
            <a:avLst/>
          </a:prstGeom>
          <a:noFill/>
          <a:ln w="12700">
            <a:solidFill>
              <a:schemeClr val="hlink"/>
            </a:solidFill>
            <a:round/>
            <a:headEnd/>
            <a:tailEnd type="triangle" w="med" len="med"/>
          </a:ln>
          <a:effectLst/>
        </p:spPr>
        <p:txBody>
          <a:bodyPr wrap="none" anchor="ctr"/>
          <a:lstStyle/>
          <a:p>
            <a:endParaRPr lang="zh-CN" altLang="en-US" i="0"/>
          </a:p>
        </p:txBody>
      </p:sp>
      <p:sp>
        <p:nvSpPr>
          <p:cNvPr id="26635" name="Text Box 24"/>
          <p:cNvSpPr txBox="1">
            <a:spLocks noChangeArrowheads="1"/>
          </p:cNvSpPr>
          <p:nvPr/>
        </p:nvSpPr>
        <p:spPr bwMode="auto">
          <a:xfrm>
            <a:off x="4832648" y="2687216"/>
            <a:ext cx="914400" cy="396875"/>
          </a:xfrm>
          <a:prstGeom prst="rect">
            <a:avLst/>
          </a:prstGeom>
          <a:noFill/>
          <a:ln w="9525">
            <a:noFill/>
            <a:miter lim="800000"/>
            <a:headEnd/>
            <a:tailEnd/>
          </a:ln>
          <a:effectLst/>
        </p:spPr>
        <p:txBody>
          <a:bodyPr lIns="0" rIns="0">
            <a:spAutoFit/>
          </a:bodyPr>
          <a:lstStyle/>
          <a:p>
            <a:pPr eaLnBrk="1" hangingPunct="1">
              <a:buFont typeface="Arial" pitchFamily="34" charset="0"/>
              <a:buNone/>
            </a:pPr>
            <a:r>
              <a:rPr lang="en-US" altLang="zh-CN" sz="2000" b="1" i="0">
                <a:solidFill>
                  <a:srgbClr val="0CDD07"/>
                </a:solidFill>
                <a:latin typeface="Times New Roman" pitchFamily="18" charset="0"/>
              </a:rPr>
              <a:t>Low=7</a:t>
            </a:r>
          </a:p>
        </p:txBody>
      </p:sp>
      <p:sp>
        <p:nvSpPr>
          <p:cNvPr id="26636" name="AutoShape 25"/>
          <p:cNvSpPr>
            <a:spLocks noChangeArrowheads="1"/>
          </p:cNvSpPr>
          <p:nvPr/>
        </p:nvSpPr>
        <p:spPr bwMode="auto">
          <a:xfrm>
            <a:off x="4451648" y="1391816"/>
            <a:ext cx="1622425" cy="369888"/>
          </a:xfrm>
          <a:prstGeom prst="wedgeEllipseCallout">
            <a:avLst>
              <a:gd name="adj1" fmla="val -28278"/>
              <a:gd name="adj2" fmla="val 144421"/>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zh-CN" altLang="en-US" sz="2000" b="1" i="0">
                <a:solidFill>
                  <a:srgbClr val="FF0000"/>
                </a:solidFill>
                <a:latin typeface="Times New Roman" pitchFamily="18" charset="0"/>
                <a:ea typeface="楷体_GB2312" pitchFamily="1" charset="-122"/>
              </a:rPr>
              <a:t>找</a:t>
            </a:r>
            <a:r>
              <a:rPr lang="en-US" altLang="zh-CN" sz="2000" b="1" i="0">
                <a:solidFill>
                  <a:srgbClr val="FF0000"/>
                </a:solidFill>
                <a:latin typeface="Times New Roman" pitchFamily="18" charset="0"/>
                <a:ea typeface="楷体_GB2312" pitchFamily="1" charset="-122"/>
              </a:rPr>
              <a:t>59</a:t>
            </a:r>
          </a:p>
        </p:txBody>
      </p:sp>
      <p:sp>
        <p:nvSpPr>
          <p:cNvPr id="4" name="Text Box 4">
            <a:extLst>
              <a:ext uri="{FF2B5EF4-FFF2-40B4-BE49-F238E27FC236}">
                <a16:creationId xmlns:a16="http://schemas.microsoft.com/office/drawing/2014/main" id="{917EC8BB-70CC-70C3-ED99-D37AFB98DBE5}"/>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二、折半查找举例</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查找不成功）</a:t>
            </a:r>
          </a:p>
        </p:txBody>
      </p:sp>
      <p:sp>
        <p:nvSpPr>
          <p:cNvPr id="5" name="文本框 4">
            <a:extLst>
              <a:ext uri="{FF2B5EF4-FFF2-40B4-BE49-F238E27FC236}">
                <a16:creationId xmlns:a16="http://schemas.microsoft.com/office/drawing/2014/main" id="{407FFD8B-FD7E-4926-0BFA-C8668C0041B8}"/>
              </a:ext>
            </a:extLst>
          </p:cNvPr>
          <p:cNvSpPr txBox="1"/>
          <p:nvPr/>
        </p:nvSpPr>
        <p:spPr>
          <a:xfrm>
            <a:off x="505250" y="3106673"/>
            <a:ext cx="8133500" cy="523220"/>
          </a:xfrm>
          <a:prstGeom prst="rect">
            <a:avLst/>
          </a:prstGeom>
          <a:noFill/>
        </p:spPr>
        <p:txBody>
          <a:bodyPr wrap="square" rtlCol="0">
            <a:spAutoFit/>
          </a:bodyPr>
          <a:lstStyle/>
          <a:p>
            <a:r>
              <a:rPr lang="en-US" altLang="zh-CN" sz="2800" b="0" i="0" dirty="0">
                <a:latin typeface="+mn-ea"/>
                <a:ea typeface="+mn-ea"/>
              </a:rPr>
              <a:t>1)low=1,high=11,mid=(1+11)/2=6,elem[6]&lt;59</a:t>
            </a:r>
            <a:endParaRPr lang="zh-CN" altLang="en-US" sz="2800" b="0" i="0" dirty="0">
              <a:latin typeface="+mn-ea"/>
              <a:ea typeface="+mn-ea"/>
            </a:endParaRPr>
          </a:p>
        </p:txBody>
      </p:sp>
      <p:sp>
        <p:nvSpPr>
          <p:cNvPr id="6" name="文本框 5">
            <a:extLst>
              <a:ext uri="{FF2B5EF4-FFF2-40B4-BE49-F238E27FC236}">
                <a16:creationId xmlns:a16="http://schemas.microsoft.com/office/drawing/2014/main" id="{B52FEF16-0A9F-531A-BA90-3AA97B2735A7}"/>
              </a:ext>
            </a:extLst>
          </p:cNvPr>
          <p:cNvSpPr txBox="1"/>
          <p:nvPr/>
        </p:nvSpPr>
        <p:spPr>
          <a:xfrm>
            <a:off x="524694" y="3647419"/>
            <a:ext cx="9122168" cy="523220"/>
          </a:xfrm>
          <a:prstGeom prst="rect">
            <a:avLst/>
          </a:prstGeom>
          <a:noFill/>
        </p:spPr>
        <p:txBody>
          <a:bodyPr wrap="square" rtlCol="0">
            <a:spAutoFit/>
          </a:bodyPr>
          <a:lstStyle/>
          <a:p>
            <a:r>
              <a:rPr lang="en-US" altLang="zh-CN" sz="2800" b="0" i="0" dirty="0">
                <a:latin typeface="+mn-ea"/>
                <a:ea typeface="+mn-ea"/>
              </a:rPr>
              <a:t>2)low=mid+1=7,high=11,mid=(7+11)/2=9,elem[9]&gt;key</a:t>
            </a:r>
            <a:endParaRPr lang="zh-CN" altLang="en-US" sz="2800" b="0" i="0" dirty="0">
              <a:latin typeface="+mn-ea"/>
              <a:ea typeface="+mn-ea"/>
            </a:endParaRPr>
          </a:p>
        </p:txBody>
      </p:sp>
      <p:sp>
        <p:nvSpPr>
          <p:cNvPr id="7" name="文本框 6">
            <a:extLst>
              <a:ext uri="{FF2B5EF4-FFF2-40B4-BE49-F238E27FC236}">
                <a16:creationId xmlns:a16="http://schemas.microsoft.com/office/drawing/2014/main" id="{3925DF54-866F-9C8F-7284-5FF8B26ACB68}"/>
              </a:ext>
            </a:extLst>
          </p:cNvPr>
          <p:cNvSpPr txBox="1"/>
          <p:nvPr/>
        </p:nvSpPr>
        <p:spPr>
          <a:xfrm>
            <a:off x="552014" y="4272295"/>
            <a:ext cx="9122168" cy="523220"/>
          </a:xfrm>
          <a:prstGeom prst="rect">
            <a:avLst/>
          </a:prstGeom>
          <a:noFill/>
        </p:spPr>
        <p:txBody>
          <a:bodyPr wrap="square" rtlCol="0">
            <a:spAutoFit/>
          </a:bodyPr>
          <a:lstStyle/>
          <a:p>
            <a:r>
              <a:rPr lang="en-US" altLang="zh-CN" sz="2800" b="0" i="0" dirty="0">
                <a:latin typeface="+mn-ea"/>
                <a:ea typeface="+mn-ea"/>
              </a:rPr>
              <a:t>3)low=7,high=mid-1=8,mid=(7+8)/2=7,elem[7]&gt;key</a:t>
            </a:r>
            <a:endParaRPr lang="zh-CN" altLang="en-US" sz="2800" b="0" i="0" dirty="0">
              <a:latin typeface="+mn-ea"/>
              <a:ea typeface="+mn-ea"/>
            </a:endParaRPr>
          </a:p>
        </p:txBody>
      </p:sp>
      <p:sp>
        <p:nvSpPr>
          <p:cNvPr id="9" name="文本框 8">
            <a:extLst>
              <a:ext uri="{FF2B5EF4-FFF2-40B4-BE49-F238E27FC236}">
                <a16:creationId xmlns:a16="http://schemas.microsoft.com/office/drawing/2014/main" id="{ED17DD68-D66F-2189-43DE-74CCECD883D0}"/>
              </a:ext>
            </a:extLst>
          </p:cNvPr>
          <p:cNvSpPr txBox="1"/>
          <p:nvPr/>
        </p:nvSpPr>
        <p:spPr>
          <a:xfrm>
            <a:off x="542956" y="4813327"/>
            <a:ext cx="9122168" cy="523220"/>
          </a:xfrm>
          <a:prstGeom prst="rect">
            <a:avLst/>
          </a:prstGeom>
          <a:noFill/>
        </p:spPr>
        <p:txBody>
          <a:bodyPr wrap="square" rtlCol="0">
            <a:spAutoFit/>
          </a:bodyPr>
          <a:lstStyle/>
          <a:p>
            <a:r>
              <a:rPr lang="en-US" altLang="zh-CN" sz="2800" b="0" i="0" dirty="0">
                <a:latin typeface="+mn-ea"/>
                <a:ea typeface="+mn-ea"/>
              </a:rPr>
              <a:t>4)low=7,high=mid-1=6,low&gt;high, </a:t>
            </a:r>
            <a:r>
              <a:rPr lang="zh-CN" altLang="en-US" sz="2800" b="0" i="0" dirty="0">
                <a:latin typeface="+mn-ea"/>
                <a:ea typeface="+mn-ea"/>
              </a:rPr>
              <a:t>查找不成功。</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663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663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66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63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662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9" grpId="0" build="p"/>
      <p:bldP spid="26632" grpId="0" animBg="1"/>
      <p:bldP spid="26633" grpId="0"/>
      <p:bldP spid="26634" grpId="0" animBg="1"/>
      <p:bldP spid="26635" grpId="0"/>
      <p:bldP spid="5" grpId="0"/>
      <p:bldP spid="6" grpId="0"/>
      <p:bldP spid="7" grpId="0"/>
      <p:bldP spid="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CB816B21-831F-4AD4-BFDD-646F2BCA971D}" type="slidenum">
              <a:rPr lang="zh-CN" altLang="en-US"/>
              <a:pPr algn="r" eaLnBrk="1" hangingPunct="1">
                <a:spcBef>
                  <a:spcPct val="50000"/>
                </a:spcBef>
                <a:buFont typeface="Arial" pitchFamily="34" charset="0"/>
                <a:buNone/>
              </a:pPr>
              <a:t>22</a:t>
            </a:fld>
            <a:endParaRPr lang="en-US" altLang="zh-CN"/>
          </a:p>
        </p:txBody>
      </p:sp>
      <p:sp>
        <p:nvSpPr>
          <p:cNvPr id="26"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二、折半查找实现</a:t>
            </a:r>
          </a:p>
        </p:txBody>
      </p:sp>
      <p:sp>
        <p:nvSpPr>
          <p:cNvPr id="5" name="文本框 4">
            <a:extLst>
              <a:ext uri="{FF2B5EF4-FFF2-40B4-BE49-F238E27FC236}">
                <a16:creationId xmlns:a16="http://schemas.microsoft.com/office/drawing/2014/main" id="{F016F09E-6396-9933-36C5-561E6E9AC3E6}"/>
              </a:ext>
            </a:extLst>
          </p:cNvPr>
          <p:cNvSpPr txBox="1"/>
          <p:nvPr/>
        </p:nvSpPr>
        <p:spPr>
          <a:xfrm>
            <a:off x="520756" y="1268760"/>
            <a:ext cx="8216848" cy="5016758"/>
          </a:xfrm>
          <a:prstGeom prst="rect">
            <a:avLst/>
          </a:prstGeom>
          <a:noFill/>
        </p:spPr>
        <p:txBody>
          <a:bodyPr wrap="square">
            <a:spAutoFit/>
          </a:bodyPr>
          <a:lstStyle/>
          <a:p>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err="1">
                <a:solidFill>
                  <a:srgbClr val="795E26"/>
                </a:solidFill>
                <a:effectLst/>
                <a:latin typeface="+mn-ea"/>
                <a:ea typeface="+mn-ea"/>
              </a:rPr>
              <a:t>binary_search</a:t>
            </a:r>
            <a:r>
              <a:rPr lang="en-US" altLang="zh-CN" sz="2000" b="0" i="0" dirty="0">
                <a:solidFill>
                  <a:srgbClr val="000000"/>
                </a:solidFill>
                <a:effectLst/>
                <a:latin typeface="+mn-ea"/>
                <a:ea typeface="+mn-ea"/>
              </a:rPr>
              <a:t>(</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key</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low</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0</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high</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n</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a:t>
            </a:r>
          </a:p>
          <a:p>
            <a:br>
              <a:rPr lang="en-US" altLang="zh-CN" sz="2000" b="0" i="0" dirty="0">
                <a:solidFill>
                  <a:srgbClr val="000000"/>
                </a:solidFill>
                <a:effectLst/>
                <a:latin typeface="+mn-ea"/>
                <a:ea typeface="+mn-ea"/>
              </a:rPr>
            </a:br>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while</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low</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high</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p>
          <a:p>
            <a:r>
              <a:rPr lang="en-US" altLang="zh-CN" sz="2000" b="0" i="0" dirty="0">
                <a:solidFill>
                  <a:srgbClr val="000000"/>
                </a:solidFill>
                <a:effectLst/>
                <a:latin typeface="+mn-ea"/>
                <a:ea typeface="+mn-ea"/>
              </a:rPr>
              <a:t>        </a:t>
            </a:r>
            <a:r>
              <a:rPr lang="en-US" altLang="zh-CN" sz="2000" b="0" i="0" dirty="0">
                <a:solidFill>
                  <a:srgbClr val="0000FF"/>
                </a:solidFill>
                <a:effectLst/>
                <a:latin typeface="+mn-ea"/>
                <a:ea typeface="+mn-ea"/>
              </a:rPr>
              <a:t>int</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low</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high</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2</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key</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return</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else</a:t>
            </a:r>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if</a:t>
            </a:r>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num</a:t>
            </a:r>
            <a:r>
              <a:rPr lang="en-US" altLang="zh-CN" sz="2000" b="0" i="0" dirty="0">
                <a:solidFill>
                  <a:srgbClr val="000000"/>
                </a:solidFill>
                <a:effectLst/>
                <a:latin typeface="+mn-ea"/>
                <a:ea typeface="+mn-ea"/>
              </a:rPr>
              <a:t>[</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&lt; </a:t>
            </a:r>
            <a:r>
              <a:rPr lang="en-US" altLang="zh-CN" sz="2000" b="0" i="0" dirty="0">
                <a:solidFill>
                  <a:srgbClr val="001080"/>
                </a:solidFill>
                <a:effectLst/>
                <a:latin typeface="+mn-ea"/>
                <a:ea typeface="+mn-ea"/>
              </a:rPr>
              <a:t>key</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low</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else</a:t>
            </a:r>
            <a:endParaRPr lang="en-US" altLang="zh-CN" sz="2000" b="0" i="0" dirty="0">
              <a:solidFill>
                <a:srgbClr val="000000"/>
              </a:solidFill>
              <a:effectLst/>
              <a:latin typeface="+mn-ea"/>
              <a:ea typeface="+mn-ea"/>
            </a:endParaRPr>
          </a:p>
          <a:p>
            <a:r>
              <a:rPr lang="en-US" altLang="zh-CN" sz="2000" b="0" i="0" dirty="0">
                <a:solidFill>
                  <a:srgbClr val="000000"/>
                </a:solidFill>
                <a:effectLst/>
                <a:latin typeface="+mn-ea"/>
                <a:ea typeface="+mn-ea"/>
              </a:rPr>
              <a:t>            </a:t>
            </a:r>
            <a:r>
              <a:rPr lang="en-US" altLang="zh-CN" sz="2000" b="0" i="0" dirty="0">
                <a:solidFill>
                  <a:srgbClr val="001080"/>
                </a:solidFill>
                <a:effectLst/>
                <a:latin typeface="+mn-ea"/>
                <a:ea typeface="+mn-ea"/>
              </a:rPr>
              <a:t>high</a:t>
            </a:r>
            <a:r>
              <a:rPr lang="en-US" altLang="zh-CN" sz="2000" b="0" i="0" dirty="0">
                <a:solidFill>
                  <a:srgbClr val="000000"/>
                </a:solidFill>
                <a:effectLst/>
                <a:latin typeface="+mn-ea"/>
                <a:ea typeface="+mn-ea"/>
              </a:rPr>
              <a:t> = </a:t>
            </a:r>
            <a:r>
              <a:rPr lang="en-US" altLang="zh-CN" sz="2000" b="0" i="0" dirty="0">
                <a:solidFill>
                  <a:srgbClr val="001080"/>
                </a:solidFill>
                <a:effectLst/>
                <a:latin typeface="+mn-ea"/>
                <a:ea typeface="+mn-ea"/>
              </a:rPr>
              <a:t>mid</a:t>
            </a:r>
            <a:r>
              <a:rPr lang="en-US" altLang="zh-CN" sz="2000" b="0" i="0" dirty="0">
                <a:solidFill>
                  <a:srgbClr val="000000"/>
                </a:solidFill>
                <a:effectLst/>
                <a:latin typeface="+mn-ea"/>
                <a:ea typeface="+mn-ea"/>
              </a:rPr>
              <a:t> -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    }</a:t>
            </a:r>
          </a:p>
          <a:p>
            <a:r>
              <a:rPr lang="en-US" altLang="zh-CN" sz="2000" b="0" i="0" dirty="0">
                <a:solidFill>
                  <a:srgbClr val="000000"/>
                </a:solidFill>
                <a:effectLst/>
                <a:latin typeface="+mn-ea"/>
                <a:ea typeface="+mn-ea"/>
              </a:rPr>
              <a:t>    </a:t>
            </a:r>
            <a:r>
              <a:rPr lang="en-US" altLang="zh-CN" sz="2000" b="0" i="0" dirty="0">
                <a:solidFill>
                  <a:srgbClr val="AF00DB"/>
                </a:solidFill>
                <a:effectLst/>
                <a:latin typeface="+mn-ea"/>
                <a:ea typeface="+mn-ea"/>
              </a:rPr>
              <a:t>return</a:t>
            </a:r>
            <a:r>
              <a:rPr lang="en-US" altLang="zh-CN" sz="2000" b="0" i="0" dirty="0">
                <a:solidFill>
                  <a:srgbClr val="000000"/>
                </a:solidFill>
                <a:effectLst/>
                <a:latin typeface="+mn-ea"/>
                <a:ea typeface="+mn-ea"/>
              </a:rPr>
              <a:t> -</a:t>
            </a:r>
            <a:r>
              <a:rPr lang="en-US" altLang="zh-CN" sz="2000" b="0" i="0" dirty="0">
                <a:solidFill>
                  <a:srgbClr val="098658"/>
                </a:solidFill>
                <a:effectLst/>
                <a:latin typeface="+mn-ea"/>
                <a:ea typeface="+mn-ea"/>
              </a:rPr>
              <a:t>1</a:t>
            </a:r>
            <a:r>
              <a:rPr lang="en-US" altLang="zh-CN" sz="2000" b="0" i="0" dirty="0">
                <a:solidFill>
                  <a:srgbClr val="000000"/>
                </a:solidFill>
                <a:effectLst/>
                <a:latin typeface="+mn-ea"/>
                <a:ea typeface="+mn-ea"/>
              </a:rPr>
              <a:t>;</a:t>
            </a:r>
          </a:p>
          <a:p>
            <a:r>
              <a:rPr lang="en-US" altLang="zh-CN" sz="2000" b="0" i="0" dirty="0">
                <a:solidFill>
                  <a:srgbClr val="000000"/>
                </a:solidFill>
                <a:effectLst/>
                <a:latin typeface="+mn-ea"/>
                <a:ea typeface="+mn-ea"/>
              </a:rPr>
              <a:t>}</a:t>
            </a:r>
          </a:p>
        </p:txBody>
      </p:sp>
    </p:spTree>
    <p:extLst>
      <p:ext uri="{BB962C8B-B14F-4D97-AF65-F5344CB8AC3E}">
        <p14:creationId xmlns:p14="http://schemas.microsoft.com/office/powerpoint/2010/main" val="37027567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CB816B21-831F-4AD4-BFDD-646F2BCA971D}" type="slidenum">
              <a:rPr lang="zh-CN" altLang="en-US"/>
              <a:pPr algn="r" eaLnBrk="1" hangingPunct="1">
                <a:spcBef>
                  <a:spcPct val="50000"/>
                </a:spcBef>
                <a:buFont typeface="Arial" pitchFamily="34" charset="0"/>
                <a:buNone/>
              </a:pPr>
              <a:t>23</a:t>
            </a:fld>
            <a:endParaRPr lang="en-US" altLang="zh-CN"/>
          </a:p>
        </p:txBody>
      </p:sp>
      <p:sp>
        <p:nvSpPr>
          <p:cNvPr id="26" name="Text Box 4"/>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en-US" altLang="zh-CN" sz="4400" i="0" dirty="0">
                <a:solidFill>
                  <a:schemeClr val="tx2"/>
                </a:solidFill>
                <a:latin typeface="Tahoma" panose="020B0604030504040204" pitchFamily="34" charset="0"/>
                <a:ea typeface="隶书" pitchFamily="49" charset="-122"/>
              </a:rPr>
              <a:t>STL</a:t>
            </a:r>
            <a:r>
              <a:rPr lang="zh-CN" altLang="en-US" sz="4400" i="0" dirty="0">
                <a:solidFill>
                  <a:schemeClr val="tx2"/>
                </a:solidFill>
                <a:latin typeface="Tahoma" panose="020B0604030504040204" pitchFamily="34" charset="0"/>
                <a:ea typeface="隶书" pitchFamily="49" charset="-122"/>
              </a:rPr>
              <a:t>中的折半查找</a:t>
            </a:r>
          </a:p>
        </p:txBody>
      </p:sp>
      <p:pic>
        <p:nvPicPr>
          <p:cNvPr id="3" name="图片 2">
            <a:extLst>
              <a:ext uri="{FF2B5EF4-FFF2-40B4-BE49-F238E27FC236}">
                <a16:creationId xmlns:a16="http://schemas.microsoft.com/office/drawing/2014/main" id="{D488B7AC-E07A-D370-314F-8179FDC8CCC9}"/>
              </a:ext>
            </a:extLst>
          </p:cNvPr>
          <p:cNvPicPr>
            <a:picLocks noChangeAspect="1"/>
          </p:cNvPicPr>
          <p:nvPr/>
        </p:nvPicPr>
        <p:blipFill>
          <a:blip r:embed="rId2"/>
          <a:stretch>
            <a:fillRect/>
          </a:stretch>
        </p:blipFill>
        <p:spPr>
          <a:xfrm>
            <a:off x="542956" y="1268760"/>
            <a:ext cx="8458200" cy="2297869"/>
          </a:xfrm>
          <a:prstGeom prst="rect">
            <a:avLst/>
          </a:prstGeom>
        </p:spPr>
      </p:pic>
      <p:sp>
        <p:nvSpPr>
          <p:cNvPr id="4" name="文本框 3">
            <a:extLst>
              <a:ext uri="{FF2B5EF4-FFF2-40B4-BE49-F238E27FC236}">
                <a16:creationId xmlns:a16="http://schemas.microsoft.com/office/drawing/2014/main" id="{E95F47C0-3FD8-B09D-A3C1-20E799EA6536}"/>
              </a:ext>
            </a:extLst>
          </p:cNvPr>
          <p:cNvSpPr txBox="1"/>
          <p:nvPr/>
        </p:nvSpPr>
        <p:spPr>
          <a:xfrm>
            <a:off x="755576" y="4365104"/>
            <a:ext cx="7416824" cy="523220"/>
          </a:xfrm>
          <a:prstGeom prst="rect">
            <a:avLst/>
          </a:prstGeom>
          <a:noFill/>
        </p:spPr>
        <p:txBody>
          <a:bodyPr wrap="square" rtlCol="0">
            <a:spAutoFit/>
          </a:bodyPr>
          <a:lstStyle/>
          <a:p>
            <a:r>
              <a:rPr lang="en-US" altLang="zh-CN" sz="2800" b="0" i="0" dirty="0"/>
              <a:t>#include &lt;algorithm&gt;</a:t>
            </a:r>
            <a:endParaRPr lang="zh-CN" altLang="en-US" sz="2800" b="0" i="0" dirty="0"/>
          </a:p>
        </p:txBody>
      </p:sp>
    </p:spTree>
    <p:extLst>
      <p:ext uri="{BB962C8B-B14F-4D97-AF65-F5344CB8AC3E}">
        <p14:creationId xmlns:p14="http://schemas.microsoft.com/office/powerpoint/2010/main" val="636181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4" name="Rectangle 4"/>
          <p:cNvSpPr>
            <a:spLocks noGrp="1" noChangeArrowheads="1"/>
          </p:cNvSpPr>
          <p:nvPr>
            <p:ph type="body" idx="4294967295"/>
          </p:nvPr>
        </p:nvSpPr>
        <p:spPr>
          <a:xfrm>
            <a:off x="600075" y="1340768"/>
            <a:ext cx="8543925" cy="4038600"/>
          </a:xfrm>
        </p:spPr>
        <p:txBody>
          <a:bodyPr/>
          <a:lstStyle/>
          <a:p>
            <a:pPr eaLnBrk="1" hangingPunct="1">
              <a:lnSpc>
                <a:spcPct val="150000"/>
              </a:lnSpc>
              <a:spcBef>
                <a:spcPct val="30000"/>
              </a:spcBef>
            </a:pPr>
            <a:r>
              <a:rPr lang="zh-CN" altLang="en-US" dirty="0">
                <a:latin typeface="+mn-ea"/>
              </a:rPr>
              <a:t>给定序列和待查元素，比较次数？</a:t>
            </a:r>
            <a:endParaRPr lang="en-US" altLang="zh-CN" dirty="0">
              <a:latin typeface="+mn-ea"/>
            </a:endParaRPr>
          </a:p>
          <a:p>
            <a:pPr eaLnBrk="1" hangingPunct="1">
              <a:lnSpc>
                <a:spcPct val="150000"/>
              </a:lnSpc>
              <a:spcBef>
                <a:spcPct val="30000"/>
              </a:spcBef>
            </a:pPr>
            <a:r>
              <a:rPr lang="zh-CN" altLang="en-US" dirty="0">
                <a:latin typeface="+mn-ea"/>
              </a:rPr>
              <a:t>判定树：描述查找过程的二叉树。</a:t>
            </a:r>
          </a:p>
          <a:p>
            <a:pPr eaLnBrk="1" hangingPunct="1">
              <a:lnSpc>
                <a:spcPct val="150000"/>
              </a:lnSpc>
              <a:spcBef>
                <a:spcPct val="30000"/>
              </a:spcBef>
            </a:pPr>
            <a:r>
              <a:rPr lang="zh-CN" altLang="en-US" dirty="0">
                <a:latin typeface="+mn-ea"/>
              </a:rPr>
              <a:t>有</a:t>
            </a:r>
            <a:r>
              <a:rPr lang="en-US" altLang="zh-CN" dirty="0">
                <a:latin typeface="+mn-ea"/>
              </a:rPr>
              <a:t>n</a:t>
            </a:r>
            <a:r>
              <a:rPr lang="zh-CN" altLang="en-US" dirty="0">
                <a:latin typeface="+mn-ea"/>
              </a:rPr>
              <a:t>个结点的判定树的深度为</a:t>
            </a:r>
            <a:r>
              <a:rPr lang="zh-CN" altLang="en-US" dirty="0">
                <a:latin typeface="+mn-ea"/>
                <a:sym typeface="Symbol" pitchFamily="18" charset="2"/>
              </a:rPr>
              <a:t></a:t>
            </a:r>
            <a:r>
              <a:rPr lang="en-US" altLang="zh-CN" dirty="0">
                <a:latin typeface="+mn-ea"/>
              </a:rPr>
              <a:t>log</a:t>
            </a:r>
            <a:r>
              <a:rPr lang="en-US" altLang="zh-CN" baseline="-25000" dirty="0">
                <a:latin typeface="+mn-ea"/>
              </a:rPr>
              <a:t>2</a:t>
            </a:r>
            <a:r>
              <a:rPr lang="en-US" altLang="zh-CN" dirty="0">
                <a:latin typeface="+mn-ea"/>
              </a:rPr>
              <a:t>n</a:t>
            </a:r>
            <a:r>
              <a:rPr lang="en-US" altLang="zh-CN" dirty="0">
                <a:latin typeface="+mn-ea"/>
                <a:sym typeface="Symbol" pitchFamily="18" charset="2"/>
              </a:rPr>
              <a:t> </a:t>
            </a:r>
            <a:r>
              <a:rPr lang="en-US" altLang="zh-CN" dirty="0">
                <a:latin typeface="+mn-ea"/>
              </a:rPr>
              <a:t>+1</a:t>
            </a:r>
            <a:r>
              <a:rPr lang="zh-CN" altLang="en-US" dirty="0">
                <a:latin typeface="+mn-ea"/>
              </a:rPr>
              <a:t>（</a:t>
            </a:r>
            <a:r>
              <a:rPr lang="zh-CN" altLang="en-US" dirty="0">
                <a:solidFill>
                  <a:schemeClr val="hlink"/>
                </a:solidFill>
                <a:latin typeface="+mn-ea"/>
              </a:rPr>
              <a:t>与含有 </a:t>
            </a:r>
            <a:r>
              <a:rPr lang="en-US" altLang="zh-CN" dirty="0">
                <a:solidFill>
                  <a:schemeClr val="hlink"/>
                </a:solidFill>
                <a:latin typeface="+mn-ea"/>
              </a:rPr>
              <a:t>n </a:t>
            </a:r>
            <a:r>
              <a:rPr lang="zh-CN" altLang="en-US" dirty="0">
                <a:solidFill>
                  <a:schemeClr val="hlink"/>
                </a:solidFill>
                <a:latin typeface="+mn-ea"/>
              </a:rPr>
              <a:t>个结点的完全二叉树的深度相同</a:t>
            </a:r>
            <a:r>
              <a:rPr lang="zh-CN" altLang="en-US" dirty="0">
                <a:latin typeface="+mn-ea"/>
              </a:rPr>
              <a:t>）</a:t>
            </a:r>
          </a:p>
          <a:p>
            <a:pPr eaLnBrk="1" hangingPunct="1">
              <a:lnSpc>
                <a:spcPct val="150000"/>
              </a:lnSpc>
              <a:spcBef>
                <a:spcPct val="30000"/>
              </a:spcBef>
            </a:pPr>
            <a:r>
              <a:rPr lang="zh-CN" altLang="en-US" dirty="0">
                <a:latin typeface="+mn-ea"/>
              </a:rPr>
              <a:t>折半查找法在查找过程中进行的比较次数最多不超过</a:t>
            </a:r>
            <a:r>
              <a:rPr lang="zh-CN" altLang="en-US" dirty="0">
                <a:latin typeface="+mn-ea"/>
                <a:sym typeface="Symbol" pitchFamily="18" charset="2"/>
              </a:rPr>
              <a:t></a:t>
            </a:r>
            <a:r>
              <a:rPr lang="en-US" altLang="zh-CN" dirty="0">
                <a:latin typeface="+mn-ea"/>
              </a:rPr>
              <a:t>log</a:t>
            </a:r>
            <a:r>
              <a:rPr lang="en-US" altLang="zh-CN" baseline="-25000" dirty="0">
                <a:latin typeface="+mn-ea"/>
              </a:rPr>
              <a:t>2</a:t>
            </a:r>
            <a:r>
              <a:rPr lang="en-US" altLang="zh-CN" dirty="0">
                <a:latin typeface="+mn-ea"/>
              </a:rPr>
              <a:t>n</a:t>
            </a:r>
            <a:r>
              <a:rPr lang="en-US" altLang="zh-CN" dirty="0">
                <a:latin typeface="+mn-ea"/>
                <a:sym typeface="Symbol" pitchFamily="18" charset="2"/>
              </a:rPr>
              <a:t> </a:t>
            </a:r>
            <a:r>
              <a:rPr lang="en-US" altLang="zh-CN" dirty="0">
                <a:latin typeface="+mn-ea"/>
              </a:rPr>
              <a:t>+1</a:t>
            </a:r>
          </a:p>
        </p:txBody>
      </p:sp>
      <p:sp>
        <p:nvSpPr>
          <p:cNvPr id="2" name="Text Box 4">
            <a:extLst>
              <a:ext uri="{FF2B5EF4-FFF2-40B4-BE49-F238E27FC236}">
                <a16:creationId xmlns:a16="http://schemas.microsoft.com/office/drawing/2014/main" id="{77823382-09F7-4703-887F-B90E61700711}"/>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二、折半查找判定树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5604">
                                            <p:txEl>
                                              <p:pRg st="2" end="2"/>
                                            </p:txEl>
                                          </p:spTgt>
                                        </p:tgtEl>
                                        <p:attrNameLst>
                                          <p:attrName>style.visibility</p:attrName>
                                        </p:attrNameLst>
                                      </p:cBhvr>
                                      <p:to>
                                        <p:strVal val="visible"/>
                                      </p:to>
                                    </p:set>
                                    <p:animEffect transition="in" filter="blinds(horizontal)">
                                      <p:cBhvr>
                                        <p:cTn id="7" dur="500"/>
                                        <p:tgtEl>
                                          <p:spTgt spid="25604">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5604">
                                            <p:txEl>
                                              <p:pRg st="3" end="3"/>
                                            </p:txEl>
                                          </p:spTgt>
                                        </p:tgtEl>
                                        <p:attrNameLst>
                                          <p:attrName>style.visibility</p:attrName>
                                        </p:attrNameLst>
                                      </p:cBhvr>
                                      <p:to>
                                        <p:strVal val="visible"/>
                                      </p:to>
                                    </p:set>
                                    <p:animEffect transition="in" filter="blinds(horizontal)">
                                      <p:cBhvr>
                                        <p:cTn id="12" dur="500"/>
                                        <p:tgtEl>
                                          <p:spTgt spid="2560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503237" y="1253308"/>
            <a:ext cx="2392363" cy="523220"/>
          </a:xfrm>
          <a:prstGeom prst="rect">
            <a:avLst/>
          </a:prstGeom>
          <a:noFill/>
          <a:ln w="9525">
            <a:noFill/>
            <a:miter lim="800000"/>
            <a:headEnd/>
            <a:tailEnd/>
          </a:ln>
          <a:effectLst/>
        </p:spPr>
        <p:txBody>
          <a:bodyPr wrap="square">
            <a:spAutoFit/>
          </a:bodyPr>
          <a:lstStyle/>
          <a:p>
            <a:pPr eaLnBrk="1" hangingPunct="1"/>
            <a:r>
              <a:rPr lang="zh-CN" altLang="en-US" sz="2800" b="0" i="0" dirty="0">
                <a:latin typeface="+mn-ea"/>
                <a:ea typeface="+mn-ea"/>
              </a:rPr>
              <a:t>假设：</a:t>
            </a:r>
            <a:r>
              <a:rPr lang="en-US" altLang="zh-CN" sz="2800" b="0" i="0" dirty="0">
                <a:latin typeface="+mn-ea"/>
                <a:ea typeface="+mn-ea"/>
              </a:rPr>
              <a:t>n=11</a:t>
            </a:r>
            <a:r>
              <a:rPr lang="zh-CN" altLang="en-US" sz="2800" b="0" i="0" dirty="0">
                <a:latin typeface="+mn-ea"/>
                <a:ea typeface="+mn-ea"/>
              </a:rPr>
              <a:t>。</a:t>
            </a:r>
            <a:endParaRPr lang="en-US" altLang="zh-CN" sz="2800" b="0" i="0" dirty="0">
              <a:latin typeface="+mn-ea"/>
              <a:ea typeface="+mn-ea"/>
            </a:endParaRPr>
          </a:p>
        </p:txBody>
      </p:sp>
      <p:sp>
        <p:nvSpPr>
          <p:cNvPr id="26627" name="Text Box 3"/>
          <p:cNvSpPr txBox="1">
            <a:spLocks noChangeArrowheads="1"/>
          </p:cNvSpPr>
          <p:nvPr/>
        </p:nvSpPr>
        <p:spPr bwMode="auto">
          <a:xfrm>
            <a:off x="971550" y="260350"/>
            <a:ext cx="7540847" cy="769441"/>
          </a:xfrm>
          <a:prstGeom prst="rect">
            <a:avLst/>
          </a:prstGeom>
          <a:noFill/>
          <a:ln w="9525">
            <a:noFill/>
            <a:miter lim="800000"/>
            <a:headEnd/>
            <a:tailEnd/>
          </a:ln>
          <a:effectLst/>
        </p:spPr>
        <p:txBody>
          <a:bodyPr wrap="none">
            <a:spAutoFit/>
          </a:bodyPr>
          <a:lstStyle/>
          <a:p>
            <a:pPr eaLnBrk="1" hangingPunct="1"/>
            <a:r>
              <a:rPr lang="zh-CN" altLang="en-US" sz="4400" i="0" dirty="0">
                <a:solidFill>
                  <a:schemeClr val="tx2"/>
                </a:solidFill>
                <a:latin typeface="Tahoma" panose="020B0604030504040204" pitchFamily="34" charset="0"/>
                <a:ea typeface="隶书" pitchFamily="49" charset="-122"/>
              </a:rPr>
              <a:t>折半查找的平均查找长度分析</a:t>
            </a:r>
          </a:p>
        </p:txBody>
      </p:sp>
      <p:sp>
        <p:nvSpPr>
          <p:cNvPr id="26628" name="Oval 4"/>
          <p:cNvSpPr>
            <a:spLocks noChangeArrowheads="1"/>
          </p:cNvSpPr>
          <p:nvPr/>
        </p:nvSpPr>
        <p:spPr bwMode="auto">
          <a:xfrm>
            <a:off x="4617384" y="3352800"/>
            <a:ext cx="609600" cy="533400"/>
          </a:xfrm>
          <a:prstGeom prst="ellipse">
            <a:avLst/>
          </a:prstGeom>
          <a:solidFill>
            <a:srgbClr val="CCFFCC"/>
          </a:solidFill>
          <a:ln w="9525">
            <a:noFill/>
            <a:round/>
            <a:headEnd/>
            <a:tailEnd/>
          </a:ln>
          <a:effectLst/>
        </p:spPr>
        <p:txBody>
          <a:bodyPr wrap="none" anchor="ctr"/>
          <a:lstStyle/>
          <a:p>
            <a:pPr algn="ctr" eaLnBrk="1" hangingPunct="1"/>
            <a:r>
              <a:rPr lang="en-US" altLang="zh-CN" sz="2800" b="0" i="0" dirty="0">
                <a:solidFill>
                  <a:srgbClr val="006600"/>
                </a:solidFill>
                <a:latin typeface="+mn-ea"/>
                <a:ea typeface="+mn-ea"/>
              </a:rPr>
              <a:t>6</a:t>
            </a:r>
            <a:endParaRPr lang="en-US" altLang="zh-CN" sz="2800" b="0" i="0" dirty="0">
              <a:latin typeface="+mn-ea"/>
              <a:ea typeface="+mn-ea"/>
            </a:endParaRPr>
          </a:p>
        </p:txBody>
      </p:sp>
      <p:sp>
        <p:nvSpPr>
          <p:cNvPr id="26629" name="Oval 5"/>
          <p:cNvSpPr>
            <a:spLocks noChangeArrowheads="1"/>
          </p:cNvSpPr>
          <p:nvPr/>
        </p:nvSpPr>
        <p:spPr bwMode="auto">
          <a:xfrm>
            <a:off x="1645584" y="3810000"/>
            <a:ext cx="609600" cy="533400"/>
          </a:xfrm>
          <a:prstGeom prst="ellipse">
            <a:avLst/>
          </a:prstGeom>
          <a:solidFill>
            <a:srgbClr val="99CCFF"/>
          </a:solidFill>
          <a:ln w="9525">
            <a:noFill/>
            <a:round/>
            <a:headEnd/>
            <a:tailEnd/>
          </a:ln>
          <a:effectLst/>
        </p:spPr>
        <p:txBody>
          <a:bodyPr wrap="none" anchor="ctr"/>
          <a:lstStyle/>
          <a:p>
            <a:pPr algn="ctr" eaLnBrk="1" hangingPunct="1"/>
            <a:r>
              <a:rPr lang="en-US" altLang="zh-CN" sz="2800" b="0" i="0">
                <a:solidFill>
                  <a:schemeClr val="accent2"/>
                </a:solidFill>
                <a:latin typeface="+mn-ea"/>
                <a:ea typeface="+mn-ea"/>
              </a:rPr>
              <a:t>3</a:t>
            </a:r>
            <a:endParaRPr lang="en-US" altLang="zh-CN" sz="2800" b="0" i="0">
              <a:latin typeface="+mn-ea"/>
              <a:ea typeface="+mn-ea"/>
            </a:endParaRPr>
          </a:p>
        </p:txBody>
      </p:sp>
      <p:sp>
        <p:nvSpPr>
          <p:cNvPr id="26630" name="Oval 6"/>
          <p:cNvSpPr>
            <a:spLocks noChangeArrowheads="1"/>
          </p:cNvSpPr>
          <p:nvPr/>
        </p:nvSpPr>
        <p:spPr bwMode="auto">
          <a:xfrm>
            <a:off x="6750984" y="3810000"/>
            <a:ext cx="609600" cy="533400"/>
          </a:xfrm>
          <a:prstGeom prst="ellipse">
            <a:avLst/>
          </a:prstGeom>
          <a:solidFill>
            <a:srgbClr val="99CCFF"/>
          </a:solidFill>
          <a:ln w="9525">
            <a:noFill/>
            <a:round/>
            <a:headEnd/>
            <a:tailEnd/>
          </a:ln>
          <a:effectLst/>
        </p:spPr>
        <p:txBody>
          <a:bodyPr wrap="none" anchor="ctr"/>
          <a:lstStyle/>
          <a:p>
            <a:pPr algn="ctr" eaLnBrk="1" hangingPunct="1"/>
            <a:r>
              <a:rPr lang="en-US" altLang="zh-CN" sz="2800" b="0" i="0">
                <a:solidFill>
                  <a:schemeClr val="accent2"/>
                </a:solidFill>
                <a:latin typeface="+mn-ea"/>
                <a:ea typeface="+mn-ea"/>
              </a:rPr>
              <a:t>9</a:t>
            </a:r>
            <a:endParaRPr lang="en-US" altLang="zh-CN" sz="2800" b="0" i="0">
              <a:latin typeface="+mn-ea"/>
              <a:ea typeface="+mn-ea"/>
            </a:endParaRPr>
          </a:p>
        </p:txBody>
      </p:sp>
      <p:sp>
        <p:nvSpPr>
          <p:cNvPr id="26631" name="Oval 7"/>
          <p:cNvSpPr>
            <a:spLocks noChangeArrowheads="1"/>
          </p:cNvSpPr>
          <p:nvPr/>
        </p:nvSpPr>
        <p:spPr bwMode="auto">
          <a:xfrm>
            <a:off x="731184" y="4419600"/>
            <a:ext cx="609600" cy="533400"/>
          </a:xfrm>
          <a:prstGeom prst="ellipse">
            <a:avLst/>
          </a:prstGeom>
          <a:solidFill>
            <a:srgbClr val="FF99FF"/>
          </a:solidFill>
          <a:ln w="9525">
            <a:noFill/>
            <a:round/>
            <a:headEnd/>
            <a:tailEnd/>
          </a:ln>
          <a:effectLst/>
        </p:spPr>
        <p:txBody>
          <a:bodyPr wrap="none" anchor="ctr"/>
          <a:lstStyle/>
          <a:p>
            <a:pPr algn="ctr" eaLnBrk="1" hangingPunct="1"/>
            <a:r>
              <a:rPr lang="en-US" altLang="zh-CN" sz="2800" b="0" i="0">
                <a:solidFill>
                  <a:srgbClr val="FF00FF"/>
                </a:solidFill>
                <a:latin typeface="+mn-ea"/>
                <a:ea typeface="+mn-ea"/>
              </a:rPr>
              <a:t>1</a:t>
            </a:r>
            <a:endParaRPr lang="en-US" altLang="zh-CN" sz="2800" b="0" i="0">
              <a:latin typeface="+mn-ea"/>
              <a:ea typeface="+mn-ea"/>
            </a:endParaRPr>
          </a:p>
        </p:txBody>
      </p:sp>
      <p:sp>
        <p:nvSpPr>
          <p:cNvPr id="26632" name="Oval 8"/>
          <p:cNvSpPr>
            <a:spLocks noChangeArrowheads="1"/>
          </p:cNvSpPr>
          <p:nvPr/>
        </p:nvSpPr>
        <p:spPr bwMode="auto">
          <a:xfrm>
            <a:off x="2636184" y="4343400"/>
            <a:ext cx="609600" cy="533400"/>
          </a:xfrm>
          <a:prstGeom prst="ellipse">
            <a:avLst/>
          </a:prstGeom>
          <a:solidFill>
            <a:srgbClr val="FF99FF"/>
          </a:solidFill>
          <a:ln w="9525">
            <a:noFill/>
            <a:round/>
            <a:headEnd/>
            <a:tailEnd/>
          </a:ln>
          <a:effectLst/>
        </p:spPr>
        <p:txBody>
          <a:bodyPr wrap="none" anchor="ctr"/>
          <a:lstStyle/>
          <a:p>
            <a:pPr algn="ctr" eaLnBrk="1" hangingPunct="1"/>
            <a:r>
              <a:rPr lang="en-US" altLang="zh-CN" sz="2800" b="0" i="0">
                <a:solidFill>
                  <a:srgbClr val="FF00FF"/>
                </a:solidFill>
                <a:latin typeface="+mn-ea"/>
                <a:ea typeface="+mn-ea"/>
              </a:rPr>
              <a:t>4</a:t>
            </a:r>
            <a:endParaRPr lang="en-US" altLang="zh-CN" sz="2800" b="0" i="0">
              <a:latin typeface="+mn-ea"/>
              <a:ea typeface="+mn-ea"/>
            </a:endParaRPr>
          </a:p>
        </p:txBody>
      </p:sp>
      <p:sp>
        <p:nvSpPr>
          <p:cNvPr id="26633" name="Rectangle 9"/>
          <p:cNvSpPr>
            <a:spLocks noChangeArrowheads="1"/>
          </p:cNvSpPr>
          <p:nvPr/>
        </p:nvSpPr>
        <p:spPr bwMode="auto">
          <a:xfrm>
            <a:off x="578784" y="54864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34" name="Rectangle 10"/>
          <p:cNvSpPr>
            <a:spLocks noChangeArrowheads="1"/>
          </p:cNvSpPr>
          <p:nvPr/>
        </p:nvSpPr>
        <p:spPr bwMode="auto">
          <a:xfrm>
            <a:off x="14169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35" name="Rectangle 11"/>
          <p:cNvSpPr>
            <a:spLocks noChangeArrowheads="1"/>
          </p:cNvSpPr>
          <p:nvPr/>
        </p:nvSpPr>
        <p:spPr bwMode="auto">
          <a:xfrm>
            <a:off x="21789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36" name="Rectangle 12"/>
          <p:cNvSpPr>
            <a:spLocks noChangeArrowheads="1"/>
          </p:cNvSpPr>
          <p:nvPr/>
        </p:nvSpPr>
        <p:spPr bwMode="auto">
          <a:xfrm>
            <a:off x="2712384" y="52578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37" name="Rectangle 13"/>
          <p:cNvSpPr>
            <a:spLocks noChangeArrowheads="1"/>
          </p:cNvSpPr>
          <p:nvPr/>
        </p:nvSpPr>
        <p:spPr bwMode="auto">
          <a:xfrm>
            <a:off x="34743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38" name="Rectangle 14"/>
          <p:cNvSpPr>
            <a:spLocks noChangeArrowheads="1"/>
          </p:cNvSpPr>
          <p:nvPr/>
        </p:nvSpPr>
        <p:spPr bwMode="auto">
          <a:xfrm>
            <a:off x="42363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39" name="Rectangle 15"/>
          <p:cNvSpPr>
            <a:spLocks noChangeArrowheads="1"/>
          </p:cNvSpPr>
          <p:nvPr/>
        </p:nvSpPr>
        <p:spPr bwMode="auto">
          <a:xfrm>
            <a:off x="4922184" y="52578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40" name="Rectangle 16"/>
          <p:cNvSpPr>
            <a:spLocks noChangeArrowheads="1"/>
          </p:cNvSpPr>
          <p:nvPr/>
        </p:nvSpPr>
        <p:spPr bwMode="auto">
          <a:xfrm>
            <a:off x="57603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41" name="Rectangle 17"/>
          <p:cNvSpPr>
            <a:spLocks noChangeArrowheads="1"/>
          </p:cNvSpPr>
          <p:nvPr/>
        </p:nvSpPr>
        <p:spPr bwMode="auto">
          <a:xfrm>
            <a:off x="65223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42" name="Rectangle 18"/>
          <p:cNvSpPr>
            <a:spLocks noChangeArrowheads="1"/>
          </p:cNvSpPr>
          <p:nvPr/>
        </p:nvSpPr>
        <p:spPr bwMode="auto">
          <a:xfrm>
            <a:off x="7284384" y="52578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43" name="Rectangle 19"/>
          <p:cNvSpPr>
            <a:spLocks noChangeArrowheads="1"/>
          </p:cNvSpPr>
          <p:nvPr/>
        </p:nvSpPr>
        <p:spPr bwMode="auto">
          <a:xfrm>
            <a:off x="81987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44" name="Rectangle 20"/>
          <p:cNvSpPr>
            <a:spLocks noChangeArrowheads="1"/>
          </p:cNvSpPr>
          <p:nvPr/>
        </p:nvSpPr>
        <p:spPr bwMode="auto">
          <a:xfrm>
            <a:off x="8884584" y="5943600"/>
            <a:ext cx="304800" cy="457200"/>
          </a:xfrm>
          <a:prstGeom prst="rect">
            <a:avLst/>
          </a:prstGeom>
          <a:solidFill>
            <a:srgbClr val="FFCC99"/>
          </a:solidFill>
          <a:ln w="9525">
            <a:solidFill>
              <a:schemeClr val="tx1"/>
            </a:solidFill>
            <a:miter lim="800000"/>
            <a:headEnd/>
            <a:tailEnd/>
          </a:ln>
          <a:effectLst/>
        </p:spPr>
        <p:txBody>
          <a:bodyPr wrap="none" anchor="ctr"/>
          <a:lstStyle/>
          <a:p>
            <a:pPr eaLnBrk="1" hangingPunct="1"/>
            <a:endParaRPr lang="zh-CN" altLang="zh-CN" sz="2800" b="0" i="0">
              <a:latin typeface="+mn-ea"/>
              <a:ea typeface="+mn-ea"/>
            </a:endParaRPr>
          </a:p>
        </p:txBody>
      </p:sp>
      <p:sp>
        <p:nvSpPr>
          <p:cNvPr id="26645" name="Oval 21"/>
          <p:cNvSpPr>
            <a:spLocks noChangeArrowheads="1"/>
          </p:cNvSpPr>
          <p:nvPr/>
        </p:nvSpPr>
        <p:spPr bwMode="auto">
          <a:xfrm>
            <a:off x="1645584" y="5105400"/>
            <a:ext cx="609600" cy="533400"/>
          </a:xfrm>
          <a:prstGeom prst="ellipse">
            <a:avLst/>
          </a:prstGeom>
          <a:solidFill>
            <a:srgbClr val="9D9DFF"/>
          </a:solidFill>
          <a:ln w="9525">
            <a:noFill/>
            <a:round/>
            <a:headEnd/>
            <a:tailEnd/>
          </a:ln>
          <a:effectLst/>
        </p:spPr>
        <p:txBody>
          <a:bodyPr wrap="none" anchor="ctr"/>
          <a:lstStyle/>
          <a:p>
            <a:pPr algn="ctr" eaLnBrk="1" hangingPunct="1"/>
            <a:r>
              <a:rPr lang="en-US" altLang="zh-CN" sz="2800" b="0" i="0">
                <a:solidFill>
                  <a:srgbClr val="6600CC"/>
                </a:solidFill>
                <a:latin typeface="+mn-ea"/>
                <a:ea typeface="+mn-ea"/>
              </a:rPr>
              <a:t>2</a:t>
            </a:r>
            <a:endParaRPr lang="en-US" altLang="zh-CN" sz="2800" b="0" i="0">
              <a:latin typeface="+mn-ea"/>
              <a:ea typeface="+mn-ea"/>
            </a:endParaRPr>
          </a:p>
        </p:txBody>
      </p:sp>
      <p:sp>
        <p:nvSpPr>
          <p:cNvPr id="26646" name="Oval 22"/>
          <p:cNvSpPr>
            <a:spLocks noChangeArrowheads="1"/>
          </p:cNvSpPr>
          <p:nvPr/>
        </p:nvSpPr>
        <p:spPr bwMode="auto">
          <a:xfrm>
            <a:off x="3702984" y="5029200"/>
            <a:ext cx="609600" cy="533400"/>
          </a:xfrm>
          <a:prstGeom prst="ellipse">
            <a:avLst/>
          </a:prstGeom>
          <a:solidFill>
            <a:srgbClr val="9D9DFF"/>
          </a:solidFill>
          <a:ln w="9525">
            <a:noFill/>
            <a:round/>
            <a:headEnd/>
            <a:tailEnd/>
          </a:ln>
          <a:effectLst/>
        </p:spPr>
        <p:txBody>
          <a:bodyPr wrap="none" anchor="ctr"/>
          <a:lstStyle/>
          <a:p>
            <a:pPr algn="ctr" eaLnBrk="1" hangingPunct="1"/>
            <a:r>
              <a:rPr lang="en-US" altLang="zh-CN" sz="2800" b="0" i="0">
                <a:solidFill>
                  <a:srgbClr val="6600CC"/>
                </a:solidFill>
                <a:latin typeface="+mn-ea"/>
                <a:ea typeface="+mn-ea"/>
              </a:rPr>
              <a:t>5</a:t>
            </a:r>
            <a:endParaRPr lang="en-US" altLang="zh-CN" sz="2800" b="0" i="0">
              <a:latin typeface="+mn-ea"/>
              <a:ea typeface="+mn-ea"/>
            </a:endParaRPr>
          </a:p>
        </p:txBody>
      </p:sp>
      <p:sp>
        <p:nvSpPr>
          <p:cNvPr id="26647" name="Oval 23"/>
          <p:cNvSpPr>
            <a:spLocks noChangeArrowheads="1"/>
          </p:cNvSpPr>
          <p:nvPr/>
        </p:nvSpPr>
        <p:spPr bwMode="auto">
          <a:xfrm>
            <a:off x="5303184" y="4343400"/>
            <a:ext cx="609600" cy="533400"/>
          </a:xfrm>
          <a:prstGeom prst="ellipse">
            <a:avLst/>
          </a:prstGeom>
          <a:solidFill>
            <a:srgbClr val="FF99FF"/>
          </a:solidFill>
          <a:ln w="9525">
            <a:noFill/>
            <a:round/>
            <a:headEnd/>
            <a:tailEnd/>
          </a:ln>
          <a:effectLst/>
        </p:spPr>
        <p:txBody>
          <a:bodyPr wrap="none" anchor="ctr"/>
          <a:lstStyle/>
          <a:p>
            <a:pPr algn="ctr" eaLnBrk="1" hangingPunct="1"/>
            <a:r>
              <a:rPr lang="en-US" altLang="zh-CN" sz="2800" b="0" i="0">
                <a:solidFill>
                  <a:srgbClr val="FF00FF"/>
                </a:solidFill>
                <a:latin typeface="+mn-ea"/>
                <a:ea typeface="+mn-ea"/>
              </a:rPr>
              <a:t>7</a:t>
            </a:r>
            <a:endParaRPr lang="en-US" altLang="zh-CN" sz="2800" b="0" i="0">
              <a:latin typeface="+mn-ea"/>
              <a:ea typeface="+mn-ea"/>
            </a:endParaRPr>
          </a:p>
        </p:txBody>
      </p:sp>
      <p:sp>
        <p:nvSpPr>
          <p:cNvPr id="26648" name="Oval 24"/>
          <p:cNvSpPr>
            <a:spLocks noChangeArrowheads="1"/>
          </p:cNvSpPr>
          <p:nvPr/>
        </p:nvSpPr>
        <p:spPr bwMode="auto">
          <a:xfrm>
            <a:off x="5988984" y="5029200"/>
            <a:ext cx="609600" cy="533400"/>
          </a:xfrm>
          <a:prstGeom prst="ellipse">
            <a:avLst/>
          </a:prstGeom>
          <a:solidFill>
            <a:srgbClr val="9D9DFF"/>
          </a:solidFill>
          <a:ln w="9525">
            <a:noFill/>
            <a:round/>
            <a:headEnd/>
            <a:tailEnd/>
          </a:ln>
          <a:effectLst/>
        </p:spPr>
        <p:txBody>
          <a:bodyPr wrap="none" anchor="ctr"/>
          <a:lstStyle/>
          <a:p>
            <a:pPr algn="ctr" eaLnBrk="1" hangingPunct="1"/>
            <a:r>
              <a:rPr lang="en-US" altLang="zh-CN" sz="2800" b="0" i="0">
                <a:solidFill>
                  <a:srgbClr val="6600CC"/>
                </a:solidFill>
                <a:latin typeface="+mn-ea"/>
                <a:ea typeface="+mn-ea"/>
              </a:rPr>
              <a:t>8</a:t>
            </a:r>
            <a:endParaRPr lang="en-US" altLang="zh-CN" sz="2800" b="0" i="0">
              <a:latin typeface="+mn-ea"/>
              <a:ea typeface="+mn-ea"/>
            </a:endParaRPr>
          </a:p>
        </p:txBody>
      </p:sp>
      <p:sp>
        <p:nvSpPr>
          <p:cNvPr id="26649" name="Oval 25"/>
          <p:cNvSpPr>
            <a:spLocks noChangeArrowheads="1"/>
          </p:cNvSpPr>
          <p:nvPr/>
        </p:nvSpPr>
        <p:spPr bwMode="auto">
          <a:xfrm>
            <a:off x="7665384" y="4419600"/>
            <a:ext cx="609600" cy="533400"/>
          </a:xfrm>
          <a:prstGeom prst="ellipse">
            <a:avLst/>
          </a:prstGeom>
          <a:solidFill>
            <a:srgbClr val="FF99FF"/>
          </a:solidFill>
          <a:ln w="9525">
            <a:noFill/>
            <a:round/>
            <a:headEnd/>
            <a:tailEnd/>
          </a:ln>
          <a:effectLst/>
        </p:spPr>
        <p:txBody>
          <a:bodyPr wrap="none" anchor="ctr"/>
          <a:lstStyle/>
          <a:p>
            <a:pPr algn="ctr" eaLnBrk="1" hangingPunct="1"/>
            <a:r>
              <a:rPr lang="en-US" altLang="zh-CN" sz="2800" b="0" i="0">
                <a:solidFill>
                  <a:srgbClr val="FF00FF"/>
                </a:solidFill>
                <a:latin typeface="+mn-ea"/>
                <a:ea typeface="+mn-ea"/>
              </a:rPr>
              <a:t>10</a:t>
            </a:r>
            <a:endParaRPr lang="en-US" altLang="zh-CN" sz="2800" b="0" i="0">
              <a:latin typeface="+mn-ea"/>
              <a:ea typeface="+mn-ea"/>
            </a:endParaRPr>
          </a:p>
        </p:txBody>
      </p:sp>
      <p:sp>
        <p:nvSpPr>
          <p:cNvPr id="26650" name="Oval 26"/>
          <p:cNvSpPr>
            <a:spLocks noChangeArrowheads="1"/>
          </p:cNvSpPr>
          <p:nvPr/>
        </p:nvSpPr>
        <p:spPr bwMode="auto">
          <a:xfrm>
            <a:off x="8351184" y="5105400"/>
            <a:ext cx="609600" cy="533400"/>
          </a:xfrm>
          <a:prstGeom prst="ellipse">
            <a:avLst/>
          </a:prstGeom>
          <a:solidFill>
            <a:srgbClr val="9D9DFF"/>
          </a:solidFill>
          <a:ln w="9525">
            <a:noFill/>
            <a:round/>
            <a:headEnd/>
            <a:tailEnd/>
          </a:ln>
          <a:effectLst/>
        </p:spPr>
        <p:txBody>
          <a:bodyPr wrap="none" anchor="ctr"/>
          <a:lstStyle/>
          <a:p>
            <a:pPr algn="ctr" eaLnBrk="1" hangingPunct="1"/>
            <a:r>
              <a:rPr lang="en-US" altLang="zh-CN" sz="2800" b="0" i="0">
                <a:solidFill>
                  <a:srgbClr val="6600CC"/>
                </a:solidFill>
                <a:latin typeface="+mn-ea"/>
                <a:ea typeface="+mn-ea"/>
              </a:rPr>
              <a:t>11</a:t>
            </a:r>
            <a:endParaRPr lang="en-US" altLang="zh-CN" sz="2800" b="0" i="0">
              <a:latin typeface="+mn-ea"/>
              <a:ea typeface="+mn-ea"/>
            </a:endParaRPr>
          </a:p>
        </p:txBody>
      </p:sp>
      <p:sp>
        <p:nvSpPr>
          <p:cNvPr id="26651" name="Line 27"/>
          <p:cNvSpPr>
            <a:spLocks noChangeShapeType="1"/>
          </p:cNvSpPr>
          <p:nvPr/>
        </p:nvSpPr>
        <p:spPr bwMode="auto">
          <a:xfrm flipH="1">
            <a:off x="2255184" y="3657600"/>
            <a:ext cx="22860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2" name="Line 28"/>
          <p:cNvSpPr>
            <a:spLocks noChangeShapeType="1"/>
          </p:cNvSpPr>
          <p:nvPr/>
        </p:nvSpPr>
        <p:spPr bwMode="auto">
          <a:xfrm>
            <a:off x="5303184" y="3657600"/>
            <a:ext cx="1524000" cy="228600"/>
          </a:xfrm>
          <a:prstGeom prst="line">
            <a:avLst/>
          </a:prstGeom>
          <a:noFill/>
          <a:ln w="28575">
            <a:solidFill>
              <a:schemeClr val="accent2"/>
            </a:solidFill>
            <a:round/>
            <a:headEnd/>
            <a:tailEnd/>
          </a:ln>
          <a:effectLst/>
        </p:spPr>
        <p:txBody>
          <a:bodyPr wrap="none" anchor="ctr"/>
          <a:lstStyle/>
          <a:p>
            <a:endParaRPr lang="zh-CN" altLang="en-US" sz="2800" b="0" i="0">
              <a:latin typeface="+mn-ea"/>
              <a:ea typeface="+mn-ea"/>
            </a:endParaRPr>
          </a:p>
        </p:txBody>
      </p:sp>
      <p:sp>
        <p:nvSpPr>
          <p:cNvPr id="26653" name="Line 29"/>
          <p:cNvSpPr>
            <a:spLocks noChangeShapeType="1"/>
          </p:cNvSpPr>
          <p:nvPr/>
        </p:nvSpPr>
        <p:spPr bwMode="auto">
          <a:xfrm flipH="1">
            <a:off x="1264584" y="4267200"/>
            <a:ext cx="381000" cy="2286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4" name="Line 30"/>
          <p:cNvSpPr>
            <a:spLocks noChangeShapeType="1"/>
          </p:cNvSpPr>
          <p:nvPr/>
        </p:nvSpPr>
        <p:spPr bwMode="auto">
          <a:xfrm flipH="1">
            <a:off x="731184" y="4953000"/>
            <a:ext cx="152400" cy="5334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5" name="Line 31"/>
          <p:cNvSpPr>
            <a:spLocks noChangeShapeType="1"/>
          </p:cNvSpPr>
          <p:nvPr/>
        </p:nvSpPr>
        <p:spPr bwMode="auto">
          <a:xfrm>
            <a:off x="1340784" y="4800600"/>
            <a:ext cx="3810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6" name="Line 32"/>
          <p:cNvSpPr>
            <a:spLocks noChangeShapeType="1"/>
          </p:cNvSpPr>
          <p:nvPr/>
        </p:nvSpPr>
        <p:spPr bwMode="auto">
          <a:xfrm flipH="1">
            <a:off x="1569384" y="5562600"/>
            <a:ext cx="1524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7" name="Line 33"/>
          <p:cNvSpPr>
            <a:spLocks noChangeShapeType="1"/>
          </p:cNvSpPr>
          <p:nvPr/>
        </p:nvSpPr>
        <p:spPr bwMode="auto">
          <a:xfrm>
            <a:off x="2178984" y="5562600"/>
            <a:ext cx="1524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8" name="Line 34"/>
          <p:cNvSpPr>
            <a:spLocks noChangeShapeType="1"/>
          </p:cNvSpPr>
          <p:nvPr/>
        </p:nvSpPr>
        <p:spPr bwMode="auto">
          <a:xfrm>
            <a:off x="2178984" y="4267200"/>
            <a:ext cx="457200" cy="1524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59" name="Line 35"/>
          <p:cNvSpPr>
            <a:spLocks noChangeShapeType="1"/>
          </p:cNvSpPr>
          <p:nvPr/>
        </p:nvSpPr>
        <p:spPr bwMode="auto">
          <a:xfrm>
            <a:off x="2864784" y="4876800"/>
            <a:ext cx="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0" name="Line 36"/>
          <p:cNvSpPr>
            <a:spLocks noChangeShapeType="1"/>
          </p:cNvSpPr>
          <p:nvPr/>
        </p:nvSpPr>
        <p:spPr bwMode="auto">
          <a:xfrm>
            <a:off x="4160184" y="5486400"/>
            <a:ext cx="228600" cy="4572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1" name="Line 37"/>
          <p:cNvSpPr>
            <a:spLocks noChangeShapeType="1"/>
          </p:cNvSpPr>
          <p:nvPr/>
        </p:nvSpPr>
        <p:spPr bwMode="auto">
          <a:xfrm>
            <a:off x="3245784" y="4724400"/>
            <a:ext cx="5334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2" name="Line 38"/>
          <p:cNvSpPr>
            <a:spLocks noChangeShapeType="1"/>
          </p:cNvSpPr>
          <p:nvPr/>
        </p:nvSpPr>
        <p:spPr bwMode="auto">
          <a:xfrm flipH="1">
            <a:off x="3626784" y="5486400"/>
            <a:ext cx="152400" cy="4572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3" name="Line 39"/>
          <p:cNvSpPr>
            <a:spLocks noChangeShapeType="1"/>
          </p:cNvSpPr>
          <p:nvPr/>
        </p:nvSpPr>
        <p:spPr bwMode="auto">
          <a:xfrm flipH="1">
            <a:off x="5836584" y="4038600"/>
            <a:ext cx="914400" cy="4572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4" name="Line 40"/>
          <p:cNvSpPr>
            <a:spLocks noChangeShapeType="1"/>
          </p:cNvSpPr>
          <p:nvPr/>
        </p:nvSpPr>
        <p:spPr bwMode="auto">
          <a:xfrm flipH="1">
            <a:off x="5074584" y="4800600"/>
            <a:ext cx="304800" cy="4572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5" name="Line 41"/>
          <p:cNvSpPr>
            <a:spLocks noChangeShapeType="1"/>
          </p:cNvSpPr>
          <p:nvPr/>
        </p:nvSpPr>
        <p:spPr bwMode="auto">
          <a:xfrm>
            <a:off x="5836584" y="4800600"/>
            <a:ext cx="304800" cy="2286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6" name="Line 42"/>
          <p:cNvSpPr>
            <a:spLocks noChangeShapeType="1"/>
          </p:cNvSpPr>
          <p:nvPr/>
        </p:nvSpPr>
        <p:spPr bwMode="auto">
          <a:xfrm flipH="1">
            <a:off x="5988984" y="5562600"/>
            <a:ext cx="1524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7" name="Line 43"/>
          <p:cNvSpPr>
            <a:spLocks noChangeShapeType="1"/>
          </p:cNvSpPr>
          <p:nvPr/>
        </p:nvSpPr>
        <p:spPr bwMode="auto">
          <a:xfrm>
            <a:off x="6446184" y="5562600"/>
            <a:ext cx="2286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8" name="Line 44"/>
          <p:cNvSpPr>
            <a:spLocks noChangeShapeType="1"/>
          </p:cNvSpPr>
          <p:nvPr/>
        </p:nvSpPr>
        <p:spPr bwMode="auto">
          <a:xfrm>
            <a:off x="7360584" y="4114800"/>
            <a:ext cx="533400" cy="3048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69" name="Line 45"/>
          <p:cNvSpPr>
            <a:spLocks noChangeShapeType="1"/>
          </p:cNvSpPr>
          <p:nvPr/>
        </p:nvSpPr>
        <p:spPr bwMode="auto">
          <a:xfrm flipH="1">
            <a:off x="7436784" y="4876800"/>
            <a:ext cx="304800" cy="3810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70" name="Line 46"/>
          <p:cNvSpPr>
            <a:spLocks noChangeShapeType="1"/>
          </p:cNvSpPr>
          <p:nvPr/>
        </p:nvSpPr>
        <p:spPr bwMode="auto">
          <a:xfrm>
            <a:off x="8274984" y="4800600"/>
            <a:ext cx="304800" cy="3048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71" name="Line 47"/>
          <p:cNvSpPr>
            <a:spLocks noChangeShapeType="1"/>
          </p:cNvSpPr>
          <p:nvPr/>
        </p:nvSpPr>
        <p:spPr bwMode="auto">
          <a:xfrm flipH="1">
            <a:off x="8351184" y="5638800"/>
            <a:ext cx="152400" cy="304800"/>
          </a:xfrm>
          <a:prstGeom prst="line">
            <a:avLst/>
          </a:prstGeom>
          <a:noFill/>
          <a:ln w="28575">
            <a:solidFill>
              <a:schemeClr val="accent2"/>
            </a:solidFill>
            <a:round/>
            <a:headEnd/>
            <a:tailEnd/>
          </a:ln>
          <a:effectLst/>
        </p:spPr>
        <p:txBody>
          <a:bodyPr wrap="none" anchor="ctr"/>
          <a:lstStyle/>
          <a:p>
            <a:endParaRPr lang="zh-CN" altLang="en-US" sz="2800" b="0" i="0">
              <a:latin typeface="+mn-ea"/>
              <a:ea typeface="+mn-ea"/>
            </a:endParaRPr>
          </a:p>
        </p:txBody>
      </p:sp>
      <p:sp>
        <p:nvSpPr>
          <p:cNvPr id="26672" name="Line 48"/>
          <p:cNvSpPr>
            <a:spLocks noChangeShapeType="1"/>
          </p:cNvSpPr>
          <p:nvPr/>
        </p:nvSpPr>
        <p:spPr bwMode="auto">
          <a:xfrm>
            <a:off x="8808384" y="5638800"/>
            <a:ext cx="152400" cy="304800"/>
          </a:xfrm>
          <a:prstGeom prst="line">
            <a:avLst/>
          </a:prstGeom>
          <a:noFill/>
          <a:ln w="38100">
            <a:solidFill>
              <a:schemeClr val="accent2"/>
            </a:solidFill>
            <a:round/>
            <a:headEnd/>
            <a:tailEnd/>
          </a:ln>
          <a:effectLst/>
        </p:spPr>
        <p:txBody>
          <a:bodyPr wrap="none" anchor="ctr"/>
          <a:lstStyle/>
          <a:p>
            <a:endParaRPr lang="zh-CN" altLang="en-US" sz="2800" b="0" i="0">
              <a:latin typeface="+mn-ea"/>
              <a:ea typeface="+mn-ea"/>
            </a:endParaRPr>
          </a:p>
        </p:txBody>
      </p:sp>
      <p:sp>
        <p:nvSpPr>
          <p:cNvPr id="26673" name="Text Box 49"/>
          <p:cNvSpPr txBox="1">
            <a:spLocks noChangeArrowheads="1"/>
          </p:cNvSpPr>
          <p:nvPr/>
        </p:nvSpPr>
        <p:spPr bwMode="auto">
          <a:xfrm>
            <a:off x="7831938" y="3453825"/>
            <a:ext cx="1266693" cy="523220"/>
          </a:xfrm>
          <a:prstGeom prst="rect">
            <a:avLst/>
          </a:prstGeom>
          <a:noFill/>
          <a:ln w="9525">
            <a:noFill/>
            <a:miter lim="800000"/>
            <a:headEnd/>
            <a:tailEnd/>
          </a:ln>
          <a:effectLst/>
        </p:spPr>
        <p:txBody>
          <a:bodyPr wrap="none">
            <a:spAutoFit/>
          </a:bodyPr>
          <a:lstStyle/>
          <a:p>
            <a:pPr eaLnBrk="1" hangingPunct="1"/>
            <a:r>
              <a:rPr lang="zh-CN" altLang="en-US" sz="2800" b="0" i="0" dirty="0">
                <a:solidFill>
                  <a:srgbClr val="00006C"/>
                </a:solidFill>
                <a:latin typeface="+mn-ea"/>
                <a:ea typeface="+mn-ea"/>
              </a:rPr>
              <a:t>判定树</a:t>
            </a:r>
            <a:endParaRPr lang="zh-CN" altLang="en-US" sz="2800" b="0" i="0" dirty="0">
              <a:latin typeface="+mn-ea"/>
              <a:ea typeface="+mn-ea"/>
            </a:endParaRPr>
          </a:p>
        </p:txBody>
      </p:sp>
      <p:graphicFrame>
        <p:nvGraphicFramePr>
          <p:cNvPr id="26674" name="Object 50"/>
          <p:cNvGraphicFramePr>
            <a:graphicFrameLocks noChangeAspect="1"/>
          </p:cNvGraphicFramePr>
          <p:nvPr>
            <p:extLst>
              <p:ext uri="{D42A27DB-BD31-4B8C-83A1-F6EECF244321}">
                <p14:modId xmlns:p14="http://schemas.microsoft.com/office/powerpoint/2010/main" val="348127565"/>
              </p:ext>
            </p:extLst>
          </p:nvPr>
        </p:nvGraphicFramePr>
        <p:xfrm>
          <a:off x="520700" y="1807346"/>
          <a:ext cx="8407400" cy="1691948"/>
        </p:xfrm>
        <a:graphic>
          <a:graphicData uri="http://schemas.openxmlformats.org/presentationml/2006/ole">
            <mc:AlternateContent xmlns:mc="http://schemas.openxmlformats.org/markup-compatibility/2006">
              <mc:Choice xmlns:v="urn:schemas-microsoft-com:vml" Requires="v">
                <p:oleObj r:id="rId2" imgW="8503560" imgH="1799280" progId="Word.Document.8">
                  <p:embed/>
                </p:oleObj>
              </mc:Choice>
              <mc:Fallback>
                <p:oleObj r:id="rId2" imgW="8503560" imgH="1799280" progId="Word.Document.8">
                  <p:embed/>
                  <p:pic>
                    <p:nvPicPr>
                      <p:cNvPr id="0" name="Object 5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700" y="1807346"/>
                        <a:ext cx="8407400" cy="1691948"/>
                      </a:xfrm>
                      <a:prstGeom prst="rect">
                        <a:avLst/>
                      </a:prstGeom>
                      <a:noFill/>
                    </p:spPr>
                  </p:pic>
                </p:oleObj>
              </mc:Fallback>
            </mc:AlternateContent>
          </a:graphicData>
        </a:graphic>
      </p:graphicFrame>
      <p:sp>
        <p:nvSpPr>
          <p:cNvPr id="26675" name="Text Box 51"/>
          <p:cNvSpPr txBox="1">
            <a:spLocks noChangeArrowheads="1"/>
          </p:cNvSpPr>
          <p:nvPr/>
        </p:nvSpPr>
        <p:spPr bwMode="auto">
          <a:xfrm>
            <a:off x="4761886" y="2720401"/>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chemeClr val="accent1"/>
                </a:solidFill>
                <a:latin typeface="+mn-ea"/>
                <a:ea typeface="+mn-ea"/>
              </a:rPr>
              <a:t>1</a:t>
            </a:r>
            <a:endParaRPr lang="en-US" altLang="zh-CN" sz="3200" b="0" i="0" dirty="0">
              <a:latin typeface="+mn-ea"/>
              <a:ea typeface="+mn-ea"/>
            </a:endParaRPr>
          </a:p>
        </p:txBody>
      </p:sp>
      <p:sp>
        <p:nvSpPr>
          <p:cNvPr id="26676" name="Text Box 52"/>
          <p:cNvSpPr txBox="1">
            <a:spLocks noChangeArrowheads="1"/>
          </p:cNvSpPr>
          <p:nvPr/>
        </p:nvSpPr>
        <p:spPr bwMode="auto">
          <a:xfrm>
            <a:off x="2727544" y="2729925"/>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chemeClr val="accent2"/>
                </a:solidFill>
                <a:latin typeface="+mn-ea"/>
                <a:ea typeface="+mn-ea"/>
              </a:rPr>
              <a:t>2</a:t>
            </a:r>
            <a:endParaRPr lang="en-US" altLang="zh-CN" sz="3200" b="0" i="0" dirty="0">
              <a:latin typeface="+mn-ea"/>
              <a:ea typeface="+mn-ea"/>
            </a:endParaRPr>
          </a:p>
        </p:txBody>
      </p:sp>
      <p:sp>
        <p:nvSpPr>
          <p:cNvPr id="26677" name="Text Box 53"/>
          <p:cNvSpPr txBox="1">
            <a:spLocks noChangeArrowheads="1"/>
          </p:cNvSpPr>
          <p:nvPr/>
        </p:nvSpPr>
        <p:spPr bwMode="auto">
          <a:xfrm>
            <a:off x="6783218" y="2720401"/>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chemeClr val="accent2"/>
                </a:solidFill>
                <a:latin typeface="+mn-ea"/>
                <a:ea typeface="+mn-ea"/>
              </a:rPr>
              <a:t>2</a:t>
            </a:r>
            <a:endParaRPr lang="en-US" altLang="zh-CN" sz="3200" b="0" i="0" dirty="0">
              <a:latin typeface="+mn-ea"/>
              <a:ea typeface="+mn-ea"/>
            </a:endParaRPr>
          </a:p>
        </p:txBody>
      </p:sp>
      <p:sp>
        <p:nvSpPr>
          <p:cNvPr id="26678" name="Text Box 54"/>
          <p:cNvSpPr txBox="1">
            <a:spLocks noChangeArrowheads="1"/>
          </p:cNvSpPr>
          <p:nvPr/>
        </p:nvSpPr>
        <p:spPr bwMode="auto">
          <a:xfrm>
            <a:off x="1308100" y="2720401"/>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rgbClr val="FF00FF"/>
                </a:solidFill>
                <a:latin typeface="+mn-ea"/>
                <a:ea typeface="+mn-ea"/>
              </a:rPr>
              <a:t>3</a:t>
            </a:r>
            <a:endParaRPr lang="en-US" altLang="zh-CN" sz="3200" b="0" i="0" dirty="0">
              <a:latin typeface="+mn-ea"/>
              <a:ea typeface="+mn-ea"/>
            </a:endParaRPr>
          </a:p>
        </p:txBody>
      </p:sp>
      <p:sp>
        <p:nvSpPr>
          <p:cNvPr id="26679" name="Text Box 55"/>
          <p:cNvSpPr txBox="1">
            <a:spLocks noChangeArrowheads="1"/>
          </p:cNvSpPr>
          <p:nvPr/>
        </p:nvSpPr>
        <p:spPr bwMode="auto">
          <a:xfrm>
            <a:off x="3413344" y="2690964"/>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rgbClr val="FF00FF"/>
                </a:solidFill>
                <a:latin typeface="+mn-ea"/>
                <a:ea typeface="+mn-ea"/>
              </a:rPr>
              <a:t>3</a:t>
            </a:r>
            <a:endParaRPr lang="en-US" altLang="zh-CN" sz="3200" b="0" i="0" dirty="0">
              <a:latin typeface="+mn-ea"/>
              <a:ea typeface="+mn-ea"/>
            </a:endParaRPr>
          </a:p>
        </p:txBody>
      </p:sp>
      <p:sp>
        <p:nvSpPr>
          <p:cNvPr id="26680" name="Text Box 56"/>
          <p:cNvSpPr txBox="1">
            <a:spLocks noChangeArrowheads="1"/>
          </p:cNvSpPr>
          <p:nvPr/>
        </p:nvSpPr>
        <p:spPr bwMode="auto">
          <a:xfrm>
            <a:off x="5442873" y="2774667"/>
            <a:ext cx="364202" cy="523220"/>
          </a:xfrm>
          <a:prstGeom prst="rect">
            <a:avLst/>
          </a:prstGeom>
          <a:noFill/>
          <a:ln w="9525">
            <a:noFill/>
            <a:miter lim="800000"/>
            <a:headEnd/>
            <a:tailEnd/>
          </a:ln>
          <a:effectLst/>
        </p:spPr>
        <p:txBody>
          <a:bodyPr wrap="none">
            <a:spAutoFit/>
          </a:bodyPr>
          <a:lstStyle/>
          <a:p>
            <a:pPr eaLnBrk="1" hangingPunct="1"/>
            <a:r>
              <a:rPr lang="en-US" altLang="zh-CN" sz="2800" b="0" i="0" dirty="0">
                <a:solidFill>
                  <a:srgbClr val="FF00FF"/>
                </a:solidFill>
                <a:latin typeface="+mn-ea"/>
                <a:ea typeface="+mn-ea"/>
              </a:rPr>
              <a:t>3</a:t>
            </a:r>
            <a:endParaRPr lang="en-US" altLang="zh-CN" sz="2800" b="0" i="0" dirty="0">
              <a:latin typeface="+mn-ea"/>
              <a:ea typeface="+mn-ea"/>
            </a:endParaRPr>
          </a:p>
        </p:txBody>
      </p:sp>
      <p:sp>
        <p:nvSpPr>
          <p:cNvPr id="26681" name="Text Box 57"/>
          <p:cNvSpPr txBox="1">
            <a:spLocks noChangeArrowheads="1"/>
          </p:cNvSpPr>
          <p:nvPr/>
        </p:nvSpPr>
        <p:spPr bwMode="auto">
          <a:xfrm>
            <a:off x="7521171" y="2729925"/>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rgbClr val="FF00FF"/>
                </a:solidFill>
                <a:latin typeface="+mn-ea"/>
                <a:ea typeface="+mn-ea"/>
              </a:rPr>
              <a:t>3</a:t>
            </a:r>
            <a:endParaRPr lang="en-US" altLang="zh-CN" sz="3200" b="0" i="0" dirty="0">
              <a:latin typeface="+mn-ea"/>
              <a:ea typeface="+mn-ea"/>
            </a:endParaRPr>
          </a:p>
        </p:txBody>
      </p:sp>
      <p:sp>
        <p:nvSpPr>
          <p:cNvPr id="26682" name="Text Box 58"/>
          <p:cNvSpPr txBox="1">
            <a:spLocks noChangeArrowheads="1"/>
          </p:cNvSpPr>
          <p:nvPr/>
        </p:nvSpPr>
        <p:spPr bwMode="auto">
          <a:xfrm>
            <a:off x="1965325" y="2787650"/>
            <a:ext cx="364202" cy="523220"/>
          </a:xfrm>
          <a:prstGeom prst="rect">
            <a:avLst/>
          </a:prstGeom>
          <a:noFill/>
          <a:ln w="9525">
            <a:noFill/>
            <a:miter lim="800000"/>
            <a:headEnd/>
            <a:tailEnd/>
          </a:ln>
          <a:effectLst/>
        </p:spPr>
        <p:txBody>
          <a:bodyPr wrap="none">
            <a:spAutoFit/>
          </a:bodyPr>
          <a:lstStyle/>
          <a:p>
            <a:pPr eaLnBrk="1" hangingPunct="1"/>
            <a:r>
              <a:rPr lang="en-US" altLang="zh-CN" sz="2800" b="0" i="0" dirty="0">
                <a:solidFill>
                  <a:srgbClr val="9D9DFF"/>
                </a:solidFill>
                <a:latin typeface="+mn-ea"/>
                <a:ea typeface="+mn-ea"/>
              </a:rPr>
              <a:t>4</a:t>
            </a:r>
            <a:endParaRPr lang="en-US" altLang="zh-CN" sz="2800" b="0" i="0" dirty="0">
              <a:latin typeface="+mn-ea"/>
              <a:ea typeface="+mn-ea"/>
            </a:endParaRPr>
          </a:p>
        </p:txBody>
      </p:sp>
      <p:sp>
        <p:nvSpPr>
          <p:cNvPr id="26683" name="Text Box 59"/>
          <p:cNvSpPr txBox="1">
            <a:spLocks noChangeArrowheads="1"/>
          </p:cNvSpPr>
          <p:nvPr/>
        </p:nvSpPr>
        <p:spPr bwMode="auto">
          <a:xfrm>
            <a:off x="4051300" y="2701637"/>
            <a:ext cx="391454"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rgbClr val="9D9DFF"/>
                </a:solidFill>
                <a:latin typeface="+mn-ea"/>
                <a:ea typeface="+mn-ea"/>
              </a:rPr>
              <a:t>4</a:t>
            </a:r>
            <a:endParaRPr lang="en-US" altLang="zh-CN" sz="3200" b="0" i="0" dirty="0">
              <a:latin typeface="+mn-ea"/>
              <a:ea typeface="+mn-ea"/>
            </a:endParaRPr>
          </a:p>
        </p:txBody>
      </p:sp>
      <p:sp>
        <p:nvSpPr>
          <p:cNvPr id="26684" name="Text Box 60"/>
          <p:cNvSpPr txBox="1">
            <a:spLocks noChangeArrowheads="1"/>
          </p:cNvSpPr>
          <p:nvPr/>
        </p:nvSpPr>
        <p:spPr bwMode="auto">
          <a:xfrm>
            <a:off x="6114242" y="2699650"/>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rgbClr val="9D9DFF"/>
                </a:solidFill>
                <a:latin typeface="+mn-ea"/>
                <a:ea typeface="+mn-ea"/>
              </a:rPr>
              <a:t>4</a:t>
            </a:r>
            <a:endParaRPr lang="en-US" altLang="zh-CN" sz="3200" b="0" i="0" dirty="0">
              <a:latin typeface="+mn-ea"/>
              <a:ea typeface="+mn-ea"/>
            </a:endParaRPr>
          </a:p>
        </p:txBody>
      </p:sp>
      <p:sp>
        <p:nvSpPr>
          <p:cNvPr id="26685" name="Text Box 61"/>
          <p:cNvSpPr txBox="1">
            <a:spLocks noChangeArrowheads="1"/>
          </p:cNvSpPr>
          <p:nvPr/>
        </p:nvSpPr>
        <p:spPr bwMode="auto">
          <a:xfrm>
            <a:off x="8138205" y="2756872"/>
            <a:ext cx="389850" cy="584775"/>
          </a:xfrm>
          <a:prstGeom prst="rect">
            <a:avLst/>
          </a:prstGeom>
          <a:noFill/>
          <a:ln w="9525">
            <a:noFill/>
            <a:miter lim="800000"/>
            <a:headEnd/>
            <a:tailEnd/>
          </a:ln>
          <a:effectLst/>
        </p:spPr>
        <p:txBody>
          <a:bodyPr wrap="none">
            <a:spAutoFit/>
          </a:bodyPr>
          <a:lstStyle/>
          <a:p>
            <a:pPr eaLnBrk="1" hangingPunct="1"/>
            <a:r>
              <a:rPr lang="en-US" altLang="zh-CN" sz="3200" b="0" i="0" dirty="0">
                <a:solidFill>
                  <a:srgbClr val="9D9DFF"/>
                </a:solidFill>
                <a:latin typeface="+mn-ea"/>
                <a:ea typeface="+mn-ea"/>
              </a:rPr>
              <a:t>4</a:t>
            </a:r>
            <a:endParaRPr lang="en-US" altLang="zh-CN" sz="3200" b="0" i="0" dirty="0">
              <a:latin typeface="+mn-ea"/>
              <a:ea typeface="+mn-ea"/>
            </a:endParaRPr>
          </a:p>
        </p:txBody>
      </p:sp>
    </p:spTree>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6627"/>
                                        </p:tgtEl>
                                        <p:attrNameLst>
                                          <p:attrName>style.visibility</p:attrName>
                                        </p:attrNameLst>
                                      </p:cBhvr>
                                      <p:to>
                                        <p:strVal val="visible"/>
                                      </p:to>
                                    </p:set>
                                    <p:anim calcmode="lin" valueType="num">
                                      <p:cBhvr additive="base">
                                        <p:cTn id="7" dur="500" fill="hold"/>
                                        <p:tgtEl>
                                          <p:spTgt spid="26627"/>
                                        </p:tgtEl>
                                        <p:attrNameLst>
                                          <p:attrName>ppt_x</p:attrName>
                                        </p:attrNameLst>
                                      </p:cBhvr>
                                      <p:tavLst>
                                        <p:tav tm="0">
                                          <p:val>
                                            <p:strVal val="0-#ppt_w/2"/>
                                          </p:val>
                                        </p:tav>
                                        <p:tav tm="100000">
                                          <p:val>
                                            <p:strVal val="#ppt_x"/>
                                          </p:val>
                                        </p:tav>
                                      </p:tavLst>
                                    </p:anim>
                                    <p:anim calcmode="lin" valueType="num">
                                      <p:cBhvr additive="base">
                                        <p:cTn id="8" dur="500" fill="hold"/>
                                        <p:tgtEl>
                                          <p:spTgt spid="26627"/>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6626"/>
                                        </p:tgtEl>
                                        <p:attrNameLst>
                                          <p:attrName>style.visibility</p:attrName>
                                        </p:attrNameLst>
                                      </p:cBhvr>
                                      <p:to>
                                        <p:strVal val="visible"/>
                                      </p:to>
                                    </p:set>
                                    <p:animEffect transition="in" filter="blinds(horizontal)">
                                      <p:cBhvr>
                                        <p:cTn id="13" dur="500"/>
                                        <p:tgtEl>
                                          <p:spTgt spid="2662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nodeType="clickEffect">
                                  <p:stCondLst>
                                    <p:cond delay="0"/>
                                  </p:stCondLst>
                                  <p:childTnLst>
                                    <p:set>
                                      <p:cBhvr>
                                        <p:cTn id="17" dur="1" fill="hold">
                                          <p:stCondLst>
                                            <p:cond delay="0"/>
                                          </p:stCondLst>
                                        </p:cTn>
                                        <p:tgtEl>
                                          <p:spTgt spid="26674"/>
                                        </p:tgtEl>
                                        <p:attrNameLst>
                                          <p:attrName>style.visibility</p:attrName>
                                        </p:attrNameLst>
                                      </p:cBhvr>
                                      <p:to>
                                        <p:strVal val="visible"/>
                                      </p:to>
                                    </p:set>
                                    <p:animEffect transition="in" filter="dissolve">
                                      <p:cBhvr>
                                        <p:cTn id="18" dur="500"/>
                                        <p:tgtEl>
                                          <p:spTgt spid="2667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8" fill="hold" grpId="0" nodeType="clickEffect">
                                  <p:stCondLst>
                                    <p:cond delay="0"/>
                                  </p:stCondLst>
                                  <p:childTnLst>
                                    <p:set>
                                      <p:cBhvr>
                                        <p:cTn id="22" dur="1" fill="hold">
                                          <p:stCondLst>
                                            <p:cond delay="0"/>
                                          </p:stCondLst>
                                        </p:cTn>
                                        <p:tgtEl>
                                          <p:spTgt spid="26673"/>
                                        </p:tgtEl>
                                        <p:attrNameLst>
                                          <p:attrName>style.visibility</p:attrName>
                                        </p:attrNameLst>
                                      </p:cBhvr>
                                      <p:to>
                                        <p:strVal val="visible"/>
                                      </p:to>
                                    </p:set>
                                    <p:anim calcmode="lin" valueType="num">
                                      <p:cBhvr additive="base">
                                        <p:cTn id="23" dur="500" fill="hold"/>
                                        <p:tgtEl>
                                          <p:spTgt spid="26673"/>
                                        </p:tgtEl>
                                        <p:attrNameLst>
                                          <p:attrName>ppt_x</p:attrName>
                                        </p:attrNameLst>
                                      </p:cBhvr>
                                      <p:tavLst>
                                        <p:tav tm="0">
                                          <p:val>
                                            <p:strVal val="0-#ppt_w/2"/>
                                          </p:val>
                                        </p:tav>
                                        <p:tav tm="100000">
                                          <p:val>
                                            <p:strVal val="#ppt_x"/>
                                          </p:val>
                                        </p:tav>
                                      </p:tavLst>
                                    </p:anim>
                                    <p:anim calcmode="lin" valueType="num">
                                      <p:cBhvr additive="base">
                                        <p:cTn id="24" dur="500" fill="hold"/>
                                        <p:tgtEl>
                                          <p:spTgt spid="26673"/>
                                        </p:tgtEl>
                                        <p:attrNameLst>
                                          <p:attrName>ppt_y</p:attrName>
                                        </p:attrNameLst>
                                      </p:cBhvr>
                                      <p:tavLst>
                                        <p:tav tm="0">
                                          <p:val>
                                            <p:strVal val="#ppt_y"/>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499"/>
                                          </p:stCondLst>
                                        </p:cTn>
                                        <p:tgtEl>
                                          <p:spTgt spid="26628"/>
                                        </p:tgtEl>
                                        <p:attrNameLst>
                                          <p:attrName>style.visibility</p:attrName>
                                        </p:attrNameLst>
                                      </p:cBhvr>
                                      <p:to>
                                        <p:strVal val="visible"/>
                                      </p:to>
                                    </p:set>
                                  </p:childTnLst>
                                </p:cTn>
                              </p:par>
                            </p:childTnLst>
                          </p:cTn>
                        </p:par>
                        <p:par>
                          <p:cTn id="29" fill="hold" nodeType="afterGroup">
                            <p:stCondLst>
                              <p:cond delay="500"/>
                            </p:stCondLst>
                            <p:childTnLst>
                              <p:par>
                                <p:cTn id="30" presetID="1" presetClass="entr" presetSubtype="0" fill="hold" grpId="0" nodeType="afterEffect">
                                  <p:stCondLst>
                                    <p:cond delay="0"/>
                                  </p:stCondLst>
                                  <p:childTnLst>
                                    <p:set>
                                      <p:cBhvr>
                                        <p:cTn id="31" dur="1" fill="hold">
                                          <p:stCondLst>
                                            <p:cond delay="499"/>
                                          </p:stCondLst>
                                        </p:cTn>
                                        <p:tgtEl>
                                          <p:spTgt spid="26651"/>
                                        </p:tgtEl>
                                        <p:attrNameLst>
                                          <p:attrName>style.visibility</p:attrName>
                                        </p:attrNameLst>
                                      </p:cBhvr>
                                      <p:to>
                                        <p:strVal val="visible"/>
                                      </p:to>
                                    </p:set>
                                  </p:childTnLst>
                                </p:cTn>
                              </p:par>
                            </p:childTnLst>
                          </p:cTn>
                        </p:par>
                        <p:par>
                          <p:cTn id="32" fill="hold" nodeType="afterGroup">
                            <p:stCondLst>
                              <p:cond delay="1000"/>
                            </p:stCondLst>
                            <p:childTnLst>
                              <p:par>
                                <p:cTn id="33" presetID="1" presetClass="entr" presetSubtype="0" fill="hold" grpId="0" nodeType="afterEffect">
                                  <p:stCondLst>
                                    <p:cond delay="0"/>
                                  </p:stCondLst>
                                  <p:childTnLst>
                                    <p:set>
                                      <p:cBhvr>
                                        <p:cTn id="34" dur="1" fill="hold">
                                          <p:stCondLst>
                                            <p:cond delay="499"/>
                                          </p:stCondLst>
                                        </p:cTn>
                                        <p:tgtEl>
                                          <p:spTgt spid="26629"/>
                                        </p:tgtEl>
                                        <p:attrNameLst>
                                          <p:attrName>style.visibility</p:attrName>
                                        </p:attrNameLst>
                                      </p:cBhvr>
                                      <p:to>
                                        <p:strVal val="visible"/>
                                      </p:to>
                                    </p:set>
                                  </p:childTnLst>
                                </p:cTn>
                              </p:par>
                            </p:childTnLst>
                          </p:cTn>
                        </p:par>
                        <p:par>
                          <p:cTn id="35" fill="hold" nodeType="afterGroup">
                            <p:stCondLst>
                              <p:cond delay="1500"/>
                            </p:stCondLst>
                            <p:childTnLst>
                              <p:par>
                                <p:cTn id="36" presetID="1" presetClass="entr" presetSubtype="0" fill="hold" grpId="0" nodeType="afterEffect">
                                  <p:stCondLst>
                                    <p:cond delay="0"/>
                                  </p:stCondLst>
                                  <p:childTnLst>
                                    <p:set>
                                      <p:cBhvr>
                                        <p:cTn id="37" dur="1" fill="hold">
                                          <p:stCondLst>
                                            <p:cond delay="499"/>
                                          </p:stCondLst>
                                        </p:cTn>
                                        <p:tgtEl>
                                          <p:spTgt spid="26652"/>
                                        </p:tgtEl>
                                        <p:attrNameLst>
                                          <p:attrName>style.visibility</p:attrName>
                                        </p:attrNameLst>
                                      </p:cBhvr>
                                      <p:to>
                                        <p:strVal val="visible"/>
                                      </p:to>
                                    </p:set>
                                  </p:childTnLst>
                                </p:cTn>
                              </p:par>
                            </p:childTnLst>
                          </p:cTn>
                        </p:par>
                        <p:par>
                          <p:cTn id="38" fill="hold" nodeType="afterGroup">
                            <p:stCondLst>
                              <p:cond delay="2000"/>
                            </p:stCondLst>
                            <p:childTnLst>
                              <p:par>
                                <p:cTn id="39" presetID="1" presetClass="entr" presetSubtype="0" fill="hold" grpId="0" nodeType="afterEffect">
                                  <p:stCondLst>
                                    <p:cond delay="0"/>
                                  </p:stCondLst>
                                  <p:childTnLst>
                                    <p:set>
                                      <p:cBhvr>
                                        <p:cTn id="40" dur="1" fill="hold">
                                          <p:stCondLst>
                                            <p:cond delay="499"/>
                                          </p:stCondLst>
                                        </p:cTn>
                                        <p:tgtEl>
                                          <p:spTgt spid="26630"/>
                                        </p:tgtEl>
                                        <p:attrNameLst>
                                          <p:attrName>style.visibility</p:attrName>
                                        </p:attrNameLst>
                                      </p:cBhvr>
                                      <p:to>
                                        <p:strVal val="visible"/>
                                      </p:to>
                                    </p:set>
                                  </p:childTnLst>
                                </p:cTn>
                              </p:par>
                            </p:childTnLst>
                          </p:cTn>
                        </p:par>
                        <p:par>
                          <p:cTn id="41" fill="hold" nodeType="afterGroup">
                            <p:stCondLst>
                              <p:cond delay="2500"/>
                            </p:stCondLst>
                            <p:childTnLst>
                              <p:par>
                                <p:cTn id="42" presetID="1" presetClass="entr" presetSubtype="0" fill="hold" grpId="0" nodeType="afterEffect">
                                  <p:stCondLst>
                                    <p:cond delay="0"/>
                                  </p:stCondLst>
                                  <p:childTnLst>
                                    <p:set>
                                      <p:cBhvr>
                                        <p:cTn id="43" dur="1" fill="hold">
                                          <p:stCondLst>
                                            <p:cond delay="499"/>
                                          </p:stCondLst>
                                        </p:cTn>
                                        <p:tgtEl>
                                          <p:spTgt spid="26653"/>
                                        </p:tgtEl>
                                        <p:attrNameLst>
                                          <p:attrName>style.visibility</p:attrName>
                                        </p:attrNameLst>
                                      </p:cBhvr>
                                      <p:to>
                                        <p:strVal val="visible"/>
                                      </p:to>
                                    </p:set>
                                  </p:childTnLst>
                                </p:cTn>
                              </p:par>
                            </p:childTnLst>
                          </p:cTn>
                        </p:par>
                        <p:par>
                          <p:cTn id="44" fill="hold" nodeType="afterGroup">
                            <p:stCondLst>
                              <p:cond delay="3000"/>
                            </p:stCondLst>
                            <p:childTnLst>
                              <p:par>
                                <p:cTn id="45" presetID="1" presetClass="entr" presetSubtype="0" fill="hold" grpId="0" nodeType="afterEffect">
                                  <p:stCondLst>
                                    <p:cond delay="0"/>
                                  </p:stCondLst>
                                  <p:childTnLst>
                                    <p:set>
                                      <p:cBhvr>
                                        <p:cTn id="46" dur="1" fill="hold">
                                          <p:stCondLst>
                                            <p:cond delay="499"/>
                                          </p:stCondLst>
                                        </p:cTn>
                                        <p:tgtEl>
                                          <p:spTgt spid="26631"/>
                                        </p:tgtEl>
                                        <p:attrNameLst>
                                          <p:attrName>style.visibility</p:attrName>
                                        </p:attrNameLst>
                                      </p:cBhvr>
                                      <p:to>
                                        <p:strVal val="visible"/>
                                      </p:to>
                                    </p:set>
                                  </p:childTnLst>
                                </p:cTn>
                              </p:par>
                            </p:childTnLst>
                          </p:cTn>
                        </p:par>
                        <p:par>
                          <p:cTn id="47" fill="hold" nodeType="afterGroup">
                            <p:stCondLst>
                              <p:cond delay="3500"/>
                            </p:stCondLst>
                            <p:childTnLst>
                              <p:par>
                                <p:cTn id="48" presetID="1" presetClass="entr" presetSubtype="0" fill="hold" grpId="0" nodeType="afterEffect">
                                  <p:stCondLst>
                                    <p:cond delay="0"/>
                                  </p:stCondLst>
                                  <p:childTnLst>
                                    <p:set>
                                      <p:cBhvr>
                                        <p:cTn id="49" dur="1" fill="hold">
                                          <p:stCondLst>
                                            <p:cond delay="499"/>
                                          </p:stCondLst>
                                        </p:cTn>
                                        <p:tgtEl>
                                          <p:spTgt spid="26658"/>
                                        </p:tgtEl>
                                        <p:attrNameLst>
                                          <p:attrName>style.visibility</p:attrName>
                                        </p:attrNameLst>
                                      </p:cBhvr>
                                      <p:to>
                                        <p:strVal val="visible"/>
                                      </p:to>
                                    </p:set>
                                  </p:childTnLst>
                                </p:cTn>
                              </p:par>
                            </p:childTnLst>
                          </p:cTn>
                        </p:par>
                        <p:par>
                          <p:cTn id="50" fill="hold" nodeType="afterGroup">
                            <p:stCondLst>
                              <p:cond delay="4000"/>
                            </p:stCondLst>
                            <p:childTnLst>
                              <p:par>
                                <p:cTn id="51" presetID="1" presetClass="entr" presetSubtype="0" fill="hold" grpId="0" nodeType="afterEffect">
                                  <p:stCondLst>
                                    <p:cond delay="0"/>
                                  </p:stCondLst>
                                  <p:childTnLst>
                                    <p:set>
                                      <p:cBhvr>
                                        <p:cTn id="52" dur="1" fill="hold">
                                          <p:stCondLst>
                                            <p:cond delay="499"/>
                                          </p:stCondLst>
                                        </p:cTn>
                                        <p:tgtEl>
                                          <p:spTgt spid="26632"/>
                                        </p:tgtEl>
                                        <p:attrNameLst>
                                          <p:attrName>style.visibility</p:attrName>
                                        </p:attrNameLst>
                                      </p:cBhvr>
                                      <p:to>
                                        <p:strVal val="visible"/>
                                      </p:to>
                                    </p:set>
                                  </p:childTnLst>
                                </p:cTn>
                              </p:par>
                            </p:childTnLst>
                          </p:cTn>
                        </p:par>
                        <p:par>
                          <p:cTn id="53" fill="hold" nodeType="afterGroup">
                            <p:stCondLst>
                              <p:cond delay="4500"/>
                            </p:stCondLst>
                            <p:childTnLst>
                              <p:par>
                                <p:cTn id="54" presetID="1" presetClass="entr" presetSubtype="0" fill="hold" grpId="0" nodeType="afterEffect">
                                  <p:stCondLst>
                                    <p:cond delay="0"/>
                                  </p:stCondLst>
                                  <p:childTnLst>
                                    <p:set>
                                      <p:cBhvr>
                                        <p:cTn id="55" dur="1" fill="hold">
                                          <p:stCondLst>
                                            <p:cond delay="499"/>
                                          </p:stCondLst>
                                        </p:cTn>
                                        <p:tgtEl>
                                          <p:spTgt spid="26663"/>
                                        </p:tgtEl>
                                        <p:attrNameLst>
                                          <p:attrName>style.visibility</p:attrName>
                                        </p:attrNameLst>
                                      </p:cBhvr>
                                      <p:to>
                                        <p:strVal val="visible"/>
                                      </p:to>
                                    </p:set>
                                  </p:childTnLst>
                                </p:cTn>
                              </p:par>
                            </p:childTnLst>
                          </p:cTn>
                        </p:par>
                        <p:par>
                          <p:cTn id="56" fill="hold" nodeType="afterGroup">
                            <p:stCondLst>
                              <p:cond delay="5000"/>
                            </p:stCondLst>
                            <p:childTnLst>
                              <p:par>
                                <p:cTn id="57" presetID="1" presetClass="entr" presetSubtype="0" fill="hold" grpId="0" nodeType="afterEffect">
                                  <p:stCondLst>
                                    <p:cond delay="0"/>
                                  </p:stCondLst>
                                  <p:childTnLst>
                                    <p:set>
                                      <p:cBhvr>
                                        <p:cTn id="58" dur="1" fill="hold">
                                          <p:stCondLst>
                                            <p:cond delay="499"/>
                                          </p:stCondLst>
                                        </p:cTn>
                                        <p:tgtEl>
                                          <p:spTgt spid="26647"/>
                                        </p:tgtEl>
                                        <p:attrNameLst>
                                          <p:attrName>style.visibility</p:attrName>
                                        </p:attrNameLst>
                                      </p:cBhvr>
                                      <p:to>
                                        <p:strVal val="visible"/>
                                      </p:to>
                                    </p:set>
                                  </p:childTnLst>
                                </p:cTn>
                              </p:par>
                            </p:childTnLst>
                          </p:cTn>
                        </p:par>
                        <p:par>
                          <p:cTn id="59" fill="hold" nodeType="afterGroup">
                            <p:stCondLst>
                              <p:cond delay="5500"/>
                            </p:stCondLst>
                            <p:childTnLst>
                              <p:par>
                                <p:cTn id="60" presetID="1" presetClass="entr" presetSubtype="0" fill="hold" grpId="0" nodeType="afterEffect">
                                  <p:stCondLst>
                                    <p:cond delay="0"/>
                                  </p:stCondLst>
                                  <p:childTnLst>
                                    <p:set>
                                      <p:cBhvr>
                                        <p:cTn id="61" dur="1" fill="hold">
                                          <p:stCondLst>
                                            <p:cond delay="499"/>
                                          </p:stCondLst>
                                        </p:cTn>
                                        <p:tgtEl>
                                          <p:spTgt spid="26668"/>
                                        </p:tgtEl>
                                        <p:attrNameLst>
                                          <p:attrName>style.visibility</p:attrName>
                                        </p:attrNameLst>
                                      </p:cBhvr>
                                      <p:to>
                                        <p:strVal val="visible"/>
                                      </p:to>
                                    </p:set>
                                  </p:childTnLst>
                                </p:cTn>
                              </p:par>
                            </p:childTnLst>
                          </p:cTn>
                        </p:par>
                        <p:par>
                          <p:cTn id="62" fill="hold" nodeType="afterGroup">
                            <p:stCondLst>
                              <p:cond delay="6000"/>
                            </p:stCondLst>
                            <p:childTnLst>
                              <p:par>
                                <p:cTn id="63" presetID="1" presetClass="entr" presetSubtype="0" fill="hold" grpId="0" nodeType="afterEffect">
                                  <p:stCondLst>
                                    <p:cond delay="0"/>
                                  </p:stCondLst>
                                  <p:childTnLst>
                                    <p:set>
                                      <p:cBhvr>
                                        <p:cTn id="64" dur="1" fill="hold">
                                          <p:stCondLst>
                                            <p:cond delay="499"/>
                                          </p:stCondLst>
                                        </p:cTn>
                                        <p:tgtEl>
                                          <p:spTgt spid="26649"/>
                                        </p:tgtEl>
                                        <p:attrNameLst>
                                          <p:attrName>style.visibility</p:attrName>
                                        </p:attrNameLst>
                                      </p:cBhvr>
                                      <p:to>
                                        <p:strVal val="visible"/>
                                      </p:to>
                                    </p:set>
                                  </p:childTnLst>
                                </p:cTn>
                              </p:par>
                            </p:childTnLst>
                          </p:cTn>
                        </p:par>
                        <p:par>
                          <p:cTn id="65" fill="hold" nodeType="afterGroup">
                            <p:stCondLst>
                              <p:cond delay="6500"/>
                            </p:stCondLst>
                            <p:childTnLst>
                              <p:par>
                                <p:cTn id="66" presetID="1" presetClass="entr" presetSubtype="0" fill="hold" grpId="0" nodeType="afterEffect">
                                  <p:stCondLst>
                                    <p:cond delay="0"/>
                                  </p:stCondLst>
                                  <p:childTnLst>
                                    <p:set>
                                      <p:cBhvr>
                                        <p:cTn id="67" dur="1" fill="hold">
                                          <p:stCondLst>
                                            <p:cond delay="499"/>
                                          </p:stCondLst>
                                        </p:cTn>
                                        <p:tgtEl>
                                          <p:spTgt spid="26654"/>
                                        </p:tgtEl>
                                        <p:attrNameLst>
                                          <p:attrName>style.visibility</p:attrName>
                                        </p:attrNameLst>
                                      </p:cBhvr>
                                      <p:to>
                                        <p:strVal val="visible"/>
                                      </p:to>
                                    </p:set>
                                  </p:childTnLst>
                                </p:cTn>
                              </p:par>
                            </p:childTnLst>
                          </p:cTn>
                        </p:par>
                        <p:par>
                          <p:cTn id="68" fill="hold" nodeType="afterGroup">
                            <p:stCondLst>
                              <p:cond delay="7000"/>
                            </p:stCondLst>
                            <p:childTnLst>
                              <p:par>
                                <p:cTn id="69" presetID="1" presetClass="entr" presetSubtype="0" fill="hold" grpId="0" nodeType="afterEffect">
                                  <p:stCondLst>
                                    <p:cond delay="0"/>
                                  </p:stCondLst>
                                  <p:childTnLst>
                                    <p:set>
                                      <p:cBhvr>
                                        <p:cTn id="70" dur="1" fill="hold">
                                          <p:stCondLst>
                                            <p:cond delay="499"/>
                                          </p:stCondLst>
                                        </p:cTn>
                                        <p:tgtEl>
                                          <p:spTgt spid="26655"/>
                                        </p:tgtEl>
                                        <p:attrNameLst>
                                          <p:attrName>style.visibility</p:attrName>
                                        </p:attrNameLst>
                                      </p:cBhvr>
                                      <p:to>
                                        <p:strVal val="visible"/>
                                      </p:to>
                                    </p:set>
                                  </p:childTnLst>
                                </p:cTn>
                              </p:par>
                            </p:childTnLst>
                          </p:cTn>
                        </p:par>
                        <p:par>
                          <p:cTn id="71" fill="hold" nodeType="afterGroup">
                            <p:stCondLst>
                              <p:cond delay="7500"/>
                            </p:stCondLst>
                            <p:childTnLst>
                              <p:par>
                                <p:cTn id="72" presetID="1" presetClass="entr" presetSubtype="0" fill="hold" grpId="0" nodeType="afterEffect">
                                  <p:stCondLst>
                                    <p:cond delay="0"/>
                                  </p:stCondLst>
                                  <p:childTnLst>
                                    <p:set>
                                      <p:cBhvr>
                                        <p:cTn id="73" dur="1" fill="hold">
                                          <p:stCondLst>
                                            <p:cond delay="499"/>
                                          </p:stCondLst>
                                        </p:cTn>
                                        <p:tgtEl>
                                          <p:spTgt spid="26645"/>
                                        </p:tgtEl>
                                        <p:attrNameLst>
                                          <p:attrName>style.visibility</p:attrName>
                                        </p:attrNameLst>
                                      </p:cBhvr>
                                      <p:to>
                                        <p:strVal val="visible"/>
                                      </p:to>
                                    </p:set>
                                  </p:childTnLst>
                                </p:cTn>
                              </p:par>
                            </p:childTnLst>
                          </p:cTn>
                        </p:par>
                        <p:par>
                          <p:cTn id="74" fill="hold" nodeType="afterGroup">
                            <p:stCondLst>
                              <p:cond delay="8000"/>
                            </p:stCondLst>
                            <p:childTnLst>
                              <p:par>
                                <p:cTn id="75" presetID="1" presetClass="entr" presetSubtype="0" fill="hold" grpId="0" nodeType="afterEffect">
                                  <p:stCondLst>
                                    <p:cond delay="0"/>
                                  </p:stCondLst>
                                  <p:childTnLst>
                                    <p:set>
                                      <p:cBhvr>
                                        <p:cTn id="76" dur="1" fill="hold">
                                          <p:stCondLst>
                                            <p:cond delay="499"/>
                                          </p:stCondLst>
                                        </p:cTn>
                                        <p:tgtEl>
                                          <p:spTgt spid="26659"/>
                                        </p:tgtEl>
                                        <p:attrNameLst>
                                          <p:attrName>style.visibility</p:attrName>
                                        </p:attrNameLst>
                                      </p:cBhvr>
                                      <p:to>
                                        <p:strVal val="visible"/>
                                      </p:to>
                                    </p:set>
                                  </p:childTnLst>
                                </p:cTn>
                              </p:par>
                            </p:childTnLst>
                          </p:cTn>
                        </p:par>
                        <p:par>
                          <p:cTn id="77" fill="hold" nodeType="afterGroup">
                            <p:stCondLst>
                              <p:cond delay="8500"/>
                            </p:stCondLst>
                            <p:childTnLst>
                              <p:par>
                                <p:cTn id="78" presetID="1" presetClass="entr" presetSubtype="0" fill="hold" grpId="0" nodeType="afterEffect">
                                  <p:stCondLst>
                                    <p:cond delay="0"/>
                                  </p:stCondLst>
                                  <p:childTnLst>
                                    <p:set>
                                      <p:cBhvr>
                                        <p:cTn id="79" dur="1" fill="hold">
                                          <p:stCondLst>
                                            <p:cond delay="499"/>
                                          </p:stCondLst>
                                        </p:cTn>
                                        <p:tgtEl>
                                          <p:spTgt spid="26661"/>
                                        </p:tgtEl>
                                        <p:attrNameLst>
                                          <p:attrName>style.visibility</p:attrName>
                                        </p:attrNameLst>
                                      </p:cBhvr>
                                      <p:to>
                                        <p:strVal val="visible"/>
                                      </p:to>
                                    </p:set>
                                  </p:childTnLst>
                                </p:cTn>
                              </p:par>
                            </p:childTnLst>
                          </p:cTn>
                        </p:par>
                        <p:par>
                          <p:cTn id="80" fill="hold" nodeType="afterGroup">
                            <p:stCondLst>
                              <p:cond delay="9000"/>
                            </p:stCondLst>
                            <p:childTnLst>
                              <p:par>
                                <p:cTn id="81" presetID="1" presetClass="entr" presetSubtype="0" fill="hold" grpId="0" nodeType="afterEffect">
                                  <p:stCondLst>
                                    <p:cond delay="0"/>
                                  </p:stCondLst>
                                  <p:childTnLst>
                                    <p:set>
                                      <p:cBhvr>
                                        <p:cTn id="82" dur="1" fill="hold">
                                          <p:stCondLst>
                                            <p:cond delay="499"/>
                                          </p:stCondLst>
                                        </p:cTn>
                                        <p:tgtEl>
                                          <p:spTgt spid="26646"/>
                                        </p:tgtEl>
                                        <p:attrNameLst>
                                          <p:attrName>style.visibility</p:attrName>
                                        </p:attrNameLst>
                                      </p:cBhvr>
                                      <p:to>
                                        <p:strVal val="visible"/>
                                      </p:to>
                                    </p:set>
                                  </p:childTnLst>
                                </p:cTn>
                              </p:par>
                            </p:childTnLst>
                          </p:cTn>
                        </p:par>
                        <p:par>
                          <p:cTn id="83" fill="hold" nodeType="afterGroup">
                            <p:stCondLst>
                              <p:cond delay="9500"/>
                            </p:stCondLst>
                            <p:childTnLst>
                              <p:par>
                                <p:cTn id="84" presetID="1" presetClass="entr" presetSubtype="0" fill="hold" grpId="0" nodeType="afterEffect">
                                  <p:stCondLst>
                                    <p:cond delay="0"/>
                                  </p:stCondLst>
                                  <p:childTnLst>
                                    <p:set>
                                      <p:cBhvr>
                                        <p:cTn id="85" dur="1" fill="hold">
                                          <p:stCondLst>
                                            <p:cond delay="499"/>
                                          </p:stCondLst>
                                        </p:cTn>
                                        <p:tgtEl>
                                          <p:spTgt spid="26664"/>
                                        </p:tgtEl>
                                        <p:attrNameLst>
                                          <p:attrName>style.visibility</p:attrName>
                                        </p:attrNameLst>
                                      </p:cBhvr>
                                      <p:to>
                                        <p:strVal val="visible"/>
                                      </p:to>
                                    </p:set>
                                  </p:childTnLst>
                                </p:cTn>
                              </p:par>
                            </p:childTnLst>
                          </p:cTn>
                        </p:par>
                        <p:par>
                          <p:cTn id="86" fill="hold" nodeType="afterGroup">
                            <p:stCondLst>
                              <p:cond delay="10000"/>
                            </p:stCondLst>
                            <p:childTnLst>
                              <p:par>
                                <p:cTn id="87" presetID="1" presetClass="entr" presetSubtype="0" fill="hold" grpId="0" nodeType="afterEffect">
                                  <p:stCondLst>
                                    <p:cond delay="0"/>
                                  </p:stCondLst>
                                  <p:childTnLst>
                                    <p:set>
                                      <p:cBhvr>
                                        <p:cTn id="88" dur="1" fill="hold">
                                          <p:stCondLst>
                                            <p:cond delay="499"/>
                                          </p:stCondLst>
                                        </p:cTn>
                                        <p:tgtEl>
                                          <p:spTgt spid="26665"/>
                                        </p:tgtEl>
                                        <p:attrNameLst>
                                          <p:attrName>style.visibility</p:attrName>
                                        </p:attrNameLst>
                                      </p:cBhvr>
                                      <p:to>
                                        <p:strVal val="visible"/>
                                      </p:to>
                                    </p:set>
                                  </p:childTnLst>
                                </p:cTn>
                              </p:par>
                            </p:childTnLst>
                          </p:cTn>
                        </p:par>
                        <p:par>
                          <p:cTn id="89" fill="hold" nodeType="afterGroup">
                            <p:stCondLst>
                              <p:cond delay="10500"/>
                            </p:stCondLst>
                            <p:childTnLst>
                              <p:par>
                                <p:cTn id="90" presetID="1" presetClass="entr" presetSubtype="0" fill="hold" grpId="0" nodeType="afterEffect">
                                  <p:stCondLst>
                                    <p:cond delay="0"/>
                                  </p:stCondLst>
                                  <p:childTnLst>
                                    <p:set>
                                      <p:cBhvr>
                                        <p:cTn id="91" dur="1" fill="hold">
                                          <p:stCondLst>
                                            <p:cond delay="499"/>
                                          </p:stCondLst>
                                        </p:cTn>
                                        <p:tgtEl>
                                          <p:spTgt spid="26648"/>
                                        </p:tgtEl>
                                        <p:attrNameLst>
                                          <p:attrName>style.visibility</p:attrName>
                                        </p:attrNameLst>
                                      </p:cBhvr>
                                      <p:to>
                                        <p:strVal val="visible"/>
                                      </p:to>
                                    </p:set>
                                  </p:childTnLst>
                                </p:cTn>
                              </p:par>
                            </p:childTnLst>
                          </p:cTn>
                        </p:par>
                        <p:par>
                          <p:cTn id="92" fill="hold" nodeType="afterGroup">
                            <p:stCondLst>
                              <p:cond delay="11000"/>
                            </p:stCondLst>
                            <p:childTnLst>
                              <p:par>
                                <p:cTn id="93" presetID="1" presetClass="entr" presetSubtype="0" fill="hold" grpId="0" nodeType="afterEffect">
                                  <p:stCondLst>
                                    <p:cond delay="0"/>
                                  </p:stCondLst>
                                  <p:childTnLst>
                                    <p:set>
                                      <p:cBhvr>
                                        <p:cTn id="94" dur="1" fill="hold">
                                          <p:stCondLst>
                                            <p:cond delay="499"/>
                                          </p:stCondLst>
                                        </p:cTn>
                                        <p:tgtEl>
                                          <p:spTgt spid="26669"/>
                                        </p:tgtEl>
                                        <p:attrNameLst>
                                          <p:attrName>style.visibility</p:attrName>
                                        </p:attrNameLst>
                                      </p:cBhvr>
                                      <p:to>
                                        <p:strVal val="visible"/>
                                      </p:to>
                                    </p:set>
                                  </p:childTnLst>
                                </p:cTn>
                              </p:par>
                            </p:childTnLst>
                          </p:cTn>
                        </p:par>
                        <p:par>
                          <p:cTn id="95" fill="hold" nodeType="afterGroup">
                            <p:stCondLst>
                              <p:cond delay="11500"/>
                            </p:stCondLst>
                            <p:childTnLst>
                              <p:par>
                                <p:cTn id="96" presetID="1" presetClass="entr" presetSubtype="0" fill="hold" grpId="0" nodeType="afterEffect">
                                  <p:stCondLst>
                                    <p:cond delay="0"/>
                                  </p:stCondLst>
                                  <p:childTnLst>
                                    <p:set>
                                      <p:cBhvr>
                                        <p:cTn id="97" dur="1" fill="hold">
                                          <p:stCondLst>
                                            <p:cond delay="499"/>
                                          </p:stCondLst>
                                        </p:cTn>
                                        <p:tgtEl>
                                          <p:spTgt spid="26670"/>
                                        </p:tgtEl>
                                        <p:attrNameLst>
                                          <p:attrName>style.visibility</p:attrName>
                                        </p:attrNameLst>
                                      </p:cBhvr>
                                      <p:to>
                                        <p:strVal val="visible"/>
                                      </p:to>
                                    </p:set>
                                  </p:childTnLst>
                                </p:cTn>
                              </p:par>
                            </p:childTnLst>
                          </p:cTn>
                        </p:par>
                        <p:par>
                          <p:cTn id="98" fill="hold" nodeType="afterGroup">
                            <p:stCondLst>
                              <p:cond delay="12000"/>
                            </p:stCondLst>
                            <p:childTnLst>
                              <p:par>
                                <p:cTn id="99" presetID="1" presetClass="entr" presetSubtype="0" fill="hold" grpId="0" nodeType="afterEffect">
                                  <p:stCondLst>
                                    <p:cond delay="0"/>
                                  </p:stCondLst>
                                  <p:childTnLst>
                                    <p:set>
                                      <p:cBhvr>
                                        <p:cTn id="100" dur="1" fill="hold">
                                          <p:stCondLst>
                                            <p:cond delay="499"/>
                                          </p:stCondLst>
                                        </p:cTn>
                                        <p:tgtEl>
                                          <p:spTgt spid="26650"/>
                                        </p:tgtEl>
                                        <p:attrNameLst>
                                          <p:attrName>style.visibility</p:attrName>
                                        </p:attrNameLst>
                                      </p:cBhvr>
                                      <p:to>
                                        <p:strVal val="visible"/>
                                      </p:to>
                                    </p:set>
                                  </p:childTnLst>
                                </p:cTn>
                              </p:par>
                            </p:childTnLst>
                          </p:cTn>
                        </p:par>
                        <p:par>
                          <p:cTn id="101" fill="hold" nodeType="afterGroup">
                            <p:stCondLst>
                              <p:cond delay="12500"/>
                            </p:stCondLst>
                            <p:childTnLst>
                              <p:par>
                                <p:cTn id="102" presetID="1" presetClass="entr" presetSubtype="0" fill="hold" grpId="0" nodeType="afterEffect">
                                  <p:stCondLst>
                                    <p:cond delay="0"/>
                                  </p:stCondLst>
                                  <p:childTnLst>
                                    <p:set>
                                      <p:cBhvr>
                                        <p:cTn id="103" dur="1" fill="hold">
                                          <p:stCondLst>
                                            <p:cond delay="499"/>
                                          </p:stCondLst>
                                        </p:cTn>
                                        <p:tgtEl>
                                          <p:spTgt spid="26656"/>
                                        </p:tgtEl>
                                        <p:attrNameLst>
                                          <p:attrName>style.visibility</p:attrName>
                                        </p:attrNameLst>
                                      </p:cBhvr>
                                      <p:to>
                                        <p:strVal val="visible"/>
                                      </p:to>
                                    </p:set>
                                  </p:childTnLst>
                                </p:cTn>
                              </p:par>
                            </p:childTnLst>
                          </p:cTn>
                        </p:par>
                        <p:par>
                          <p:cTn id="104" fill="hold" nodeType="afterGroup">
                            <p:stCondLst>
                              <p:cond delay="13000"/>
                            </p:stCondLst>
                            <p:childTnLst>
                              <p:par>
                                <p:cTn id="105" presetID="1" presetClass="entr" presetSubtype="0" fill="hold" grpId="0" nodeType="afterEffect">
                                  <p:stCondLst>
                                    <p:cond delay="0"/>
                                  </p:stCondLst>
                                  <p:childTnLst>
                                    <p:set>
                                      <p:cBhvr>
                                        <p:cTn id="106" dur="1" fill="hold">
                                          <p:stCondLst>
                                            <p:cond delay="499"/>
                                          </p:stCondLst>
                                        </p:cTn>
                                        <p:tgtEl>
                                          <p:spTgt spid="26657"/>
                                        </p:tgtEl>
                                        <p:attrNameLst>
                                          <p:attrName>style.visibility</p:attrName>
                                        </p:attrNameLst>
                                      </p:cBhvr>
                                      <p:to>
                                        <p:strVal val="visible"/>
                                      </p:to>
                                    </p:set>
                                  </p:childTnLst>
                                </p:cTn>
                              </p:par>
                            </p:childTnLst>
                          </p:cTn>
                        </p:par>
                        <p:par>
                          <p:cTn id="107" fill="hold" nodeType="afterGroup">
                            <p:stCondLst>
                              <p:cond delay="13500"/>
                            </p:stCondLst>
                            <p:childTnLst>
                              <p:par>
                                <p:cTn id="108" presetID="1" presetClass="entr" presetSubtype="0" fill="hold" grpId="0" nodeType="afterEffect">
                                  <p:stCondLst>
                                    <p:cond delay="0"/>
                                  </p:stCondLst>
                                  <p:childTnLst>
                                    <p:set>
                                      <p:cBhvr>
                                        <p:cTn id="109" dur="1" fill="hold">
                                          <p:stCondLst>
                                            <p:cond delay="499"/>
                                          </p:stCondLst>
                                        </p:cTn>
                                        <p:tgtEl>
                                          <p:spTgt spid="26662"/>
                                        </p:tgtEl>
                                        <p:attrNameLst>
                                          <p:attrName>style.visibility</p:attrName>
                                        </p:attrNameLst>
                                      </p:cBhvr>
                                      <p:to>
                                        <p:strVal val="visible"/>
                                      </p:to>
                                    </p:set>
                                  </p:childTnLst>
                                </p:cTn>
                              </p:par>
                            </p:childTnLst>
                          </p:cTn>
                        </p:par>
                        <p:par>
                          <p:cTn id="110" fill="hold" nodeType="afterGroup">
                            <p:stCondLst>
                              <p:cond delay="14000"/>
                            </p:stCondLst>
                            <p:childTnLst>
                              <p:par>
                                <p:cTn id="111" presetID="1" presetClass="entr" presetSubtype="0" fill="hold" grpId="0" nodeType="afterEffect">
                                  <p:stCondLst>
                                    <p:cond delay="0"/>
                                  </p:stCondLst>
                                  <p:childTnLst>
                                    <p:set>
                                      <p:cBhvr>
                                        <p:cTn id="112" dur="1" fill="hold">
                                          <p:stCondLst>
                                            <p:cond delay="499"/>
                                          </p:stCondLst>
                                        </p:cTn>
                                        <p:tgtEl>
                                          <p:spTgt spid="26660"/>
                                        </p:tgtEl>
                                        <p:attrNameLst>
                                          <p:attrName>style.visibility</p:attrName>
                                        </p:attrNameLst>
                                      </p:cBhvr>
                                      <p:to>
                                        <p:strVal val="visible"/>
                                      </p:to>
                                    </p:set>
                                  </p:childTnLst>
                                </p:cTn>
                              </p:par>
                            </p:childTnLst>
                          </p:cTn>
                        </p:par>
                        <p:par>
                          <p:cTn id="113" fill="hold" nodeType="afterGroup">
                            <p:stCondLst>
                              <p:cond delay="14500"/>
                            </p:stCondLst>
                            <p:childTnLst>
                              <p:par>
                                <p:cTn id="114" presetID="1" presetClass="entr" presetSubtype="0" fill="hold" grpId="0" nodeType="afterEffect">
                                  <p:stCondLst>
                                    <p:cond delay="0"/>
                                  </p:stCondLst>
                                  <p:childTnLst>
                                    <p:set>
                                      <p:cBhvr>
                                        <p:cTn id="115" dur="1" fill="hold">
                                          <p:stCondLst>
                                            <p:cond delay="499"/>
                                          </p:stCondLst>
                                        </p:cTn>
                                        <p:tgtEl>
                                          <p:spTgt spid="26666"/>
                                        </p:tgtEl>
                                        <p:attrNameLst>
                                          <p:attrName>style.visibility</p:attrName>
                                        </p:attrNameLst>
                                      </p:cBhvr>
                                      <p:to>
                                        <p:strVal val="visible"/>
                                      </p:to>
                                    </p:set>
                                  </p:childTnLst>
                                </p:cTn>
                              </p:par>
                            </p:childTnLst>
                          </p:cTn>
                        </p:par>
                        <p:par>
                          <p:cTn id="116" fill="hold" nodeType="afterGroup">
                            <p:stCondLst>
                              <p:cond delay="15000"/>
                            </p:stCondLst>
                            <p:childTnLst>
                              <p:par>
                                <p:cTn id="117" presetID="1" presetClass="entr" presetSubtype="0" fill="hold" grpId="0" nodeType="afterEffect">
                                  <p:stCondLst>
                                    <p:cond delay="0"/>
                                  </p:stCondLst>
                                  <p:childTnLst>
                                    <p:set>
                                      <p:cBhvr>
                                        <p:cTn id="118" dur="1" fill="hold">
                                          <p:stCondLst>
                                            <p:cond delay="499"/>
                                          </p:stCondLst>
                                        </p:cTn>
                                        <p:tgtEl>
                                          <p:spTgt spid="26667"/>
                                        </p:tgtEl>
                                        <p:attrNameLst>
                                          <p:attrName>style.visibility</p:attrName>
                                        </p:attrNameLst>
                                      </p:cBhvr>
                                      <p:to>
                                        <p:strVal val="visible"/>
                                      </p:to>
                                    </p:set>
                                  </p:childTnLst>
                                </p:cTn>
                              </p:par>
                            </p:childTnLst>
                          </p:cTn>
                        </p:par>
                        <p:par>
                          <p:cTn id="119" fill="hold" nodeType="afterGroup">
                            <p:stCondLst>
                              <p:cond delay="15500"/>
                            </p:stCondLst>
                            <p:childTnLst>
                              <p:par>
                                <p:cTn id="120" presetID="1" presetClass="entr" presetSubtype="0" fill="hold" grpId="0" nodeType="afterEffect">
                                  <p:stCondLst>
                                    <p:cond delay="0"/>
                                  </p:stCondLst>
                                  <p:childTnLst>
                                    <p:set>
                                      <p:cBhvr>
                                        <p:cTn id="121" dur="1" fill="hold">
                                          <p:stCondLst>
                                            <p:cond delay="499"/>
                                          </p:stCondLst>
                                        </p:cTn>
                                        <p:tgtEl>
                                          <p:spTgt spid="26671"/>
                                        </p:tgtEl>
                                        <p:attrNameLst>
                                          <p:attrName>style.visibility</p:attrName>
                                        </p:attrNameLst>
                                      </p:cBhvr>
                                      <p:to>
                                        <p:strVal val="visible"/>
                                      </p:to>
                                    </p:set>
                                  </p:childTnLst>
                                </p:cTn>
                              </p:par>
                            </p:childTnLst>
                          </p:cTn>
                        </p:par>
                        <p:par>
                          <p:cTn id="122" fill="hold" nodeType="afterGroup">
                            <p:stCondLst>
                              <p:cond delay="16000"/>
                            </p:stCondLst>
                            <p:childTnLst>
                              <p:par>
                                <p:cTn id="123" presetID="1" presetClass="entr" presetSubtype="0" fill="hold" grpId="0" nodeType="afterEffect">
                                  <p:stCondLst>
                                    <p:cond delay="0"/>
                                  </p:stCondLst>
                                  <p:childTnLst>
                                    <p:set>
                                      <p:cBhvr>
                                        <p:cTn id="124" dur="1" fill="hold">
                                          <p:stCondLst>
                                            <p:cond delay="499"/>
                                          </p:stCondLst>
                                        </p:cTn>
                                        <p:tgtEl>
                                          <p:spTgt spid="26672"/>
                                        </p:tgtEl>
                                        <p:attrNameLst>
                                          <p:attrName>style.visibility</p:attrName>
                                        </p:attrNameLst>
                                      </p:cBhvr>
                                      <p:to>
                                        <p:strVal val="visible"/>
                                      </p:to>
                                    </p:set>
                                  </p:childTnLst>
                                </p:cTn>
                              </p:par>
                            </p:childTnLst>
                          </p:cTn>
                        </p:par>
                      </p:childTnLst>
                    </p:cTn>
                  </p:par>
                  <p:par>
                    <p:cTn id="125" fill="hold" nodeType="clickPar">
                      <p:stCondLst>
                        <p:cond delay="indefinite"/>
                      </p:stCondLst>
                      <p:childTnLst>
                        <p:par>
                          <p:cTn id="126" fill="hold" nodeType="withGroup">
                            <p:stCondLst>
                              <p:cond delay="0"/>
                            </p:stCondLst>
                            <p:childTnLst>
                              <p:par>
                                <p:cTn id="127" presetID="2" presetClass="entr" presetSubtype="4" fill="hold" grpId="0" nodeType="clickEffect">
                                  <p:stCondLst>
                                    <p:cond delay="0"/>
                                  </p:stCondLst>
                                  <p:childTnLst>
                                    <p:set>
                                      <p:cBhvr>
                                        <p:cTn id="128" dur="1" fill="hold">
                                          <p:stCondLst>
                                            <p:cond delay="0"/>
                                          </p:stCondLst>
                                        </p:cTn>
                                        <p:tgtEl>
                                          <p:spTgt spid="26633"/>
                                        </p:tgtEl>
                                        <p:attrNameLst>
                                          <p:attrName>style.visibility</p:attrName>
                                        </p:attrNameLst>
                                      </p:cBhvr>
                                      <p:to>
                                        <p:strVal val="visible"/>
                                      </p:to>
                                    </p:set>
                                    <p:anim calcmode="lin" valueType="num">
                                      <p:cBhvr additive="base">
                                        <p:cTn id="129" dur="500" fill="hold"/>
                                        <p:tgtEl>
                                          <p:spTgt spid="26633"/>
                                        </p:tgtEl>
                                        <p:attrNameLst>
                                          <p:attrName>ppt_x</p:attrName>
                                        </p:attrNameLst>
                                      </p:cBhvr>
                                      <p:tavLst>
                                        <p:tav tm="0">
                                          <p:val>
                                            <p:strVal val="#ppt_x"/>
                                          </p:val>
                                        </p:tav>
                                        <p:tav tm="100000">
                                          <p:val>
                                            <p:strVal val="#ppt_x"/>
                                          </p:val>
                                        </p:tav>
                                      </p:tavLst>
                                    </p:anim>
                                    <p:anim calcmode="lin" valueType="num">
                                      <p:cBhvr additive="base">
                                        <p:cTn id="130" dur="500" fill="hold"/>
                                        <p:tgtEl>
                                          <p:spTgt spid="26633"/>
                                        </p:tgtEl>
                                        <p:attrNameLst>
                                          <p:attrName>ppt_y</p:attrName>
                                        </p:attrNameLst>
                                      </p:cBhvr>
                                      <p:tavLst>
                                        <p:tav tm="0">
                                          <p:val>
                                            <p:strVal val="1+#ppt_h/2"/>
                                          </p:val>
                                        </p:tav>
                                        <p:tav tm="100000">
                                          <p:val>
                                            <p:strVal val="#ppt_y"/>
                                          </p:val>
                                        </p:tav>
                                      </p:tavLst>
                                    </p:anim>
                                  </p:childTnLst>
                                </p:cTn>
                              </p:par>
                            </p:childTnLst>
                          </p:cTn>
                        </p:par>
                        <p:par>
                          <p:cTn id="131" fill="hold" nodeType="afterGroup">
                            <p:stCondLst>
                              <p:cond delay="500"/>
                            </p:stCondLst>
                            <p:childTnLst>
                              <p:par>
                                <p:cTn id="132" presetID="2" presetClass="entr" presetSubtype="4" fill="hold" grpId="0" nodeType="afterEffect">
                                  <p:stCondLst>
                                    <p:cond delay="0"/>
                                  </p:stCondLst>
                                  <p:childTnLst>
                                    <p:set>
                                      <p:cBhvr>
                                        <p:cTn id="133" dur="1" fill="hold">
                                          <p:stCondLst>
                                            <p:cond delay="0"/>
                                          </p:stCondLst>
                                        </p:cTn>
                                        <p:tgtEl>
                                          <p:spTgt spid="26634"/>
                                        </p:tgtEl>
                                        <p:attrNameLst>
                                          <p:attrName>style.visibility</p:attrName>
                                        </p:attrNameLst>
                                      </p:cBhvr>
                                      <p:to>
                                        <p:strVal val="visible"/>
                                      </p:to>
                                    </p:set>
                                    <p:anim calcmode="lin" valueType="num">
                                      <p:cBhvr additive="base">
                                        <p:cTn id="134" dur="500" fill="hold"/>
                                        <p:tgtEl>
                                          <p:spTgt spid="26634"/>
                                        </p:tgtEl>
                                        <p:attrNameLst>
                                          <p:attrName>ppt_x</p:attrName>
                                        </p:attrNameLst>
                                      </p:cBhvr>
                                      <p:tavLst>
                                        <p:tav tm="0">
                                          <p:val>
                                            <p:strVal val="#ppt_x"/>
                                          </p:val>
                                        </p:tav>
                                        <p:tav tm="100000">
                                          <p:val>
                                            <p:strVal val="#ppt_x"/>
                                          </p:val>
                                        </p:tav>
                                      </p:tavLst>
                                    </p:anim>
                                    <p:anim calcmode="lin" valueType="num">
                                      <p:cBhvr additive="base">
                                        <p:cTn id="135" dur="500" fill="hold"/>
                                        <p:tgtEl>
                                          <p:spTgt spid="26634"/>
                                        </p:tgtEl>
                                        <p:attrNameLst>
                                          <p:attrName>ppt_y</p:attrName>
                                        </p:attrNameLst>
                                      </p:cBhvr>
                                      <p:tavLst>
                                        <p:tav tm="0">
                                          <p:val>
                                            <p:strVal val="1+#ppt_h/2"/>
                                          </p:val>
                                        </p:tav>
                                        <p:tav tm="100000">
                                          <p:val>
                                            <p:strVal val="#ppt_y"/>
                                          </p:val>
                                        </p:tav>
                                      </p:tavLst>
                                    </p:anim>
                                  </p:childTnLst>
                                </p:cTn>
                              </p:par>
                            </p:childTnLst>
                          </p:cTn>
                        </p:par>
                        <p:par>
                          <p:cTn id="136" fill="hold" nodeType="afterGroup">
                            <p:stCondLst>
                              <p:cond delay="1000"/>
                            </p:stCondLst>
                            <p:childTnLst>
                              <p:par>
                                <p:cTn id="137" presetID="2" presetClass="entr" presetSubtype="4" fill="hold" grpId="0" nodeType="afterEffect">
                                  <p:stCondLst>
                                    <p:cond delay="0"/>
                                  </p:stCondLst>
                                  <p:childTnLst>
                                    <p:set>
                                      <p:cBhvr>
                                        <p:cTn id="138" dur="1" fill="hold">
                                          <p:stCondLst>
                                            <p:cond delay="0"/>
                                          </p:stCondLst>
                                        </p:cTn>
                                        <p:tgtEl>
                                          <p:spTgt spid="26635"/>
                                        </p:tgtEl>
                                        <p:attrNameLst>
                                          <p:attrName>style.visibility</p:attrName>
                                        </p:attrNameLst>
                                      </p:cBhvr>
                                      <p:to>
                                        <p:strVal val="visible"/>
                                      </p:to>
                                    </p:set>
                                    <p:anim calcmode="lin" valueType="num">
                                      <p:cBhvr additive="base">
                                        <p:cTn id="139" dur="500" fill="hold"/>
                                        <p:tgtEl>
                                          <p:spTgt spid="26635"/>
                                        </p:tgtEl>
                                        <p:attrNameLst>
                                          <p:attrName>ppt_x</p:attrName>
                                        </p:attrNameLst>
                                      </p:cBhvr>
                                      <p:tavLst>
                                        <p:tav tm="0">
                                          <p:val>
                                            <p:strVal val="#ppt_x"/>
                                          </p:val>
                                        </p:tav>
                                        <p:tav tm="100000">
                                          <p:val>
                                            <p:strVal val="#ppt_x"/>
                                          </p:val>
                                        </p:tav>
                                      </p:tavLst>
                                    </p:anim>
                                    <p:anim calcmode="lin" valueType="num">
                                      <p:cBhvr additive="base">
                                        <p:cTn id="140" dur="500" fill="hold"/>
                                        <p:tgtEl>
                                          <p:spTgt spid="26635"/>
                                        </p:tgtEl>
                                        <p:attrNameLst>
                                          <p:attrName>ppt_y</p:attrName>
                                        </p:attrNameLst>
                                      </p:cBhvr>
                                      <p:tavLst>
                                        <p:tav tm="0">
                                          <p:val>
                                            <p:strVal val="1+#ppt_h/2"/>
                                          </p:val>
                                        </p:tav>
                                        <p:tav tm="100000">
                                          <p:val>
                                            <p:strVal val="#ppt_y"/>
                                          </p:val>
                                        </p:tav>
                                      </p:tavLst>
                                    </p:anim>
                                  </p:childTnLst>
                                </p:cTn>
                              </p:par>
                            </p:childTnLst>
                          </p:cTn>
                        </p:par>
                        <p:par>
                          <p:cTn id="141" fill="hold" nodeType="afterGroup">
                            <p:stCondLst>
                              <p:cond delay="1500"/>
                            </p:stCondLst>
                            <p:childTnLst>
                              <p:par>
                                <p:cTn id="142" presetID="2" presetClass="entr" presetSubtype="4" fill="hold" grpId="0" nodeType="afterEffect">
                                  <p:stCondLst>
                                    <p:cond delay="0"/>
                                  </p:stCondLst>
                                  <p:childTnLst>
                                    <p:set>
                                      <p:cBhvr>
                                        <p:cTn id="143" dur="1" fill="hold">
                                          <p:stCondLst>
                                            <p:cond delay="0"/>
                                          </p:stCondLst>
                                        </p:cTn>
                                        <p:tgtEl>
                                          <p:spTgt spid="26636"/>
                                        </p:tgtEl>
                                        <p:attrNameLst>
                                          <p:attrName>style.visibility</p:attrName>
                                        </p:attrNameLst>
                                      </p:cBhvr>
                                      <p:to>
                                        <p:strVal val="visible"/>
                                      </p:to>
                                    </p:set>
                                    <p:anim calcmode="lin" valueType="num">
                                      <p:cBhvr additive="base">
                                        <p:cTn id="144" dur="500" fill="hold"/>
                                        <p:tgtEl>
                                          <p:spTgt spid="26636"/>
                                        </p:tgtEl>
                                        <p:attrNameLst>
                                          <p:attrName>ppt_x</p:attrName>
                                        </p:attrNameLst>
                                      </p:cBhvr>
                                      <p:tavLst>
                                        <p:tav tm="0">
                                          <p:val>
                                            <p:strVal val="#ppt_x"/>
                                          </p:val>
                                        </p:tav>
                                        <p:tav tm="100000">
                                          <p:val>
                                            <p:strVal val="#ppt_x"/>
                                          </p:val>
                                        </p:tav>
                                      </p:tavLst>
                                    </p:anim>
                                    <p:anim calcmode="lin" valueType="num">
                                      <p:cBhvr additive="base">
                                        <p:cTn id="145" dur="500" fill="hold"/>
                                        <p:tgtEl>
                                          <p:spTgt spid="26636"/>
                                        </p:tgtEl>
                                        <p:attrNameLst>
                                          <p:attrName>ppt_y</p:attrName>
                                        </p:attrNameLst>
                                      </p:cBhvr>
                                      <p:tavLst>
                                        <p:tav tm="0">
                                          <p:val>
                                            <p:strVal val="1+#ppt_h/2"/>
                                          </p:val>
                                        </p:tav>
                                        <p:tav tm="100000">
                                          <p:val>
                                            <p:strVal val="#ppt_y"/>
                                          </p:val>
                                        </p:tav>
                                      </p:tavLst>
                                    </p:anim>
                                  </p:childTnLst>
                                </p:cTn>
                              </p:par>
                            </p:childTnLst>
                          </p:cTn>
                        </p:par>
                        <p:par>
                          <p:cTn id="146" fill="hold" nodeType="afterGroup">
                            <p:stCondLst>
                              <p:cond delay="2000"/>
                            </p:stCondLst>
                            <p:childTnLst>
                              <p:par>
                                <p:cTn id="147" presetID="2" presetClass="entr" presetSubtype="4" fill="hold" grpId="0" nodeType="afterEffect">
                                  <p:stCondLst>
                                    <p:cond delay="0"/>
                                  </p:stCondLst>
                                  <p:childTnLst>
                                    <p:set>
                                      <p:cBhvr>
                                        <p:cTn id="148" dur="1" fill="hold">
                                          <p:stCondLst>
                                            <p:cond delay="0"/>
                                          </p:stCondLst>
                                        </p:cTn>
                                        <p:tgtEl>
                                          <p:spTgt spid="26637"/>
                                        </p:tgtEl>
                                        <p:attrNameLst>
                                          <p:attrName>style.visibility</p:attrName>
                                        </p:attrNameLst>
                                      </p:cBhvr>
                                      <p:to>
                                        <p:strVal val="visible"/>
                                      </p:to>
                                    </p:set>
                                    <p:anim calcmode="lin" valueType="num">
                                      <p:cBhvr additive="base">
                                        <p:cTn id="149" dur="500" fill="hold"/>
                                        <p:tgtEl>
                                          <p:spTgt spid="26637"/>
                                        </p:tgtEl>
                                        <p:attrNameLst>
                                          <p:attrName>ppt_x</p:attrName>
                                        </p:attrNameLst>
                                      </p:cBhvr>
                                      <p:tavLst>
                                        <p:tav tm="0">
                                          <p:val>
                                            <p:strVal val="#ppt_x"/>
                                          </p:val>
                                        </p:tav>
                                        <p:tav tm="100000">
                                          <p:val>
                                            <p:strVal val="#ppt_x"/>
                                          </p:val>
                                        </p:tav>
                                      </p:tavLst>
                                    </p:anim>
                                    <p:anim calcmode="lin" valueType="num">
                                      <p:cBhvr additive="base">
                                        <p:cTn id="150" dur="500" fill="hold"/>
                                        <p:tgtEl>
                                          <p:spTgt spid="26637"/>
                                        </p:tgtEl>
                                        <p:attrNameLst>
                                          <p:attrName>ppt_y</p:attrName>
                                        </p:attrNameLst>
                                      </p:cBhvr>
                                      <p:tavLst>
                                        <p:tav tm="0">
                                          <p:val>
                                            <p:strVal val="1+#ppt_h/2"/>
                                          </p:val>
                                        </p:tav>
                                        <p:tav tm="100000">
                                          <p:val>
                                            <p:strVal val="#ppt_y"/>
                                          </p:val>
                                        </p:tav>
                                      </p:tavLst>
                                    </p:anim>
                                  </p:childTnLst>
                                </p:cTn>
                              </p:par>
                            </p:childTnLst>
                          </p:cTn>
                        </p:par>
                        <p:par>
                          <p:cTn id="151" fill="hold" nodeType="afterGroup">
                            <p:stCondLst>
                              <p:cond delay="2500"/>
                            </p:stCondLst>
                            <p:childTnLst>
                              <p:par>
                                <p:cTn id="152" presetID="2" presetClass="entr" presetSubtype="4" fill="hold" grpId="0" nodeType="afterEffect">
                                  <p:stCondLst>
                                    <p:cond delay="0"/>
                                  </p:stCondLst>
                                  <p:childTnLst>
                                    <p:set>
                                      <p:cBhvr>
                                        <p:cTn id="153" dur="1" fill="hold">
                                          <p:stCondLst>
                                            <p:cond delay="0"/>
                                          </p:stCondLst>
                                        </p:cTn>
                                        <p:tgtEl>
                                          <p:spTgt spid="26638"/>
                                        </p:tgtEl>
                                        <p:attrNameLst>
                                          <p:attrName>style.visibility</p:attrName>
                                        </p:attrNameLst>
                                      </p:cBhvr>
                                      <p:to>
                                        <p:strVal val="visible"/>
                                      </p:to>
                                    </p:set>
                                    <p:anim calcmode="lin" valueType="num">
                                      <p:cBhvr additive="base">
                                        <p:cTn id="154" dur="500" fill="hold"/>
                                        <p:tgtEl>
                                          <p:spTgt spid="26638"/>
                                        </p:tgtEl>
                                        <p:attrNameLst>
                                          <p:attrName>ppt_x</p:attrName>
                                        </p:attrNameLst>
                                      </p:cBhvr>
                                      <p:tavLst>
                                        <p:tav tm="0">
                                          <p:val>
                                            <p:strVal val="#ppt_x"/>
                                          </p:val>
                                        </p:tav>
                                        <p:tav tm="100000">
                                          <p:val>
                                            <p:strVal val="#ppt_x"/>
                                          </p:val>
                                        </p:tav>
                                      </p:tavLst>
                                    </p:anim>
                                    <p:anim calcmode="lin" valueType="num">
                                      <p:cBhvr additive="base">
                                        <p:cTn id="155" dur="500" fill="hold"/>
                                        <p:tgtEl>
                                          <p:spTgt spid="26638"/>
                                        </p:tgtEl>
                                        <p:attrNameLst>
                                          <p:attrName>ppt_y</p:attrName>
                                        </p:attrNameLst>
                                      </p:cBhvr>
                                      <p:tavLst>
                                        <p:tav tm="0">
                                          <p:val>
                                            <p:strVal val="1+#ppt_h/2"/>
                                          </p:val>
                                        </p:tav>
                                        <p:tav tm="100000">
                                          <p:val>
                                            <p:strVal val="#ppt_y"/>
                                          </p:val>
                                        </p:tav>
                                      </p:tavLst>
                                    </p:anim>
                                  </p:childTnLst>
                                </p:cTn>
                              </p:par>
                            </p:childTnLst>
                          </p:cTn>
                        </p:par>
                        <p:par>
                          <p:cTn id="156" fill="hold" nodeType="afterGroup">
                            <p:stCondLst>
                              <p:cond delay="3000"/>
                            </p:stCondLst>
                            <p:childTnLst>
                              <p:par>
                                <p:cTn id="157" presetID="2" presetClass="entr" presetSubtype="4" fill="hold" grpId="0" nodeType="afterEffect">
                                  <p:stCondLst>
                                    <p:cond delay="0"/>
                                  </p:stCondLst>
                                  <p:childTnLst>
                                    <p:set>
                                      <p:cBhvr>
                                        <p:cTn id="158" dur="1" fill="hold">
                                          <p:stCondLst>
                                            <p:cond delay="0"/>
                                          </p:stCondLst>
                                        </p:cTn>
                                        <p:tgtEl>
                                          <p:spTgt spid="26639"/>
                                        </p:tgtEl>
                                        <p:attrNameLst>
                                          <p:attrName>style.visibility</p:attrName>
                                        </p:attrNameLst>
                                      </p:cBhvr>
                                      <p:to>
                                        <p:strVal val="visible"/>
                                      </p:to>
                                    </p:set>
                                    <p:anim calcmode="lin" valueType="num">
                                      <p:cBhvr additive="base">
                                        <p:cTn id="159" dur="500" fill="hold"/>
                                        <p:tgtEl>
                                          <p:spTgt spid="26639"/>
                                        </p:tgtEl>
                                        <p:attrNameLst>
                                          <p:attrName>ppt_x</p:attrName>
                                        </p:attrNameLst>
                                      </p:cBhvr>
                                      <p:tavLst>
                                        <p:tav tm="0">
                                          <p:val>
                                            <p:strVal val="#ppt_x"/>
                                          </p:val>
                                        </p:tav>
                                        <p:tav tm="100000">
                                          <p:val>
                                            <p:strVal val="#ppt_x"/>
                                          </p:val>
                                        </p:tav>
                                      </p:tavLst>
                                    </p:anim>
                                    <p:anim calcmode="lin" valueType="num">
                                      <p:cBhvr additive="base">
                                        <p:cTn id="160" dur="500" fill="hold"/>
                                        <p:tgtEl>
                                          <p:spTgt spid="26639"/>
                                        </p:tgtEl>
                                        <p:attrNameLst>
                                          <p:attrName>ppt_y</p:attrName>
                                        </p:attrNameLst>
                                      </p:cBhvr>
                                      <p:tavLst>
                                        <p:tav tm="0">
                                          <p:val>
                                            <p:strVal val="1+#ppt_h/2"/>
                                          </p:val>
                                        </p:tav>
                                        <p:tav tm="100000">
                                          <p:val>
                                            <p:strVal val="#ppt_y"/>
                                          </p:val>
                                        </p:tav>
                                      </p:tavLst>
                                    </p:anim>
                                  </p:childTnLst>
                                </p:cTn>
                              </p:par>
                            </p:childTnLst>
                          </p:cTn>
                        </p:par>
                        <p:par>
                          <p:cTn id="161" fill="hold" nodeType="afterGroup">
                            <p:stCondLst>
                              <p:cond delay="3500"/>
                            </p:stCondLst>
                            <p:childTnLst>
                              <p:par>
                                <p:cTn id="162" presetID="2" presetClass="entr" presetSubtype="4" fill="hold" grpId="0" nodeType="afterEffect">
                                  <p:stCondLst>
                                    <p:cond delay="0"/>
                                  </p:stCondLst>
                                  <p:childTnLst>
                                    <p:set>
                                      <p:cBhvr>
                                        <p:cTn id="163" dur="1" fill="hold">
                                          <p:stCondLst>
                                            <p:cond delay="0"/>
                                          </p:stCondLst>
                                        </p:cTn>
                                        <p:tgtEl>
                                          <p:spTgt spid="26640"/>
                                        </p:tgtEl>
                                        <p:attrNameLst>
                                          <p:attrName>style.visibility</p:attrName>
                                        </p:attrNameLst>
                                      </p:cBhvr>
                                      <p:to>
                                        <p:strVal val="visible"/>
                                      </p:to>
                                    </p:set>
                                    <p:anim calcmode="lin" valueType="num">
                                      <p:cBhvr additive="base">
                                        <p:cTn id="164" dur="500" fill="hold"/>
                                        <p:tgtEl>
                                          <p:spTgt spid="26640"/>
                                        </p:tgtEl>
                                        <p:attrNameLst>
                                          <p:attrName>ppt_x</p:attrName>
                                        </p:attrNameLst>
                                      </p:cBhvr>
                                      <p:tavLst>
                                        <p:tav tm="0">
                                          <p:val>
                                            <p:strVal val="#ppt_x"/>
                                          </p:val>
                                        </p:tav>
                                        <p:tav tm="100000">
                                          <p:val>
                                            <p:strVal val="#ppt_x"/>
                                          </p:val>
                                        </p:tav>
                                      </p:tavLst>
                                    </p:anim>
                                    <p:anim calcmode="lin" valueType="num">
                                      <p:cBhvr additive="base">
                                        <p:cTn id="165" dur="500" fill="hold"/>
                                        <p:tgtEl>
                                          <p:spTgt spid="26640"/>
                                        </p:tgtEl>
                                        <p:attrNameLst>
                                          <p:attrName>ppt_y</p:attrName>
                                        </p:attrNameLst>
                                      </p:cBhvr>
                                      <p:tavLst>
                                        <p:tav tm="0">
                                          <p:val>
                                            <p:strVal val="1+#ppt_h/2"/>
                                          </p:val>
                                        </p:tav>
                                        <p:tav tm="100000">
                                          <p:val>
                                            <p:strVal val="#ppt_y"/>
                                          </p:val>
                                        </p:tav>
                                      </p:tavLst>
                                    </p:anim>
                                  </p:childTnLst>
                                </p:cTn>
                              </p:par>
                            </p:childTnLst>
                          </p:cTn>
                        </p:par>
                        <p:par>
                          <p:cTn id="166" fill="hold" nodeType="afterGroup">
                            <p:stCondLst>
                              <p:cond delay="4000"/>
                            </p:stCondLst>
                            <p:childTnLst>
                              <p:par>
                                <p:cTn id="167" presetID="2" presetClass="entr" presetSubtype="4" fill="hold" grpId="0" nodeType="afterEffect">
                                  <p:stCondLst>
                                    <p:cond delay="0"/>
                                  </p:stCondLst>
                                  <p:childTnLst>
                                    <p:set>
                                      <p:cBhvr>
                                        <p:cTn id="168" dur="1" fill="hold">
                                          <p:stCondLst>
                                            <p:cond delay="0"/>
                                          </p:stCondLst>
                                        </p:cTn>
                                        <p:tgtEl>
                                          <p:spTgt spid="26641"/>
                                        </p:tgtEl>
                                        <p:attrNameLst>
                                          <p:attrName>style.visibility</p:attrName>
                                        </p:attrNameLst>
                                      </p:cBhvr>
                                      <p:to>
                                        <p:strVal val="visible"/>
                                      </p:to>
                                    </p:set>
                                    <p:anim calcmode="lin" valueType="num">
                                      <p:cBhvr additive="base">
                                        <p:cTn id="169" dur="500" fill="hold"/>
                                        <p:tgtEl>
                                          <p:spTgt spid="26641"/>
                                        </p:tgtEl>
                                        <p:attrNameLst>
                                          <p:attrName>ppt_x</p:attrName>
                                        </p:attrNameLst>
                                      </p:cBhvr>
                                      <p:tavLst>
                                        <p:tav tm="0">
                                          <p:val>
                                            <p:strVal val="#ppt_x"/>
                                          </p:val>
                                        </p:tav>
                                        <p:tav tm="100000">
                                          <p:val>
                                            <p:strVal val="#ppt_x"/>
                                          </p:val>
                                        </p:tav>
                                      </p:tavLst>
                                    </p:anim>
                                    <p:anim calcmode="lin" valueType="num">
                                      <p:cBhvr additive="base">
                                        <p:cTn id="170" dur="500" fill="hold"/>
                                        <p:tgtEl>
                                          <p:spTgt spid="26641"/>
                                        </p:tgtEl>
                                        <p:attrNameLst>
                                          <p:attrName>ppt_y</p:attrName>
                                        </p:attrNameLst>
                                      </p:cBhvr>
                                      <p:tavLst>
                                        <p:tav tm="0">
                                          <p:val>
                                            <p:strVal val="1+#ppt_h/2"/>
                                          </p:val>
                                        </p:tav>
                                        <p:tav tm="100000">
                                          <p:val>
                                            <p:strVal val="#ppt_y"/>
                                          </p:val>
                                        </p:tav>
                                      </p:tavLst>
                                    </p:anim>
                                  </p:childTnLst>
                                </p:cTn>
                              </p:par>
                            </p:childTnLst>
                          </p:cTn>
                        </p:par>
                        <p:par>
                          <p:cTn id="171" fill="hold" nodeType="afterGroup">
                            <p:stCondLst>
                              <p:cond delay="4500"/>
                            </p:stCondLst>
                            <p:childTnLst>
                              <p:par>
                                <p:cTn id="172" presetID="2" presetClass="entr" presetSubtype="4" fill="hold" grpId="0" nodeType="afterEffect">
                                  <p:stCondLst>
                                    <p:cond delay="0"/>
                                  </p:stCondLst>
                                  <p:childTnLst>
                                    <p:set>
                                      <p:cBhvr>
                                        <p:cTn id="173" dur="1" fill="hold">
                                          <p:stCondLst>
                                            <p:cond delay="0"/>
                                          </p:stCondLst>
                                        </p:cTn>
                                        <p:tgtEl>
                                          <p:spTgt spid="26642"/>
                                        </p:tgtEl>
                                        <p:attrNameLst>
                                          <p:attrName>style.visibility</p:attrName>
                                        </p:attrNameLst>
                                      </p:cBhvr>
                                      <p:to>
                                        <p:strVal val="visible"/>
                                      </p:to>
                                    </p:set>
                                    <p:anim calcmode="lin" valueType="num">
                                      <p:cBhvr additive="base">
                                        <p:cTn id="174" dur="500" fill="hold"/>
                                        <p:tgtEl>
                                          <p:spTgt spid="26642"/>
                                        </p:tgtEl>
                                        <p:attrNameLst>
                                          <p:attrName>ppt_x</p:attrName>
                                        </p:attrNameLst>
                                      </p:cBhvr>
                                      <p:tavLst>
                                        <p:tav tm="0">
                                          <p:val>
                                            <p:strVal val="#ppt_x"/>
                                          </p:val>
                                        </p:tav>
                                        <p:tav tm="100000">
                                          <p:val>
                                            <p:strVal val="#ppt_x"/>
                                          </p:val>
                                        </p:tav>
                                      </p:tavLst>
                                    </p:anim>
                                    <p:anim calcmode="lin" valueType="num">
                                      <p:cBhvr additive="base">
                                        <p:cTn id="175" dur="500" fill="hold"/>
                                        <p:tgtEl>
                                          <p:spTgt spid="26642"/>
                                        </p:tgtEl>
                                        <p:attrNameLst>
                                          <p:attrName>ppt_y</p:attrName>
                                        </p:attrNameLst>
                                      </p:cBhvr>
                                      <p:tavLst>
                                        <p:tav tm="0">
                                          <p:val>
                                            <p:strVal val="1+#ppt_h/2"/>
                                          </p:val>
                                        </p:tav>
                                        <p:tav tm="100000">
                                          <p:val>
                                            <p:strVal val="#ppt_y"/>
                                          </p:val>
                                        </p:tav>
                                      </p:tavLst>
                                    </p:anim>
                                  </p:childTnLst>
                                </p:cTn>
                              </p:par>
                            </p:childTnLst>
                          </p:cTn>
                        </p:par>
                        <p:par>
                          <p:cTn id="176" fill="hold" nodeType="afterGroup">
                            <p:stCondLst>
                              <p:cond delay="5000"/>
                            </p:stCondLst>
                            <p:childTnLst>
                              <p:par>
                                <p:cTn id="177" presetID="2" presetClass="entr" presetSubtype="4" fill="hold" grpId="0" nodeType="afterEffect">
                                  <p:stCondLst>
                                    <p:cond delay="0"/>
                                  </p:stCondLst>
                                  <p:childTnLst>
                                    <p:set>
                                      <p:cBhvr>
                                        <p:cTn id="178" dur="1" fill="hold">
                                          <p:stCondLst>
                                            <p:cond delay="0"/>
                                          </p:stCondLst>
                                        </p:cTn>
                                        <p:tgtEl>
                                          <p:spTgt spid="26643"/>
                                        </p:tgtEl>
                                        <p:attrNameLst>
                                          <p:attrName>style.visibility</p:attrName>
                                        </p:attrNameLst>
                                      </p:cBhvr>
                                      <p:to>
                                        <p:strVal val="visible"/>
                                      </p:to>
                                    </p:set>
                                    <p:anim calcmode="lin" valueType="num">
                                      <p:cBhvr additive="base">
                                        <p:cTn id="179" dur="500" fill="hold"/>
                                        <p:tgtEl>
                                          <p:spTgt spid="26643"/>
                                        </p:tgtEl>
                                        <p:attrNameLst>
                                          <p:attrName>ppt_x</p:attrName>
                                        </p:attrNameLst>
                                      </p:cBhvr>
                                      <p:tavLst>
                                        <p:tav tm="0">
                                          <p:val>
                                            <p:strVal val="#ppt_x"/>
                                          </p:val>
                                        </p:tav>
                                        <p:tav tm="100000">
                                          <p:val>
                                            <p:strVal val="#ppt_x"/>
                                          </p:val>
                                        </p:tav>
                                      </p:tavLst>
                                    </p:anim>
                                    <p:anim calcmode="lin" valueType="num">
                                      <p:cBhvr additive="base">
                                        <p:cTn id="180" dur="500" fill="hold"/>
                                        <p:tgtEl>
                                          <p:spTgt spid="26643"/>
                                        </p:tgtEl>
                                        <p:attrNameLst>
                                          <p:attrName>ppt_y</p:attrName>
                                        </p:attrNameLst>
                                      </p:cBhvr>
                                      <p:tavLst>
                                        <p:tav tm="0">
                                          <p:val>
                                            <p:strVal val="1+#ppt_h/2"/>
                                          </p:val>
                                        </p:tav>
                                        <p:tav tm="100000">
                                          <p:val>
                                            <p:strVal val="#ppt_y"/>
                                          </p:val>
                                        </p:tav>
                                      </p:tavLst>
                                    </p:anim>
                                  </p:childTnLst>
                                </p:cTn>
                              </p:par>
                            </p:childTnLst>
                          </p:cTn>
                        </p:par>
                        <p:par>
                          <p:cTn id="181" fill="hold" nodeType="afterGroup">
                            <p:stCondLst>
                              <p:cond delay="5500"/>
                            </p:stCondLst>
                            <p:childTnLst>
                              <p:par>
                                <p:cTn id="182" presetID="2" presetClass="entr" presetSubtype="4" fill="hold" grpId="0" nodeType="afterEffect">
                                  <p:stCondLst>
                                    <p:cond delay="0"/>
                                  </p:stCondLst>
                                  <p:childTnLst>
                                    <p:set>
                                      <p:cBhvr>
                                        <p:cTn id="183" dur="1" fill="hold">
                                          <p:stCondLst>
                                            <p:cond delay="0"/>
                                          </p:stCondLst>
                                        </p:cTn>
                                        <p:tgtEl>
                                          <p:spTgt spid="26644"/>
                                        </p:tgtEl>
                                        <p:attrNameLst>
                                          <p:attrName>style.visibility</p:attrName>
                                        </p:attrNameLst>
                                      </p:cBhvr>
                                      <p:to>
                                        <p:strVal val="visible"/>
                                      </p:to>
                                    </p:set>
                                    <p:anim calcmode="lin" valueType="num">
                                      <p:cBhvr additive="base">
                                        <p:cTn id="184" dur="500" fill="hold"/>
                                        <p:tgtEl>
                                          <p:spTgt spid="26644"/>
                                        </p:tgtEl>
                                        <p:attrNameLst>
                                          <p:attrName>ppt_x</p:attrName>
                                        </p:attrNameLst>
                                      </p:cBhvr>
                                      <p:tavLst>
                                        <p:tav tm="0">
                                          <p:val>
                                            <p:strVal val="#ppt_x"/>
                                          </p:val>
                                        </p:tav>
                                        <p:tav tm="100000">
                                          <p:val>
                                            <p:strVal val="#ppt_x"/>
                                          </p:val>
                                        </p:tav>
                                      </p:tavLst>
                                    </p:anim>
                                    <p:anim calcmode="lin" valueType="num">
                                      <p:cBhvr additive="base">
                                        <p:cTn id="185" dur="500" fill="hold"/>
                                        <p:tgtEl>
                                          <p:spTgt spid="26644"/>
                                        </p:tgtEl>
                                        <p:attrNameLst>
                                          <p:attrName>ppt_y</p:attrName>
                                        </p:attrNameLst>
                                      </p:cBhvr>
                                      <p:tavLst>
                                        <p:tav tm="0">
                                          <p:val>
                                            <p:strVal val="1+#ppt_h/2"/>
                                          </p:val>
                                        </p:tav>
                                        <p:tav tm="100000">
                                          <p:val>
                                            <p:strVal val="#ppt_y"/>
                                          </p:val>
                                        </p:tav>
                                      </p:tavLst>
                                    </p:anim>
                                  </p:childTnLst>
                                </p:cTn>
                              </p:par>
                            </p:childTnLst>
                          </p:cTn>
                        </p:par>
                      </p:childTnLst>
                    </p:cTn>
                  </p:par>
                  <p:par>
                    <p:cTn id="186" fill="hold" nodeType="clickPar">
                      <p:stCondLst>
                        <p:cond delay="indefinite"/>
                      </p:stCondLst>
                      <p:childTnLst>
                        <p:par>
                          <p:cTn id="187" fill="hold" nodeType="withGroup">
                            <p:stCondLst>
                              <p:cond delay="0"/>
                            </p:stCondLst>
                            <p:childTnLst>
                              <p:par>
                                <p:cTn id="188" presetID="1" presetClass="entr" presetSubtype="0" fill="hold" grpId="0" nodeType="clickEffect">
                                  <p:stCondLst>
                                    <p:cond delay="0"/>
                                  </p:stCondLst>
                                  <p:childTnLst>
                                    <p:set>
                                      <p:cBhvr>
                                        <p:cTn id="189" dur="1" fill="hold">
                                          <p:stCondLst>
                                            <p:cond delay="499"/>
                                          </p:stCondLst>
                                        </p:cTn>
                                        <p:tgtEl>
                                          <p:spTgt spid="26675"/>
                                        </p:tgtEl>
                                        <p:attrNameLst>
                                          <p:attrName>style.visibility</p:attrName>
                                        </p:attrNameLst>
                                      </p:cBhvr>
                                      <p:to>
                                        <p:strVal val="visible"/>
                                      </p:to>
                                    </p:se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1" presetClass="entr" presetSubtype="0" fill="hold" grpId="0" nodeType="clickEffect">
                                  <p:stCondLst>
                                    <p:cond delay="0"/>
                                  </p:stCondLst>
                                  <p:childTnLst>
                                    <p:set>
                                      <p:cBhvr>
                                        <p:cTn id="193" dur="1" fill="hold">
                                          <p:stCondLst>
                                            <p:cond delay="499"/>
                                          </p:stCondLst>
                                        </p:cTn>
                                        <p:tgtEl>
                                          <p:spTgt spid="26676"/>
                                        </p:tgtEl>
                                        <p:attrNameLst>
                                          <p:attrName>style.visibility</p:attrName>
                                        </p:attrNameLst>
                                      </p:cBhvr>
                                      <p:to>
                                        <p:strVal val="visible"/>
                                      </p:to>
                                    </p:se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1" presetClass="entr" presetSubtype="0" fill="hold" grpId="0" nodeType="clickEffect">
                                  <p:stCondLst>
                                    <p:cond delay="0"/>
                                  </p:stCondLst>
                                  <p:childTnLst>
                                    <p:set>
                                      <p:cBhvr>
                                        <p:cTn id="197" dur="1" fill="hold">
                                          <p:stCondLst>
                                            <p:cond delay="499"/>
                                          </p:stCondLst>
                                        </p:cTn>
                                        <p:tgtEl>
                                          <p:spTgt spid="26677"/>
                                        </p:tgtEl>
                                        <p:attrNameLst>
                                          <p:attrName>style.visibility</p:attrName>
                                        </p:attrNameLst>
                                      </p:cBhvr>
                                      <p:to>
                                        <p:strVal val="visible"/>
                                      </p:to>
                                    </p:set>
                                  </p:childTnLst>
                                </p:cTn>
                              </p:par>
                            </p:childTnLst>
                          </p:cTn>
                        </p:par>
                      </p:childTnLst>
                    </p:cTn>
                  </p:par>
                  <p:par>
                    <p:cTn id="198" fill="hold" nodeType="clickPar">
                      <p:stCondLst>
                        <p:cond delay="indefinite"/>
                      </p:stCondLst>
                      <p:childTnLst>
                        <p:par>
                          <p:cTn id="199" fill="hold" nodeType="withGroup">
                            <p:stCondLst>
                              <p:cond delay="0"/>
                            </p:stCondLst>
                            <p:childTnLst>
                              <p:par>
                                <p:cTn id="200" presetID="1" presetClass="entr" presetSubtype="0" fill="hold" grpId="0" nodeType="clickEffect">
                                  <p:stCondLst>
                                    <p:cond delay="0"/>
                                  </p:stCondLst>
                                  <p:childTnLst>
                                    <p:set>
                                      <p:cBhvr>
                                        <p:cTn id="201" dur="1" fill="hold">
                                          <p:stCondLst>
                                            <p:cond delay="499"/>
                                          </p:stCondLst>
                                        </p:cTn>
                                        <p:tgtEl>
                                          <p:spTgt spid="26678"/>
                                        </p:tgtEl>
                                        <p:attrNameLst>
                                          <p:attrName>style.visibility</p:attrName>
                                        </p:attrNameLst>
                                      </p:cBhvr>
                                      <p:to>
                                        <p:strVal val="visible"/>
                                      </p:to>
                                    </p:set>
                                  </p:childTnLst>
                                </p:cTn>
                              </p:par>
                            </p:childTnLst>
                          </p:cTn>
                        </p:par>
                      </p:childTnLst>
                    </p:cTn>
                  </p:par>
                  <p:par>
                    <p:cTn id="202" fill="hold" nodeType="clickPar">
                      <p:stCondLst>
                        <p:cond delay="indefinite"/>
                      </p:stCondLst>
                      <p:childTnLst>
                        <p:par>
                          <p:cTn id="203" fill="hold" nodeType="withGroup">
                            <p:stCondLst>
                              <p:cond delay="0"/>
                            </p:stCondLst>
                            <p:childTnLst>
                              <p:par>
                                <p:cTn id="204" presetID="1" presetClass="entr" presetSubtype="0" fill="hold" grpId="0" nodeType="clickEffect">
                                  <p:stCondLst>
                                    <p:cond delay="0"/>
                                  </p:stCondLst>
                                  <p:childTnLst>
                                    <p:set>
                                      <p:cBhvr>
                                        <p:cTn id="205" dur="1" fill="hold">
                                          <p:stCondLst>
                                            <p:cond delay="499"/>
                                          </p:stCondLst>
                                        </p:cTn>
                                        <p:tgtEl>
                                          <p:spTgt spid="26679"/>
                                        </p:tgtEl>
                                        <p:attrNameLst>
                                          <p:attrName>style.visibility</p:attrName>
                                        </p:attrNameLst>
                                      </p:cBhvr>
                                      <p:to>
                                        <p:strVal val="visible"/>
                                      </p:to>
                                    </p:set>
                                  </p:childTnLst>
                                </p:cTn>
                              </p:par>
                            </p:childTnLst>
                          </p:cTn>
                        </p:par>
                      </p:childTnLst>
                    </p:cTn>
                  </p:par>
                  <p:par>
                    <p:cTn id="206" fill="hold" nodeType="clickPar">
                      <p:stCondLst>
                        <p:cond delay="indefinite"/>
                      </p:stCondLst>
                      <p:childTnLst>
                        <p:par>
                          <p:cTn id="207" fill="hold" nodeType="withGroup">
                            <p:stCondLst>
                              <p:cond delay="0"/>
                            </p:stCondLst>
                            <p:childTnLst>
                              <p:par>
                                <p:cTn id="208" presetID="1" presetClass="entr" presetSubtype="0" fill="hold" grpId="0" nodeType="clickEffect">
                                  <p:stCondLst>
                                    <p:cond delay="0"/>
                                  </p:stCondLst>
                                  <p:childTnLst>
                                    <p:set>
                                      <p:cBhvr>
                                        <p:cTn id="209" dur="1" fill="hold">
                                          <p:stCondLst>
                                            <p:cond delay="499"/>
                                          </p:stCondLst>
                                        </p:cTn>
                                        <p:tgtEl>
                                          <p:spTgt spid="26680"/>
                                        </p:tgtEl>
                                        <p:attrNameLst>
                                          <p:attrName>style.visibility</p:attrName>
                                        </p:attrNameLst>
                                      </p:cBhvr>
                                      <p:to>
                                        <p:strVal val="visible"/>
                                      </p:to>
                                    </p:se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1" presetClass="entr" presetSubtype="0" fill="hold" grpId="0" nodeType="clickEffect">
                                  <p:stCondLst>
                                    <p:cond delay="0"/>
                                  </p:stCondLst>
                                  <p:childTnLst>
                                    <p:set>
                                      <p:cBhvr>
                                        <p:cTn id="213" dur="1" fill="hold">
                                          <p:stCondLst>
                                            <p:cond delay="499"/>
                                          </p:stCondLst>
                                        </p:cTn>
                                        <p:tgtEl>
                                          <p:spTgt spid="26681"/>
                                        </p:tgtEl>
                                        <p:attrNameLst>
                                          <p:attrName>style.visibility</p:attrName>
                                        </p:attrNameLst>
                                      </p:cBhvr>
                                      <p:to>
                                        <p:strVal val="visible"/>
                                      </p:to>
                                    </p:set>
                                  </p:childTnLst>
                                </p:cTn>
                              </p:par>
                            </p:childTnLst>
                          </p:cTn>
                        </p:par>
                      </p:childTnLst>
                    </p:cTn>
                  </p:par>
                  <p:par>
                    <p:cTn id="214" fill="hold" nodeType="clickPar">
                      <p:stCondLst>
                        <p:cond delay="indefinite"/>
                      </p:stCondLst>
                      <p:childTnLst>
                        <p:par>
                          <p:cTn id="215" fill="hold" nodeType="withGroup">
                            <p:stCondLst>
                              <p:cond delay="0"/>
                            </p:stCondLst>
                            <p:childTnLst>
                              <p:par>
                                <p:cTn id="216" presetID="1" presetClass="entr" presetSubtype="0" fill="hold" grpId="0" nodeType="clickEffect">
                                  <p:stCondLst>
                                    <p:cond delay="0"/>
                                  </p:stCondLst>
                                  <p:childTnLst>
                                    <p:set>
                                      <p:cBhvr>
                                        <p:cTn id="217" dur="1" fill="hold">
                                          <p:stCondLst>
                                            <p:cond delay="499"/>
                                          </p:stCondLst>
                                        </p:cTn>
                                        <p:tgtEl>
                                          <p:spTgt spid="26682"/>
                                        </p:tgtEl>
                                        <p:attrNameLst>
                                          <p:attrName>style.visibility</p:attrName>
                                        </p:attrNameLst>
                                      </p:cBhvr>
                                      <p:to>
                                        <p:strVal val="visible"/>
                                      </p:to>
                                    </p:set>
                                  </p:childTnLst>
                                </p:cTn>
                              </p:par>
                            </p:childTnLst>
                          </p:cTn>
                        </p:par>
                      </p:childTnLst>
                    </p:cTn>
                  </p:par>
                  <p:par>
                    <p:cTn id="218" fill="hold" nodeType="clickPar">
                      <p:stCondLst>
                        <p:cond delay="indefinite"/>
                      </p:stCondLst>
                      <p:childTnLst>
                        <p:par>
                          <p:cTn id="219" fill="hold" nodeType="withGroup">
                            <p:stCondLst>
                              <p:cond delay="0"/>
                            </p:stCondLst>
                            <p:childTnLst>
                              <p:par>
                                <p:cTn id="220" presetID="1" presetClass="entr" presetSubtype="0" fill="hold" grpId="0" nodeType="clickEffect">
                                  <p:stCondLst>
                                    <p:cond delay="0"/>
                                  </p:stCondLst>
                                  <p:childTnLst>
                                    <p:set>
                                      <p:cBhvr>
                                        <p:cTn id="221" dur="1" fill="hold">
                                          <p:stCondLst>
                                            <p:cond delay="499"/>
                                          </p:stCondLst>
                                        </p:cTn>
                                        <p:tgtEl>
                                          <p:spTgt spid="26683"/>
                                        </p:tgtEl>
                                        <p:attrNameLst>
                                          <p:attrName>style.visibility</p:attrName>
                                        </p:attrNameLst>
                                      </p:cBhvr>
                                      <p:to>
                                        <p:strVal val="visible"/>
                                      </p:to>
                                    </p:set>
                                  </p:childTnLst>
                                </p:cTn>
                              </p:par>
                            </p:childTnLst>
                          </p:cTn>
                        </p:par>
                      </p:childTnLst>
                    </p:cTn>
                  </p:par>
                  <p:par>
                    <p:cTn id="222" fill="hold" nodeType="clickPar">
                      <p:stCondLst>
                        <p:cond delay="indefinite"/>
                      </p:stCondLst>
                      <p:childTnLst>
                        <p:par>
                          <p:cTn id="223" fill="hold" nodeType="withGroup">
                            <p:stCondLst>
                              <p:cond delay="0"/>
                            </p:stCondLst>
                            <p:childTnLst>
                              <p:par>
                                <p:cTn id="224" presetID="1" presetClass="entr" presetSubtype="0" fill="hold" grpId="0" nodeType="clickEffect">
                                  <p:stCondLst>
                                    <p:cond delay="0"/>
                                  </p:stCondLst>
                                  <p:childTnLst>
                                    <p:set>
                                      <p:cBhvr>
                                        <p:cTn id="225" dur="1" fill="hold">
                                          <p:stCondLst>
                                            <p:cond delay="499"/>
                                          </p:stCondLst>
                                        </p:cTn>
                                        <p:tgtEl>
                                          <p:spTgt spid="26684"/>
                                        </p:tgtEl>
                                        <p:attrNameLst>
                                          <p:attrName>style.visibility</p:attrName>
                                        </p:attrNameLst>
                                      </p:cBhvr>
                                      <p:to>
                                        <p:strVal val="visible"/>
                                      </p:to>
                                    </p:set>
                                  </p:childTnLst>
                                </p:cTn>
                              </p:par>
                            </p:childTnLst>
                          </p:cTn>
                        </p:par>
                      </p:childTnLst>
                    </p:cTn>
                  </p:par>
                  <p:par>
                    <p:cTn id="226" fill="hold" nodeType="clickPar">
                      <p:stCondLst>
                        <p:cond delay="indefinite"/>
                      </p:stCondLst>
                      <p:childTnLst>
                        <p:par>
                          <p:cTn id="227" fill="hold" nodeType="withGroup">
                            <p:stCondLst>
                              <p:cond delay="0"/>
                            </p:stCondLst>
                            <p:childTnLst>
                              <p:par>
                                <p:cTn id="228" presetID="1" presetClass="entr" presetSubtype="0" fill="hold" grpId="0" nodeType="clickEffect">
                                  <p:stCondLst>
                                    <p:cond delay="0"/>
                                  </p:stCondLst>
                                  <p:childTnLst>
                                    <p:set>
                                      <p:cBhvr>
                                        <p:cTn id="229" dur="1" fill="hold">
                                          <p:stCondLst>
                                            <p:cond delay="499"/>
                                          </p:stCondLst>
                                        </p:cTn>
                                        <p:tgtEl>
                                          <p:spTgt spid="266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6" grpId="0" autoUpdateAnimBg="0"/>
      <p:bldP spid="26627" grpId="0" autoUpdateAnimBg="0"/>
      <p:bldP spid="26629" grpId="0" animBg="1" autoUpdateAnimBg="0"/>
      <p:bldP spid="26630" grpId="0" animBg="1" autoUpdateAnimBg="0"/>
      <p:bldP spid="26631" grpId="0" animBg="1" autoUpdateAnimBg="0"/>
      <p:bldP spid="26632" grpId="0" animBg="1" autoUpdateAnimBg="0"/>
      <p:bldP spid="26633" grpId="0" animBg="1" autoUpdateAnimBg="0"/>
      <p:bldP spid="26634" grpId="0" animBg="1" autoUpdateAnimBg="0"/>
      <p:bldP spid="26635" grpId="0" animBg="1" autoUpdateAnimBg="0"/>
      <p:bldP spid="26636" grpId="0" animBg="1" autoUpdateAnimBg="0"/>
      <p:bldP spid="26637" grpId="0" animBg="1" autoUpdateAnimBg="0"/>
      <p:bldP spid="26638" grpId="0" animBg="1" autoUpdateAnimBg="0"/>
      <p:bldP spid="26639" grpId="0" animBg="1" autoUpdateAnimBg="0"/>
      <p:bldP spid="26640" grpId="0" animBg="1" autoUpdateAnimBg="0"/>
      <p:bldP spid="26641" grpId="0" animBg="1" autoUpdateAnimBg="0"/>
      <p:bldP spid="26642" grpId="0" animBg="1" autoUpdateAnimBg="0"/>
      <p:bldP spid="26643" grpId="0" animBg="1" autoUpdateAnimBg="0"/>
      <p:bldP spid="26644" grpId="0" animBg="1" autoUpdateAnimBg="0"/>
      <p:bldP spid="26645" grpId="0" animBg="1" autoUpdateAnimBg="0"/>
      <p:bldP spid="26646" grpId="0" animBg="1" autoUpdateAnimBg="0"/>
      <p:bldP spid="26647" grpId="0" animBg="1" autoUpdateAnimBg="0"/>
      <p:bldP spid="26648" grpId="0" animBg="1" autoUpdateAnimBg="0"/>
      <p:bldP spid="26649" grpId="0" animBg="1" autoUpdateAnimBg="0"/>
      <p:bldP spid="26650" grpId="0" animBg="1" autoUpdateAnimBg="0"/>
      <p:bldP spid="26651" grpId="0" animBg="1"/>
      <p:bldP spid="26652" grpId="0" animBg="1"/>
      <p:bldP spid="26653" grpId="0" animBg="1"/>
      <p:bldP spid="26654" grpId="0" animBg="1"/>
      <p:bldP spid="26655" grpId="0" animBg="1"/>
      <p:bldP spid="26656" grpId="0" animBg="1"/>
      <p:bldP spid="26657" grpId="0" animBg="1"/>
      <p:bldP spid="26658" grpId="0" animBg="1"/>
      <p:bldP spid="26659" grpId="0" animBg="1"/>
      <p:bldP spid="26660" grpId="0" animBg="1"/>
      <p:bldP spid="26661" grpId="0" animBg="1"/>
      <p:bldP spid="26662" grpId="0" animBg="1"/>
      <p:bldP spid="26663" grpId="0" animBg="1"/>
      <p:bldP spid="26664" grpId="0" animBg="1"/>
      <p:bldP spid="26665" grpId="0" animBg="1"/>
      <p:bldP spid="26666" grpId="0" animBg="1"/>
      <p:bldP spid="26667" grpId="0" animBg="1"/>
      <p:bldP spid="26668" grpId="0" animBg="1"/>
      <p:bldP spid="26669" grpId="0" animBg="1"/>
      <p:bldP spid="26670" grpId="0" animBg="1"/>
      <p:bldP spid="26671" grpId="0" animBg="1"/>
      <p:bldP spid="26672" grpId="0" animBg="1"/>
      <p:bldP spid="26673" grpId="0" autoUpdateAnimBg="0"/>
      <p:bldP spid="26675" grpId="0" autoUpdateAnimBg="0"/>
      <p:bldP spid="26676" grpId="0" autoUpdateAnimBg="0"/>
      <p:bldP spid="26677" grpId="0" autoUpdateAnimBg="0"/>
      <p:bldP spid="26678" grpId="0" autoUpdateAnimBg="0"/>
      <p:bldP spid="26679" grpId="0" autoUpdateAnimBg="0"/>
      <p:bldP spid="26680" grpId="0" autoUpdateAnimBg="0"/>
      <p:bldP spid="26681" grpId="0" autoUpdateAnimBg="0"/>
      <p:bldP spid="26682" grpId="0" autoUpdateAnimBg="0"/>
      <p:bldP spid="26683" grpId="0" autoUpdateAnimBg="0"/>
      <p:bldP spid="26684" grpId="0" autoUpdateAnimBg="0"/>
      <p:bldP spid="26685"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0" name="Rectangle 4"/>
          <p:cNvSpPr>
            <a:spLocks noGrp="1" noChangeArrowheads="1"/>
          </p:cNvSpPr>
          <p:nvPr>
            <p:ph type="body" idx="4294967295"/>
          </p:nvPr>
        </p:nvSpPr>
        <p:spPr>
          <a:xfrm>
            <a:off x="525692" y="1268760"/>
            <a:ext cx="8763000" cy="4038600"/>
          </a:xfrm>
        </p:spPr>
        <p:txBody>
          <a:bodyPr/>
          <a:lstStyle/>
          <a:p>
            <a:pPr eaLnBrk="1" hangingPunct="1">
              <a:lnSpc>
                <a:spcPct val="90000"/>
              </a:lnSpc>
              <a:spcBef>
                <a:spcPct val="30000"/>
              </a:spcBef>
            </a:pPr>
            <a:r>
              <a:rPr lang="zh-CN" altLang="en-US" dirty="0">
                <a:latin typeface="黑体" pitchFamily="49" charset="-122"/>
                <a:ea typeface="黑体" pitchFamily="49" charset="-122"/>
              </a:rPr>
              <a:t>设有序表的长度</a:t>
            </a:r>
            <a:r>
              <a:rPr lang="en-US" altLang="zh-CN" dirty="0">
                <a:latin typeface="黑体" pitchFamily="49" charset="-122"/>
                <a:ea typeface="黑体" pitchFamily="49" charset="-122"/>
              </a:rPr>
              <a:t>n=2</a:t>
            </a:r>
            <a:r>
              <a:rPr lang="en-US" altLang="zh-CN" baseline="30000" dirty="0">
                <a:latin typeface="黑体" pitchFamily="49" charset="-122"/>
                <a:ea typeface="黑体" pitchFamily="49" charset="-122"/>
              </a:rPr>
              <a:t>h</a:t>
            </a:r>
            <a:r>
              <a:rPr lang="en-US" altLang="zh-CN" dirty="0">
                <a:latin typeface="黑体" pitchFamily="49" charset="-122"/>
                <a:ea typeface="黑体" pitchFamily="49" charset="-122"/>
              </a:rPr>
              <a:t>-1</a:t>
            </a:r>
            <a:r>
              <a:rPr lang="zh-CN" altLang="en-US" dirty="0">
                <a:latin typeface="黑体" pitchFamily="49" charset="-122"/>
                <a:ea typeface="黑体" pitchFamily="49" charset="-122"/>
              </a:rPr>
              <a:t>（即</a:t>
            </a:r>
            <a:r>
              <a:rPr lang="en-US" altLang="zh-CN" dirty="0">
                <a:latin typeface="黑体" pitchFamily="49" charset="-122"/>
                <a:ea typeface="黑体" pitchFamily="49" charset="-122"/>
              </a:rPr>
              <a:t>h=</a:t>
            </a:r>
            <a:r>
              <a:rPr lang="en-US" altLang="zh-CN" dirty="0">
                <a:latin typeface="黑体" pitchFamily="49" charset="-122"/>
                <a:ea typeface="黑体" pitchFamily="49" charset="-122"/>
                <a:sym typeface="Symbol" pitchFamily="18" charset="2"/>
              </a:rPr>
              <a:t>log</a:t>
            </a:r>
            <a:r>
              <a:rPr lang="en-US" altLang="zh-CN" baseline="-25000" dirty="0">
                <a:latin typeface="黑体" pitchFamily="49" charset="-122"/>
                <a:ea typeface="黑体" pitchFamily="49" charset="-122"/>
                <a:sym typeface="Symbol" pitchFamily="18" charset="2"/>
              </a:rPr>
              <a:t>2</a:t>
            </a:r>
            <a:r>
              <a:rPr lang="en-US" altLang="zh-CN" dirty="0">
                <a:latin typeface="黑体" pitchFamily="49" charset="-122"/>
                <a:ea typeface="黑体" pitchFamily="49" charset="-122"/>
                <a:sym typeface="Symbol" pitchFamily="18" charset="2"/>
              </a:rPr>
              <a:t>(n+1)</a:t>
            </a:r>
            <a:r>
              <a:rPr lang="zh-CN" altLang="en-US" dirty="0">
                <a:latin typeface="黑体" pitchFamily="49" charset="-122"/>
                <a:ea typeface="黑体" pitchFamily="49" charset="-122"/>
              </a:rPr>
              <a:t>）</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则描述折半查找的判定树是深度为</a:t>
            </a:r>
            <a:r>
              <a:rPr lang="en-US" altLang="zh-CN" dirty="0">
                <a:latin typeface="黑体" pitchFamily="49" charset="-122"/>
                <a:ea typeface="黑体" pitchFamily="49" charset="-122"/>
              </a:rPr>
              <a:t>h</a:t>
            </a:r>
            <a:r>
              <a:rPr lang="zh-CN" altLang="en-US" dirty="0">
                <a:latin typeface="黑体" pitchFamily="49" charset="-122"/>
                <a:ea typeface="黑体" pitchFamily="49" charset="-122"/>
              </a:rPr>
              <a:t>的满二叉树</a:t>
            </a:r>
          </a:p>
          <a:p>
            <a:pPr eaLnBrk="1" hangingPunct="1">
              <a:lnSpc>
                <a:spcPct val="90000"/>
              </a:lnSpc>
              <a:spcBef>
                <a:spcPct val="30000"/>
              </a:spcBef>
            </a:pPr>
            <a:r>
              <a:rPr lang="zh-CN" altLang="en-US" dirty="0">
                <a:latin typeface="黑体" pitchFamily="49" charset="-122"/>
                <a:ea typeface="黑体" pitchFamily="49" charset="-122"/>
              </a:rPr>
              <a:t>树中层次为1的结点有1个，层次为2的结点有2个，层次为</a:t>
            </a:r>
            <a:r>
              <a:rPr lang="en-US" altLang="zh-CN" dirty="0">
                <a:latin typeface="黑体" pitchFamily="49" charset="-122"/>
                <a:ea typeface="黑体" pitchFamily="49" charset="-122"/>
              </a:rPr>
              <a:t>h</a:t>
            </a:r>
            <a:r>
              <a:rPr lang="zh-CN" altLang="en-US" dirty="0">
                <a:latin typeface="黑体" pitchFamily="49" charset="-122"/>
                <a:ea typeface="黑体" pitchFamily="49" charset="-122"/>
              </a:rPr>
              <a:t>的结点有2</a:t>
            </a:r>
            <a:r>
              <a:rPr lang="en-US" altLang="zh-CN" baseline="30000" dirty="0">
                <a:latin typeface="黑体" pitchFamily="49" charset="-122"/>
                <a:ea typeface="黑体" pitchFamily="49" charset="-122"/>
              </a:rPr>
              <a:t>h-1</a:t>
            </a:r>
            <a:r>
              <a:rPr lang="zh-CN" altLang="en-US" dirty="0">
                <a:latin typeface="黑体" pitchFamily="49" charset="-122"/>
                <a:ea typeface="黑体" pitchFamily="49" charset="-122"/>
              </a:rPr>
              <a:t>个</a:t>
            </a:r>
          </a:p>
          <a:p>
            <a:pPr eaLnBrk="1" hangingPunct="1">
              <a:lnSpc>
                <a:spcPct val="90000"/>
              </a:lnSpc>
              <a:spcBef>
                <a:spcPct val="30000"/>
              </a:spcBef>
            </a:pPr>
            <a:r>
              <a:rPr lang="zh-CN" altLang="en-US" dirty="0">
                <a:latin typeface="黑体" pitchFamily="49" charset="-122"/>
                <a:ea typeface="黑体" pitchFamily="49" charset="-122"/>
              </a:rPr>
              <a:t>假设表中每个记录的查找概率相等，则查找成功时折半查找的平均查找长度</a:t>
            </a:r>
          </a:p>
        </p:txBody>
      </p:sp>
      <p:graphicFrame>
        <p:nvGraphicFramePr>
          <p:cNvPr id="27654" name="Object 6"/>
          <p:cNvGraphicFramePr>
            <a:graphicFrameLocks noChangeAspect="1"/>
          </p:cNvGraphicFramePr>
          <p:nvPr>
            <p:extLst>
              <p:ext uri="{D42A27DB-BD31-4B8C-83A1-F6EECF244321}">
                <p14:modId xmlns:p14="http://schemas.microsoft.com/office/powerpoint/2010/main" val="639141114"/>
              </p:ext>
            </p:extLst>
          </p:nvPr>
        </p:nvGraphicFramePr>
        <p:xfrm>
          <a:off x="906692" y="4255780"/>
          <a:ext cx="8001000" cy="1054100"/>
        </p:xfrm>
        <a:graphic>
          <a:graphicData uri="http://schemas.openxmlformats.org/presentationml/2006/ole">
            <mc:AlternateContent xmlns:mc="http://schemas.openxmlformats.org/markup-compatibility/2006">
              <mc:Choice xmlns:v="urn:schemas-microsoft-com:vml" Requires="v">
                <p:oleObj r:id="rId3" imgW="3313262" imgH="482391" progId="">
                  <p:embed/>
                </p:oleObj>
              </mc:Choice>
              <mc:Fallback>
                <p:oleObj r:id="rId3" imgW="3313262" imgH="482391" progId="">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6692" y="4255780"/>
                        <a:ext cx="8001000" cy="1054100"/>
                      </a:xfrm>
                      <a:prstGeom prst="rect">
                        <a:avLst/>
                      </a:prstGeom>
                      <a:noFill/>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 name="Text Box 4">
            <a:extLst>
              <a:ext uri="{FF2B5EF4-FFF2-40B4-BE49-F238E27FC236}">
                <a16:creationId xmlns:a16="http://schemas.microsoft.com/office/drawing/2014/main" id="{E94FF817-26B0-41C0-95EA-5D26A246A4AE}"/>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二、折半查找性能分析</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70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700">
                                            <p:txEl>
                                              <p:pRg st="2" end="2"/>
                                            </p:txEl>
                                          </p:spTgt>
                                        </p:tgtEl>
                                        <p:attrNameLst>
                                          <p:attrName>style.visibility</p:attrName>
                                        </p:attrNameLst>
                                      </p:cBhvr>
                                      <p:to>
                                        <p:strVal val="visible"/>
                                      </p:to>
                                    </p:set>
                                  </p:childTnLst>
                                </p:cTn>
                              </p:par>
                            </p:childTnLst>
                          </p:cTn>
                        </p:par>
                        <p:par>
                          <p:cTn id="11" fill="hold">
                            <p:stCondLst>
                              <p:cond delay="0"/>
                            </p:stCondLst>
                            <p:childTnLst>
                              <p:par>
                                <p:cTn id="12" presetID="22" presetClass="entr" presetSubtype="8" fill="hold" nodeType="afterEffect">
                                  <p:stCondLst>
                                    <p:cond delay="0"/>
                                  </p:stCondLst>
                                  <p:childTnLst>
                                    <p:set>
                                      <p:cBhvr>
                                        <p:cTn id="13" dur="1" fill="hold">
                                          <p:stCondLst>
                                            <p:cond delay="0"/>
                                          </p:stCondLst>
                                        </p:cTn>
                                        <p:tgtEl>
                                          <p:spTgt spid="27654"/>
                                        </p:tgtEl>
                                        <p:attrNameLst>
                                          <p:attrName>style.visibility</p:attrName>
                                        </p:attrNameLst>
                                      </p:cBhvr>
                                      <p:to>
                                        <p:strVal val="visible"/>
                                      </p:to>
                                    </p:set>
                                    <p:animEffect transition="in" filter="wipe(left)">
                                      <p:cBhvr>
                                        <p:cTn id="14" dur="500"/>
                                        <p:tgtEl>
                                          <p:spTgt spid="276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4" name="Rectangle 4"/>
          <p:cNvSpPr>
            <a:spLocks noGrp="1" noChangeArrowheads="1"/>
          </p:cNvSpPr>
          <p:nvPr>
            <p:ph type="body" idx="4294967295"/>
          </p:nvPr>
        </p:nvSpPr>
        <p:spPr>
          <a:xfrm>
            <a:off x="522920" y="1254223"/>
            <a:ext cx="8458200" cy="4038600"/>
          </a:xfrm>
        </p:spPr>
        <p:txBody>
          <a:bodyPr/>
          <a:lstStyle/>
          <a:p>
            <a:pPr eaLnBrk="1" hangingPunct="1">
              <a:lnSpc>
                <a:spcPct val="90000"/>
              </a:lnSpc>
              <a:spcBef>
                <a:spcPct val="70000"/>
              </a:spcBef>
            </a:pPr>
            <a:r>
              <a:rPr lang="zh-CN" altLang="en-US" dirty="0">
                <a:latin typeface="黑体" pitchFamily="49" charset="-122"/>
                <a:ea typeface="黑体" pitchFamily="49" charset="-122"/>
              </a:rPr>
              <a:t>折半查找的效率比顺序查找高(特别是在静态查找表的长度很长时)</a:t>
            </a:r>
            <a:endParaRPr lang="en-US" altLang="zh-CN" dirty="0">
              <a:latin typeface="黑体" pitchFamily="49" charset="-122"/>
              <a:ea typeface="黑体" pitchFamily="49" charset="-122"/>
            </a:endParaRPr>
          </a:p>
          <a:p>
            <a:pPr eaLnBrk="1" hangingPunct="1">
              <a:lnSpc>
                <a:spcPct val="90000"/>
              </a:lnSpc>
              <a:spcBef>
                <a:spcPct val="70000"/>
              </a:spcBef>
            </a:pPr>
            <a:r>
              <a:rPr lang="zh-CN" altLang="en-US" dirty="0">
                <a:latin typeface="黑体" pitchFamily="49" charset="-122"/>
                <a:ea typeface="黑体" pitchFamily="49" charset="-122"/>
              </a:rPr>
              <a:t>折半查找只能适用于有序表，并且以顺序存储结构存储</a:t>
            </a:r>
          </a:p>
        </p:txBody>
      </p:sp>
      <p:sp>
        <p:nvSpPr>
          <p:cNvPr id="2" name="Text Box 4">
            <a:extLst>
              <a:ext uri="{FF2B5EF4-FFF2-40B4-BE49-F238E27FC236}">
                <a16:creationId xmlns:a16="http://schemas.microsoft.com/office/drawing/2014/main" id="{D8C363FF-821D-4AB6-BD4A-1289747823F6}"/>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二、折半查找特点</a:t>
            </a:r>
          </a:p>
        </p:txBody>
      </p:sp>
      <p:sp>
        <p:nvSpPr>
          <p:cNvPr id="3" name="矩形 2">
            <a:extLst>
              <a:ext uri="{FF2B5EF4-FFF2-40B4-BE49-F238E27FC236}">
                <a16:creationId xmlns:a16="http://schemas.microsoft.com/office/drawing/2014/main" id="{ECF2345F-B942-F9FC-14C3-5F73496DD5C2}"/>
              </a:ext>
            </a:extLst>
          </p:cNvPr>
          <p:cNvSpPr/>
          <p:nvPr/>
        </p:nvSpPr>
        <p:spPr bwMode="auto">
          <a:xfrm>
            <a:off x="4211960" y="2348880"/>
            <a:ext cx="1224136" cy="43204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
        <p:nvSpPr>
          <p:cNvPr id="4" name="矩形 3">
            <a:extLst>
              <a:ext uri="{FF2B5EF4-FFF2-40B4-BE49-F238E27FC236}">
                <a16:creationId xmlns:a16="http://schemas.microsoft.com/office/drawing/2014/main" id="{7EE21650-150D-5B91-BCEE-8D2975AD8E16}"/>
              </a:ext>
            </a:extLst>
          </p:cNvPr>
          <p:cNvSpPr/>
          <p:nvPr/>
        </p:nvSpPr>
        <p:spPr bwMode="auto">
          <a:xfrm>
            <a:off x="6732240" y="2348880"/>
            <a:ext cx="1492756" cy="432048"/>
          </a:xfrm>
          <a:prstGeom prst="rect">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zh-CN" altLang="en-US" sz="1800" b="1" i="1" u="none" strike="noStrike" cap="none" normalizeH="0" baseline="0">
              <a:ln>
                <a:noFill/>
              </a:ln>
              <a:solidFill>
                <a:schemeClr val="tx1"/>
              </a:solidFill>
              <a:effectLst/>
              <a:latin typeface="Times New Roman" pitchFamily="18" charset="0"/>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493712" y="1052736"/>
            <a:ext cx="5715000" cy="685800"/>
          </a:xfrm>
        </p:spPr>
        <p:txBody>
          <a:bodyPr/>
          <a:lstStyle/>
          <a:p>
            <a:pPr algn="l" eaLnBrk="1" hangingPunct="1"/>
            <a:r>
              <a:rPr lang="zh-CN" altLang="en-US" sz="3200" dirty="0">
                <a:latin typeface="黑体" pitchFamily="49" charset="-122"/>
                <a:ea typeface="黑体" pitchFamily="49" charset="-122"/>
              </a:rPr>
              <a:t>三、分块查找</a:t>
            </a:r>
          </a:p>
        </p:txBody>
      </p:sp>
      <p:sp>
        <p:nvSpPr>
          <p:cNvPr id="3174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F254BC21-7851-4DA2-8C9E-C03B06AECA68}" type="slidenum">
              <a:rPr lang="zh-CN" altLang="en-US"/>
              <a:pPr algn="r" eaLnBrk="1" hangingPunct="1">
                <a:spcBef>
                  <a:spcPct val="50000"/>
                </a:spcBef>
                <a:buFont typeface="Arial" pitchFamily="34" charset="0"/>
                <a:buNone/>
              </a:pPr>
              <a:t>28</a:t>
            </a:fld>
            <a:endParaRPr lang="en-US" altLang="zh-CN"/>
          </a:p>
        </p:txBody>
      </p:sp>
      <p:sp>
        <p:nvSpPr>
          <p:cNvPr id="29701" name="Rectangle 5"/>
          <p:cNvSpPr>
            <a:spLocks noGrp="1" noChangeArrowheads="1"/>
          </p:cNvSpPr>
          <p:nvPr>
            <p:ph type="body" idx="4294967295"/>
          </p:nvPr>
        </p:nvSpPr>
        <p:spPr>
          <a:xfrm>
            <a:off x="489520" y="1772816"/>
            <a:ext cx="8763000" cy="5085184"/>
          </a:xfrm>
        </p:spPr>
        <p:txBody>
          <a:bodyPr/>
          <a:lstStyle/>
          <a:p>
            <a:pPr eaLnBrk="1" hangingPunct="1">
              <a:spcBef>
                <a:spcPct val="50000"/>
              </a:spcBef>
            </a:pPr>
            <a:r>
              <a:rPr lang="zh-CN" altLang="en-US" dirty="0">
                <a:latin typeface="+mn-ea"/>
              </a:rPr>
              <a:t>分块查找是一种索引顺序表</a:t>
            </a:r>
            <a:r>
              <a:rPr lang="en-US" altLang="zh-CN" dirty="0">
                <a:latin typeface="+mn-ea"/>
              </a:rPr>
              <a:t>(</a:t>
            </a:r>
            <a:r>
              <a:rPr lang="zh-CN" altLang="en-US" dirty="0">
                <a:latin typeface="+mn-ea"/>
              </a:rPr>
              <a:t>分块有序表</a:t>
            </a:r>
            <a:r>
              <a:rPr lang="en-US" altLang="zh-CN" dirty="0">
                <a:latin typeface="+mn-ea"/>
              </a:rPr>
              <a:t>)</a:t>
            </a:r>
            <a:r>
              <a:rPr lang="zh-CN" altLang="en-US" dirty="0">
                <a:latin typeface="+mn-ea"/>
              </a:rPr>
              <a:t>查找方法，是折半查找和顺序查找的简单结合</a:t>
            </a:r>
          </a:p>
          <a:p>
            <a:pPr eaLnBrk="1" hangingPunct="1">
              <a:spcBef>
                <a:spcPct val="50000"/>
              </a:spcBef>
            </a:pPr>
            <a:r>
              <a:rPr lang="zh-CN" altLang="en-US" dirty="0">
                <a:latin typeface="+mn-ea"/>
              </a:rPr>
              <a:t>索引顺序表</a:t>
            </a:r>
            <a:r>
              <a:rPr lang="en-US" altLang="zh-CN" dirty="0">
                <a:latin typeface="+mn-ea"/>
              </a:rPr>
              <a:t>(</a:t>
            </a:r>
            <a:r>
              <a:rPr lang="zh-CN" altLang="en-US" dirty="0">
                <a:latin typeface="+mn-ea"/>
              </a:rPr>
              <a:t>分块有序表</a:t>
            </a:r>
            <a:r>
              <a:rPr lang="en-US" altLang="zh-CN" dirty="0">
                <a:latin typeface="+mn-ea"/>
              </a:rPr>
              <a:t>)</a:t>
            </a:r>
            <a:r>
              <a:rPr lang="zh-CN" altLang="en-US" dirty="0">
                <a:latin typeface="+mn-ea"/>
              </a:rPr>
              <a:t>将整个表分成几块，块内无序，块间有序</a:t>
            </a:r>
          </a:p>
          <a:p>
            <a:pPr eaLnBrk="1" hangingPunct="1">
              <a:spcBef>
                <a:spcPct val="50000"/>
              </a:spcBef>
            </a:pPr>
            <a:r>
              <a:rPr lang="zh-CN" altLang="en-US" dirty="0">
                <a:latin typeface="+mn-ea"/>
              </a:rPr>
              <a:t>所谓块间有序是指后一块表中所有记录的关键字均大于前一块表中的最大关键字</a:t>
            </a:r>
            <a:endParaRPr lang="en-US" altLang="zh-CN" dirty="0">
              <a:latin typeface="+mn-ea"/>
            </a:endParaRPr>
          </a:p>
          <a:p>
            <a:pPr eaLnBrk="1" hangingPunct="1">
              <a:spcBef>
                <a:spcPct val="50000"/>
              </a:spcBef>
            </a:pPr>
            <a:r>
              <a:rPr lang="zh-CN" altLang="en-US" dirty="0">
                <a:solidFill>
                  <a:srgbClr val="FF0000"/>
                </a:solidFill>
                <a:latin typeface="+mn-ea"/>
              </a:rPr>
              <a:t>分块查找是折半查找和顺序查找的一种改进方法，分块查找由于只要求索引表是有序的，对块内节点没有排序要求，因此特别适合于节点动态变化的情况。</a:t>
            </a:r>
          </a:p>
        </p:txBody>
      </p:sp>
      <p:sp>
        <p:nvSpPr>
          <p:cNvPr id="2" name="Text Box 4">
            <a:extLst>
              <a:ext uri="{FF2B5EF4-FFF2-40B4-BE49-F238E27FC236}">
                <a16:creationId xmlns:a16="http://schemas.microsoft.com/office/drawing/2014/main" id="{FC9363A7-5F70-4BD4-BEFA-81CD7AE322F8}"/>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第二节　静态查找表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970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29701">
                                            <p:txEl>
                                              <p:pRg st="2" end="2"/>
                                            </p:txEl>
                                          </p:spTgt>
                                        </p:tgtEl>
                                        <p:attrNameLst>
                                          <p:attrName>style.visibility</p:attrName>
                                        </p:attrNameLst>
                                      </p:cBhvr>
                                      <p:to>
                                        <p:strVal val="visible"/>
                                      </p:to>
                                    </p:set>
                                    <p:animEffect transition="in" filter="blinds(horizontal)">
                                      <p:cBhvr>
                                        <p:cTn id="11" dur="500"/>
                                        <p:tgtEl>
                                          <p:spTgt spid="29701">
                                            <p:txEl>
                                              <p:pRg st="2" end="2"/>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970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idx="4294967295"/>
          </p:nvPr>
        </p:nvSpPr>
        <p:spPr>
          <a:xfrm>
            <a:off x="525236" y="2349360"/>
            <a:ext cx="8349524" cy="653579"/>
          </a:xfrm>
        </p:spPr>
        <p:txBody>
          <a:bodyPr/>
          <a:lstStyle/>
          <a:p>
            <a:pPr eaLnBrk="1" hangingPunct="1"/>
            <a:r>
              <a:rPr lang="zh-CN" altLang="en-US" sz="2800" kern="100" dirty="0">
                <a:effectLst/>
                <a:latin typeface="+mn-ea"/>
                <a:ea typeface="+mn-ea"/>
              </a:rPr>
              <a:t>职场，生活中：</a:t>
            </a:r>
            <a:r>
              <a:rPr lang="zh-CN" altLang="zh-CN" sz="2800" kern="100" dirty="0">
                <a:effectLst/>
                <a:latin typeface="+mn-ea"/>
                <a:ea typeface="+mn-ea"/>
              </a:rPr>
              <a:t>性能与成本之间</a:t>
            </a:r>
            <a:r>
              <a:rPr lang="zh-CN" altLang="en-US" sz="2800" kern="100" dirty="0">
                <a:effectLst/>
                <a:latin typeface="+mn-ea"/>
                <a:ea typeface="+mn-ea"/>
              </a:rPr>
              <a:t>寻找</a:t>
            </a:r>
            <a:r>
              <a:rPr lang="zh-CN" altLang="zh-CN" sz="2800" kern="100" dirty="0">
                <a:effectLst/>
                <a:latin typeface="+mn-ea"/>
                <a:ea typeface="+mn-ea"/>
              </a:rPr>
              <a:t>平衡</a:t>
            </a:r>
            <a:r>
              <a:rPr lang="zh-CN" altLang="en-US" sz="2800" kern="100" dirty="0">
                <a:effectLst/>
                <a:latin typeface="+mn-ea"/>
                <a:ea typeface="+mn-ea"/>
              </a:rPr>
              <a:t>。</a:t>
            </a:r>
            <a:br>
              <a:rPr lang="en-US" altLang="zh-CN" sz="2800" kern="100" dirty="0">
                <a:effectLst/>
                <a:latin typeface="+mn-ea"/>
                <a:ea typeface="+mn-ea"/>
              </a:rPr>
            </a:br>
            <a:br>
              <a:rPr lang="en-US" altLang="zh-CN" sz="2800" kern="100" dirty="0">
                <a:effectLst/>
                <a:latin typeface="+mn-ea"/>
                <a:ea typeface="+mn-ea"/>
              </a:rPr>
            </a:br>
            <a:r>
              <a:rPr lang="zh-CN" altLang="en-US" sz="2800" kern="100" dirty="0">
                <a:latin typeface="+mn-ea"/>
                <a:ea typeface="+mn-ea"/>
              </a:rPr>
              <a:t>降低成本，损害用户满意度；</a:t>
            </a:r>
            <a:br>
              <a:rPr lang="en-US" altLang="zh-CN" sz="2800" kern="100" dirty="0">
                <a:latin typeface="+mn-ea"/>
                <a:ea typeface="+mn-ea"/>
              </a:rPr>
            </a:br>
            <a:r>
              <a:rPr lang="zh-CN" altLang="en-US" sz="2800" kern="100" dirty="0">
                <a:latin typeface="+mn-ea"/>
                <a:ea typeface="+mn-ea"/>
              </a:rPr>
              <a:t>竭尽全力维持用户满意，费用迅速超越底线</a:t>
            </a:r>
            <a:r>
              <a:rPr lang="zh-CN" altLang="en-US" sz="2800" kern="100" dirty="0">
                <a:latin typeface="Times New Roman" panose="02020603050405020304" pitchFamily="18" charset="0"/>
                <a:ea typeface="宋体" panose="02010600030101010101" pitchFamily="2" charset="-122"/>
              </a:rPr>
              <a:t>。</a:t>
            </a:r>
          </a:p>
        </p:txBody>
      </p:sp>
      <p:sp>
        <p:nvSpPr>
          <p:cNvPr id="31747"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F254BC21-7851-4DA2-8C9E-C03B06AECA68}" type="slidenum">
              <a:rPr lang="zh-CN" altLang="en-US"/>
              <a:pPr algn="r" eaLnBrk="1" hangingPunct="1">
                <a:spcBef>
                  <a:spcPct val="50000"/>
                </a:spcBef>
                <a:buFont typeface="Arial" pitchFamily="34" charset="0"/>
                <a:buNone/>
              </a:pPr>
              <a:t>29</a:t>
            </a:fld>
            <a:endParaRPr lang="en-US" altLang="zh-CN"/>
          </a:p>
        </p:txBody>
      </p:sp>
      <p:sp>
        <p:nvSpPr>
          <p:cNvPr id="2" name="Text Box 4">
            <a:extLst>
              <a:ext uri="{FF2B5EF4-FFF2-40B4-BE49-F238E27FC236}">
                <a16:creationId xmlns:a16="http://schemas.microsoft.com/office/drawing/2014/main" id="{FC9363A7-5F70-4BD4-BEFA-81CD7AE322F8}"/>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静态查找的思考</a:t>
            </a:r>
          </a:p>
        </p:txBody>
      </p:sp>
    </p:spTree>
    <p:extLst>
      <p:ext uri="{BB962C8B-B14F-4D97-AF65-F5344CB8AC3E}">
        <p14:creationId xmlns:p14="http://schemas.microsoft.com/office/powerpoint/2010/main" val="3503147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3" name="Rectangle 5"/>
          <p:cNvSpPr>
            <a:spLocks noGrp="1" noChangeArrowheads="1"/>
          </p:cNvSpPr>
          <p:nvPr>
            <p:ph type="body" idx="4294967295"/>
          </p:nvPr>
        </p:nvSpPr>
        <p:spPr>
          <a:xfrm>
            <a:off x="554170" y="1344004"/>
            <a:ext cx="8580931" cy="2091530"/>
          </a:xfrm>
        </p:spPr>
        <p:txBody>
          <a:bodyPr/>
          <a:lstStyle/>
          <a:p>
            <a:pPr eaLnBrk="1" hangingPunct="1">
              <a:spcBef>
                <a:spcPct val="50000"/>
              </a:spcBef>
            </a:pPr>
            <a:r>
              <a:rPr lang="zh-CN" altLang="en-US" dirty="0">
                <a:latin typeface="黑体" pitchFamily="49" charset="-122"/>
                <a:ea typeface="黑体" pitchFamily="49" charset="-122"/>
              </a:rPr>
              <a:t>主表：用数组存放待查记录</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每个数据元素至少含有关键字域</a:t>
            </a:r>
          </a:p>
          <a:p>
            <a:pPr eaLnBrk="1" hangingPunct="1">
              <a:spcBef>
                <a:spcPct val="50000"/>
              </a:spcBef>
            </a:pPr>
            <a:r>
              <a:rPr lang="zh-CN" altLang="en-US" dirty="0">
                <a:latin typeface="黑体" pitchFamily="49" charset="-122"/>
                <a:ea typeface="黑体" pitchFamily="49" charset="-122"/>
              </a:rPr>
              <a:t>索引表：每个结点含有最大关键字域和指向本块第一个结点的指针</a:t>
            </a:r>
          </a:p>
        </p:txBody>
      </p:sp>
      <p:grpSp>
        <p:nvGrpSpPr>
          <p:cNvPr id="2" name="Group 7"/>
          <p:cNvGrpSpPr>
            <a:grpSpLocks/>
          </p:cNvGrpSpPr>
          <p:nvPr/>
        </p:nvGrpSpPr>
        <p:grpSpPr bwMode="auto">
          <a:xfrm>
            <a:off x="1678632" y="4863083"/>
            <a:ext cx="6591300" cy="739775"/>
            <a:chOff x="0" y="0"/>
            <a:chExt cx="4152" cy="466"/>
          </a:xfrm>
        </p:grpSpPr>
        <p:sp>
          <p:nvSpPr>
            <p:cNvPr id="32797" name="Text Box 8"/>
            <p:cNvSpPr txBox="1">
              <a:spLocks noChangeArrowheads="1"/>
            </p:cNvSpPr>
            <p:nvPr/>
          </p:nvSpPr>
          <p:spPr bwMode="auto">
            <a:xfrm>
              <a:off x="120" y="0"/>
              <a:ext cx="4032"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1       2      3       4       5       6       7        8       9      10     11</a:t>
              </a:r>
            </a:p>
          </p:txBody>
        </p:sp>
        <p:sp>
          <p:nvSpPr>
            <p:cNvPr id="32798" name="Rectangle 9"/>
            <p:cNvSpPr>
              <a:spLocks noChangeArrowheads="1"/>
            </p:cNvSpPr>
            <p:nvPr/>
          </p:nvSpPr>
          <p:spPr bwMode="auto">
            <a:xfrm>
              <a:off x="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32799" name="Rectangle 10"/>
            <p:cNvSpPr>
              <a:spLocks noChangeArrowheads="1"/>
            </p:cNvSpPr>
            <p:nvPr/>
          </p:nvSpPr>
          <p:spPr bwMode="auto">
            <a:xfrm>
              <a:off x="36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32800" name="Rectangle 11"/>
            <p:cNvSpPr>
              <a:spLocks noChangeArrowheads="1"/>
            </p:cNvSpPr>
            <p:nvPr/>
          </p:nvSpPr>
          <p:spPr bwMode="auto">
            <a:xfrm>
              <a:off x="72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32801" name="Rectangle 12"/>
            <p:cNvSpPr>
              <a:spLocks noChangeArrowheads="1"/>
            </p:cNvSpPr>
            <p:nvPr/>
          </p:nvSpPr>
          <p:spPr bwMode="auto">
            <a:xfrm>
              <a:off x="108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32802" name="Rectangle 13"/>
            <p:cNvSpPr>
              <a:spLocks noChangeArrowheads="1"/>
            </p:cNvSpPr>
            <p:nvPr/>
          </p:nvSpPr>
          <p:spPr bwMode="auto">
            <a:xfrm>
              <a:off x="144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32803" name="Rectangle 14"/>
            <p:cNvSpPr>
              <a:spLocks noChangeArrowheads="1"/>
            </p:cNvSpPr>
            <p:nvPr/>
          </p:nvSpPr>
          <p:spPr bwMode="auto">
            <a:xfrm>
              <a:off x="180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32804" name="Rectangle 15"/>
            <p:cNvSpPr>
              <a:spLocks noChangeArrowheads="1"/>
            </p:cNvSpPr>
            <p:nvPr/>
          </p:nvSpPr>
          <p:spPr bwMode="auto">
            <a:xfrm>
              <a:off x="216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64</a:t>
              </a:r>
            </a:p>
          </p:txBody>
        </p:sp>
        <p:sp>
          <p:nvSpPr>
            <p:cNvPr id="32805" name="Rectangle 16"/>
            <p:cNvSpPr>
              <a:spLocks noChangeArrowheads="1"/>
            </p:cNvSpPr>
            <p:nvPr/>
          </p:nvSpPr>
          <p:spPr bwMode="auto">
            <a:xfrm>
              <a:off x="252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32806" name="Rectangle 17"/>
            <p:cNvSpPr>
              <a:spLocks noChangeArrowheads="1"/>
            </p:cNvSpPr>
            <p:nvPr/>
          </p:nvSpPr>
          <p:spPr bwMode="auto">
            <a:xfrm>
              <a:off x="288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32807" name="Rectangle 18"/>
            <p:cNvSpPr>
              <a:spLocks noChangeArrowheads="1"/>
            </p:cNvSpPr>
            <p:nvPr/>
          </p:nvSpPr>
          <p:spPr bwMode="auto">
            <a:xfrm>
              <a:off x="324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32808" name="Rectangle 19"/>
            <p:cNvSpPr>
              <a:spLocks noChangeArrowheads="1"/>
            </p:cNvSpPr>
            <p:nvPr/>
          </p:nvSpPr>
          <p:spPr bwMode="auto">
            <a:xfrm>
              <a:off x="360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nvGrpSpPr>
          <p:cNvPr id="3" name="Group 20"/>
          <p:cNvGrpSpPr>
            <a:grpSpLocks/>
          </p:cNvGrpSpPr>
          <p:nvPr/>
        </p:nvGrpSpPr>
        <p:grpSpPr bwMode="auto">
          <a:xfrm>
            <a:off x="5617220" y="3501008"/>
            <a:ext cx="1524000" cy="762000"/>
            <a:chOff x="0" y="0"/>
            <a:chExt cx="960" cy="480"/>
          </a:xfrm>
        </p:grpSpPr>
        <p:grpSp>
          <p:nvGrpSpPr>
            <p:cNvPr id="4" name="Group 21"/>
            <p:cNvGrpSpPr>
              <a:grpSpLocks/>
            </p:cNvGrpSpPr>
            <p:nvPr/>
          </p:nvGrpSpPr>
          <p:grpSpPr bwMode="auto">
            <a:xfrm>
              <a:off x="0" y="0"/>
              <a:ext cx="336" cy="480"/>
              <a:chOff x="0" y="0"/>
              <a:chExt cx="336" cy="480"/>
            </a:xfrm>
          </p:grpSpPr>
          <p:sp>
            <p:nvSpPr>
              <p:cNvPr id="32795" name="Rectangle 22"/>
              <p:cNvSpPr>
                <a:spLocks noChangeArrowheads="1"/>
              </p:cNvSpPr>
              <p:nvPr/>
            </p:nvSpPr>
            <p:spPr bwMode="auto">
              <a:xfrm>
                <a:off x="0" y="0"/>
                <a:ext cx="336"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32796" name="Rectangle 23"/>
              <p:cNvSpPr>
                <a:spLocks noChangeArrowheads="1"/>
              </p:cNvSpPr>
              <p:nvPr/>
            </p:nvSpPr>
            <p:spPr bwMode="auto">
              <a:xfrm>
                <a:off x="0" y="240"/>
                <a:ext cx="336"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a:t>
                </a:r>
              </a:p>
            </p:txBody>
          </p:sp>
        </p:grpSp>
        <p:grpSp>
          <p:nvGrpSpPr>
            <p:cNvPr id="5" name="Group 24"/>
            <p:cNvGrpSpPr>
              <a:grpSpLocks/>
            </p:cNvGrpSpPr>
            <p:nvPr/>
          </p:nvGrpSpPr>
          <p:grpSpPr bwMode="auto">
            <a:xfrm>
              <a:off x="336" y="0"/>
              <a:ext cx="288" cy="480"/>
              <a:chOff x="0" y="0"/>
              <a:chExt cx="360" cy="480"/>
            </a:xfrm>
          </p:grpSpPr>
          <p:sp>
            <p:nvSpPr>
              <p:cNvPr id="32793" name="Rectangle 25"/>
              <p:cNvSpPr>
                <a:spLocks noChangeArrowheads="1"/>
              </p:cNvSpPr>
              <p:nvPr/>
            </p:nvSpPr>
            <p:spPr bwMode="auto">
              <a:xfrm>
                <a:off x="0" y="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32794" name="Rectangle 26"/>
              <p:cNvSpPr>
                <a:spLocks noChangeArrowheads="1"/>
              </p:cNvSpPr>
              <p:nvPr/>
            </p:nvSpPr>
            <p:spPr bwMode="auto">
              <a:xfrm>
                <a:off x="0" y="24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grpSp>
        <p:grpSp>
          <p:nvGrpSpPr>
            <p:cNvPr id="6" name="Group 27"/>
            <p:cNvGrpSpPr>
              <a:grpSpLocks/>
            </p:cNvGrpSpPr>
            <p:nvPr/>
          </p:nvGrpSpPr>
          <p:grpSpPr bwMode="auto">
            <a:xfrm>
              <a:off x="624" y="0"/>
              <a:ext cx="336" cy="480"/>
              <a:chOff x="0" y="0"/>
              <a:chExt cx="360" cy="480"/>
            </a:xfrm>
          </p:grpSpPr>
          <p:sp>
            <p:nvSpPr>
              <p:cNvPr id="32791" name="Rectangle 28"/>
              <p:cNvSpPr>
                <a:spLocks noChangeArrowheads="1"/>
              </p:cNvSpPr>
              <p:nvPr/>
            </p:nvSpPr>
            <p:spPr bwMode="auto">
              <a:xfrm>
                <a:off x="0" y="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sp>
            <p:nvSpPr>
              <p:cNvPr id="32792" name="Rectangle 29"/>
              <p:cNvSpPr>
                <a:spLocks noChangeArrowheads="1"/>
              </p:cNvSpPr>
              <p:nvPr/>
            </p:nvSpPr>
            <p:spPr bwMode="auto">
              <a:xfrm>
                <a:off x="0" y="24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a:t>
                </a:r>
              </a:p>
            </p:txBody>
          </p:sp>
        </p:grpSp>
      </p:grpSp>
      <p:sp>
        <p:nvSpPr>
          <p:cNvPr id="32777" name="Line 30"/>
          <p:cNvSpPr>
            <a:spLocks noChangeShapeType="1"/>
          </p:cNvSpPr>
          <p:nvPr/>
        </p:nvSpPr>
        <p:spPr bwMode="auto">
          <a:xfrm>
            <a:off x="1831032" y="4558283"/>
            <a:ext cx="0" cy="609600"/>
          </a:xfrm>
          <a:prstGeom prst="line">
            <a:avLst/>
          </a:prstGeom>
          <a:noFill/>
          <a:ln w="19050">
            <a:solidFill>
              <a:schemeClr val="hlink"/>
            </a:solidFill>
            <a:round/>
            <a:headEnd/>
            <a:tailEnd type="triangle" w="med" len="med"/>
          </a:ln>
          <a:effectLst/>
        </p:spPr>
        <p:txBody>
          <a:bodyPr wrap="none" anchor="ctr"/>
          <a:lstStyle/>
          <a:p>
            <a:endParaRPr lang="zh-CN" altLang="en-US" i="0"/>
          </a:p>
        </p:txBody>
      </p:sp>
      <p:sp>
        <p:nvSpPr>
          <p:cNvPr id="32778" name="Line 31"/>
          <p:cNvSpPr>
            <a:spLocks noChangeShapeType="1"/>
          </p:cNvSpPr>
          <p:nvPr/>
        </p:nvSpPr>
        <p:spPr bwMode="auto">
          <a:xfrm flipH="1" flipV="1">
            <a:off x="1831032" y="4558283"/>
            <a:ext cx="4114800" cy="0"/>
          </a:xfrm>
          <a:prstGeom prst="line">
            <a:avLst/>
          </a:prstGeom>
          <a:noFill/>
          <a:ln w="19050">
            <a:solidFill>
              <a:schemeClr val="hlink"/>
            </a:solidFill>
            <a:round/>
            <a:headEnd/>
            <a:tailEnd/>
          </a:ln>
          <a:effectLst/>
        </p:spPr>
        <p:txBody>
          <a:bodyPr wrap="none" anchor="ctr"/>
          <a:lstStyle/>
          <a:p>
            <a:endParaRPr lang="zh-CN" altLang="en-US" i="0"/>
          </a:p>
        </p:txBody>
      </p:sp>
      <p:sp>
        <p:nvSpPr>
          <p:cNvPr id="32779" name="Line 32"/>
          <p:cNvSpPr>
            <a:spLocks noChangeShapeType="1"/>
          </p:cNvSpPr>
          <p:nvPr/>
        </p:nvSpPr>
        <p:spPr bwMode="auto">
          <a:xfrm flipH="1" flipV="1">
            <a:off x="5945832" y="4253483"/>
            <a:ext cx="0" cy="304800"/>
          </a:xfrm>
          <a:prstGeom prst="line">
            <a:avLst/>
          </a:prstGeom>
          <a:noFill/>
          <a:ln w="19050">
            <a:solidFill>
              <a:schemeClr val="hlink"/>
            </a:solidFill>
            <a:round/>
            <a:headEnd/>
            <a:tailEnd/>
          </a:ln>
          <a:effectLst/>
        </p:spPr>
        <p:txBody>
          <a:bodyPr wrap="none" anchor="ctr"/>
          <a:lstStyle/>
          <a:p>
            <a:endParaRPr lang="zh-CN" altLang="en-US" i="0"/>
          </a:p>
        </p:txBody>
      </p:sp>
      <p:sp>
        <p:nvSpPr>
          <p:cNvPr id="32780" name="Line 33"/>
          <p:cNvSpPr>
            <a:spLocks noChangeShapeType="1"/>
          </p:cNvSpPr>
          <p:nvPr/>
        </p:nvSpPr>
        <p:spPr bwMode="auto">
          <a:xfrm>
            <a:off x="4345632" y="4710683"/>
            <a:ext cx="0" cy="487363"/>
          </a:xfrm>
          <a:prstGeom prst="line">
            <a:avLst/>
          </a:prstGeom>
          <a:noFill/>
          <a:ln w="19050">
            <a:solidFill>
              <a:schemeClr val="hlink"/>
            </a:solidFill>
            <a:round/>
            <a:headEnd/>
            <a:tailEnd type="triangle" w="med" len="med"/>
          </a:ln>
          <a:effectLst/>
        </p:spPr>
        <p:txBody>
          <a:bodyPr wrap="none" anchor="ctr"/>
          <a:lstStyle/>
          <a:p>
            <a:endParaRPr lang="zh-CN" altLang="en-US" i="0"/>
          </a:p>
        </p:txBody>
      </p:sp>
      <p:sp>
        <p:nvSpPr>
          <p:cNvPr id="32781" name="Line 34"/>
          <p:cNvSpPr>
            <a:spLocks noChangeShapeType="1"/>
          </p:cNvSpPr>
          <p:nvPr/>
        </p:nvSpPr>
        <p:spPr bwMode="auto">
          <a:xfrm flipH="1" flipV="1">
            <a:off x="4345632" y="4710683"/>
            <a:ext cx="2057400" cy="0"/>
          </a:xfrm>
          <a:prstGeom prst="line">
            <a:avLst/>
          </a:prstGeom>
          <a:noFill/>
          <a:ln w="19050">
            <a:solidFill>
              <a:schemeClr val="hlink"/>
            </a:solidFill>
            <a:round/>
            <a:headEnd/>
            <a:tailEnd/>
          </a:ln>
          <a:effectLst/>
        </p:spPr>
        <p:txBody>
          <a:bodyPr wrap="none" anchor="ctr"/>
          <a:lstStyle/>
          <a:p>
            <a:endParaRPr lang="zh-CN" altLang="en-US" i="0"/>
          </a:p>
        </p:txBody>
      </p:sp>
      <p:sp>
        <p:nvSpPr>
          <p:cNvPr id="32782" name="Line 35"/>
          <p:cNvSpPr>
            <a:spLocks noChangeShapeType="1"/>
          </p:cNvSpPr>
          <p:nvPr/>
        </p:nvSpPr>
        <p:spPr bwMode="auto">
          <a:xfrm flipH="1" flipV="1">
            <a:off x="6403032" y="4253483"/>
            <a:ext cx="0" cy="457200"/>
          </a:xfrm>
          <a:prstGeom prst="line">
            <a:avLst/>
          </a:prstGeom>
          <a:noFill/>
          <a:ln w="19050">
            <a:solidFill>
              <a:schemeClr val="hlink"/>
            </a:solidFill>
            <a:round/>
            <a:headEnd/>
            <a:tailEnd/>
          </a:ln>
          <a:effectLst/>
        </p:spPr>
        <p:txBody>
          <a:bodyPr wrap="none" anchor="ctr"/>
          <a:lstStyle/>
          <a:p>
            <a:endParaRPr lang="zh-CN" altLang="en-US" i="0"/>
          </a:p>
        </p:txBody>
      </p:sp>
      <p:sp>
        <p:nvSpPr>
          <p:cNvPr id="32783" name="Line 36"/>
          <p:cNvSpPr>
            <a:spLocks noChangeShapeType="1"/>
          </p:cNvSpPr>
          <p:nvPr/>
        </p:nvSpPr>
        <p:spPr bwMode="auto">
          <a:xfrm>
            <a:off x="6707832" y="4863083"/>
            <a:ext cx="0" cy="334963"/>
          </a:xfrm>
          <a:prstGeom prst="line">
            <a:avLst/>
          </a:prstGeom>
          <a:noFill/>
          <a:ln w="19050">
            <a:solidFill>
              <a:schemeClr val="hlink"/>
            </a:solidFill>
            <a:round/>
            <a:headEnd/>
            <a:tailEnd type="triangle" w="med" len="med"/>
          </a:ln>
          <a:effectLst/>
        </p:spPr>
        <p:txBody>
          <a:bodyPr wrap="none" anchor="ctr"/>
          <a:lstStyle/>
          <a:p>
            <a:endParaRPr lang="zh-CN" altLang="en-US" i="0"/>
          </a:p>
        </p:txBody>
      </p:sp>
      <p:sp>
        <p:nvSpPr>
          <p:cNvPr id="32784" name="Line 37"/>
          <p:cNvSpPr>
            <a:spLocks noChangeShapeType="1"/>
          </p:cNvSpPr>
          <p:nvPr/>
        </p:nvSpPr>
        <p:spPr bwMode="auto">
          <a:xfrm flipH="1" flipV="1">
            <a:off x="6707832" y="4863083"/>
            <a:ext cx="228600" cy="0"/>
          </a:xfrm>
          <a:prstGeom prst="line">
            <a:avLst/>
          </a:prstGeom>
          <a:noFill/>
          <a:ln w="19050">
            <a:solidFill>
              <a:schemeClr val="hlink"/>
            </a:solidFill>
            <a:round/>
            <a:headEnd/>
            <a:tailEnd/>
          </a:ln>
          <a:effectLst/>
        </p:spPr>
        <p:txBody>
          <a:bodyPr wrap="none" anchor="ctr"/>
          <a:lstStyle/>
          <a:p>
            <a:endParaRPr lang="zh-CN" altLang="en-US" i="0"/>
          </a:p>
        </p:txBody>
      </p:sp>
      <p:sp>
        <p:nvSpPr>
          <p:cNvPr id="32785" name="Line 38"/>
          <p:cNvSpPr>
            <a:spLocks noChangeShapeType="1"/>
          </p:cNvSpPr>
          <p:nvPr/>
        </p:nvSpPr>
        <p:spPr bwMode="auto">
          <a:xfrm flipH="1" flipV="1">
            <a:off x="6936432" y="4253483"/>
            <a:ext cx="0" cy="609600"/>
          </a:xfrm>
          <a:prstGeom prst="line">
            <a:avLst/>
          </a:prstGeom>
          <a:noFill/>
          <a:ln w="19050">
            <a:solidFill>
              <a:schemeClr val="hlink"/>
            </a:solidFill>
            <a:round/>
            <a:headEnd/>
            <a:tailEnd/>
          </a:ln>
          <a:effectLst/>
        </p:spPr>
        <p:txBody>
          <a:bodyPr wrap="none" anchor="ctr"/>
          <a:lstStyle/>
          <a:p>
            <a:endParaRPr lang="zh-CN" altLang="en-US" i="0"/>
          </a:p>
        </p:txBody>
      </p:sp>
      <p:sp>
        <p:nvSpPr>
          <p:cNvPr id="32786" name="Text Box 39"/>
          <p:cNvSpPr txBox="1">
            <a:spLocks noChangeArrowheads="1"/>
          </p:cNvSpPr>
          <p:nvPr/>
        </p:nvSpPr>
        <p:spPr bwMode="auto">
          <a:xfrm>
            <a:off x="916632" y="5167883"/>
            <a:ext cx="762000" cy="396875"/>
          </a:xfrm>
          <a:prstGeom prst="rect">
            <a:avLst/>
          </a:prstGeom>
          <a:noFill/>
          <a:ln w="9525">
            <a:noFill/>
            <a:miter lim="800000"/>
            <a:headEnd/>
            <a:tailEnd/>
          </a:ln>
          <a:effectLst/>
        </p:spPr>
        <p:txBody>
          <a:bodyPr>
            <a:spAutoFit/>
          </a:bodyPr>
          <a:lstStyle/>
          <a:p>
            <a:pPr eaLnBrk="1" hangingPunct="1">
              <a:spcBef>
                <a:spcPct val="50000"/>
              </a:spcBef>
              <a:buFont typeface="Arial" pitchFamily="34" charset="0"/>
              <a:buNone/>
            </a:pPr>
            <a:r>
              <a:rPr lang="zh-CN" altLang="en-US" sz="2000" i="0"/>
              <a:t>主表</a:t>
            </a:r>
          </a:p>
        </p:txBody>
      </p:sp>
      <p:sp>
        <p:nvSpPr>
          <p:cNvPr id="32787" name="Text Box 40"/>
          <p:cNvSpPr txBox="1">
            <a:spLocks noChangeArrowheads="1"/>
          </p:cNvSpPr>
          <p:nvPr/>
        </p:nvSpPr>
        <p:spPr bwMode="auto">
          <a:xfrm>
            <a:off x="7317432" y="3720083"/>
            <a:ext cx="914400" cy="396875"/>
          </a:xfrm>
          <a:prstGeom prst="rect">
            <a:avLst/>
          </a:prstGeom>
          <a:noFill/>
          <a:ln w="9525">
            <a:noFill/>
            <a:miter lim="800000"/>
            <a:headEnd/>
            <a:tailEnd/>
          </a:ln>
          <a:effectLst/>
        </p:spPr>
        <p:txBody>
          <a:bodyPr lIns="0" rIns="0">
            <a:spAutoFit/>
          </a:bodyPr>
          <a:lstStyle/>
          <a:p>
            <a:pPr algn="ctr" eaLnBrk="1" hangingPunct="1">
              <a:spcBef>
                <a:spcPct val="50000"/>
              </a:spcBef>
              <a:buFont typeface="Arial" pitchFamily="34" charset="0"/>
              <a:buNone/>
            </a:pPr>
            <a:r>
              <a:rPr lang="zh-CN" altLang="en-US" sz="2000" i="0"/>
              <a:t>索引表</a:t>
            </a:r>
          </a:p>
        </p:txBody>
      </p:sp>
      <p:sp>
        <p:nvSpPr>
          <p:cNvPr id="7" name="Text Box 4">
            <a:extLst>
              <a:ext uri="{FF2B5EF4-FFF2-40B4-BE49-F238E27FC236}">
                <a16:creationId xmlns:a16="http://schemas.microsoft.com/office/drawing/2014/main" id="{3B17DF11-F273-47D7-82D7-04BA90F25D5B}"/>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三、分块查找</a:t>
            </a:r>
            <a:r>
              <a:rPr lang="en-US" altLang="zh-CN" sz="4400" i="0" dirty="0">
                <a:solidFill>
                  <a:schemeClr val="tx2"/>
                </a:solidFill>
                <a:latin typeface="Tahoma" panose="020B0604030504040204" pitchFamily="34" charset="0"/>
                <a:ea typeface="隶书" pitchFamily="49" charset="-122"/>
              </a:rPr>
              <a:t>(</a:t>
            </a:r>
            <a:r>
              <a:rPr lang="zh-CN" altLang="en-US" sz="4400" i="0" dirty="0">
                <a:solidFill>
                  <a:schemeClr val="tx2"/>
                </a:solidFill>
                <a:latin typeface="Tahoma" panose="020B0604030504040204" pitchFamily="34" charset="0"/>
                <a:ea typeface="隶书" pitchFamily="49" charset="-122"/>
              </a:rPr>
              <a:t>分块有序表</a:t>
            </a:r>
            <a:r>
              <a:rPr lang="en-US" altLang="zh-CN" sz="4400" i="0" dirty="0">
                <a:solidFill>
                  <a:schemeClr val="tx2"/>
                </a:solidFill>
                <a:latin typeface="Tahoma" panose="020B0604030504040204" pitchFamily="34" charset="0"/>
                <a:ea typeface="隶书" pitchFamily="49" charset="-122"/>
              </a:rPr>
              <a:t>)</a:t>
            </a:r>
            <a:endParaRPr lang="zh-CN" altLang="en-US" sz="4400" i="0" dirty="0">
              <a:solidFill>
                <a:schemeClr val="tx2"/>
              </a:solidFill>
              <a:latin typeface="Tahoma" panose="020B0604030504040204" pitchFamily="34" charset="0"/>
              <a:ea typeface="隶书"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278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278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77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77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277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278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278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278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2783"/>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278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27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7" grpId="0" animBg="1"/>
      <p:bldP spid="32778" grpId="0" animBg="1"/>
      <p:bldP spid="32779" grpId="0" animBg="1"/>
      <p:bldP spid="32780" grpId="0" animBg="1"/>
      <p:bldP spid="32781" grpId="0" animBg="1"/>
      <p:bldP spid="32782" grpId="0" animBg="1"/>
      <p:bldP spid="32783" grpId="0" animBg="1"/>
      <p:bldP spid="32784" grpId="0" animBg="1"/>
      <p:bldP spid="32785" grpId="0" animBg="1"/>
      <p:bldP spid="32786" grpId="0"/>
      <p:bldP spid="3278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E9B4D5AB-3886-46AC-8F8F-7CC8E9D6674A}" type="slidenum">
              <a:rPr lang="zh-CN" altLang="en-US"/>
              <a:pPr algn="r" eaLnBrk="1" hangingPunct="1">
                <a:spcBef>
                  <a:spcPct val="50000"/>
                </a:spcBef>
                <a:buFont typeface="Arial" pitchFamily="34" charset="0"/>
                <a:buNone/>
              </a:pPr>
              <a:t>31</a:t>
            </a:fld>
            <a:endParaRPr lang="en-US" altLang="zh-CN"/>
          </a:p>
        </p:txBody>
      </p:sp>
      <p:sp>
        <p:nvSpPr>
          <p:cNvPr id="33797" name="Rectangle 5"/>
          <p:cNvSpPr>
            <a:spLocks noGrp="1" noChangeArrowheads="1"/>
          </p:cNvSpPr>
          <p:nvPr>
            <p:ph type="body" idx="4294967295"/>
          </p:nvPr>
        </p:nvSpPr>
        <p:spPr>
          <a:xfrm>
            <a:off x="542956" y="1268760"/>
            <a:ext cx="8763000" cy="4038600"/>
          </a:xfrm>
        </p:spPr>
        <p:txBody>
          <a:bodyPr/>
          <a:lstStyle/>
          <a:p>
            <a:pPr eaLnBrk="1" hangingPunct="1">
              <a:spcBef>
                <a:spcPct val="50000"/>
              </a:spcBef>
            </a:pPr>
            <a:r>
              <a:rPr lang="zh-CN" altLang="en-US" dirty="0">
                <a:latin typeface="黑体" pitchFamily="49" charset="-122"/>
                <a:ea typeface="黑体" pitchFamily="49" charset="-122"/>
              </a:rPr>
              <a:t>采用折半查找方法在索引表中找到块</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第</a:t>
            </a:r>
            <a:r>
              <a:rPr lang="en-US" altLang="zh-CN" dirty="0">
                <a:latin typeface="黑体" pitchFamily="49" charset="-122"/>
                <a:ea typeface="黑体" pitchFamily="49" charset="-122"/>
              </a:rPr>
              <a:t>2</a:t>
            </a:r>
            <a:r>
              <a:rPr lang="zh-CN" altLang="en-US" dirty="0">
                <a:latin typeface="黑体" pitchFamily="49" charset="-122"/>
                <a:ea typeface="黑体" pitchFamily="49" charset="-122"/>
              </a:rPr>
              <a:t>块</a:t>
            </a:r>
            <a:r>
              <a:rPr lang="en-US" altLang="zh-CN" dirty="0">
                <a:latin typeface="黑体" pitchFamily="49" charset="-122"/>
                <a:ea typeface="黑体" pitchFamily="49" charset="-122"/>
              </a:rPr>
              <a:t>]</a:t>
            </a:r>
          </a:p>
          <a:p>
            <a:pPr eaLnBrk="1" hangingPunct="1">
              <a:spcBef>
                <a:spcPct val="50000"/>
              </a:spcBef>
            </a:pPr>
            <a:r>
              <a:rPr lang="zh-CN" altLang="en-US" dirty="0">
                <a:latin typeface="黑体" pitchFamily="49" charset="-122"/>
                <a:ea typeface="黑体" pitchFamily="49" charset="-122"/>
              </a:rPr>
              <a:t>用顺序查找方法在主表对应块中找到记录</a:t>
            </a:r>
            <a:r>
              <a:rPr lang="en-US" altLang="zh-CN" dirty="0">
                <a:latin typeface="黑体" pitchFamily="49" charset="-122"/>
                <a:ea typeface="黑体" pitchFamily="49" charset="-122"/>
              </a:rPr>
              <a:t>[</a:t>
            </a:r>
            <a:r>
              <a:rPr lang="zh-CN" altLang="en-US" dirty="0">
                <a:latin typeface="黑体" pitchFamily="49" charset="-122"/>
                <a:ea typeface="黑体" pitchFamily="49" charset="-122"/>
              </a:rPr>
              <a:t>第</a:t>
            </a:r>
            <a:r>
              <a:rPr lang="en-US" altLang="zh-CN" dirty="0">
                <a:latin typeface="黑体" pitchFamily="49" charset="-122"/>
                <a:ea typeface="黑体" pitchFamily="49" charset="-122"/>
              </a:rPr>
              <a:t>3</a:t>
            </a:r>
            <a:r>
              <a:rPr lang="zh-CN" altLang="en-US" dirty="0">
                <a:latin typeface="黑体" pitchFamily="49" charset="-122"/>
                <a:ea typeface="黑体" pitchFamily="49" charset="-122"/>
              </a:rPr>
              <a:t>记录</a:t>
            </a:r>
            <a:r>
              <a:rPr lang="en-US" altLang="zh-CN" dirty="0">
                <a:latin typeface="黑体" pitchFamily="49" charset="-122"/>
                <a:ea typeface="黑体" pitchFamily="49" charset="-122"/>
              </a:rPr>
              <a:t>]</a:t>
            </a:r>
          </a:p>
        </p:txBody>
      </p:sp>
      <p:grpSp>
        <p:nvGrpSpPr>
          <p:cNvPr id="2" name="Group 7"/>
          <p:cNvGrpSpPr>
            <a:grpSpLocks/>
          </p:cNvGrpSpPr>
          <p:nvPr/>
        </p:nvGrpSpPr>
        <p:grpSpPr bwMode="auto">
          <a:xfrm>
            <a:off x="2075068" y="4343400"/>
            <a:ext cx="6591300" cy="739775"/>
            <a:chOff x="0" y="0"/>
            <a:chExt cx="4152" cy="466"/>
          </a:xfrm>
        </p:grpSpPr>
        <p:sp>
          <p:nvSpPr>
            <p:cNvPr id="33826" name="Text Box 8"/>
            <p:cNvSpPr txBox="1">
              <a:spLocks noChangeArrowheads="1"/>
            </p:cNvSpPr>
            <p:nvPr/>
          </p:nvSpPr>
          <p:spPr bwMode="auto">
            <a:xfrm>
              <a:off x="120" y="0"/>
              <a:ext cx="4032" cy="250"/>
            </a:xfrm>
            <a:prstGeom prst="rect">
              <a:avLst/>
            </a:prstGeom>
            <a:noFill/>
            <a:ln w="9525">
              <a:noFill/>
              <a:miter lim="800000"/>
              <a:headEnd/>
              <a:tailEnd/>
            </a:ln>
            <a:effectLst/>
          </p:spPr>
          <p:txBody>
            <a:bodyPr>
              <a:spAutoFit/>
            </a:bodyPr>
            <a:lstStyle/>
            <a:p>
              <a:pPr eaLnBrk="1" hangingPunct="1">
                <a:buFont typeface="Arial" pitchFamily="34" charset="0"/>
                <a:buNone/>
              </a:pPr>
              <a:r>
                <a:rPr lang="en-US" altLang="zh-CN" sz="2000" b="1" i="0">
                  <a:solidFill>
                    <a:srgbClr val="003300"/>
                  </a:solidFill>
                  <a:latin typeface="Times New Roman" pitchFamily="18" charset="0"/>
                </a:rPr>
                <a:t>1       2      3       4       5       6       7        8       9      10     11</a:t>
              </a:r>
            </a:p>
          </p:txBody>
        </p:sp>
        <p:sp>
          <p:nvSpPr>
            <p:cNvPr id="33827" name="Rectangle 9"/>
            <p:cNvSpPr>
              <a:spLocks noChangeArrowheads="1"/>
            </p:cNvSpPr>
            <p:nvPr/>
          </p:nvSpPr>
          <p:spPr bwMode="auto">
            <a:xfrm>
              <a:off x="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sp>
          <p:nvSpPr>
            <p:cNvPr id="33828" name="Rectangle 10"/>
            <p:cNvSpPr>
              <a:spLocks noChangeArrowheads="1"/>
            </p:cNvSpPr>
            <p:nvPr/>
          </p:nvSpPr>
          <p:spPr bwMode="auto">
            <a:xfrm>
              <a:off x="36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19</a:t>
              </a:r>
            </a:p>
          </p:txBody>
        </p:sp>
        <p:sp>
          <p:nvSpPr>
            <p:cNvPr id="33829" name="Rectangle 11"/>
            <p:cNvSpPr>
              <a:spLocks noChangeArrowheads="1"/>
            </p:cNvSpPr>
            <p:nvPr/>
          </p:nvSpPr>
          <p:spPr bwMode="auto">
            <a:xfrm>
              <a:off x="72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13</a:t>
              </a:r>
            </a:p>
          </p:txBody>
        </p:sp>
        <p:sp>
          <p:nvSpPr>
            <p:cNvPr id="33830" name="Rectangle 12"/>
            <p:cNvSpPr>
              <a:spLocks noChangeArrowheads="1"/>
            </p:cNvSpPr>
            <p:nvPr/>
          </p:nvSpPr>
          <p:spPr bwMode="auto">
            <a:xfrm>
              <a:off x="108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33831" name="Rectangle 13"/>
            <p:cNvSpPr>
              <a:spLocks noChangeArrowheads="1"/>
            </p:cNvSpPr>
            <p:nvPr/>
          </p:nvSpPr>
          <p:spPr bwMode="auto">
            <a:xfrm>
              <a:off x="144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33832" name="Rectangle 14"/>
            <p:cNvSpPr>
              <a:spLocks noChangeArrowheads="1"/>
            </p:cNvSpPr>
            <p:nvPr/>
          </p:nvSpPr>
          <p:spPr bwMode="auto">
            <a:xfrm>
              <a:off x="180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56</a:t>
              </a:r>
            </a:p>
          </p:txBody>
        </p:sp>
        <p:sp>
          <p:nvSpPr>
            <p:cNvPr id="33833" name="Rectangle 15"/>
            <p:cNvSpPr>
              <a:spLocks noChangeArrowheads="1"/>
            </p:cNvSpPr>
            <p:nvPr/>
          </p:nvSpPr>
          <p:spPr bwMode="auto">
            <a:xfrm>
              <a:off x="216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64</a:t>
              </a:r>
            </a:p>
          </p:txBody>
        </p:sp>
        <p:sp>
          <p:nvSpPr>
            <p:cNvPr id="33834" name="Rectangle 16"/>
            <p:cNvSpPr>
              <a:spLocks noChangeArrowheads="1"/>
            </p:cNvSpPr>
            <p:nvPr/>
          </p:nvSpPr>
          <p:spPr bwMode="auto">
            <a:xfrm>
              <a:off x="252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37</a:t>
              </a:r>
            </a:p>
          </p:txBody>
        </p:sp>
        <p:sp>
          <p:nvSpPr>
            <p:cNvPr id="33835" name="Rectangle 17"/>
            <p:cNvSpPr>
              <a:spLocks noChangeArrowheads="1"/>
            </p:cNvSpPr>
            <p:nvPr/>
          </p:nvSpPr>
          <p:spPr bwMode="auto">
            <a:xfrm>
              <a:off x="288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88</a:t>
              </a:r>
            </a:p>
          </p:txBody>
        </p:sp>
        <p:sp>
          <p:nvSpPr>
            <p:cNvPr id="33836" name="Rectangle 18"/>
            <p:cNvSpPr>
              <a:spLocks noChangeArrowheads="1"/>
            </p:cNvSpPr>
            <p:nvPr/>
          </p:nvSpPr>
          <p:spPr bwMode="auto">
            <a:xfrm>
              <a:off x="324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80</a:t>
              </a:r>
            </a:p>
          </p:txBody>
        </p:sp>
        <p:sp>
          <p:nvSpPr>
            <p:cNvPr id="33837" name="Rectangle 19"/>
            <p:cNvSpPr>
              <a:spLocks noChangeArrowheads="1"/>
            </p:cNvSpPr>
            <p:nvPr/>
          </p:nvSpPr>
          <p:spPr bwMode="auto">
            <a:xfrm>
              <a:off x="3600" y="211"/>
              <a:ext cx="360" cy="255"/>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grpSp>
      <p:grpSp>
        <p:nvGrpSpPr>
          <p:cNvPr id="3" name="Group 21"/>
          <p:cNvGrpSpPr>
            <a:grpSpLocks/>
          </p:cNvGrpSpPr>
          <p:nvPr/>
        </p:nvGrpSpPr>
        <p:grpSpPr bwMode="auto">
          <a:xfrm>
            <a:off x="6037468" y="2971800"/>
            <a:ext cx="1524000" cy="762000"/>
            <a:chOff x="0" y="0"/>
            <a:chExt cx="960" cy="480"/>
          </a:xfrm>
        </p:grpSpPr>
        <p:grpSp>
          <p:nvGrpSpPr>
            <p:cNvPr id="4" name="Group 22"/>
            <p:cNvGrpSpPr>
              <a:grpSpLocks/>
            </p:cNvGrpSpPr>
            <p:nvPr/>
          </p:nvGrpSpPr>
          <p:grpSpPr bwMode="auto">
            <a:xfrm>
              <a:off x="0" y="0"/>
              <a:ext cx="336" cy="480"/>
              <a:chOff x="0" y="0"/>
              <a:chExt cx="336" cy="480"/>
            </a:xfrm>
          </p:grpSpPr>
          <p:sp>
            <p:nvSpPr>
              <p:cNvPr id="33824" name="Rectangle 23"/>
              <p:cNvSpPr>
                <a:spLocks noChangeArrowheads="1"/>
              </p:cNvSpPr>
              <p:nvPr/>
            </p:nvSpPr>
            <p:spPr bwMode="auto">
              <a:xfrm>
                <a:off x="0" y="0"/>
                <a:ext cx="336"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21</a:t>
                </a:r>
              </a:p>
            </p:txBody>
          </p:sp>
          <p:sp>
            <p:nvSpPr>
              <p:cNvPr id="33825" name="Rectangle 24"/>
              <p:cNvSpPr>
                <a:spLocks noChangeArrowheads="1"/>
              </p:cNvSpPr>
              <p:nvPr/>
            </p:nvSpPr>
            <p:spPr bwMode="auto">
              <a:xfrm>
                <a:off x="0" y="240"/>
                <a:ext cx="336"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1</a:t>
                </a:r>
              </a:p>
            </p:txBody>
          </p:sp>
        </p:grpSp>
        <p:grpSp>
          <p:nvGrpSpPr>
            <p:cNvPr id="5" name="Group 25"/>
            <p:cNvGrpSpPr>
              <a:grpSpLocks/>
            </p:cNvGrpSpPr>
            <p:nvPr/>
          </p:nvGrpSpPr>
          <p:grpSpPr bwMode="auto">
            <a:xfrm>
              <a:off x="336" y="0"/>
              <a:ext cx="288" cy="480"/>
              <a:chOff x="0" y="0"/>
              <a:chExt cx="360" cy="480"/>
            </a:xfrm>
          </p:grpSpPr>
          <p:sp>
            <p:nvSpPr>
              <p:cNvPr id="33822" name="Rectangle 26"/>
              <p:cNvSpPr>
                <a:spLocks noChangeArrowheads="1"/>
              </p:cNvSpPr>
              <p:nvPr/>
            </p:nvSpPr>
            <p:spPr bwMode="auto">
              <a:xfrm>
                <a:off x="0" y="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75</a:t>
                </a:r>
              </a:p>
            </p:txBody>
          </p:sp>
          <p:sp>
            <p:nvSpPr>
              <p:cNvPr id="33823" name="Rectangle 27"/>
              <p:cNvSpPr>
                <a:spLocks noChangeArrowheads="1"/>
              </p:cNvSpPr>
              <p:nvPr/>
            </p:nvSpPr>
            <p:spPr bwMode="auto">
              <a:xfrm>
                <a:off x="0" y="24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5</a:t>
                </a:r>
              </a:p>
            </p:txBody>
          </p:sp>
        </p:grpSp>
        <p:grpSp>
          <p:nvGrpSpPr>
            <p:cNvPr id="6" name="Group 28"/>
            <p:cNvGrpSpPr>
              <a:grpSpLocks/>
            </p:cNvGrpSpPr>
            <p:nvPr/>
          </p:nvGrpSpPr>
          <p:grpSpPr bwMode="auto">
            <a:xfrm>
              <a:off x="624" y="0"/>
              <a:ext cx="336" cy="480"/>
              <a:chOff x="0" y="0"/>
              <a:chExt cx="360" cy="480"/>
            </a:xfrm>
          </p:grpSpPr>
          <p:sp>
            <p:nvSpPr>
              <p:cNvPr id="33820" name="Rectangle 29"/>
              <p:cNvSpPr>
                <a:spLocks noChangeArrowheads="1"/>
              </p:cNvSpPr>
              <p:nvPr/>
            </p:nvSpPr>
            <p:spPr bwMode="auto">
              <a:xfrm>
                <a:off x="0" y="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92</a:t>
                </a:r>
              </a:p>
            </p:txBody>
          </p:sp>
          <p:sp>
            <p:nvSpPr>
              <p:cNvPr id="33821" name="Rectangle 30"/>
              <p:cNvSpPr>
                <a:spLocks noChangeArrowheads="1"/>
              </p:cNvSpPr>
              <p:nvPr/>
            </p:nvSpPr>
            <p:spPr bwMode="auto">
              <a:xfrm>
                <a:off x="0" y="240"/>
                <a:ext cx="360" cy="240"/>
              </a:xfrm>
              <a:prstGeom prst="rect">
                <a:avLst/>
              </a:prstGeom>
              <a:solidFill>
                <a:srgbClr val="FFCCFF"/>
              </a:solidFill>
              <a:ln w="9525">
                <a:solidFill>
                  <a:srgbClr val="003366"/>
                </a:solidFill>
                <a:miter lim="800000"/>
                <a:headEnd/>
                <a:tailEnd/>
              </a:ln>
              <a:effectLst/>
            </p:spPr>
            <p:txBody>
              <a:bodyPr wrap="none" anchor="ctr"/>
              <a:lstStyle/>
              <a:p>
                <a:pPr algn="ctr" eaLnBrk="1" hangingPunct="1">
                  <a:buFont typeface="Arial" pitchFamily="34" charset="0"/>
                  <a:buNone/>
                </a:pPr>
                <a:r>
                  <a:rPr lang="en-US" altLang="zh-CN" sz="2000" b="1" i="0">
                    <a:solidFill>
                      <a:srgbClr val="003300"/>
                    </a:solidFill>
                    <a:latin typeface="Times New Roman" pitchFamily="18" charset="0"/>
                  </a:rPr>
                  <a:t>9</a:t>
                </a:r>
              </a:p>
            </p:txBody>
          </p:sp>
        </p:grpSp>
      </p:grpSp>
      <p:sp>
        <p:nvSpPr>
          <p:cNvPr id="33802" name="Line 31"/>
          <p:cNvSpPr>
            <a:spLocks noChangeShapeType="1"/>
          </p:cNvSpPr>
          <p:nvPr/>
        </p:nvSpPr>
        <p:spPr bwMode="auto">
          <a:xfrm>
            <a:off x="2227468" y="4038600"/>
            <a:ext cx="0" cy="609600"/>
          </a:xfrm>
          <a:prstGeom prst="line">
            <a:avLst/>
          </a:prstGeom>
          <a:noFill/>
          <a:ln w="19050">
            <a:solidFill>
              <a:schemeClr val="hlink"/>
            </a:solidFill>
            <a:round/>
            <a:headEnd/>
            <a:tailEnd type="triangle" w="med" len="med"/>
          </a:ln>
          <a:effectLst/>
        </p:spPr>
        <p:txBody>
          <a:bodyPr wrap="none" anchor="ctr"/>
          <a:lstStyle/>
          <a:p>
            <a:endParaRPr lang="zh-CN" altLang="en-US" i="0"/>
          </a:p>
        </p:txBody>
      </p:sp>
      <p:sp>
        <p:nvSpPr>
          <p:cNvPr id="33803" name="Line 32"/>
          <p:cNvSpPr>
            <a:spLocks noChangeShapeType="1"/>
          </p:cNvSpPr>
          <p:nvPr/>
        </p:nvSpPr>
        <p:spPr bwMode="auto">
          <a:xfrm flipH="1" flipV="1">
            <a:off x="2227468" y="4038600"/>
            <a:ext cx="4114800" cy="0"/>
          </a:xfrm>
          <a:prstGeom prst="line">
            <a:avLst/>
          </a:prstGeom>
          <a:noFill/>
          <a:ln w="19050">
            <a:solidFill>
              <a:schemeClr val="hlink"/>
            </a:solidFill>
            <a:round/>
            <a:headEnd/>
            <a:tailEnd/>
          </a:ln>
          <a:effectLst/>
        </p:spPr>
        <p:txBody>
          <a:bodyPr wrap="none" anchor="ctr"/>
          <a:lstStyle/>
          <a:p>
            <a:endParaRPr lang="zh-CN" altLang="en-US" i="0"/>
          </a:p>
        </p:txBody>
      </p:sp>
      <p:sp>
        <p:nvSpPr>
          <p:cNvPr id="33804" name="Line 33"/>
          <p:cNvSpPr>
            <a:spLocks noChangeShapeType="1"/>
          </p:cNvSpPr>
          <p:nvPr/>
        </p:nvSpPr>
        <p:spPr bwMode="auto">
          <a:xfrm flipH="1" flipV="1">
            <a:off x="6342268" y="3733800"/>
            <a:ext cx="0" cy="304800"/>
          </a:xfrm>
          <a:prstGeom prst="line">
            <a:avLst/>
          </a:prstGeom>
          <a:noFill/>
          <a:ln w="19050">
            <a:solidFill>
              <a:schemeClr val="hlink"/>
            </a:solidFill>
            <a:round/>
            <a:headEnd/>
            <a:tailEnd/>
          </a:ln>
          <a:effectLst/>
        </p:spPr>
        <p:txBody>
          <a:bodyPr wrap="none" anchor="ctr"/>
          <a:lstStyle/>
          <a:p>
            <a:endParaRPr lang="zh-CN" altLang="en-US" i="0"/>
          </a:p>
        </p:txBody>
      </p:sp>
      <p:sp>
        <p:nvSpPr>
          <p:cNvPr id="33805" name="Line 34"/>
          <p:cNvSpPr>
            <a:spLocks noChangeShapeType="1"/>
          </p:cNvSpPr>
          <p:nvPr/>
        </p:nvSpPr>
        <p:spPr bwMode="auto">
          <a:xfrm>
            <a:off x="4742068" y="4191000"/>
            <a:ext cx="0" cy="487363"/>
          </a:xfrm>
          <a:prstGeom prst="line">
            <a:avLst/>
          </a:prstGeom>
          <a:noFill/>
          <a:ln w="19050">
            <a:solidFill>
              <a:schemeClr val="hlink"/>
            </a:solidFill>
            <a:round/>
            <a:headEnd/>
            <a:tailEnd type="triangle" w="med" len="med"/>
          </a:ln>
          <a:effectLst/>
        </p:spPr>
        <p:txBody>
          <a:bodyPr wrap="none" anchor="ctr"/>
          <a:lstStyle/>
          <a:p>
            <a:endParaRPr lang="zh-CN" altLang="en-US" i="0"/>
          </a:p>
        </p:txBody>
      </p:sp>
      <p:sp>
        <p:nvSpPr>
          <p:cNvPr id="33806" name="Line 35"/>
          <p:cNvSpPr>
            <a:spLocks noChangeShapeType="1"/>
          </p:cNvSpPr>
          <p:nvPr/>
        </p:nvSpPr>
        <p:spPr bwMode="auto">
          <a:xfrm flipH="1" flipV="1">
            <a:off x="4742068" y="4191000"/>
            <a:ext cx="2057400" cy="0"/>
          </a:xfrm>
          <a:prstGeom prst="line">
            <a:avLst/>
          </a:prstGeom>
          <a:noFill/>
          <a:ln w="19050">
            <a:solidFill>
              <a:schemeClr val="hlink"/>
            </a:solidFill>
            <a:round/>
            <a:headEnd/>
            <a:tailEnd/>
          </a:ln>
          <a:effectLst/>
        </p:spPr>
        <p:txBody>
          <a:bodyPr wrap="none" anchor="ctr"/>
          <a:lstStyle/>
          <a:p>
            <a:endParaRPr lang="zh-CN" altLang="en-US" i="0"/>
          </a:p>
        </p:txBody>
      </p:sp>
      <p:sp>
        <p:nvSpPr>
          <p:cNvPr id="33807" name="Line 36"/>
          <p:cNvSpPr>
            <a:spLocks noChangeShapeType="1"/>
          </p:cNvSpPr>
          <p:nvPr/>
        </p:nvSpPr>
        <p:spPr bwMode="auto">
          <a:xfrm flipH="1" flipV="1">
            <a:off x="6799468" y="3733800"/>
            <a:ext cx="0" cy="457200"/>
          </a:xfrm>
          <a:prstGeom prst="line">
            <a:avLst/>
          </a:prstGeom>
          <a:noFill/>
          <a:ln w="19050">
            <a:solidFill>
              <a:schemeClr val="hlink"/>
            </a:solidFill>
            <a:round/>
            <a:headEnd/>
            <a:tailEnd/>
          </a:ln>
          <a:effectLst/>
        </p:spPr>
        <p:txBody>
          <a:bodyPr wrap="none" anchor="ctr"/>
          <a:lstStyle/>
          <a:p>
            <a:endParaRPr lang="zh-CN" altLang="en-US" i="0"/>
          </a:p>
        </p:txBody>
      </p:sp>
      <p:sp>
        <p:nvSpPr>
          <p:cNvPr id="33808" name="Line 37"/>
          <p:cNvSpPr>
            <a:spLocks noChangeShapeType="1"/>
          </p:cNvSpPr>
          <p:nvPr/>
        </p:nvSpPr>
        <p:spPr bwMode="auto">
          <a:xfrm>
            <a:off x="7104268" y="4343400"/>
            <a:ext cx="0" cy="334963"/>
          </a:xfrm>
          <a:prstGeom prst="line">
            <a:avLst/>
          </a:prstGeom>
          <a:noFill/>
          <a:ln w="19050">
            <a:solidFill>
              <a:schemeClr val="hlink"/>
            </a:solidFill>
            <a:round/>
            <a:headEnd/>
            <a:tailEnd type="triangle" w="med" len="med"/>
          </a:ln>
          <a:effectLst/>
        </p:spPr>
        <p:txBody>
          <a:bodyPr wrap="none" anchor="ctr"/>
          <a:lstStyle/>
          <a:p>
            <a:endParaRPr lang="zh-CN" altLang="en-US" i="0"/>
          </a:p>
        </p:txBody>
      </p:sp>
      <p:sp>
        <p:nvSpPr>
          <p:cNvPr id="33809" name="Line 38"/>
          <p:cNvSpPr>
            <a:spLocks noChangeShapeType="1"/>
          </p:cNvSpPr>
          <p:nvPr/>
        </p:nvSpPr>
        <p:spPr bwMode="auto">
          <a:xfrm flipH="1" flipV="1">
            <a:off x="7104268" y="4343400"/>
            <a:ext cx="228600" cy="0"/>
          </a:xfrm>
          <a:prstGeom prst="line">
            <a:avLst/>
          </a:prstGeom>
          <a:noFill/>
          <a:ln w="19050">
            <a:solidFill>
              <a:schemeClr val="hlink"/>
            </a:solidFill>
            <a:round/>
            <a:headEnd/>
            <a:tailEnd/>
          </a:ln>
          <a:effectLst/>
        </p:spPr>
        <p:txBody>
          <a:bodyPr wrap="none" anchor="ctr"/>
          <a:lstStyle/>
          <a:p>
            <a:endParaRPr lang="zh-CN" altLang="en-US" i="0"/>
          </a:p>
        </p:txBody>
      </p:sp>
      <p:sp>
        <p:nvSpPr>
          <p:cNvPr id="33810" name="Line 39"/>
          <p:cNvSpPr>
            <a:spLocks noChangeShapeType="1"/>
          </p:cNvSpPr>
          <p:nvPr/>
        </p:nvSpPr>
        <p:spPr bwMode="auto">
          <a:xfrm flipH="1" flipV="1">
            <a:off x="7332868" y="3733800"/>
            <a:ext cx="0" cy="609600"/>
          </a:xfrm>
          <a:prstGeom prst="line">
            <a:avLst/>
          </a:prstGeom>
          <a:noFill/>
          <a:ln w="19050">
            <a:solidFill>
              <a:schemeClr val="hlink"/>
            </a:solidFill>
            <a:round/>
            <a:headEnd/>
            <a:tailEnd/>
          </a:ln>
          <a:effectLst/>
        </p:spPr>
        <p:txBody>
          <a:bodyPr wrap="none" anchor="ctr"/>
          <a:lstStyle/>
          <a:p>
            <a:endParaRPr lang="zh-CN" altLang="en-US" i="0"/>
          </a:p>
        </p:txBody>
      </p:sp>
      <p:sp>
        <p:nvSpPr>
          <p:cNvPr id="33811" name="Text Box 40"/>
          <p:cNvSpPr txBox="1">
            <a:spLocks noChangeArrowheads="1"/>
          </p:cNvSpPr>
          <p:nvPr/>
        </p:nvSpPr>
        <p:spPr bwMode="auto">
          <a:xfrm>
            <a:off x="1313068" y="4648200"/>
            <a:ext cx="762000" cy="396875"/>
          </a:xfrm>
          <a:prstGeom prst="rect">
            <a:avLst/>
          </a:prstGeom>
          <a:noFill/>
          <a:ln w="9525">
            <a:noFill/>
            <a:miter lim="800000"/>
            <a:headEnd/>
            <a:tailEnd/>
          </a:ln>
          <a:effectLst/>
        </p:spPr>
        <p:txBody>
          <a:bodyPr>
            <a:spAutoFit/>
          </a:bodyPr>
          <a:lstStyle/>
          <a:p>
            <a:pPr eaLnBrk="1" hangingPunct="1">
              <a:spcBef>
                <a:spcPct val="50000"/>
              </a:spcBef>
              <a:buFont typeface="Arial" pitchFamily="34" charset="0"/>
              <a:buNone/>
            </a:pPr>
            <a:r>
              <a:rPr lang="zh-CN" altLang="en-US" sz="2000" i="0"/>
              <a:t>主表</a:t>
            </a:r>
          </a:p>
        </p:txBody>
      </p:sp>
      <p:sp>
        <p:nvSpPr>
          <p:cNvPr id="33812" name="Text Box 41"/>
          <p:cNvSpPr txBox="1">
            <a:spLocks noChangeArrowheads="1"/>
          </p:cNvSpPr>
          <p:nvPr/>
        </p:nvSpPr>
        <p:spPr bwMode="auto">
          <a:xfrm>
            <a:off x="7713868" y="3200400"/>
            <a:ext cx="914400" cy="396875"/>
          </a:xfrm>
          <a:prstGeom prst="rect">
            <a:avLst/>
          </a:prstGeom>
          <a:noFill/>
          <a:ln w="9525">
            <a:noFill/>
            <a:miter lim="800000"/>
            <a:headEnd/>
            <a:tailEnd/>
          </a:ln>
          <a:effectLst/>
        </p:spPr>
        <p:txBody>
          <a:bodyPr lIns="0" rIns="0">
            <a:spAutoFit/>
          </a:bodyPr>
          <a:lstStyle/>
          <a:p>
            <a:pPr algn="ctr" eaLnBrk="1" hangingPunct="1">
              <a:spcBef>
                <a:spcPct val="50000"/>
              </a:spcBef>
              <a:buFont typeface="Arial" pitchFamily="34" charset="0"/>
              <a:buNone/>
            </a:pPr>
            <a:r>
              <a:rPr lang="zh-CN" altLang="en-US" sz="2000" i="0"/>
              <a:t>索引表</a:t>
            </a:r>
          </a:p>
        </p:txBody>
      </p:sp>
      <p:sp>
        <p:nvSpPr>
          <p:cNvPr id="33813" name="Line 42"/>
          <p:cNvSpPr>
            <a:spLocks noChangeShapeType="1"/>
          </p:cNvSpPr>
          <p:nvPr/>
        </p:nvSpPr>
        <p:spPr bwMode="auto">
          <a:xfrm>
            <a:off x="6799468" y="2590800"/>
            <a:ext cx="0" cy="381000"/>
          </a:xfrm>
          <a:prstGeom prst="line">
            <a:avLst/>
          </a:prstGeom>
          <a:noFill/>
          <a:ln w="9525">
            <a:solidFill>
              <a:schemeClr val="tx1"/>
            </a:solidFill>
            <a:round/>
            <a:headEnd/>
            <a:tailEnd type="triangle" w="med" len="med"/>
          </a:ln>
          <a:effectLst/>
        </p:spPr>
        <p:txBody>
          <a:bodyPr wrap="none"/>
          <a:lstStyle/>
          <a:p>
            <a:endParaRPr lang="zh-CN" altLang="en-US" i="0"/>
          </a:p>
        </p:txBody>
      </p:sp>
      <p:sp>
        <p:nvSpPr>
          <p:cNvPr id="33814" name="Line 43"/>
          <p:cNvSpPr>
            <a:spLocks noChangeShapeType="1"/>
          </p:cNvSpPr>
          <p:nvPr/>
        </p:nvSpPr>
        <p:spPr bwMode="auto">
          <a:xfrm flipV="1">
            <a:off x="4589668" y="5105400"/>
            <a:ext cx="0" cy="381000"/>
          </a:xfrm>
          <a:prstGeom prst="line">
            <a:avLst/>
          </a:prstGeom>
          <a:noFill/>
          <a:ln w="9525">
            <a:solidFill>
              <a:schemeClr val="tx1"/>
            </a:solidFill>
            <a:round/>
            <a:headEnd/>
            <a:tailEnd type="triangle" w="med" len="med"/>
          </a:ln>
          <a:effectLst/>
        </p:spPr>
        <p:txBody>
          <a:bodyPr wrap="none"/>
          <a:lstStyle/>
          <a:p>
            <a:endParaRPr lang="zh-CN" altLang="en-US" i="0"/>
          </a:p>
        </p:txBody>
      </p:sp>
      <p:sp>
        <p:nvSpPr>
          <p:cNvPr id="33815" name="Line 44"/>
          <p:cNvSpPr>
            <a:spLocks noChangeShapeType="1"/>
          </p:cNvSpPr>
          <p:nvPr/>
        </p:nvSpPr>
        <p:spPr bwMode="auto">
          <a:xfrm flipV="1">
            <a:off x="5199268" y="5105400"/>
            <a:ext cx="0" cy="381000"/>
          </a:xfrm>
          <a:prstGeom prst="line">
            <a:avLst/>
          </a:prstGeom>
          <a:noFill/>
          <a:ln w="9525">
            <a:solidFill>
              <a:schemeClr val="tx1"/>
            </a:solidFill>
            <a:round/>
            <a:headEnd/>
            <a:tailEnd type="triangle" w="med" len="med"/>
          </a:ln>
          <a:effectLst/>
        </p:spPr>
        <p:txBody>
          <a:bodyPr wrap="none"/>
          <a:lstStyle/>
          <a:p>
            <a:endParaRPr lang="zh-CN" altLang="en-US" i="0"/>
          </a:p>
        </p:txBody>
      </p:sp>
      <p:sp>
        <p:nvSpPr>
          <p:cNvPr id="33816" name="Line 45"/>
          <p:cNvSpPr>
            <a:spLocks noChangeShapeType="1"/>
          </p:cNvSpPr>
          <p:nvPr/>
        </p:nvSpPr>
        <p:spPr bwMode="auto">
          <a:xfrm flipV="1">
            <a:off x="5808868" y="5105400"/>
            <a:ext cx="0" cy="381000"/>
          </a:xfrm>
          <a:prstGeom prst="line">
            <a:avLst/>
          </a:prstGeom>
          <a:noFill/>
          <a:ln w="9525">
            <a:solidFill>
              <a:schemeClr val="tx1"/>
            </a:solidFill>
            <a:round/>
            <a:headEnd/>
            <a:tailEnd type="triangle" w="med" len="med"/>
          </a:ln>
          <a:effectLst/>
        </p:spPr>
        <p:txBody>
          <a:bodyPr wrap="none"/>
          <a:lstStyle/>
          <a:p>
            <a:endParaRPr lang="zh-CN" altLang="en-US" i="0"/>
          </a:p>
        </p:txBody>
      </p:sp>
      <p:sp>
        <p:nvSpPr>
          <p:cNvPr id="7" name="Text Box 4">
            <a:extLst>
              <a:ext uri="{FF2B5EF4-FFF2-40B4-BE49-F238E27FC236}">
                <a16:creationId xmlns:a16="http://schemas.microsoft.com/office/drawing/2014/main" id="{59BF3E75-2D7A-4791-84F7-21105F532A47}"/>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三、分块查找举例</a:t>
            </a:r>
          </a:p>
        </p:txBody>
      </p:sp>
      <p:sp>
        <p:nvSpPr>
          <p:cNvPr id="8" name="文本框 7">
            <a:extLst>
              <a:ext uri="{FF2B5EF4-FFF2-40B4-BE49-F238E27FC236}">
                <a16:creationId xmlns:a16="http://schemas.microsoft.com/office/drawing/2014/main" id="{456460E1-61CE-829F-837F-5C04C10A45F2}"/>
              </a:ext>
            </a:extLst>
          </p:cNvPr>
          <p:cNvSpPr txBox="1"/>
          <p:nvPr/>
        </p:nvSpPr>
        <p:spPr>
          <a:xfrm>
            <a:off x="1095255" y="2764840"/>
            <a:ext cx="1341782" cy="523220"/>
          </a:xfrm>
          <a:prstGeom prst="rect">
            <a:avLst/>
          </a:prstGeom>
          <a:noFill/>
        </p:spPr>
        <p:txBody>
          <a:bodyPr wrap="square" rtlCol="0">
            <a:spAutoFit/>
          </a:bodyPr>
          <a:lstStyle/>
          <a:p>
            <a:r>
              <a:rPr lang="zh-CN" altLang="en-US" sz="2800" b="0" i="0" dirty="0">
                <a:solidFill>
                  <a:srgbClr val="FF0000"/>
                </a:solidFill>
                <a:latin typeface="+mn-ea"/>
                <a:ea typeface="+mn-ea"/>
              </a:rPr>
              <a:t>查找</a:t>
            </a:r>
            <a:r>
              <a:rPr lang="en-US" altLang="zh-CN" sz="2800" b="0" i="0" dirty="0">
                <a:solidFill>
                  <a:srgbClr val="FF0000"/>
                </a:solidFill>
                <a:latin typeface="+mn-ea"/>
                <a:ea typeface="+mn-ea"/>
              </a:rPr>
              <a:t>64</a:t>
            </a:r>
            <a:endParaRPr lang="zh-CN" altLang="en-US" sz="2800" b="0" i="0" dirty="0">
              <a:solidFill>
                <a:srgbClr val="FF0000"/>
              </a:solidFill>
              <a:latin typeface="+mn-ea"/>
              <a:ea typeface="+mn-ea"/>
            </a:endParaRPr>
          </a:p>
        </p:txBody>
      </p:sp>
      <p:sp>
        <p:nvSpPr>
          <p:cNvPr id="9" name="Line 42">
            <a:extLst>
              <a:ext uri="{FF2B5EF4-FFF2-40B4-BE49-F238E27FC236}">
                <a16:creationId xmlns:a16="http://schemas.microsoft.com/office/drawing/2014/main" id="{E81DCA83-90C5-F860-27B8-585EB8EF2CF7}"/>
              </a:ext>
            </a:extLst>
          </p:cNvPr>
          <p:cNvSpPr>
            <a:spLocks noChangeShapeType="1"/>
          </p:cNvSpPr>
          <p:nvPr/>
        </p:nvSpPr>
        <p:spPr bwMode="auto">
          <a:xfrm>
            <a:off x="6281620" y="2590800"/>
            <a:ext cx="0" cy="381000"/>
          </a:xfrm>
          <a:prstGeom prst="line">
            <a:avLst/>
          </a:prstGeom>
          <a:noFill/>
          <a:ln w="9525">
            <a:solidFill>
              <a:schemeClr val="tx1"/>
            </a:solidFill>
            <a:round/>
            <a:headEnd/>
            <a:tailEnd type="triangle" w="med" len="med"/>
          </a:ln>
          <a:effectLst/>
        </p:spPr>
        <p:txBody>
          <a:bodyPr wrap="none"/>
          <a:lstStyle/>
          <a:p>
            <a:endParaRPr lang="zh-CN" altLang="en-US" i="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380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80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80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380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380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380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380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380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38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381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38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9"/>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8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3797">
                                            <p:txEl>
                                              <p:pRg st="0" end="0"/>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381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33814"/>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3815"/>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xit" presetSubtype="0" fill="hold" grpId="1" nodeType="clickEffect">
                                  <p:stCondLst>
                                    <p:cond delay="0"/>
                                  </p:stCondLst>
                                  <p:childTnLst>
                                    <p:set>
                                      <p:cBhvr>
                                        <p:cTn id="66" dur="1" fill="hold">
                                          <p:stCondLst>
                                            <p:cond delay="0"/>
                                          </p:stCondLst>
                                        </p:cTn>
                                        <p:tgtEl>
                                          <p:spTgt spid="33815"/>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381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33797">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2" grpId="0" animBg="1"/>
      <p:bldP spid="33803" grpId="0" animBg="1"/>
      <p:bldP spid="33804" grpId="0" animBg="1"/>
      <p:bldP spid="33805" grpId="0" animBg="1"/>
      <p:bldP spid="33806" grpId="0" animBg="1"/>
      <p:bldP spid="33807" grpId="0" animBg="1"/>
      <p:bldP spid="33808" grpId="0" animBg="1"/>
      <p:bldP spid="33809" grpId="0" animBg="1"/>
      <p:bldP spid="33810" grpId="0" animBg="1"/>
      <p:bldP spid="33811" grpId="0"/>
      <p:bldP spid="33812" grpId="0"/>
      <p:bldP spid="33813" grpId="0" animBg="1"/>
      <p:bldP spid="33814" grpId="0" animBg="1"/>
      <p:bldP spid="33814" grpId="1" animBg="1"/>
      <p:bldP spid="33815" grpId="0" animBg="1"/>
      <p:bldP spid="33815" grpId="1" animBg="1"/>
      <p:bldP spid="33816" grpId="0" animBg="1"/>
      <p:bldP spid="8" grpId="0"/>
      <p:bldP spid="9" grpId="0" animBg="1"/>
      <p:bldP spid="9"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DF09CE0E-1DE7-49AC-92B0-C4A7FF490A42}" type="slidenum">
              <a:rPr lang="zh-CN" altLang="en-US"/>
              <a:pPr algn="r" eaLnBrk="1" hangingPunct="1">
                <a:spcBef>
                  <a:spcPct val="50000"/>
                </a:spcBef>
                <a:buFont typeface="Arial" pitchFamily="34" charset="0"/>
                <a:buNone/>
              </a:pPr>
              <a:t>32</a:t>
            </a:fld>
            <a:endParaRPr lang="en-US" altLang="zh-CN"/>
          </a:p>
        </p:txBody>
      </p:sp>
      <p:sp>
        <p:nvSpPr>
          <p:cNvPr id="32773" name="Rectangle 5"/>
          <p:cNvSpPr>
            <a:spLocks noGrp="1" noChangeArrowheads="1"/>
          </p:cNvSpPr>
          <p:nvPr>
            <p:ph type="body" idx="4294967295"/>
          </p:nvPr>
        </p:nvSpPr>
        <p:spPr>
          <a:xfrm>
            <a:off x="542956" y="1340768"/>
            <a:ext cx="8763000" cy="4038600"/>
          </a:xfrm>
        </p:spPr>
        <p:txBody>
          <a:bodyPr/>
          <a:lstStyle/>
          <a:p>
            <a:pPr eaLnBrk="1" hangingPunct="1">
              <a:lnSpc>
                <a:spcPct val="90000"/>
              </a:lnSpc>
              <a:spcBef>
                <a:spcPct val="50000"/>
              </a:spcBef>
            </a:pPr>
            <a:r>
              <a:rPr lang="zh-CN" altLang="en-US" dirty="0">
                <a:latin typeface="黑体" pitchFamily="49" charset="-122"/>
                <a:ea typeface="黑体" pitchFamily="49" charset="-122"/>
              </a:rPr>
              <a:t>若将长度为</a:t>
            </a:r>
            <a:r>
              <a:rPr lang="en-US" altLang="zh-CN" dirty="0">
                <a:latin typeface="黑体" pitchFamily="49" charset="-122"/>
                <a:ea typeface="黑体" pitchFamily="49" charset="-122"/>
              </a:rPr>
              <a:t>n</a:t>
            </a:r>
            <a:r>
              <a:rPr lang="zh-CN" altLang="en-US" dirty="0">
                <a:latin typeface="黑体" pitchFamily="49" charset="-122"/>
                <a:ea typeface="黑体" pitchFamily="49" charset="-122"/>
              </a:rPr>
              <a:t>的表分成</a:t>
            </a:r>
            <a:r>
              <a:rPr lang="en-US" altLang="zh-CN" dirty="0">
                <a:latin typeface="黑体" pitchFamily="49" charset="-122"/>
                <a:ea typeface="黑体" pitchFamily="49" charset="-122"/>
              </a:rPr>
              <a:t>b</a:t>
            </a:r>
            <a:r>
              <a:rPr lang="zh-CN" altLang="en-US" dirty="0">
                <a:latin typeface="黑体" pitchFamily="49" charset="-122"/>
                <a:ea typeface="黑体" pitchFamily="49" charset="-122"/>
              </a:rPr>
              <a:t>块，每块含</a:t>
            </a:r>
            <a:r>
              <a:rPr lang="en-US" altLang="zh-CN" dirty="0">
                <a:latin typeface="黑体" pitchFamily="49" charset="-122"/>
                <a:ea typeface="黑体" pitchFamily="49" charset="-122"/>
              </a:rPr>
              <a:t>s</a:t>
            </a:r>
            <a:r>
              <a:rPr lang="zh-CN" altLang="en-US" dirty="0">
                <a:latin typeface="黑体" pitchFamily="49" charset="-122"/>
                <a:ea typeface="黑体" pitchFamily="49" charset="-122"/>
              </a:rPr>
              <a:t>个记录，并设表中每个记录查找概率相等</a:t>
            </a:r>
          </a:p>
          <a:p>
            <a:pPr eaLnBrk="1" hangingPunct="1">
              <a:lnSpc>
                <a:spcPct val="90000"/>
              </a:lnSpc>
              <a:spcBef>
                <a:spcPct val="50000"/>
              </a:spcBef>
            </a:pPr>
            <a:r>
              <a:rPr lang="zh-CN" altLang="en-US" dirty="0">
                <a:latin typeface="黑体" pitchFamily="49" charset="-122"/>
                <a:ea typeface="黑体" pitchFamily="49" charset="-122"/>
              </a:rPr>
              <a:t>用折半查找方法在索引表中查找索引块，　</a:t>
            </a:r>
            <a:r>
              <a:rPr lang="en-US" altLang="zh-CN" dirty="0">
                <a:latin typeface="黑体" pitchFamily="49" charset="-122"/>
                <a:ea typeface="黑体" pitchFamily="49" charset="-122"/>
              </a:rPr>
              <a:t>ASL</a:t>
            </a:r>
            <a:r>
              <a:rPr lang="zh-CN" altLang="en-US" baseline="-25000" dirty="0">
                <a:latin typeface="黑体" pitchFamily="49" charset="-122"/>
                <a:ea typeface="黑体" pitchFamily="49" charset="-122"/>
              </a:rPr>
              <a:t>块间</a:t>
            </a:r>
            <a:r>
              <a:rPr lang="zh-CN" altLang="en-US" dirty="0">
                <a:latin typeface="黑体" pitchFamily="49" charset="-122"/>
                <a:ea typeface="黑体" pitchFamily="49" charset="-122"/>
              </a:rPr>
              <a:t>≈</a:t>
            </a:r>
            <a:r>
              <a:rPr lang="en-US" altLang="zh-CN" dirty="0">
                <a:latin typeface="黑体" pitchFamily="49" charset="-122"/>
                <a:ea typeface="黑体" pitchFamily="49" charset="-122"/>
              </a:rPr>
              <a:t>log</a:t>
            </a:r>
            <a:r>
              <a:rPr lang="en-US" altLang="zh-CN" baseline="-25000" dirty="0">
                <a:latin typeface="黑体" pitchFamily="49" charset="-122"/>
                <a:ea typeface="黑体" pitchFamily="49" charset="-122"/>
              </a:rPr>
              <a:t>2</a:t>
            </a:r>
            <a:r>
              <a:rPr lang="en-US" altLang="zh-CN" dirty="0">
                <a:latin typeface="黑体" pitchFamily="49" charset="-122"/>
                <a:ea typeface="黑体" pitchFamily="49" charset="-122"/>
              </a:rPr>
              <a:t>(n/s+1)</a:t>
            </a:r>
          </a:p>
          <a:p>
            <a:pPr eaLnBrk="1" hangingPunct="1">
              <a:lnSpc>
                <a:spcPct val="90000"/>
              </a:lnSpc>
              <a:spcBef>
                <a:spcPct val="50000"/>
              </a:spcBef>
            </a:pPr>
            <a:r>
              <a:rPr lang="zh-CN" altLang="en-US" dirty="0">
                <a:latin typeface="黑体" pitchFamily="49" charset="-122"/>
                <a:ea typeface="黑体" pitchFamily="49" charset="-122"/>
              </a:rPr>
              <a:t>用顺序查找方法在主表对应块中查找记录，</a:t>
            </a:r>
            <a:r>
              <a:rPr lang="en-US" altLang="zh-CN" dirty="0">
                <a:latin typeface="黑体" pitchFamily="49" charset="-122"/>
                <a:ea typeface="黑体" pitchFamily="49" charset="-122"/>
              </a:rPr>
              <a:t>ASL</a:t>
            </a:r>
            <a:r>
              <a:rPr lang="zh-CN" altLang="en-US" baseline="-25000" dirty="0">
                <a:latin typeface="黑体" pitchFamily="49" charset="-122"/>
                <a:ea typeface="黑体" pitchFamily="49" charset="-122"/>
              </a:rPr>
              <a:t>块内</a:t>
            </a:r>
            <a:r>
              <a:rPr lang="zh-CN" altLang="en-US" dirty="0">
                <a:latin typeface="黑体" pitchFamily="49" charset="-122"/>
                <a:ea typeface="黑体" pitchFamily="49" charset="-122"/>
              </a:rPr>
              <a:t>=</a:t>
            </a:r>
            <a:r>
              <a:rPr lang="en-US" altLang="zh-CN" dirty="0">
                <a:latin typeface="黑体" pitchFamily="49" charset="-122"/>
                <a:ea typeface="黑体" pitchFamily="49" charset="-122"/>
              </a:rPr>
              <a:t>s/2</a:t>
            </a:r>
          </a:p>
          <a:p>
            <a:pPr eaLnBrk="1" hangingPunct="1">
              <a:lnSpc>
                <a:spcPct val="90000"/>
              </a:lnSpc>
              <a:spcBef>
                <a:spcPct val="50000"/>
              </a:spcBef>
            </a:pPr>
            <a:r>
              <a:rPr lang="en-US" altLang="zh-CN" dirty="0">
                <a:latin typeface="黑体" pitchFamily="49" charset="-122"/>
                <a:ea typeface="黑体" pitchFamily="49" charset="-122"/>
              </a:rPr>
              <a:t>ASL</a:t>
            </a:r>
            <a:r>
              <a:rPr lang="zh-CN" altLang="en-US" dirty="0">
                <a:latin typeface="黑体" pitchFamily="49" charset="-122"/>
                <a:ea typeface="黑体" pitchFamily="49" charset="-122"/>
              </a:rPr>
              <a:t>≈</a:t>
            </a:r>
            <a:r>
              <a:rPr lang="en-US" altLang="zh-CN" dirty="0">
                <a:latin typeface="黑体" pitchFamily="49" charset="-122"/>
                <a:ea typeface="黑体" pitchFamily="49" charset="-122"/>
              </a:rPr>
              <a:t>log</a:t>
            </a:r>
            <a:r>
              <a:rPr lang="en-US" altLang="zh-CN" baseline="-25000" dirty="0">
                <a:latin typeface="黑体" pitchFamily="49" charset="-122"/>
                <a:ea typeface="黑体" pitchFamily="49" charset="-122"/>
              </a:rPr>
              <a:t>2</a:t>
            </a:r>
            <a:r>
              <a:rPr lang="en-US" altLang="zh-CN" dirty="0">
                <a:latin typeface="黑体" pitchFamily="49" charset="-122"/>
                <a:ea typeface="黑体" pitchFamily="49" charset="-122"/>
              </a:rPr>
              <a:t>(n/s+1) + s/2</a:t>
            </a:r>
          </a:p>
        </p:txBody>
      </p:sp>
      <p:sp>
        <p:nvSpPr>
          <p:cNvPr id="2" name="Text Box 4">
            <a:extLst>
              <a:ext uri="{FF2B5EF4-FFF2-40B4-BE49-F238E27FC236}">
                <a16:creationId xmlns:a16="http://schemas.microsoft.com/office/drawing/2014/main" id="{92258DF7-CB73-4887-98A6-F94374F9286B}"/>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三、分块查找性能分析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2773">
                                            <p:txEl>
                                              <p:pRg st="1" end="1"/>
                                            </p:txEl>
                                          </p:spTgt>
                                        </p:tgtEl>
                                        <p:attrNameLst>
                                          <p:attrName>style.visibility</p:attrName>
                                        </p:attrNameLst>
                                      </p:cBhvr>
                                      <p:to>
                                        <p:strVal val="visible"/>
                                      </p:to>
                                    </p:set>
                                    <p:animEffect transition="in" filter="blinds(horizontal)">
                                      <p:cBhvr>
                                        <p:cTn id="7" dur="500"/>
                                        <p:tgtEl>
                                          <p:spTgt spid="3277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2773">
                                            <p:txEl>
                                              <p:pRg st="2" end="2"/>
                                            </p:txEl>
                                          </p:spTgt>
                                        </p:tgtEl>
                                        <p:attrNameLst>
                                          <p:attrName>style.visibility</p:attrName>
                                        </p:attrNameLst>
                                      </p:cBhvr>
                                      <p:to>
                                        <p:strVal val="visible"/>
                                      </p:to>
                                    </p:set>
                                    <p:animEffect transition="in" filter="blinds(horizontal)">
                                      <p:cBhvr>
                                        <p:cTn id="12" dur="500"/>
                                        <p:tgtEl>
                                          <p:spTgt spid="3277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2773">
                                            <p:txEl>
                                              <p:pRg st="3" end="3"/>
                                            </p:txEl>
                                          </p:spTgt>
                                        </p:tgtEl>
                                        <p:attrNameLst>
                                          <p:attrName>style.visibility</p:attrName>
                                        </p:attrNameLst>
                                      </p:cBhvr>
                                      <p:to>
                                        <p:strVal val="visible"/>
                                      </p:to>
                                    </p:set>
                                    <p:animEffect transition="in" filter="blinds(horizontal)">
                                      <p:cBhvr>
                                        <p:cTn id="17" dur="500"/>
                                        <p:tgtEl>
                                          <p:spTgt spid="3277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Text Box 3"/>
          <p:cNvSpPr txBox="1">
            <a:spLocks noChangeArrowheads="1"/>
          </p:cNvSpPr>
          <p:nvPr/>
        </p:nvSpPr>
        <p:spPr bwMode="auto">
          <a:xfrm>
            <a:off x="8534400" y="6400800"/>
            <a:ext cx="609600" cy="457200"/>
          </a:xfrm>
          <a:prstGeom prst="rect">
            <a:avLst/>
          </a:prstGeom>
          <a:noFill/>
          <a:ln w="9525">
            <a:noFill/>
            <a:miter lim="800000"/>
            <a:headEnd/>
            <a:tailEnd/>
          </a:ln>
          <a:effectLst/>
        </p:spPr>
        <p:txBody>
          <a:bodyPr>
            <a:spAutoFit/>
          </a:bodyPr>
          <a:lstStyle/>
          <a:p>
            <a:pPr algn="r" eaLnBrk="1" hangingPunct="1">
              <a:spcBef>
                <a:spcPct val="50000"/>
              </a:spcBef>
              <a:buFont typeface="Arial" pitchFamily="34" charset="0"/>
              <a:buNone/>
            </a:pPr>
            <a:fld id="{DF09CE0E-1DE7-49AC-92B0-C4A7FF490A42}" type="slidenum">
              <a:rPr lang="zh-CN" altLang="en-US"/>
              <a:pPr algn="r" eaLnBrk="1" hangingPunct="1">
                <a:spcBef>
                  <a:spcPct val="50000"/>
                </a:spcBef>
                <a:buFont typeface="Arial" pitchFamily="34" charset="0"/>
                <a:buNone/>
              </a:pPr>
              <a:t>33</a:t>
            </a:fld>
            <a:endParaRPr lang="en-US" altLang="zh-CN"/>
          </a:p>
        </p:txBody>
      </p:sp>
      <p:sp>
        <p:nvSpPr>
          <p:cNvPr id="32773" name="Rectangle 5"/>
          <p:cNvSpPr>
            <a:spLocks noGrp="1" noChangeArrowheads="1"/>
          </p:cNvSpPr>
          <p:nvPr>
            <p:ph type="body" idx="4294967295"/>
          </p:nvPr>
        </p:nvSpPr>
        <p:spPr>
          <a:xfrm>
            <a:off x="516238" y="1340768"/>
            <a:ext cx="8511636" cy="1826096"/>
          </a:xfrm>
        </p:spPr>
        <p:txBody>
          <a:bodyPr/>
          <a:lstStyle/>
          <a:p>
            <a:pPr eaLnBrk="1" hangingPunct="1">
              <a:lnSpc>
                <a:spcPct val="90000"/>
              </a:lnSpc>
              <a:spcBef>
                <a:spcPct val="50000"/>
              </a:spcBef>
            </a:pPr>
            <a:r>
              <a:rPr lang="zh-CN" altLang="en-US" dirty="0">
                <a:latin typeface="黑体" pitchFamily="49" charset="-122"/>
                <a:ea typeface="黑体" pitchFamily="49" charset="-122"/>
              </a:rPr>
              <a:t>如何建立索引表？</a:t>
            </a:r>
            <a:endParaRPr lang="en-US" altLang="zh-CN" dirty="0">
              <a:latin typeface="黑体" pitchFamily="49" charset="-122"/>
              <a:ea typeface="黑体" pitchFamily="49" charset="-122"/>
            </a:endParaRPr>
          </a:p>
          <a:p>
            <a:pPr marL="0" indent="0" eaLnBrk="1" hangingPunct="1">
              <a:lnSpc>
                <a:spcPct val="90000"/>
              </a:lnSpc>
              <a:spcBef>
                <a:spcPct val="50000"/>
              </a:spcBef>
              <a:buNone/>
            </a:pPr>
            <a:r>
              <a:rPr lang="en-US" altLang="zh-CN" dirty="0">
                <a:latin typeface="黑体" pitchFamily="49" charset="-122"/>
                <a:ea typeface="黑体" pitchFamily="49" charset="-122"/>
              </a:rPr>
              <a:t>   OJ</a:t>
            </a:r>
            <a:r>
              <a:rPr lang="zh-CN" altLang="en-US" dirty="0">
                <a:latin typeface="黑体" pitchFamily="49" charset="-122"/>
                <a:ea typeface="黑体" pitchFamily="49" charset="-122"/>
              </a:rPr>
              <a:t>，已给出索引表每块最大关键字</a:t>
            </a:r>
            <a:endParaRPr lang="en-US" altLang="zh-CN" dirty="0">
              <a:latin typeface="黑体" pitchFamily="49" charset="-122"/>
              <a:ea typeface="黑体" pitchFamily="49" charset="-122"/>
            </a:endParaRPr>
          </a:p>
          <a:p>
            <a:pPr eaLnBrk="1" hangingPunct="1">
              <a:lnSpc>
                <a:spcPct val="90000"/>
              </a:lnSpc>
              <a:spcBef>
                <a:spcPct val="50000"/>
              </a:spcBef>
            </a:pPr>
            <a:r>
              <a:rPr lang="zh-CN" altLang="en-US" dirty="0">
                <a:latin typeface="黑体" pitchFamily="49" charset="-122"/>
                <a:ea typeface="黑体" pitchFamily="49" charset="-122"/>
              </a:rPr>
              <a:t>分块查找适用于链表吗？</a:t>
            </a:r>
            <a:endParaRPr lang="en-US" altLang="zh-CN" dirty="0">
              <a:latin typeface="黑体" pitchFamily="49" charset="-122"/>
              <a:ea typeface="黑体" pitchFamily="49" charset="-122"/>
            </a:endParaRPr>
          </a:p>
        </p:txBody>
      </p:sp>
      <p:sp>
        <p:nvSpPr>
          <p:cNvPr id="2" name="Text Box 4">
            <a:extLst>
              <a:ext uri="{FF2B5EF4-FFF2-40B4-BE49-F238E27FC236}">
                <a16:creationId xmlns:a16="http://schemas.microsoft.com/office/drawing/2014/main" id="{92258DF7-CB73-4887-98A6-F94374F9286B}"/>
              </a:ext>
            </a:extLst>
          </p:cNvPr>
          <p:cNvSpPr txBox="1">
            <a:spLocks noChangeArrowheads="1"/>
          </p:cNvSpPr>
          <p:nvPr/>
        </p:nvSpPr>
        <p:spPr bwMode="auto">
          <a:xfrm>
            <a:off x="542956" y="142852"/>
            <a:ext cx="8458200" cy="769441"/>
          </a:xfrm>
          <a:prstGeom prst="rect">
            <a:avLst/>
          </a:prstGeom>
          <a:noFill/>
          <a:ln w="9525">
            <a:noFill/>
            <a:miter lim="800000"/>
            <a:headEnd/>
            <a:tailEnd/>
          </a:ln>
          <a:effectLst/>
        </p:spPr>
        <p:txBody>
          <a:bodyPr>
            <a:spAutoFit/>
          </a:bodyPr>
          <a:lstStyle/>
          <a:p>
            <a:pPr algn="ctr" eaLnBrk="1" hangingPunct="1">
              <a:spcBef>
                <a:spcPct val="50000"/>
              </a:spcBef>
              <a:buFont typeface="Arial" pitchFamily="34" charset="0"/>
              <a:buNone/>
            </a:pPr>
            <a:r>
              <a:rPr lang="zh-CN" altLang="en-US" sz="4400" i="0" dirty="0">
                <a:solidFill>
                  <a:schemeClr val="tx2"/>
                </a:solidFill>
                <a:latin typeface="Tahoma" panose="020B0604030504040204" pitchFamily="34" charset="0"/>
                <a:ea typeface="隶书" pitchFamily="49" charset="-122"/>
              </a:rPr>
              <a:t>三、分块查找</a:t>
            </a:r>
          </a:p>
        </p:txBody>
      </p:sp>
      <p:sp>
        <p:nvSpPr>
          <p:cNvPr id="4" name="文本框 3">
            <a:extLst>
              <a:ext uri="{FF2B5EF4-FFF2-40B4-BE49-F238E27FC236}">
                <a16:creationId xmlns:a16="http://schemas.microsoft.com/office/drawing/2014/main" id="{C813BF66-E292-0DF9-1414-2D1E8624C9A5}"/>
              </a:ext>
            </a:extLst>
          </p:cNvPr>
          <p:cNvSpPr txBox="1"/>
          <p:nvPr/>
        </p:nvSpPr>
        <p:spPr>
          <a:xfrm>
            <a:off x="5796136" y="2492896"/>
            <a:ext cx="1800200" cy="523220"/>
          </a:xfrm>
          <a:prstGeom prst="rect">
            <a:avLst/>
          </a:prstGeom>
          <a:noFill/>
        </p:spPr>
        <p:txBody>
          <a:bodyPr wrap="square">
            <a:spAutoFit/>
          </a:bodyPr>
          <a:lstStyle/>
          <a:p>
            <a:r>
              <a:rPr lang="zh-CN" altLang="en-US" sz="2800" b="0" i="0" dirty="0">
                <a:solidFill>
                  <a:srgbClr val="FF0000"/>
                </a:solidFill>
                <a:latin typeface="黑体" pitchFamily="49" charset="-122"/>
                <a:ea typeface="黑体" pitchFamily="49" charset="-122"/>
              </a:rPr>
              <a:t>✔ ，跳表</a:t>
            </a:r>
            <a:endParaRPr lang="zh-CN" altLang="en-US" sz="2800" b="0" i="0" dirty="0">
              <a:solidFill>
                <a:srgbClr val="FF0000"/>
              </a:solidFill>
            </a:endParaRPr>
          </a:p>
        </p:txBody>
      </p:sp>
    </p:spTree>
    <p:extLst>
      <p:ext uri="{BB962C8B-B14F-4D97-AF65-F5344CB8AC3E}">
        <p14:creationId xmlns:p14="http://schemas.microsoft.com/office/powerpoint/2010/main" val="650724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7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27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27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1_Profile">
  <a:themeElements>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1_Profile">
      <a:majorFont>
        <a:latin typeface="Times New Roman"/>
        <a:ea typeface="黑体"/>
        <a:cs typeface=""/>
      </a:majorFont>
      <a:minorFont>
        <a:latin typeface="Times New Roman"/>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zh-CN" altLang="en-US" sz="1800" b="1" i="1"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1_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1_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1_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1_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1_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1_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1_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1_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1_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第五章演示文稿</Template>
  <TotalTime>18627</TotalTime>
  <Words>2420</Words>
  <Application>Microsoft Office PowerPoint</Application>
  <PresentationFormat>全屏显示(4:3)</PresentationFormat>
  <Paragraphs>385</Paragraphs>
  <Slides>33</Slides>
  <Notes>1</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33</vt:i4>
      </vt:variant>
    </vt:vector>
  </HeadingPairs>
  <TitlesOfParts>
    <vt:vector size="45" baseType="lpstr">
      <vt:lpstr>黑体</vt:lpstr>
      <vt:lpstr>华文行楷</vt:lpstr>
      <vt:lpstr>楷体_GB2312</vt:lpstr>
      <vt:lpstr>宋体</vt:lpstr>
      <vt:lpstr>Arial</vt:lpstr>
      <vt:lpstr>Calibri</vt:lpstr>
      <vt:lpstr>Tahoma</vt:lpstr>
      <vt:lpstr>Times New Roman</vt:lpstr>
      <vt:lpstr>Verdana</vt:lpstr>
      <vt:lpstr>Wingdings</vt:lpstr>
      <vt:lpstr>1_Profile</vt:lpstr>
      <vt:lpstr>Microsoft Word 97 - 2003 Document</vt:lpstr>
      <vt:lpstr>数据结构 </vt:lpstr>
      <vt:lpstr>一、查找表(Search Table)</vt:lpstr>
      <vt:lpstr>PowerPoint 演示文稿</vt:lpstr>
      <vt:lpstr>PowerPoint 演示文稿</vt:lpstr>
      <vt:lpstr>PowerPoint 演示文稿</vt:lpstr>
      <vt:lpstr>PowerPoint 演示文稿</vt:lpstr>
      <vt:lpstr>PowerPoint 演示文稿</vt:lpstr>
      <vt:lpstr>一、顺序查找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二、折半查找</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三、分块查找</vt:lpstr>
      <vt:lpstr>职场，生活中：性能与成本之间寻找平衡。  降低成本，损害用户满意度； 竭尽全力维持用户满意，费用迅速超越底线。</vt:lpstr>
      <vt:lpstr>PowerPoint 演示文稿</vt:lpstr>
      <vt:lpstr>PowerPoint 演示文稿</vt:lpstr>
      <vt:lpstr>PowerPoint 演示文稿</vt:lpstr>
      <vt:lpstr>PowerPoint 演示文稿</vt:lpstr>
    </vt:vector>
  </TitlesOfParts>
  <Company>dongfanghong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zhang</dc:creator>
  <cp:lastModifiedBy>Chen Hu</cp:lastModifiedBy>
  <cp:revision>1573</cp:revision>
  <cp:lastPrinted>2019-12-25T01:12:26Z</cp:lastPrinted>
  <dcterms:created xsi:type="dcterms:W3CDTF">2002-01-07T04:58:02Z</dcterms:created>
  <dcterms:modified xsi:type="dcterms:W3CDTF">2024-11-10T01:43:01Z</dcterms:modified>
</cp:coreProperties>
</file>