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2"/>
  </p:notesMasterIdLst>
  <p:handoutMasterIdLst>
    <p:handoutMasterId r:id="rId63"/>
  </p:handoutMasterIdLst>
  <p:sldIdLst>
    <p:sldId id="408" r:id="rId2"/>
    <p:sldId id="410" r:id="rId3"/>
    <p:sldId id="413" r:id="rId4"/>
    <p:sldId id="411" r:id="rId5"/>
    <p:sldId id="412" r:id="rId6"/>
    <p:sldId id="414" r:id="rId7"/>
    <p:sldId id="513" r:id="rId8"/>
    <p:sldId id="415" r:id="rId9"/>
    <p:sldId id="416" r:id="rId10"/>
    <p:sldId id="419" r:id="rId11"/>
    <p:sldId id="483" r:id="rId12"/>
    <p:sldId id="422" r:id="rId13"/>
    <p:sldId id="423" r:id="rId14"/>
    <p:sldId id="468" r:id="rId15"/>
    <p:sldId id="429" r:id="rId16"/>
    <p:sldId id="484" r:id="rId17"/>
    <p:sldId id="485" r:id="rId18"/>
    <p:sldId id="486" r:id="rId19"/>
    <p:sldId id="487" r:id="rId20"/>
    <p:sldId id="488" r:id="rId21"/>
    <p:sldId id="430" r:id="rId22"/>
    <p:sldId id="514" r:id="rId23"/>
    <p:sldId id="469" r:id="rId24"/>
    <p:sldId id="515" r:id="rId25"/>
    <p:sldId id="424" r:id="rId26"/>
    <p:sldId id="516" r:id="rId27"/>
    <p:sldId id="517" r:id="rId28"/>
    <p:sldId id="427" r:id="rId29"/>
    <p:sldId id="428" r:id="rId30"/>
    <p:sldId id="470" r:id="rId31"/>
    <p:sldId id="472" r:id="rId32"/>
    <p:sldId id="489" r:id="rId33"/>
    <p:sldId id="494" r:id="rId34"/>
    <p:sldId id="495" r:id="rId35"/>
    <p:sldId id="475" r:id="rId36"/>
    <p:sldId id="476" r:id="rId37"/>
    <p:sldId id="496" r:id="rId38"/>
    <p:sldId id="519" r:id="rId39"/>
    <p:sldId id="520" r:id="rId40"/>
    <p:sldId id="431" r:id="rId41"/>
    <p:sldId id="498" r:id="rId42"/>
    <p:sldId id="522" r:id="rId43"/>
    <p:sldId id="432" r:id="rId44"/>
    <p:sldId id="433" r:id="rId45"/>
    <p:sldId id="434" r:id="rId46"/>
    <p:sldId id="435" r:id="rId47"/>
    <p:sldId id="436" r:id="rId48"/>
    <p:sldId id="437" r:id="rId49"/>
    <p:sldId id="438" r:id="rId50"/>
    <p:sldId id="439" r:id="rId51"/>
    <p:sldId id="442" r:id="rId52"/>
    <p:sldId id="443" r:id="rId53"/>
    <p:sldId id="444" r:id="rId54"/>
    <p:sldId id="445" r:id="rId55"/>
    <p:sldId id="446" r:id="rId56"/>
    <p:sldId id="447" r:id="rId57"/>
    <p:sldId id="449" r:id="rId58"/>
    <p:sldId id="451" r:id="rId59"/>
    <p:sldId id="502" r:id="rId60"/>
    <p:sldId id="452" r:id="rId61"/>
  </p:sldIdLst>
  <p:sldSz cx="9144000" cy="6858000" type="screen4x3"/>
  <p:notesSz cx="7053263" cy="93091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33CC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 autoAdjust="0"/>
    <p:restoredTop sz="86545" autoAdjust="0"/>
  </p:normalViewPr>
  <p:slideViewPr>
    <p:cSldViewPr>
      <p:cViewPr varScale="1">
        <p:scale>
          <a:sx n="61" d="100"/>
          <a:sy n="61" d="100"/>
        </p:scale>
        <p:origin x="64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16"/>
    </p:cViewPr>
  </p:sorterViewPr>
  <p:notesViewPr>
    <p:cSldViewPr>
      <p:cViewPr varScale="1">
        <p:scale>
          <a:sx n="40" d="100"/>
          <a:sy n="40" d="100"/>
        </p:scale>
        <p:origin x="-2194" y="-72"/>
      </p:cViewPr>
      <p:guideLst>
        <p:guide orient="horz" pos="2932"/>
        <p:guide pos="22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6DDA489-5CA9-42AC-87B5-EC6CC08386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5938" cy="465138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BFC0E0-53C5-48C9-8D8B-44EE296BEE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95738" y="0"/>
            <a:ext cx="3055937" cy="465138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fld id="{CACD4E5C-7694-4C1D-A680-E1D8703E6176}" type="datetimeFigureOut">
              <a:rPr lang="zh-CN" altLang="en-US"/>
              <a:pPr>
                <a:defRPr/>
              </a:pPr>
              <a:t>2024/11/6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BAF90B-F5BC-4C64-B964-7D061D5AD0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55938" cy="465138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A8F92B-09B1-4BAB-85D5-AD49FB3979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95738" y="8842375"/>
            <a:ext cx="3055937" cy="465138"/>
          </a:xfrm>
          <a:prstGeom prst="rect">
            <a:avLst/>
          </a:prstGeom>
        </p:spPr>
        <p:txBody>
          <a:bodyPr vert="horz" wrap="square" lIns="93497" tIns="46749" rIns="93497" bIns="46749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fld id="{38EC63C6-01A6-4CCC-BA52-6C0016C110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E815836-6893-47BF-BF99-B202F59B3D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5938" cy="465138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70F3E2-B6C6-48C3-9597-6C8DB5BB536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95738" y="0"/>
            <a:ext cx="3055937" cy="465138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fld id="{812FDD5B-07F5-485A-A1E1-007F0A3B4DB8}" type="datetimeFigureOut">
              <a:rPr lang="zh-CN" altLang="en-US"/>
              <a:pPr>
                <a:defRPr/>
              </a:pPr>
              <a:t>2024/11/6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0C818B51-FB66-41DC-A460-8C3C04DD01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95074656-E628-4F43-8311-8A300EABE9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4850" y="4421188"/>
            <a:ext cx="5643563" cy="4189412"/>
          </a:xfrm>
          <a:prstGeom prst="rect">
            <a:avLst/>
          </a:prstGeom>
        </p:spPr>
        <p:txBody>
          <a:bodyPr vert="horz" lIns="93497" tIns="46749" rIns="93497" bIns="46749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24EFC2-612D-49FC-99F1-53061A4FF4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55938" cy="465138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4CD612-98FB-43F2-8E6D-0693C10EB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95738" y="8842375"/>
            <a:ext cx="3055937" cy="465138"/>
          </a:xfrm>
          <a:prstGeom prst="rect">
            <a:avLst/>
          </a:prstGeom>
        </p:spPr>
        <p:txBody>
          <a:bodyPr vert="horz" wrap="square" lIns="93497" tIns="46749" rIns="93497" bIns="46749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fld id="{E2886F1E-DF14-4423-9EAE-CA0AC5D32B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886F1E-DF14-4423-9EAE-CA0AC5D32B39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267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886F1E-DF14-4423-9EAE-CA0AC5D32B39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837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886F1E-DF14-4423-9EAE-CA0AC5D32B39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602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886F1E-DF14-4423-9EAE-CA0AC5D32B39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928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红色矩阵为结果阵。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886F1E-DF14-4423-9EAE-CA0AC5D32B39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763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C2CDDC2-A1B3-4B68-9C75-724F08E32A57}" type="slidenum">
              <a:rPr lang="zh-CN" altLang="en-US"/>
              <a:pPr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886F1E-DF14-4423-9EAE-CA0AC5D32B39}" type="slidenum">
              <a:rPr lang="zh-CN" altLang="en-US" smtClean="0"/>
              <a:pPr>
                <a:defRPr/>
              </a:pPr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552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BC8DE780-610B-4008-8E72-25884B50F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589338"/>
            <a:ext cx="7772400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2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33475"/>
            <a:ext cx="7772400" cy="233997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01675" y="3833813"/>
            <a:ext cx="7756525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34EAFF-A8E2-45EE-A57D-8D167A0DED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36BBAD-8BB2-49CE-A7B1-BF91DEC311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EA920-43DE-45E4-9929-A62557FF90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AEFB9E9D-B4A0-4754-82A5-D6F3B5F5C0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029361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920B2E7-C9A8-435D-8207-81D13DC0BF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C552FDF-5124-4879-A6AC-1FBB684EC7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4C918-4673-4FD1-9DE6-62282A0F5C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019220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0A6D034-68FD-41BD-98B9-DE4BC0836D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7EC6100-CCD9-4C2C-949A-CF10BF8013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29EE8-9238-40D9-B914-CD91B7A90F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380557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341438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341438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6A0732-3534-42BD-B5BA-43131CEEB7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0439E7-C58E-406E-8BE8-55992C8AD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D1820-A405-4A5B-8C6B-D4251DE20C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249038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5B09823-5458-4AA2-8873-5E2E0D3F01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BA993A1-60A7-4850-896A-D45AE1D714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0DBA7-4FBC-42A4-BED9-64859011D1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266771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BE9AA11-1C93-42DF-8149-14581DC2E7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B49ECF1-D00D-4561-879C-4396851CB4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7DF36-A72F-4060-B13B-AE7AA71412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297761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84BAE7E8-CCD9-4F53-9D77-1EFCDDAEE6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8135134-BAEF-4D6A-AE2A-1E9A9C5186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82323-E455-47E7-A754-0A63A55F21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408523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56343D-6C7D-4349-92EF-0AA1D2C42E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A9E0AF-AAD7-46CE-8EA5-082CFE368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3F731-DA8A-4C5D-B067-63C1C1E82C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536547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6E6A3B-0218-4C79-ADD9-851384F5B4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F1F2E3-7DFE-4382-A3DF-5766B9007B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2653D-44F1-4EAA-B6BF-DA10394E25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64166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9F25BD4-43A6-4658-AD94-845FE399DC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D850C8D-6CA9-4D6B-9EAB-8932CFAF00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93927-80C2-4A1D-A722-2DF6B0F029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032941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60039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60039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7FDA43B-58FE-4440-89F6-138D0E9350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D3A674E-0327-4716-8C90-A56F98B209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F9C4D-452E-4A35-9FC2-4446F6F480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1962463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9DE14EB-232E-4876-B819-F86A70F9783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6544320-5421-4125-82E2-BAB91CBB08C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458933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7BD2B31-8D2D-4896-8AC1-798F6B9B45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83424D8-0466-423F-B728-EB202D5CCB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341438"/>
            <a:ext cx="8001000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ECC09B63-93A1-4EFF-A2AB-A51FF9BBE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25538"/>
            <a:ext cx="7958137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1173" name="Rectangle 5">
            <a:extLst>
              <a:ext uri="{FF2B5EF4-FFF2-40B4-BE49-F238E27FC236}">
                <a16:creationId xmlns:a16="http://schemas.microsoft.com/office/drawing/2014/main" id="{002344CA-3748-4BE0-AE09-12A872D96C6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 i="0">
                <a:latin typeface="Verdan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1174" name="Rectangle 6">
            <a:extLst>
              <a:ext uri="{FF2B5EF4-FFF2-40B4-BE49-F238E27FC236}">
                <a16:creationId xmlns:a16="http://schemas.microsoft.com/office/drawing/2014/main" id="{9B1A2CC4-AE9B-4143-AFDD-447CD53DF83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91375" y="6381750"/>
            <a:ext cx="19526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790B65A0-2926-4C69-8321-067D3A66B6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  <p:sldLayoutId id="2147483916" r:id="rId13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9pPr>
    </p:titleStyle>
    <p:bodyStyle>
      <a:lvl1pPr marL="469900" indent="-469900" algn="l" rtl="0" eaLnBrk="0" fontAlgn="base" hangingPunct="0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400">
          <a:solidFill>
            <a:srgbClr val="0033CC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p"/>
        <a:defRPr sz="2000">
          <a:solidFill>
            <a:srgbClr val="009900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0.png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3510091-EB74-466B-85A5-2EC8BAEC57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z="6600" dirty="0"/>
              <a:t>数据结构</a:t>
            </a:r>
            <a:br>
              <a:rPr lang="zh-CN" altLang="en-US" sz="4000" dirty="0"/>
            </a:br>
            <a:endParaRPr lang="en-US" altLang="zh-CN" sz="4000" dirty="0"/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34EA4402-E735-4C6A-8957-B5BA733F8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第七章 图</a:t>
            </a: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5119230B-83E4-420C-81F4-EBB02AEBE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7" y="5434013"/>
            <a:ext cx="8686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  <a:p>
            <a:pPr algn="ctr" eaLnBrk="1" hangingPunct="1"/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  <a:p>
            <a:pPr algn="r" eaLnBrk="1" hangingPunct="1"/>
            <a:r>
              <a:rPr lang="zh-CN" altLang="en-US" i="0" dirty="0">
                <a:solidFill>
                  <a:srgbClr val="808080"/>
                </a:solidFill>
                <a:latin typeface="宋体" pitchFamily="2" charset="-122"/>
              </a:rPr>
              <a:t>深圳大学计算机与软件学院</a:t>
            </a:r>
            <a:endParaRPr lang="zh-CN" altLang="en-US" sz="3200" i="0" dirty="0">
              <a:solidFill>
                <a:srgbClr val="80808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FB9E9D-B4A0-4754-82A5-D6F3B5F5C043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 typeface="Arial" pitchFamily="34" charset="0"/>
              <a:buNone/>
            </a:pPr>
            <a:fld id="{FD81106C-224F-4099-919F-BEF64CD919A0}" type="slidenum">
              <a:rPr lang="zh-CN" altLang="en-US"/>
              <a:pPr algn="r" eaLnBrk="1" hangingPunct="1">
                <a:spcBef>
                  <a:spcPct val="50000"/>
                </a:spcBef>
                <a:buFont typeface="Arial" pitchFamily="34" charset="0"/>
                <a:buNone/>
              </a:pPr>
              <a:t>2</a:t>
            </a:fld>
            <a:endParaRPr lang="en-US" altLang="zh-CN"/>
          </a:p>
        </p:txBody>
      </p:sp>
      <p:sp>
        <p:nvSpPr>
          <p:cNvPr id="6149" name="Rectangle 5"/>
          <p:cNvSpPr>
            <a:spLocks noGrp="1" noRot="1" noChangeArrowheads="1"/>
          </p:cNvSpPr>
          <p:nvPr/>
        </p:nvSpPr>
        <p:spPr bwMode="auto">
          <a:xfrm>
            <a:off x="481013" y="1285860"/>
            <a:ext cx="8662987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思考：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（1）从图中一个顶点到另外顶点，如何使途中经过的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     顶点最少？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（2）从图中一个点出发，如何到其它点的路径最短？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     (单源点最短路径，本节内容）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zh-CN" altLang="en-US" sz="2800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143372" y="2357430"/>
            <a:ext cx="15716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i="0" dirty="0">
                <a:solidFill>
                  <a:srgbClr val="FF0000"/>
                </a:solidFill>
              </a:rPr>
              <a:t>广度优先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0034" y="214290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第五节　最短路径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2733675" y="2690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556052" y="1340768"/>
            <a:ext cx="7848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800" b="0" i="0" dirty="0">
                <a:solidFill>
                  <a:srgbClr val="0000FF"/>
                </a:solidFill>
                <a:latin typeface="+mn-ea"/>
                <a:ea typeface="+mn-ea"/>
              </a:rPr>
              <a:t>路径长度</a:t>
            </a:r>
            <a:r>
              <a:rPr lang="zh-CN" altLang="en-US" sz="2800" b="0" i="0" dirty="0">
                <a:solidFill>
                  <a:srgbClr val="080808"/>
                </a:solidFill>
                <a:latin typeface="+mn-ea"/>
                <a:ea typeface="+mn-ea"/>
              </a:rPr>
              <a:t>:一条路径上所经过的边的数目 </a:t>
            </a:r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557699" y="1986880"/>
            <a:ext cx="80660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800" b="0" i="0" dirty="0">
                <a:solidFill>
                  <a:srgbClr val="0000FF"/>
                </a:solidFill>
                <a:latin typeface="+mn-ea"/>
                <a:ea typeface="+mn-ea"/>
              </a:rPr>
              <a:t>带权路径长度:</a:t>
            </a:r>
            <a:r>
              <a:rPr lang="zh-CN" altLang="en-US" sz="2800" b="0" i="0" dirty="0">
                <a:solidFill>
                  <a:srgbClr val="080808"/>
                </a:solidFill>
                <a:latin typeface="+mn-ea"/>
                <a:ea typeface="+mn-ea"/>
              </a:rPr>
              <a:t>路径上所经过边的权值之和</a:t>
            </a:r>
          </a:p>
        </p:txBody>
      </p:sp>
      <p:sp>
        <p:nvSpPr>
          <p:cNvPr id="89095" name="Rectangle 7"/>
          <p:cNvSpPr>
            <a:spLocks noChangeArrowheads="1"/>
          </p:cNvSpPr>
          <p:nvPr/>
        </p:nvSpPr>
        <p:spPr bwMode="auto">
          <a:xfrm>
            <a:off x="546755" y="2505993"/>
            <a:ext cx="8569325" cy="130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2800" b="0" i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最短路径:</a:t>
            </a:r>
            <a:r>
              <a:rPr lang="zh-CN" altLang="en-US" sz="2800" b="0" i="0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(带权)路径长度(值)最小的那条路径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2800" b="0" i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最短路径长度或最短距离:</a:t>
            </a:r>
            <a:r>
              <a:rPr lang="zh-CN" altLang="en-US" sz="2800" b="0" i="0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itchFamily="34" charset="0"/>
              </a:rPr>
              <a:t>最短路径长度 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467544" y="260648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基本概念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4" grpId="0" bldLvl="0" autoUpdateAnimBg="0"/>
      <p:bldP spid="89095" grpId="0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 typeface="Arial" pitchFamily="34" charset="0"/>
              <a:buNone/>
            </a:pPr>
            <a:fld id="{181BC52C-A74C-42AC-BDE7-64F1C8FB051C}" type="slidenum">
              <a:rPr lang="zh-CN" altLang="en-US"/>
              <a:pPr algn="r" eaLnBrk="1" hangingPunct="1">
                <a:spcBef>
                  <a:spcPct val="50000"/>
                </a:spcBef>
                <a:buFont typeface="Arial" pitchFamily="34" charset="0"/>
                <a:buNone/>
              </a:pPr>
              <a:t>4</a:t>
            </a:fld>
            <a:endParaRPr lang="en-US" altLang="zh-CN"/>
          </a:p>
        </p:txBody>
      </p:sp>
      <p:sp>
        <p:nvSpPr>
          <p:cNvPr id="870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39552" y="1340768"/>
            <a:ext cx="8667688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最短路径是求从图（或网）中</a:t>
            </a:r>
            <a:r>
              <a:rPr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某一顶点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，到其余各顶点的最短路径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。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最短路径与最小生成树主要有三点不同：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最短路径的操作对象主要是有向图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网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，而最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latin typeface="黑体" pitchFamily="49" charset="-122"/>
                <a:ea typeface="黑体" pitchFamily="49" charset="-122"/>
              </a:rPr>
              <a:t> 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小生成树的操作对象是无向图。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最短路径有一个始点，最小生成树没有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最短路径关心的是始点到每个顶点的路径最短，而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latin typeface="黑体" pitchFamily="49" charset="-122"/>
                <a:ea typeface="黑体" pitchFamily="49" charset="-122"/>
              </a:rPr>
              <a:t> 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最小生成树关心的是整个树的代价最小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95888" y="68775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一、最短路径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70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70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70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70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 typeface="Arial" pitchFamily="34" charset="0"/>
              <a:buNone/>
            </a:pPr>
            <a:fld id="{87DD3714-CC88-49CD-A91E-90478F026A32}" type="slidenum">
              <a:rPr lang="zh-CN" altLang="en-US"/>
              <a:pPr algn="r" eaLnBrk="1" hangingPunct="1">
                <a:spcBef>
                  <a:spcPct val="50000"/>
                </a:spcBef>
                <a:buFont typeface="Arial" pitchFamily="34" charset="0"/>
                <a:buNone/>
              </a:pPr>
              <a:t>5</a:t>
            </a:fld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39552" y="1268760"/>
            <a:ext cx="8763000" cy="1728192"/>
          </a:xfrm>
        </p:spPr>
        <p:txBody>
          <a:bodyPr/>
          <a:lstStyle/>
          <a:p>
            <a:pPr eaLnBrk="1" hangingPunct="1">
              <a:spcBef>
                <a:spcPct val="70000"/>
              </a:spcBef>
            </a:pPr>
            <a:r>
              <a:rPr lang="zh-CN" altLang="en-US" dirty="0">
                <a:latin typeface="黑体" pitchFamily="49" charset="-122"/>
                <a:ea typeface="黑体" pitchFamily="49" charset="-122"/>
              </a:rPr>
              <a:t>最短路径可以采用迪杰斯特拉(</a:t>
            </a:r>
            <a:r>
              <a:rPr lang="en-US" altLang="zh-CN" dirty="0" err="1">
                <a:latin typeface="黑体" pitchFamily="49" charset="-122"/>
                <a:ea typeface="黑体" pitchFamily="49" charset="-122"/>
              </a:rPr>
              <a:t>Dijkstra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算法求解</a:t>
            </a:r>
          </a:p>
          <a:p>
            <a:pPr eaLnBrk="1" hangingPunct="1">
              <a:spcBef>
                <a:spcPct val="70000"/>
              </a:spcBef>
            </a:pPr>
            <a:r>
              <a:rPr lang="zh-CN" altLang="en-US" dirty="0">
                <a:latin typeface="黑体" pitchFamily="49" charset="-122"/>
                <a:ea typeface="黑体" pitchFamily="49" charset="-122"/>
              </a:rPr>
              <a:t>单源点最短路径，求从一个源点出发到图中其余各顶点的最短路径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spcBef>
                <a:spcPct val="70000"/>
              </a:spcBef>
            </a:pPr>
            <a:r>
              <a:rPr lang="en-US" altLang="zh-CN" dirty="0">
                <a:latin typeface="黑体" pitchFamily="49" charset="-122"/>
                <a:ea typeface="黑体" pitchFamily="49" charset="-122"/>
              </a:rPr>
              <a:t>Dijkstra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算法采用按路径长度递增的次序产生最短路径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81000" y="116632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二、</a:t>
            </a:r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Dijkstra</a:t>
            </a: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算法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642910" y="1285860"/>
            <a:ext cx="86106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eaLnBrk="1" hangingPunct="1">
              <a:buFont typeface="Arial" pitchFamily="34" charset="0"/>
              <a:buNone/>
            </a:pPr>
            <a:r>
              <a:rPr lang="zh-CN" altLang="en-US" sz="2400" b="0" i="0" dirty="0">
                <a:solidFill>
                  <a:srgbClr val="FF00FF"/>
                </a:solidFill>
                <a:latin typeface="+mn-ea"/>
                <a:ea typeface="+mn-ea"/>
              </a:rPr>
              <a:t>迪杰斯特拉</a:t>
            </a:r>
            <a:r>
              <a:rPr lang="zh-CN" altLang="en-US" sz="2400" b="0" i="0" dirty="0">
                <a:solidFill>
                  <a:srgbClr val="0000FF"/>
                </a:solidFill>
                <a:latin typeface="+mn-ea"/>
                <a:ea typeface="+mn-ea"/>
              </a:rPr>
              <a:t>算法的思想是：</a:t>
            </a:r>
            <a:r>
              <a:rPr lang="zh-CN" altLang="en-US" sz="2400" b="0" i="0" dirty="0">
                <a:solidFill>
                  <a:srgbClr val="FF00FF"/>
                </a:solidFill>
                <a:latin typeface="+mn-ea"/>
                <a:ea typeface="+mn-ea"/>
              </a:rPr>
              <a:t>按路径长度递增的顺序逐步产生最</a:t>
            </a:r>
          </a:p>
          <a:p>
            <a:pPr marL="457200" indent="-457200" eaLnBrk="1" hangingPunct="1">
              <a:buFont typeface="Arial" pitchFamily="34" charset="0"/>
              <a:buNone/>
            </a:pPr>
            <a:r>
              <a:rPr lang="zh-CN" altLang="en-US" sz="2400" b="0" i="0" dirty="0">
                <a:solidFill>
                  <a:srgbClr val="FF00FF"/>
                </a:solidFill>
                <a:latin typeface="+mn-ea"/>
                <a:ea typeface="+mn-ea"/>
              </a:rPr>
              <a:t>短路径，</a:t>
            </a:r>
          </a:p>
          <a:p>
            <a:pPr marL="457200" indent="-457200" eaLnBrk="1" hangingPunct="1">
              <a:buFont typeface="Wingdings" pitchFamily="2" charset="2"/>
              <a:buAutoNum type="arabicPeriod"/>
            </a:pP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设置两个顶点的集合U和</a:t>
            </a:r>
            <a:r>
              <a:rPr lang="en-US" altLang="zh-CN" sz="2400" b="0" i="0" dirty="0">
                <a:solidFill>
                  <a:srgbClr val="080808"/>
                </a:solidFill>
                <a:latin typeface="+mn-ea"/>
                <a:ea typeface="+mn-ea"/>
              </a:rPr>
              <a:t>T，</a:t>
            </a:r>
            <a:r>
              <a:rPr lang="zh-CN" altLang="en-US" sz="2400" b="0" i="0" dirty="0">
                <a:solidFill>
                  <a:srgbClr val="0000FF"/>
                </a:solidFill>
                <a:latin typeface="+mn-ea"/>
                <a:ea typeface="+mn-ea"/>
              </a:rPr>
              <a:t>集合U</a:t>
            </a: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中存放已找到最短路径的顶点，</a:t>
            </a:r>
            <a:r>
              <a:rPr lang="zh-CN" altLang="en-US" sz="2400" b="0" i="0" dirty="0">
                <a:solidFill>
                  <a:srgbClr val="0000FF"/>
                </a:solidFill>
                <a:latin typeface="+mn-ea"/>
                <a:ea typeface="+mn-ea"/>
              </a:rPr>
              <a:t>集合</a:t>
            </a:r>
            <a:r>
              <a:rPr lang="en-US" altLang="zh-CN" sz="2400" b="0" i="0" dirty="0">
                <a:solidFill>
                  <a:srgbClr val="0000FF"/>
                </a:solidFill>
                <a:latin typeface="+mn-ea"/>
                <a:ea typeface="+mn-ea"/>
              </a:rPr>
              <a:t>T=V-U</a:t>
            </a: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中存放当前还未找到最短路径的顶点。</a:t>
            </a:r>
          </a:p>
          <a:p>
            <a:pPr marL="457200" indent="-457200" eaLnBrk="1" hangingPunct="1">
              <a:buFont typeface="Wingdings" pitchFamily="2" charset="2"/>
              <a:buAutoNum type="arabicPeriod"/>
            </a:pP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初始状态时，集合U中只包含源点，设为</a:t>
            </a:r>
            <a:r>
              <a:rPr lang="en-US" altLang="zh-CN" sz="2400" b="0" i="0" dirty="0">
                <a:solidFill>
                  <a:srgbClr val="080808"/>
                </a:solidFill>
                <a:latin typeface="+mn-ea"/>
                <a:ea typeface="+mn-ea"/>
              </a:rPr>
              <a:t>v</a:t>
            </a:r>
            <a:r>
              <a:rPr lang="en-US" altLang="zh-CN" sz="2400" b="0" i="0" baseline="-30000" dirty="0">
                <a:solidFill>
                  <a:srgbClr val="080808"/>
                </a:solidFill>
                <a:latin typeface="+mn-ea"/>
                <a:ea typeface="+mn-ea"/>
              </a:rPr>
              <a:t>0</a:t>
            </a:r>
            <a:r>
              <a:rPr lang="zh-CN" altLang="en-US" sz="2400" b="0" i="0" baseline="-30000" dirty="0">
                <a:solidFill>
                  <a:srgbClr val="080808"/>
                </a:solidFill>
                <a:latin typeface="+mn-ea"/>
                <a:ea typeface="+mn-ea"/>
              </a:rPr>
              <a:t>；</a:t>
            </a:r>
            <a:endParaRPr lang="en-US" altLang="zh-CN" sz="2400" b="0" i="0" dirty="0">
              <a:solidFill>
                <a:srgbClr val="080808"/>
              </a:solidFill>
              <a:latin typeface="+mn-ea"/>
              <a:ea typeface="+mn-ea"/>
            </a:endParaRPr>
          </a:p>
          <a:p>
            <a:pPr marL="457200" indent="-457200" eaLnBrk="1" hangingPunct="1">
              <a:buFont typeface="Wingdings" pitchFamily="2" charset="2"/>
              <a:buAutoNum type="arabicPeriod"/>
            </a:pP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然后从集合</a:t>
            </a:r>
            <a:r>
              <a:rPr lang="en-US" altLang="zh-CN" sz="2400" b="0" i="0" dirty="0">
                <a:solidFill>
                  <a:srgbClr val="080808"/>
                </a:solidFill>
                <a:latin typeface="+mn-ea"/>
                <a:ea typeface="+mn-ea"/>
              </a:rPr>
              <a:t>T</a:t>
            </a: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中选择到源点</a:t>
            </a:r>
            <a:r>
              <a:rPr lang="en-US" altLang="zh-CN" sz="2400" b="0" i="0" dirty="0">
                <a:solidFill>
                  <a:srgbClr val="080808"/>
                </a:solidFill>
                <a:latin typeface="+mn-ea"/>
                <a:ea typeface="+mn-ea"/>
              </a:rPr>
              <a:t>v</a:t>
            </a:r>
            <a:r>
              <a:rPr lang="en-US" altLang="zh-CN" sz="2400" b="0" i="0" baseline="-30000" dirty="0">
                <a:solidFill>
                  <a:srgbClr val="080808"/>
                </a:solidFill>
                <a:latin typeface="+mn-ea"/>
                <a:ea typeface="+mn-ea"/>
              </a:rPr>
              <a:t>0</a:t>
            </a: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路径长度最短的顶点</a:t>
            </a:r>
            <a:r>
              <a:rPr lang="en-US" altLang="zh-CN" sz="2400" b="0" i="0" dirty="0">
                <a:solidFill>
                  <a:srgbClr val="080808"/>
                </a:solidFill>
                <a:latin typeface="+mn-ea"/>
                <a:ea typeface="+mn-ea"/>
              </a:rPr>
              <a:t>u</a:t>
            </a: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加入到集合U中；</a:t>
            </a:r>
          </a:p>
          <a:p>
            <a:pPr marL="457200" indent="-457200" eaLnBrk="1" hangingPunct="1">
              <a:buFont typeface="Wingdings" pitchFamily="2" charset="2"/>
              <a:buAutoNum type="arabicPeriod"/>
            </a:pP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集合U中每加入一个新的顶点</a:t>
            </a:r>
            <a:r>
              <a:rPr lang="en-US" altLang="zh-CN" sz="2400" b="0" i="0" dirty="0">
                <a:solidFill>
                  <a:srgbClr val="080808"/>
                </a:solidFill>
                <a:latin typeface="+mn-ea"/>
                <a:ea typeface="+mn-ea"/>
              </a:rPr>
              <a:t>u</a:t>
            </a: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都要修改源点</a:t>
            </a:r>
            <a:r>
              <a:rPr lang="en-US" altLang="zh-CN" sz="2400" b="0" i="0" dirty="0">
                <a:solidFill>
                  <a:srgbClr val="080808"/>
                </a:solidFill>
                <a:latin typeface="+mn-ea"/>
                <a:ea typeface="+mn-ea"/>
              </a:rPr>
              <a:t>v</a:t>
            </a:r>
            <a:r>
              <a:rPr lang="en-US" altLang="zh-CN" sz="2400" b="0" i="0" baseline="-30000" dirty="0">
                <a:solidFill>
                  <a:srgbClr val="080808"/>
                </a:solidFill>
                <a:latin typeface="+mn-ea"/>
                <a:ea typeface="+mn-ea"/>
              </a:rPr>
              <a:t>0</a:t>
            </a: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到集合</a:t>
            </a:r>
            <a:r>
              <a:rPr lang="en-US" altLang="zh-CN" sz="2400" b="0" i="0" dirty="0">
                <a:solidFill>
                  <a:srgbClr val="080808"/>
                </a:solidFill>
                <a:latin typeface="+mn-ea"/>
                <a:ea typeface="+mn-ea"/>
              </a:rPr>
              <a:t>T</a:t>
            </a: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中剩余顶点的当前最短路径长度值，集合</a:t>
            </a:r>
            <a:r>
              <a:rPr lang="en-US" altLang="zh-CN" sz="2400" b="0" i="0" dirty="0">
                <a:solidFill>
                  <a:srgbClr val="080808"/>
                </a:solidFill>
                <a:latin typeface="+mn-ea"/>
                <a:ea typeface="+mn-ea"/>
              </a:rPr>
              <a:t>T</a:t>
            </a: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中各顶点的新的当前最短路径长度值，为原来的当前最短路径长度值与从源点过顶点</a:t>
            </a:r>
            <a:r>
              <a:rPr lang="en-US" altLang="zh-CN" sz="2400" b="0" i="0" dirty="0">
                <a:solidFill>
                  <a:srgbClr val="080808"/>
                </a:solidFill>
                <a:latin typeface="+mn-ea"/>
                <a:ea typeface="+mn-ea"/>
              </a:rPr>
              <a:t>u</a:t>
            </a: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到达该顶点的路径长度中的较小者。</a:t>
            </a:r>
          </a:p>
          <a:p>
            <a:pPr marL="457200" indent="-457200" eaLnBrk="1" hangingPunct="1">
              <a:buFont typeface="Wingdings" pitchFamily="2" charset="2"/>
              <a:buAutoNum type="arabicPeriod"/>
            </a:pP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转到</a:t>
            </a:r>
            <a:r>
              <a:rPr lang="en-US" altLang="zh-CN" sz="2400" b="0" i="0" dirty="0">
                <a:solidFill>
                  <a:srgbClr val="080808"/>
                </a:solidFill>
                <a:latin typeface="+mn-ea"/>
                <a:ea typeface="+mn-ea"/>
              </a:rPr>
              <a:t>3</a:t>
            </a: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，此过程不断重复，直到集合</a:t>
            </a:r>
            <a:r>
              <a:rPr lang="en-US" altLang="zh-CN" sz="2400" b="0" i="0" dirty="0">
                <a:solidFill>
                  <a:srgbClr val="080808"/>
                </a:solidFill>
                <a:latin typeface="+mn-ea"/>
                <a:ea typeface="+mn-ea"/>
              </a:rPr>
              <a:t>T</a:t>
            </a:r>
            <a:r>
              <a:rPr lang="zh-CN" altLang="en-US" sz="2400" b="0" i="0" dirty="0">
                <a:solidFill>
                  <a:srgbClr val="080808"/>
                </a:solidFill>
                <a:latin typeface="+mn-ea"/>
                <a:ea typeface="+mn-ea"/>
              </a:rPr>
              <a:t>中的顶点全部加入到集合U中为止。 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1214414" y="214290"/>
            <a:ext cx="7286676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迪杰斯特拉(</a:t>
            </a:r>
            <a:r>
              <a:rPr lang="en-US" altLang="zh-CN" sz="4400" i="0" dirty="0" err="1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Dijkstra</a:t>
            </a:r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)</a:t>
            </a: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算法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13C5339-D55C-4A1C-19FE-849DA6B2F57B}"/>
              </a:ext>
            </a:extLst>
          </p:cNvPr>
          <p:cNvSpPr txBox="1"/>
          <p:nvPr/>
        </p:nvSpPr>
        <p:spPr>
          <a:xfrm>
            <a:off x="1094139" y="3812240"/>
            <a:ext cx="3012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初始，</a:t>
            </a: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U={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源点</a:t>
            </a: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en-US" altLang="zh-CN" sz="2800" b="0" i="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  <a:endParaRPr lang="zh-CN" altLang="en-US" sz="28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936ACF-5021-E5E6-E281-CF3B2944E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74" y="1751248"/>
            <a:ext cx="3385195" cy="1993565"/>
          </a:xfrm>
          <a:prstGeom prst="rect">
            <a:avLst/>
          </a:prstGeom>
        </p:spPr>
      </p:pic>
      <p:sp>
        <p:nvSpPr>
          <p:cNvPr id="5" name="Text Box 21">
            <a:extLst>
              <a:ext uri="{FF2B5EF4-FFF2-40B4-BE49-F238E27FC236}">
                <a16:creationId xmlns:a16="http://schemas.microsoft.com/office/drawing/2014/main" id="{B2D35F55-58FA-5F10-4A2A-E29C3DFD9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452" y="1314489"/>
            <a:ext cx="3513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i="0" dirty="0"/>
              <a:t>U</a:t>
            </a:r>
          </a:p>
        </p:txBody>
      </p:sp>
      <p:sp>
        <p:nvSpPr>
          <p:cNvPr id="6" name="Text Box 22">
            <a:extLst>
              <a:ext uri="{FF2B5EF4-FFF2-40B4-BE49-F238E27FC236}">
                <a16:creationId xmlns:a16="http://schemas.microsoft.com/office/drawing/2014/main" id="{3A19D873-9DA8-7983-E236-ECF1C2A14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366" y="1275652"/>
            <a:ext cx="88036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i="0" dirty="0"/>
              <a:t>T=U-V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ECB26C1-6A01-F487-B27C-372C4307FB69}"/>
              </a:ext>
            </a:extLst>
          </p:cNvPr>
          <p:cNvGrpSpPr/>
          <p:nvPr/>
        </p:nvGrpSpPr>
        <p:grpSpPr>
          <a:xfrm>
            <a:off x="5004048" y="1360941"/>
            <a:ext cx="3385195" cy="2383872"/>
            <a:chOff x="2537048" y="3665197"/>
            <a:chExt cx="4267200" cy="2383872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C46F75ED-824C-9252-D7B4-078BA99C9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7048" y="4220269"/>
              <a:ext cx="1371600" cy="1600200"/>
            </a:xfrm>
            <a:prstGeom prst="roundRect">
              <a:avLst>
                <a:gd name="adj" fmla="val 16667"/>
              </a:avLst>
            </a:prstGeom>
            <a:noFill/>
            <a:ln w="12700" cap="sq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Font typeface="Arial" pitchFamily="34" charset="0"/>
                <a:buNone/>
              </a:pPr>
              <a:endParaRPr lang="zh-CN" altLang="en-US" i="0"/>
            </a:p>
          </p:txBody>
        </p:sp>
        <p:sp>
          <p:nvSpPr>
            <p:cNvPr id="9" name="Oval 4">
              <a:extLst>
                <a:ext uri="{FF2B5EF4-FFF2-40B4-BE49-F238E27FC236}">
                  <a16:creationId xmlns:a16="http://schemas.microsoft.com/office/drawing/2014/main" id="{83B017AB-0CB7-C560-FFEC-23D368AD6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248" y="4067869"/>
              <a:ext cx="1524000" cy="1981200"/>
            </a:xfrm>
            <a:prstGeom prst="ellipse">
              <a:avLst/>
            </a:prstGeom>
            <a:noFill/>
            <a:ln w="12700" cap="sq">
              <a:solidFill>
                <a:srgbClr val="00008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Font typeface="Arial" pitchFamily="34" charset="0"/>
                <a:buNone/>
              </a:pPr>
              <a:endParaRPr lang="zh-CN" altLang="en-US" i="0"/>
            </a:p>
          </p:txBody>
        </p:sp>
        <p:sp>
          <p:nvSpPr>
            <p:cNvPr id="10" name="Oval 5">
              <a:extLst>
                <a:ext uri="{FF2B5EF4-FFF2-40B4-BE49-F238E27FC236}">
                  <a16:creationId xmlns:a16="http://schemas.microsoft.com/office/drawing/2014/main" id="{38503D80-61DB-2030-9E02-86D514134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848" y="4372669"/>
              <a:ext cx="304800" cy="304800"/>
            </a:xfrm>
            <a:prstGeom prst="ellipse">
              <a:avLst/>
            </a:prstGeom>
            <a:solidFill>
              <a:srgbClr val="FFFF99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Font typeface="Arial" pitchFamily="34" charset="0"/>
                <a:buNone/>
              </a:pPr>
              <a:endParaRPr lang="zh-CN" altLang="en-US" i="0"/>
            </a:p>
          </p:txBody>
        </p:sp>
        <p:sp>
          <p:nvSpPr>
            <p:cNvPr id="11" name="Oval 6">
              <a:extLst>
                <a:ext uri="{FF2B5EF4-FFF2-40B4-BE49-F238E27FC236}">
                  <a16:creationId xmlns:a16="http://schemas.microsoft.com/office/drawing/2014/main" id="{78874C0F-3703-1834-1678-69B33580C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9448" y="4829869"/>
              <a:ext cx="304800" cy="304800"/>
            </a:xfrm>
            <a:prstGeom prst="ellipse">
              <a:avLst/>
            </a:prstGeom>
            <a:solidFill>
              <a:srgbClr val="FFFF99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Font typeface="Arial" pitchFamily="34" charset="0"/>
                <a:buNone/>
              </a:pPr>
              <a:endParaRPr lang="zh-CN" altLang="en-US" i="0"/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2BD3F7E8-5289-DA5F-4441-344E732C2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3648" y="4220269"/>
              <a:ext cx="304800" cy="304800"/>
            </a:xfrm>
            <a:prstGeom prst="ellipse">
              <a:avLst/>
            </a:prstGeom>
            <a:solidFill>
              <a:srgbClr val="CCFFCC"/>
            </a:solidFill>
            <a:ln w="12700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Font typeface="Arial" pitchFamily="34" charset="0"/>
                <a:buNone/>
              </a:pPr>
              <a:endParaRPr lang="zh-CN" altLang="en-US" i="0"/>
            </a:p>
          </p:txBody>
        </p:sp>
        <p:sp>
          <p:nvSpPr>
            <p:cNvPr id="13" name="Oval 9">
              <a:extLst>
                <a:ext uri="{FF2B5EF4-FFF2-40B4-BE49-F238E27FC236}">
                  <a16:creationId xmlns:a16="http://schemas.microsoft.com/office/drawing/2014/main" id="{AB580B14-A574-7D31-5596-D672212F9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0848" y="4601269"/>
              <a:ext cx="304800" cy="304800"/>
            </a:xfrm>
            <a:prstGeom prst="ellipse">
              <a:avLst/>
            </a:prstGeom>
            <a:solidFill>
              <a:srgbClr val="CCFFCC"/>
            </a:solidFill>
            <a:ln w="12700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Font typeface="Arial" pitchFamily="34" charset="0"/>
                <a:buNone/>
              </a:pPr>
              <a:endParaRPr lang="zh-CN" altLang="en-US" i="0"/>
            </a:p>
          </p:txBody>
        </p:sp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F362DC96-D9F5-4AC6-D817-0BD885921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9848" y="5591869"/>
              <a:ext cx="304800" cy="304800"/>
            </a:xfrm>
            <a:prstGeom prst="ellipse">
              <a:avLst/>
            </a:prstGeom>
            <a:solidFill>
              <a:srgbClr val="CCFFCC"/>
            </a:solidFill>
            <a:ln w="12700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Font typeface="Arial" pitchFamily="34" charset="0"/>
                <a:buNone/>
              </a:pPr>
              <a:endParaRPr lang="zh-CN" altLang="en-US" i="0"/>
            </a:p>
          </p:txBody>
        </p:sp>
        <p:sp>
          <p:nvSpPr>
            <p:cNvPr id="15" name="Oval 12">
              <a:extLst>
                <a:ext uri="{FF2B5EF4-FFF2-40B4-BE49-F238E27FC236}">
                  <a16:creationId xmlns:a16="http://schemas.microsoft.com/office/drawing/2014/main" id="{EE0A0E5C-C25E-EE0B-BEF6-E820BE4E4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0848" y="5134669"/>
              <a:ext cx="304800" cy="304800"/>
            </a:xfrm>
            <a:prstGeom prst="ellipse">
              <a:avLst/>
            </a:prstGeom>
            <a:solidFill>
              <a:srgbClr val="CCFFCC"/>
            </a:solidFill>
            <a:ln w="12700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Font typeface="Arial" pitchFamily="34" charset="0"/>
                <a:buNone/>
              </a:pPr>
              <a:endParaRPr lang="zh-CN" altLang="en-US" i="0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935E4C89-A567-62BA-C290-6848137D60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3848" y="4372669"/>
              <a:ext cx="2209800" cy="152400"/>
            </a:xfrm>
            <a:prstGeom prst="line">
              <a:avLst/>
            </a:prstGeom>
            <a:noFill/>
            <a:ln w="12700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5E52C259-7D20-DCB8-6AA4-69A2D3CFEA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4248" y="4982269"/>
              <a:ext cx="3276600" cy="304800"/>
            </a:xfrm>
            <a:prstGeom prst="line">
              <a:avLst/>
            </a:prstGeom>
            <a:noFill/>
            <a:ln w="12700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9703B130-3A88-05B1-C78B-8CF2A8A7B5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648" y="4525069"/>
              <a:ext cx="2743200" cy="228600"/>
            </a:xfrm>
            <a:prstGeom prst="line">
              <a:avLst/>
            </a:prstGeom>
            <a:noFill/>
            <a:ln w="12700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2A939591-F6ED-1DAE-8832-59A08CE12C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4248" y="4448869"/>
              <a:ext cx="2819400" cy="533400"/>
            </a:xfrm>
            <a:prstGeom prst="line">
              <a:avLst/>
            </a:prstGeom>
            <a:noFill/>
            <a:ln w="12700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E10B6B16-5C67-CED1-EBF3-D37B49EB3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6611" y="3717032"/>
              <a:ext cx="35137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i="0"/>
                <a:t>U</a:t>
              </a:r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BEF63FD4-55B3-BC05-88D5-D26B455BCA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3574" y="3665197"/>
              <a:ext cx="11097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i="0" dirty="0"/>
                <a:t>T=U-V</a:t>
              </a: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20EBB048-C8B9-EEC1-10B5-C582B13A4FCE}"/>
              </a:ext>
            </a:extLst>
          </p:cNvPr>
          <p:cNvSpPr txBox="1"/>
          <p:nvPr/>
        </p:nvSpPr>
        <p:spPr>
          <a:xfrm>
            <a:off x="5479111" y="3913349"/>
            <a:ext cx="26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集合不断加点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649083B-3135-0F9D-998F-E91AD327D964}"/>
              </a:ext>
            </a:extLst>
          </p:cNvPr>
          <p:cNvSpPr txBox="1"/>
          <p:nvPr/>
        </p:nvSpPr>
        <p:spPr>
          <a:xfrm>
            <a:off x="388242" y="4768000"/>
            <a:ext cx="8216205" cy="1095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  <a:buFont typeface="Arial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  <a:sym typeface="Arial" pitchFamily="34" charset="0"/>
              </a:rPr>
              <a:t>顶点加入标准：</a:t>
            </a:r>
            <a:r>
              <a:rPr lang="zh-CN" altLang="en-US" sz="2800" b="0" i="0" dirty="0">
                <a:solidFill>
                  <a:srgbClr val="080808"/>
                </a:solidFill>
                <a:latin typeface="+mn-ea"/>
                <a:ea typeface="+mn-ea"/>
              </a:rPr>
              <a:t>选择源点</a:t>
            </a:r>
            <a:r>
              <a:rPr lang="en-US" altLang="zh-CN" sz="2800" b="0" i="0" dirty="0">
                <a:solidFill>
                  <a:srgbClr val="080808"/>
                </a:solidFill>
                <a:latin typeface="+mn-ea"/>
                <a:ea typeface="+mn-ea"/>
              </a:rPr>
              <a:t>v</a:t>
            </a:r>
            <a:r>
              <a:rPr lang="en-US" altLang="zh-CN" sz="2800" b="0" i="0" baseline="-30000" dirty="0">
                <a:solidFill>
                  <a:srgbClr val="080808"/>
                </a:solidFill>
                <a:latin typeface="+mn-ea"/>
                <a:ea typeface="+mn-ea"/>
              </a:rPr>
              <a:t>0</a:t>
            </a:r>
            <a:r>
              <a:rPr lang="zh-CN" altLang="en-US" sz="2800" b="0" i="0" dirty="0">
                <a:solidFill>
                  <a:srgbClr val="080808"/>
                </a:solidFill>
                <a:latin typeface="+mn-ea"/>
                <a:ea typeface="+mn-ea"/>
              </a:rPr>
              <a:t>到</a:t>
            </a:r>
            <a:r>
              <a:rPr lang="en-US" altLang="zh-CN" sz="2800" b="0" i="0" dirty="0">
                <a:solidFill>
                  <a:srgbClr val="080808"/>
                </a:solidFill>
                <a:latin typeface="+mn-ea"/>
                <a:ea typeface="+mn-ea"/>
              </a:rPr>
              <a:t>T</a:t>
            </a:r>
            <a:r>
              <a:rPr lang="zh-CN" altLang="en-US" sz="2800" b="0" i="0" dirty="0">
                <a:solidFill>
                  <a:srgbClr val="080808"/>
                </a:solidFill>
                <a:latin typeface="+mn-ea"/>
                <a:ea typeface="+mn-ea"/>
              </a:rPr>
              <a:t>中各顶点</a:t>
            </a:r>
            <a:r>
              <a:rPr lang="zh-CN" altLang="en-US" sz="2800" i="0" dirty="0">
                <a:solidFill>
                  <a:srgbClr val="FF0000"/>
                </a:solidFill>
                <a:latin typeface="+mn-ea"/>
                <a:ea typeface="+mn-ea"/>
              </a:rPr>
              <a:t>路径长度</a:t>
            </a:r>
            <a:r>
              <a:rPr lang="zh-CN" altLang="en-US" sz="2800" b="0" i="0" dirty="0">
                <a:solidFill>
                  <a:srgbClr val="080808"/>
                </a:solidFill>
                <a:latin typeface="+mn-ea"/>
                <a:ea typeface="+mn-ea"/>
              </a:rPr>
              <a:t>最短的顶点</a:t>
            </a:r>
            <a:r>
              <a:rPr lang="en-US" altLang="zh-CN" sz="2800" b="0" i="0" dirty="0">
                <a:solidFill>
                  <a:srgbClr val="080808"/>
                </a:solidFill>
                <a:latin typeface="+mn-ea"/>
                <a:ea typeface="+mn-ea"/>
              </a:rPr>
              <a:t>u</a:t>
            </a:r>
            <a:r>
              <a:rPr lang="zh-CN" altLang="en-US" sz="2800" b="0" i="0" dirty="0">
                <a:solidFill>
                  <a:srgbClr val="080808"/>
                </a:solidFill>
                <a:latin typeface="+mn-ea"/>
                <a:ea typeface="+mn-ea"/>
              </a:rPr>
              <a:t>加入到集合U中。</a:t>
            </a:r>
            <a:endParaRPr lang="zh-CN" altLang="en-US" sz="2800" b="0" i="0" dirty="0"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F34CEC16-E08B-6BD6-0078-5327700D4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14" y="214290"/>
            <a:ext cx="7286676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迪杰斯特拉(</a:t>
            </a:r>
            <a:r>
              <a:rPr lang="en-US" altLang="zh-CN" sz="4400" i="0" dirty="0" err="1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Dijkstra</a:t>
            </a:r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)</a:t>
            </a: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算法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E0FA7CD-AC56-D52F-3440-F8DDD37E6144}"/>
              </a:ext>
            </a:extLst>
          </p:cNvPr>
          <p:cNvSpPr txBox="1"/>
          <p:nvPr/>
        </p:nvSpPr>
        <p:spPr>
          <a:xfrm>
            <a:off x="6092146" y="1412776"/>
            <a:ext cx="1208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i="0" dirty="0">
                <a:latin typeface="黑体" panose="02010609060101010101" pitchFamily="49" charset="-122"/>
                <a:ea typeface="黑体" panose="02010609060101010101" pitchFamily="49" charset="-122"/>
              </a:rPr>
              <a:t>源点到各顶点路径长度</a:t>
            </a:r>
          </a:p>
        </p:txBody>
      </p:sp>
    </p:spTree>
    <p:extLst>
      <p:ext uri="{BB962C8B-B14F-4D97-AF65-F5344CB8AC3E}">
        <p14:creationId xmlns:p14="http://schemas.microsoft.com/office/powerpoint/2010/main" val="15832834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22" grpId="0"/>
      <p:bldP spid="23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560415" y="1171564"/>
            <a:ext cx="7869237" cy="685800"/>
          </a:xfrm>
        </p:spPr>
        <p:txBody>
          <a:bodyPr/>
          <a:lstStyle/>
          <a:p>
            <a:pPr algn="l" eaLnBrk="1" hangingPunct="1"/>
            <a:r>
              <a:rPr lang="zh-CN" altLang="en-US" sz="2800" dirty="0">
                <a:solidFill>
                  <a:srgbClr val="3333FF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例：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求下图A顶点到各顶点的最短路径。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933575" y="1819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571472" y="142852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迪杰斯特拉算法求解过程</a:t>
            </a:r>
          </a:p>
        </p:txBody>
      </p:sp>
      <p:graphicFrame>
        <p:nvGraphicFramePr>
          <p:cNvPr id="11270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1357290" y="2285992"/>
          <a:ext cx="6553200" cy="280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3" imgW="3677845" imgH="1473387" progId="Visio.Drawing.6">
                  <p:embed/>
                </p:oleObj>
              </mc:Choice>
              <mc:Fallback>
                <p:oleObj r:id="rId3" imgW="3677845" imgH="1473387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5527"/>
                      <a:stretch>
                        <a:fillRect/>
                      </a:stretch>
                    </p:blipFill>
                    <p:spPr bwMode="auto">
                      <a:xfrm>
                        <a:off x="1357290" y="2285992"/>
                        <a:ext cx="6553200" cy="280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1933575" y="1819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grpSp>
        <p:nvGrpSpPr>
          <p:cNvPr id="2" name="组合 257"/>
          <p:cNvGrpSpPr>
            <a:grpSpLocks/>
          </p:cNvGrpSpPr>
          <p:nvPr/>
        </p:nvGrpSpPr>
        <p:grpSpPr bwMode="auto">
          <a:xfrm>
            <a:off x="5000625" y="1361876"/>
            <a:ext cx="3000375" cy="2643188"/>
            <a:chOff x="5143504" y="2094850"/>
            <a:chExt cx="3000396" cy="2642893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5221321" y="2301248"/>
              <a:ext cx="2251075" cy="2436495"/>
              <a:chOff x="0" y="0"/>
              <a:chExt cx="3545" cy="3837"/>
            </a:xfrm>
          </p:grpSpPr>
          <p:sp>
            <p:nvSpPr>
              <p:cNvPr id="12302" name="未知"/>
              <p:cNvSpPr>
                <a:spLocks/>
              </p:cNvSpPr>
              <p:nvPr/>
            </p:nvSpPr>
            <p:spPr bwMode="auto">
              <a:xfrm>
                <a:off x="0" y="0"/>
                <a:ext cx="445" cy="473"/>
              </a:xfrm>
              <a:custGeom>
                <a:avLst/>
                <a:gdLst>
                  <a:gd name="T0" fmla="*/ 3468480 w 216"/>
                  <a:gd name="T1" fmla="*/ 511604828 h 227"/>
                  <a:gd name="T2" fmla="*/ 19279409 w 216"/>
                  <a:gd name="T3" fmla="*/ 397531516 h 227"/>
                  <a:gd name="T4" fmla="*/ 51371873 w 216"/>
                  <a:gd name="T5" fmla="*/ 297035367 h 227"/>
                  <a:gd name="T6" fmla="*/ 93100459 w 216"/>
                  <a:gd name="T7" fmla="*/ 208840277 h 227"/>
                  <a:gd name="T8" fmla="*/ 151879687 w 216"/>
                  <a:gd name="T9" fmla="*/ 128913718 h 227"/>
                  <a:gd name="T10" fmla="*/ 218040878 w 216"/>
                  <a:gd name="T11" fmla="*/ 68412836 h 227"/>
                  <a:gd name="T12" fmla="*/ 293737899 w 216"/>
                  <a:gd name="T13" fmla="*/ 30809741 h 227"/>
                  <a:gd name="T14" fmla="*/ 379467856 w 216"/>
                  <a:gd name="T15" fmla="*/ 9223598 h 227"/>
                  <a:gd name="T16" fmla="*/ 464985030 w 216"/>
                  <a:gd name="T17" fmla="*/ 9223598 h 227"/>
                  <a:gd name="T18" fmla="*/ 546365163 w 216"/>
                  <a:gd name="T19" fmla="*/ 30809741 h 227"/>
                  <a:gd name="T20" fmla="*/ 622739560 w 216"/>
                  <a:gd name="T21" fmla="*/ 68412836 h 227"/>
                  <a:gd name="T22" fmla="*/ 692368182 w 216"/>
                  <a:gd name="T23" fmla="*/ 128913718 h 227"/>
                  <a:gd name="T24" fmla="*/ 745936538 w 216"/>
                  <a:gd name="T25" fmla="*/ 208840277 h 227"/>
                  <a:gd name="T26" fmla="*/ 789344504 w 216"/>
                  <a:gd name="T27" fmla="*/ 297035367 h 227"/>
                  <a:gd name="T28" fmla="*/ 828864612 w 216"/>
                  <a:gd name="T29" fmla="*/ 397531516 h 227"/>
                  <a:gd name="T30" fmla="*/ 844450245 w 216"/>
                  <a:gd name="T31" fmla="*/ 511604828 h 227"/>
                  <a:gd name="T32" fmla="*/ 844450245 w 216"/>
                  <a:gd name="T33" fmla="*/ 567048165 h 227"/>
                  <a:gd name="T34" fmla="*/ 832344154 w 216"/>
                  <a:gd name="T35" fmla="*/ 678945984 h 227"/>
                  <a:gd name="T36" fmla="*/ 814086300 w 216"/>
                  <a:gd name="T37" fmla="*/ 783597938 h 227"/>
                  <a:gd name="T38" fmla="*/ 769858614 w 216"/>
                  <a:gd name="T39" fmla="*/ 878340009 h 227"/>
                  <a:gd name="T40" fmla="*/ 722693214 w 216"/>
                  <a:gd name="T41" fmla="*/ 966862157 h 227"/>
                  <a:gd name="T42" fmla="*/ 660207783 w 216"/>
                  <a:gd name="T43" fmla="*/ 1030282353 h 227"/>
                  <a:gd name="T44" fmla="*/ 586522487 w 216"/>
                  <a:gd name="T45" fmla="*/ 1085713236 h 227"/>
                  <a:gd name="T46" fmla="*/ 504656372 w 216"/>
                  <a:gd name="T47" fmla="*/ 1111603457 h 227"/>
                  <a:gd name="T48" fmla="*/ 422873988 w 216"/>
                  <a:gd name="T49" fmla="*/ 1126754277 h 227"/>
                  <a:gd name="T50" fmla="*/ 336070776 w 216"/>
                  <a:gd name="T51" fmla="*/ 1111603457 h 227"/>
                  <a:gd name="T52" fmla="*/ 258010951 w 216"/>
                  <a:gd name="T53" fmla="*/ 1085713236 h 227"/>
                  <a:gd name="T54" fmla="*/ 184191063 w 216"/>
                  <a:gd name="T55" fmla="*/ 1030282353 h 227"/>
                  <a:gd name="T56" fmla="*/ 125236776 w 216"/>
                  <a:gd name="T57" fmla="*/ 966862157 h 227"/>
                  <a:gd name="T58" fmla="*/ 73721376 w 216"/>
                  <a:gd name="T59" fmla="*/ 878340009 h 227"/>
                  <a:gd name="T60" fmla="*/ 30328991 w 216"/>
                  <a:gd name="T61" fmla="*/ 783597938 h 227"/>
                  <a:gd name="T62" fmla="*/ 7145711 w 216"/>
                  <a:gd name="T63" fmla="*/ 678945984 h 227"/>
                  <a:gd name="T64" fmla="*/ 0 w 216"/>
                  <a:gd name="T65" fmla="*/ 567048165 h 2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16"/>
                  <a:gd name="T100" fmla="*/ 0 h 227"/>
                  <a:gd name="T101" fmla="*/ 216 w 216"/>
                  <a:gd name="T102" fmla="*/ 227 h 2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16" h="227">
                    <a:moveTo>
                      <a:pt x="0" y="114"/>
                    </a:moveTo>
                    <a:lnTo>
                      <a:pt x="1" y="103"/>
                    </a:lnTo>
                    <a:lnTo>
                      <a:pt x="2" y="91"/>
                    </a:lnTo>
                    <a:lnTo>
                      <a:pt x="5" y="80"/>
                    </a:lnTo>
                    <a:lnTo>
                      <a:pt x="8" y="69"/>
                    </a:lnTo>
                    <a:lnTo>
                      <a:pt x="13" y="60"/>
                    </a:lnTo>
                    <a:lnTo>
                      <a:pt x="19" y="50"/>
                    </a:lnTo>
                    <a:lnTo>
                      <a:pt x="24" y="42"/>
                    </a:lnTo>
                    <a:lnTo>
                      <a:pt x="32" y="34"/>
                    </a:lnTo>
                    <a:lnTo>
                      <a:pt x="39" y="26"/>
                    </a:lnTo>
                    <a:lnTo>
                      <a:pt x="47" y="19"/>
                    </a:lnTo>
                    <a:lnTo>
                      <a:pt x="56" y="14"/>
                    </a:lnTo>
                    <a:lnTo>
                      <a:pt x="66" y="10"/>
                    </a:lnTo>
                    <a:lnTo>
                      <a:pt x="75" y="6"/>
                    </a:lnTo>
                    <a:lnTo>
                      <a:pt x="86" y="3"/>
                    </a:lnTo>
                    <a:lnTo>
                      <a:pt x="97" y="2"/>
                    </a:lnTo>
                    <a:lnTo>
                      <a:pt x="108" y="0"/>
                    </a:lnTo>
                    <a:lnTo>
                      <a:pt x="119" y="2"/>
                    </a:lnTo>
                    <a:lnTo>
                      <a:pt x="129" y="3"/>
                    </a:lnTo>
                    <a:lnTo>
                      <a:pt x="140" y="6"/>
                    </a:lnTo>
                    <a:lnTo>
                      <a:pt x="150" y="10"/>
                    </a:lnTo>
                    <a:lnTo>
                      <a:pt x="159" y="14"/>
                    </a:lnTo>
                    <a:lnTo>
                      <a:pt x="169" y="19"/>
                    </a:lnTo>
                    <a:lnTo>
                      <a:pt x="177" y="26"/>
                    </a:lnTo>
                    <a:lnTo>
                      <a:pt x="185" y="34"/>
                    </a:lnTo>
                    <a:lnTo>
                      <a:pt x="191" y="42"/>
                    </a:lnTo>
                    <a:lnTo>
                      <a:pt x="197" y="50"/>
                    </a:lnTo>
                    <a:lnTo>
                      <a:pt x="202" y="60"/>
                    </a:lnTo>
                    <a:lnTo>
                      <a:pt x="208" y="69"/>
                    </a:lnTo>
                    <a:lnTo>
                      <a:pt x="212" y="80"/>
                    </a:lnTo>
                    <a:lnTo>
                      <a:pt x="213" y="91"/>
                    </a:lnTo>
                    <a:lnTo>
                      <a:pt x="216" y="103"/>
                    </a:lnTo>
                    <a:lnTo>
                      <a:pt x="216" y="114"/>
                    </a:lnTo>
                    <a:lnTo>
                      <a:pt x="216" y="126"/>
                    </a:lnTo>
                    <a:lnTo>
                      <a:pt x="213" y="137"/>
                    </a:lnTo>
                    <a:lnTo>
                      <a:pt x="212" y="147"/>
                    </a:lnTo>
                    <a:lnTo>
                      <a:pt x="208" y="158"/>
                    </a:lnTo>
                    <a:lnTo>
                      <a:pt x="202" y="168"/>
                    </a:lnTo>
                    <a:lnTo>
                      <a:pt x="197" y="177"/>
                    </a:lnTo>
                    <a:lnTo>
                      <a:pt x="191" y="187"/>
                    </a:lnTo>
                    <a:lnTo>
                      <a:pt x="185" y="195"/>
                    </a:lnTo>
                    <a:lnTo>
                      <a:pt x="177" y="201"/>
                    </a:lnTo>
                    <a:lnTo>
                      <a:pt x="169" y="208"/>
                    </a:lnTo>
                    <a:lnTo>
                      <a:pt x="159" y="214"/>
                    </a:lnTo>
                    <a:lnTo>
                      <a:pt x="150" y="219"/>
                    </a:lnTo>
                    <a:lnTo>
                      <a:pt x="140" y="222"/>
                    </a:lnTo>
                    <a:lnTo>
                      <a:pt x="129" y="224"/>
                    </a:lnTo>
                    <a:lnTo>
                      <a:pt x="119" y="227"/>
                    </a:lnTo>
                    <a:lnTo>
                      <a:pt x="108" y="227"/>
                    </a:lnTo>
                    <a:lnTo>
                      <a:pt x="97" y="227"/>
                    </a:lnTo>
                    <a:lnTo>
                      <a:pt x="86" y="224"/>
                    </a:lnTo>
                    <a:lnTo>
                      <a:pt x="75" y="222"/>
                    </a:lnTo>
                    <a:lnTo>
                      <a:pt x="66" y="219"/>
                    </a:lnTo>
                    <a:lnTo>
                      <a:pt x="56" y="214"/>
                    </a:lnTo>
                    <a:lnTo>
                      <a:pt x="47" y="208"/>
                    </a:lnTo>
                    <a:lnTo>
                      <a:pt x="39" y="201"/>
                    </a:lnTo>
                    <a:lnTo>
                      <a:pt x="32" y="195"/>
                    </a:lnTo>
                    <a:lnTo>
                      <a:pt x="24" y="187"/>
                    </a:lnTo>
                    <a:lnTo>
                      <a:pt x="19" y="177"/>
                    </a:lnTo>
                    <a:lnTo>
                      <a:pt x="13" y="168"/>
                    </a:lnTo>
                    <a:lnTo>
                      <a:pt x="8" y="158"/>
                    </a:lnTo>
                    <a:lnTo>
                      <a:pt x="5" y="147"/>
                    </a:lnTo>
                    <a:lnTo>
                      <a:pt x="2" y="137"/>
                    </a:lnTo>
                    <a:lnTo>
                      <a:pt x="1" y="126"/>
                    </a:lnTo>
                    <a:lnTo>
                      <a:pt x="0" y="11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3" name="未知"/>
              <p:cNvSpPr>
                <a:spLocks/>
              </p:cNvSpPr>
              <p:nvPr/>
            </p:nvSpPr>
            <p:spPr bwMode="auto">
              <a:xfrm>
                <a:off x="0" y="0"/>
                <a:ext cx="445" cy="473"/>
              </a:xfrm>
              <a:custGeom>
                <a:avLst/>
                <a:gdLst>
                  <a:gd name="T0" fmla="*/ 3468480 w 216"/>
                  <a:gd name="T1" fmla="*/ 511604828 h 227"/>
                  <a:gd name="T2" fmla="*/ 19279409 w 216"/>
                  <a:gd name="T3" fmla="*/ 397531516 h 227"/>
                  <a:gd name="T4" fmla="*/ 51371873 w 216"/>
                  <a:gd name="T5" fmla="*/ 297035367 h 227"/>
                  <a:gd name="T6" fmla="*/ 93100459 w 216"/>
                  <a:gd name="T7" fmla="*/ 208840277 h 227"/>
                  <a:gd name="T8" fmla="*/ 151879687 w 216"/>
                  <a:gd name="T9" fmla="*/ 128913718 h 227"/>
                  <a:gd name="T10" fmla="*/ 218040878 w 216"/>
                  <a:gd name="T11" fmla="*/ 68412836 h 227"/>
                  <a:gd name="T12" fmla="*/ 293737899 w 216"/>
                  <a:gd name="T13" fmla="*/ 30809741 h 227"/>
                  <a:gd name="T14" fmla="*/ 379467856 w 216"/>
                  <a:gd name="T15" fmla="*/ 9223598 h 227"/>
                  <a:gd name="T16" fmla="*/ 464985030 w 216"/>
                  <a:gd name="T17" fmla="*/ 9223598 h 227"/>
                  <a:gd name="T18" fmla="*/ 546365163 w 216"/>
                  <a:gd name="T19" fmla="*/ 30809741 h 227"/>
                  <a:gd name="T20" fmla="*/ 622739560 w 216"/>
                  <a:gd name="T21" fmla="*/ 68412836 h 227"/>
                  <a:gd name="T22" fmla="*/ 692368182 w 216"/>
                  <a:gd name="T23" fmla="*/ 128913718 h 227"/>
                  <a:gd name="T24" fmla="*/ 745936538 w 216"/>
                  <a:gd name="T25" fmla="*/ 208840277 h 227"/>
                  <a:gd name="T26" fmla="*/ 789344504 w 216"/>
                  <a:gd name="T27" fmla="*/ 297035367 h 227"/>
                  <a:gd name="T28" fmla="*/ 828864612 w 216"/>
                  <a:gd name="T29" fmla="*/ 397531516 h 227"/>
                  <a:gd name="T30" fmla="*/ 844450245 w 216"/>
                  <a:gd name="T31" fmla="*/ 511604828 h 227"/>
                  <a:gd name="T32" fmla="*/ 844450245 w 216"/>
                  <a:gd name="T33" fmla="*/ 567048165 h 227"/>
                  <a:gd name="T34" fmla="*/ 832344154 w 216"/>
                  <a:gd name="T35" fmla="*/ 678945984 h 227"/>
                  <a:gd name="T36" fmla="*/ 814086300 w 216"/>
                  <a:gd name="T37" fmla="*/ 783597938 h 227"/>
                  <a:gd name="T38" fmla="*/ 769858614 w 216"/>
                  <a:gd name="T39" fmla="*/ 878340009 h 227"/>
                  <a:gd name="T40" fmla="*/ 722693214 w 216"/>
                  <a:gd name="T41" fmla="*/ 966862157 h 227"/>
                  <a:gd name="T42" fmla="*/ 660207783 w 216"/>
                  <a:gd name="T43" fmla="*/ 1030282353 h 227"/>
                  <a:gd name="T44" fmla="*/ 586522487 w 216"/>
                  <a:gd name="T45" fmla="*/ 1085713236 h 227"/>
                  <a:gd name="T46" fmla="*/ 504656372 w 216"/>
                  <a:gd name="T47" fmla="*/ 1111603457 h 227"/>
                  <a:gd name="T48" fmla="*/ 422873988 w 216"/>
                  <a:gd name="T49" fmla="*/ 1126754277 h 227"/>
                  <a:gd name="T50" fmla="*/ 336070776 w 216"/>
                  <a:gd name="T51" fmla="*/ 1111603457 h 227"/>
                  <a:gd name="T52" fmla="*/ 258010951 w 216"/>
                  <a:gd name="T53" fmla="*/ 1085713236 h 227"/>
                  <a:gd name="T54" fmla="*/ 184191063 w 216"/>
                  <a:gd name="T55" fmla="*/ 1030282353 h 227"/>
                  <a:gd name="T56" fmla="*/ 125236776 w 216"/>
                  <a:gd name="T57" fmla="*/ 966862157 h 227"/>
                  <a:gd name="T58" fmla="*/ 73721376 w 216"/>
                  <a:gd name="T59" fmla="*/ 878340009 h 227"/>
                  <a:gd name="T60" fmla="*/ 30328991 w 216"/>
                  <a:gd name="T61" fmla="*/ 783597938 h 227"/>
                  <a:gd name="T62" fmla="*/ 7145711 w 216"/>
                  <a:gd name="T63" fmla="*/ 678945984 h 227"/>
                  <a:gd name="T64" fmla="*/ 0 w 216"/>
                  <a:gd name="T65" fmla="*/ 567048165 h 2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16"/>
                  <a:gd name="T100" fmla="*/ 0 h 227"/>
                  <a:gd name="T101" fmla="*/ 216 w 216"/>
                  <a:gd name="T102" fmla="*/ 227 h 2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16" h="227">
                    <a:moveTo>
                      <a:pt x="0" y="114"/>
                    </a:moveTo>
                    <a:lnTo>
                      <a:pt x="1" y="103"/>
                    </a:lnTo>
                    <a:lnTo>
                      <a:pt x="2" y="91"/>
                    </a:lnTo>
                    <a:lnTo>
                      <a:pt x="5" y="80"/>
                    </a:lnTo>
                    <a:lnTo>
                      <a:pt x="8" y="69"/>
                    </a:lnTo>
                    <a:lnTo>
                      <a:pt x="13" y="60"/>
                    </a:lnTo>
                    <a:lnTo>
                      <a:pt x="19" y="50"/>
                    </a:lnTo>
                    <a:lnTo>
                      <a:pt x="24" y="42"/>
                    </a:lnTo>
                    <a:lnTo>
                      <a:pt x="32" y="34"/>
                    </a:lnTo>
                    <a:lnTo>
                      <a:pt x="39" y="26"/>
                    </a:lnTo>
                    <a:lnTo>
                      <a:pt x="47" y="19"/>
                    </a:lnTo>
                    <a:lnTo>
                      <a:pt x="56" y="14"/>
                    </a:lnTo>
                    <a:lnTo>
                      <a:pt x="66" y="10"/>
                    </a:lnTo>
                    <a:lnTo>
                      <a:pt x="75" y="6"/>
                    </a:lnTo>
                    <a:lnTo>
                      <a:pt x="86" y="3"/>
                    </a:lnTo>
                    <a:lnTo>
                      <a:pt x="97" y="2"/>
                    </a:lnTo>
                    <a:lnTo>
                      <a:pt x="108" y="0"/>
                    </a:lnTo>
                    <a:lnTo>
                      <a:pt x="119" y="2"/>
                    </a:lnTo>
                    <a:lnTo>
                      <a:pt x="129" y="3"/>
                    </a:lnTo>
                    <a:lnTo>
                      <a:pt x="140" y="6"/>
                    </a:lnTo>
                    <a:lnTo>
                      <a:pt x="150" y="10"/>
                    </a:lnTo>
                    <a:lnTo>
                      <a:pt x="159" y="14"/>
                    </a:lnTo>
                    <a:lnTo>
                      <a:pt x="169" y="19"/>
                    </a:lnTo>
                    <a:lnTo>
                      <a:pt x="177" y="26"/>
                    </a:lnTo>
                    <a:lnTo>
                      <a:pt x="185" y="34"/>
                    </a:lnTo>
                    <a:lnTo>
                      <a:pt x="191" y="42"/>
                    </a:lnTo>
                    <a:lnTo>
                      <a:pt x="197" y="50"/>
                    </a:lnTo>
                    <a:lnTo>
                      <a:pt x="202" y="60"/>
                    </a:lnTo>
                    <a:lnTo>
                      <a:pt x="208" y="69"/>
                    </a:lnTo>
                    <a:lnTo>
                      <a:pt x="212" y="80"/>
                    </a:lnTo>
                    <a:lnTo>
                      <a:pt x="213" y="91"/>
                    </a:lnTo>
                    <a:lnTo>
                      <a:pt x="216" y="103"/>
                    </a:lnTo>
                    <a:lnTo>
                      <a:pt x="216" y="114"/>
                    </a:lnTo>
                    <a:lnTo>
                      <a:pt x="216" y="126"/>
                    </a:lnTo>
                    <a:lnTo>
                      <a:pt x="213" y="137"/>
                    </a:lnTo>
                    <a:lnTo>
                      <a:pt x="212" y="147"/>
                    </a:lnTo>
                    <a:lnTo>
                      <a:pt x="208" y="158"/>
                    </a:lnTo>
                    <a:lnTo>
                      <a:pt x="202" y="168"/>
                    </a:lnTo>
                    <a:lnTo>
                      <a:pt x="197" y="177"/>
                    </a:lnTo>
                    <a:lnTo>
                      <a:pt x="191" y="187"/>
                    </a:lnTo>
                    <a:lnTo>
                      <a:pt x="185" y="195"/>
                    </a:lnTo>
                    <a:lnTo>
                      <a:pt x="177" y="201"/>
                    </a:lnTo>
                    <a:lnTo>
                      <a:pt x="169" y="208"/>
                    </a:lnTo>
                    <a:lnTo>
                      <a:pt x="159" y="214"/>
                    </a:lnTo>
                    <a:lnTo>
                      <a:pt x="150" y="219"/>
                    </a:lnTo>
                    <a:lnTo>
                      <a:pt x="140" y="222"/>
                    </a:lnTo>
                    <a:lnTo>
                      <a:pt x="129" y="224"/>
                    </a:lnTo>
                    <a:lnTo>
                      <a:pt x="119" y="227"/>
                    </a:lnTo>
                    <a:lnTo>
                      <a:pt x="108" y="227"/>
                    </a:lnTo>
                    <a:lnTo>
                      <a:pt x="97" y="227"/>
                    </a:lnTo>
                    <a:lnTo>
                      <a:pt x="86" y="224"/>
                    </a:lnTo>
                    <a:lnTo>
                      <a:pt x="75" y="222"/>
                    </a:lnTo>
                    <a:lnTo>
                      <a:pt x="66" y="219"/>
                    </a:lnTo>
                    <a:lnTo>
                      <a:pt x="56" y="214"/>
                    </a:lnTo>
                    <a:lnTo>
                      <a:pt x="47" y="208"/>
                    </a:lnTo>
                    <a:lnTo>
                      <a:pt x="39" y="201"/>
                    </a:lnTo>
                    <a:lnTo>
                      <a:pt x="32" y="195"/>
                    </a:lnTo>
                    <a:lnTo>
                      <a:pt x="24" y="187"/>
                    </a:lnTo>
                    <a:lnTo>
                      <a:pt x="19" y="177"/>
                    </a:lnTo>
                    <a:lnTo>
                      <a:pt x="13" y="168"/>
                    </a:lnTo>
                    <a:lnTo>
                      <a:pt x="8" y="158"/>
                    </a:lnTo>
                    <a:lnTo>
                      <a:pt x="5" y="147"/>
                    </a:lnTo>
                    <a:lnTo>
                      <a:pt x="2" y="137"/>
                    </a:lnTo>
                    <a:lnTo>
                      <a:pt x="1" y="126"/>
                    </a:lnTo>
                    <a:lnTo>
                      <a:pt x="0" y="114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4" name="Rectangle 6"/>
              <p:cNvSpPr>
                <a:spLocks noChangeArrowheads="1"/>
              </p:cNvSpPr>
              <p:nvPr/>
            </p:nvSpPr>
            <p:spPr bwMode="auto">
              <a:xfrm>
                <a:off x="160" y="95"/>
                <a:ext cx="100" cy="2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buFont typeface="Arial" pitchFamily="34" charset="0"/>
                  <a:buNone/>
                </a:pPr>
                <a:r>
                  <a:rPr lang="en-US" altLang="zh-CN" sz="1000" b="1">
                    <a:solidFill>
                      <a:srgbClr val="0000FF"/>
                    </a:solidFill>
                    <a:latin typeface="宋体" pitchFamily="2" charset="-122"/>
                  </a:rPr>
                  <a:t>E</a:t>
                </a:r>
                <a:endParaRPr lang="en-US" altLang="zh-CN" sz="1000" b="1">
                  <a:solidFill>
                    <a:srgbClr val="0000FF"/>
                  </a:solidFill>
                  <a:latin typeface="Times New Roman" pitchFamily="18" charset="0"/>
                  <a:ea typeface="楷体_GB2312" pitchFamily="1" charset="-122"/>
                </a:endParaRPr>
              </a:p>
            </p:txBody>
          </p:sp>
          <p:sp>
            <p:nvSpPr>
              <p:cNvPr id="12305" name="未知"/>
              <p:cNvSpPr>
                <a:spLocks/>
              </p:cNvSpPr>
              <p:nvPr/>
            </p:nvSpPr>
            <p:spPr bwMode="auto">
              <a:xfrm>
                <a:off x="0" y="2250"/>
                <a:ext cx="445" cy="470"/>
              </a:xfrm>
              <a:custGeom>
                <a:avLst/>
                <a:gdLst>
                  <a:gd name="T0" fmla="*/ 3468480 w 216"/>
                  <a:gd name="T1" fmla="*/ 446341159 h 227"/>
                  <a:gd name="T2" fmla="*/ 19279409 w 216"/>
                  <a:gd name="T3" fmla="*/ 348105442 h 227"/>
                  <a:gd name="T4" fmla="*/ 51371873 w 216"/>
                  <a:gd name="T5" fmla="*/ 260095379 h 227"/>
                  <a:gd name="T6" fmla="*/ 93100459 w 216"/>
                  <a:gd name="T7" fmla="*/ 182291127 h 227"/>
                  <a:gd name="T8" fmla="*/ 151879687 w 216"/>
                  <a:gd name="T9" fmla="*/ 113371133 h 227"/>
                  <a:gd name="T10" fmla="*/ 218040878 w 216"/>
                  <a:gd name="T11" fmla="*/ 60672045 h 227"/>
                  <a:gd name="T12" fmla="*/ 293737899 w 216"/>
                  <a:gd name="T13" fmla="*/ 25570180 h 227"/>
                  <a:gd name="T14" fmla="*/ 379467856 w 216"/>
                  <a:gd name="T15" fmla="*/ 8222180 h 227"/>
                  <a:gd name="T16" fmla="*/ 464985030 w 216"/>
                  <a:gd name="T17" fmla="*/ 8222180 h 227"/>
                  <a:gd name="T18" fmla="*/ 546365163 w 216"/>
                  <a:gd name="T19" fmla="*/ 25570180 h 227"/>
                  <a:gd name="T20" fmla="*/ 622739560 w 216"/>
                  <a:gd name="T21" fmla="*/ 60672045 h 227"/>
                  <a:gd name="T22" fmla="*/ 692368182 w 216"/>
                  <a:gd name="T23" fmla="*/ 113371133 h 227"/>
                  <a:gd name="T24" fmla="*/ 745936538 w 216"/>
                  <a:gd name="T25" fmla="*/ 182291127 h 227"/>
                  <a:gd name="T26" fmla="*/ 789344504 w 216"/>
                  <a:gd name="T27" fmla="*/ 260095379 h 227"/>
                  <a:gd name="T28" fmla="*/ 828864612 w 216"/>
                  <a:gd name="T29" fmla="*/ 348105442 h 227"/>
                  <a:gd name="T30" fmla="*/ 844450245 w 216"/>
                  <a:gd name="T31" fmla="*/ 446341159 h 227"/>
                  <a:gd name="T32" fmla="*/ 844450245 w 216"/>
                  <a:gd name="T33" fmla="*/ 494825899 h 227"/>
                  <a:gd name="T34" fmla="*/ 832344154 w 216"/>
                  <a:gd name="T35" fmla="*/ 595219365 h 227"/>
                  <a:gd name="T36" fmla="*/ 814086300 w 216"/>
                  <a:gd name="T37" fmla="*/ 685652195 h 227"/>
                  <a:gd name="T38" fmla="*/ 769858614 w 216"/>
                  <a:gd name="T39" fmla="*/ 767322354 h 227"/>
                  <a:gd name="T40" fmla="*/ 722693214 w 216"/>
                  <a:gd name="T41" fmla="*/ 846470598 h 227"/>
                  <a:gd name="T42" fmla="*/ 660207783 w 216"/>
                  <a:gd name="T43" fmla="*/ 903181730 h 227"/>
                  <a:gd name="T44" fmla="*/ 586522487 w 216"/>
                  <a:gd name="T45" fmla="*/ 949607487 h 227"/>
                  <a:gd name="T46" fmla="*/ 504656372 w 216"/>
                  <a:gd name="T47" fmla="*/ 977084839 h 227"/>
                  <a:gd name="T48" fmla="*/ 422873988 w 216"/>
                  <a:gd name="T49" fmla="*/ 985307325 h 227"/>
                  <a:gd name="T50" fmla="*/ 336070776 w 216"/>
                  <a:gd name="T51" fmla="*/ 977084839 h 227"/>
                  <a:gd name="T52" fmla="*/ 258010951 w 216"/>
                  <a:gd name="T53" fmla="*/ 949607487 h 227"/>
                  <a:gd name="T54" fmla="*/ 184191063 w 216"/>
                  <a:gd name="T55" fmla="*/ 903181730 h 227"/>
                  <a:gd name="T56" fmla="*/ 125236776 w 216"/>
                  <a:gd name="T57" fmla="*/ 846470598 h 227"/>
                  <a:gd name="T58" fmla="*/ 73721376 w 216"/>
                  <a:gd name="T59" fmla="*/ 767322354 h 227"/>
                  <a:gd name="T60" fmla="*/ 30328991 w 216"/>
                  <a:gd name="T61" fmla="*/ 685652195 h 227"/>
                  <a:gd name="T62" fmla="*/ 7145711 w 216"/>
                  <a:gd name="T63" fmla="*/ 595219365 h 227"/>
                  <a:gd name="T64" fmla="*/ 0 w 216"/>
                  <a:gd name="T65" fmla="*/ 494825899 h 2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16"/>
                  <a:gd name="T100" fmla="*/ 0 h 227"/>
                  <a:gd name="T101" fmla="*/ 216 w 216"/>
                  <a:gd name="T102" fmla="*/ 227 h 2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16" h="227">
                    <a:moveTo>
                      <a:pt x="0" y="114"/>
                    </a:moveTo>
                    <a:lnTo>
                      <a:pt x="1" y="103"/>
                    </a:lnTo>
                    <a:lnTo>
                      <a:pt x="2" y="91"/>
                    </a:lnTo>
                    <a:lnTo>
                      <a:pt x="5" y="80"/>
                    </a:lnTo>
                    <a:lnTo>
                      <a:pt x="8" y="69"/>
                    </a:lnTo>
                    <a:lnTo>
                      <a:pt x="13" y="60"/>
                    </a:lnTo>
                    <a:lnTo>
                      <a:pt x="19" y="50"/>
                    </a:lnTo>
                    <a:lnTo>
                      <a:pt x="24" y="42"/>
                    </a:lnTo>
                    <a:lnTo>
                      <a:pt x="32" y="34"/>
                    </a:lnTo>
                    <a:lnTo>
                      <a:pt x="39" y="26"/>
                    </a:lnTo>
                    <a:lnTo>
                      <a:pt x="47" y="19"/>
                    </a:lnTo>
                    <a:lnTo>
                      <a:pt x="56" y="14"/>
                    </a:lnTo>
                    <a:lnTo>
                      <a:pt x="66" y="10"/>
                    </a:lnTo>
                    <a:lnTo>
                      <a:pt x="75" y="6"/>
                    </a:lnTo>
                    <a:lnTo>
                      <a:pt x="86" y="3"/>
                    </a:lnTo>
                    <a:lnTo>
                      <a:pt x="97" y="2"/>
                    </a:lnTo>
                    <a:lnTo>
                      <a:pt x="108" y="0"/>
                    </a:lnTo>
                    <a:lnTo>
                      <a:pt x="119" y="2"/>
                    </a:lnTo>
                    <a:lnTo>
                      <a:pt x="129" y="3"/>
                    </a:lnTo>
                    <a:lnTo>
                      <a:pt x="140" y="6"/>
                    </a:lnTo>
                    <a:lnTo>
                      <a:pt x="150" y="10"/>
                    </a:lnTo>
                    <a:lnTo>
                      <a:pt x="159" y="14"/>
                    </a:lnTo>
                    <a:lnTo>
                      <a:pt x="169" y="19"/>
                    </a:lnTo>
                    <a:lnTo>
                      <a:pt x="177" y="26"/>
                    </a:lnTo>
                    <a:lnTo>
                      <a:pt x="185" y="34"/>
                    </a:lnTo>
                    <a:lnTo>
                      <a:pt x="191" y="42"/>
                    </a:lnTo>
                    <a:lnTo>
                      <a:pt x="197" y="50"/>
                    </a:lnTo>
                    <a:lnTo>
                      <a:pt x="202" y="60"/>
                    </a:lnTo>
                    <a:lnTo>
                      <a:pt x="208" y="69"/>
                    </a:lnTo>
                    <a:lnTo>
                      <a:pt x="212" y="80"/>
                    </a:lnTo>
                    <a:lnTo>
                      <a:pt x="213" y="91"/>
                    </a:lnTo>
                    <a:lnTo>
                      <a:pt x="216" y="103"/>
                    </a:lnTo>
                    <a:lnTo>
                      <a:pt x="216" y="114"/>
                    </a:lnTo>
                    <a:lnTo>
                      <a:pt x="216" y="126"/>
                    </a:lnTo>
                    <a:lnTo>
                      <a:pt x="213" y="137"/>
                    </a:lnTo>
                    <a:lnTo>
                      <a:pt x="212" y="148"/>
                    </a:lnTo>
                    <a:lnTo>
                      <a:pt x="208" y="158"/>
                    </a:lnTo>
                    <a:lnTo>
                      <a:pt x="202" y="168"/>
                    </a:lnTo>
                    <a:lnTo>
                      <a:pt x="197" y="177"/>
                    </a:lnTo>
                    <a:lnTo>
                      <a:pt x="191" y="187"/>
                    </a:lnTo>
                    <a:lnTo>
                      <a:pt x="185" y="195"/>
                    </a:lnTo>
                    <a:lnTo>
                      <a:pt x="177" y="202"/>
                    </a:lnTo>
                    <a:lnTo>
                      <a:pt x="169" y="208"/>
                    </a:lnTo>
                    <a:lnTo>
                      <a:pt x="159" y="214"/>
                    </a:lnTo>
                    <a:lnTo>
                      <a:pt x="150" y="219"/>
                    </a:lnTo>
                    <a:lnTo>
                      <a:pt x="140" y="222"/>
                    </a:lnTo>
                    <a:lnTo>
                      <a:pt x="129" y="225"/>
                    </a:lnTo>
                    <a:lnTo>
                      <a:pt x="119" y="227"/>
                    </a:lnTo>
                    <a:lnTo>
                      <a:pt x="108" y="227"/>
                    </a:lnTo>
                    <a:lnTo>
                      <a:pt x="97" y="227"/>
                    </a:lnTo>
                    <a:lnTo>
                      <a:pt x="86" y="225"/>
                    </a:lnTo>
                    <a:lnTo>
                      <a:pt x="75" y="222"/>
                    </a:lnTo>
                    <a:lnTo>
                      <a:pt x="66" y="219"/>
                    </a:lnTo>
                    <a:lnTo>
                      <a:pt x="56" y="214"/>
                    </a:lnTo>
                    <a:lnTo>
                      <a:pt x="47" y="208"/>
                    </a:lnTo>
                    <a:lnTo>
                      <a:pt x="39" y="202"/>
                    </a:lnTo>
                    <a:lnTo>
                      <a:pt x="32" y="195"/>
                    </a:lnTo>
                    <a:lnTo>
                      <a:pt x="24" y="187"/>
                    </a:lnTo>
                    <a:lnTo>
                      <a:pt x="19" y="177"/>
                    </a:lnTo>
                    <a:lnTo>
                      <a:pt x="13" y="168"/>
                    </a:lnTo>
                    <a:lnTo>
                      <a:pt x="8" y="158"/>
                    </a:lnTo>
                    <a:lnTo>
                      <a:pt x="5" y="148"/>
                    </a:lnTo>
                    <a:lnTo>
                      <a:pt x="2" y="137"/>
                    </a:lnTo>
                    <a:lnTo>
                      <a:pt x="1" y="126"/>
                    </a:lnTo>
                    <a:lnTo>
                      <a:pt x="0" y="11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6" name="未知"/>
              <p:cNvSpPr>
                <a:spLocks/>
              </p:cNvSpPr>
              <p:nvPr/>
            </p:nvSpPr>
            <p:spPr bwMode="auto">
              <a:xfrm>
                <a:off x="0" y="2250"/>
                <a:ext cx="445" cy="470"/>
              </a:xfrm>
              <a:custGeom>
                <a:avLst/>
                <a:gdLst>
                  <a:gd name="T0" fmla="*/ 3468480 w 216"/>
                  <a:gd name="T1" fmla="*/ 446341159 h 227"/>
                  <a:gd name="T2" fmla="*/ 19279409 w 216"/>
                  <a:gd name="T3" fmla="*/ 348105442 h 227"/>
                  <a:gd name="T4" fmla="*/ 51371873 w 216"/>
                  <a:gd name="T5" fmla="*/ 260095379 h 227"/>
                  <a:gd name="T6" fmla="*/ 93100459 w 216"/>
                  <a:gd name="T7" fmla="*/ 182291127 h 227"/>
                  <a:gd name="T8" fmla="*/ 151879687 w 216"/>
                  <a:gd name="T9" fmla="*/ 113371133 h 227"/>
                  <a:gd name="T10" fmla="*/ 218040878 w 216"/>
                  <a:gd name="T11" fmla="*/ 60672045 h 227"/>
                  <a:gd name="T12" fmla="*/ 293737899 w 216"/>
                  <a:gd name="T13" fmla="*/ 25570180 h 227"/>
                  <a:gd name="T14" fmla="*/ 379467856 w 216"/>
                  <a:gd name="T15" fmla="*/ 8222180 h 227"/>
                  <a:gd name="T16" fmla="*/ 464985030 w 216"/>
                  <a:gd name="T17" fmla="*/ 8222180 h 227"/>
                  <a:gd name="T18" fmla="*/ 546365163 w 216"/>
                  <a:gd name="T19" fmla="*/ 25570180 h 227"/>
                  <a:gd name="T20" fmla="*/ 622739560 w 216"/>
                  <a:gd name="T21" fmla="*/ 60672045 h 227"/>
                  <a:gd name="T22" fmla="*/ 692368182 w 216"/>
                  <a:gd name="T23" fmla="*/ 113371133 h 227"/>
                  <a:gd name="T24" fmla="*/ 745936538 w 216"/>
                  <a:gd name="T25" fmla="*/ 182291127 h 227"/>
                  <a:gd name="T26" fmla="*/ 789344504 w 216"/>
                  <a:gd name="T27" fmla="*/ 260095379 h 227"/>
                  <a:gd name="T28" fmla="*/ 828864612 w 216"/>
                  <a:gd name="T29" fmla="*/ 348105442 h 227"/>
                  <a:gd name="T30" fmla="*/ 844450245 w 216"/>
                  <a:gd name="T31" fmla="*/ 446341159 h 227"/>
                  <a:gd name="T32" fmla="*/ 844450245 w 216"/>
                  <a:gd name="T33" fmla="*/ 494825899 h 227"/>
                  <a:gd name="T34" fmla="*/ 832344154 w 216"/>
                  <a:gd name="T35" fmla="*/ 595219365 h 227"/>
                  <a:gd name="T36" fmla="*/ 814086300 w 216"/>
                  <a:gd name="T37" fmla="*/ 685652195 h 227"/>
                  <a:gd name="T38" fmla="*/ 769858614 w 216"/>
                  <a:gd name="T39" fmla="*/ 767322354 h 227"/>
                  <a:gd name="T40" fmla="*/ 722693214 w 216"/>
                  <a:gd name="T41" fmla="*/ 846470598 h 227"/>
                  <a:gd name="T42" fmla="*/ 660207783 w 216"/>
                  <a:gd name="T43" fmla="*/ 903181730 h 227"/>
                  <a:gd name="T44" fmla="*/ 586522487 w 216"/>
                  <a:gd name="T45" fmla="*/ 949607487 h 227"/>
                  <a:gd name="T46" fmla="*/ 504656372 w 216"/>
                  <a:gd name="T47" fmla="*/ 977084839 h 227"/>
                  <a:gd name="T48" fmla="*/ 422873988 w 216"/>
                  <a:gd name="T49" fmla="*/ 985307325 h 227"/>
                  <a:gd name="T50" fmla="*/ 336070776 w 216"/>
                  <a:gd name="T51" fmla="*/ 977084839 h 227"/>
                  <a:gd name="T52" fmla="*/ 258010951 w 216"/>
                  <a:gd name="T53" fmla="*/ 949607487 h 227"/>
                  <a:gd name="T54" fmla="*/ 184191063 w 216"/>
                  <a:gd name="T55" fmla="*/ 903181730 h 227"/>
                  <a:gd name="T56" fmla="*/ 125236776 w 216"/>
                  <a:gd name="T57" fmla="*/ 846470598 h 227"/>
                  <a:gd name="T58" fmla="*/ 73721376 w 216"/>
                  <a:gd name="T59" fmla="*/ 767322354 h 227"/>
                  <a:gd name="T60" fmla="*/ 30328991 w 216"/>
                  <a:gd name="T61" fmla="*/ 685652195 h 227"/>
                  <a:gd name="T62" fmla="*/ 7145711 w 216"/>
                  <a:gd name="T63" fmla="*/ 595219365 h 227"/>
                  <a:gd name="T64" fmla="*/ 0 w 216"/>
                  <a:gd name="T65" fmla="*/ 494825899 h 2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16"/>
                  <a:gd name="T100" fmla="*/ 0 h 227"/>
                  <a:gd name="T101" fmla="*/ 216 w 216"/>
                  <a:gd name="T102" fmla="*/ 227 h 2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16" h="227">
                    <a:moveTo>
                      <a:pt x="0" y="114"/>
                    </a:moveTo>
                    <a:lnTo>
                      <a:pt x="1" y="103"/>
                    </a:lnTo>
                    <a:lnTo>
                      <a:pt x="2" y="91"/>
                    </a:lnTo>
                    <a:lnTo>
                      <a:pt x="5" y="80"/>
                    </a:lnTo>
                    <a:lnTo>
                      <a:pt x="8" y="69"/>
                    </a:lnTo>
                    <a:lnTo>
                      <a:pt x="13" y="60"/>
                    </a:lnTo>
                    <a:lnTo>
                      <a:pt x="19" y="50"/>
                    </a:lnTo>
                    <a:lnTo>
                      <a:pt x="24" y="42"/>
                    </a:lnTo>
                    <a:lnTo>
                      <a:pt x="32" y="34"/>
                    </a:lnTo>
                    <a:lnTo>
                      <a:pt x="39" y="26"/>
                    </a:lnTo>
                    <a:lnTo>
                      <a:pt x="47" y="19"/>
                    </a:lnTo>
                    <a:lnTo>
                      <a:pt x="56" y="14"/>
                    </a:lnTo>
                    <a:lnTo>
                      <a:pt x="66" y="10"/>
                    </a:lnTo>
                    <a:lnTo>
                      <a:pt x="75" y="6"/>
                    </a:lnTo>
                    <a:lnTo>
                      <a:pt x="86" y="3"/>
                    </a:lnTo>
                    <a:lnTo>
                      <a:pt x="97" y="2"/>
                    </a:lnTo>
                    <a:lnTo>
                      <a:pt x="108" y="0"/>
                    </a:lnTo>
                    <a:lnTo>
                      <a:pt x="119" y="2"/>
                    </a:lnTo>
                    <a:lnTo>
                      <a:pt x="129" y="3"/>
                    </a:lnTo>
                    <a:lnTo>
                      <a:pt x="140" y="6"/>
                    </a:lnTo>
                    <a:lnTo>
                      <a:pt x="150" y="10"/>
                    </a:lnTo>
                    <a:lnTo>
                      <a:pt x="159" y="14"/>
                    </a:lnTo>
                    <a:lnTo>
                      <a:pt x="169" y="19"/>
                    </a:lnTo>
                    <a:lnTo>
                      <a:pt x="177" y="26"/>
                    </a:lnTo>
                    <a:lnTo>
                      <a:pt x="185" y="34"/>
                    </a:lnTo>
                    <a:lnTo>
                      <a:pt x="191" y="42"/>
                    </a:lnTo>
                    <a:lnTo>
                      <a:pt x="197" y="50"/>
                    </a:lnTo>
                    <a:lnTo>
                      <a:pt x="202" y="60"/>
                    </a:lnTo>
                    <a:lnTo>
                      <a:pt x="208" y="69"/>
                    </a:lnTo>
                    <a:lnTo>
                      <a:pt x="212" y="80"/>
                    </a:lnTo>
                    <a:lnTo>
                      <a:pt x="213" y="91"/>
                    </a:lnTo>
                    <a:lnTo>
                      <a:pt x="216" y="103"/>
                    </a:lnTo>
                    <a:lnTo>
                      <a:pt x="216" y="114"/>
                    </a:lnTo>
                    <a:lnTo>
                      <a:pt x="216" y="126"/>
                    </a:lnTo>
                    <a:lnTo>
                      <a:pt x="213" y="137"/>
                    </a:lnTo>
                    <a:lnTo>
                      <a:pt x="212" y="148"/>
                    </a:lnTo>
                    <a:lnTo>
                      <a:pt x="208" y="158"/>
                    </a:lnTo>
                    <a:lnTo>
                      <a:pt x="202" y="168"/>
                    </a:lnTo>
                    <a:lnTo>
                      <a:pt x="197" y="177"/>
                    </a:lnTo>
                    <a:lnTo>
                      <a:pt x="191" y="187"/>
                    </a:lnTo>
                    <a:lnTo>
                      <a:pt x="185" y="195"/>
                    </a:lnTo>
                    <a:lnTo>
                      <a:pt x="177" y="202"/>
                    </a:lnTo>
                    <a:lnTo>
                      <a:pt x="169" y="208"/>
                    </a:lnTo>
                    <a:lnTo>
                      <a:pt x="159" y="214"/>
                    </a:lnTo>
                    <a:lnTo>
                      <a:pt x="150" y="219"/>
                    </a:lnTo>
                    <a:lnTo>
                      <a:pt x="140" y="222"/>
                    </a:lnTo>
                    <a:lnTo>
                      <a:pt x="129" y="225"/>
                    </a:lnTo>
                    <a:lnTo>
                      <a:pt x="119" y="227"/>
                    </a:lnTo>
                    <a:lnTo>
                      <a:pt x="108" y="227"/>
                    </a:lnTo>
                    <a:lnTo>
                      <a:pt x="97" y="227"/>
                    </a:lnTo>
                    <a:lnTo>
                      <a:pt x="86" y="225"/>
                    </a:lnTo>
                    <a:lnTo>
                      <a:pt x="75" y="222"/>
                    </a:lnTo>
                    <a:lnTo>
                      <a:pt x="66" y="219"/>
                    </a:lnTo>
                    <a:lnTo>
                      <a:pt x="56" y="214"/>
                    </a:lnTo>
                    <a:lnTo>
                      <a:pt x="47" y="208"/>
                    </a:lnTo>
                    <a:lnTo>
                      <a:pt x="39" y="202"/>
                    </a:lnTo>
                    <a:lnTo>
                      <a:pt x="32" y="195"/>
                    </a:lnTo>
                    <a:lnTo>
                      <a:pt x="24" y="187"/>
                    </a:lnTo>
                    <a:lnTo>
                      <a:pt x="19" y="177"/>
                    </a:lnTo>
                    <a:lnTo>
                      <a:pt x="13" y="168"/>
                    </a:lnTo>
                    <a:lnTo>
                      <a:pt x="8" y="158"/>
                    </a:lnTo>
                    <a:lnTo>
                      <a:pt x="5" y="148"/>
                    </a:lnTo>
                    <a:lnTo>
                      <a:pt x="2" y="137"/>
                    </a:lnTo>
                    <a:lnTo>
                      <a:pt x="1" y="126"/>
                    </a:lnTo>
                    <a:lnTo>
                      <a:pt x="0" y="114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7" name="Rectangle 9"/>
              <p:cNvSpPr>
                <a:spLocks noChangeArrowheads="1"/>
              </p:cNvSpPr>
              <p:nvPr/>
            </p:nvSpPr>
            <p:spPr bwMode="auto">
              <a:xfrm>
                <a:off x="160" y="2345"/>
                <a:ext cx="10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buFont typeface="Arial" pitchFamily="34" charset="0"/>
                  <a:buNone/>
                </a:pPr>
                <a:r>
                  <a:rPr lang="en-US" altLang="zh-CN" sz="1000" b="1">
                    <a:solidFill>
                      <a:srgbClr val="0000FF"/>
                    </a:solidFill>
                    <a:latin typeface="宋体" pitchFamily="2" charset="-122"/>
                  </a:rPr>
                  <a:t>F</a:t>
                </a:r>
                <a:endParaRPr lang="en-US" altLang="zh-CN" sz="1000" b="1">
                  <a:solidFill>
                    <a:srgbClr val="0000FF"/>
                  </a:solidFill>
                  <a:latin typeface="Times New Roman" pitchFamily="18" charset="0"/>
                  <a:ea typeface="楷体_GB2312" pitchFamily="1" charset="-122"/>
                </a:endParaRPr>
              </a:p>
            </p:txBody>
          </p:sp>
          <p:sp>
            <p:nvSpPr>
              <p:cNvPr id="12308" name="未知"/>
              <p:cNvSpPr>
                <a:spLocks/>
              </p:cNvSpPr>
              <p:nvPr/>
            </p:nvSpPr>
            <p:spPr bwMode="auto">
              <a:xfrm>
                <a:off x="888" y="1115"/>
                <a:ext cx="442" cy="468"/>
              </a:xfrm>
              <a:custGeom>
                <a:avLst/>
                <a:gdLst>
                  <a:gd name="T0" fmla="*/ 3132436 w 216"/>
                  <a:gd name="T1" fmla="*/ 408138169 h 227"/>
                  <a:gd name="T2" fmla="*/ 16248397 w 216"/>
                  <a:gd name="T3" fmla="*/ 317408370 h 227"/>
                  <a:gd name="T4" fmla="*/ 44718601 w 216"/>
                  <a:gd name="T5" fmla="*/ 235435395 h 227"/>
                  <a:gd name="T6" fmla="*/ 81008170 w 216"/>
                  <a:gd name="T7" fmla="*/ 167182619 h 227"/>
                  <a:gd name="T8" fmla="*/ 133056879 w 216"/>
                  <a:gd name="T9" fmla="*/ 103669921 h 227"/>
                  <a:gd name="T10" fmla="*/ 190341245 w 216"/>
                  <a:gd name="T11" fmla="*/ 52083813 h 227"/>
                  <a:gd name="T12" fmla="*/ 253391593 w 216"/>
                  <a:gd name="T13" fmla="*/ 19479080 h 227"/>
                  <a:gd name="T14" fmla="*/ 328077895 w 216"/>
                  <a:gd name="T15" fmla="*/ 3515338 h 227"/>
                  <a:gd name="T16" fmla="*/ 404053641 w 216"/>
                  <a:gd name="T17" fmla="*/ 3515338 h 227"/>
                  <a:gd name="T18" fmla="*/ 473614015 w 216"/>
                  <a:gd name="T19" fmla="*/ 19479080 h 227"/>
                  <a:gd name="T20" fmla="*/ 538647947 w 216"/>
                  <a:gd name="T21" fmla="*/ 52083813 h 227"/>
                  <a:gd name="T22" fmla="*/ 599974025 w 216"/>
                  <a:gd name="T23" fmla="*/ 103669921 h 227"/>
                  <a:gd name="T24" fmla="*/ 651021663 w 216"/>
                  <a:gd name="T25" fmla="*/ 167182619 h 227"/>
                  <a:gd name="T26" fmla="*/ 684280176 w 216"/>
                  <a:gd name="T27" fmla="*/ 235435395 h 227"/>
                  <a:gd name="T28" fmla="*/ 719059846 w 216"/>
                  <a:gd name="T29" fmla="*/ 317408370 h 227"/>
                  <a:gd name="T30" fmla="*/ 732218540 w 216"/>
                  <a:gd name="T31" fmla="*/ 408138169 h 227"/>
                  <a:gd name="T32" fmla="*/ 732218540 w 216"/>
                  <a:gd name="T33" fmla="*/ 448346008 h 227"/>
                  <a:gd name="T34" fmla="*/ 722192024 w 216"/>
                  <a:gd name="T35" fmla="*/ 538790463 h 227"/>
                  <a:gd name="T36" fmla="*/ 706123720 w 216"/>
                  <a:gd name="T37" fmla="*/ 627092553 h 227"/>
                  <a:gd name="T38" fmla="*/ 668021454 w 216"/>
                  <a:gd name="T39" fmla="*/ 702860988 h 227"/>
                  <a:gd name="T40" fmla="*/ 628521798 w 216"/>
                  <a:gd name="T41" fmla="*/ 770288208 h 227"/>
                  <a:gd name="T42" fmla="*/ 573427077 w 216"/>
                  <a:gd name="T43" fmla="*/ 825484356 h 227"/>
                  <a:gd name="T44" fmla="*/ 508488705 w 216"/>
                  <a:gd name="T45" fmla="*/ 869825460 h 227"/>
                  <a:gd name="T46" fmla="*/ 437297754 w 216"/>
                  <a:gd name="T47" fmla="*/ 889000525 h 227"/>
                  <a:gd name="T48" fmla="*/ 366134183 w 216"/>
                  <a:gd name="T49" fmla="*/ 901268842 h 227"/>
                  <a:gd name="T50" fmla="*/ 291664425 w 216"/>
                  <a:gd name="T51" fmla="*/ 889000525 h 227"/>
                  <a:gd name="T52" fmla="*/ 223644091 w 216"/>
                  <a:gd name="T53" fmla="*/ 869825460 h 227"/>
                  <a:gd name="T54" fmla="*/ 158792020 w 216"/>
                  <a:gd name="T55" fmla="*/ 825484356 h 227"/>
                  <a:gd name="T56" fmla="*/ 107753531 w 216"/>
                  <a:gd name="T57" fmla="*/ 770288208 h 227"/>
                  <a:gd name="T58" fmla="*/ 65023271 w 216"/>
                  <a:gd name="T59" fmla="*/ 702860988 h 227"/>
                  <a:gd name="T60" fmla="*/ 26840323 w 216"/>
                  <a:gd name="T61" fmla="*/ 627092553 h 227"/>
                  <a:gd name="T62" fmla="*/ 6409892 w 216"/>
                  <a:gd name="T63" fmla="*/ 538790463 h 227"/>
                  <a:gd name="T64" fmla="*/ 0 w 216"/>
                  <a:gd name="T65" fmla="*/ 448346008 h 2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16"/>
                  <a:gd name="T100" fmla="*/ 0 h 227"/>
                  <a:gd name="T101" fmla="*/ 216 w 216"/>
                  <a:gd name="T102" fmla="*/ 227 h 2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16" h="227">
                    <a:moveTo>
                      <a:pt x="0" y="113"/>
                    </a:moveTo>
                    <a:lnTo>
                      <a:pt x="1" y="103"/>
                    </a:lnTo>
                    <a:lnTo>
                      <a:pt x="2" y="90"/>
                    </a:lnTo>
                    <a:lnTo>
                      <a:pt x="5" y="80"/>
                    </a:lnTo>
                    <a:lnTo>
                      <a:pt x="8" y="69"/>
                    </a:lnTo>
                    <a:lnTo>
                      <a:pt x="13" y="59"/>
                    </a:lnTo>
                    <a:lnTo>
                      <a:pt x="19" y="50"/>
                    </a:lnTo>
                    <a:lnTo>
                      <a:pt x="24" y="42"/>
                    </a:lnTo>
                    <a:lnTo>
                      <a:pt x="32" y="34"/>
                    </a:lnTo>
                    <a:lnTo>
                      <a:pt x="39" y="26"/>
                    </a:lnTo>
                    <a:lnTo>
                      <a:pt x="47" y="19"/>
                    </a:lnTo>
                    <a:lnTo>
                      <a:pt x="56" y="13"/>
                    </a:lnTo>
                    <a:lnTo>
                      <a:pt x="66" y="9"/>
                    </a:lnTo>
                    <a:lnTo>
                      <a:pt x="75" y="5"/>
                    </a:lnTo>
                    <a:lnTo>
                      <a:pt x="86" y="3"/>
                    </a:lnTo>
                    <a:lnTo>
                      <a:pt x="97" y="1"/>
                    </a:lnTo>
                    <a:lnTo>
                      <a:pt x="108" y="0"/>
                    </a:lnTo>
                    <a:lnTo>
                      <a:pt x="119" y="1"/>
                    </a:lnTo>
                    <a:lnTo>
                      <a:pt x="129" y="3"/>
                    </a:lnTo>
                    <a:lnTo>
                      <a:pt x="140" y="5"/>
                    </a:lnTo>
                    <a:lnTo>
                      <a:pt x="150" y="9"/>
                    </a:lnTo>
                    <a:lnTo>
                      <a:pt x="159" y="13"/>
                    </a:lnTo>
                    <a:lnTo>
                      <a:pt x="169" y="19"/>
                    </a:lnTo>
                    <a:lnTo>
                      <a:pt x="177" y="26"/>
                    </a:lnTo>
                    <a:lnTo>
                      <a:pt x="185" y="34"/>
                    </a:lnTo>
                    <a:lnTo>
                      <a:pt x="192" y="42"/>
                    </a:lnTo>
                    <a:lnTo>
                      <a:pt x="197" y="50"/>
                    </a:lnTo>
                    <a:lnTo>
                      <a:pt x="202" y="59"/>
                    </a:lnTo>
                    <a:lnTo>
                      <a:pt x="208" y="69"/>
                    </a:lnTo>
                    <a:lnTo>
                      <a:pt x="212" y="80"/>
                    </a:lnTo>
                    <a:lnTo>
                      <a:pt x="213" y="90"/>
                    </a:lnTo>
                    <a:lnTo>
                      <a:pt x="216" y="103"/>
                    </a:lnTo>
                    <a:lnTo>
                      <a:pt x="216" y="113"/>
                    </a:lnTo>
                    <a:lnTo>
                      <a:pt x="216" y="126"/>
                    </a:lnTo>
                    <a:lnTo>
                      <a:pt x="213" y="136"/>
                    </a:lnTo>
                    <a:lnTo>
                      <a:pt x="212" y="147"/>
                    </a:lnTo>
                    <a:lnTo>
                      <a:pt x="208" y="158"/>
                    </a:lnTo>
                    <a:lnTo>
                      <a:pt x="202" y="167"/>
                    </a:lnTo>
                    <a:lnTo>
                      <a:pt x="197" y="177"/>
                    </a:lnTo>
                    <a:lnTo>
                      <a:pt x="192" y="186"/>
                    </a:lnTo>
                    <a:lnTo>
                      <a:pt x="185" y="194"/>
                    </a:lnTo>
                    <a:lnTo>
                      <a:pt x="177" y="201"/>
                    </a:lnTo>
                    <a:lnTo>
                      <a:pt x="169" y="208"/>
                    </a:lnTo>
                    <a:lnTo>
                      <a:pt x="159" y="213"/>
                    </a:lnTo>
                    <a:lnTo>
                      <a:pt x="150" y="219"/>
                    </a:lnTo>
                    <a:lnTo>
                      <a:pt x="140" y="221"/>
                    </a:lnTo>
                    <a:lnTo>
                      <a:pt x="129" y="224"/>
                    </a:lnTo>
                    <a:lnTo>
                      <a:pt x="119" y="227"/>
                    </a:lnTo>
                    <a:lnTo>
                      <a:pt x="108" y="227"/>
                    </a:lnTo>
                    <a:lnTo>
                      <a:pt x="97" y="227"/>
                    </a:lnTo>
                    <a:lnTo>
                      <a:pt x="86" y="224"/>
                    </a:lnTo>
                    <a:lnTo>
                      <a:pt x="75" y="221"/>
                    </a:lnTo>
                    <a:lnTo>
                      <a:pt x="66" y="219"/>
                    </a:lnTo>
                    <a:lnTo>
                      <a:pt x="56" y="213"/>
                    </a:lnTo>
                    <a:lnTo>
                      <a:pt x="47" y="208"/>
                    </a:lnTo>
                    <a:lnTo>
                      <a:pt x="39" y="201"/>
                    </a:lnTo>
                    <a:lnTo>
                      <a:pt x="32" y="194"/>
                    </a:lnTo>
                    <a:lnTo>
                      <a:pt x="24" y="186"/>
                    </a:lnTo>
                    <a:lnTo>
                      <a:pt x="19" y="177"/>
                    </a:lnTo>
                    <a:lnTo>
                      <a:pt x="13" y="167"/>
                    </a:lnTo>
                    <a:lnTo>
                      <a:pt x="8" y="158"/>
                    </a:lnTo>
                    <a:lnTo>
                      <a:pt x="5" y="147"/>
                    </a:lnTo>
                    <a:lnTo>
                      <a:pt x="2" y="136"/>
                    </a:lnTo>
                    <a:lnTo>
                      <a:pt x="1" y="126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9" name="未知"/>
              <p:cNvSpPr>
                <a:spLocks/>
              </p:cNvSpPr>
              <p:nvPr/>
            </p:nvSpPr>
            <p:spPr bwMode="auto">
              <a:xfrm>
                <a:off x="888" y="1115"/>
                <a:ext cx="442" cy="468"/>
              </a:xfrm>
              <a:custGeom>
                <a:avLst/>
                <a:gdLst>
                  <a:gd name="T0" fmla="*/ 3132436 w 216"/>
                  <a:gd name="T1" fmla="*/ 408138169 h 227"/>
                  <a:gd name="T2" fmla="*/ 16248397 w 216"/>
                  <a:gd name="T3" fmla="*/ 317408370 h 227"/>
                  <a:gd name="T4" fmla="*/ 44718601 w 216"/>
                  <a:gd name="T5" fmla="*/ 235435395 h 227"/>
                  <a:gd name="T6" fmla="*/ 81008170 w 216"/>
                  <a:gd name="T7" fmla="*/ 167182619 h 227"/>
                  <a:gd name="T8" fmla="*/ 133056879 w 216"/>
                  <a:gd name="T9" fmla="*/ 103669921 h 227"/>
                  <a:gd name="T10" fmla="*/ 190341245 w 216"/>
                  <a:gd name="T11" fmla="*/ 52083813 h 227"/>
                  <a:gd name="T12" fmla="*/ 253391593 w 216"/>
                  <a:gd name="T13" fmla="*/ 19479080 h 227"/>
                  <a:gd name="T14" fmla="*/ 328077895 w 216"/>
                  <a:gd name="T15" fmla="*/ 3515338 h 227"/>
                  <a:gd name="T16" fmla="*/ 404053641 w 216"/>
                  <a:gd name="T17" fmla="*/ 3515338 h 227"/>
                  <a:gd name="T18" fmla="*/ 473614015 w 216"/>
                  <a:gd name="T19" fmla="*/ 19479080 h 227"/>
                  <a:gd name="T20" fmla="*/ 538647947 w 216"/>
                  <a:gd name="T21" fmla="*/ 52083813 h 227"/>
                  <a:gd name="T22" fmla="*/ 599974025 w 216"/>
                  <a:gd name="T23" fmla="*/ 103669921 h 227"/>
                  <a:gd name="T24" fmla="*/ 651021663 w 216"/>
                  <a:gd name="T25" fmla="*/ 167182619 h 227"/>
                  <a:gd name="T26" fmla="*/ 684280176 w 216"/>
                  <a:gd name="T27" fmla="*/ 235435395 h 227"/>
                  <a:gd name="T28" fmla="*/ 719059846 w 216"/>
                  <a:gd name="T29" fmla="*/ 317408370 h 227"/>
                  <a:gd name="T30" fmla="*/ 732218540 w 216"/>
                  <a:gd name="T31" fmla="*/ 408138169 h 227"/>
                  <a:gd name="T32" fmla="*/ 732218540 w 216"/>
                  <a:gd name="T33" fmla="*/ 448346008 h 227"/>
                  <a:gd name="T34" fmla="*/ 722192024 w 216"/>
                  <a:gd name="T35" fmla="*/ 538790463 h 227"/>
                  <a:gd name="T36" fmla="*/ 706123720 w 216"/>
                  <a:gd name="T37" fmla="*/ 627092553 h 227"/>
                  <a:gd name="T38" fmla="*/ 668021454 w 216"/>
                  <a:gd name="T39" fmla="*/ 702860988 h 227"/>
                  <a:gd name="T40" fmla="*/ 628521798 w 216"/>
                  <a:gd name="T41" fmla="*/ 770288208 h 227"/>
                  <a:gd name="T42" fmla="*/ 573427077 w 216"/>
                  <a:gd name="T43" fmla="*/ 825484356 h 227"/>
                  <a:gd name="T44" fmla="*/ 508488705 w 216"/>
                  <a:gd name="T45" fmla="*/ 869825460 h 227"/>
                  <a:gd name="T46" fmla="*/ 437297754 w 216"/>
                  <a:gd name="T47" fmla="*/ 889000525 h 227"/>
                  <a:gd name="T48" fmla="*/ 366134183 w 216"/>
                  <a:gd name="T49" fmla="*/ 901268842 h 227"/>
                  <a:gd name="T50" fmla="*/ 291664425 w 216"/>
                  <a:gd name="T51" fmla="*/ 889000525 h 227"/>
                  <a:gd name="T52" fmla="*/ 223644091 w 216"/>
                  <a:gd name="T53" fmla="*/ 869825460 h 227"/>
                  <a:gd name="T54" fmla="*/ 158792020 w 216"/>
                  <a:gd name="T55" fmla="*/ 825484356 h 227"/>
                  <a:gd name="T56" fmla="*/ 107753531 w 216"/>
                  <a:gd name="T57" fmla="*/ 770288208 h 227"/>
                  <a:gd name="T58" fmla="*/ 65023271 w 216"/>
                  <a:gd name="T59" fmla="*/ 702860988 h 227"/>
                  <a:gd name="T60" fmla="*/ 26840323 w 216"/>
                  <a:gd name="T61" fmla="*/ 627092553 h 227"/>
                  <a:gd name="T62" fmla="*/ 6409892 w 216"/>
                  <a:gd name="T63" fmla="*/ 538790463 h 227"/>
                  <a:gd name="T64" fmla="*/ 0 w 216"/>
                  <a:gd name="T65" fmla="*/ 448346008 h 2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16"/>
                  <a:gd name="T100" fmla="*/ 0 h 227"/>
                  <a:gd name="T101" fmla="*/ 216 w 216"/>
                  <a:gd name="T102" fmla="*/ 227 h 2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16" h="227">
                    <a:moveTo>
                      <a:pt x="0" y="113"/>
                    </a:moveTo>
                    <a:lnTo>
                      <a:pt x="1" y="103"/>
                    </a:lnTo>
                    <a:lnTo>
                      <a:pt x="2" y="90"/>
                    </a:lnTo>
                    <a:lnTo>
                      <a:pt x="5" y="80"/>
                    </a:lnTo>
                    <a:lnTo>
                      <a:pt x="8" y="69"/>
                    </a:lnTo>
                    <a:lnTo>
                      <a:pt x="13" y="59"/>
                    </a:lnTo>
                    <a:lnTo>
                      <a:pt x="19" y="50"/>
                    </a:lnTo>
                    <a:lnTo>
                      <a:pt x="24" y="42"/>
                    </a:lnTo>
                    <a:lnTo>
                      <a:pt x="32" y="34"/>
                    </a:lnTo>
                    <a:lnTo>
                      <a:pt x="39" y="26"/>
                    </a:lnTo>
                    <a:lnTo>
                      <a:pt x="47" y="19"/>
                    </a:lnTo>
                    <a:lnTo>
                      <a:pt x="56" y="13"/>
                    </a:lnTo>
                    <a:lnTo>
                      <a:pt x="66" y="9"/>
                    </a:lnTo>
                    <a:lnTo>
                      <a:pt x="75" y="5"/>
                    </a:lnTo>
                    <a:lnTo>
                      <a:pt x="86" y="3"/>
                    </a:lnTo>
                    <a:lnTo>
                      <a:pt x="97" y="1"/>
                    </a:lnTo>
                    <a:lnTo>
                      <a:pt x="108" y="0"/>
                    </a:lnTo>
                    <a:lnTo>
                      <a:pt x="119" y="1"/>
                    </a:lnTo>
                    <a:lnTo>
                      <a:pt x="129" y="3"/>
                    </a:lnTo>
                    <a:lnTo>
                      <a:pt x="140" y="5"/>
                    </a:lnTo>
                    <a:lnTo>
                      <a:pt x="150" y="9"/>
                    </a:lnTo>
                    <a:lnTo>
                      <a:pt x="159" y="13"/>
                    </a:lnTo>
                    <a:lnTo>
                      <a:pt x="169" y="19"/>
                    </a:lnTo>
                    <a:lnTo>
                      <a:pt x="177" y="26"/>
                    </a:lnTo>
                    <a:lnTo>
                      <a:pt x="185" y="34"/>
                    </a:lnTo>
                    <a:lnTo>
                      <a:pt x="192" y="42"/>
                    </a:lnTo>
                    <a:lnTo>
                      <a:pt x="197" y="50"/>
                    </a:lnTo>
                    <a:lnTo>
                      <a:pt x="202" y="59"/>
                    </a:lnTo>
                    <a:lnTo>
                      <a:pt x="208" y="69"/>
                    </a:lnTo>
                    <a:lnTo>
                      <a:pt x="212" y="80"/>
                    </a:lnTo>
                    <a:lnTo>
                      <a:pt x="213" y="90"/>
                    </a:lnTo>
                    <a:lnTo>
                      <a:pt x="216" y="103"/>
                    </a:lnTo>
                    <a:lnTo>
                      <a:pt x="216" y="113"/>
                    </a:lnTo>
                    <a:lnTo>
                      <a:pt x="216" y="126"/>
                    </a:lnTo>
                    <a:lnTo>
                      <a:pt x="213" y="136"/>
                    </a:lnTo>
                    <a:lnTo>
                      <a:pt x="212" y="147"/>
                    </a:lnTo>
                    <a:lnTo>
                      <a:pt x="208" y="158"/>
                    </a:lnTo>
                    <a:lnTo>
                      <a:pt x="202" y="167"/>
                    </a:lnTo>
                    <a:lnTo>
                      <a:pt x="197" y="177"/>
                    </a:lnTo>
                    <a:lnTo>
                      <a:pt x="192" y="186"/>
                    </a:lnTo>
                    <a:lnTo>
                      <a:pt x="185" y="194"/>
                    </a:lnTo>
                    <a:lnTo>
                      <a:pt x="177" y="201"/>
                    </a:lnTo>
                    <a:lnTo>
                      <a:pt x="169" y="208"/>
                    </a:lnTo>
                    <a:lnTo>
                      <a:pt x="159" y="213"/>
                    </a:lnTo>
                    <a:lnTo>
                      <a:pt x="150" y="219"/>
                    </a:lnTo>
                    <a:lnTo>
                      <a:pt x="140" y="221"/>
                    </a:lnTo>
                    <a:lnTo>
                      <a:pt x="129" y="224"/>
                    </a:lnTo>
                    <a:lnTo>
                      <a:pt x="119" y="227"/>
                    </a:lnTo>
                    <a:lnTo>
                      <a:pt x="108" y="227"/>
                    </a:lnTo>
                    <a:lnTo>
                      <a:pt x="97" y="227"/>
                    </a:lnTo>
                    <a:lnTo>
                      <a:pt x="86" y="224"/>
                    </a:lnTo>
                    <a:lnTo>
                      <a:pt x="75" y="221"/>
                    </a:lnTo>
                    <a:lnTo>
                      <a:pt x="66" y="219"/>
                    </a:lnTo>
                    <a:lnTo>
                      <a:pt x="56" y="213"/>
                    </a:lnTo>
                    <a:lnTo>
                      <a:pt x="47" y="208"/>
                    </a:lnTo>
                    <a:lnTo>
                      <a:pt x="39" y="201"/>
                    </a:lnTo>
                    <a:lnTo>
                      <a:pt x="32" y="194"/>
                    </a:lnTo>
                    <a:lnTo>
                      <a:pt x="24" y="186"/>
                    </a:lnTo>
                    <a:lnTo>
                      <a:pt x="19" y="177"/>
                    </a:lnTo>
                    <a:lnTo>
                      <a:pt x="13" y="167"/>
                    </a:lnTo>
                    <a:lnTo>
                      <a:pt x="8" y="158"/>
                    </a:lnTo>
                    <a:lnTo>
                      <a:pt x="5" y="147"/>
                    </a:lnTo>
                    <a:lnTo>
                      <a:pt x="2" y="136"/>
                    </a:lnTo>
                    <a:lnTo>
                      <a:pt x="1" y="126"/>
                    </a:lnTo>
                    <a:lnTo>
                      <a:pt x="0" y="113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0" name="Rectangle 12"/>
              <p:cNvSpPr>
                <a:spLocks noChangeArrowheads="1"/>
              </p:cNvSpPr>
              <p:nvPr/>
            </p:nvSpPr>
            <p:spPr bwMode="auto">
              <a:xfrm>
                <a:off x="1048" y="1210"/>
                <a:ext cx="100" cy="2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buFont typeface="Arial" pitchFamily="34" charset="0"/>
                  <a:buNone/>
                </a:pPr>
                <a:r>
                  <a:rPr lang="en-US" altLang="zh-CN" sz="1000" b="1">
                    <a:solidFill>
                      <a:srgbClr val="0000FF"/>
                    </a:solidFill>
                    <a:latin typeface="宋体" pitchFamily="2" charset="-122"/>
                  </a:rPr>
                  <a:t>D</a:t>
                </a:r>
                <a:endParaRPr lang="en-US" altLang="zh-CN" sz="1000" b="1">
                  <a:solidFill>
                    <a:srgbClr val="0000FF"/>
                  </a:solidFill>
                  <a:latin typeface="Times New Roman" pitchFamily="18" charset="0"/>
                  <a:ea typeface="楷体_GB2312" pitchFamily="1" charset="-122"/>
                </a:endParaRPr>
              </a:p>
            </p:txBody>
          </p:sp>
          <p:sp>
            <p:nvSpPr>
              <p:cNvPr id="12311" name="未知"/>
              <p:cNvSpPr>
                <a:spLocks/>
              </p:cNvSpPr>
              <p:nvPr/>
            </p:nvSpPr>
            <p:spPr bwMode="auto">
              <a:xfrm>
                <a:off x="2218" y="0"/>
                <a:ext cx="442" cy="473"/>
              </a:xfrm>
              <a:custGeom>
                <a:avLst/>
                <a:gdLst>
                  <a:gd name="T0" fmla="*/ 3132436 w 216"/>
                  <a:gd name="T1" fmla="*/ 511604828 h 227"/>
                  <a:gd name="T2" fmla="*/ 16248397 w 216"/>
                  <a:gd name="T3" fmla="*/ 397531516 h 227"/>
                  <a:gd name="T4" fmla="*/ 44718601 w 216"/>
                  <a:gd name="T5" fmla="*/ 297035367 h 227"/>
                  <a:gd name="T6" fmla="*/ 81008170 w 216"/>
                  <a:gd name="T7" fmla="*/ 208840277 h 227"/>
                  <a:gd name="T8" fmla="*/ 133056879 w 216"/>
                  <a:gd name="T9" fmla="*/ 128913718 h 227"/>
                  <a:gd name="T10" fmla="*/ 193570726 w 216"/>
                  <a:gd name="T11" fmla="*/ 68412836 h 227"/>
                  <a:gd name="T12" fmla="*/ 253391593 w 216"/>
                  <a:gd name="T13" fmla="*/ 30809741 h 227"/>
                  <a:gd name="T14" fmla="*/ 328077895 w 216"/>
                  <a:gd name="T15" fmla="*/ 9223598 h 227"/>
                  <a:gd name="T16" fmla="*/ 404053641 w 216"/>
                  <a:gd name="T17" fmla="*/ 9223598 h 227"/>
                  <a:gd name="T18" fmla="*/ 473614015 w 216"/>
                  <a:gd name="T19" fmla="*/ 30809741 h 227"/>
                  <a:gd name="T20" fmla="*/ 538647947 w 216"/>
                  <a:gd name="T21" fmla="*/ 68412836 h 227"/>
                  <a:gd name="T22" fmla="*/ 599974025 w 216"/>
                  <a:gd name="T23" fmla="*/ 128913718 h 227"/>
                  <a:gd name="T24" fmla="*/ 651021663 w 216"/>
                  <a:gd name="T25" fmla="*/ 208840277 h 227"/>
                  <a:gd name="T26" fmla="*/ 684280176 w 216"/>
                  <a:gd name="T27" fmla="*/ 297035367 h 227"/>
                  <a:gd name="T28" fmla="*/ 719059846 w 216"/>
                  <a:gd name="T29" fmla="*/ 397531516 h 227"/>
                  <a:gd name="T30" fmla="*/ 732218540 w 216"/>
                  <a:gd name="T31" fmla="*/ 511604828 h 227"/>
                  <a:gd name="T32" fmla="*/ 732218540 w 216"/>
                  <a:gd name="T33" fmla="*/ 567048165 h 227"/>
                  <a:gd name="T34" fmla="*/ 722192024 w 216"/>
                  <a:gd name="T35" fmla="*/ 678945984 h 227"/>
                  <a:gd name="T36" fmla="*/ 706123720 w 216"/>
                  <a:gd name="T37" fmla="*/ 783597938 h 227"/>
                  <a:gd name="T38" fmla="*/ 668021454 w 216"/>
                  <a:gd name="T39" fmla="*/ 878340009 h 227"/>
                  <a:gd name="T40" fmla="*/ 628521798 w 216"/>
                  <a:gd name="T41" fmla="*/ 966862157 h 227"/>
                  <a:gd name="T42" fmla="*/ 573427077 w 216"/>
                  <a:gd name="T43" fmla="*/ 1030282353 h 227"/>
                  <a:gd name="T44" fmla="*/ 508488705 w 216"/>
                  <a:gd name="T45" fmla="*/ 1085713236 h 227"/>
                  <a:gd name="T46" fmla="*/ 437297754 w 216"/>
                  <a:gd name="T47" fmla="*/ 1111603457 h 227"/>
                  <a:gd name="T48" fmla="*/ 366134183 w 216"/>
                  <a:gd name="T49" fmla="*/ 1126754277 h 227"/>
                  <a:gd name="T50" fmla="*/ 291664425 w 216"/>
                  <a:gd name="T51" fmla="*/ 1111603457 h 227"/>
                  <a:gd name="T52" fmla="*/ 223644091 w 216"/>
                  <a:gd name="T53" fmla="*/ 1085713236 h 227"/>
                  <a:gd name="T54" fmla="*/ 158792020 w 216"/>
                  <a:gd name="T55" fmla="*/ 1030282353 h 227"/>
                  <a:gd name="T56" fmla="*/ 107753531 w 216"/>
                  <a:gd name="T57" fmla="*/ 966862157 h 227"/>
                  <a:gd name="T58" fmla="*/ 65023271 w 216"/>
                  <a:gd name="T59" fmla="*/ 878340009 h 227"/>
                  <a:gd name="T60" fmla="*/ 26840323 w 216"/>
                  <a:gd name="T61" fmla="*/ 783597938 h 227"/>
                  <a:gd name="T62" fmla="*/ 9836524 w 216"/>
                  <a:gd name="T63" fmla="*/ 678945984 h 227"/>
                  <a:gd name="T64" fmla="*/ 0 w 216"/>
                  <a:gd name="T65" fmla="*/ 567048165 h 2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16"/>
                  <a:gd name="T100" fmla="*/ 0 h 227"/>
                  <a:gd name="T101" fmla="*/ 216 w 216"/>
                  <a:gd name="T102" fmla="*/ 227 h 2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16" h="227">
                    <a:moveTo>
                      <a:pt x="0" y="114"/>
                    </a:moveTo>
                    <a:lnTo>
                      <a:pt x="1" y="103"/>
                    </a:lnTo>
                    <a:lnTo>
                      <a:pt x="3" y="91"/>
                    </a:lnTo>
                    <a:lnTo>
                      <a:pt x="5" y="80"/>
                    </a:lnTo>
                    <a:lnTo>
                      <a:pt x="8" y="69"/>
                    </a:lnTo>
                    <a:lnTo>
                      <a:pt x="13" y="60"/>
                    </a:lnTo>
                    <a:lnTo>
                      <a:pt x="19" y="50"/>
                    </a:lnTo>
                    <a:lnTo>
                      <a:pt x="24" y="42"/>
                    </a:lnTo>
                    <a:lnTo>
                      <a:pt x="32" y="34"/>
                    </a:lnTo>
                    <a:lnTo>
                      <a:pt x="39" y="26"/>
                    </a:lnTo>
                    <a:lnTo>
                      <a:pt x="47" y="19"/>
                    </a:lnTo>
                    <a:lnTo>
                      <a:pt x="57" y="14"/>
                    </a:lnTo>
                    <a:lnTo>
                      <a:pt x="66" y="10"/>
                    </a:lnTo>
                    <a:lnTo>
                      <a:pt x="75" y="6"/>
                    </a:lnTo>
                    <a:lnTo>
                      <a:pt x="86" y="3"/>
                    </a:lnTo>
                    <a:lnTo>
                      <a:pt x="97" y="2"/>
                    </a:lnTo>
                    <a:lnTo>
                      <a:pt x="108" y="0"/>
                    </a:lnTo>
                    <a:lnTo>
                      <a:pt x="119" y="2"/>
                    </a:lnTo>
                    <a:lnTo>
                      <a:pt x="129" y="3"/>
                    </a:lnTo>
                    <a:lnTo>
                      <a:pt x="140" y="6"/>
                    </a:lnTo>
                    <a:lnTo>
                      <a:pt x="150" y="10"/>
                    </a:lnTo>
                    <a:lnTo>
                      <a:pt x="159" y="14"/>
                    </a:lnTo>
                    <a:lnTo>
                      <a:pt x="169" y="19"/>
                    </a:lnTo>
                    <a:lnTo>
                      <a:pt x="177" y="26"/>
                    </a:lnTo>
                    <a:lnTo>
                      <a:pt x="185" y="34"/>
                    </a:lnTo>
                    <a:lnTo>
                      <a:pt x="192" y="42"/>
                    </a:lnTo>
                    <a:lnTo>
                      <a:pt x="197" y="50"/>
                    </a:lnTo>
                    <a:lnTo>
                      <a:pt x="202" y="60"/>
                    </a:lnTo>
                    <a:lnTo>
                      <a:pt x="208" y="69"/>
                    </a:lnTo>
                    <a:lnTo>
                      <a:pt x="212" y="80"/>
                    </a:lnTo>
                    <a:lnTo>
                      <a:pt x="213" y="91"/>
                    </a:lnTo>
                    <a:lnTo>
                      <a:pt x="216" y="103"/>
                    </a:lnTo>
                    <a:lnTo>
                      <a:pt x="216" y="114"/>
                    </a:lnTo>
                    <a:lnTo>
                      <a:pt x="216" y="126"/>
                    </a:lnTo>
                    <a:lnTo>
                      <a:pt x="213" y="137"/>
                    </a:lnTo>
                    <a:lnTo>
                      <a:pt x="212" y="147"/>
                    </a:lnTo>
                    <a:lnTo>
                      <a:pt x="208" y="158"/>
                    </a:lnTo>
                    <a:lnTo>
                      <a:pt x="202" y="168"/>
                    </a:lnTo>
                    <a:lnTo>
                      <a:pt x="197" y="177"/>
                    </a:lnTo>
                    <a:lnTo>
                      <a:pt x="192" y="187"/>
                    </a:lnTo>
                    <a:lnTo>
                      <a:pt x="185" y="195"/>
                    </a:lnTo>
                    <a:lnTo>
                      <a:pt x="177" y="201"/>
                    </a:lnTo>
                    <a:lnTo>
                      <a:pt x="169" y="208"/>
                    </a:lnTo>
                    <a:lnTo>
                      <a:pt x="159" y="214"/>
                    </a:lnTo>
                    <a:lnTo>
                      <a:pt x="150" y="219"/>
                    </a:lnTo>
                    <a:lnTo>
                      <a:pt x="140" y="222"/>
                    </a:lnTo>
                    <a:lnTo>
                      <a:pt x="129" y="224"/>
                    </a:lnTo>
                    <a:lnTo>
                      <a:pt x="119" y="227"/>
                    </a:lnTo>
                    <a:lnTo>
                      <a:pt x="108" y="227"/>
                    </a:lnTo>
                    <a:lnTo>
                      <a:pt x="97" y="227"/>
                    </a:lnTo>
                    <a:lnTo>
                      <a:pt x="86" y="224"/>
                    </a:lnTo>
                    <a:lnTo>
                      <a:pt x="75" y="222"/>
                    </a:lnTo>
                    <a:lnTo>
                      <a:pt x="66" y="219"/>
                    </a:lnTo>
                    <a:lnTo>
                      <a:pt x="57" y="214"/>
                    </a:lnTo>
                    <a:lnTo>
                      <a:pt x="47" y="208"/>
                    </a:lnTo>
                    <a:lnTo>
                      <a:pt x="39" y="201"/>
                    </a:lnTo>
                    <a:lnTo>
                      <a:pt x="32" y="195"/>
                    </a:lnTo>
                    <a:lnTo>
                      <a:pt x="24" y="187"/>
                    </a:lnTo>
                    <a:lnTo>
                      <a:pt x="19" y="177"/>
                    </a:lnTo>
                    <a:lnTo>
                      <a:pt x="13" y="168"/>
                    </a:lnTo>
                    <a:lnTo>
                      <a:pt x="8" y="158"/>
                    </a:lnTo>
                    <a:lnTo>
                      <a:pt x="5" y="147"/>
                    </a:lnTo>
                    <a:lnTo>
                      <a:pt x="3" y="137"/>
                    </a:lnTo>
                    <a:lnTo>
                      <a:pt x="1" y="126"/>
                    </a:lnTo>
                    <a:lnTo>
                      <a:pt x="0" y="11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2" name="未知"/>
              <p:cNvSpPr>
                <a:spLocks/>
              </p:cNvSpPr>
              <p:nvPr/>
            </p:nvSpPr>
            <p:spPr bwMode="auto">
              <a:xfrm>
                <a:off x="2218" y="0"/>
                <a:ext cx="442" cy="473"/>
              </a:xfrm>
              <a:custGeom>
                <a:avLst/>
                <a:gdLst>
                  <a:gd name="T0" fmla="*/ 3132436 w 216"/>
                  <a:gd name="T1" fmla="*/ 511604828 h 227"/>
                  <a:gd name="T2" fmla="*/ 16248397 w 216"/>
                  <a:gd name="T3" fmla="*/ 397531516 h 227"/>
                  <a:gd name="T4" fmla="*/ 44718601 w 216"/>
                  <a:gd name="T5" fmla="*/ 297035367 h 227"/>
                  <a:gd name="T6" fmla="*/ 81008170 w 216"/>
                  <a:gd name="T7" fmla="*/ 208840277 h 227"/>
                  <a:gd name="T8" fmla="*/ 133056879 w 216"/>
                  <a:gd name="T9" fmla="*/ 128913718 h 227"/>
                  <a:gd name="T10" fmla="*/ 193570726 w 216"/>
                  <a:gd name="T11" fmla="*/ 68412836 h 227"/>
                  <a:gd name="T12" fmla="*/ 253391593 w 216"/>
                  <a:gd name="T13" fmla="*/ 30809741 h 227"/>
                  <a:gd name="T14" fmla="*/ 328077895 w 216"/>
                  <a:gd name="T15" fmla="*/ 9223598 h 227"/>
                  <a:gd name="T16" fmla="*/ 404053641 w 216"/>
                  <a:gd name="T17" fmla="*/ 9223598 h 227"/>
                  <a:gd name="T18" fmla="*/ 473614015 w 216"/>
                  <a:gd name="T19" fmla="*/ 30809741 h 227"/>
                  <a:gd name="T20" fmla="*/ 538647947 w 216"/>
                  <a:gd name="T21" fmla="*/ 68412836 h 227"/>
                  <a:gd name="T22" fmla="*/ 599974025 w 216"/>
                  <a:gd name="T23" fmla="*/ 128913718 h 227"/>
                  <a:gd name="T24" fmla="*/ 651021663 w 216"/>
                  <a:gd name="T25" fmla="*/ 208840277 h 227"/>
                  <a:gd name="T26" fmla="*/ 684280176 w 216"/>
                  <a:gd name="T27" fmla="*/ 297035367 h 227"/>
                  <a:gd name="T28" fmla="*/ 719059846 w 216"/>
                  <a:gd name="T29" fmla="*/ 397531516 h 227"/>
                  <a:gd name="T30" fmla="*/ 732218540 w 216"/>
                  <a:gd name="T31" fmla="*/ 511604828 h 227"/>
                  <a:gd name="T32" fmla="*/ 732218540 w 216"/>
                  <a:gd name="T33" fmla="*/ 567048165 h 227"/>
                  <a:gd name="T34" fmla="*/ 722192024 w 216"/>
                  <a:gd name="T35" fmla="*/ 678945984 h 227"/>
                  <a:gd name="T36" fmla="*/ 706123720 w 216"/>
                  <a:gd name="T37" fmla="*/ 783597938 h 227"/>
                  <a:gd name="T38" fmla="*/ 668021454 w 216"/>
                  <a:gd name="T39" fmla="*/ 878340009 h 227"/>
                  <a:gd name="T40" fmla="*/ 628521798 w 216"/>
                  <a:gd name="T41" fmla="*/ 966862157 h 227"/>
                  <a:gd name="T42" fmla="*/ 573427077 w 216"/>
                  <a:gd name="T43" fmla="*/ 1030282353 h 227"/>
                  <a:gd name="T44" fmla="*/ 508488705 w 216"/>
                  <a:gd name="T45" fmla="*/ 1085713236 h 227"/>
                  <a:gd name="T46" fmla="*/ 437297754 w 216"/>
                  <a:gd name="T47" fmla="*/ 1111603457 h 227"/>
                  <a:gd name="T48" fmla="*/ 366134183 w 216"/>
                  <a:gd name="T49" fmla="*/ 1126754277 h 227"/>
                  <a:gd name="T50" fmla="*/ 291664425 w 216"/>
                  <a:gd name="T51" fmla="*/ 1111603457 h 227"/>
                  <a:gd name="T52" fmla="*/ 223644091 w 216"/>
                  <a:gd name="T53" fmla="*/ 1085713236 h 227"/>
                  <a:gd name="T54" fmla="*/ 158792020 w 216"/>
                  <a:gd name="T55" fmla="*/ 1030282353 h 227"/>
                  <a:gd name="T56" fmla="*/ 107753531 w 216"/>
                  <a:gd name="T57" fmla="*/ 966862157 h 227"/>
                  <a:gd name="T58" fmla="*/ 65023271 w 216"/>
                  <a:gd name="T59" fmla="*/ 878340009 h 227"/>
                  <a:gd name="T60" fmla="*/ 26840323 w 216"/>
                  <a:gd name="T61" fmla="*/ 783597938 h 227"/>
                  <a:gd name="T62" fmla="*/ 9836524 w 216"/>
                  <a:gd name="T63" fmla="*/ 678945984 h 227"/>
                  <a:gd name="T64" fmla="*/ 0 w 216"/>
                  <a:gd name="T65" fmla="*/ 567048165 h 2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16"/>
                  <a:gd name="T100" fmla="*/ 0 h 227"/>
                  <a:gd name="T101" fmla="*/ 216 w 216"/>
                  <a:gd name="T102" fmla="*/ 227 h 2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16" h="227">
                    <a:moveTo>
                      <a:pt x="0" y="114"/>
                    </a:moveTo>
                    <a:lnTo>
                      <a:pt x="1" y="103"/>
                    </a:lnTo>
                    <a:lnTo>
                      <a:pt x="3" y="91"/>
                    </a:lnTo>
                    <a:lnTo>
                      <a:pt x="5" y="80"/>
                    </a:lnTo>
                    <a:lnTo>
                      <a:pt x="8" y="69"/>
                    </a:lnTo>
                    <a:lnTo>
                      <a:pt x="13" y="60"/>
                    </a:lnTo>
                    <a:lnTo>
                      <a:pt x="19" y="50"/>
                    </a:lnTo>
                    <a:lnTo>
                      <a:pt x="24" y="42"/>
                    </a:lnTo>
                    <a:lnTo>
                      <a:pt x="32" y="34"/>
                    </a:lnTo>
                    <a:lnTo>
                      <a:pt x="39" y="26"/>
                    </a:lnTo>
                    <a:lnTo>
                      <a:pt x="47" y="19"/>
                    </a:lnTo>
                    <a:lnTo>
                      <a:pt x="57" y="14"/>
                    </a:lnTo>
                    <a:lnTo>
                      <a:pt x="66" y="10"/>
                    </a:lnTo>
                    <a:lnTo>
                      <a:pt x="75" y="6"/>
                    </a:lnTo>
                    <a:lnTo>
                      <a:pt x="86" y="3"/>
                    </a:lnTo>
                    <a:lnTo>
                      <a:pt x="97" y="2"/>
                    </a:lnTo>
                    <a:lnTo>
                      <a:pt x="108" y="0"/>
                    </a:lnTo>
                    <a:lnTo>
                      <a:pt x="119" y="2"/>
                    </a:lnTo>
                    <a:lnTo>
                      <a:pt x="129" y="3"/>
                    </a:lnTo>
                    <a:lnTo>
                      <a:pt x="140" y="6"/>
                    </a:lnTo>
                    <a:lnTo>
                      <a:pt x="150" y="10"/>
                    </a:lnTo>
                    <a:lnTo>
                      <a:pt x="159" y="14"/>
                    </a:lnTo>
                    <a:lnTo>
                      <a:pt x="169" y="19"/>
                    </a:lnTo>
                    <a:lnTo>
                      <a:pt x="177" y="26"/>
                    </a:lnTo>
                    <a:lnTo>
                      <a:pt x="185" y="34"/>
                    </a:lnTo>
                    <a:lnTo>
                      <a:pt x="192" y="42"/>
                    </a:lnTo>
                    <a:lnTo>
                      <a:pt x="197" y="50"/>
                    </a:lnTo>
                    <a:lnTo>
                      <a:pt x="202" y="60"/>
                    </a:lnTo>
                    <a:lnTo>
                      <a:pt x="208" y="69"/>
                    </a:lnTo>
                    <a:lnTo>
                      <a:pt x="212" y="80"/>
                    </a:lnTo>
                    <a:lnTo>
                      <a:pt x="213" y="91"/>
                    </a:lnTo>
                    <a:lnTo>
                      <a:pt x="216" y="103"/>
                    </a:lnTo>
                    <a:lnTo>
                      <a:pt x="216" y="114"/>
                    </a:lnTo>
                    <a:lnTo>
                      <a:pt x="216" y="126"/>
                    </a:lnTo>
                    <a:lnTo>
                      <a:pt x="213" y="137"/>
                    </a:lnTo>
                    <a:lnTo>
                      <a:pt x="212" y="147"/>
                    </a:lnTo>
                    <a:lnTo>
                      <a:pt x="208" y="158"/>
                    </a:lnTo>
                    <a:lnTo>
                      <a:pt x="202" y="168"/>
                    </a:lnTo>
                    <a:lnTo>
                      <a:pt x="197" y="177"/>
                    </a:lnTo>
                    <a:lnTo>
                      <a:pt x="192" y="187"/>
                    </a:lnTo>
                    <a:lnTo>
                      <a:pt x="185" y="195"/>
                    </a:lnTo>
                    <a:lnTo>
                      <a:pt x="177" y="201"/>
                    </a:lnTo>
                    <a:lnTo>
                      <a:pt x="169" y="208"/>
                    </a:lnTo>
                    <a:lnTo>
                      <a:pt x="159" y="214"/>
                    </a:lnTo>
                    <a:lnTo>
                      <a:pt x="150" y="219"/>
                    </a:lnTo>
                    <a:lnTo>
                      <a:pt x="140" y="222"/>
                    </a:lnTo>
                    <a:lnTo>
                      <a:pt x="129" y="224"/>
                    </a:lnTo>
                    <a:lnTo>
                      <a:pt x="119" y="227"/>
                    </a:lnTo>
                    <a:lnTo>
                      <a:pt x="108" y="227"/>
                    </a:lnTo>
                    <a:lnTo>
                      <a:pt x="97" y="227"/>
                    </a:lnTo>
                    <a:lnTo>
                      <a:pt x="86" y="224"/>
                    </a:lnTo>
                    <a:lnTo>
                      <a:pt x="75" y="222"/>
                    </a:lnTo>
                    <a:lnTo>
                      <a:pt x="66" y="219"/>
                    </a:lnTo>
                    <a:lnTo>
                      <a:pt x="57" y="214"/>
                    </a:lnTo>
                    <a:lnTo>
                      <a:pt x="47" y="208"/>
                    </a:lnTo>
                    <a:lnTo>
                      <a:pt x="39" y="201"/>
                    </a:lnTo>
                    <a:lnTo>
                      <a:pt x="32" y="195"/>
                    </a:lnTo>
                    <a:lnTo>
                      <a:pt x="24" y="187"/>
                    </a:lnTo>
                    <a:lnTo>
                      <a:pt x="19" y="177"/>
                    </a:lnTo>
                    <a:lnTo>
                      <a:pt x="13" y="168"/>
                    </a:lnTo>
                    <a:lnTo>
                      <a:pt x="8" y="158"/>
                    </a:lnTo>
                    <a:lnTo>
                      <a:pt x="5" y="147"/>
                    </a:lnTo>
                    <a:lnTo>
                      <a:pt x="3" y="137"/>
                    </a:lnTo>
                    <a:lnTo>
                      <a:pt x="1" y="126"/>
                    </a:lnTo>
                    <a:lnTo>
                      <a:pt x="0" y="114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3" name="Rectangle 15"/>
              <p:cNvSpPr>
                <a:spLocks noChangeArrowheads="1"/>
              </p:cNvSpPr>
              <p:nvPr/>
            </p:nvSpPr>
            <p:spPr bwMode="auto">
              <a:xfrm>
                <a:off x="2378" y="95"/>
                <a:ext cx="100" cy="2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buFont typeface="Arial" pitchFamily="34" charset="0"/>
                  <a:buNone/>
                </a:pPr>
                <a:r>
                  <a:rPr lang="en-US" altLang="zh-CN" sz="1000" b="1">
                    <a:solidFill>
                      <a:srgbClr val="0000FF"/>
                    </a:solidFill>
                    <a:latin typeface="宋体" pitchFamily="2" charset="-122"/>
                  </a:rPr>
                  <a:t>B</a:t>
                </a:r>
                <a:endParaRPr lang="en-US" altLang="zh-CN" sz="1000" b="1">
                  <a:solidFill>
                    <a:srgbClr val="0000FF"/>
                  </a:solidFill>
                  <a:latin typeface="Times New Roman" pitchFamily="18" charset="0"/>
                  <a:ea typeface="楷体_GB2312" pitchFamily="1" charset="-122"/>
                </a:endParaRPr>
              </a:p>
            </p:txBody>
          </p:sp>
          <p:sp>
            <p:nvSpPr>
              <p:cNvPr id="12314" name="未知"/>
              <p:cNvSpPr>
                <a:spLocks/>
              </p:cNvSpPr>
              <p:nvPr/>
            </p:nvSpPr>
            <p:spPr bwMode="auto">
              <a:xfrm>
                <a:off x="2218" y="2250"/>
                <a:ext cx="442" cy="470"/>
              </a:xfrm>
              <a:custGeom>
                <a:avLst/>
                <a:gdLst>
                  <a:gd name="T0" fmla="*/ 3132436 w 216"/>
                  <a:gd name="T1" fmla="*/ 446341159 h 227"/>
                  <a:gd name="T2" fmla="*/ 16248397 w 216"/>
                  <a:gd name="T3" fmla="*/ 348105442 h 227"/>
                  <a:gd name="T4" fmla="*/ 44718601 w 216"/>
                  <a:gd name="T5" fmla="*/ 260095379 h 227"/>
                  <a:gd name="T6" fmla="*/ 81008170 w 216"/>
                  <a:gd name="T7" fmla="*/ 182291127 h 227"/>
                  <a:gd name="T8" fmla="*/ 133056879 w 216"/>
                  <a:gd name="T9" fmla="*/ 113371133 h 227"/>
                  <a:gd name="T10" fmla="*/ 193570726 w 216"/>
                  <a:gd name="T11" fmla="*/ 60672045 h 227"/>
                  <a:gd name="T12" fmla="*/ 253391593 w 216"/>
                  <a:gd name="T13" fmla="*/ 25570180 h 227"/>
                  <a:gd name="T14" fmla="*/ 328077895 w 216"/>
                  <a:gd name="T15" fmla="*/ 8222180 h 227"/>
                  <a:gd name="T16" fmla="*/ 404053641 w 216"/>
                  <a:gd name="T17" fmla="*/ 8222180 h 227"/>
                  <a:gd name="T18" fmla="*/ 473614015 w 216"/>
                  <a:gd name="T19" fmla="*/ 25570180 h 227"/>
                  <a:gd name="T20" fmla="*/ 538647947 w 216"/>
                  <a:gd name="T21" fmla="*/ 60672045 h 227"/>
                  <a:gd name="T22" fmla="*/ 599974025 w 216"/>
                  <a:gd name="T23" fmla="*/ 113371133 h 227"/>
                  <a:gd name="T24" fmla="*/ 651021663 w 216"/>
                  <a:gd name="T25" fmla="*/ 182291127 h 227"/>
                  <a:gd name="T26" fmla="*/ 684280176 w 216"/>
                  <a:gd name="T27" fmla="*/ 260095379 h 227"/>
                  <a:gd name="T28" fmla="*/ 719059846 w 216"/>
                  <a:gd name="T29" fmla="*/ 348105442 h 227"/>
                  <a:gd name="T30" fmla="*/ 732218540 w 216"/>
                  <a:gd name="T31" fmla="*/ 446341159 h 227"/>
                  <a:gd name="T32" fmla="*/ 732218540 w 216"/>
                  <a:gd name="T33" fmla="*/ 494825899 h 227"/>
                  <a:gd name="T34" fmla="*/ 722192024 w 216"/>
                  <a:gd name="T35" fmla="*/ 595219365 h 227"/>
                  <a:gd name="T36" fmla="*/ 706123720 w 216"/>
                  <a:gd name="T37" fmla="*/ 685652195 h 227"/>
                  <a:gd name="T38" fmla="*/ 668021454 w 216"/>
                  <a:gd name="T39" fmla="*/ 767322354 h 227"/>
                  <a:gd name="T40" fmla="*/ 628521798 w 216"/>
                  <a:gd name="T41" fmla="*/ 846470598 h 227"/>
                  <a:gd name="T42" fmla="*/ 573427077 w 216"/>
                  <a:gd name="T43" fmla="*/ 903181730 h 227"/>
                  <a:gd name="T44" fmla="*/ 508488705 w 216"/>
                  <a:gd name="T45" fmla="*/ 949607487 h 227"/>
                  <a:gd name="T46" fmla="*/ 437297754 w 216"/>
                  <a:gd name="T47" fmla="*/ 977084839 h 227"/>
                  <a:gd name="T48" fmla="*/ 366134183 w 216"/>
                  <a:gd name="T49" fmla="*/ 985307325 h 227"/>
                  <a:gd name="T50" fmla="*/ 291664425 w 216"/>
                  <a:gd name="T51" fmla="*/ 977084839 h 227"/>
                  <a:gd name="T52" fmla="*/ 223644091 w 216"/>
                  <a:gd name="T53" fmla="*/ 949607487 h 227"/>
                  <a:gd name="T54" fmla="*/ 158792020 w 216"/>
                  <a:gd name="T55" fmla="*/ 903181730 h 227"/>
                  <a:gd name="T56" fmla="*/ 107753531 w 216"/>
                  <a:gd name="T57" fmla="*/ 846470598 h 227"/>
                  <a:gd name="T58" fmla="*/ 65023271 w 216"/>
                  <a:gd name="T59" fmla="*/ 767322354 h 227"/>
                  <a:gd name="T60" fmla="*/ 26840323 w 216"/>
                  <a:gd name="T61" fmla="*/ 685652195 h 227"/>
                  <a:gd name="T62" fmla="*/ 9836524 w 216"/>
                  <a:gd name="T63" fmla="*/ 595219365 h 227"/>
                  <a:gd name="T64" fmla="*/ 0 w 216"/>
                  <a:gd name="T65" fmla="*/ 494825899 h 2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16"/>
                  <a:gd name="T100" fmla="*/ 0 h 227"/>
                  <a:gd name="T101" fmla="*/ 216 w 216"/>
                  <a:gd name="T102" fmla="*/ 227 h 2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16" h="227">
                    <a:moveTo>
                      <a:pt x="0" y="114"/>
                    </a:moveTo>
                    <a:lnTo>
                      <a:pt x="1" y="103"/>
                    </a:lnTo>
                    <a:lnTo>
                      <a:pt x="3" y="91"/>
                    </a:lnTo>
                    <a:lnTo>
                      <a:pt x="5" y="80"/>
                    </a:lnTo>
                    <a:lnTo>
                      <a:pt x="8" y="69"/>
                    </a:lnTo>
                    <a:lnTo>
                      <a:pt x="13" y="60"/>
                    </a:lnTo>
                    <a:lnTo>
                      <a:pt x="19" y="50"/>
                    </a:lnTo>
                    <a:lnTo>
                      <a:pt x="24" y="42"/>
                    </a:lnTo>
                    <a:lnTo>
                      <a:pt x="32" y="34"/>
                    </a:lnTo>
                    <a:lnTo>
                      <a:pt x="39" y="26"/>
                    </a:lnTo>
                    <a:lnTo>
                      <a:pt x="47" y="19"/>
                    </a:lnTo>
                    <a:lnTo>
                      <a:pt x="57" y="14"/>
                    </a:lnTo>
                    <a:lnTo>
                      <a:pt x="66" y="10"/>
                    </a:lnTo>
                    <a:lnTo>
                      <a:pt x="75" y="6"/>
                    </a:lnTo>
                    <a:lnTo>
                      <a:pt x="86" y="3"/>
                    </a:lnTo>
                    <a:lnTo>
                      <a:pt x="97" y="2"/>
                    </a:lnTo>
                    <a:lnTo>
                      <a:pt x="108" y="0"/>
                    </a:lnTo>
                    <a:lnTo>
                      <a:pt x="119" y="2"/>
                    </a:lnTo>
                    <a:lnTo>
                      <a:pt x="129" y="3"/>
                    </a:lnTo>
                    <a:lnTo>
                      <a:pt x="140" y="6"/>
                    </a:lnTo>
                    <a:lnTo>
                      <a:pt x="150" y="10"/>
                    </a:lnTo>
                    <a:lnTo>
                      <a:pt x="159" y="14"/>
                    </a:lnTo>
                    <a:lnTo>
                      <a:pt x="169" y="19"/>
                    </a:lnTo>
                    <a:lnTo>
                      <a:pt x="177" y="26"/>
                    </a:lnTo>
                    <a:lnTo>
                      <a:pt x="185" y="34"/>
                    </a:lnTo>
                    <a:lnTo>
                      <a:pt x="192" y="42"/>
                    </a:lnTo>
                    <a:lnTo>
                      <a:pt x="197" y="50"/>
                    </a:lnTo>
                    <a:lnTo>
                      <a:pt x="202" y="60"/>
                    </a:lnTo>
                    <a:lnTo>
                      <a:pt x="208" y="69"/>
                    </a:lnTo>
                    <a:lnTo>
                      <a:pt x="212" y="80"/>
                    </a:lnTo>
                    <a:lnTo>
                      <a:pt x="213" y="91"/>
                    </a:lnTo>
                    <a:lnTo>
                      <a:pt x="216" y="103"/>
                    </a:lnTo>
                    <a:lnTo>
                      <a:pt x="216" y="114"/>
                    </a:lnTo>
                    <a:lnTo>
                      <a:pt x="216" y="126"/>
                    </a:lnTo>
                    <a:lnTo>
                      <a:pt x="213" y="137"/>
                    </a:lnTo>
                    <a:lnTo>
                      <a:pt x="212" y="148"/>
                    </a:lnTo>
                    <a:lnTo>
                      <a:pt x="208" y="158"/>
                    </a:lnTo>
                    <a:lnTo>
                      <a:pt x="202" y="168"/>
                    </a:lnTo>
                    <a:lnTo>
                      <a:pt x="197" y="177"/>
                    </a:lnTo>
                    <a:lnTo>
                      <a:pt x="192" y="187"/>
                    </a:lnTo>
                    <a:lnTo>
                      <a:pt x="185" y="195"/>
                    </a:lnTo>
                    <a:lnTo>
                      <a:pt x="177" y="202"/>
                    </a:lnTo>
                    <a:lnTo>
                      <a:pt x="169" y="208"/>
                    </a:lnTo>
                    <a:lnTo>
                      <a:pt x="159" y="214"/>
                    </a:lnTo>
                    <a:lnTo>
                      <a:pt x="150" y="219"/>
                    </a:lnTo>
                    <a:lnTo>
                      <a:pt x="140" y="222"/>
                    </a:lnTo>
                    <a:lnTo>
                      <a:pt x="129" y="225"/>
                    </a:lnTo>
                    <a:lnTo>
                      <a:pt x="119" y="227"/>
                    </a:lnTo>
                    <a:lnTo>
                      <a:pt x="108" y="227"/>
                    </a:lnTo>
                    <a:lnTo>
                      <a:pt x="97" y="227"/>
                    </a:lnTo>
                    <a:lnTo>
                      <a:pt x="86" y="225"/>
                    </a:lnTo>
                    <a:lnTo>
                      <a:pt x="75" y="222"/>
                    </a:lnTo>
                    <a:lnTo>
                      <a:pt x="66" y="219"/>
                    </a:lnTo>
                    <a:lnTo>
                      <a:pt x="57" y="214"/>
                    </a:lnTo>
                    <a:lnTo>
                      <a:pt x="47" y="208"/>
                    </a:lnTo>
                    <a:lnTo>
                      <a:pt x="39" y="202"/>
                    </a:lnTo>
                    <a:lnTo>
                      <a:pt x="32" y="195"/>
                    </a:lnTo>
                    <a:lnTo>
                      <a:pt x="24" y="187"/>
                    </a:lnTo>
                    <a:lnTo>
                      <a:pt x="19" y="177"/>
                    </a:lnTo>
                    <a:lnTo>
                      <a:pt x="13" y="168"/>
                    </a:lnTo>
                    <a:lnTo>
                      <a:pt x="8" y="158"/>
                    </a:lnTo>
                    <a:lnTo>
                      <a:pt x="5" y="148"/>
                    </a:lnTo>
                    <a:lnTo>
                      <a:pt x="3" y="137"/>
                    </a:lnTo>
                    <a:lnTo>
                      <a:pt x="1" y="126"/>
                    </a:lnTo>
                    <a:lnTo>
                      <a:pt x="0" y="11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5" name="未知"/>
              <p:cNvSpPr>
                <a:spLocks/>
              </p:cNvSpPr>
              <p:nvPr/>
            </p:nvSpPr>
            <p:spPr bwMode="auto">
              <a:xfrm>
                <a:off x="2218" y="2250"/>
                <a:ext cx="442" cy="470"/>
              </a:xfrm>
              <a:custGeom>
                <a:avLst/>
                <a:gdLst>
                  <a:gd name="T0" fmla="*/ 3132436 w 216"/>
                  <a:gd name="T1" fmla="*/ 446341159 h 227"/>
                  <a:gd name="T2" fmla="*/ 16248397 w 216"/>
                  <a:gd name="T3" fmla="*/ 348105442 h 227"/>
                  <a:gd name="T4" fmla="*/ 44718601 w 216"/>
                  <a:gd name="T5" fmla="*/ 260095379 h 227"/>
                  <a:gd name="T6" fmla="*/ 81008170 w 216"/>
                  <a:gd name="T7" fmla="*/ 182291127 h 227"/>
                  <a:gd name="T8" fmla="*/ 133056879 w 216"/>
                  <a:gd name="T9" fmla="*/ 113371133 h 227"/>
                  <a:gd name="T10" fmla="*/ 193570726 w 216"/>
                  <a:gd name="T11" fmla="*/ 60672045 h 227"/>
                  <a:gd name="T12" fmla="*/ 253391593 w 216"/>
                  <a:gd name="T13" fmla="*/ 25570180 h 227"/>
                  <a:gd name="T14" fmla="*/ 328077895 w 216"/>
                  <a:gd name="T15" fmla="*/ 8222180 h 227"/>
                  <a:gd name="T16" fmla="*/ 404053641 w 216"/>
                  <a:gd name="T17" fmla="*/ 8222180 h 227"/>
                  <a:gd name="T18" fmla="*/ 473614015 w 216"/>
                  <a:gd name="T19" fmla="*/ 25570180 h 227"/>
                  <a:gd name="T20" fmla="*/ 538647947 w 216"/>
                  <a:gd name="T21" fmla="*/ 60672045 h 227"/>
                  <a:gd name="T22" fmla="*/ 599974025 w 216"/>
                  <a:gd name="T23" fmla="*/ 113371133 h 227"/>
                  <a:gd name="T24" fmla="*/ 651021663 w 216"/>
                  <a:gd name="T25" fmla="*/ 182291127 h 227"/>
                  <a:gd name="T26" fmla="*/ 684280176 w 216"/>
                  <a:gd name="T27" fmla="*/ 260095379 h 227"/>
                  <a:gd name="T28" fmla="*/ 719059846 w 216"/>
                  <a:gd name="T29" fmla="*/ 348105442 h 227"/>
                  <a:gd name="T30" fmla="*/ 732218540 w 216"/>
                  <a:gd name="T31" fmla="*/ 446341159 h 227"/>
                  <a:gd name="T32" fmla="*/ 732218540 w 216"/>
                  <a:gd name="T33" fmla="*/ 494825899 h 227"/>
                  <a:gd name="T34" fmla="*/ 722192024 w 216"/>
                  <a:gd name="T35" fmla="*/ 595219365 h 227"/>
                  <a:gd name="T36" fmla="*/ 706123720 w 216"/>
                  <a:gd name="T37" fmla="*/ 685652195 h 227"/>
                  <a:gd name="T38" fmla="*/ 668021454 w 216"/>
                  <a:gd name="T39" fmla="*/ 767322354 h 227"/>
                  <a:gd name="T40" fmla="*/ 628521798 w 216"/>
                  <a:gd name="T41" fmla="*/ 846470598 h 227"/>
                  <a:gd name="T42" fmla="*/ 573427077 w 216"/>
                  <a:gd name="T43" fmla="*/ 903181730 h 227"/>
                  <a:gd name="T44" fmla="*/ 508488705 w 216"/>
                  <a:gd name="T45" fmla="*/ 949607487 h 227"/>
                  <a:gd name="T46" fmla="*/ 437297754 w 216"/>
                  <a:gd name="T47" fmla="*/ 977084839 h 227"/>
                  <a:gd name="T48" fmla="*/ 366134183 w 216"/>
                  <a:gd name="T49" fmla="*/ 985307325 h 227"/>
                  <a:gd name="T50" fmla="*/ 291664425 w 216"/>
                  <a:gd name="T51" fmla="*/ 977084839 h 227"/>
                  <a:gd name="T52" fmla="*/ 223644091 w 216"/>
                  <a:gd name="T53" fmla="*/ 949607487 h 227"/>
                  <a:gd name="T54" fmla="*/ 158792020 w 216"/>
                  <a:gd name="T55" fmla="*/ 903181730 h 227"/>
                  <a:gd name="T56" fmla="*/ 107753531 w 216"/>
                  <a:gd name="T57" fmla="*/ 846470598 h 227"/>
                  <a:gd name="T58" fmla="*/ 65023271 w 216"/>
                  <a:gd name="T59" fmla="*/ 767322354 h 227"/>
                  <a:gd name="T60" fmla="*/ 26840323 w 216"/>
                  <a:gd name="T61" fmla="*/ 685652195 h 227"/>
                  <a:gd name="T62" fmla="*/ 9836524 w 216"/>
                  <a:gd name="T63" fmla="*/ 595219365 h 227"/>
                  <a:gd name="T64" fmla="*/ 0 w 216"/>
                  <a:gd name="T65" fmla="*/ 494825899 h 2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16"/>
                  <a:gd name="T100" fmla="*/ 0 h 227"/>
                  <a:gd name="T101" fmla="*/ 216 w 216"/>
                  <a:gd name="T102" fmla="*/ 227 h 2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16" h="227">
                    <a:moveTo>
                      <a:pt x="0" y="114"/>
                    </a:moveTo>
                    <a:lnTo>
                      <a:pt x="1" y="103"/>
                    </a:lnTo>
                    <a:lnTo>
                      <a:pt x="3" y="91"/>
                    </a:lnTo>
                    <a:lnTo>
                      <a:pt x="5" y="80"/>
                    </a:lnTo>
                    <a:lnTo>
                      <a:pt x="8" y="69"/>
                    </a:lnTo>
                    <a:lnTo>
                      <a:pt x="13" y="60"/>
                    </a:lnTo>
                    <a:lnTo>
                      <a:pt x="19" y="50"/>
                    </a:lnTo>
                    <a:lnTo>
                      <a:pt x="24" y="42"/>
                    </a:lnTo>
                    <a:lnTo>
                      <a:pt x="32" y="34"/>
                    </a:lnTo>
                    <a:lnTo>
                      <a:pt x="39" y="26"/>
                    </a:lnTo>
                    <a:lnTo>
                      <a:pt x="47" y="19"/>
                    </a:lnTo>
                    <a:lnTo>
                      <a:pt x="57" y="14"/>
                    </a:lnTo>
                    <a:lnTo>
                      <a:pt x="66" y="10"/>
                    </a:lnTo>
                    <a:lnTo>
                      <a:pt x="75" y="6"/>
                    </a:lnTo>
                    <a:lnTo>
                      <a:pt x="86" y="3"/>
                    </a:lnTo>
                    <a:lnTo>
                      <a:pt x="97" y="2"/>
                    </a:lnTo>
                    <a:lnTo>
                      <a:pt x="108" y="0"/>
                    </a:lnTo>
                    <a:lnTo>
                      <a:pt x="119" y="2"/>
                    </a:lnTo>
                    <a:lnTo>
                      <a:pt x="129" y="3"/>
                    </a:lnTo>
                    <a:lnTo>
                      <a:pt x="140" y="6"/>
                    </a:lnTo>
                    <a:lnTo>
                      <a:pt x="150" y="10"/>
                    </a:lnTo>
                    <a:lnTo>
                      <a:pt x="159" y="14"/>
                    </a:lnTo>
                    <a:lnTo>
                      <a:pt x="169" y="19"/>
                    </a:lnTo>
                    <a:lnTo>
                      <a:pt x="177" y="26"/>
                    </a:lnTo>
                    <a:lnTo>
                      <a:pt x="185" y="34"/>
                    </a:lnTo>
                    <a:lnTo>
                      <a:pt x="192" y="42"/>
                    </a:lnTo>
                    <a:lnTo>
                      <a:pt x="197" y="50"/>
                    </a:lnTo>
                    <a:lnTo>
                      <a:pt x="202" y="60"/>
                    </a:lnTo>
                    <a:lnTo>
                      <a:pt x="208" y="69"/>
                    </a:lnTo>
                    <a:lnTo>
                      <a:pt x="212" y="80"/>
                    </a:lnTo>
                    <a:lnTo>
                      <a:pt x="213" y="91"/>
                    </a:lnTo>
                    <a:lnTo>
                      <a:pt x="216" y="103"/>
                    </a:lnTo>
                    <a:lnTo>
                      <a:pt x="216" y="114"/>
                    </a:lnTo>
                    <a:lnTo>
                      <a:pt x="216" y="126"/>
                    </a:lnTo>
                    <a:lnTo>
                      <a:pt x="213" y="137"/>
                    </a:lnTo>
                    <a:lnTo>
                      <a:pt x="212" y="148"/>
                    </a:lnTo>
                    <a:lnTo>
                      <a:pt x="208" y="158"/>
                    </a:lnTo>
                    <a:lnTo>
                      <a:pt x="202" y="168"/>
                    </a:lnTo>
                    <a:lnTo>
                      <a:pt x="197" y="177"/>
                    </a:lnTo>
                    <a:lnTo>
                      <a:pt x="192" y="187"/>
                    </a:lnTo>
                    <a:lnTo>
                      <a:pt x="185" y="195"/>
                    </a:lnTo>
                    <a:lnTo>
                      <a:pt x="177" y="202"/>
                    </a:lnTo>
                    <a:lnTo>
                      <a:pt x="169" y="208"/>
                    </a:lnTo>
                    <a:lnTo>
                      <a:pt x="159" y="214"/>
                    </a:lnTo>
                    <a:lnTo>
                      <a:pt x="150" y="219"/>
                    </a:lnTo>
                    <a:lnTo>
                      <a:pt x="140" y="222"/>
                    </a:lnTo>
                    <a:lnTo>
                      <a:pt x="129" y="225"/>
                    </a:lnTo>
                    <a:lnTo>
                      <a:pt x="119" y="227"/>
                    </a:lnTo>
                    <a:lnTo>
                      <a:pt x="108" y="227"/>
                    </a:lnTo>
                    <a:lnTo>
                      <a:pt x="97" y="227"/>
                    </a:lnTo>
                    <a:lnTo>
                      <a:pt x="86" y="225"/>
                    </a:lnTo>
                    <a:lnTo>
                      <a:pt x="75" y="222"/>
                    </a:lnTo>
                    <a:lnTo>
                      <a:pt x="66" y="219"/>
                    </a:lnTo>
                    <a:lnTo>
                      <a:pt x="57" y="214"/>
                    </a:lnTo>
                    <a:lnTo>
                      <a:pt x="47" y="208"/>
                    </a:lnTo>
                    <a:lnTo>
                      <a:pt x="39" y="202"/>
                    </a:lnTo>
                    <a:lnTo>
                      <a:pt x="32" y="195"/>
                    </a:lnTo>
                    <a:lnTo>
                      <a:pt x="24" y="187"/>
                    </a:lnTo>
                    <a:lnTo>
                      <a:pt x="19" y="177"/>
                    </a:lnTo>
                    <a:lnTo>
                      <a:pt x="13" y="168"/>
                    </a:lnTo>
                    <a:lnTo>
                      <a:pt x="8" y="158"/>
                    </a:lnTo>
                    <a:lnTo>
                      <a:pt x="5" y="148"/>
                    </a:lnTo>
                    <a:lnTo>
                      <a:pt x="3" y="137"/>
                    </a:lnTo>
                    <a:lnTo>
                      <a:pt x="1" y="126"/>
                    </a:lnTo>
                    <a:lnTo>
                      <a:pt x="0" y="114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6" name="Rectangle 18"/>
              <p:cNvSpPr>
                <a:spLocks noChangeArrowheads="1"/>
              </p:cNvSpPr>
              <p:nvPr/>
            </p:nvSpPr>
            <p:spPr bwMode="auto">
              <a:xfrm>
                <a:off x="2378" y="2345"/>
                <a:ext cx="102" cy="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buFont typeface="Arial" pitchFamily="34" charset="0"/>
                  <a:buNone/>
                </a:pPr>
                <a:r>
                  <a:rPr lang="en-US" altLang="zh-CN" sz="1400" b="1">
                    <a:solidFill>
                      <a:srgbClr val="0000FF"/>
                    </a:solidFill>
                    <a:latin typeface="宋体" pitchFamily="2" charset="-122"/>
                  </a:rPr>
                  <a:t>C</a:t>
                </a:r>
                <a:endParaRPr lang="en-US" altLang="zh-CN" sz="1400" b="1">
                  <a:solidFill>
                    <a:srgbClr val="0000FF"/>
                  </a:solidFill>
                  <a:latin typeface="Times New Roman" pitchFamily="18" charset="0"/>
                  <a:ea typeface="楷体_GB2312" pitchFamily="1" charset="-122"/>
                </a:endParaRPr>
              </a:p>
            </p:txBody>
          </p:sp>
          <p:sp>
            <p:nvSpPr>
              <p:cNvPr id="12317" name="未知"/>
              <p:cNvSpPr>
                <a:spLocks/>
              </p:cNvSpPr>
              <p:nvPr/>
            </p:nvSpPr>
            <p:spPr bwMode="auto">
              <a:xfrm>
                <a:off x="3103" y="1115"/>
                <a:ext cx="442" cy="468"/>
              </a:xfrm>
              <a:custGeom>
                <a:avLst/>
                <a:gdLst>
                  <a:gd name="T0" fmla="*/ 3132436 w 216"/>
                  <a:gd name="T1" fmla="*/ 408138169 h 227"/>
                  <a:gd name="T2" fmla="*/ 16248397 w 216"/>
                  <a:gd name="T3" fmla="*/ 317408370 h 227"/>
                  <a:gd name="T4" fmla="*/ 44718601 w 216"/>
                  <a:gd name="T5" fmla="*/ 235435395 h 227"/>
                  <a:gd name="T6" fmla="*/ 81008170 w 216"/>
                  <a:gd name="T7" fmla="*/ 167182619 h 227"/>
                  <a:gd name="T8" fmla="*/ 133056879 w 216"/>
                  <a:gd name="T9" fmla="*/ 103669921 h 227"/>
                  <a:gd name="T10" fmla="*/ 193570726 w 216"/>
                  <a:gd name="T11" fmla="*/ 52083813 h 227"/>
                  <a:gd name="T12" fmla="*/ 253391593 w 216"/>
                  <a:gd name="T13" fmla="*/ 19479080 h 227"/>
                  <a:gd name="T14" fmla="*/ 328077895 w 216"/>
                  <a:gd name="T15" fmla="*/ 3515338 h 227"/>
                  <a:gd name="T16" fmla="*/ 404053641 w 216"/>
                  <a:gd name="T17" fmla="*/ 3515338 h 227"/>
                  <a:gd name="T18" fmla="*/ 473614015 w 216"/>
                  <a:gd name="T19" fmla="*/ 19479080 h 227"/>
                  <a:gd name="T20" fmla="*/ 538647947 w 216"/>
                  <a:gd name="T21" fmla="*/ 52083813 h 227"/>
                  <a:gd name="T22" fmla="*/ 599974025 w 216"/>
                  <a:gd name="T23" fmla="*/ 103669921 h 227"/>
                  <a:gd name="T24" fmla="*/ 651021663 w 216"/>
                  <a:gd name="T25" fmla="*/ 167182619 h 227"/>
                  <a:gd name="T26" fmla="*/ 684280176 w 216"/>
                  <a:gd name="T27" fmla="*/ 235435395 h 227"/>
                  <a:gd name="T28" fmla="*/ 719059846 w 216"/>
                  <a:gd name="T29" fmla="*/ 317408370 h 227"/>
                  <a:gd name="T30" fmla="*/ 732218540 w 216"/>
                  <a:gd name="T31" fmla="*/ 408138169 h 227"/>
                  <a:gd name="T32" fmla="*/ 732218540 w 216"/>
                  <a:gd name="T33" fmla="*/ 448346008 h 227"/>
                  <a:gd name="T34" fmla="*/ 722192024 w 216"/>
                  <a:gd name="T35" fmla="*/ 538790463 h 227"/>
                  <a:gd name="T36" fmla="*/ 706123720 w 216"/>
                  <a:gd name="T37" fmla="*/ 627092553 h 227"/>
                  <a:gd name="T38" fmla="*/ 668021454 w 216"/>
                  <a:gd name="T39" fmla="*/ 702860988 h 227"/>
                  <a:gd name="T40" fmla="*/ 628521798 w 216"/>
                  <a:gd name="T41" fmla="*/ 770288208 h 227"/>
                  <a:gd name="T42" fmla="*/ 573427077 w 216"/>
                  <a:gd name="T43" fmla="*/ 825484356 h 227"/>
                  <a:gd name="T44" fmla="*/ 508488705 w 216"/>
                  <a:gd name="T45" fmla="*/ 869825460 h 227"/>
                  <a:gd name="T46" fmla="*/ 440554425 w 216"/>
                  <a:gd name="T47" fmla="*/ 889000525 h 227"/>
                  <a:gd name="T48" fmla="*/ 366134183 w 216"/>
                  <a:gd name="T49" fmla="*/ 901268842 h 227"/>
                  <a:gd name="T50" fmla="*/ 291664425 w 216"/>
                  <a:gd name="T51" fmla="*/ 889000525 h 227"/>
                  <a:gd name="T52" fmla="*/ 223644091 w 216"/>
                  <a:gd name="T53" fmla="*/ 869825460 h 227"/>
                  <a:gd name="T54" fmla="*/ 158792020 w 216"/>
                  <a:gd name="T55" fmla="*/ 825484356 h 227"/>
                  <a:gd name="T56" fmla="*/ 107753531 w 216"/>
                  <a:gd name="T57" fmla="*/ 770288208 h 227"/>
                  <a:gd name="T58" fmla="*/ 65023271 w 216"/>
                  <a:gd name="T59" fmla="*/ 702860988 h 227"/>
                  <a:gd name="T60" fmla="*/ 26840323 w 216"/>
                  <a:gd name="T61" fmla="*/ 627092553 h 227"/>
                  <a:gd name="T62" fmla="*/ 9836524 w 216"/>
                  <a:gd name="T63" fmla="*/ 538790463 h 227"/>
                  <a:gd name="T64" fmla="*/ 0 w 216"/>
                  <a:gd name="T65" fmla="*/ 448346008 h 2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16"/>
                  <a:gd name="T100" fmla="*/ 0 h 227"/>
                  <a:gd name="T101" fmla="*/ 216 w 216"/>
                  <a:gd name="T102" fmla="*/ 227 h 2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16" h="227">
                    <a:moveTo>
                      <a:pt x="0" y="113"/>
                    </a:moveTo>
                    <a:lnTo>
                      <a:pt x="1" y="103"/>
                    </a:lnTo>
                    <a:lnTo>
                      <a:pt x="3" y="90"/>
                    </a:lnTo>
                    <a:lnTo>
                      <a:pt x="5" y="80"/>
                    </a:lnTo>
                    <a:lnTo>
                      <a:pt x="8" y="69"/>
                    </a:lnTo>
                    <a:lnTo>
                      <a:pt x="13" y="59"/>
                    </a:lnTo>
                    <a:lnTo>
                      <a:pt x="19" y="50"/>
                    </a:lnTo>
                    <a:lnTo>
                      <a:pt x="24" y="42"/>
                    </a:lnTo>
                    <a:lnTo>
                      <a:pt x="32" y="34"/>
                    </a:lnTo>
                    <a:lnTo>
                      <a:pt x="39" y="26"/>
                    </a:lnTo>
                    <a:lnTo>
                      <a:pt x="47" y="19"/>
                    </a:lnTo>
                    <a:lnTo>
                      <a:pt x="57" y="13"/>
                    </a:lnTo>
                    <a:lnTo>
                      <a:pt x="66" y="9"/>
                    </a:lnTo>
                    <a:lnTo>
                      <a:pt x="75" y="5"/>
                    </a:lnTo>
                    <a:lnTo>
                      <a:pt x="86" y="3"/>
                    </a:lnTo>
                    <a:lnTo>
                      <a:pt x="97" y="1"/>
                    </a:lnTo>
                    <a:lnTo>
                      <a:pt x="108" y="0"/>
                    </a:lnTo>
                    <a:lnTo>
                      <a:pt x="119" y="1"/>
                    </a:lnTo>
                    <a:lnTo>
                      <a:pt x="130" y="3"/>
                    </a:lnTo>
                    <a:lnTo>
                      <a:pt x="140" y="5"/>
                    </a:lnTo>
                    <a:lnTo>
                      <a:pt x="150" y="9"/>
                    </a:lnTo>
                    <a:lnTo>
                      <a:pt x="159" y="13"/>
                    </a:lnTo>
                    <a:lnTo>
                      <a:pt x="169" y="19"/>
                    </a:lnTo>
                    <a:lnTo>
                      <a:pt x="177" y="26"/>
                    </a:lnTo>
                    <a:lnTo>
                      <a:pt x="185" y="34"/>
                    </a:lnTo>
                    <a:lnTo>
                      <a:pt x="192" y="42"/>
                    </a:lnTo>
                    <a:lnTo>
                      <a:pt x="197" y="50"/>
                    </a:lnTo>
                    <a:lnTo>
                      <a:pt x="202" y="59"/>
                    </a:lnTo>
                    <a:lnTo>
                      <a:pt x="208" y="69"/>
                    </a:lnTo>
                    <a:lnTo>
                      <a:pt x="212" y="80"/>
                    </a:lnTo>
                    <a:lnTo>
                      <a:pt x="213" y="90"/>
                    </a:lnTo>
                    <a:lnTo>
                      <a:pt x="216" y="103"/>
                    </a:lnTo>
                    <a:lnTo>
                      <a:pt x="216" y="113"/>
                    </a:lnTo>
                    <a:lnTo>
                      <a:pt x="216" y="126"/>
                    </a:lnTo>
                    <a:lnTo>
                      <a:pt x="213" y="136"/>
                    </a:lnTo>
                    <a:lnTo>
                      <a:pt x="212" y="147"/>
                    </a:lnTo>
                    <a:lnTo>
                      <a:pt x="208" y="158"/>
                    </a:lnTo>
                    <a:lnTo>
                      <a:pt x="202" y="167"/>
                    </a:lnTo>
                    <a:lnTo>
                      <a:pt x="197" y="177"/>
                    </a:lnTo>
                    <a:lnTo>
                      <a:pt x="192" y="186"/>
                    </a:lnTo>
                    <a:lnTo>
                      <a:pt x="185" y="194"/>
                    </a:lnTo>
                    <a:lnTo>
                      <a:pt x="177" y="201"/>
                    </a:lnTo>
                    <a:lnTo>
                      <a:pt x="169" y="208"/>
                    </a:lnTo>
                    <a:lnTo>
                      <a:pt x="159" y="213"/>
                    </a:lnTo>
                    <a:lnTo>
                      <a:pt x="150" y="219"/>
                    </a:lnTo>
                    <a:lnTo>
                      <a:pt x="140" y="221"/>
                    </a:lnTo>
                    <a:lnTo>
                      <a:pt x="130" y="224"/>
                    </a:lnTo>
                    <a:lnTo>
                      <a:pt x="119" y="227"/>
                    </a:lnTo>
                    <a:lnTo>
                      <a:pt x="108" y="227"/>
                    </a:lnTo>
                    <a:lnTo>
                      <a:pt x="97" y="227"/>
                    </a:lnTo>
                    <a:lnTo>
                      <a:pt x="86" y="224"/>
                    </a:lnTo>
                    <a:lnTo>
                      <a:pt x="75" y="221"/>
                    </a:lnTo>
                    <a:lnTo>
                      <a:pt x="66" y="219"/>
                    </a:lnTo>
                    <a:lnTo>
                      <a:pt x="57" y="213"/>
                    </a:lnTo>
                    <a:lnTo>
                      <a:pt x="47" y="208"/>
                    </a:lnTo>
                    <a:lnTo>
                      <a:pt x="39" y="201"/>
                    </a:lnTo>
                    <a:lnTo>
                      <a:pt x="32" y="194"/>
                    </a:lnTo>
                    <a:lnTo>
                      <a:pt x="24" y="186"/>
                    </a:lnTo>
                    <a:lnTo>
                      <a:pt x="19" y="177"/>
                    </a:lnTo>
                    <a:lnTo>
                      <a:pt x="13" y="167"/>
                    </a:lnTo>
                    <a:lnTo>
                      <a:pt x="8" y="158"/>
                    </a:lnTo>
                    <a:lnTo>
                      <a:pt x="5" y="147"/>
                    </a:lnTo>
                    <a:lnTo>
                      <a:pt x="3" y="136"/>
                    </a:lnTo>
                    <a:lnTo>
                      <a:pt x="1" y="126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8" name="未知"/>
              <p:cNvSpPr>
                <a:spLocks/>
              </p:cNvSpPr>
              <p:nvPr/>
            </p:nvSpPr>
            <p:spPr bwMode="auto">
              <a:xfrm>
                <a:off x="3103" y="1115"/>
                <a:ext cx="442" cy="468"/>
              </a:xfrm>
              <a:custGeom>
                <a:avLst/>
                <a:gdLst>
                  <a:gd name="T0" fmla="*/ 3132436 w 216"/>
                  <a:gd name="T1" fmla="*/ 408138169 h 227"/>
                  <a:gd name="T2" fmla="*/ 16248397 w 216"/>
                  <a:gd name="T3" fmla="*/ 317408370 h 227"/>
                  <a:gd name="T4" fmla="*/ 44718601 w 216"/>
                  <a:gd name="T5" fmla="*/ 235435395 h 227"/>
                  <a:gd name="T6" fmla="*/ 81008170 w 216"/>
                  <a:gd name="T7" fmla="*/ 167182619 h 227"/>
                  <a:gd name="T8" fmla="*/ 133056879 w 216"/>
                  <a:gd name="T9" fmla="*/ 103669921 h 227"/>
                  <a:gd name="T10" fmla="*/ 193570726 w 216"/>
                  <a:gd name="T11" fmla="*/ 52083813 h 227"/>
                  <a:gd name="T12" fmla="*/ 253391593 w 216"/>
                  <a:gd name="T13" fmla="*/ 19479080 h 227"/>
                  <a:gd name="T14" fmla="*/ 328077895 w 216"/>
                  <a:gd name="T15" fmla="*/ 3515338 h 227"/>
                  <a:gd name="T16" fmla="*/ 404053641 w 216"/>
                  <a:gd name="T17" fmla="*/ 3515338 h 227"/>
                  <a:gd name="T18" fmla="*/ 473614015 w 216"/>
                  <a:gd name="T19" fmla="*/ 19479080 h 227"/>
                  <a:gd name="T20" fmla="*/ 538647947 w 216"/>
                  <a:gd name="T21" fmla="*/ 52083813 h 227"/>
                  <a:gd name="T22" fmla="*/ 599974025 w 216"/>
                  <a:gd name="T23" fmla="*/ 103669921 h 227"/>
                  <a:gd name="T24" fmla="*/ 651021663 w 216"/>
                  <a:gd name="T25" fmla="*/ 167182619 h 227"/>
                  <a:gd name="T26" fmla="*/ 684280176 w 216"/>
                  <a:gd name="T27" fmla="*/ 235435395 h 227"/>
                  <a:gd name="T28" fmla="*/ 719059846 w 216"/>
                  <a:gd name="T29" fmla="*/ 317408370 h 227"/>
                  <a:gd name="T30" fmla="*/ 732218540 w 216"/>
                  <a:gd name="T31" fmla="*/ 408138169 h 227"/>
                  <a:gd name="T32" fmla="*/ 732218540 w 216"/>
                  <a:gd name="T33" fmla="*/ 448346008 h 227"/>
                  <a:gd name="T34" fmla="*/ 722192024 w 216"/>
                  <a:gd name="T35" fmla="*/ 538790463 h 227"/>
                  <a:gd name="T36" fmla="*/ 706123720 w 216"/>
                  <a:gd name="T37" fmla="*/ 627092553 h 227"/>
                  <a:gd name="T38" fmla="*/ 668021454 w 216"/>
                  <a:gd name="T39" fmla="*/ 702860988 h 227"/>
                  <a:gd name="T40" fmla="*/ 628521798 w 216"/>
                  <a:gd name="T41" fmla="*/ 770288208 h 227"/>
                  <a:gd name="T42" fmla="*/ 573427077 w 216"/>
                  <a:gd name="T43" fmla="*/ 825484356 h 227"/>
                  <a:gd name="T44" fmla="*/ 508488705 w 216"/>
                  <a:gd name="T45" fmla="*/ 869825460 h 227"/>
                  <a:gd name="T46" fmla="*/ 440554425 w 216"/>
                  <a:gd name="T47" fmla="*/ 889000525 h 227"/>
                  <a:gd name="T48" fmla="*/ 366134183 w 216"/>
                  <a:gd name="T49" fmla="*/ 901268842 h 227"/>
                  <a:gd name="T50" fmla="*/ 291664425 w 216"/>
                  <a:gd name="T51" fmla="*/ 889000525 h 227"/>
                  <a:gd name="T52" fmla="*/ 223644091 w 216"/>
                  <a:gd name="T53" fmla="*/ 869825460 h 227"/>
                  <a:gd name="T54" fmla="*/ 158792020 w 216"/>
                  <a:gd name="T55" fmla="*/ 825484356 h 227"/>
                  <a:gd name="T56" fmla="*/ 107753531 w 216"/>
                  <a:gd name="T57" fmla="*/ 770288208 h 227"/>
                  <a:gd name="T58" fmla="*/ 65023271 w 216"/>
                  <a:gd name="T59" fmla="*/ 702860988 h 227"/>
                  <a:gd name="T60" fmla="*/ 26840323 w 216"/>
                  <a:gd name="T61" fmla="*/ 627092553 h 227"/>
                  <a:gd name="T62" fmla="*/ 9836524 w 216"/>
                  <a:gd name="T63" fmla="*/ 538790463 h 227"/>
                  <a:gd name="T64" fmla="*/ 0 w 216"/>
                  <a:gd name="T65" fmla="*/ 448346008 h 2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16"/>
                  <a:gd name="T100" fmla="*/ 0 h 227"/>
                  <a:gd name="T101" fmla="*/ 216 w 216"/>
                  <a:gd name="T102" fmla="*/ 227 h 2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16" h="227">
                    <a:moveTo>
                      <a:pt x="0" y="113"/>
                    </a:moveTo>
                    <a:lnTo>
                      <a:pt x="1" y="103"/>
                    </a:lnTo>
                    <a:lnTo>
                      <a:pt x="3" y="90"/>
                    </a:lnTo>
                    <a:lnTo>
                      <a:pt x="5" y="80"/>
                    </a:lnTo>
                    <a:lnTo>
                      <a:pt x="8" y="69"/>
                    </a:lnTo>
                    <a:lnTo>
                      <a:pt x="13" y="59"/>
                    </a:lnTo>
                    <a:lnTo>
                      <a:pt x="19" y="50"/>
                    </a:lnTo>
                    <a:lnTo>
                      <a:pt x="24" y="42"/>
                    </a:lnTo>
                    <a:lnTo>
                      <a:pt x="32" y="34"/>
                    </a:lnTo>
                    <a:lnTo>
                      <a:pt x="39" y="26"/>
                    </a:lnTo>
                    <a:lnTo>
                      <a:pt x="47" y="19"/>
                    </a:lnTo>
                    <a:lnTo>
                      <a:pt x="57" y="13"/>
                    </a:lnTo>
                    <a:lnTo>
                      <a:pt x="66" y="9"/>
                    </a:lnTo>
                    <a:lnTo>
                      <a:pt x="75" y="5"/>
                    </a:lnTo>
                    <a:lnTo>
                      <a:pt x="86" y="3"/>
                    </a:lnTo>
                    <a:lnTo>
                      <a:pt x="97" y="1"/>
                    </a:lnTo>
                    <a:lnTo>
                      <a:pt x="108" y="0"/>
                    </a:lnTo>
                    <a:lnTo>
                      <a:pt x="119" y="1"/>
                    </a:lnTo>
                    <a:lnTo>
                      <a:pt x="130" y="3"/>
                    </a:lnTo>
                    <a:lnTo>
                      <a:pt x="140" y="5"/>
                    </a:lnTo>
                    <a:lnTo>
                      <a:pt x="150" y="9"/>
                    </a:lnTo>
                    <a:lnTo>
                      <a:pt x="159" y="13"/>
                    </a:lnTo>
                    <a:lnTo>
                      <a:pt x="169" y="19"/>
                    </a:lnTo>
                    <a:lnTo>
                      <a:pt x="177" y="26"/>
                    </a:lnTo>
                    <a:lnTo>
                      <a:pt x="185" y="34"/>
                    </a:lnTo>
                    <a:lnTo>
                      <a:pt x="192" y="42"/>
                    </a:lnTo>
                    <a:lnTo>
                      <a:pt x="197" y="50"/>
                    </a:lnTo>
                    <a:lnTo>
                      <a:pt x="202" y="59"/>
                    </a:lnTo>
                    <a:lnTo>
                      <a:pt x="208" y="69"/>
                    </a:lnTo>
                    <a:lnTo>
                      <a:pt x="212" y="80"/>
                    </a:lnTo>
                    <a:lnTo>
                      <a:pt x="213" y="90"/>
                    </a:lnTo>
                    <a:lnTo>
                      <a:pt x="216" y="103"/>
                    </a:lnTo>
                    <a:lnTo>
                      <a:pt x="216" y="113"/>
                    </a:lnTo>
                    <a:lnTo>
                      <a:pt x="216" y="126"/>
                    </a:lnTo>
                    <a:lnTo>
                      <a:pt x="213" y="136"/>
                    </a:lnTo>
                    <a:lnTo>
                      <a:pt x="212" y="147"/>
                    </a:lnTo>
                    <a:lnTo>
                      <a:pt x="208" y="158"/>
                    </a:lnTo>
                    <a:lnTo>
                      <a:pt x="202" y="167"/>
                    </a:lnTo>
                    <a:lnTo>
                      <a:pt x="197" y="177"/>
                    </a:lnTo>
                    <a:lnTo>
                      <a:pt x="192" y="186"/>
                    </a:lnTo>
                    <a:lnTo>
                      <a:pt x="185" y="194"/>
                    </a:lnTo>
                    <a:lnTo>
                      <a:pt x="177" y="201"/>
                    </a:lnTo>
                    <a:lnTo>
                      <a:pt x="169" y="208"/>
                    </a:lnTo>
                    <a:lnTo>
                      <a:pt x="159" y="213"/>
                    </a:lnTo>
                    <a:lnTo>
                      <a:pt x="150" y="219"/>
                    </a:lnTo>
                    <a:lnTo>
                      <a:pt x="140" y="221"/>
                    </a:lnTo>
                    <a:lnTo>
                      <a:pt x="130" y="224"/>
                    </a:lnTo>
                    <a:lnTo>
                      <a:pt x="119" y="227"/>
                    </a:lnTo>
                    <a:lnTo>
                      <a:pt x="108" y="227"/>
                    </a:lnTo>
                    <a:lnTo>
                      <a:pt x="97" y="227"/>
                    </a:lnTo>
                    <a:lnTo>
                      <a:pt x="86" y="224"/>
                    </a:lnTo>
                    <a:lnTo>
                      <a:pt x="75" y="221"/>
                    </a:lnTo>
                    <a:lnTo>
                      <a:pt x="66" y="219"/>
                    </a:lnTo>
                    <a:lnTo>
                      <a:pt x="57" y="213"/>
                    </a:lnTo>
                    <a:lnTo>
                      <a:pt x="47" y="208"/>
                    </a:lnTo>
                    <a:lnTo>
                      <a:pt x="39" y="201"/>
                    </a:lnTo>
                    <a:lnTo>
                      <a:pt x="32" y="194"/>
                    </a:lnTo>
                    <a:lnTo>
                      <a:pt x="24" y="186"/>
                    </a:lnTo>
                    <a:lnTo>
                      <a:pt x="19" y="177"/>
                    </a:lnTo>
                    <a:lnTo>
                      <a:pt x="13" y="167"/>
                    </a:lnTo>
                    <a:lnTo>
                      <a:pt x="8" y="158"/>
                    </a:lnTo>
                    <a:lnTo>
                      <a:pt x="5" y="147"/>
                    </a:lnTo>
                    <a:lnTo>
                      <a:pt x="3" y="136"/>
                    </a:lnTo>
                    <a:lnTo>
                      <a:pt x="1" y="126"/>
                    </a:lnTo>
                    <a:lnTo>
                      <a:pt x="0" y="113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9" name="Rectangle 21"/>
              <p:cNvSpPr>
                <a:spLocks noChangeArrowheads="1"/>
              </p:cNvSpPr>
              <p:nvPr/>
            </p:nvSpPr>
            <p:spPr bwMode="auto">
              <a:xfrm>
                <a:off x="3263" y="1210"/>
                <a:ext cx="100" cy="2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buFont typeface="Arial" pitchFamily="34" charset="0"/>
                  <a:buNone/>
                </a:pPr>
                <a:r>
                  <a:rPr lang="en-US" altLang="zh-CN" sz="1000" b="1">
                    <a:solidFill>
                      <a:srgbClr val="FF0000"/>
                    </a:solidFill>
                    <a:latin typeface="宋体" pitchFamily="2" charset="-122"/>
                  </a:rPr>
                  <a:t>A</a:t>
                </a:r>
                <a:endParaRPr lang="en-US" altLang="zh-CN" sz="1000" b="1">
                  <a:solidFill>
                    <a:srgbClr val="FF0000"/>
                  </a:solidFill>
                  <a:latin typeface="Times New Roman" pitchFamily="18" charset="0"/>
                  <a:ea typeface="楷体_GB2312" pitchFamily="1" charset="-122"/>
                </a:endParaRPr>
              </a:p>
            </p:txBody>
          </p:sp>
          <p:sp>
            <p:nvSpPr>
              <p:cNvPr id="12320" name="未知"/>
              <p:cNvSpPr>
                <a:spLocks noEditPoints="1"/>
              </p:cNvSpPr>
              <p:nvPr/>
            </p:nvSpPr>
            <p:spPr bwMode="auto">
              <a:xfrm>
                <a:off x="1613" y="1348"/>
                <a:ext cx="1495" cy="2"/>
              </a:xfrm>
              <a:custGeom>
                <a:avLst/>
                <a:gdLst>
                  <a:gd name="T0" fmla="*/ 2147483646 w 727"/>
                  <a:gd name="T1" fmla="*/ 0 h 3"/>
                  <a:gd name="T2" fmla="*/ 2147483646 w 727"/>
                  <a:gd name="T3" fmla="*/ 1 h 3"/>
                  <a:gd name="T4" fmla="*/ 2147483646 w 727"/>
                  <a:gd name="T5" fmla="*/ 1 h 3"/>
                  <a:gd name="T6" fmla="*/ 2147483646 w 727"/>
                  <a:gd name="T7" fmla="*/ 0 h 3"/>
                  <a:gd name="T8" fmla="*/ 2147483646 w 727"/>
                  <a:gd name="T9" fmla="*/ 1 h 3"/>
                  <a:gd name="T10" fmla="*/ 2147483646 w 727"/>
                  <a:gd name="T11" fmla="*/ 0 h 3"/>
                  <a:gd name="T12" fmla="*/ 2147483646 w 727"/>
                  <a:gd name="T13" fmla="*/ 1 h 3"/>
                  <a:gd name="T14" fmla="*/ 2147483646 w 727"/>
                  <a:gd name="T15" fmla="*/ 1 h 3"/>
                  <a:gd name="T16" fmla="*/ 2147483646 w 727"/>
                  <a:gd name="T17" fmla="*/ 1 h 3"/>
                  <a:gd name="T18" fmla="*/ 2147483646 w 727"/>
                  <a:gd name="T19" fmla="*/ 1 h 3"/>
                  <a:gd name="T20" fmla="*/ 2147483646 w 727"/>
                  <a:gd name="T21" fmla="*/ 0 h 3"/>
                  <a:gd name="T22" fmla="*/ 2147483646 w 727"/>
                  <a:gd name="T23" fmla="*/ 1 h 3"/>
                  <a:gd name="T24" fmla="*/ 2106873386 w 727"/>
                  <a:gd name="T25" fmla="*/ 0 h 3"/>
                  <a:gd name="T26" fmla="*/ 2117224020 w 727"/>
                  <a:gd name="T27" fmla="*/ 1 h 3"/>
                  <a:gd name="T28" fmla="*/ 1982401245 w 727"/>
                  <a:gd name="T29" fmla="*/ 1 h 3"/>
                  <a:gd name="T30" fmla="*/ 1992653517 w 727"/>
                  <a:gd name="T31" fmla="*/ 0 h 3"/>
                  <a:gd name="T32" fmla="*/ 1861232005 w 727"/>
                  <a:gd name="T33" fmla="*/ 1 h 3"/>
                  <a:gd name="T34" fmla="*/ 1861232005 w 727"/>
                  <a:gd name="T35" fmla="*/ 0 h 3"/>
                  <a:gd name="T36" fmla="*/ 1861232005 w 727"/>
                  <a:gd name="T37" fmla="*/ 1 h 3"/>
                  <a:gd name="T38" fmla="*/ 1733227177 w 727"/>
                  <a:gd name="T39" fmla="*/ 1 h 3"/>
                  <a:gd name="T40" fmla="*/ 1744951719 w 727"/>
                  <a:gd name="T41" fmla="*/ 1 h 3"/>
                  <a:gd name="T42" fmla="*/ 1616967153 w 727"/>
                  <a:gd name="T43" fmla="*/ 1 h 3"/>
                  <a:gd name="T44" fmla="*/ 1616967153 w 727"/>
                  <a:gd name="T45" fmla="*/ 0 h 3"/>
                  <a:gd name="T46" fmla="*/ 1616967153 w 727"/>
                  <a:gd name="T47" fmla="*/ 1 h 3"/>
                  <a:gd name="T48" fmla="*/ 1485022426 w 727"/>
                  <a:gd name="T49" fmla="*/ 0 h 3"/>
                  <a:gd name="T50" fmla="*/ 1495755678 w 727"/>
                  <a:gd name="T51" fmla="*/ 1 h 3"/>
                  <a:gd name="T52" fmla="*/ 1364334119 w 727"/>
                  <a:gd name="T53" fmla="*/ 1 h 3"/>
                  <a:gd name="T54" fmla="*/ 1372941461 w 727"/>
                  <a:gd name="T55" fmla="*/ 0 h 3"/>
                  <a:gd name="T56" fmla="*/ 1241551683 w 727"/>
                  <a:gd name="T57" fmla="*/ 1 h 3"/>
                  <a:gd name="T58" fmla="*/ 1241551683 w 727"/>
                  <a:gd name="T59" fmla="*/ 0 h 3"/>
                  <a:gd name="T60" fmla="*/ 1241551683 w 727"/>
                  <a:gd name="T61" fmla="*/ 1 h 3"/>
                  <a:gd name="T62" fmla="*/ 1117090599 w 727"/>
                  <a:gd name="T63" fmla="*/ 1 h 3"/>
                  <a:gd name="T64" fmla="*/ 1124853682 w 727"/>
                  <a:gd name="T65" fmla="*/ 1 h 3"/>
                  <a:gd name="T66" fmla="*/ 1000117541 w 727"/>
                  <a:gd name="T67" fmla="*/ 1 h 3"/>
                  <a:gd name="T68" fmla="*/ 1000117541 w 727"/>
                  <a:gd name="T69" fmla="*/ 0 h 3"/>
                  <a:gd name="T70" fmla="*/ 1000117541 w 727"/>
                  <a:gd name="T71" fmla="*/ 1 h 3"/>
                  <a:gd name="T72" fmla="*/ 865311476 w 727"/>
                  <a:gd name="T73" fmla="*/ 0 h 3"/>
                  <a:gd name="T74" fmla="*/ 876067633 w 727"/>
                  <a:gd name="T75" fmla="*/ 1 h 3"/>
                  <a:gd name="T76" fmla="*/ 744233598 w 727"/>
                  <a:gd name="T77" fmla="*/ 1 h 3"/>
                  <a:gd name="T78" fmla="*/ 754865114 w 727"/>
                  <a:gd name="T79" fmla="*/ 0 h 3"/>
                  <a:gd name="T80" fmla="*/ 627060538 w 727"/>
                  <a:gd name="T81" fmla="*/ 1 h 3"/>
                  <a:gd name="T82" fmla="*/ 627060538 w 727"/>
                  <a:gd name="T83" fmla="*/ 0 h 3"/>
                  <a:gd name="T84" fmla="*/ 627060538 w 727"/>
                  <a:gd name="T85" fmla="*/ 1 h 3"/>
                  <a:gd name="T86" fmla="*/ 495249477 w 727"/>
                  <a:gd name="T87" fmla="*/ 1 h 3"/>
                  <a:gd name="T88" fmla="*/ 512004536 w 727"/>
                  <a:gd name="T89" fmla="*/ 1 h 3"/>
                  <a:gd name="T90" fmla="*/ 380628773 w 727"/>
                  <a:gd name="T91" fmla="*/ 1 h 3"/>
                  <a:gd name="T92" fmla="*/ 380628773 w 727"/>
                  <a:gd name="T93" fmla="*/ 0 h 3"/>
                  <a:gd name="T94" fmla="*/ 380628773 w 727"/>
                  <a:gd name="T95" fmla="*/ 1 h 3"/>
                  <a:gd name="T96" fmla="*/ 248981470 w 727"/>
                  <a:gd name="T97" fmla="*/ 0 h 3"/>
                  <a:gd name="T98" fmla="*/ 255942867 w 727"/>
                  <a:gd name="T99" fmla="*/ 1 h 3"/>
                  <a:gd name="T100" fmla="*/ 124461849 w 727"/>
                  <a:gd name="T101" fmla="*/ 1 h 3"/>
                  <a:gd name="T102" fmla="*/ 135420664 w 727"/>
                  <a:gd name="T103" fmla="*/ 0 h 3"/>
                  <a:gd name="T104" fmla="*/ 6959998 w 727"/>
                  <a:gd name="T105" fmla="*/ 1 h 3"/>
                  <a:gd name="T106" fmla="*/ 6959998 w 727"/>
                  <a:gd name="T107" fmla="*/ 0 h 3"/>
                  <a:gd name="T108" fmla="*/ 6959998 w 727"/>
                  <a:gd name="T109" fmla="*/ 1 h 3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727"/>
                  <a:gd name="T166" fmla="*/ 0 h 3"/>
                  <a:gd name="T167" fmla="*/ 727 w 727"/>
                  <a:gd name="T168" fmla="*/ 3 h 3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727" h="3">
                    <a:moveTo>
                      <a:pt x="726" y="3"/>
                    </a:moveTo>
                    <a:lnTo>
                      <a:pt x="726" y="3"/>
                    </a:lnTo>
                    <a:lnTo>
                      <a:pt x="725" y="3"/>
                    </a:lnTo>
                    <a:lnTo>
                      <a:pt x="725" y="1"/>
                    </a:lnTo>
                    <a:lnTo>
                      <a:pt x="725" y="0"/>
                    </a:lnTo>
                    <a:lnTo>
                      <a:pt x="726" y="0"/>
                    </a:lnTo>
                    <a:lnTo>
                      <a:pt x="727" y="0"/>
                    </a:lnTo>
                    <a:lnTo>
                      <a:pt x="727" y="1"/>
                    </a:lnTo>
                    <a:lnTo>
                      <a:pt x="727" y="3"/>
                    </a:lnTo>
                    <a:lnTo>
                      <a:pt x="726" y="3"/>
                    </a:lnTo>
                    <a:close/>
                    <a:moveTo>
                      <a:pt x="693" y="3"/>
                    </a:moveTo>
                    <a:lnTo>
                      <a:pt x="693" y="3"/>
                    </a:lnTo>
                    <a:lnTo>
                      <a:pt x="692" y="3"/>
                    </a:lnTo>
                    <a:lnTo>
                      <a:pt x="691" y="1"/>
                    </a:lnTo>
                    <a:lnTo>
                      <a:pt x="692" y="0"/>
                    </a:lnTo>
                    <a:lnTo>
                      <a:pt x="693" y="0"/>
                    </a:lnTo>
                    <a:lnTo>
                      <a:pt x="695" y="0"/>
                    </a:lnTo>
                    <a:lnTo>
                      <a:pt x="695" y="1"/>
                    </a:lnTo>
                    <a:lnTo>
                      <a:pt x="695" y="3"/>
                    </a:lnTo>
                    <a:lnTo>
                      <a:pt x="693" y="3"/>
                    </a:lnTo>
                    <a:close/>
                    <a:moveTo>
                      <a:pt x="660" y="3"/>
                    </a:moveTo>
                    <a:lnTo>
                      <a:pt x="660" y="3"/>
                    </a:lnTo>
                    <a:lnTo>
                      <a:pt x="658" y="3"/>
                    </a:lnTo>
                    <a:lnTo>
                      <a:pt x="658" y="1"/>
                    </a:lnTo>
                    <a:lnTo>
                      <a:pt x="658" y="0"/>
                    </a:lnTo>
                    <a:lnTo>
                      <a:pt x="660" y="0"/>
                    </a:lnTo>
                    <a:lnTo>
                      <a:pt x="661" y="0"/>
                    </a:lnTo>
                    <a:lnTo>
                      <a:pt x="662" y="1"/>
                    </a:lnTo>
                    <a:lnTo>
                      <a:pt x="661" y="3"/>
                    </a:lnTo>
                    <a:lnTo>
                      <a:pt x="660" y="3"/>
                    </a:lnTo>
                    <a:close/>
                    <a:moveTo>
                      <a:pt x="627" y="3"/>
                    </a:moveTo>
                    <a:lnTo>
                      <a:pt x="627" y="3"/>
                    </a:lnTo>
                    <a:lnTo>
                      <a:pt x="626" y="3"/>
                    </a:lnTo>
                    <a:lnTo>
                      <a:pt x="626" y="1"/>
                    </a:lnTo>
                    <a:lnTo>
                      <a:pt x="626" y="0"/>
                    </a:lnTo>
                    <a:lnTo>
                      <a:pt x="627" y="0"/>
                    </a:lnTo>
                    <a:lnTo>
                      <a:pt x="629" y="0"/>
                    </a:lnTo>
                    <a:lnTo>
                      <a:pt x="629" y="1"/>
                    </a:lnTo>
                    <a:lnTo>
                      <a:pt x="629" y="3"/>
                    </a:lnTo>
                    <a:lnTo>
                      <a:pt x="627" y="3"/>
                    </a:lnTo>
                    <a:close/>
                    <a:moveTo>
                      <a:pt x="595" y="3"/>
                    </a:moveTo>
                    <a:lnTo>
                      <a:pt x="595" y="3"/>
                    </a:lnTo>
                    <a:lnTo>
                      <a:pt x="594" y="3"/>
                    </a:lnTo>
                    <a:lnTo>
                      <a:pt x="592" y="1"/>
                    </a:lnTo>
                    <a:lnTo>
                      <a:pt x="594" y="0"/>
                    </a:lnTo>
                    <a:lnTo>
                      <a:pt x="595" y="0"/>
                    </a:lnTo>
                    <a:lnTo>
                      <a:pt x="596" y="0"/>
                    </a:lnTo>
                    <a:lnTo>
                      <a:pt x="596" y="1"/>
                    </a:lnTo>
                    <a:lnTo>
                      <a:pt x="596" y="3"/>
                    </a:lnTo>
                    <a:lnTo>
                      <a:pt x="595" y="3"/>
                    </a:lnTo>
                    <a:close/>
                    <a:moveTo>
                      <a:pt x="561" y="3"/>
                    </a:moveTo>
                    <a:lnTo>
                      <a:pt x="561" y="3"/>
                    </a:lnTo>
                    <a:lnTo>
                      <a:pt x="560" y="3"/>
                    </a:lnTo>
                    <a:lnTo>
                      <a:pt x="560" y="1"/>
                    </a:lnTo>
                    <a:lnTo>
                      <a:pt x="560" y="0"/>
                    </a:lnTo>
                    <a:lnTo>
                      <a:pt x="561" y="0"/>
                    </a:lnTo>
                    <a:lnTo>
                      <a:pt x="563" y="0"/>
                    </a:lnTo>
                    <a:lnTo>
                      <a:pt x="564" y="1"/>
                    </a:lnTo>
                    <a:lnTo>
                      <a:pt x="563" y="3"/>
                    </a:lnTo>
                    <a:lnTo>
                      <a:pt x="561" y="3"/>
                    </a:lnTo>
                    <a:close/>
                    <a:moveTo>
                      <a:pt x="529" y="3"/>
                    </a:moveTo>
                    <a:lnTo>
                      <a:pt x="529" y="3"/>
                    </a:lnTo>
                    <a:lnTo>
                      <a:pt x="527" y="3"/>
                    </a:lnTo>
                    <a:lnTo>
                      <a:pt x="526" y="1"/>
                    </a:lnTo>
                    <a:lnTo>
                      <a:pt x="527" y="0"/>
                    </a:lnTo>
                    <a:lnTo>
                      <a:pt x="529" y="0"/>
                    </a:lnTo>
                    <a:lnTo>
                      <a:pt x="530" y="0"/>
                    </a:lnTo>
                    <a:lnTo>
                      <a:pt x="530" y="1"/>
                    </a:lnTo>
                    <a:lnTo>
                      <a:pt x="530" y="3"/>
                    </a:lnTo>
                    <a:lnTo>
                      <a:pt x="529" y="3"/>
                    </a:lnTo>
                    <a:close/>
                    <a:moveTo>
                      <a:pt x="495" y="3"/>
                    </a:moveTo>
                    <a:lnTo>
                      <a:pt x="495" y="3"/>
                    </a:lnTo>
                    <a:lnTo>
                      <a:pt x="494" y="3"/>
                    </a:lnTo>
                    <a:lnTo>
                      <a:pt x="494" y="1"/>
                    </a:lnTo>
                    <a:lnTo>
                      <a:pt x="494" y="0"/>
                    </a:lnTo>
                    <a:lnTo>
                      <a:pt x="495" y="0"/>
                    </a:lnTo>
                    <a:lnTo>
                      <a:pt x="496" y="0"/>
                    </a:lnTo>
                    <a:lnTo>
                      <a:pt x="498" y="1"/>
                    </a:lnTo>
                    <a:lnTo>
                      <a:pt x="496" y="3"/>
                    </a:lnTo>
                    <a:lnTo>
                      <a:pt x="495" y="3"/>
                    </a:lnTo>
                    <a:close/>
                    <a:moveTo>
                      <a:pt x="463" y="3"/>
                    </a:moveTo>
                    <a:lnTo>
                      <a:pt x="463" y="3"/>
                    </a:lnTo>
                    <a:lnTo>
                      <a:pt x="461" y="3"/>
                    </a:lnTo>
                    <a:lnTo>
                      <a:pt x="461" y="1"/>
                    </a:lnTo>
                    <a:lnTo>
                      <a:pt x="461" y="0"/>
                    </a:lnTo>
                    <a:lnTo>
                      <a:pt x="463" y="0"/>
                    </a:lnTo>
                    <a:lnTo>
                      <a:pt x="464" y="0"/>
                    </a:lnTo>
                    <a:lnTo>
                      <a:pt x="464" y="1"/>
                    </a:lnTo>
                    <a:lnTo>
                      <a:pt x="464" y="3"/>
                    </a:lnTo>
                    <a:lnTo>
                      <a:pt x="463" y="3"/>
                    </a:lnTo>
                    <a:close/>
                    <a:moveTo>
                      <a:pt x="430" y="3"/>
                    </a:moveTo>
                    <a:lnTo>
                      <a:pt x="430" y="3"/>
                    </a:lnTo>
                    <a:lnTo>
                      <a:pt x="429" y="3"/>
                    </a:lnTo>
                    <a:lnTo>
                      <a:pt x="428" y="1"/>
                    </a:lnTo>
                    <a:lnTo>
                      <a:pt x="429" y="0"/>
                    </a:lnTo>
                    <a:lnTo>
                      <a:pt x="430" y="0"/>
                    </a:lnTo>
                    <a:lnTo>
                      <a:pt x="432" y="0"/>
                    </a:lnTo>
                    <a:lnTo>
                      <a:pt x="432" y="1"/>
                    </a:lnTo>
                    <a:lnTo>
                      <a:pt x="432" y="3"/>
                    </a:lnTo>
                    <a:lnTo>
                      <a:pt x="430" y="3"/>
                    </a:lnTo>
                    <a:close/>
                    <a:moveTo>
                      <a:pt x="396" y="3"/>
                    </a:moveTo>
                    <a:lnTo>
                      <a:pt x="396" y="3"/>
                    </a:lnTo>
                    <a:lnTo>
                      <a:pt x="395" y="3"/>
                    </a:lnTo>
                    <a:lnTo>
                      <a:pt x="395" y="1"/>
                    </a:lnTo>
                    <a:lnTo>
                      <a:pt x="395" y="0"/>
                    </a:lnTo>
                    <a:lnTo>
                      <a:pt x="396" y="0"/>
                    </a:lnTo>
                    <a:lnTo>
                      <a:pt x="398" y="0"/>
                    </a:lnTo>
                    <a:lnTo>
                      <a:pt x="399" y="1"/>
                    </a:lnTo>
                    <a:lnTo>
                      <a:pt x="398" y="3"/>
                    </a:lnTo>
                    <a:lnTo>
                      <a:pt x="396" y="3"/>
                    </a:lnTo>
                    <a:close/>
                    <a:moveTo>
                      <a:pt x="364" y="3"/>
                    </a:moveTo>
                    <a:lnTo>
                      <a:pt x="364" y="3"/>
                    </a:lnTo>
                    <a:lnTo>
                      <a:pt x="363" y="3"/>
                    </a:lnTo>
                    <a:lnTo>
                      <a:pt x="363" y="1"/>
                    </a:lnTo>
                    <a:lnTo>
                      <a:pt x="363" y="0"/>
                    </a:lnTo>
                    <a:lnTo>
                      <a:pt x="364" y="0"/>
                    </a:lnTo>
                    <a:lnTo>
                      <a:pt x="365" y="0"/>
                    </a:lnTo>
                    <a:lnTo>
                      <a:pt x="365" y="1"/>
                    </a:lnTo>
                    <a:lnTo>
                      <a:pt x="365" y="3"/>
                    </a:lnTo>
                    <a:lnTo>
                      <a:pt x="364" y="3"/>
                    </a:lnTo>
                    <a:close/>
                    <a:moveTo>
                      <a:pt x="330" y="3"/>
                    </a:moveTo>
                    <a:lnTo>
                      <a:pt x="330" y="3"/>
                    </a:lnTo>
                    <a:lnTo>
                      <a:pt x="329" y="1"/>
                    </a:lnTo>
                    <a:lnTo>
                      <a:pt x="330" y="0"/>
                    </a:lnTo>
                    <a:lnTo>
                      <a:pt x="332" y="0"/>
                    </a:lnTo>
                    <a:lnTo>
                      <a:pt x="333" y="1"/>
                    </a:lnTo>
                    <a:lnTo>
                      <a:pt x="332" y="3"/>
                    </a:lnTo>
                    <a:lnTo>
                      <a:pt x="330" y="3"/>
                    </a:lnTo>
                    <a:close/>
                    <a:moveTo>
                      <a:pt x="298" y="3"/>
                    </a:moveTo>
                    <a:lnTo>
                      <a:pt x="298" y="3"/>
                    </a:lnTo>
                    <a:lnTo>
                      <a:pt x="297" y="3"/>
                    </a:lnTo>
                    <a:lnTo>
                      <a:pt x="297" y="1"/>
                    </a:lnTo>
                    <a:lnTo>
                      <a:pt x="297" y="0"/>
                    </a:lnTo>
                    <a:lnTo>
                      <a:pt x="298" y="0"/>
                    </a:lnTo>
                    <a:lnTo>
                      <a:pt x="299" y="0"/>
                    </a:lnTo>
                    <a:lnTo>
                      <a:pt x="299" y="1"/>
                    </a:lnTo>
                    <a:lnTo>
                      <a:pt x="299" y="3"/>
                    </a:lnTo>
                    <a:lnTo>
                      <a:pt x="298" y="3"/>
                    </a:lnTo>
                    <a:close/>
                    <a:moveTo>
                      <a:pt x="266" y="3"/>
                    </a:moveTo>
                    <a:lnTo>
                      <a:pt x="266" y="3"/>
                    </a:lnTo>
                    <a:lnTo>
                      <a:pt x="264" y="3"/>
                    </a:lnTo>
                    <a:lnTo>
                      <a:pt x="263" y="1"/>
                    </a:lnTo>
                    <a:lnTo>
                      <a:pt x="264" y="0"/>
                    </a:lnTo>
                    <a:lnTo>
                      <a:pt x="266" y="0"/>
                    </a:lnTo>
                    <a:lnTo>
                      <a:pt x="267" y="0"/>
                    </a:lnTo>
                    <a:lnTo>
                      <a:pt x="267" y="1"/>
                    </a:lnTo>
                    <a:lnTo>
                      <a:pt x="267" y="3"/>
                    </a:lnTo>
                    <a:lnTo>
                      <a:pt x="266" y="3"/>
                    </a:lnTo>
                    <a:close/>
                    <a:moveTo>
                      <a:pt x="232" y="3"/>
                    </a:moveTo>
                    <a:lnTo>
                      <a:pt x="232" y="3"/>
                    </a:lnTo>
                    <a:lnTo>
                      <a:pt x="230" y="3"/>
                    </a:lnTo>
                    <a:lnTo>
                      <a:pt x="230" y="1"/>
                    </a:lnTo>
                    <a:lnTo>
                      <a:pt x="230" y="0"/>
                    </a:lnTo>
                    <a:lnTo>
                      <a:pt x="232" y="0"/>
                    </a:lnTo>
                    <a:lnTo>
                      <a:pt x="233" y="0"/>
                    </a:lnTo>
                    <a:lnTo>
                      <a:pt x="234" y="1"/>
                    </a:lnTo>
                    <a:lnTo>
                      <a:pt x="233" y="3"/>
                    </a:lnTo>
                    <a:lnTo>
                      <a:pt x="232" y="3"/>
                    </a:lnTo>
                    <a:close/>
                    <a:moveTo>
                      <a:pt x="199" y="3"/>
                    </a:moveTo>
                    <a:lnTo>
                      <a:pt x="199" y="3"/>
                    </a:lnTo>
                    <a:lnTo>
                      <a:pt x="198" y="3"/>
                    </a:lnTo>
                    <a:lnTo>
                      <a:pt x="198" y="1"/>
                    </a:lnTo>
                    <a:lnTo>
                      <a:pt x="198" y="0"/>
                    </a:lnTo>
                    <a:lnTo>
                      <a:pt x="199" y="0"/>
                    </a:lnTo>
                    <a:lnTo>
                      <a:pt x="201" y="0"/>
                    </a:lnTo>
                    <a:lnTo>
                      <a:pt x="201" y="1"/>
                    </a:lnTo>
                    <a:lnTo>
                      <a:pt x="201" y="3"/>
                    </a:lnTo>
                    <a:lnTo>
                      <a:pt x="199" y="3"/>
                    </a:lnTo>
                    <a:close/>
                    <a:moveTo>
                      <a:pt x="167" y="3"/>
                    </a:moveTo>
                    <a:lnTo>
                      <a:pt x="167" y="3"/>
                    </a:lnTo>
                    <a:lnTo>
                      <a:pt x="166" y="3"/>
                    </a:lnTo>
                    <a:lnTo>
                      <a:pt x="164" y="1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1"/>
                    </a:lnTo>
                    <a:lnTo>
                      <a:pt x="167" y="3"/>
                    </a:lnTo>
                    <a:close/>
                    <a:moveTo>
                      <a:pt x="133" y="3"/>
                    </a:moveTo>
                    <a:lnTo>
                      <a:pt x="133" y="3"/>
                    </a:lnTo>
                    <a:lnTo>
                      <a:pt x="132" y="3"/>
                    </a:lnTo>
                    <a:lnTo>
                      <a:pt x="132" y="1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5" y="0"/>
                    </a:lnTo>
                    <a:lnTo>
                      <a:pt x="136" y="1"/>
                    </a:lnTo>
                    <a:lnTo>
                      <a:pt x="135" y="3"/>
                    </a:lnTo>
                    <a:lnTo>
                      <a:pt x="133" y="3"/>
                    </a:lnTo>
                    <a:close/>
                    <a:moveTo>
                      <a:pt x="101" y="3"/>
                    </a:moveTo>
                    <a:lnTo>
                      <a:pt x="101" y="3"/>
                    </a:lnTo>
                    <a:lnTo>
                      <a:pt x="99" y="3"/>
                    </a:lnTo>
                    <a:lnTo>
                      <a:pt x="98" y="1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2" y="0"/>
                    </a:lnTo>
                    <a:lnTo>
                      <a:pt x="102" y="1"/>
                    </a:lnTo>
                    <a:lnTo>
                      <a:pt x="102" y="3"/>
                    </a:lnTo>
                    <a:lnTo>
                      <a:pt x="101" y="3"/>
                    </a:lnTo>
                    <a:close/>
                    <a:moveTo>
                      <a:pt x="67" y="3"/>
                    </a:moveTo>
                    <a:lnTo>
                      <a:pt x="67" y="3"/>
                    </a:lnTo>
                    <a:lnTo>
                      <a:pt x="66" y="3"/>
                    </a:lnTo>
                    <a:lnTo>
                      <a:pt x="66" y="1"/>
                    </a:lnTo>
                    <a:lnTo>
                      <a:pt x="66" y="0"/>
                    </a:lnTo>
                    <a:lnTo>
                      <a:pt x="67" y="0"/>
                    </a:lnTo>
                    <a:lnTo>
                      <a:pt x="68" y="0"/>
                    </a:lnTo>
                    <a:lnTo>
                      <a:pt x="70" y="1"/>
                    </a:lnTo>
                    <a:lnTo>
                      <a:pt x="68" y="3"/>
                    </a:lnTo>
                    <a:lnTo>
                      <a:pt x="67" y="3"/>
                    </a:lnTo>
                    <a:close/>
                    <a:moveTo>
                      <a:pt x="35" y="3"/>
                    </a:moveTo>
                    <a:lnTo>
                      <a:pt x="35" y="3"/>
                    </a:lnTo>
                    <a:lnTo>
                      <a:pt x="33" y="3"/>
                    </a:lnTo>
                    <a:lnTo>
                      <a:pt x="33" y="1"/>
                    </a:lnTo>
                    <a:lnTo>
                      <a:pt x="33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1"/>
                    </a:lnTo>
                    <a:lnTo>
                      <a:pt x="36" y="3"/>
                    </a:lnTo>
                    <a:lnTo>
                      <a:pt x="35" y="3"/>
                    </a:lnTo>
                    <a:close/>
                    <a:moveTo>
                      <a:pt x="2" y="3"/>
                    </a:moveTo>
                    <a:lnTo>
                      <a:pt x="2" y="3"/>
                    </a:lnTo>
                    <a:lnTo>
                      <a:pt x="1" y="3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2" y="3"/>
                    </a:lnTo>
                    <a:close/>
                  </a:path>
                </a:pathLst>
              </a:custGeom>
              <a:solidFill>
                <a:srgbClr val="00000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1" name="未知"/>
              <p:cNvSpPr>
                <a:spLocks/>
              </p:cNvSpPr>
              <p:nvPr/>
            </p:nvSpPr>
            <p:spPr bwMode="auto">
              <a:xfrm>
                <a:off x="1330" y="1265"/>
                <a:ext cx="263" cy="173"/>
              </a:xfrm>
              <a:custGeom>
                <a:avLst/>
                <a:gdLst>
                  <a:gd name="T0" fmla="*/ 553941714 w 127"/>
                  <a:gd name="T1" fmla="*/ 414458478 h 83"/>
                  <a:gd name="T2" fmla="*/ 0 w 127"/>
                  <a:gd name="T3" fmla="*/ 203423326 h 83"/>
                  <a:gd name="T4" fmla="*/ 553941714 w 127"/>
                  <a:gd name="T5" fmla="*/ 0 h 83"/>
                  <a:gd name="T6" fmla="*/ 553941714 w 127"/>
                  <a:gd name="T7" fmla="*/ 414458478 h 8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7"/>
                  <a:gd name="T13" fmla="*/ 0 h 83"/>
                  <a:gd name="T14" fmla="*/ 127 w 127"/>
                  <a:gd name="T15" fmla="*/ 83 h 8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7" h="83">
                    <a:moveTo>
                      <a:pt x="127" y="83"/>
                    </a:moveTo>
                    <a:lnTo>
                      <a:pt x="0" y="41"/>
                    </a:lnTo>
                    <a:lnTo>
                      <a:pt x="127" y="0"/>
                    </a:lnTo>
                    <a:lnTo>
                      <a:pt x="127" y="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2" name="未知"/>
              <p:cNvSpPr>
                <a:spLocks noEditPoints="1"/>
              </p:cNvSpPr>
              <p:nvPr/>
            </p:nvSpPr>
            <p:spPr bwMode="auto">
              <a:xfrm>
                <a:off x="2763" y="1538"/>
                <a:ext cx="435" cy="537"/>
              </a:xfrm>
              <a:custGeom>
                <a:avLst/>
                <a:gdLst>
                  <a:gd name="T0" fmla="*/ 753991469 w 212"/>
                  <a:gd name="T1" fmla="*/ 13399784 h 258"/>
                  <a:gd name="T2" fmla="*/ 750782624 w 212"/>
                  <a:gd name="T3" fmla="*/ 0 h 258"/>
                  <a:gd name="T4" fmla="*/ 761499957 w 212"/>
                  <a:gd name="T5" fmla="*/ 0 h 258"/>
                  <a:gd name="T6" fmla="*/ 761499957 w 212"/>
                  <a:gd name="T7" fmla="*/ 13399784 h 258"/>
                  <a:gd name="T8" fmla="*/ 678882196 w 212"/>
                  <a:gd name="T9" fmla="*/ 135602299 h 258"/>
                  <a:gd name="T10" fmla="*/ 672155454 w 212"/>
                  <a:gd name="T11" fmla="*/ 125187929 h 258"/>
                  <a:gd name="T12" fmla="*/ 682540924 w 212"/>
                  <a:gd name="T13" fmla="*/ 125187929 h 258"/>
                  <a:gd name="T14" fmla="*/ 682540924 w 212"/>
                  <a:gd name="T15" fmla="*/ 135602299 h 258"/>
                  <a:gd name="T16" fmla="*/ 607387755 w 212"/>
                  <a:gd name="T17" fmla="*/ 260565423 h 258"/>
                  <a:gd name="T18" fmla="*/ 600698610 w 212"/>
                  <a:gd name="T19" fmla="*/ 247126189 h 258"/>
                  <a:gd name="T20" fmla="*/ 610553319 w 212"/>
                  <a:gd name="T21" fmla="*/ 247126189 h 258"/>
                  <a:gd name="T22" fmla="*/ 610553319 w 212"/>
                  <a:gd name="T23" fmla="*/ 260565423 h 258"/>
                  <a:gd name="T24" fmla="*/ 531989861 w 212"/>
                  <a:gd name="T25" fmla="*/ 389180426 h 258"/>
                  <a:gd name="T26" fmla="*/ 525546485 w 212"/>
                  <a:gd name="T27" fmla="*/ 372307510 h 258"/>
                  <a:gd name="T28" fmla="*/ 531989861 w 212"/>
                  <a:gd name="T29" fmla="*/ 363382041 h 258"/>
                  <a:gd name="T30" fmla="*/ 539053186 w 212"/>
                  <a:gd name="T31" fmla="*/ 376809091 h 258"/>
                  <a:gd name="T32" fmla="*/ 457215251 w 212"/>
                  <a:gd name="T33" fmla="*/ 510098123 h 258"/>
                  <a:gd name="T34" fmla="*/ 447739991 w 212"/>
                  <a:gd name="T35" fmla="*/ 489100865 h 258"/>
                  <a:gd name="T36" fmla="*/ 460495492 w 212"/>
                  <a:gd name="T37" fmla="*/ 489100865 h 258"/>
                  <a:gd name="T38" fmla="*/ 460495492 w 212"/>
                  <a:gd name="T39" fmla="*/ 503591594 h 258"/>
                  <a:gd name="T40" fmla="*/ 381281643 w 212"/>
                  <a:gd name="T41" fmla="*/ 635244160 h 258"/>
                  <a:gd name="T42" fmla="*/ 376184112 w 212"/>
                  <a:gd name="T43" fmla="*/ 614396162 h 258"/>
                  <a:gd name="T44" fmla="*/ 381281643 w 212"/>
                  <a:gd name="T45" fmla="*/ 614396162 h 258"/>
                  <a:gd name="T46" fmla="*/ 389224739 w 212"/>
                  <a:gd name="T47" fmla="*/ 626796153 h 258"/>
                  <a:gd name="T48" fmla="*/ 304684463 w 212"/>
                  <a:gd name="T49" fmla="*/ 751980981 h 258"/>
                  <a:gd name="T50" fmla="*/ 301030787 w 212"/>
                  <a:gd name="T51" fmla="*/ 736490292 h 258"/>
                  <a:gd name="T52" fmla="*/ 307944346 w 212"/>
                  <a:gd name="T53" fmla="*/ 736490292 h 258"/>
                  <a:gd name="T54" fmla="*/ 307944346 w 212"/>
                  <a:gd name="T55" fmla="*/ 751980981 h 258"/>
                  <a:gd name="T56" fmla="*/ 232791635 w 212"/>
                  <a:gd name="T57" fmla="*/ 878280863 h 258"/>
                  <a:gd name="T58" fmla="*/ 226105488 w 212"/>
                  <a:gd name="T59" fmla="*/ 861535571 h 258"/>
                  <a:gd name="T60" fmla="*/ 235953236 w 212"/>
                  <a:gd name="T61" fmla="*/ 861535571 h 258"/>
                  <a:gd name="T62" fmla="*/ 235953236 w 212"/>
                  <a:gd name="T63" fmla="*/ 878280863 h 258"/>
                  <a:gd name="T64" fmla="*/ 154117867 w 212"/>
                  <a:gd name="T65" fmla="*/ 999120337 h 258"/>
                  <a:gd name="T66" fmla="*/ 150078624 w 212"/>
                  <a:gd name="T67" fmla="*/ 990121443 h 258"/>
                  <a:gd name="T68" fmla="*/ 157967525 w 212"/>
                  <a:gd name="T69" fmla="*/ 990121443 h 258"/>
                  <a:gd name="T70" fmla="*/ 157967525 w 212"/>
                  <a:gd name="T71" fmla="*/ 999120337 h 258"/>
                  <a:gd name="T72" fmla="*/ 81841138 w 212"/>
                  <a:gd name="T73" fmla="*/ 1124361619 h 258"/>
                  <a:gd name="T74" fmla="*/ 75110317 w 212"/>
                  <a:gd name="T75" fmla="*/ 1110944740 h 258"/>
                  <a:gd name="T76" fmla="*/ 86081177 w 212"/>
                  <a:gd name="T77" fmla="*/ 1110944740 h 258"/>
                  <a:gd name="T78" fmla="*/ 86081177 w 212"/>
                  <a:gd name="T79" fmla="*/ 1124361619 h 258"/>
                  <a:gd name="T80" fmla="*/ 3282278 w 212"/>
                  <a:gd name="T81" fmla="*/ 1250619866 h 258"/>
                  <a:gd name="T82" fmla="*/ 0 w 212"/>
                  <a:gd name="T83" fmla="*/ 1236254317 h 258"/>
                  <a:gd name="T84" fmla="*/ 10342689 w 212"/>
                  <a:gd name="T85" fmla="*/ 1236254317 h 258"/>
                  <a:gd name="T86" fmla="*/ 10342689 w 212"/>
                  <a:gd name="T87" fmla="*/ 1240605026 h 25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212"/>
                  <a:gd name="T133" fmla="*/ 0 h 258"/>
                  <a:gd name="T134" fmla="*/ 212 w 212"/>
                  <a:gd name="T135" fmla="*/ 258 h 25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212" h="258">
                    <a:moveTo>
                      <a:pt x="212" y="3"/>
                    </a:moveTo>
                    <a:lnTo>
                      <a:pt x="212" y="3"/>
                    </a:lnTo>
                    <a:lnTo>
                      <a:pt x="210" y="3"/>
                    </a:lnTo>
                    <a:lnTo>
                      <a:pt x="209" y="3"/>
                    </a:lnTo>
                    <a:lnTo>
                      <a:pt x="209" y="1"/>
                    </a:lnTo>
                    <a:lnTo>
                      <a:pt x="209" y="0"/>
                    </a:lnTo>
                    <a:lnTo>
                      <a:pt x="210" y="0"/>
                    </a:lnTo>
                    <a:lnTo>
                      <a:pt x="212" y="0"/>
                    </a:lnTo>
                    <a:lnTo>
                      <a:pt x="212" y="1"/>
                    </a:lnTo>
                    <a:lnTo>
                      <a:pt x="212" y="3"/>
                    </a:lnTo>
                    <a:close/>
                    <a:moveTo>
                      <a:pt x="190" y="28"/>
                    </a:moveTo>
                    <a:lnTo>
                      <a:pt x="190" y="28"/>
                    </a:lnTo>
                    <a:lnTo>
                      <a:pt x="189" y="28"/>
                    </a:lnTo>
                    <a:lnTo>
                      <a:pt x="187" y="27"/>
                    </a:lnTo>
                    <a:lnTo>
                      <a:pt x="187" y="26"/>
                    </a:lnTo>
                    <a:lnTo>
                      <a:pt x="189" y="24"/>
                    </a:lnTo>
                    <a:lnTo>
                      <a:pt x="190" y="26"/>
                    </a:lnTo>
                    <a:lnTo>
                      <a:pt x="192" y="27"/>
                    </a:lnTo>
                    <a:lnTo>
                      <a:pt x="190" y="28"/>
                    </a:lnTo>
                    <a:close/>
                    <a:moveTo>
                      <a:pt x="170" y="54"/>
                    </a:moveTo>
                    <a:lnTo>
                      <a:pt x="170" y="54"/>
                    </a:lnTo>
                    <a:lnTo>
                      <a:pt x="169" y="54"/>
                    </a:lnTo>
                    <a:lnTo>
                      <a:pt x="167" y="54"/>
                    </a:lnTo>
                    <a:lnTo>
                      <a:pt x="167" y="53"/>
                    </a:lnTo>
                    <a:lnTo>
                      <a:pt x="167" y="51"/>
                    </a:lnTo>
                    <a:lnTo>
                      <a:pt x="169" y="50"/>
                    </a:lnTo>
                    <a:lnTo>
                      <a:pt x="170" y="51"/>
                    </a:lnTo>
                    <a:lnTo>
                      <a:pt x="170" y="53"/>
                    </a:lnTo>
                    <a:lnTo>
                      <a:pt x="170" y="54"/>
                    </a:lnTo>
                    <a:close/>
                    <a:moveTo>
                      <a:pt x="150" y="78"/>
                    </a:moveTo>
                    <a:lnTo>
                      <a:pt x="150" y="78"/>
                    </a:lnTo>
                    <a:lnTo>
                      <a:pt x="148" y="80"/>
                    </a:lnTo>
                    <a:lnTo>
                      <a:pt x="147" y="80"/>
                    </a:lnTo>
                    <a:lnTo>
                      <a:pt x="146" y="78"/>
                    </a:lnTo>
                    <a:lnTo>
                      <a:pt x="146" y="77"/>
                    </a:lnTo>
                    <a:lnTo>
                      <a:pt x="147" y="75"/>
                    </a:lnTo>
                    <a:lnTo>
                      <a:pt x="148" y="75"/>
                    </a:lnTo>
                    <a:lnTo>
                      <a:pt x="150" y="77"/>
                    </a:lnTo>
                    <a:lnTo>
                      <a:pt x="150" y="78"/>
                    </a:lnTo>
                    <a:close/>
                    <a:moveTo>
                      <a:pt x="128" y="104"/>
                    </a:moveTo>
                    <a:lnTo>
                      <a:pt x="128" y="104"/>
                    </a:lnTo>
                    <a:lnTo>
                      <a:pt x="127" y="105"/>
                    </a:lnTo>
                    <a:lnTo>
                      <a:pt x="125" y="104"/>
                    </a:lnTo>
                    <a:lnTo>
                      <a:pt x="125" y="102"/>
                    </a:lnTo>
                    <a:lnTo>
                      <a:pt x="125" y="101"/>
                    </a:lnTo>
                    <a:lnTo>
                      <a:pt x="127" y="101"/>
                    </a:lnTo>
                    <a:lnTo>
                      <a:pt x="128" y="101"/>
                    </a:lnTo>
                    <a:lnTo>
                      <a:pt x="128" y="102"/>
                    </a:lnTo>
                    <a:lnTo>
                      <a:pt x="128" y="104"/>
                    </a:lnTo>
                    <a:close/>
                    <a:moveTo>
                      <a:pt x="108" y="129"/>
                    </a:moveTo>
                    <a:lnTo>
                      <a:pt x="108" y="129"/>
                    </a:lnTo>
                    <a:lnTo>
                      <a:pt x="106" y="131"/>
                    </a:lnTo>
                    <a:lnTo>
                      <a:pt x="105" y="129"/>
                    </a:lnTo>
                    <a:lnTo>
                      <a:pt x="104" y="128"/>
                    </a:lnTo>
                    <a:lnTo>
                      <a:pt x="105" y="127"/>
                    </a:lnTo>
                    <a:lnTo>
                      <a:pt x="106" y="127"/>
                    </a:lnTo>
                    <a:lnTo>
                      <a:pt x="108" y="128"/>
                    </a:lnTo>
                    <a:lnTo>
                      <a:pt x="108" y="129"/>
                    </a:lnTo>
                    <a:close/>
                    <a:moveTo>
                      <a:pt x="86" y="155"/>
                    </a:moveTo>
                    <a:lnTo>
                      <a:pt x="86" y="155"/>
                    </a:lnTo>
                    <a:lnTo>
                      <a:pt x="85" y="155"/>
                    </a:lnTo>
                    <a:lnTo>
                      <a:pt x="84" y="155"/>
                    </a:lnTo>
                    <a:lnTo>
                      <a:pt x="84" y="154"/>
                    </a:lnTo>
                    <a:lnTo>
                      <a:pt x="84" y="152"/>
                    </a:lnTo>
                    <a:lnTo>
                      <a:pt x="85" y="152"/>
                    </a:lnTo>
                    <a:lnTo>
                      <a:pt x="86" y="152"/>
                    </a:lnTo>
                    <a:lnTo>
                      <a:pt x="86" y="154"/>
                    </a:lnTo>
                    <a:lnTo>
                      <a:pt x="86" y="155"/>
                    </a:lnTo>
                    <a:close/>
                    <a:moveTo>
                      <a:pt x="66" y="181"/>
                    </a:moveTo>
                    <a:lnTo>
                      <a:pt x="66" y="181"/>
                    </a:lnTo>
                    <a:lnTo>
                      <a:pt x="65" y="181"/>
                    </a:lnTo>
                    <a:lnTo>
                      <a:pt x="63" y="181"/>
                    </a:lnTo>
                    <a:lnTo>
                      <a:pt x="62" y="179"/>
                    </a:lnTo>
                    <a:lnTo>
                      <a:pt x="63" y="178"/>
                    </a:lnTo>
                    <a:lnTo>
                      <a:pt x="65" y="178"/>
                    </a:lnTo>
                    <a:lnTo>
                      <a:pt x="66" y="178"/>
                    </a:lnTo>
                    <a:lnTo>
                      <a:pt x="66" y="179"/>
                    </a:lnTo>
                    <a:lnTo>
                      <a:pt x="66" y="181"/>
                    </a:lnTo>
                    <a:close/>
                    <a:moveTo>
                      <a:pt x="44" y="206"/>
                    </a:moveTo>
                    <a:lnTo>
                      <a:pt x="44" y="206"/>
                    </a:lnTo>
                    <a:lnTo>
                      <a:pt x="43" y="206"/>
                    </a:lnTo>
                    <a:lnTo>
                      <a:pt x="42" y="206"/>
                    </a:lnTo>
                    <a:lnTo>
                      <a:pt x="42" y="205"/>
                    </a:lnTo>
                    <a:lnTo>
                      <a:pt x="42" y="204"/>
                    </a:lnTo>
                    <a:lnTo>
                      <a:pt x="43" y="202"/>
                    </a:lnTo>
                    <a:lnTo>
                      <a:pt x="44" y="204"/>
                    </a:lnTo>
                    <a:lnTo>
                      <a:pt x="46" y="205"/>
                    </a:lnTo>
                    <a:lnTo>
                      <a:pt x="44" y="206"/>
                    </a:lnTo>
                    <a:close/>
                    <a:moveTo>
                      <a:pt x="24" y="232"/>
                    </a:moveTo>
                    <a:lnTo>
                      <a:pt x="24" y="232"/>
                    </a:lnTo>
                    <a:lnTo>
                      <a:pt x="23" y="232"/>
                    </a:lnTo>
                    <a:lnTo>
                      <a:pt x="21" y="232"/>
                    </a:lnTo>
                    <a:lnTo>
                      <a:pt x="20" y="231"/>
                    </a:lnTo>
                    <a:lnTo>
                      <a:pt x="21" y="229"/>
                    </a:lnTo>
                    <a:lnTo>
                      <a:pt x="23" y="228"/>
                    </a:lnTo>
                    <a:lnTo>
                      <a:pt x="24" y="229"/>
                    </a:lnTo>
                    <a:lnTo>
                      <a:pt x="24" y="231"/>
                    </a:lnTo>
                    <a:lnTo>
                      <a:pt x="24" y="232"/>
                    </a:lnTo>
                    <a:close/>
                    <a:moveTo>
                      <a:pt x="3" y="256"/>
                    </a:moveTo>
                    <a:lnTo>
                      <a:pt x="3" y="256"/>
                    </a:lnTo>
                    <a:lnTo>
                      <a:pt x="1" y="258"/>
                    </a:lnTo>
                    <a:lnTo>
                      <a:pt x="0" y="258"/>
                    </a:lnTo>
                    <a:lnTo>
                      <a:pt x="0" y="256"/>
                    </a:lnTo>
                    <a:lnTo>
                      <a:pt x="0" y="255"/>
                    </a:lnTo>
                    <a:lnTo>
                      <a:pt x="1" y="254"/>
                    </a:lnTo>
                    <a:lnTo>
                      <a:pt x="3" y="255"/>
                    </a:lnTo>
                    <a:lnTo>
                      <a:pt x="4" y="255"/>
                    </a:lnTo>
                    <a:lnTo>
                      <a:pt x="3" y="256"/>
                    </a:lnTo>
                    <a:close/>
                  </a:path>
                </a:pathLst>
              </a:custGeom>
              <a:solidFill>
                <a:srgbClr val="000000"/>
              </a:solidFill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3" name="未知"/>
              <p:cNvSpPr>
                <a:spLocks/>
              </p:cNvSpPr>
              <p:nvPr/>
            </p:nvSpPr>
            <p:spPr bwMode="auto">
              <a:xfrm>
                <a:off x="2583" y="2043"/>
                <a:ext cx="230" cy="262"/>
              </a:xfrm>
              <a:custGeom>
                <a:avLst/>
                <a:gdLst>
                  <a:gd name="T0" fmla="*/ 408854017 w 112"/>
                  <a:gd name="T1" fmla="*/ 358325849 h 124"/>
                  <a:gd name="T2" fmla="*/ 0 w 112"/>
                  <a:gd name="T3" fmla="*/ 824759169 h 124"/>
                  <a:gd name="T4" fmla="*/ 172549918 w 112"/>
                  <a:gd name="T5" fmla="*/ 0 h 124"/>
                  <a:gd name="T6" fmla="*/ 408854017 w 112"/>
                  <a:gd name="T7" fmla="*/ 358325849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2"/>
                  <a:gd name="T13" fmla="*/ 0 h 124"/>
                  <a:gd name="T14" fmla="*/ 112 w 112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2" h="124">
                    <a:moveTo>
                      <a:pt x="112" y="54"/>
                    </a:moveTo>
                    <a:lnTo>
                      <a:pt x="0" y="124"/>
                    </a:lnTo>
                    <a:lnTo>
                      <a:pt x="47" y="0"/>
                    </a:lnTo>
                    <a:lnTo>
                      <a:pt x="112" y="5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4" name="Rectangle 26"/>
              <p:cNvSpPr>
                <a:spLocks noChangeArrowheads="1"/>
              </p:cNvSpPr>
              <p:nvPr/>
            </p:nvSpPr>
            <p:spPr bwMode="auto">
              <a:xfrm>
                <a:off x="3008" y="1883"/>
                <a:ext cx="100" cy="2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buFont typeface="Arial" pitchFamily="34" charset="0"/>
                  <a:buNone/>
                </a:pPr>
                <a:r>
                  <a:rPr lang="zh-CN" altLang="en-US" sz="1000" b="1">
                    <a:solidFill>
                      <a:srgbClr val="0000FF"/>
                    </a:solidFill>
                    <a:latin typeface="宋体" pitchFamily="2" charset="-122"/>
                  </a:rPr>
                  <a:t>5</a:t>
                </a:r>
                <a:endParaRPr lang="zh-CN" altLang="en-US" sz="1000" b="1">
                  <a:solidFill>
                    <a:srgbClr val="0000FF"/>
                  </a:solidFill>
                  <a:latin typeface="Times New Roman" pitchFamily="18" charset="0"/>
                  <a:ea typeface="楷体_GB2312" pitchFamily="1" charset="-122"/>
                </a:endParaRPr>
              </a:p>
            </p:txBody>
          </p:sp>
          <p:sp>
            <p:nvSpPr>
              <p:cNvPr id="12325" name="Rectangle 27"/>
              <p:cNvSpPr>
                <a:spLocks noChangeArrowheads="1"/>
              </p:cNvSpPr>
              <p:nvPr/>
            </p:nvSpPr>
            <p:spPr bwMode="auto">
              <a:xfrm>
                <a:off x="1873" y="1368"/>
                <a:ext cx="200" cy="2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buFont typeface="Arial" pitchFamily="34" charset="0"/>
                  <a:buNone/>
                </a:pPr>
                <a:r>
                  <a:rPr lang="zh-CN" altLang="en-US" sz="1000" b="1">
                    <a:solidFill>
                      <a:srgbClr val="0000FF"/>
                    </a:solidFill>
                    <a:latin typeface="宋体" pitchFamily="2" charset="-122"/>
                  </a:rPr>
                  <a:t>30</a:t>
                </a:r>
                <a:endParaRPr lang="zh-CN" altLang="en-US" sz="1000" b="1">
                  <a:solidFill>
                    <a:srgbClr val="0000FF"/>
                  </a:solidFill>
                  <a:latin typeface="Times New Roman" pitchFamily="18" charset="0"/>
                  <a:ea typeface="楷体_GB2312" pitchFamily="1" charset="-122"/>
                </a:endParaRPr>
              </a:p>
            </p:txBody>
          </p:sp>
          <p:sp>
            <p:nvSpPr>
              <p:cNvPr id="12326" name="Rectangle 28"/>
              <p:cNvSpPr>
                <a:spLocks noChangeArrowheads="1"/>
              </p:cNvSpPr>
              <p:nvPr/>
            </p:nvSpPr>
            <p:spPr bwMode="auto">
              <a:xfrm>
                <a:off x="1367" y="3401"/>
                <a:ext cx="1098" cy="4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zh-CN" altLang="en-US" sz="1800" b="1" i="0" dirty="0">
                    <a:solidFill>
                      <a:srgbClr val="080808"/>
                    </a:solidFill>
                    <a:latin typeface="宋体" pitchFamily="2" charset="-122"/>
                  </a:rPr>
                  <a:t>初始化</a:t>
                </a:r>
                <a:endParaRPr lang="en-US" altLang="zh-CN" sz="1800" b="1" i="0" dirty="0">
                  <a:solidFill>
                    <a:srgbClr val="080808"/>
                  </a:solidFill>
                  <a:latin typeface="宋体" pitchFamily="2" charset="-122"/>
                </a:endParaRPr>
              </a:p>
            </p:txBody>
          </p:sp>
        </p:grpSp>
        <p:grpSp>
          <p:nvGrpSpPr>
            <p:cNvPr id="4" name="组合 254"/>
            <p:cNvGrpSpPr>
              <a:grpSpLocks/>
            </p:cNvGrpSpPr>
            <p:nvPr/>
          </p:nvGrpSpPr>
          <p:grpSpPr bwMode="auto">
            <a:xfrm>
              <a:off x="5143504" y="2094850"/>
              <a:ext cx="3000396" cy="2165165"/>
              <a:chOff x="357158" y="142852"/>
              <a:chExt cx="3000396" cy="2165165"/>
            </a:xfrm>
          </p:grpSpPr>
          <p:sp>
            <p:nvSpPr>
              <p:cNvPr id="12296" name="TextBox 207"/>
              <p:cNvSpPr txBox="1">
                <a:spLocks noChangeArrowheads="1"/>
              </p:cNvSpPr>
              <p:nvPr/>
            </p:nvSpPr>
            <p:spPr bwMode="auto">
              <a:xfrm>
                <a:off x="857224" y="1335273"/>
                <a:ext cx="714380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400" dirty="0"/>
                  <a:t>30,A</a:t>
                </a:r>
                <a:endParaRPr lang="zh-CN" altLang="en-US" sz="1400" dirty="0"/>
              </a:p>
            </p:txBody>
          </p:sp>
          <p:sp>
            <p:nvSpPr>
              <p:cNvPr id="12297" name="TextBox 209"/>
              <p:cNvSpPr txBox="1">
                <a:spLocks noChangeArrowheads="1"/>
              </p:cNvSpPr>
              <p:nvPr/>
            </p:nvSpPr>
            <p:spPr bwMode="auto">
              <a:xfrm>
                <a:off x="2143108" y="142852"/>
                <a:ext cx="714380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400"/>
                  <a:t>∞</a:t>
                </a:r>
                <a:endParaRPr lang="zh-CN" altLang="en-US" sz="1400"/>
              </a:p>
            </p:txBody>
          </p:sp>
          <p:sp>
            <p:nvSpPr>
              <p:cNvPr id="12298" name="TextBox 210"/>
              <p:cNvSpPr txBox="1">
                <a:spLocks noChangeArrowheads="1"/>
              </p:cNvSpPr>
              <p:nvPr/>
            </p:nvSpPr>
            <p:spPr bwMode="auto">
              <a:xfrm>
                <a:off x="357158" y="2000240"/>
                <a:ext cx="714380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400"/>
                  <a:t>∞</a:t>
                </a:r>
                <a:endParaRPr lang="zh-CN" altLang="en-US" sz="1400"/>
              </a:p>
            </p:txBody>
          </p:sp>
          <p:sp>
            <p:nvSpPr>
              <p:cNvPr id="12299" name="TextBox 211"/>
              <p:cNvSpPr txBox="1">
                <a:spLocks noChangeArrowheads="1"/>
              </p:cNvSpPr>
              <p:nvPr/>
            </p:nvSpPr>
            <p:spPr bwMode="auto">
              <a:xfrm>
                <a:off x="714348" y="142852"/>
                <a:ext cx="714380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400"/>
                  <a:t>∞</a:t>
                </a:r>
                <a:endParaRPr lang="zh-CN" altLang="en-US" sz="1400"/>
              </a:p>
            </p:txBody>
          </p:sp>
          <p:sp>
            <p:nvSpPr>
              <p:cNvPr id="12300" name="TextBox 212"/>
              <p:cNvSpPr txBox="1">
                <a:spLocks noChangeArrowheads="1"/>
              </p:cNvSpPr>
              <p:nvPr/>
            </p:nvSpPr>
            <p:spPr bwMode="auto">
              <a:xfrm>
                <a:off x="1938318" y="2000240"/>
                <a:ext cx="714380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400" i="0" dirty="0"/>
                  <a:t>5,A</a:t>
                </a:r>
                <a:endParaRPr lang="zh-CN" altLang="en-US" sz="1400" i="0" dirty="0"/>
              </a:p>
            </p:txBody>
          </p:sp>
          <p:sp>
            <p:nvSpPr>
              <p:cNvPr id="12301" name="TextBox 219"/>
              <p:cNvSpPr txBox="1">
                <a:spLocks noChangeArrowheads="1"/>
              </p:cNvSpPr>
              <p:nvPr/>
            </p:nvSpPr>
            <p:spPr bwMode="auto">
              <a:xfrm>
                <a:off x="2643174" y="866756"/>
                <a:ext cx="714380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400">
                    <a:solidFill>
                      <a:srgbClr val="FF0000"/>
                    </a:solidFill>
                  </a:rPr>
                  <a:t>0</a:t>
                </a:r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</p:grpSp>
      </p:grpSp>
      <p:pic>
        <p:nvPicPr>
          <p:cNvPr id="12292" name="Picture 20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25" y="1290439"/>
            <a:ext cx="279082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3" name="Rectangle 134"/>
          <p:cNvSpPr>
            <a:spLocks noChangeArrowheads="1"/>
          </p:cNvSpPr>
          <p:nvPr/>
        </p:nvSpPr>
        <p:spPr bwMode="auto">
          <a:xfrm>
            <a:off x="1790707" y="257175"/>
            <a:ext cx="642463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迪杰斯特拉算法求解过程</a:t>
            </a:r>
          </a:p>
        </p:txBody>
      </p:sp>
      <p:sp>
        <p:nvSpPr>
          <p:cNvPr id="13" name="未知">
            <a:extLst>
              <a:ext uri="{FF2B5EF4-FFF2-40B4-BE49-F238E27FC236}">
                <a16:creationId xmlns:a16="http://schemas.microsoft.com/office/drawing/2014/main" id="{15A31C4E-75E4-D8FF-EE06-0F529E854DCE}"/>
              </a:ext>
            </a:extLst>
          </p:cNvPr>
          <p:cNvSpPr>
            <a:spLocks/>
          </p:cNvSpPr>
          <p:nvPr/>
        </p:nvSpPr>
        <p:spPr bwMode="auto">
          <a:xfrm>
            <a:off x="1257926" y="4310985"/>
            <a:ext cx="280747" cy="301545"/>
          </a:xfrm>
          <a:custGeom>
            <a:avLst/>
            <a:gdLst>
              <a:gd name="T0" fmla="*/ 6409892 w 216"/>
              <a:gd name="T1" fmla="*/ 559741153 h 227"/>
              <a:gd name="T2" fmla="*/ 20128443 w 216"/>
              <a:gd name="T3" fmla="*/ 431963359 h 227"/>
              <a:gd name="T4" fmla="*/ 47893115 w 216"/>
              <a:gd name="T5" fmla="*/ 318314144 h 227"/>
              <a:gd name="T6" fmla="*/ 84284591 w 216"/>
              <a:gd name="T7" fmla="*/ 227932445 h 227"/>
              <a:gd name="T8" fmla="*/ 136216053 w 216"/>
              <a:gd name="T9" fmla="*/ 139722493 h 227"/>
              <a:gd name="T10" fmla="*/ 193570726 w 216"/>
              <a:gd name="T11" fmla="*/ 69278727 h 227"/>
              <a:gd name="T12" fmla="*/ 258421240 w 216"/>
              <a:gd name="T13" fmla="*/ 26073254 h 227"/>
              <a:gd name="T14" fmla="*/ 332884935 w 216"/>
              <a:gd name="T15" fmla="*/ 4849290 h 227"/>
              <a:gd name="T16" fmla="*/ 404053641 w 216"/>
              <a:gd name="T17" fmla="*/ 4849290 h 227"/>
              <a:gd name="T18" fmla="*/ 478508300 w 216"/>
              <a:gd name="T19" fmla="*/ 26073254 h 227"/>
              <a:gd name="T20" fmla="*/ 541737445 w 216"/>
              <a:gd name="T21" fmla="*/ 69278727 h 227"/>
              <a:gd name="T22" fmla="*/ 599974025 w 216"/>
              <a:gd name="T23" fmla="*/ 139722493 h 227"/>
              <a:gd name="T24" fmla="*/ 651021663 w 216"/>
              <a:gd name="T25" fmla="*/ 227932445 h 227"/>
              <a:gd name="T26" fmla="*/ 687412918 w 216"/>
              <a:gd name="T27" fmla="*/ 318314144 h 227"/>
              <a:gd name="T28" fmla="*/ 719059846 w 216"/>
              <a:gd name="T29" fmla="*/ 431963359 h 227"/>
              <a:gd name="T30" fmla="*/ 732218540 w 216"/>
              <a:gd name="T31" fmla="*/ 559741153 h 227"/>
              <a:gd name="T32" fmla="*/ 732218540 w 216"/>
              <a:gd name="T33" fmla="*/ 611789234 h 227"/>
              <a:gd name="T34" fmla="*/ 728896509 w 216"/>
              <a:gd name="T35" fmla="*/ 737559701 h 227"/>
              <a:gd name="T36" fmla="*/ 706123720 w 216"/>
              <a:gd name="T37" fmla="*/ 857787430 h 227"/>
              <a:gd name="T38" fmla="*/ 671344109 w 216"/>
              <a:gd name="T39" fmla="*/ 958434412 h 227"/>
              <a:gd name="T40" fmla="*/ 628521798 w 216"/>
              <a:gd name="T41" fmla="*/ 1052525427 h 227"/>
              <a:gd name="T42" fmla="*/ 573427077 w 216"/>
              <a:gd name="T43" fmla="*/ 1126388021 h 227"/>
              <a:gd name="T44" fmla="*/ 508488705 w 216"/>
              <a:gd name="T45" fmla="*/ 1185978067 h 227"/>
              <a:gd name="T46" fmla="*/ 440554425 w 216"/>
              <a:gd name="T47" fmla="*/ 1214510475 h 227"/>
              <a:gd name="T48" fmla="*/ 366134183 w 216"/>
              <a:gd name="T49" fmla="*/ 1230410188 h 227"/>
              <a:gd name="T50" fmla="*/ 294764631 w 216"/>
              <a:gd name="T51" fmla="*/ 1214510475 h 227"/>
              <a:gd name="T52" fmla="*/ 226817344 w 216"/>
              <a:gd name="T53" fmla="*/ 1185978067 h 227"/>
              <a:gd name="T54" fmla="*/ 162676700 w 216"/>
              <a:gd name="T55" fmla="*/ 1126388021 h 227"/>
              <a:gd name="T56" fmla="*/ 112389251 w 216"/>
              <a:gd name="T57" fmla="*/ 1052525427 h 227"/>
              <a:gd name="T58" fmla="*/ 65023271 w 216"/>
              <a:gd name="T59" fmla="*/ 958434412 h 227"/>
              <a:gd name="T60" fmla="*/ 26840323 w 216"/>
              <a:gd name="T61" fmla="*/ 857787430 h 227"/>
              <a:gd name="T62" fmla="*/ 9836524 w 216"/>
              <a:gd name="T63" fmla="*/ 737559701 h 227"/>
              <a:gd name="T64" fmla="*/ 0 w 216"/>
              <a:gd name="T65" fmla="*/ 611789234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3"/>
                </a:moveTo>
                <a:lnTo>
                  <a:pt x="2" y="103"/>
                </a:lnTo>
                <a:lnTo>
                  <a:pt x="3" y="90"/>
                </a:lnTo>
                <a:lnTo>
                  <a:pt x="6" y="80"/>
                </a:lnTo>
                <a:lnTo>
                  <a:pt x="8" y="69"/>
                </a:lnTo>
                <a:lnTo>
                  <a:pt x="14" y="59"/>
                </a:lnTo>
                <a:lnTo>
                  <a:pt x="19" y="50"/>
                </a:lnTo>
                <a:lnTo>
                  <a:pt x="25" y="42"/>
                </a:lnTo>
                <a:lnTo>
                  <a:pt x="33" y="34"/>
                </a:lnTo>
                <a:lnTo>
                  <a:pt x="40" y="26"/>
                </a:lnTo>
                <a:lnTo>
                  <a:pt x="48" y="19"/>
                </a:lnTo>
                <a:lnTo>
                  <a:pt x="57" y="13"/>
                </a:lnTo>
                <a:lnTo>
                  <a:pt x="67" y="9"/>
                </a:lnTo>
                <a:lnTo>
                  <a:pt x="76" y="5"/>
                </a:lnTo>
                <a:lnTo>
                  <a:pt x="87" y="3"/>
                </a:lnTo>
                <a:lnTo>
                  <a:pt x="98" y="1"/>
                </a:lnTo>
                <a:lnTo>
                  <a:pt x="108" y="0"/>
                </a:lnTo>
                <a:lnTo>
                  <a:pt x="119" y="1"/>
                </a:lnTo>
                <a:lnTo>
                  <a:pt x="130" y="3"/>
                </a:lnTo>
                <a:lnTo>
                  <a:pt x="141" y="5"/>
                </a:lnTo>
                <a:lnTo>
                  <a:pt x="150" y="9"/>
                </a:lnTo>
                <a:lnTo>
                  <a:pt x="160" y="13"/>
                </a:lnTo>
                <a:lnTo>
                  <a:pt x="169" y="19"/>
                </a:lnTo>
                <a:lnTo>
                  <a:pt x="177" y="26"/>
                </a:lnTo>
                <a:lnTo>
                  <a:pt x="185" y="34"/>
                </a:lnTo>
                <a:lnTo>
                  <a:pt x="192" y="42"/>
                </a:lnTo>
                <a:lnTo>
                  <a:pt x="198" y="50"/>
                </a:lnTo>
                <a:lnTo>
                  <a:pt x="203" y="59"/>
                </a:lnTo>
                <a:lnTo>
                  <a:pt x="208" y="69"/>
                </a:lnTo>
                <a:lnTo>
                  <a:pt x="212" y="80"/>
                </a:lnTo>
                <a:lnTo>
                  <a:pt x="215" y="90"/>
                </a:lnTo>
                <a:lnTo>
                  <a:pt x="216" y="103"/>
                </a:lnTo>
                <a:lnTo>
                  <a:pt x="216" y="113"/>
                </a:lnTo>
                <a:lnTo>
                  <a:pt x="216" y="125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3" y="167"/>
                </a:lnTo>
                <a:lnTo>
                  <a:pt x="198" y="177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60" y="213"/>
                </a:lnTo>
                <a:lnTo>
                  <a:pt x="150" y="219"/>
                </a:lnTo>
                <a:lnTo>
                  <a:pt x="141" y="221"/>
                </a:lnTo>
                <a:lnTo>
                  <a:pt x="130" y="224"/>
                </a:lnTo>
                <a:lnTo>
                  <a:pt x="119" y="227"/>
                </a:lnTo>
                <a:lnTo>
                  <a:pt x="108" y="227"/>
                </a:lnTo>
                <a:lnTo>
                  <a:pt x="98" y="227"/>
                </a:lnTo>
                <a:lnTo>
                  <a:pt x="87" y="224"/>
                </a:lnTo>
                <a:lnTo>
                  <a:pt x="76" y="221"/>
                </a:lnTo>
                <a:lnTo>
                  <a:pt x="67" y="219"/>
                </a:lnTo>
                <a:lnTo>
                  <a:pt x="57" y="213"/>
                </a:lnTo>
                <a:lnTo>
                  <a:pt x="48" y="208"/>
                </a:lnTo>
                <a:lnTo>
                  <a:pt x="40" y="201"/>
                </a:lnTo>
                <a:lnTo>
                  <a:pt x="33" y="194"/>
                </a:lnTo>
                <a:lnTo>
                  <a:pt x="25" y="186"/>
                </a:lnTo>
                <a:lnTo>
                  <a:pt x="19" y="177"/>
                </a:lnTo>
                <a:lnTo>
                  <a:pt x="14" y="167"/>
                </a:lnTo>
                <a:lnTo>
                  <a:pt x="8" y="158"/>
                </a:lnTo>
                <a:lnTo>
                  <a:pt x="6" y="147"/>
                </a:lnTo>
                <a:lnTo>
                  <a:pt x="3" y="136"/>
                </a:lnTo>
                <a:lnTo>
                  <a:pt x="2" y="125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未知">
            <a:extLst>
              <a:ext uri="{FF2B5EF4-FFF2-40B4-BE49-F238E27FC236}">
                <a16:creationId xmlns:a16="http://schemas.microsoft.com/office/drawing/2014/main" id="{199CCE37-C0B4-751B-DFDC-E8A0C7B62D24}"/>
              </a:ext>
            </a:extLst>
          </p:cNvPr>
          <p:cNvSpPr>
            <a:spLocks/>
          </p:cNvSpPr>
          <p:nvPr/>
        </p:nvSpPr>
        <p:spPr bwMode="auto">
          <a:xfrm>
            <a:off x="1257926" y="4310985"/>
            <a:ext cx="280747" cy="301545"/>
          </a:xfrm>
          <a:custGeom>
            <a:avLst/>
            <a:gdLst>
              <a:gd name="T0" fmla="*/ 6409892 w 216"/>
              <a:gd name="T1" fmla="*/ 559741153 h 227"/>
              <a:gd name="T2" fmla="*/ 20128443 w 216"/>
              <a:gd name="T3" fmla="*/ 431963359 h 227"/>
              <a:gd name="T4" fmla="*/ 47893115 w 216"/>
              <a:gd name="T5" fmla="*/ 318314144 h 227"/>
              <a:gd name="T6" fmla="*/ 84284591 w 216"/>
              <a:gd name="T7" fmla="*/ 227932445 h 227"/>
              <a:gd name="T8" fmla="*/ 136216053 w 216"/>
              <a:gd name="T9" fmla="*/ 139722493 h 227"/>
              <a:gd name="T10" fmla="*/ 193570726 w 216"/>
              <a:gd name="T11" fmla="*/ 69278727 h 227"/>
              <a:gd name="T12" fmla="*/ 258421240 w 216"/>
              <a:gd name="T13" fmla="*/ 26073254 h 227"/>
              <a:gd name="T14" fmla="*/ 332884935 w 216"/>
              <a:gd name="T15" fmla="*/ 4849290 h 227"/>
              <a:gd name="T16" fmla="*/ 404053641 w 216"/>
              <a:gd name="T17" fmla="*/ 4849290 h 227"/>
              <a:gd name="T18" fmla="*/ 478508300 w 216"/>
              <a:gd name="T19" fmla="*/ 26073254 h 227"/>
              <a:gd name="T20" fmla="*/ 541737445 w 216"/>
              <a:gd name="T21" fmla="*/ 69278727 h 227"/>
              <a:gd name="T22" fmla="*/ 599974025 w 216"/>
              <a:gd name="T23" fmla="*/ 139722493 h 227"/>
              <a:gd name="T24" fmla="*/ 651021663 w 216"/>
              <a:gd name="T25" fmla="*/ 227932445 h 227"/>
              <a:gd name="T26" fmla="*/ 687412918 w 216"/>
              <a:gd name="T27" fmla="*/ 318314144 h 227"/>
              <a:gd name="T28" fmla="*/ 719059846 w 216"/>
              <a:gd name="T29" fmla="*/ 431963359 h 227"/>
              <a:gd name="T30" fmla="*/ 732218540 w 216"/>
              <a:gd name="T31" fmla="*/ 559741153 h 227"/>
              <a:gd name="T32" fmla="*/ 732218540 w 216"/>
              <a:gd name="T33" fmla="*/ 611789234 h 227"/>
              <a:gd name="T34" fmla="*/ 728896509 w 216"/>
              <a:gd name="T35" fmla="*/ 737559701 h 227"/>
              <a:gd name="T36" fmla="*/ 706123720 w 216"/>
              <a:gd name="T37" fmla="*/ 857787430 h 227"/>
              <a:gd name="T38" fmla="*/ 671344109 w 216"/>
              <a:gd name="T39" fmla="*/ 958434412 h 227"/>
              <a:gd name="T40" fmla="*/ 628521798 w 216"/>
              <a:gd name="T41" fmla="*/ 1052525427 h 227"/>
              <a:gd name="T42" fmla="*/ 573427077 w 216"/>
              <a:gd name="T43" fmla="*/ 1126388021 h 227"/>
              <a:gd name="T44" fmla="*/ 508488705 w 216"/>
              <a:gd name="T45" fmla="*/ 1185978067 h 227"/>
              <a:gd name="T46" fmla="*/ 440554425 w 216"/>
              <a:gd name="T47" fmla="*/ 1214510475 h 227"/>
              <a:gd name="T48" fmla="*/ 366134183 w 216"/>
              <a:gd name="T49" fmla="*/ 1230410188 h 227"/>
              <a:gd name="T50" fmla="*/ 294764631 w 216"/>
              <a:gd name="T51" fmla="*/ 1214510475 h 227"/>
              <a:gd name="T52" fmla="*/ 226817344 w 216"/>
              <a:gd name="T53" fmla="*/ 1185978067 h 227"/>
              <a:gd name="T54" fmla="*/ 162676700 w 216"/>
              <a:gd name="T55" fmla="*/ 1126388021 h 227"/>
              <a:gd name="T56" fmla="*/ 112389251 w 216"/>
              <a:gd name="T57" fmla="*/ 1052525427 h 227"/>
              <a:gd name="T58" fmla="*/ 65023271 w 216"/>
              <a:gd name="T59" fmla="*/ 958434412 h 227"/>
              <a:gd name="T60" fmla="*/ 26840323 w 216"/>
              <a:gd name="T61" fmla="*/ 857787430 h 227"/>
              <a:gd name="T62" fmla="*/ 9836524 w 216"/>
              <a:gd name="T63" fmla="*/ 737559701 h 227"/>
              <a:gd name="T64" fmla="*/ 0 w 216"/>
              <a:gd name="T65" fmla="*/ 611789234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3"/>
                </a:moveTo>
                <a:lnTo>
                  <a:pt x="2" y="103"/>
                </a:lnTo>
                <a:lnTo>
                  <a:pt x="3" y="90"/>
                </a:lnTo>
                <a:lnTo>
                  <a:pt x="6" y="80"/>
                </a:lnTo>
                <a:lnTo>
                  <a:pt x="8" y="69"/>
                </a:lnTo>
                <a:lnTo>
                  <a:pt x="14" y="59"/>
                </a:lnTo>
                <a:lnTo>
                  <a:pt x="19" y="50"/>
                </a:lnTo>
                <a:lnTo>
                  <a:pt x="25" y="42"/>
                </a:lnTo>
                <a:lnTo>
                  <a:pt x="33" y="34"/>
                </a:lnTo>
                <a:lnTo>
                  <a:pt x="40" y="26"/>
                </a:lnTo>
                <a:lnTo>
                  <a:pt x="48" y="19"/>
                </a:lnTo>
                <a:lnTo>
                  <a:pt x="57" y="13"/>
                </a:lnTo>
                <a:lnTo>
                  <a:pt x="67" y="9"/>
                </a:lnTo>
                <a:lnTo>
                  <a:pt x="76" y="5"/>
                </a:lnTo>
                <a:lnTo>
                  <a:pt x="87" y="3"/>
                </a:lnTo>
                <a:lnTo>
                  <a:pt x="98" y="1"/>
                </a:lnTo>
                <a:lnTo>
                  <a:pt x="108" y="0"/>
                </a:lnTo>
                <a:lnTo>
                  <a:pt x="119" y="1"/>
                </a:lnTo>
                <a:lnTo>
                  <a:pt x="130" y="3"/>
                </a:lnTo>
                <a:lnTo>
                  <a:pt x="141" y="5"/>
                </a:lnTo>
                <a:lnTo>
                  <a:pt x="150" y="9"/>
                </a:lnTo>
                <a:lnTo>
                  <a:pt x="160" y="13"/>
                </a:lnTo>
                <a:lnTo>
                  <a:pt x="169" y="19"/>
                </a:lnTo>
                <a:lnTo>
                  <a:pt x="177" y="26"/>
                </a:lnTo>
                <a:lnTo>
                  <a:pt x="185" y="34"/>
                </a:lnTo>
                <a:lnTo>
                  <a:pt x="192" y="42"/>
                </a:lnTo>
                <a:lnTo>
                  <a:pt x="198" y="50"/>
                </a:lnTo>
                <a:lnTo>
                  <a:pt x="203" y="59"/>
                </a:lnTo>
                <a:lnTo>
                  <a:pt x="208" y="69"/>
                </a:lnTo>
                <a:lnTo>
                  <a:pt x="212" y="80"/>
                </a:lnTo>
                <a:lnTo>
                  <a:pt x="215" y="90"/>
                </a:lnTo>
                <a:lnTo>
                  <a:pt x="216" y="103"/>
                </a:lnTo>
                <a:lnTo>
                  <a:pt x="216" y="113"/>
                </a:lnTo>
                <a:lnTo>
                  <a:pt x="216" y="125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3" y="167"/>
                </a:lnTo>
                <a:lnTo>
                  <a:pt x="198" y="177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60" y="213"/>
                </a:lnTo>
                <a:lnTo>
                  <a:pt x="150" y="219"/>
                </a:lnTo>
                <a:lnTo>
                  <a:pt x="141" y="221"/>
                </a:lnTo>
                <a:lnTo>
                  <a:pt x="130" y="224"/>
                </a:lnTo>
                <a:lnTo>
                  <a:pt x="119" y="227"/>
                </a:lnTo>
                <a:lnTo>
                  <a:pt x="108" y="227"/>
                </a:lnTo>
                <a:lnTo>
                  <a:pt x="98" y="227"/>
                </a:lnTo>
                <a:lnTo>
                  <a:pt x="87" y="224"/>
                </a:lnTo>
                <a:lnTo>
                  <a:pt x="76" y="221"/>
                </a:lnTo>
                <a:lnTo>
                  <a:pt x="67" y="219"/>
                </a:lnTo>
                <a:lnTo>
                  <a:pt x="57" y="213"/>
                </a:lnTo>
                <a:lnTo>
                  <a:pt x="48" y="208"/>
                </a:lnTo>
                <a:lnTo>
                  <a:pt x="40" y="201"/>
                </a:lnTo>
                <a:lnTo>
                  <a:pt x="33" y="194"/>
                </a:lnTo>
                <a:lnTo>
                  <a:pt x="25" y="186"/>
                </a:lnTo>
                <a:lnTo>
                  <a:pt x="19" y="177"/>
                </a:lnTo>
                <a:lnTo>
                  <a:pt x="14" y="167"/>
                </a:lnTo>
                <a:lnTo>
                  <a:pt x="8" y="158"/>
                </a:lnTo>
                <a:lnTo>
                  <a:pt x="6" y="147"/>
                </a:lnTo>
                <a:lnTo>
                  <a:pt x="3" y="136"/>
                </a:lnTo>
                <a:lnTo>
                  <a:pt x="2" y="125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32">
            <a:extLst>
              <a:ext uri="{FF2B5EF4-FFF2-40B4-BE49-F238E27FC236}">
                <a16:creationId xmlns:a16="http://schemas.microsoft.com/office/drawing/2014/main" id="{0E81A8DB-7796-114B-AB45-79D3E7DCA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378" y="4371294"/>
            <a:ext cx="63517" cy="151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>
                <a:solidFill>
                  <a:srgbClr val="0000FF"/>
                </a:solidFill>
                <a:latin typeface="宋体" pitchFamily="2" charset="-122"/>
              </a:rPr>
              <a:t>E</a:t>
            </a:r>
            <a:endParaRPr lang="en-US" altLang="zh-CN" sz="1000" b="1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6" name="未知">
            <a:extLst>
              <a:ext uri="{FF2B5EF4-FFF2-40B4-BE49-F238E27FC236}">
                <a16:creationId xmlns:a16="http://schemas.microsoft.com/office/drawing/2014/main" id="{1B87B52F-A95F-E63D-F8FC-E825FCCE5350}"/>
              </a:ext>
            </a:extLst>
          </p:cNvPr>
          <p:cNvSpPr>
            <a:spLocks/>
          </p:cNvSpPr>
          <p:nvPr/>
        </p:nvSpPr>
        <p:spPr bwMode="auto">
          <a:xfrm>
            <a:off x="1257926" y="5741260"/>
            <a:ext cx="280747" cy="298371"/>
          </a:xfrm>
          <a:custGeom>
            <a:avLst/>
            <a:gdLst>
              <a:gd name="T0" fmla="*/ 6409892 w 216"/>
              <a:gd name="T1" fmla="*/ 446341159 h 227"/>
              <a:gd name="T2" fmla="*/ 20128443 w 216"/>
              <a:gd name="T3" fmla="*/ 348105442 h 227"/>
              <a:gd name="T4" fmla="*/ 47893115 w 216"/>
              <a:gd name="T5" fmla="*/ 256183409 h 227"/>
              <a:gd name="T6" fmla="*/ 84284591 w 216"/>
              <a:gd name="T7" fmla="*/ 182291127 h 227"/>
              <a:gd name="T8" fmla="*/ 136216053 w 216"/>
              <a:gd name="T9" fmla="*/ 113371133 h 227"/>
              <a:gd name="T10" fmla="*/ 193570726 w 216"/>
              <a:gd name="T11" fmla="*/ 60672045 h 227"/>
              <a:gd name="T12" fmla="*/ 258421240 w 216"/>
              <a:gd name="T13" fmla="*/ 20996372 h 227"/>
              <a:gd name="T14" fmla="*/ 332884935 w 216"/>
              <a:gd name="T15" fmla="*/ 3971138 h 227"/>
              <a:gd name="T16" fmla="*/ 404053641 w 216"/>
              <a:gd name="T17" fmla="*/ 3971138 h 227"/>
              <a:gd name="T18" fmla="*/ 478508300 w 216"/>
              <a:gd name="T19" fmla="*/ 20996372 h 227"/>
              <a:gd name="T20" fmla="*/ 541737445 w 216"/>
              <a:gd name="T21" fmla="*/ 60672045 h 227"/>
              <a:gd name="T22" fmla="*/ 599974025 w 216"/>
              <a:gd name="T23" fmla="*/ 113371133 h 227"/>
              <a:gd name="T24" fmla="*/ 651021663 w 216"/>
              <a:gd name="T25" fmla="*/ 182291127 h 227"/>
              <a:gd name="T26" fmla="*/ 687412918 w 216"/>
              <a:gd name="T27" fmla="*/ 256183409 h 227"/>
              <a:gd name="T28" fmla="*/ 719059846 w 216"/>
              <a:gd name="T29" fmla="*/ 348105442 h 227"/>
              <a:gd name="T30" fmla="*/ 732218540 w 216"/>
              <a:gd name="T31" fmla="*/ 446341159 h 227"/>
              <a:gd name="T32" fmla="*/ 732218540 w 216"/>
              <a:gd name="T33" fmla="*/ 490035276 h 227"/>
              <a:gd name="T34" fmla="*/ 728896509 w 216"/>
              <a:gd name="T35" fmla="*/ 591068594 h 227"/>
              <a:gd name="T36" fmla="*/ 706123720 w 216"/>
              <a:gd name="T37" fmla="*/ 685652195 h 227"/>
              <a:gd name="T38" fmla="*/ 671344109 w 216"/>
              <a:gd name="T39" fmla="*/ 767322354 h 227"/>
              <a:gd name="T40" fmla="*/ 628521798 w 216"/>
              <a:gd name="T41" fmla="*/ 842402251 h 227"/>
              <a:gd name="T42" fmla="*/ 573427077 w 216"/>
              <a:gd name="T43" fmla="*/ 903181730 h 227"/>
              <a:gd name="T44" fmla="*/ 508488705 w 216"/>
              <a:gd name="T45" fmla="*/ 949607487 h 227"/>
              <a:gd name="T46" fmla="*/ 440554425 w 216"/>
              <a:gd name="T47" fmla="*/ 972957092 h 227"/>
              <a:gd name="T48" fmla="*/ 366134183 w 216"/>
              <a:gd name="T49" fmla="*/ 985307325 h 227"/>
              <a:gd name="T50" fmla="*/ 294764631 w 216"/>
              <a:gd name="T51" fmla="*/ 972957092 h 227"/>
              <a:gd name="T52" fmla="*/ 226817344 w 216"/>
              <a:gd name="T53" fmla="*/ 949607487 h 227"/>
              <a:gd name="T54" fmla="*/ 162676700 w 216"/>
              <a:gd name="T55" fmla="*/ 903181730 h 227"/>
              <a:gd name="T56" fmla="*/ 112389251 w 216"/>
              <a:gd name="T57" fmla="*/ 842402251 h 227"/>
              <a:gd name="T58" fmla="*/ 65023271 w 216"/>
              <a:gd name="T59" fmla="*/ 767322354 h 227"/>
              <a:gd name="T60" fmla="*/ 26840323 w 216"/>
              <a:gd name="T61" fmla="*/ 685652195 h 227"/>
              <a:gd name="T62" fmla="*/ 9836524 w 216"/>
              <a:gd name="T63" fmla="*/ 591068594 h 227"/>
              <a:gd name="T64" fmla="*/ 0 w 216"/>
              <a:gd name="T65" fmla="*/ 490035276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3"/>
                </a:moveTo>
                <a:lnTo>
                  <a:pt x="2" y="103"/>
                </a:lnTo>
                <a:lnTo>
                  <a:pt x="3" y="91"/>
                </a:lnTo>
                <a:lnTo>
                  <a:pt x="6" y="80"/>
                </a:lnTo>
                <a:lnTo>
                  <a:pt x="8" y="69"/>
                </a:lnTo>
                <a:lnTo>
                  <a:pt x="14" y="59"/>
                </a:lnTo>
                <a:lnTo>
                  <a:pt x="19" y="50"/>
                </a:lnTo>
                <a:lnTo>
                  <a:pt x="25" y="42"/>
                </a:lnTo>
                <a:lnTo>
                  <a:pt x="33" y="34"/>
                </a:lnTo>
                <a:lnTo>
                  <a:pt x="40" y="26"/>
                </a:lnTo>
                <a:lnTo>
                  <a:pt x="48" y="19"/>
                </a:lnTo>
                <a:lnTo>
                  <a:pt x="57" y="14"/>
                </a:lnTo>
                <a:lnTo>
                  <a:pt x="67" y="10"/>
                </a:lnTo>
                <a:lnTo>
                  <a:pt x="76" y="5"/>
                </a:lnTo>
                <a:lnTo>
                  <a:pt x="87" y="3"/>
                </a:lnTo>
                <a:lnTo>
                  <a:pt x="98" y="1"/>
                </a:lnTo>
                <a:lnTo>
                  <a:pt x="108" y="0"/>
                </a:lnTo>
                <a:lnTo>
                  <a:pt x="119" y="1"/>
                </a:lnTo>
                <a:lnTo>
                  <a:pt x="130" y="3"/>
                </a:lnTo>
                <a:lnTo>
                  <a:pt x="141" y="5"/>
                </a:lnTo>
                <a:lnTo>
                  <a:pt x="150" y="10"/>
                </a:lnTo>
                <a:lnTo>
                  <a:pt x="160" y="14"/>
                </a:lnTo>
                <a:lnTo>
                  <a:pt x="169" y="19"/>
                </a:lnTo>
                <a:lnTo>
                  <a:pt x="177" y="26"/>
                </a:lnTo>
                <a:lnTo>
                  <a:pt x="185" y="34"/>
                </a:lnTo>
                <a:lnTo>
                  <a:pt x="192" y="42"/>
                </a:lnTo>
                <a:lnTo>
                  <a:pt x="198" y="50"/>
                </a:lnTo>
                <a:lnTo>
                  <a:pt x="203" y="59"/>
                </a:lnTo>
                <a:lnTo>
                  <a:pt x="208" y="69"/>
                </a:lnTo>
                <a:lnTo>
                  <a:pt x="212" y="80"/>
                </a:lnTo>
                <a:lnTo>
                  <a:pt x="215" y="91"/>
                </a:lnTo>
                <a:lnTo>
                  <a:pt x="216" y="103"/>
                </a:lnTo>
                <a:lnTo>
                  <a:pt x="216" y="113"/>
                </a:lnTo>
                <a:lnTo>
                  <a:pt x="216" y="126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3" y="167"/>
                </a:lnTo>
                <a:lnTo>
                  <a:pt x="198" y="177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60" y="213"/>
                </a:lnTo>
                <a:lnTo>
                  <a:pt x="150" y="219"/>
                </a:lnTo>
                <a:lnTo>
                  <a:pt x="141" y="221"/>
                </a:lnTo>
                <a:lnTo>
                  <a:pt x="130" y="224"/>
                </a:lnTo>
                <a:lnTo>
                  <a:pt x="119" y="227"/>
                </a:lnTo>
                <a:lnTo>
                  <a:pt x="108" y="227"/>
                </a:lnTo>
                <a:lnTo>
                  <a:pt x="98" y="227"/>
                </a:lnTo>
                <a:lnTo>
                  <a:pt x="87" y="224"/>
                </a:lnTo>
                <a:lnTo>
                  <a:pt x="76" y="221"/>
                </a:lnTo>
                <a:lnTo>
                  <a:pt x="67" y="219"/>
                </a:lnTo>
                <a:lnTo>
                  <a:pt x="57" y="213"/>
                </a:lnTo>
                <a:lnTo>
                  <a:pt x="48" y="208"/>
                </a:lnTo>
                <a:lnTo>
                  <a:pt x="40" y="201"/>
                </a:lnTo>
                <a:lnTo>
                  <a:pt x="33" y="194"/>
                </a:lnTo>
                <a:lnTo>
                  <a:pt x="25" y="186"/>
                </a:lnTo>
                <a:lnTo>
                  <a:pt x="19" y="177"/>
                </a:lnTo>
                <a:lnTo>
                  <a:pt x="14" y="167"/>
                </a:lnTo>
                <a:lnTo>
                  <a:pt x="8" y="158"/>
                </a:lnTo>
                <a:lnTo>
                  <a:pt x="6" y="147"/>
                </a:lnTo>
                <a:lnTo>
                  <a:pt x="3" y="136"/>
                </a:lnTo>
                <a:lnTo>
                  <a:pt x="2" y="126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未知">
            <a:extLst>
              <a:ext uri="{FF2B5EF4-FFF2-40B4-BE49-F238E27FC236}">
                <a16:creationId xmlns:a16="http://schemas.microsoft.com/office/drawing/2014/main" id="{7ADFAB7F-A202-EF77-3B14-3E3159F4B127}"/>
              </a:ext>
            </a:extLst>
          </p:cNvPr>
          <p:cNvSpPr>
            <a:spLocks/>
          </p:cNvSpPr>
          <p:nvPr/>
        </p:nvSpPr>
        <p:spPr bwMode="auto">
          <a:xfrm>
            <a:off x="1257926" y="5741260"/>
            <a:ext cx="280747" cy="298371"/>
          </a:xfrm>
          <a:custGeom>
            <a:avLst/>
            <a:gdLst>
              <a:gd name="T0" fmla="*/ 6409892 w 216"/>
              <a:gd name="T1" fmla="*/ 446341159 h 227"/>
              <a:gd name="T2" fmla="*/ 20128443 w 216"/>
              <a:gd name="T3" fmla="*/ 348105442 h 227"/>
              <a:gd name="T4" fmla="*/ 47893115 w 216"/>
              <a:gd name="T5" fmla="*/ 256183409 h 227"/>
              <a:gd name="T6" fmla="*/ 84284591 w 216"/>
              <a:gd name="T7" fmla="*/ 182291127 h 227"/>
              <a:gd name="T8" fmla="*/ 136216053 w 216"/>
              <a:gd name="T9" fmla="*/ 113371133 h 227"/>
              <a:gd name="T10" fmla="*/ 193570726 w 216"/>
              <a:gd name="T11" fmla="*/ 60672045 h 227"/>
              <a:gd name="T12" fmla="*/ 258421240 w 216"/>
              <a:gd name="T13" fmla="*/ 20996372 h 227"/>
              <a:gd name="T14" fmla="*/ 332884935 w 216"/>
              <a:gd name="T15" fmla="*/ 3971138 h 227"/>
              <a:gd name="T16" fmla="*/ 404053641 w 216"/>
              <a:gd name="T17" fmla="*/ 3971138 h 227"/>
              <a:gd name="T18" fmla="*/ 478508300 w 216"/>
              <a:gd name="T19" fmla="*/ 20996372 h 227"/>
              <a:gd name="T20" fmla="*/ 541737445 w 216"/>
              <a:gd name="T21" fmla="*/ 60672045 h 227"/>
              <a:gd name="T22" fmla="*/ 599974025 w 216"/>
              <a:gd name="T23" fmla="*/ 113371133 h 227"/>
              <a:gd name="T24" fmla="*/ 651021663 w 216"/>
              <a:gd name="T25" fmla="*/ 182291127 h 227"/>
              <a:gd name="T26" fmla="*/ 687412918 w 216"/>
              <a:gd name="T27" fmla="*/ 256183409 h 227"/>
              <a:gd name="T28" fmla="*/ 719059846 w 216"/>
              <a:gd name="T29" fmla="*/ 348105442 h 227"/>
              <a:gd name="T30" fmla="*/ 732218540 w 216"/>
              <a:gd name="T31" fmla="*/ 446341159 h 227"/>
              <a:gd name="T32" fmla="*/ 732218540 w 216"/>
              <a:gd name="T33" fmla="*/ 490035276 h 227"/>
              <a:gd name="T34" fmla="*/ 728896509 w 216"/>
              <a:gd name="T35" fmla="*/ 591068594 h 227"/>
              <a:gd name="T36" fmla="*/ 706123720 w 216"/>
              <a:gd name="T37" fmla="*/ 685652195 h 227"/>
              <a:gd name="T38" fmla="*/ 671344109 w 216"/>
              <a:gd name="T39" fmla="*/ 767322354 h 227"/>
              <a:gd name="T40" fmla="*/ 628521798 w 216"/>
              <a:gd name="T41" fmla="*/ 842402251 h 227"/>
              <a:gd name="T42" fmla="*/ 573427077 w 216"/>
              <a:gd name="T43" fmla="*/ 903181730 h 227"/>
              <a:gd name="T44" fmla="*/ 508488705 w 216"/>
              <a:gd name="T45" fmla="*/ 949607487 h 227"/>
              <a:gd name="T46" fmla="*/ 440554425 w 216"/>
              <a:gd name="T47" fmla="*/ 972957092 h 227"/>
              <a:gd name="T48" fmla="*/ 366134183 w 216"/>
              <a:gd name="T49" fmla="*/ 985307325 h 227"/>
              <a:gd name="T50" fmla="*/ 294764631 w 216"/>
              <a:gd name="T51" fmla="*/ 972957092 h 227"/>
              <a:gd name="T52" fmla="*/ 226817344 w 216"/>
              <a:gd name="T53" fmla="*/ 949607487 h 227"/>
              <a:gd name="T54" fmla="*/ 162676700 w 216"/>
              <a:gd name="T55" fmla="*/ 903181730 h 227"/>
              <a:gd name="T56" fmla="*/ 112389251 w 216"/>
              <a:gd name="T57" fmla="*/ 842402251 h 227"/>
              <a:gd name="T58" fmla="*/ 65023271 w 216"/>
              <a:gd name="T59" fmla="*/ 767322354 h 227"/>
              <a:gd name="T60" fmla="*/ 26840323 w 216"/>
              <a:gd name="T61" fmla="*/ 685652195 h 227"/>
              <a:gd name="T62" fmla="*/ 9836524 w 216"/>
              <a:gd name="T63" fmla="*/ 591068594 h 227"/>
              <a:gd name="T64" fmla="*/ 0 w 216"/>
              <a:gd name="T65" fmla="*/ 490035276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3"/>
                </a:moveTo>
                <a:lnTo>
                  <a:pt x="2" y="103"/>
                </a:lnTo>
                <a:lnTo>
                  <a:pt x="3" y="91"/>
                </a:lnTo>
                <a:lnTo>
                  <a:pt x="6" y="80"/>
                </a:lnTo>
                <a:lnTo>
                  <a:pt x="8" y="69"/>
                </a:lnTo>
                <a:lnTo>
                  <a:pt x="14" y="59"/>
                </a:lnTo>
                <a:lnTo>
                  <a:pt x="19" y="50"/>
                </a:lnTo>
                <a:lnTo>
                  <a:pt x="25" y="42"/>
                </a:lnTo>
                <a:lnTo>
                  <a:pt x="33" y="34"/>
                </a:lnTo>
                <a:lnTo>
                  <a:pt x="40" y="26"/>
                </a:lnTo>
                <a:lnTo>
                  <a:pt x="48" y="19"/>
                </a:lnTo>
                <a:lnTo>
                  <a:pt x="57" y="14"/>
                </a:lnTo>
                <a:lnTo>
                  <a:pt x="67" y="10"/>
                </a:lnTo>
                <a:lnTo>
                  <a:pt x="76" y="5"/>
                </a:lnTo>
                <a:lnTo>
                  <a:pt x="87" y="3"/>
                </a:lnTo>
                <a:lnTo>
                  <a:pt x="98" y="1"/>
                </a:lnTo>
                <a:lnTo>
                  <a:pt x="108" y="0"/>
                </a:lnTo>
                <a:lnTo>
                  <a:pt x="119" y="1"/>
                </a:lnTo>
                <a:lnTo>
                  <a:pt x="130" y="3"/>
                </a:lnTo>
                <a:lnTo>
                  <a:pt x="141" y="5"/>
                </a:lnTo>
                <a:lnTo>
                  <a:pt x="150" y="10"/>
                </a:lnTo>
                <a:lnTo>
                  <a:pt x="160" y="14"/>
                </a:lnTo>
                <a:lnTo>
                  <a:pt x="169" y="19"/>
                </a:lnTo>
                <a:lnTo>
                  <a:pt x="177" y="26"/>
                </a:lnTo>
                <a:lnTo>
                  <a:pt x="185" y="34"/>
                </a:lnTo>
                <a:lnTo>
                  <a:pt x="192" y="42"/>
                </a:lnTo>
                <a:lnTo>
                  <a:pt x="198" y="50"/>
                </a:lnTo>
                <a:lnTo>
                  <a:pt x="203" y="59"/>
                </a:lnTo>
                <a:lnTo>
                  <a:pt x="208" y="69"/>
                </a:lnTo>
                <a:lnTo>
                  <a:pt x="212" y="80"/>
                </a:lnTo>
                <a:lnTo>
                  <a:pt x="215" y="91"/>
                </a:lnTo>
                <a:lnTo>
                  <a:pt x="216" y="103"/>
                </a:lnTo>
                <a:lnTo>
                  <a:pt x="216" y="113"/>
                </a:lnTo>
                <a:lnTo>
                  <a:pt x="216" y="126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3" y="167"/>
                </a:lnTo>
                <a:lnTo>
                  <a:pt x="198" y="177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60" y="213"/>
                </a:lnTo>
                <a:lnTo>
                  <a:pt x="150" y="219"/>
                </a:lnTo>
                <a:lnTo>
                  <a:pt x="141" y="221"/>
                </a:lnTo>
                <a:lnTo>
                  <a:pt x="130" y="224"/>
                </a:lnTo>
                <a:lnTo>
                  <a:pt x="119" y="227"/>
                </a:lnTo>
                <a:lnTo>
                  <a:pt x="108" y="227"/>
                </a:lnTo>
                <a:lnTo>
                  <a:pt x="98" y="227"/>
                </a:lnTo>
                <a:lnTo>
                  <a:pt x="87" y="224"/>
                </a:lnTo>
                <a:lnTo>
                  <a:pt x="76" y="221"/>
                </a:lnTo>
                <a:lnTo>
                  <a:pt x="67" y="219"/>
                </a:lnTo>
                <a:lnTo>
                  <a:pt x="57" y="213"/>
                </a:lnTo>
                <a:lnTo>
                  <a:pt x="48" y="208"/>
                </a:lnTo>
                <a:lnTo>
                  <a:pt x="40" y="201"/>
                </a:lnTo>
                <a:lnTo>
                  <a:pt x="33" y="194"/>
                </a:lnTo>
                <a:lnTo>
                  <a:pt x="25" y="186"/>
                </a:lnTo>
                <a:lnTo>
                  <a:pt x="19" y="177"/>
                </a:lnTo>
                <a:lnTo>
                  <a:pt x="14" y="167"/>
                </a:lnTo>
                <a:lnTo>
                  <a:pt x="8" y="158"/>
                </a:lnTo>
                <a:lnTo>
                  <a:pt x="6" y="147"/>
                </a:lnTo>
                <a:lnTo>
                  <a:pt x="3" y="136"/>
                </a:lnTo>
                <a:lnTo>
                  <a:pt x="2" y="126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 35">
            <a:extLst>
              <a:ext uri="{FF2B5EF4-FFF2-40B4-BE49-F238E27FC236}">
                <a16:creationId xmlns:a16="http://schemas.microsoft.com/office/drawing/2014/main" id="{576617E2-22C4-B2DD-00A4-8BA2BD534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378" y="5799664"/>
            <a:ext cx="63517" cy="152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 dirty="0">
                <a:solidFill>
                  <a:srgbClr val="0000FF"/>
                </a:solidFill>
                <a:latin typeface="宋体" pitchFamily="2" charset="-122"/>
              </a:rPr>
              <a:t>F</a:t>
            </a:r>
            <a:endParaRPr lang="en-US" altLang="zh-CN" sz="1000" b="1" dirty="0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20" name="未知">
            <a:extLst>
              <a:ext uri="{FF2B5EF4-FFF2-40B4-BE49-F238E27FC236}">
                <a16:creationId xmlns:a16="http://schemas.microsoft.com/office/drawing/2014/main" id="{543E7B05-4423-DD05-DBB4-03AF064131C1}"/>
              </a:ext>
            </a:extLst>
          </p:cNvPr>
          <p:cNvSpPr>
            <a:spLocks/>
          </p:cNvSpPr>
          <p:nvPr/>
        </p:nvSpPr>
        <p:spPr bwMode="auto">
          <a:xfrm>
            <a:off x="1820055" y="5020726"/>
            <a:ext cx="282653" cy="298371"/>
          </a:xfrm>
          <a:custGeom>
            <a:avLst/>
            <a:gdLst>
              <a:gd name="T0" fmla="*/ 7145711 w 216"/>
              <a:gd name="T1" fmla="*/ 485501602 h 226"/>
              <a:gd name="T2" fmla="*/ 23150365 w 216"/>
              <a:gd name="T3" fmla="*/ 375205301 h 226"/>
              <a:gd name="T4" fmla="*/ 55303794 w 216"/>
              <a:gd name="T5" fmla="*/ 281541765 h 226"/>
              <a:gd name="T6" fmla="*/ 98258553 w 216"/>
              <a:gd name="T7" fmla="*/ 194790464 h 226"/>
              <a:gd name="T8" fmla="*/ 155549321 w 216"/>
              <a:gd name="T9" fmla="*/ 119076492 h 226"/>
              <a:gd name="T10" fmla="*/ 222226935 w 216"/>
              <a:gd name="T11" fmla="*/ 61343543 h 226"/>
              <a:gd name="T12" fmla="*/ 297217334 w 216"/>
              <a:gd name="T13" fmla="*/ 23385031 h 226"/>
              <a:gd name="T14" fmla="*/ 383142429 w 216"/>
              <a:gd name="T15" fmla="*/ 4298969 h 226"/>
              <a:gd name="T16" fmla="*/ 464985030 w 216"/>
              <a:gd name="T17" fmla="*/ 4298969 h 226"/>
              <a:gd name="T18" fmla="*/ 549850097 w 216"/>
              <a:gd name="T19" fmla="*/ 23385031 h 226"/>
              <a:gd name="T20" fmla="*/ 626217459 w 216"/>
              <a:gd name="T21" fmla="*/ 61343543 h 226"/>
              <a:gd name="T22" fmla="*/ 692368182 w 216"/>
              <a:gd name="T23" fmla="*/ 119076492 h 226"/>
              <a:gd name="T24" fmla="*/ 751322256 w 216"/>
              <a:gd name="T25" fmla="*/ 194790464 h 226"/>
              <a:gd name="T26" fmla="*/ 793045339 w 216"/>
              <a:gd name="T27" fmla="*/ 281541765 h 226"/>
              <a:gd name="T28" fmla="*/ 828864612 w 216"/>
              <a:gd name="T29" fmla="*/ 375205301 h 226"/>
              <a:gd name="T30" fmla="*/ 844450245 w 216"/>
              <a:gd name="T31" fmla="*/ 485501602 h 226"/>
              <a:gd name="T32" fmla="*/ 844450245 w 216"/>
              <a:gd name="T33" fmla="*/ 538347344 h 226"/>
              <a:gd name="T34" fmla="*/ 840726767 w 216"/>
              <a:gd name="T35" fmla="*/ 648670450 h 226"/>
              <a:gd name="T36" fmla="*/ 814086300 w 216"/>
              <a:gd name="T37" fmla="*/ 752872443 h 226"/>
              <a:gd name="T38" fmla="*/ 774630431 w 216"/>
              <a:gd name="T39" fmla="*/ 838030353 h 226"/>
              <a:gd name="T40" fmla="*/ 722693214 w 216"/>
              <a:gd name="T41" fmla="*/ 922864214 h 226"/>
              <a:gd name="T42" fmla="*/ 660207783 w 216"/>
              <a:gd name="T43" fmla="*/ 991076223 h 226"/>
              <a:gd name="T44" fmla="*/ 586522487 w 216"/>
              <a:gd name="T45" fmla="*/ 1037090728 h 226"/>
              <a:gd name="T46" fmla="*/ 508124400 w 216"/>
              <a:gd name="T47" fmla="*/ 1066707152 h 226"/>
              <a:gd name="T48" fmla="*/ 422873988 w 216"/>
              <a:gd name="T49" fmla="*/ 1075907407 h 226"/>
              <a:gd name="T50" fmla="*/ 339748674 w 216"/>
              <a:gd name="T51" fmla="*/ 1066707152 h 226"/>
              <a:gd name="T52" fmla="*/ 261484025 w 216"/>
              <a:gd name="T53" fmla="*/ 1037090728 h 226"/>
              <a:gd name="T54" fmla="*/ 187663513 w 216"/>
              <a:gd name="T55" fmla="*/ 991076223 h 226"/>
              <a:gd name="T56" fmla="*/ 128727247 w 216"/>
              <a:gd name="T57" fmla="*/ 922864214 h 226"/>
              <a:gd name="T58" fmla="*/ 73721376 w 216"/>
              <a:gd name="T59" fmla="*/ 838030353 h 226"/>
              <a:gd name="T60" fmla="*/ 35783859 w 216"/>
              <a:gd name="T61" fmla="*/ 752872443 h 226"/>
              <a:gd name="T62" fmla="*/ 11237031 w 216"/>
              <a:gd name="T63" fmla="*/ 648670450 h 226"/>
              <a:gd name="T64" fmla="*/ 0 w 216"/>
              <a:gd name="T65" fmla="*/ 538347344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2" y="102"/>
                </a:lnTo>
                <a:lnTo>
                  <a:pt x="3" y="90"/>
                </a:lnTo>
                <a:lnTo>
                  <a:pt x="6" y="79"/>
                </a:lnTo>
                <a:lnTo>
                  <a:pt x="9" y="68"/>
                </a:lnTo>
                <a:lnTo>
                  <a:pt x="14" y="59"/>
                </a:lnTo>
                <a:lnTo>
                  <a:pt x="19" y="50"/>
                </a:lnTo>
                <a:lnTo>
                  <a:pt x="25" y="41"/>
                </a:lnTo>
                <a:lnTo>
                  <a:pt x="33" y="33"/>
                </a:lnTo>
                <a:lnTo>
                  <a:pt x="40" y="25"/>
                </a:lnTo>
                <a:lnTo>
                  <a:pt x="48" y="18"/>
                </a:lnTo>
                <a:lnTo>
                  <a:pt x="57" y="13"/>
                </a:lnTo>
                <a:lnTo>
                  <a:pt x="67" y="9"/>
                </a:lnTo>
                <a:lnTo>
                  <a:pt x="76" y="5"/>
                </a:lnTo>
                <a:lnTo>
                  <a:pt x="87" y="2"/>
                </a:lnTo>
                <a:lnTo>
                  <a:pt x="98" y="1"/>
                </a:lnTo>
                <a:lnTo>
                  <a:pt x="108" y="0"/>
                </a:lnTo>
                <a:lnTo>
                  <a:pt x="119" y="1"/>
                </a:lnTo>
                <a:lnTo>
                  <a:pt x="130" y="2"/>
                </a:lnTo>
                <a:lnTo>
                  <a:pt x="141" y="5"/>
                </a:lnTo>
                <a:lnTo>
                  <a:pt x="150" y="9"/>
                </a:lnTo>
                <a:lnTo>
                  <a:pt x="160" y="13"/>
                </a:lnTo>
                <a:lnTo>
                  <a:pt x="169" y="18"/>
                </a:lnTo>
                <a:lnTo>
                  <a:pt x="177" y="25"/>
                </a:lnTo>
                <a:lnTo>
                  <a:pt x="185" y="33"/>
                </a:lnTo>
                <a:lnTo>
                  <a:pt x="192" y="41"/>
                </a:lnTo>
                <a:lnTo>
                  <a:pt x="198" y="50"/>
                </a:lnTo>
                <a:lnTo>
                  <a:pt x="203" y="59"/>
                </a:lnTo>
                <a:lnTo>
                  <a:pt x="208" y="68"/>
                </a:lnTo>
                <a:lnTo>
                  <a:pt x="212" y="79"/>
                </a:lnTo>
                <a:lnTo>
                  <a:pt x="215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3" y="167"/>
                </a:lnTo>
                <a:lnTo>
                  <a:pt x="198" y="176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60" y="213"/>
                </a:lnTo>
                <a:lnTo>
                  <a:pt x="150" y="218"/>
                </a:lnTo>
                <a:lnTo>
                  <a:pt x="141" y="221"/>
                </a:lnTo>
                <a:lnTo>
                  <a:pt x="130" y="224"/>
                </a:lnTo>
                <a:lnTo>
                  <a:pt x="119" y="226"/>
                </a:lnTo>
                <a:lnTo>
                  <a:pt x="108" y="226"/>
                </a:lnTo>
                <a:lnTo>
                  <a:pt x="98" y="226"/>
                </a:lnTo>
                <a:lnTo>
                  <a:pt x="87" y="224"/>
                </a:lnTo>
                <a:lnTo>
                  <a:pt x="76" y="221"/>
                </a:lnTo>
                <a:lnTo>
                  <a:pt x="67" y="218"/>
                </a:lnTo>
                <a:lnTo>
                  <a:pt x="57" y="213"/>
                </a:lnTo>
                <a:lnTo>
                  <a:pt x="48" y="208"/>
                </a:lnTo>
                <a:lnTo>
                  <a:pt x="40" y="201"/>
                </a:lnTo>
                <a:lnTo>
                  <a:pt x="33" y="194"/>
                </a:lnTo>
                <a:lnTo>
                  <a:pt x="25" y="186"/>
                </a:lnTo>
                <a:lnTo>
                  <a:pt x="19" y="176"/>
                </a:lnTo>
                <a:lnTo>
                  <a:pt x="14" y="167"/>
                </a:lnTo>
                <a:lnTo>
                  <a:pt x="9" y="158"/>
                </a:lnTo>
                <a:lnTo>
                  <a:pt x="6" y="147"/>
                </a:lnTo>
                <a:lnTo>
                  <a:pt x="3" y="136"/>
                </a:lnTo>
                <a:lnTo>
                  <a:pt x="2" y="125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38">
            <a:extLst>
              <a:ext uri="{FF2B5EF4-FFF2-40B4-BE49-F238E27FC236}">
                <a16:creationId xmlns:a16="http://schemas.microsoft.com/office/drawing/2014/main" id="{66438CD1-AE4F-AE4C-F638-79CA02A80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778" y="5081035"/>
            <a:ext cx="63517" cy="152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>
                <a:solidFill>
                  <a:srgbClr val="0000FF"/>
                </a:solidFill>
                <a:latin typeface="宋体" pitchFamily="2" charset="-122"/>
              </a:rPr>
              <a:t>D</a:t>
            </a:r>
            <a:endParaRPr lang="en-US" altLang="zh-CN" sz="1000" b="1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22" name="未知">
            <a:extLst>
              <a:ext uri="{FF2B5EF4-FFF2-40B4-BE49-F238E27FC236}">
                <a16:creationId xmlns:a16="http://schemas.microsoft.com/office/drawing/2014/main" id="{65ADFE33-A223-7C93-3C6A-DD8E311EC346}"/>
              </a:ext>
            </a:extLst>
          </p:cNvPr>
          <p:cNvSpPr>
            <a:spLocks/>
          </p:cNvSpPr>
          <p:nvPr/>
        </p:nvSpPr>
        <p:spPr bwMode="auto">
          <a:xfrm>
            <a:off x="2664837" y="4310985"/>
            <a:ext cx="280747" cy="301545"/>
          </a:xfrm>
          <a:custGeom>
            <a:avLst/>
            <a:gdLst>
              <a:gd name="T0" fmla="*/ 5858600 w 217"/>
              <a:gd name="T1" fmla="*/ 559741153 h 227"/>
              <a:gd name="T2" fmla="*/ 17922139 w 217"/>
              <a:gd name="T3" fmla="*/ 431963359 h 227"/>
              <a:gd name="T4" fmla="*/ 43607429 w 217"/>
              <a:gd name="T5" fmla="*/ 318314144 h 227"/>
              <a:gd name="T6" fmla="*/ 77229784 w 217"/>
              <a:gd name="T7" fmla="*/ 227932445 h 227"/>
              <a:gd name="T8" fmla="*/ 122271747 w 217"/>
              <a:gd name="T9" fmla="*/ 139722493 h 227"/>
              <a:gd name="T10" fmla="*/ 175228399 w 217"/>
              <a:gd name="T11" fmla="*/ 69278727 h 227"/>
              <a:gd name="T12" fmla="*/ 234584880 w 217"/>
              <a:gd name="T13" fmla="*/ 26073254 h 227"/>
              <a:gd name="T14" fmla="*/ 301967446 w 217"/>
              <a:gd name="T15" fmla="*/ 4849290 h 227"/>
              <a:gd name="T16" fmla="*/ 365632686 w 217"/>
              <a:gd name="T17" fmla="*/ 4849290 h 227"/>
              <a:gd name="T18" fmla="*/ 434136673 w 217"/>
              <a:gd name="T19" fmla="*/ 26073254 h 227"/>
              <a:gd name="T20" fmla="*/ 492454229 w 217"/>
              <a:gd name="T21" fmla="*/ 69278727 h 227"/>
              <a:gd name="T22" fmla="*/ 545120329 w 217"/>
              <a:gd name="T23" fmla="*/ 139722493 h 227"/>
              <a:gd name="T24" fmla="*/ 590415685 w 217"/>
              <a:gd name="T25" fmla="*/ 227932445 h 227"/>
              <a:gd name="T26" fmla="*/ 623865094 w 217"/>
              <a:gd name="T27" fmla="*/ 318314144 h 227"/>
              <a:gd name="T28" fmla="*/ 652637793 w 217"/>
              <a:gd name="T29" fmla="*/ 431963359 h 227"/>
              <a:gd name="T30" fmla="*/ 667640835 w 217"/>
              <a:gd name="T31" fmla="*/ 559741153 h 227"/>
              <a:gd name="T32" fmla="*/ 667640835 w 217"/>
              <a:gd name="T33" fmla="*/ 611789234 h 227"/>
              <a:gd name="T34" fmla="*/ 661693287 w 217"/>
              <a:gd name="T35" fmla="*/ 737559701 h 227"/>
              <a:gd name="T36" fmla="*/ 640965693 w 217"/>
              <a:gd name="T37" fmla="*/ 857787430 h 227"/>
              <a:gd name="T38" fmla="*/ 609035589 w 217"/>
              <a:gd name="T39" fmla="*/ 958434412 h 227"/>
              <a:gd name="T40" fmla="*/ 569593784 w 217"/>
              <a:gd name="T41" fmla="*/ 1052525427 h 227"/>
              <a:gd name="T42" fmla="*/ 520085125 w 217"/>
              <a:gd name="T43" fmla="*/ 1126388021 h 227"/>
              <a:gd name="T44" fmla="*/ 462151609 w 217"/>
              <a:gd name="T45" fmla="*/ 1185978067 h 227"/>
              <a:gd name="T46" fmla="*/ 400709442 w 217"/>
              <a:gd name="T47" fmla="*/ 1214510475 h 227"/>
              <a:gd name="T48" fmla="*/ 332633172 w 217"/>
              <a:gd name="T49" fmla="*/ 1230410188 h 227"/>
              <a:gd name="T50" fmla="*/ 267626949 w 217"/>
              <a:gd name="T51" fmla="*/ 1214510475 h 227"/>
              <a:gd name="T52" fmla="*/ 205402873 w 217"/>
              <a:gd name="T53" fmla="*/ 1185978067 h 227"/>
              <a:gd name="T54" fmla="*/ 148250986 w 217"/>
              <a:gd name="T55" fmla="*/ 1126388021 h 227"/>
              <a:gd name="T56" fmla="*/ 100842587 w 217"/>
              <a:gd name="T57" fmla="*/ 1052525427 h 227"/>
              <a:gd name="T58" fmla="*/ 58648096 w 217"/>
              <a:gd name="T59" fmla="*/ 958434412 h 227"/>
              <a:gd name="T60" fmla="*/ 27400380 w 217"/>
              <a:gd name="T61" fmla="*/ 857787430 h 227"/>
              <a:gd name="T62" fmla="*/ 8798878 w 217"/>
              <a:gd name="T63" fmla="*/ 737559701 h 227"/>
              <a:gd name="T64" fmla="*/ 0 w 217"/>
              <a:gd name="T65" fmla="*/ 611789234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7"/>
              <a:gd name="T100" fmla="*/ 0 h 227"/>
              <a:gd name="T101" fmla="*/ 217 w 217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7" h="227">
                <a:moveTo>
                  <a:pt x="0" y="113"/>
                </a:moveTo>
                <a:lnTo>
                  <a:pt x="2" y="103"/>
                </a:lnTo>
                <a:lnTo>
                  <a:pt x="3" y="90"/>
                </a:lnTo>
                <a:lnTo>
                  <a:pt x="6" y="80"/>
                </a:lnTo>
                <a:lnTo>
                  <a:pt x="9" y="69"/>
                </a:lnTo>
                <a:lnTo>
                  <a:pt x="14" y="59"/>
                </a:lnTo>
                <a:lnTo>
                  <a:pt x="19" y="50"/>
                </a:lnTo>
                <a:lnTo>
                  <a:pt x="25" y="42"/>
                </a:lnTo>
                <a:lnTo>
                  <a:pt x="33" y="34"/>
                </a:lnTo>
                <a:lnTo>
                  <a:pt x="40" y="26"/>
                </a:lnTo>
                <a:lnTo>
                  <a:pt x="48" y="19"/>
                </a:lnTo>
                <a:lnTo>
                  <a:pt x="57" y="13"/>
                </a:lnTo>
                <a:lnTo>
                  <a:pt x="67" y="9"/>
                </a:lnTo>
                <a:lnTo>
                  <a:pt x="76" y="5"/>
                </a:lnTo>
                <a:lnTo>
                  <a:pt x="87" y="3"/>
                </a:lnTo>
                <a:lnTo>
                  <a:pt x="98" y="1"/>
                </a:lnTo>
                <a:lnTo>
                  <a:pt x="108" y="0"/>
                </a:lnTo>
                <a:lnTo>
                  <a:pt x="119" y="1"/>
                </a:lnTo>
                <a:lnTo>
                  <a:pt x="130" y="3"/>
                </a:lnTo>
                <a:lnTo>
                  <a:pt x="141" y="5"/>
                </a:lnTo>
                <a:lnTo>
                  <a:pt x="150" y="9"/>
                </a:lnTo>
                <a:lnTo>
                  <a:pt x="160" y="13"/>
                </a:lnTo>
                <a:lnTo>
                  <a:pt x="169" y="19"/>
                </a:lnTo>
                <a:lnTo>
                  <a:pt x="177" y="26"/>
                </a:lnTo>
                <a:lnTo>
                  <a:pt x="185" y="34"/>
                </a:lnTo>
                <a:lnTo>
                  <a:pt x="192" y="42"/>
                </a:lnTo>
                <a:lnTo>
                  <a:pt x="198" y="50"/>
                </a:lnTo>
                <a:lnTo>
                  <a:pt x="203" y="59"/>
                </a:lnTo>
                <a:lnTo>
                  <a:pt x="208" y="69"/>
                </a:lnTo>
                <a:lnTo>
                  <a:pt x="212" y="80"/>
                </a:lnTo>
                <a:lnTo>
                  <a:pt x="215" y="90"/>
                </a:lnTo>
                <a:lnTo>
                  <a:pt x="217" y="103"/>
                </a:lnTo>
                <a:lnTo>
                  <a:pt x="217" y="113"/>
                </a:lnTo>
                <a:lnTo>
                  <a:pt x="217" y="125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3" y="167"/>
                </a:lnTo>
                <a:lnTo>
                  <a:pt x="198" y="177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60" y="213"/>
                </a:lnTo>
                <a:lnTo>
                  <a:pt x="150" y="219"/>
                </a:lnTo>
                <a:lnTo>
                  <a:pt x="141" y="221"/>
                </a:lnTo>
                <a:lnTo>
                  <a:pt x="130" y="224"/>
                </a:lnTo>
                <a:lnTo>
                  <a:pt x="119" y="227"/>
                </a:lnTo>
                <a:lnTo>
                  <a:pt x="108" y="227"/>
                </a:lnTo>
                <a:lnTo>
                  <a:pt x="98" y="227"/>
                </a:lnTo>
                <a:lnTo>
                  <a:pt x="87" y="224"/>
                </a:lnTo>
                <a:lnTo>
                  <a:pt x="76" y="221"/>
                </a:lnTo>
                <a:lnTo>
                  <a:pt x="67" y="219"/>
                </a:lnTo>
                <a:lnTo>
                  <a:pt x="57" y="213"/>
                </a:lnTo>
                <a:lnTo>
                  <a:pt x="48" y="208"/>
                </a:lnTo>
                <a:lnTo>
                  <a:pt x="40" y="201"/>
                </a:lnTo>
                <a:lnTo>
                  <a:pt x="33" y="194"/>
                </a:lnTo>
                <a:lnTo>
                  <a:pt x="25" y="186"/>
                </a:lnTo>
                <a:lnTo>
                  <a:pt x="19" y="177"/>
                </a:lnTo>
                <a:lnTo>
                  <a:pt x="14" y="167"/>
                </a:lnTo>
                <a:lnTo>
                  <a:pt x="9" y="158"/>
                </a:lnTo>
                <a:lnTo>
                  <a:pt x="6" y="147"/>
                </a:lnTo>
                <a:lnTo>
                  <a:pt x="3" y="136"/>
                </a:lnTo>
                <a:lnTo>
                  <a:pt x="2" y="125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未知">
            <a:extLst>
              <a:ext uri="{FF2B5EF4-FFF2-40B4-BE49-F238E27FC236}">
                <a16:creationId xmlns:a16="http://schemas.microsoft.com/office/drawing/2014/main" id="{16918F7D-6D9D-47AA-057D-1E0491440696}"/>
              </a:ext>
            </a:extLst>
          </p:cNvPr>
          <p:cNvSpPr>
            <a:spLocks/>
          </p:cNvSpPr>
          <p:nvPr/>
        </p:nvSpPr>
        <p:spPr bwMode="auto">
          <a:xfrm>
            <a:off x="2664837" y="4310985"/>
            <a:ext cx="280747" cy="301545"/>
          </a:xfrm>
          <a:custGeom>
            <a:avLst/>
            <a:gdLst>
              <a:gd name="T0" fmla="*/ 5858600 w 217"/>
              <a:gd name="T1" fmla="*/ 559741153 h 227"/>
              <a:gd name="T2" fmla="*/ 17922139 w 217"/>
              <a:gd name="T3" fmla="*/ 431963359 h 227"/>
              <a:gd name="T4" fmla="*/ 43607429 w 217"/>
              <a:gd name="T5" fmla="*/ 318314144 h 227"/>
              <a:gd name="T6" fmla="*/ 77229784 w 217"/>
              <a:gd name="T7" fmla="*/ 227932445 h 227"/>
              <a:gd name="T8" fmla="*/ 122271747 w 217"/>
              <a:gd name="T9" fmla="*/ 139722493 h 227"/>
              <a:gd name="T10" fmla="*/ 175228399 w 217"/>
              <a:gd name="T11" fmla="*/ 69278727 h 227"/>
              <a:gd name="T12" fmla="*/ 234584880 w 217"/>
              <a:gd name="T13" fmla="*/ 26073254 h 227"/>
              <a:gd name="T14" fmla="*/ 301967446 w 217"/>
              <a:gd name="T15" fmla="*/ 4849290 h 227"/>
              <a:gd name="T16" fmla="*/ 365632686 w 217"/>
              <a:gd name="T17" fmla="*/ 4849290 h 227"/>
              <a:gd name="T18" fmla="*/ 434136673 w 217"/>
              <a:gd name="T19" fmla="*/ 26073254 h 227"/>
              <a:gd name="T20" fmla="*/ 492454229 w 217"/>
              <a:gd name="T21" fmla="*/ 69278727 h 227"/>
              <a:gd name="T22" fmla="*/ 545120329 w 217"/>
              <a:gd name="T23" fmla="*/ 139722493 h 227"/>
              <a:gd name="T24" fmla="*/ 590415685 w 217"/>
              <a:gd name="T25" fmla="*/ 227932445 h 227"/>
              <a:gd name="T26" fmla="*/ 623865094 w 217"/>
              <a:gd name="T27" fmla="*/ 318314144 h 227"/>
              <a:gd name="T28" fmla="*/ 652637793 w 217"/>
              <a:gd name="T29" fmla="*/ 431963359 h 227"/>
              <a:gd name="T30" fmla="*/ 667640835 w 217"/>
              <a:gd name="T31" fmla="*/ 559741153 h 227"/>
              <a:gd name="T32" fmla="*/ 667640835 w 217"/>
              <a:gd name="T33" fmla="*/ 611789234 h 227"/>
              <a:gd name="T34" fmla="*/ 661693287 w 217"/>
              <a:gd name="T35" fmla="*/ 737559701 h 227"/>
              <a:gd name="T36" fmla="*/ 640965693 w 217"/>
              <a:gd name="T37" fmla="*/ 857787430 h 227"/>
              <a:gd name="T38" fmla="*/ 609035589 w 217"/>
              <a:gd name="T39" fmla="*/ 958434412 h 227"/>
              <a:gd name="T40" fmla="*/ 569593784 w 217"/>
              <a:gd name="T41" fmla="*/ 1052525427 h 227"/>
              <a:gd name="T42" fmla="*/ 520085125 w 217"/>
              <a:gd name="T43" fmla="*/ 1126388021 h 227"/>
              <a:gd name="T44" fmla="*/ 462151609 w 217"/>
              <a:gd name="T45" fmla="*/ 1185978067 h 227"/>
              <a:gd name="T46" fmla="*/ 400709442 w 217"/>
              <a:gd name="T47" fmla="*/ 1214510475 h 227"/>
              <a:gd name="T48" fmla="*/ 332633172 w 217"/>
              <a:gd name="T49" fmla="*/ 1230410188 h 227"/>
              <a:gd name="T50" fmla="*/ 267626949 w 217"/>
              <a:gd name="T51" fmla="*/ 1214510475 h 227"/>
              <a:gd name="T52" fmla="*/ 205402873 w 217"/>
              <a:gd name="T53" fmla="*/ 1185978067 h 227"/>
              <a:gd name="T54" fmla="*/ 148250986 w 217"/>
              <a:gd name="T55" fmla="*/ 1126388021 h 227"/>
              <a:gd name="T56" fmla="*/ 100842587 w 217"/>
              <a:gd name="T57" fmla="*/ 1052525427 h 227"/>
              <a:gd name="T58" fmla="*/ 58648096 w 217"/>
              <a:gd name="T59" fmla="*/ 958434412 h 227"/>
              <a:gd name="T60" fmla="*/ 27400380 w 217"/>
              <a:gd name="T61" fmla="*/ 857787430 h 227"/>
              <a:gd name="T62" fmla="*/ 8798878 w 217"/>
              <a:gd name="T63" fmla="*/ 737559701 h 227"/>
              <a:gd name="T64" fmla="*/ 0 w 217"/>
              <a:gd name="T65" fmla="*/ 611789234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7"/>
              <a:gd name="T100" fmla="*/ 0 h 227"/>
              <a:gd name="T101" fmla="*/ 217 w 217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7" h="227">
                <a:moveTo>
                  <a:pt x="0" y="113"/>
                </a:moveTo>
                <a:lnTo>
                  <a:pt x="2" y="103"/>
                </a:lnTo>
                <a:lnTo>
                  <a:pt x="3" y="90"/>
                </a:lnTo>
                <a:lnTo>
                  <a:pt x="6" y="80"/>
                </a:lnTo>
                <a:lnTo>
                  <a:pt x="9" y="69"/>
                </a:lnTo>
                <a:lnTo>
                  <a:pt x="14" y="59"/>
                </a:lnTo>
                <a:lnTo>
                  <a:pt x="19" y="50"/>
                </a:lnTo>
                <a:lnTo>
                  <a:pt x="25" y="42"/>
                </a:lnTo>
                <a:lnTo>
                  <a:pt x="33" y="34"/>
                </a:lnTo>
                <a:lnTo>
                  <a:pt x="40" y="26"/>
                </a:lnTo>
                <a:lnTo>
                  <a:pt x="48" y="19"/>
                </a:lnTo>
                <a:lnTo>
                  <a:pt x="57" y="13"/>
                </a:lnTo>
                <a:lnTo>
                  <a:pt x="67" y="9"/>
                </a:lnTo>
                <a:lnTo>
                  <a:pt x="76" y="5"/>
                </a:lnTo>
                <a:lnTo>
                  <a:pt x="87" y="3"/>
                </a:lnTo>
                <a:lnTo>
                  <a:pt x="98" y="1"/>
                </a:lnTo>
                <a:lnTo>
                  <a:pt x="108" y="0"/>
                </a:lnTo>
                <a:lnTo>
                  <a:pt x="119" y="1"/>
                </a:lnTo>
                <a:lnTo>
                  <a:pt x="130" y="3"/>
                </a:lnTo>
                <a:lnTo>
                  <a:pt x="141" y="5"/>
                </a:lnTo>
                <a:lnTo>
                  <a:pt x="150" y="9"/>
                </a:lnTo>
                <a:lnTo>
                  <a:pt x="160" y="13"/>
                </a:lnTo>
                <a:lnTo>
                  <a:pt x="169" y="19"/>
                </a:lnTo>
                <a:lnTo>
                  <a:pt x="177" y="26"/>
                </a:lnTo>
                <a:lnTo>
                  <a:pt x="185" y="34"/>
                </a:lnTo>
                <a:lnTo>
                  <a:pt x="192" y="42"/>
                </a:lnTo>
                <a:lnTo>
                  <a:pt x="198" y="50"/>
                </a:lnTo>
                <a:lnTo>
                  <a:pt x="203" y="59"/>
                </a:lnTo>
                <a:lnTo>
                  <a:pt x="208" y="69"/>
                </a:lnTo>
                <a:lnTo>
                  <a:pt x="212" y="80"/>
                </a:lnTo>
                <a:lnTo>
                  <a:pt x="215" y="90"/>
                </a:lnTo>
                <a:lnTo>
                  <a:pt x="217" y="103"/>
                </a:lnTo>
                <a:lnTo>
                  <a:pt x="217" y="113"/>
                </a:lnTo>
                <a:lnTo>
                  <a:pt x="217" y="125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3" y="167"/>
                </a:lnTo>
                <a:lnTo>
                  <a:pt x="198" y="177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60" y="213"/>
                </a:lnTo>
                <a:lnTo>
                  <a:pt x="150" y="219"/>
                </a:lnTo>
                <a:lnTo>
                  <a:pt x="141" y="221"/>
                </a:lnTo>
                <a:lnTo>
                  <a:pt x="130" y="224"/>
                </a:lnTo>
                <a:lnTo>
                  <a:pt x="119" y="227"/>
                </a:lnTo>
                <a:lnTo>
                  <a:pt x="108" y="227"/>
                </a:lnTo>
                <a:lnTo>
                  <a:pt x="98" y="227"/>
                </a:lnTo>
                <a:lnTo>
                  <a:pt x="87" y="224"/>
                </a:lnTo>
                <a:lnTo>
                  <a:pt x="76" y="221"/>
                </a:lnTo>
                <a:lnTo>
                  <a:pt x="67" y="219"/>
                </a:lnTo>
                <a:lnTo>
                  <a:pt x="57" y="213"/>
                </a:lnTo>
                <a:lnTo>
                  <a:pt x="48" y="208"/>
                </a:lnTo>
                <a:lnTo>
                  <a:pt x="40" y="201"/>
                </a:lnTo>
                <a:lnTo>
                  <a:pt x="33" y="194"/>
                </a:lnTo>
                <a:lnTo>
                  <a:pt x="25" y="186"/>
                </a:lnTo>
                <a:lnTo>
                  <a:pt x="19" y="177"/>
                </a:lnTo>
                <a:lnTo>
                  <a:pt x="14" y="167"/>
                </a:lnTo>
                <a:lnTo>
                  <a:pt x="9" y="158"/>
                </a:lnTo>
                <a:lnTo>
                  <a:pt x="6" y="147"/>
                </a:lnTo>
                <a:lnTo>
                  <a:pt x="3" y="136"/>
                </a:lnTo>
                <a:lnTo>
                  <a:pt x="2" y="125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Rectangle 41">
            <a:extLst>
              <a:ext uri="{FF2B5EF4-FFF2-40B4-BE49-F238E27FC236}">
                <a16:creationId xmlns:a16="http://schemas.microsoft.com/office/drawing/2014/main" id="{763C5E75-C34A-1C5D-B8DD-1474B9C88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4560" y="4371294"/>
            <a:ext cx="63517" cy="151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>
                <a:solidFill>
                  <a:srgbClr val="0000FF"/>
                </a:solidFill>
                <a:latin typeface="宋体" pitchFamily="2" charset="-122"/>
              </a:rPr>
              <a:t>B</a:t>
            </a:r>
            <a:endParaRPr lang="en-US" altLang="zh-CN" sz="1000" b="1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25" name="未知">
            <a:extLst>
              <a:ext uri="{FF2B5EF4-FFF2-40B4-BE49-F238E27FC236}">
                <a16:creationId xmlns:a16="http://schemas.microsoft.com/office/drawing/2014/main" id="{FCACFF44-B85E-8000-7DF3-3C8EA81AFBF0}"/>
              </a:ext>
            </a:extLst>
          </p:cNvPr>
          <p:cNvSpPr>
            <a:spLocks/>
          </p:cNvSpPr>
          <p:nvPr/>
        </p:nvSpPr>
        <p:spPr bwMode="auto">
          <a:xfrm>
            <a:off x="2664837" y="5774271"/>
            <a:ext cx="280747" cy="298371"/>
          </a:xfrm>
          <a:custGeom>
            <a:avLst/>
            <a:gdLst>
              <a:gd name="T0" fmla="*/ 5858600 w 217"/>
              <a:gd name="T1" fmla="*/ 446341159 h 227"/>
              <a:gd name="T2" fmla="*/ 17922139 w 217"/>
              <a:gd name="T3" fmla="*/ 348105442 h 227"/>
              <a:gd name="T4" fmla="*/ 43607429 w 217"/>
              <a:gd name="T5" fmla="*/ 256183409 h 227"/>
              <a:gd name="T6" fmla="*/ 77229784 w 217"/>
              <a:gd name="T7" fmla="*/ 182291127 h 227"/>
              <a:gd name="T8" fmla="*/ 122271747 w 217"/>
              <a:gd name="T9" fmla="*/ 113371133 h 227"/>
              <a:gd name="T10" fmla="*/ 175228399 w 217"/>
              <a:gd name="T11" fmla="*/ 60672045 h 227"/>
              <a:gd name="T12" fmla="*/ 234584880 w 217"/>
              <a:gd name="T13" fmla="*/ 20996372 h 227"/>
              <a:gd name="T14" fmla="*/ 301967446 w 217"/>
              <a:gd name="T15" fmla="*/ 3971138 h 227"/>
              <a:gd name="T16" fmla="*/ 365632686 w 217"/>
              <a:gd name="T17" fmla="*/ 3971138 h 227"/>
              <a:gd name="T18" fmla="*/ 434136673 w 217"/>
              <a:gd name="T19" fmla="*/ 20996372 h 227"/>
              <a:gd name="T20" fmla="*/ 492454229 w 217"/>
              <a:gd name="T21" fmla="*/ 60672045 h 227"/>
              <a:gd name="T22" fmla="*/ 545120329 w 217"/>
              <a:gd name="T23" fmla="*/ 113371133 h 227"/>
              <a:gd name="T24" fmla="*/ 590415685 w 217"/>
              <a:gd name="T25" fmla="*/ 182291127 h 227"/>
              <a:gd name="T26" fmla="*/ 623865094 w 217"/>
              <a:gd name="T27" fmla="*/ 256183409 h 227"/>
              <a:gd name="T28" fmla="*/ 652637793 w 217"/>
              <a:gd name="T29" fmla="*/ 348105442 h 227"/>
              <a:gd name="T30" fmla="*/ 667640835 w 217"/>
              <a:gd name="T31" fmla="*/ 446341159 h 227"/>
              <a:gd name="T32" fmla="*/ 667640835 w 217"/>
              <a:gd name="T33" fmla="*/ 490035276 h 227"/>
              <a:gd name="T34" fmla="*/ 661693287 w 217"/>
              <a:gd name="T35" fmla="*/ 591068594 h 227"/>
              <a:gd name="T36" fmla="*/ 640965693 w 217"/>
              <a:gd name="T37" fmla="*/ 685652195 h 227"/>
              <a:gd name="T38" fmla="*/ 609035589 w 217"/>
              <a:gd name="T39" fmla="*/ 767322354 h 227"/>
              <a:gd name="T40" fmla="*/ 569593784 w 217"/>
              <a:gd name="T41" fmla="*/ 842402251 h 227"/>
              <a:gd name="T42" fmla="*/ 520085125 w 217"/>
              <a:gd name="T43" fmla="*/ 903181730 h 227"/>
              <a:gd name="T44" fmla="*/ 462151609 w 217"/>
              <a:gd name="T45" fmla="*/ 949607487 h 227"/>
              <a:gd name="T46" fmla="*/ 400709442 w 217"/>
              <a:gd name="T47" fmla="*/ 972957092 h 227"/>
              <a:gd name="T48" fmla="*/ 332633172 w 217"/>
              <a:gd name="T49" fmla="*/ 985307325 h 227"/>
              <a:gd name="T50" fmla="*/ 267626949 w 217"/>
              <a:gd name="T51" fmla="*/ 972957092 h 227"/>
              <a:gd name="T52" fmla="*/ 205402873 w 217"/>
              <a:gd name="T53" fmla="*/ 949607487 h 227"/>
              <a:gd name="T54" fmla="*/ 148250986 w 217"/>
              <a:gd name="T55" fmla="*/ 903181730 h 227"/>
              <a:gd name="T56" fmla="*/ 100842587 w 217"/>
              <a:gd name="T57" fmla="*/ 842402251 h 227"/>
              <a:gd name="T58" fmla="*/ 58648096 w 217"/>
              <a:gd name="T59" fmla="*/ 767322354 h 227"/>
              <a:gd name="T60" fmla="*/ 27400380 w 217"/>
              <a:gd name="T61" fmla="*/ 685652195 h 227"/>
              <a:gd name="T62" fmla="*/ 8798878 w 217"/>
              <a:gd name="T63" fmla="*/ 591068594 h 227"/>
              <a:gd name="T64" fmla="*/ 0 w 217"/>
              <a:gd name="T65" fmla="*/ 490035276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7"/>
              <a:gd name="T100" fmla="*/ 0 h 227"/>
              <a:gd name="T101" fmla="*/ 217 w 217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7" h="227">
                <a:moveTo>
                  <a:pt x="0" y="113"/>
                </a:moveTo>
                <a:lnTo>
                  <a:pt x="2" y="103"/>
                </a:lnTo>
                <a:lnTo>
                  <a:pt x="3" y="91"/>
                </a:lnTo>
                <a:lnTo>
                  <a:pt x="6" y="80"/>
                </a:lnTo>
                <a:lnTo>
                  <a:pt x="9" y="69"/>
                </a:lnTo>
                <a:lnTo>
                  <a:pt x="14" y="59"/>
                </a:lnTo>
                <a:lnTo>
                  <a:pt x="19" y="50"/>
                </a:lnTo>
                <a:lnTo>
                  <a:pt x="25" y="42"/>
                </a:lnTo>
                <a:lnTo>
                  <a:pt x="33" y="34"/>
                </a:lnTo>
                <a:lnTo>
                  <a:pt x="40" y="26"/>
                </a:lnTo>
                <a:lnTo>
                  <a:pt x="48" y="19"/>
                </a:lnTo>
                <a:lnTo>
                  <a:pt x="57" y="14"/>
                </a:lnTo>
                <a:lnTo>
                  <a:pt x="67" y="10"/>
                </a:lnTo>
                <a:lnTo>
                  <a:pt x="76" y="5"/>
                </a:lnTo>
                <a:lnTo>
                  <a:pt x="87" y="3"/>
                </a:lnTo>
                <a:lnTo>
                  <a:pt x="98" y="1"/>
                </a:lnTo>
                <a:lnTo>
                  <a:pt x="108" y="0"/>
                </a:lnTo>
                <a:lnTo>
                  <a:pt x="119" y="1"/>
                </a:lnTo>
                <a:lnTo>
                  <a:pt x="130" y="3"/>
                </a:lnTo>
                <a:lnTo>
                  <a:pt x="141" y="5"/>
                </a:lnTo>
                <a:lnTo>
                  <a:pt x="150" y="10"/>
                </a:lnTo>
                <a:lnTo>
                  <a:pt x="160" y="14"/>
                </a:lnTo>
                <a:lnTo>
                  <a:pt x="169" y="19"/>
                </a:lnTo>
                <a:lnTo>
                  <a:pt x="177" y="26"/>
                </a:lnTo>
                <a:lnTo>
                  <a:pt x="185" y="34"/>
                </a:lnTo>
                <a:lnTo>
                  <a:pt x="192" y="42"/>
                </a:lnTo>
                <a:lnTo>
                  <a:pt x="198" y="50"/>
                </a:lnTo>
                <a:lnTo>
                  <a:pt x="203" y="59"/>
                </a:lnTo>
                <a:lnTo>
                  <a:pt x="208" y="69"/>
                </a:lnTo>
                <a:lnTo>
                  <a:pt x="212" y="80"/>
                </a:lnTo>
                <a:lnTo>
                  <a:pt x="215" y="91"/>
                </a:lnTo>
                <a:lnTo>
                  <a:pt x="217" y="103"/>
                </a:lnTo>
                <a:lnTo>
                  <a:pt x="217" y="113"/>
                </a:lnTo>
                <a:lnTo>
                  <a:pt x="217" y="126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3" y="167"/>
                </a:lnTo>
                <a:lnTo>
                  <a:pt x="198" y="177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60" y="213"/>
                </a:lnTo>
                <a:lnTo>
                  <a:pt x="150" y="219"/>
                </a:lnTo>
                <a:lnTo>
                  <a:pt x="141" y="221"/>
                </a:lnTo>
                <a:lnTo>
                  <a:pt x="130" y="224"/>
                </a:lnTo>
                <a:lnTo>
                  <a:pt x="119" y="227"/>
                </a:lnTo>
                <a:lnTo>
                  <a:pt x="108" y="227"/>
                </a:lnTo>
                <a:lnTo>
                  <a:pt x="98" y="227"/>
                </a:lnTo>
                <a:lnTo>
                  <a:pt x="87" y="224"/>
                </a:lnTo>
                <a:lnTo>
                  <a:pt x="76" y="221"/>
                </a:lnTo>
                <a:lnTo>
                  <a:pt x="67" y="219"/>
                </a:lnTo>
                <a:lnTo>
                  <a:pt x="57" y="213"/>
                </a:lnTo>
                <a:lnTo>
                  <a:pt x="48" y="208"/>
                </a:lnTo>
                <a:lnTo>
                  <a:pt x="40" y="201"/>
                </a:lnTo>
                <a:lnTo>
                  <a:pt x="33" y="194"/>
                </a:lnTo>
                <a:lnTo>
                  <a:pt x="25" y="186"/>
                </a:lnTo>
                <a:lnTo>
                  <a:pt x="19" y="177"/>
                </a:lnTo>
                <a:lnTo>
                  <a:pt x="14" y="167"/>
                </a:lnTo>
                <a:lnTo>
                  <a:pt x="9" y="158"/>
                </a:lnTo>
                <a:lnTo>
                  <a:pt x="6" y="147"/>
                </a:lnTo>
                <a:lnTo>
                  <a:pt x="3" y="136"/>
                </a:lnTo>
                <a:lnTo>
                  <a:pt x="2" y="126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未知">
            <a:extLst>
              <a:ext uri="{FF2B5EF4-FFF2-40B4-BE49-F238E27FC236}">
                <a16:creationId xmlns:a16="http://schemas.microsoft.com/office/drawing/2014/main" id="{2D9B1B1B-D390-0DBD-19DB-72A489FC23EF}"/>
              </a:ext>
            </a:extLst>
          </p:cNvPr>
          <p:cNvSpPr>
            <a:spLocks/>
          </p:cNvSpPr>
          <p:nvPr/>
        </p:nvSpPr>
        <p:spPr bwMode="auto">
          <a:xfrm>
            <a:off x="3228237" y="5020726"/>
            <a:ext cx="281382" cy="298371"/>
          </a:xfrm>
          <a:custGeom>
            <a:avLst/>
            <a:gdLst>
              <a:gd name="T0" fmla="*/ 3240229 w 216"/>
              <a:gd name="T1" fmla="*/ 485501602 h 226"/>
              <a:gd name="T2" fmla="*/ 17640192 w 216"/>
              <a:gd name="T3" fmla="*/ 375205301 h 226"/>
              <a:gd name="T4" fmla="*/ 46641729 w 216"/>
              <a:gd name="T5" fmla="*/ 281541765 h 226"/>
              <a:gd name="T6" fmla="*/ 84375203 w 216"/>
              <a:gd name="T7" fmla="*/ 194790464 h 226"/>
              <a:gd name="T8" fmla="*/ 138480098 w 216"/>
              <a:gd name="T9" fmla="*/ 119076492 h 226"/>
              <a:gd name="T10" fmla="*/ 199629625 w 216"/>
              <a:gd name="T11" fmla="*/ 61343543 h 226"/>
              <a:gd name="T12" fmla="*/ 267147653 w 216"/>
              <a:gd name="T13" fmla="*/ 23385031 h 226"/>
              <a:gd name="T14" fmla="*/ 345025250 w 216"/>
              <a:gd name="T15" fmla="*/ 4298969 h 226"/>
              <a:gd name="T16" fmla="*/ 419223425 w 216"/>
              <a:gd name="T17" fmla="*/ 4298969 h 226"/>
              <a:gd name="T18" fmla="*/ 498025336 w 216"/>
              <a:gd name="T19" fmla="*/ 23385031 h 226"/>
              <a:gd name="T20" fmla="*/ 565530112 w 216"/>
              <a:gd name="T21" fmla="*/ 61343543 h 226"/>
              <a:gd name="T22" fmla="*/ 625689234 w 216"/>
              <a:gd name="T23" fmla="*/ 119076492 h 226"/>
              <a:gd name="T24" fmla="*/ 679668055 w 216"/>
              <a:gd name="T25" fmla="*/ 194790464 h 226"/>
              <a:gd name="T26" fmla="*/ 717712575 w 216"/>
              <a:gd name="T27" fmla="*/ 281541765 h 226"/>
              <a:gd name="T28" fmla="*/ 750629190 w 216"/>
              <a:gd name="T29" fmla="*/ 375205301 h 226"/>
              <a:gd name="T30" fmla="*/ 768364923 w 216"/>
              <a:gd name="T31" fmla="*/ 485501602 h 226"/>
              <a:gd name="T32" fmla="*/ 768364923 w 216"/>
              <a:gd name="T33" fmla="*/ 538347344 h 226"/>
              <a:gd name="T34" fmla="*/ 760897017 w 216"/>
              <a:gd name="T35" fmla="*/ 648670450 h 226"/>
              <a:gd name="T36" fmla="*/ 737022078 w 216"/>
              <a:gd name="T37" fmla="*/ 752872443 h 226"/>
              <a:gd name="T38" fmla="*/ 700842729 w 216"/>
              <a:gd name="T39" fmla="*/ 838030353 h 226"/>
              <a:gd name="T40" fmla="*/ 653426848 w 216"/>
              <a:gd name="T41" fmla="*/ 922864214 h 226"/>
              <a:gd name="T42" fmla="*/ 598538309 w 216"/>
              <a:gd name="T43" fmla="*/ 991076223 h 226"/>
              <a:gd name="T44" fmla="*/ 531035388 w 216"/>
              <a:gd name="T45" fmla="*/ 1037090728 h 226"/>
              <a:gd name="T46" fmla="*/ 459209920 w 216"/>
              <a:gd name="T47" fmla="*/ 1066707152 h 226"/>
              <a:gd name="T48" fmla="*/ 384634143 w 216"/>
              <a:gd name="T49" fmla="*/ 1075907407 h 226"/>
              <a:gd name="T50" fmla="*/ 305076466 w 216"/>
              <a:gd name="T51" fmla="*/ 1066707152 h 226"/>
              <a:gd name="T52" fmla="*/ 234138249 w 216"/>
              <a:gd name="T53" fmla="*/ 1037090728 h 226"/>
              <a:gd name="T54" fmla="*/ 166617470 w 216"/>
              <a:gd name="T55" fmla="*/ 991076223 h 226"/>
              <a:gd name="T56" fmla="*/ 114162216 w 216"/>
              <a:gd name="T57" fmla="*/ 922864214 h 226"/>
              <a:gd name="T58" fmla="*/ 64248977 w 216"/>
              <a:gd name="T59" fmla="*/ 838030353 h 226"/>
              <a:gd name="T60" fmla="*/ 27952822 w 216"/>
              <a:gd name="T61" fmla="*/ 752872443 h 226"/>
              <a:gd name="T62" fmla="*/ 6645470 w 216"/>
              <a:gd name="T63" fmla="*/ 648670450 h 226"/>
              <a:gd name="T64" fmla="*/ 0 w 216"/>
              <a:gd name="T65" fmla="*/ 538347344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2" y="90"/>
                </a:lnTo>
                <a:lnTo>
                  <a:pt x="5" y="79"/>
                </a:lnTo>
                <a:lnTo>
                  <a:pt x="8" y="68"/>
                </a:lnTo>
                <a:lnTo>
                  <a:pt x="13" y="59"/>
                </a:lnTo>
                <a:lnTo>
                  <a:pt x="18" y="50"/>
                </a:lnTo>
                <a:lnTo>
                  <a:pt x="24" y="41"/>
                </a:lnTo>
                <a:lnTo>
                  <a:pt x="32" y="33"/>
                </a:lnTo>
                <a:lnTo>
                  <a:pt x="39" y="25"/>
                </a:lnTo>
                <a:lnTo>
                  <a:pt x="47" y="18"/>
                </a:lnTo>
                <a:lnTo>
                  <a:pt x="56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8" y="1"/>
                </a:lnTo>
                <a:lnTo>
                  <a:pt x="129" y="2"/>
                </a:lnTo>
                <a:lnTo>
                  <a:pt x="140" y="5"/>
                </a:lnTo>
                <a:lnTo>
                  <a:pt x="149" y="9"/>
                </a:lnTo>
                <a:lnTo>
                  <a:pt x="159" y="13"/>
                </a:lnTo>
                <a:lnTo>
                  <a:pt x="168" y="18"/>
                </a:lnTo>
                <a:lnTo>
                  <a:pt x="176" y="25"/>
                </a:lnTo>
                <a:lnTo>
                  <a:pt x="184" y="33"/>
                </a:lnTo>
                <a:lnTo>
                  <a:pt x="191" y="41"/>
                </a:lnTo>
                <a:lnTo>
                  <a:pt x="197" y="50"/>
                </a:lnTo>
                <a:lnTo>
                  <a:pt x="202" y="59"/>
                </a:lnTo>
                <a:lnTo>
                  <a:pt x="207" y="68"/>
                </a:lnTo>
                <a:lnTo>
                  <a:pt x="211" y="79"/>
                </a:lnTo>
                <a:lnTo>
                  <a:pt x="214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4" y="136"/>
                </a:lnTo>
                <a:lnTo>
                  <a:pt x="211" y="147"/>
                </a:lnTo>
                <a:lnTo>
                  <a:pt x="207" y="158"/>
                </a:lnTo>
                <a:lnTo>
                  <a:pt x="202" y="167"/>
                </a:lnTo>
                <a:lnTo>
                  <a:pt x="197" y="176"/>
                </a:lnTo>
                <a:lnTo>
                  <a:pt x="191" y="186"/>
                </a:lnTo>
                <a:lnTo>
                  <a:pt x="184" y="194"/>
                </a:lnTo>
                <a:lnTo>
                  <a:pt x="176" y="201"/>
                </a:lnTo>
                <a:lnTo>
                  <a:pt x="168" y="208"/>
                </a:lnTo>
                <a:lnTo>
                  <a:pt x="159" y="213"/>
                </a:lnTo>
                <a:lnTo>
                  <a:pt x="149" y="218"/>
                </a:lnTo>
                <a:lnTo>
                  <a:pt x="140" y="221"/>
                </a:lnTo>
                <a:lnTo>
                  <a:pt x="129" y="224"/>
                </a:lnTo>
                <a:lnTo>
                  <a:pt x="118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4"/>
                </a:lnTo>
                <a:lnTo>
                  <a:pt x="75" y="221"/>
                </a:lnTo>
                <a:lnTo>
                  <a:pt x="66" y="218"/>
                </a:lnTo>
                <a:lnTo>
                  <a:pt x="56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8" y="176"/>
                </a:lnTo>
                <a:lnTo>
                  <a:pt x="13" y="167"/>
                </a:lnTo>
                <a:lnTo>
                  <a:pt x="8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5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未知">
            <a:extLst>
              <a:ext uri="{FF2B5EF4-FFF2-40B4-BE49-F238E27FC236}">
                <a16:creationId xmlns:a16="http://schemas.microsoft.com/office/drawing/2014/main" id="{978B2A54-E9AA-C4DB-0A52-6C17AF88337B}"/>
              </a:ext>
            </a:extLst>
          </p:cNvPr>
          <p:cNvSpPr>
            <a:spLocks noEditPoints="1"/>
          </p:cNvSpPr>
          <p:nvPr/>
        </p:nvSpPr>
        <p:spPr bwMode="auto">
          <a:xfrm>
            <a:off x="2281827" y="5168007"/>
            <a:ext cx="948315" cy="6348"/>
          </a:xfrm>
          <a:custGeom>
            <a:avLst/>
            <a:gdLst>
              <a:gd name="T0" fmla="*/ 2147483646 w 729"/>
              <a:gd name="T1" fmla="*/ 0 h 4"/>
              <a:gd name="T2" fmla="*/ 2147483646 w 729"/>
              <a:gd name="T3" fmla="*/ 484306175 h 4"/>
              <a:gd name="T4" fmla="*/ 2147483646 w 729"/>
              <a:gd name="T5" fmla="*/ 484306175 h 4"/>
              <a:gd name="T6" fmla="*/ 2147483646 w 729"/>
              <a:gd name="T7" fmla="*/ 0 h 4"/>
              <a:gd name="T8" fmla="*/ 2147483646 w 729"/>
              <a:gd name="T9" fmla="*/ 920181458 h 4"/>
              <a:gd name="T10" fmla="*/ 2147483646 w 729"/>
              <a:gd name="T11" fmla="*/ 0 h 4"/>
              <a:gd name="T12" fmla="*/ 2147483646 w 729"/>
              <a:gd name="T13" fmla="*/ 920181458 h 4"/>
              <a:gd name="T14" fmla="*/ 2147483646 w 729"/>
              <a:gd name="T15" fmla="*/ 291778645 h 4"/>
              <a:gd name="T16" fmla="*/ 2147483646 w 729"/>
              <a:gd name="T17" fmla="*/ 291778645 h 4"/>
              <a:gd name="T18" fmla="*/ 2057898466 w 729"/>
              <a:gd name="T19" fmla="*/ 920181458 h 4"/>
              <a:gd name="T20" fmla="*/ 2057898466 w 729"/>
              <a:gd name="T21" fmla="*/ 0 h 4"/>
              <a:gd name="T22" fmla="*/ 2057898466 w 729"/>
              <a:gd name="T23" fmla="*/ 920181458 h 4"/>
              <a:gd name="T24" fmla="*/ 1932938009 w 729"/>
              <a:gd name="T25" fmla="*/ 0 h 4"/>
              <a:gd name="T26" fmla="*/ 1942533754 w 729"/>
              <a:gd name="T27" fmla="*/ 484306175 h 4"/>
              <a:gd name="T28" fmla="*/ 1821715506 w 729"/>
              <a:gd name="T29" fmla="*/ 484306175 h 4"/>
              <a:gd name="T30" fmla="*/ 1831675215 w 729"/>
              <a:gd name="T31" fmla="*/ 0 h 4"/>
              <a:gd name="T32" fmla="*/ 1712415622 w 729"/>
              <a:gd name="T33" fmla="*/ 920181458 h 4"/>
              <a:gd name="T34" fmla="*/ 1712415622 w 729"/>
              <a:gd name="T35" fmla="*/ 0 h 4"/>
              <a:gd name="T36" fmla="*/ 1712415622 w 729"/>
              <a:gd name="T37" fmla="*/ 920181458 h 4"/>
              <a:gd name="T38" fmla="*/ 1593745445 w 729"/>
              <a:gd name="T39" fmla="*/ 291778645 h 4"/>
              <a:gd name="T40" fmla="*/ 1604737539 w 729"/>
              <a:gd name="T41" fmla="*/ 291778645 h 4"/>
              <a:gd name="T42" fmla="*/ 1487810344 w 729"/>
              <a:gd name="T43" fmla="*/ 920181458 h 4"/>
              <a:gd name="T44" fmla="*/ 1487810344 w 729"/>
              <a:gd name="T45" fmla="*/ 0 h 4"/>
              <a:gd name="T46" fmla="*/ 1487810344 w 729"/>
              <a:gd name="T47" fmla="*/ 920181458 h 4"/>
              <a:gd name="T48" fmla="*/ 1366714874 w 729"/>
              <a:gd name="T49" fmla="*/ 0 h 4"/>
              <a:gd name="T50" fmla="*/ 1373229066 w 729"/>
              <a:gd name="T51" fmla="*/ 484306175 h 4"/>
              <a:gd name="T52" fmla="*/ 1252461521 w 729"/>
              <a:gd name="T53" fmla="*/ 484306175 h 4"/>
              <a:gd name="T54" fmla="*/ 1263948818 w 729"/>
              <a:gd name="T55" fmla="*/ 0 h 4"/>
              <a:gd name="T56" fmla="*/ 1146340105 w 729"/>
              <a:gd name="T57" fmla="*/ 920181458 h 4"/>
              <a:gd name="T58" fmla="*/ 1146340105 w 729"/>
              <a:gd name="T59" fmla="*/ 0 h 4"/>
              <a:gd name="T60" fmla="*/ 1146340105 w 729"/>
              <a:gd name="T61" fmla="*/ 920181458 h 4"/>
              <a:gd name="T62" fmla="*/ 1024456029 w 729"/>
              <a:gd name="T63" fmla="*/ 291778645 h 4"/>
              <a:gd name="T64" fmla="*/ 1038565315 w 729"/>
              <a:gd name="T65" fmla="*/ 291778645 h 4"/>
              <a:gd name="T66" fmla="*/ 918510975 w 729"/>
              <a:gd name="T67" fmla="*/ 920181458 h 4"/>
              <a:gd name="T68" fmla="*/ 918510975 w 729"/>
              <a:gd name="T69" fmla="*/ 0 h 4"/>
              <a:gd name="T70" fmla="*/ 918510975 w 729"/>
              <a:gd name="T71" fmla="*/ 920181458 h 4"/>
              <a:gd name="T72" fmla="*/ 797461423 w 729"/>
              <a:gd name="T73" fmla="*/ 0 h 4"/>
              <a:gd name="T74" fmla="*/ 807151808 w 729"/>
              <a:gd name="T75" fmla="*/ 484306175 h 4"/>
              <a:gd name="T76" fmla="*/ 687779442 w 729"/>
              <a:gd name="T77" fmla="*/ 484306175 h 4"/>
              <a:gd name="T78" fmla="*/ 694649740 w 729"/>
              <a:gd name="T79" fmla="*/ 0 h 4"/>
              <a:gd name="T80" fmla="*/ 580106852 w 729"/>
              <a:gd name="T81" fmla="*/ 920181458 h 4"/>
              <a:gd name="T82" fmla="*/ 580106852 w 729"/>
              <a:gd name="T83" fmla="*/ 0 h 4"/>
              <a:gd name="T84" fmla="*/ 580106852 w 729"/>
              <a:gd name="T85" fmla="*/ 920181458 h 4"/>
              <a:gd name="T86" fmla="*/ 455087531 w 729"/>
              <a:gd name="T87" fmla="*/ 291778645 h 4"/>
              <a:gd name="T88" fmla="*/ 473377646 w 729"/>
              <a:gd name="T89" fmla="*/ 291778645 h 4"/>
              <a:gd name="T90" fmla="*/ 348774870 w 729"/>
              <a:gd name="T91" fmla="*/ 920181458 h 4"/>
              <a:gd name="T92" fmla="*/ 348774870 w 729"/>
              <a:gd name="T93" fmla="*/ 0 h 4"/>
              <a:gd name="T94" fmla="*/ 348774870 w 729"/>
              <a:gd name="T95" fmla="*/ 920181458 h 4"/>
              <a:gd name="T96" fmla="*/ 227024359 w 729"/>
              <a:gd name="T97" fmla="*/ 0 h 4"/>
              <a:gd name="T98" fmla="*/ 237743610 w 729"/>
              <a:gd name="T99" fmla="*/ 484306175 h 4"/>
              <a:gd name="T100" fmla="*/ 117723613 w 729"/>
              <a:gd name="T101" fmla="*/ 484306175 h 4"/>
              <a:gd name="T102" fmla="*/ 128046502 w 729"/>
              <a:gd name="T103" fmla="*/ 0 h 4"/>
              <a:gd name="T104" fmla="*/ 9959062 w 729"/>
              <a:gd name="T105" fmla="*/ 920181458 h 4"/>
              <a:gd name="T106" fmla="*/ 9959062 w 729"/>
              <a:gd name="T107" fmla="*/ 0 h 4"/>
              <a:gd name="T108" fmla="*/ 9959062 w 729"/>
              <a:gd name="T109" fmla="*/ 920181458 h 4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729"/>
              <a:gd name="T166" fmla="*/ 0 h 4"/>
              <a:gd name="T167" fmla="*/ 729 w 729"/>
              <a:gd name="T168" fmla="*/ 4 h 4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729" h="4">
                <a:moveTo>
                  <a:pt x="727" y="4"/>
                </a:moveTo>
                <a:lnTo>
                  <a:pt x="727" y="4"/>
                </a:lnTo>
                <a:lnTo>
                  <a:pt x="725" y="2"/>
                </a:lnTo>
                <a:lnTo>
                  <a:pt x="725" y="1"/>
                </a:lnTo>
                <a:lnTo>
                  <a:pt x="725" y="0"/>
                </a:lnTo>
                <a:lnTo>
                  <a:pt x="727" y="0"/>
                </a:lnTo>
                <a:lnTo>
                  <a:pt x="728" y="0"/>
                </a:lnTo>
                <a:lnTo>
                  <a:pt x="729" y="1"/>
                </a:lnTo>
                <a:lnTo>
                  <a:pt x="728" y="2"/>
                </a:lnTo>
                <a:lnTo>
                  <a:pt x="727" y="4"/>
                </a:lnTo>
                <a:close/>
                <a:moveTo>
                  <a:pt x="694" y="4"/>
                </a:moveTo>
                <a:lnTo>
                  <a:pt x="694" y="4"/>
                </a:lnTo>
                <a:lnTo>
                  <a:pt x="693" y="2"/>
                </a:lnTo>
                <a:lnTo>
                  <a:pt x="691" y="1"/>
                </a:lnTo>
                <a:lnTo>
                  <a:pt x="693" y="0"/>
                </a:lnTo>
                <a:lnTo>
                  <a:pt x="694" y="0"/>
                </a:lnTo>
                <a:lnTo>
                  <a:pt x="695" y="0"/>
                </a:lnTo>
                <a:lnTo>
                  <a:pt x="695" y="1"/>
                </a:lnTo>
                <a:lnTo>
                  <a:pt x="695" y="2"/>
                </a:lnTo>
                <a:lnTo>
                  <a:pt x="694" y="4"/>
                </a:lnTo>
                <a:close/>
                <a:moveTo>
                  <a:pt x="660" y="4"/>
                </a:moveTo>
                <a:lnTo>
                  <a:pt x="660" y="4"/>
                </a:lnTo>
                <a:lnTo>
                  <a:pt x="659" y="2"/>
                </a:lnTo>
                <a:lnTo>
                  <a:pt x="659" y="1"/>
                </a:lnTo>
                <a:lnTo>
                  <a:pt x="659" y="0"/>
                </a:lnTo>
                <a:lnTo>
                  <a:pt x="660" y="0"/>
                </a:lnTo>
                <a:lnTo>
                  <a:pt x="662" y="0"/>
                </a:lnTo>
                <a:lnTo>
                  <a:pt x="663" y="1"/>
                </a:lnTo>
                <a:lnTo>
                  <a:pt x="662" y="2"/>
                </a:lnTo>
                <a:lnTo>
                  <a:pt x="660" y="4"/>
                </a:lnTo>
                <a:close/>
                <a:moveTo>
                  <a:pt x="628" y="4"/>
                </a:moveTo>
                <a:lnTo>
                  <a:pt x="628" y="4"/>
                </a:lnTo>
                <a:lnTo>
                  <a:pt x="627" y="2"/>
                </a:lnTo>
                <a:lnTo>
                  <a:pt x="627" y="1"/>
                </a:lnTo>
                <a:lnTo>
                  <a:pt x="627" y="0"/>
                </a:lnTo>
                <a:lnTo>
                  <a:pt x="628" y="0"/>
                </a:lnTo>
                <a:lnTo>
                  <a:pt x="629" y="0"/>
                </a:lnTo>
                <a:lnTo>
                  <a:pt x="629" y="1"/>
                </a:lnTo>
                <a:lnTo>
                  <a:pt x="629" y="2"/>
                </a:lnTo>
                <a:lnTo>
                  <a:pt x="628" y="4"/>
                </a:lnTo>
                <a:close/>
                <a:moveTo>
                  <a:pt x="596" y="4"/>
                </a:moveTo>
                <a:lnTo>
                  <a:pt x="596" y="4"/>
                </a:lnTo>
                <a:lnTo>
                  <a:pt x="594" y="2"/>
                </a:lnTo>
                <a:lnTo>
                  <a:pt x="593" y="1"/>
                </a:lnTo>
                <a:lnTo>
                  <a:pt x="594" y="0"/>
                </a:lnTo>
                <a:lnTo>
                  <a:pt x="596" y="0"/>
                </a:lnTo>
                <a:lnTo>
                  <a:pt x="597" y="0"/>
                </a:lnTo>
                <a:lnTo>
                  <a:pt x="597" y="1"/>
                </a:lnTo>
                <a:lnTo>
                  <a:pt x="597" y="2"/>
                </a:lnTo>
                <a:lnTo>
                  <a:pt x="596" y="4"/>
                </a:lnTo>
                <a:close/>
                <a:moveTo>
                  <a:pt x="562" y="4"/>
                </a:moveTo>
                <a:lnTo>
                  <a:pt x="562" y="4"/>
                </a:lnTo>
                <a:lnTo>
                  <a:pt x="560" y="2"/>
                </a:lnTo>
                <a:lnTo>
                  <a:pt x="560" y="1"/>
                </a:lnTo>
                <a:lnTo>
                  <a:pt x="560" y="0"/>
                </a:lnTo>
                <a:lnTo>
                  <a:pt x="562" y="0"/>
                </a:lnTo>
                <a:lnTo>
                  <a:pt x="563" y="0"/>
                </a:lnTo>
                <a:lnTo>
                  <a:pt x="565" y="1"/>
                </a:lnTo>
                <a:lnTo>
                  <a:pt x="563" y="2"/>
                </a:lnTo>
                <a:lnTo>
                  <a:pt x="562" y="4"/>
                </a:lnTo>
                <a:close/>
                <a:moveTo>
                  <a:pt x="529" y="4"/>
                </a:moveTo>
                <a:lnTo>
                  <a:pt x="529" y="4"/>
                </a:lnTo>
                <a:lnTo>
                  <a:pt x="528" y="2"/>
                </a:lnTo>
                <a:lnTo>
                  <a:pt x="527" y="1"/>
                </a:lnTo>
                <a:lnTo>
                  <a:pt x="528" y="0"/>
                </a:lnTo>
                <a:lnTo>
                  <a:pt x="529" y="0"/>
                </a:lnTo>
                <a:lnTo>
                  <a:pt x="531" y="0"/>
                </a:lnTo>
                <a:lnTo>
                  <a:pt x="531" y="1"/>
                </a:lnTo>
                <a:lnTo>
                  <a:pt x="531" y="2"/>
                </a:lnTo>
                <a:lnTo>
                  <a:pt x="529" y="4"/>
                </a:lnTo>
                <a:close/>
                <a:moveTo>
                  <a:pt x="496" y="4"/>
                </a:moveTo>
                <a:lnTo>
                  <a:pt x="496" y="4"/>
                </a:lnTo>
                <a:lnTo>
                  <a:pt x="494" y="2"/>
                </a:lnTo>
                <a:lnTo>
                  <a:pt x="494" y="1"/>
                </a:lnTo>
                <a:lnTo>
                  <a:pt x="494" y="0"/>
                </a:lnTo>
                <a:lnTo>
                  <a:pt x="496" y="0"/>
                </a:lnTo>
                <a:lnTo>
                  <a:pt x="497" y="0"/>
                </a:lnTo>
                <a:lnTo>
                  <a:pt x="498" y="1"/>
                </a:lnTo>
                <a:lnTo>
                  <a:pt x="497" y="2"/>
                </a:lnTo>
                <a:lnTo>
                  <a:pt x="496" y="4"/>
                </a:lnTo>
                <a:close/>
                <a:moveTo>
                  <a:pt x="463" y="4"/>
                </a:moveTo>
                <a:lnTo>
                  <a:pt x="463" y="4"/>
                </a:lnTo>
                <a:lnTo>
                  <a:pt x="462" y="2"/>
                </a:lnTo>
                <a:lnTo>
                  <a:pt x="462" y="1"/>
                </a:lnTo>
                <a:lnTo>
                  <a:pt x="462" y="0"/>
                </a:lnTo>
                <a:lnTo>
                  <a:pt x="463" y="0"/>
                </a:lnTo>
                <a:lnTo>
                  <a:pt x="465" y="0"/>
                </a:lnTo>
                <a:lnTo>
                  <a:pt x="465" y="1"/>
                </a:lnTo>
                <a:lnTo>
                  <a:pt x="465" y="2"/>
                </a:lnTo>
                <a:lnTo>
                  <a:pt x="463" y="4"/>
                </a:lnTo>
                <a:close/>
                <a:moveTo>
                  <a:pt x="431" y="4"/>
                </a:moveTo>
                <a:lnTo>
                  <a:pt x="431" y="4"/>
                </a:lnTo>
                <a:lnTo>
                  <a:pt x="429" y="2"/>
                </a:lnTo>
                <a:lnTo>
                  <a:pt x="428" y="1"/>
                </a:lnTo>
                <a:lnTo>
                  <a:pt x="429" y="0"/>
                </a:lnTo>
                <a:lnTo>
                  <a:pt x="431" y="0"/>
                </a:lnTo>
                <a:lnTo>
                  <a:pt x="432" y="0"/>
                </a:lnTo>
                <a:lnTo>
                  <a:pt x="432" y="1"/>
                </a:lnTo>
                <a:lnTo>
                  <a:pt x="432" y="2"/>
                </a:lnTo>
                <a:lnTo>
                  <a:pt x="431" y="4"/>
                </a:lnTo>
                <a:close/>
                <a:moveTo>
                  <a:pt x="397" y="4"/>
                </a:moveTo>
                <a:lnTo>
                  <a:pt x="397" y="4"/>
                </a:lnTo>
                <a:lnTo>
                  <a:pt x="396" y="2"/>
                </a:lnTo>
                <a:lnTo>
                  <a:pt x="396" y="1"/>
                </a:lnTo>
                <a:lnTo>
                  <a:pt x="396" y="0"/>
                </a:lnTo>
                <a:lnTo>
                  <a:pt x="397" y="0"/>
                </a:lnTo>
                <a:lnTo>
                  <a:pt x="398" y="0"/>
                </a:lnTo>
                <a:lnTo>
                  <a:pt x="400" y="1"/>
                </a:lnTo>
                <a:lnTo>
                  <a:pt x="398" y="2"/>
                </a:lnTo>
                <a:lnTo>
                  <a:pt x="397" y="4"/>
                </a:lnTo>
                <a:close/>
                <a:moveTo>
                  <a:pt x="365" y="4"/>
                </a:moveTo>
                <a:lnTo>
                  <a:pt x="365" y="4"/>
                </a:lnTo>
                <a:lnTo>
                  <a:pt x="363" y="2"/>
                </a:lnTo>
                <a:lnTo>
                  <a:pt x="363" y="1"/>
                </a:lnTo>
                <a:lnTo>
                  <a:pt x="363" y="0"/>
                </a:lnTo>
                <a:lnTo>
                  <a:pt x="365" y="0"/>
                </a:lnTo>
                <a:lnTo>
                  <a:pt x="366" y="0"/>
                </a:lnTo>
                <a:lnTo>
                  <a:pt x="366" y="1"/>
                </a:lnTo>
                <a:lnTo>
                  <a:pt x="366" y="2"/>
                </a:lnTo>
                <a:lnTo>
                  <a:pt x="365" y="4"/>
                </a:lnTo>
                <a:close/>
                <a:moveTo>
                  <a:pt x="332" y="4"/>
                </a:moveTo>
                <a:lnTo>
                  <a:pt x="332" y="4"/>
                </a:lnTo>
                <a:lnTo>
                  <a:pt x="331" y="2"/>
                </a:lnTo>
                <a:lnTo>
                  <a:pt x="330" y="1"/>
                </a:lnTo>
                <a:lnTo>
                  <a:pt x="331" y="0"/>
                </a:lnTo>
                <a:lnTo>
                  <a:pt x="332" y="0"/>
                </a:lnTo>
                <a:lnTo>
                  <a:pt x="334" y="1"/>
                </a:lnTo>
                <a:lnTo>
                  <a:pt x="332" y="2"/>
                </a:lnTo>
                <a:lnTo>
                  <a:pt x="332" y="4"/>
                </a:lnTo>
                <a:close/>
                <a:moveTo>
                  <a:pt x="299" y="4"/>
                </a:moveTo>
                <a:lnTo>
                  <a:pt x="299" y="4"/>
                </a:lnTo>
                <a:lnTo>
                  <a:pt x="297" y="2"/>
                </a:lnTo>
                <a:lnTo>
                  <a:pt x="297" y="1"/>
                </a:lnTo>
                <a:lnTo>
                  <a:pt x="297" y="0"/>
                </a:lnTo>
                <a:lnTo>
                  <a:pt x="299" y="0"/>
                </a:lnTo>
                <a:lnTo>
                  <a:pt x="300" y="0"/>
                </a:lnTo>
                <a:lnTo>
                  <a:pt x="301" y="1"/>
                </a:lnTo>
                <a:lnTo>
                  <a:pt x="300" y="2"/>
                </a:lnTo>
                <a:lnTo>
                  <a:pt x="299" y="4"/>
                </a:lnTo>
                <a:close/>
                <a:moveTo>
                  <a:pt x="266" y="4"/>
                </a:moveTo>
                <a:lnTo>
                  <a:pt x="266" y="4"/>
                </a:lnTo>
                <a:lnTo>
                  <a:pt x="265" y="2"/>
                </a:lnTo>
                <a:lnTo>
                  <a:pt x="263" y="1"/>
                </a:lnTo>
                <a:lnTo>
                  <a:pt x="265" y="0"/>
                </a:lnTo>
                <a:lnTo>
                  <a:pt x="266" y="0"/>
                </a:lnTo>
                <a:lnTo>
                  <a:pt x="267" y="0"/>
                </a:lnTo>
                <a:lnTo>
                  <a:pt x="267" y="1"/>
                </a:lnTo>
                <a:lnTo>
                  <a:pt x="267" y="2"/>
                </a:lnTo>
                <a:lnTo>
                  <a:pt x="266" y="4"/>
                </a:lnTo>
                <a:close/>
                <a:moveTo>
                  <a:pt x="232" y="4"/>
                </a:moveTo>
                <a:lnTo>
                  <a:pt x="232" y="4"/>
                </a:lnTo>
                <a:lnTo>
                  <a:pt x="231" y="2"/>
                </a:lnTo>
                <a:lnTo>
                  <a:pt x="231" y="1"/>
                </a:lnTo>
                <a:lnTo>
                  <a:pt x="231" y="0"/>
                </a:lnTo>
                <a:lnTo>
                  <a:pt x="232" y="0"/>
                </a:lnTo>
                <a:lnTo>
                  <a:pt x="234" y="0"/>
                </a:lnTo>
                <a:lnTo>
                  <a:pt x="235" y="1"/>
                </a:lnTo>
                <a:lnTo>
                  <a:pt x="234" y="2"/>
                </a:lnTo>
                <a:lnTo>
                  <a:pt x="232" y="4"/>
                </a:lnTo>
                <a:close/>
                <a:moveTo>
                  <a:pt x="200" y="4"/>
                </a:moveTo>
                <a:lnTo>
                  <a:pt x="200" y="4"/>
                </a:lnTo>
                <a:lnTo>
                  <a:pt x="199" y="2"/>
                </a:lnTo>
                <a:lnTo>
                  <a:pt x="199" y="1"/>
                </a:lnTo>
                <a:lnTo>
                  <a:pt x="199" y="0"/>
                </a:lnTo>
                <a:lnTo>
                  <a:pt x="200" y="0"/>
                </a:lnTo>
                <a:lnTo>
                  <a:pt x="201" y="0"/>
                </a:lnTo>
                <a:lnTo>
                  <a:pt x="201" y="1"/>
                </a:lnTo>
                <a:lnTo>
                  <a:pt x="201" y="2"/>
                </a:lnTo>
                <a:lnTo>
                  <a:pt x="200" y="4"/>
                </a:lnTo>
                <a:close/>
                <a:moveTo>
                  <a:pt x="168" y="4"/>
                </a:moveTo>
                <a:lnTo>
                  <a:pt x="168" y="4"/>
                </a:lnTo>
                <a:lnTo>
                  <a:pt x="166" y="2"/>
                </a:lnTo>
                <a:lnTo>
                  <a:pt x="165" y="1"/>
                </a:lnTo>
                <a:lnTo>
                  <a:pt x="166" y="0"/>
                </a:lnTo>
                <a:lnTo>
                  <a:pt x="168" y="0"/>
                </a:lnTo>
                <a:lnTo>
                  <a:pt x="169" y="1"/>
                </a:lnTo>
                <a:lnTo>
                  <a:pt x="168" y="2"/>
                </a:lnTo>
                <a:lnTo>
                  <a:pt x="168" y="4"/>
                </a:lnTo>
                <a:close/>
                <a:moveTo>
                  <a:pt x="134" y="4"/>
                </a:moveTo>
                <a:lnTo>
                  <a:pt x="134" y="4"/>
                </a:lnTo>
                <a:lnTo>
                  <a:pt x="132" y="2"/>
                </a:lnTo>
                <a:lnTo>
                  <a:pt x="132" y="1"/>
                </a:lnTo>
                <a:lnTo>
                  <a:pt x="132" y="0"/>
                </a:lnTo>
                <a:lnTo>
                  <a:pt x="134" y="0"/>
                </a:lnTo>
                <a:lnTo>
                  <a:pt x="135" y="0"/>
                </a:lnTo>
                <a:lnTo>
                  <a:pt x="137" y="1"/>
                </a:lnTo>
                <a:lnTo>
                  <a:pt x="135" y="2"/>
                </a:lnTo>
                <a:lnTo>
                  <a:pt x="134" y="4"/>
                </a:lnTo>
                <a:close/>
                <a:moveTo>
                  <a:pt x="101" y="4"/>
                </a:moveTo>
                <a:lnTo>
                  <a:pt x="101" y="4"/>
                </a:lnTo>
                <a:lnTo>
                  <a:pt x="100" y="2"/>
                </a:lnTo>
                <a:lnTo>
                  <a:pt x="99" y="1"/>
                </a:lnTo>
                <a:lnTo>
                  <a:pt x="100" y="0"/>
                </a:lnTo>
                <a:lnTo>
                  <a:pt x="101" y="0"/>
                </a:lnTo>
                <a:lnTo>
                  <a:pt x="103" y="0"/>
                </a:lnTo>
                <a:lnTo>
                  <a:pt x="103" y="1"/>
                </a:lnTo>
                <a:lnTo>
                  <a:pt x="103" y="2"/>
                </a:lnTo>
                <a:lnTo>
                  <a:pt x="101" y="4"/>
                </a:lnTo>
                <a:close/>
                <a:moveTo>
                  <a:pt x="68" y="4"/>
                </a:moveTo>
                <a:lnTo>
                  <a:pt x="68" y="4"/>
                </a:lnTo>
                <a:lnTo>
                  <a:pt x="66" y="2"/>
                </a:lnTo>
                <a:lnTo>
                  <a:pt x="66" y="1"/>
                </a:lnTo>
                <a:lnTo>
                  <a:pt x="66" y="0"/>
                </a:lnTo>
                <a:lnTo>
                  <a:pt x="68" y="0"/>
                </a:lnTo>
                <a:lnTo>
                  <a:pt x="69" y="0"/>
                </a:lnTo>
                <a:lnTo>
                  <a:pt x="70" y="1"/>
                </a:lnTo>
                <a:lnTo>
                  <a:pt x="69" y="2"/>
                </a:lnTo>
                <a:lnTo>
                  <a:pt x="68" y="4"/>
                </a:lnTo>
                <a:close/>
                <a:moveTo>
                  <a:pt x="35" y="4"/>
                </a:moveTo>
                <a:lnTo>
                  <a:pt x="35" y="4"/>
                </a:lnTo>
                <a:lnTo>
                  <a:pt x="34" y="2"/>
                </a:lnTo>
                <a:lnTo>
                  <a:pt x="34" y="1"/>
                </a:lnTo>
                <a:lnTo>
                  <a:pt x="34" y="0"/>
                </a:lnTo>
                <a:lnTo>
                  <a:pt x="35" y="0"/>
                </a:lnTo>
                <a:lnTo>
                  <a:pt x="37" y="0"/>
                </a:lnTo>
                <a:lnTo>
                  <a:pt x="37" y="1"/>
                </a:lnTo>
                <a:lnTo>
                  <a:pt x="37" y="2"/>
                </a:lnTo>
                <a:lnTo>
                  <a:pt x="35" y="4"/>
                </a:lnTo>
                <a:close/>
                <a:moveTo>
                  <a:pt x="3" y="4"/>
                </a:moveTo>
                <a:lnTo>
                  <a:pt x="3" y="4"/>
                </a:lnTo>
                <a:lnTo>
                  <a:pt x="2" y="2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未知">
            <a:extLst>
              <a:ext uri="{FF2B5EF4-FFF2-40B4-BE49-F238E27FC236}">
                <a16:creationId xmlns:a16="http://schemas.microsoft.com/office/drawing/2014/main" id="{4F4662ED-8CB0-2E32-CFE8-E090BFA36F85}"/>
              </a:ext>
            </a:extLst>
          </p:cNvPr>
          <p:cNvSpPr>
            <a:spLocks/>
          </p:cNvSpPr>
          <p:nvPr/>
        </p:nvSpPr>
        <p:spPr bwMode="auto">
          <a:xfrm>
            <a:off x="2102708" y="5115951"/>
            <a:ext cx="163240" cy="107921"/>
          </a:xfrm>
          <a:custGeom>
            <a:avLst/>
            <a:gdLst>
              <a:gd name="T0" fmla="*/ 340691775 w 127"/>
              <a:gd name="T1" fmla="*/ 225867066 h 84"/>
              <a:gd name="T2" fmla="*/ 0 w 127"/>
              <a:gd name="T3" fmla="*/ 112864617 h 84"/>
              <a:gd name="T4" fmla="*/ 340691775 w 127"/>
              <a:gd name="T5" fmla="*/ 0 h 84"/>
              <a:gd name="T6" fmla="*/ 340691775 w 127"/>
              <a:gd name="T7" fmla="*/ 225867066 h 84"/>
              <a:gd name="T8" fmla="*/ 0 60000 65536"/>
              <a:gd name="T9" fmla="*/ 0 60000 65536"/>
              <a:gd name="T10" fmla="*/ 0 60000 65536"/>
              <a:gd name="T11" fmla="*/ 0 60000 65536"/>
              <a:gd name="T12" fmla="*/ 0 w 127"/>
              <a:gd name="T13" fmla="*/ 0 h 84"/>
              <a:gd name="T14" fmla="*/ 127 w 127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7" h="84">
                <a:moveTo>
                  <a:pt x="127" y="84"/>
                </a:moveTo>
                <a:lnTo>
                  <a:pt x="0" y="42"/>
                </a:lnTo>
                <a:lnTo>
                  <a:pt x="127" y="0"/>
                </a:lnTo>
                <a:lnTo>
                  <a:pt x="127" y="84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未知">
            <a:extLst>
              <a:ext uri="{FF2B5EF4-FFF2-40B4-BE49-F238E27FC236}">
                <a16:creationId xmlns:a16="http://schemas.microsoft.com/office/drawing/2014/main" id="{BF5CD1F2-D65F-A4A8-7784-D008D0FF1B82}"/>
              </a:ext>
            </a:extLst>
          </p:cNvPr>
          <p:cNvSpPr>
            <a:spLocks noEditPoints="1"/>
          </p:cNvSpPr>
          <p:nvPr/>
        </p:nvSpPr>
        <p:spPr bwMode="auto">
          <a:xfrm>
            <a:off x="1718427" y="5890445"/>
            <a:ext cx="949586" cy="4444"/>
          </a:xfrm>
          <a:custGeom>
            <a:avLst/>
            <a:gdLst>
              <a:gd name="T0" fmla="*/ 2147483646 w 729"/>
              <a:gd name="T1" fmla="*/ 0 h 4"/>
              <a:gd name="T2" fmla="*/ 2147483646 w 729"/>
              <a:gd name="T3" fmla="*/ 381523 h 4"/>
              <a:gd name="T4" fmla="*/ 2147483646 w 729"/>
              <a:gd name="T5" fmla="*/ 381523 h 4"/>
              <a:gd name="T6" fmla="*/ 2147483646 w 729"/>
              <a:gd name="T7" fmla="*/ 0 h 4"/>
              <a:gd name="T8" fmla="*/ 2147483646 w 729"/>
              <a:gd name="T9" fmla="*/ 505983 h 4"/>
              <a:gd name="T10" fmla="*/ 2147483646 w 729"/>
              <a:gd name="T11" fmla="*/ 0 h 4"/>
              <a:gd name="T12" fmla="*/ 2147483646 w 729"/>
              <a:gd name="T13" fmla="*/ 505983 h 4"/>
              <a:gd name="T14" fmla="*/ 2147483646 w 729"/>
              <a:gd name="T15" fmla="*/ 165183 h 4"/>
              <a:gd name="T16" fmla="*/ 2147483646 w 729"/>
              <a:gd name="T17" fmla="*/ 165183 h 4"/>
              <a:gd name="T18" fmla="*/ 2115121837 w 729"/>
              <a:gd name="T19" fmla="*/ 505983 h 4"/>
              <a:gd name="T20" fmla="*/ 2115121837 w 729"/>
              <a:gd name="T21" fmla="*/ 0 h 4"/>
              <a:gd name="T22" fmla="*/ 2115121837 w 729"/>
              <a:gd name="T23" fmla="*/ 505983 h 4"/>
              <a:gd name="T24" fmla="*/ 1986604874 w 729"/>
              <a:gd name="T25" fmla="*/ 0 h 4"/>
              <a:gd name="T26" fmla="*/ 1999540953 w 729"/>
              <a:gd name="T27" fmla="*/ 381523 h 4"/>
              <a:gd name="T28" fmla="*/ 1874654022 w 729"/>
              <a:gd name="T29" fmla="*/ 381523 h 4"/>
              <a:gd name="T30" fmla="*/ 1884516955 w 729"/>
              <a:gd name="T31" fmla="*/ 0 h 4"/>
              <a:gd name="T32" fmla="*/ 1760652337 w 729"/>
              <a:gd name="T33" fmla="*/ 505983 h 4"/>
              <a:gd name="T34" fmla="*/ 1760652337 w 729"/>
              <a:gd name="T35" fmla="*/ 0 h 4"/>
              <a:gd name="T36" fmla="*/ 1760652337 w 729"/>
              <a:gd name="T37" fmla="*/ 505983 h 4"/>
              <a:gd name="T38" fmla="*/ 1639311632 w 729"/>
              <a:gd name="T39" fmla="*/ 165183 h 4"/>
              <a:gd name="T40" fmla="*/ 1650943926 w 729"/>
              <a:gd name="T41" fmla="*/ 165183 h 4"/>
              <a:gd name="T42" fmla="*/ 1530313982 w 729"/>
              <a:gd name="T43" fmla="*/ 505983 h 4"/>
              <a:gd name="T44" fmla="*/ 1530313982 w 729"/>
              <a:gd name="T45" fmla="*/ 0 h 4"/>
              <a:gd name="T46" fmla="*/ 1530313982 w 729"/>
              <a:gd name="T47" fmla="*/ 505983 h 4"/>
              <a:gd name="T48" fmla="*/ 1405414397 w 729"/>
              <a:gd name="T49" fmla="*/ 0 h 4"/>
              <a:gd name="T50" fmla="*/ 1412055165 w 729"/>
              <a:gd name="T51" fmla="*/ 381523 h 4"/>
              <a:gd name="T52" fmla="*/ 1287887406 w 729"/>
              <a:gd name="T53" fmla="*/ 381523 h 4"/>
              <a:gd name="T54" fmla="*/ 1299711236 w 729"/>
              <a:gd name="T55" fmla="*/ 0 h 4"/>
              <a:gd name="T56" fmla="*/ 1179034888 w 729"/>
              <a:gd name="T57" fmla="*/ 505983 h 4"/>
              <a:gd name="T58" fmla="*/ 1179034888 w 729"/>
              <a:gd name="T59" fmla="*/ 0 h 4"/>
              <a:gd name="T60" fmla="*/ 1179034888 w 729"/>
              <a:gd name="T61" fmla="*/ 505983 h 4"/>
              <a:gd name="T62" fmla="*/ 1054093587 w 729"/>
              <a:gd name="T63" fmla="*/ 165183 h 4"/>
              <a:gd name="T64" fmla="*/ 1067710404 w 729"/>
              <a:gd name="T65" fmla="*/ 165183 h 4"/>
              <a:gd name="T66" fmla="*/ 945448063 w 729"/>
              <a:gd name="T67" fmla="*/ 505983 h 4"/>
              <a:gd name="T68" fmla="*/ 945448063 w 729"/>
              <a:gd name="T69" fmla="*/ 0 h 4"/>
              <a:gd name="T70" fmla="*/ 945448063 w 729"/>
              <a:gd name="T71" fmla="*/ 505983 h 4"/>
              <a:gd name="T72" fmla="*/ 820167527 w 729"/>
              <a:gd name="T73" fmla="*/ 0 h 4"/>
              <a:gd name="T74" fmla="*/ 830470954 w 729"/>
              <a:gd name="T75" fmla="*/ 381523 h 4"/>
              <a:gd name="T76" fmla="*/ 706253424 w 729"/>
              <a:gd name="T77" fmla="*/ 381523 h 4"/>
              <a:gd name="T78" fmla="*/ 713242739 w 729"/>
              <a:gd name="T79" fmla="*/ 0 h 4"/>
              <a:gd name="T80" fmla="*/ 597661408 w 729"/>
              <a:gd name="T81" fmla="*/ 505983 h 4"/>
              <a:gd name="T82" fmla="*/ 597661408 w 729"/>
              <a:gd name="T83" fmla="*/ 0 h 4"/>
              <a:gd name="T84" fmla="*/ 597661408 w 729"/>
              <a:gd name="T85" fmla="*/ 505983 h 4"/>
              <a:gd name="T86" fmla="*/ 469229112 w 729"/>
              <a:gd name="T87" fmla="*/ 165183 h 4"/>
              <a:gd name="T88" fmla="*/ 482845962 w 729"/>
              <a:gd name="T89" fmla="*/ 165183 h 4"/>
              <a:gd name="T90" fmla="*/ 358867790 w 729"/>
              <a:gd name="T91" fmla="*/ 505983 h 4"/>
              <a:gd name="T92" fmla="*/ 358867790 w 729"/>
              <a:gd name="T93" fmla="*/ 0 h 4"/>
              <a:gd name="T94" fmla="*/ 358867790 w 729"/>
              <a:gd name="T95" fmla="*/ 505983 h 4"/>
              <a:gd name="T96" fmla="*/ 233793955 w 729"/>
              <a:gd name="T97" fmla="*/ 0 h 4"/>
              <a:gd name="T98" fmla="*/ 245616405 w 729"/>
              <a:gd name="T99" fmla="*/ 381523 h 4"/>
              <a:gd name="T100" fmla="*/ 121445271 w 729"/>
              <a:gd name="T101" fmla="*/ 381523 h 4"/>
              <a:gd name="T102" fmla="*/ 131613408 w 729"/>
              <a:gd name="T103" fmla="*/ 0 h 4"/>
              <a:gd name="T104" fmla="*/ 10258259 w 729"/>
              <a:gd name="T105" fmla="*/ 505983 h 4"/>
              <a:gd name="T106" fmla="*/ 10258259 w 729"/>
              <a:gd name="T107" fmla="*/ 0 h 4"/>
              <a:gd name="T108" fmla="*/ 10258259 w 729"/>
              <a:gd name="T109" fmla="*/ 505983 h 4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729"/>
              <a:gd name="T166" fmla="*/ 0 h 4"/>
              <a:gd name="T167" fmla="*/ 729 w 729"/>
              <a:gd name="T168" fmla="*/ 4 h 4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729" h="4">
                <a:moveTo>
                  <a:pt x="726" y="4"/>
                </a:moveTo>
                <a:lnTo>
                  <a:pt x="726" y="4"/>
                </a:lnTo>
                <a:lnTo>
                  <a:pt x="725" y="3"/>
                </a:lnTo>
                <a:lnTo>
                  <a:pt x="725" y="1"/>
                </a:lnTo>
                <a:lnTo>
                  <a:pt x="725" y="0"/>
                </a:lnTo>
                <a:lnTo>
                  <a:pt x="726" y="0"/>
                </a:lnTo>
                <a:lnTo>
                  <a:pt x="728" y="0"/>
                </a:lnTo>
                <a:lnTo>
                  <a:pt x="729" y="1"/>
                </a:lnTo>
                <a:lnTo>
                  <a:pt x="728" y="3"/>
                </a:lnTo>
                <a:lnTo>
                  <a:pt x="726" y="4"/>
                </a:lnTo>
                <a:close/>
                <a:moveTo>
                  <a:pt x="694" y="4"/>
                </a:moveTo>
                <a:lnTo>
                  <a:pt x="694" y="4"/>
                </a:lnTo>
                <a:lnTo>
                  <a:pt x="693" y="3"/>
                </a:lnTo>
                <a:lnTo>
                  <a:pt x="691" y="1"/>
                </a:lnTo>
                <a:lnTo>
                  <a:pt x="693" y="0"/>
                </a:lnTo>
                <a:lnTo>
                  <a:pt x="694" y="0"/>
                </a:lnTo>
                <a:lnTo>
                  <a:pt x="695" y="0"/>
                </a:lnTo>
                <a:lnTo>
                  <a:pt x="695" y="1"/>
                </a:lnTo>
                <a:lnTo>
                  <a:pt x="695" y="3"/>
                </a:lnTo>
                <a:lnTo>
                  <a:pt x="694" y="4"/>
                </a:lnTo>
                <a:close/>
                <a:moveTo>
                  <a:pt x="660" y="4"/>
                </a:moveTo>
                <a:lnTo>
                  <a:pt x="660" y="4"/>
                </a:lnTo>
                <a:lnTo>
                  <a:pt x="659" y="3"/>
                </a:lnTo>
                <a:lnTo>
                  <a:pt x="659" y="1"/>
                </a:lnTo>
                <a:lnTo>
                  <a:pt x="659" y="0"/>
                </a:lnTo>
                <a:lnTo>
                  <a:pt x="660" y="0"/>
                </a:lnTo>
                <a:lnTo>
                  <a:pt x="662" y="0"/>
                </a:lnTo>
                <a:lnTo>
                  <a:pt x="663" y="1"/>
                </a:lnTo>
                <a:lnTo>
                  <a:pt x="662" y="3"/>
                </a:lnTo>
                <a:lnTo>
                  <a:pt x="660" y="4"/>
                </a:lnTo>
                <a:close/>
                <a:moveTo>
                  <a:pt x="628" y="4"/>
                </a:moveTo>
                <a:lnTo>
                  <a:pt x="628" y="4"/>
                </a:lnTo>
                <a:lnTo>
                  <a:pt x="627" y="3"/>
                </a:lnTo>
                <a:lnTo>
                  <a:pt x="627" y="1"/>
                </a:lnTo>
                <a:lnTo>
                  <a:pt x="627" y="0"/>
                </a:lnTo>
                <a:lnTo>
                  <a:pt x="628" y="0"/>
                </a:lnTo>
                <a:lnTo>
                  <a:pt x="629" y="0"/>
                </a:lnTo>
                <a:lnTo>
                  <a:pt x="629" y="1"/>
                </a:lnTo>
                <a:lnTo>
                  <a:pt x="629" y="3"/>
                </a:lnTo>
                <a:lnTo>
                  <a:pt x="628" y="4"/>
                </a:lnTo>
                <a:close/>
                <a:moveTo>
                  <a:pt x="596" y="4"/>
                </a:moveTo>
                <a:lnTo>
                  <a:pt x="596" y="4"/>
                </a:lnTo>
                <a:lnTo>
                  <a:pt x="594" y="3"/>
                </a:lnTo>
                <a:lnTo>
                  <a:pt x="593" y="1"/>
                </a:lnTo>
                <a:lnTo>
                  <a:pt x="594" y="0"/>
                </a:lnTo>
                <a:lnTo>
                  <a:pt x="596" y="0"/>
                </a:lnTo>
                <a:lnTo>
                  <a:pt x="597" y="0"/>
                </a:lnTo>
                <a:lnTo>
                  <a:pt x="597" y="1"/>
                </a:lnTo>
                <a:lnTo>
                  <a:pt x="597" y="3"/>
                </a:lnTo>
                <a:lnTo>
                  <a:pt x="596" y="4"/>
                </a:lnTo>
                <a:close/>
                <a:moveTo>
                  <a:pt x="562" y="4"/>
                </a:moveTo>
                <a:lnTo>
                  <a:pt x="562" y="4"/>
                </a:lnTo>
                <a:lnTo>
                  <a:pt x="560" y="3"/>
                </a:lnTo>
                <a:lnTo>
                  <a:pt x="560" y="1"/>
                </a:lnTo>
                <a:lnTo>
                  <a:pt x="560" y="0"/>
                </a:lnTo>
                <a:lnTo>
                  <a:pt x="562" y="0"/>
                </a:lnTo>
                <a:lnTo>
                  <a:pt x="563" y="0"/>
                </a:lnTo>
                <a:lnTo>
                  <a:pt x="564" y="1"/>
                </a:lnTo>
                <a:lnTo>
                  <a:pt x="563" y="3"/>
                </a:lnTo>
                <a:lnTo>
                  <a:pt x="562" y="4"/>
                </a:lnTo>
                <a:close/>
                <a:moveTo>
                  <a:pt x="529" y="4"/>
                </a:moveTo>
                <a:lnTo>
                  <a:pt x="529" y="4"/>
                </a:lnTo>
                <a:lnTo>
                  <a:pt x="528" y="3"/>
                </a:lnTo>
                <a:lnTo>
                  <a:pt x="527" y="1"/>
                </a:lnTo>
                <a:lnTo>
                  <a:pt x="528" y="0"/>
                </a:lnTo>
                <a:lnTo>
                  <a:pt x="529" y="0"/>
                </a:lnTo>
                <a:lnTo>
                  <a:pt x="531" y="0"/>
                </a:lnTo>
                <a:lnTo>
                  <a:pt x="531" y="1"/>
                </a:lnTo>
                <a:lnTo>
                  <a:pt x="531" y="3"/>
                </a:lnTo>
                <a:lnTo>
                  <a:pt x="529" y="4"/>
                </a:lnTo>
                <a:close/>
                <a:moveTo>
                  <a:pt x="496" y="4"/>
                </a:moveTo>
                <a:lnTo>
                  <a:pt x="496" y="4"/>
                </a:lnTo>
                <a:lnTo>
                  <a:pt x="494" y="3"/>
                </a:lnTo>
                <a:lnTo>
                  <a:pt x="494" y="1"/>
                </a:lnTo>
                <a:lnTo>
                  <a:pt x="494" y="0"/>
                </a:lnTo>
                <a:lnTo>
                  <a:pt x="496" y="0"/>
                </a:lnTo>
                <a:lnTo>
                  <a:pt x="497" y="0"/>
                </a:lnTo>
                <a:lnTo>
                  <a:pt x="498" y="1"/>
                </a:lnTo>
                <a:lnTo>
                  <a:pt x="497" y="3"/>
                </a:lnTo>
                <a:lnTo>
                  <a:pt x="496" y="4"/>
                </a:lnTo>
                <a:close/>
                <a:moveTo>
                  <a:pt x="463" y="4"/>
                </a:moveTo>
                <a:lnTo>
                  <a:pt x="463" y="4"/>
                </a:lnTo>
                <a:lnTo>
                  <a:pt x="462" y="3"/>
                </a:lnTo>
                <a:lnTo>
                  <a:pt x="462" y="1"/>
                </a:lnTo>
                <a:lnTo>
                  <a:pt x="462" y="0"/>
                </a:lnTo>
                <a:lnTo>
                  <a:pt x="463" y="0"/>
                </a:lnTo>
                <a:lnTo>
                  <a:pt x="465" y="0"/>
                </a:lnTo>
                <a:lnTo>
                  <a:pt x="465" y="1"/>
                </a:lnTo>
                <a:lnTo>
                  <a:pt x="465" y="3"/>
                </a:lnTo>
                <a:lnTo>
                  <a:pt x="463" y="4"/>
                </a:lnTo>
                <a:close/>
                <a:moveTo>
                  <a:pt x="431" y="4"/>
                </a:moveTo>
                <a:lnTo>
                  <a:pt x="431" y="4"/>
                </a:lnTo>
                <a:lnTo>
                  <a:pt x="429" y="3"/>
                </a:lnTo>
                <a:lnTo>
                  <a:pt x="428" y="1"/>
                </a:lnTo>
                <a:lnTo>
                  <a:pt x="429" y="0"/>
                </a:lnTo>
                <a:lnTo>
                  <a:pt x="431" y="0"/>
                </a:lnTo>
                <a:lnTo>
                  <a:pt x="432" y="0"/>
                </a:lnTo>
                <a:lnTo>
                  <a:pt x="432" y="1"/>
                </a:lnTo>
                <a:lnTo>
                  <a:pt x="432" y="3"/>
                </a:lnTo>
                <a:lnTo>
                  <a:pt x="431" y="4"/>
                </a:lnTo>
                <a:close/>
                <a:moveTo>
                  <a:pt x="397" y="4"/>
                </a:moveTo>
                <a:lnTo>
                  <a:pt x="397" y="4"/>
                </a:lnTo>
                <a:lnTo>
                  <a:pt x="396" y="3"/>
                </a:lnTo>
                <a:lnTo>
                  <a:pt x="396" y="1"/>
                </a:lnTo>
                <a:lnTo>
                  <a:pt x="396" y="0"/>
                </a:lnTo>
                <a:lnTo>
                  <a:pt x="397" y="0"/>
                </a:lnTo>
                <a:lnTo>
                  <a:pt x="398" y="0"/>
                </a:lnTo>
                <a:lnTo>
                  <a:pt x="400" y="1"/>
                </a:lnTo>
                <a:lnTo>
                  <a:pt x="398" y="3"/>
                </a:lnTo>
                <a:lnTo>
                  <a:pt x="397" y="4"/>
                </a:lnTo>
                <a:close/>
                <a:moveTo>
                  <a:pt x="365" y="4"/>
                </a:moveTo>
                <a:lnTo>
                  <a:pt x="365" y="4"/>
                </a:lnTo>
                <a:lnTo>
                  <a:pt x="363" y="3"/>
                </a:lnTo>
                <a:lnTo>
                  <a:pt x="363" y="1"/>
                </a:lnTo>
                <a:lnTo>
                  <a:pt x="363" y="0"/>
                </a:lnTo>
                <a:lnTo>
                  <a:pt x="365" y="0"/>
                </a:lnTo>
                <a:lnTo>
                  <a:pt x="366" y="0"/>
                </a:lnTo>
                <a:lnTo>
                  <a:pt x="366" y="1"/>
                </a:lnTo>
                <a:lnTo>
                  <a:pt x="366" y="3"/>
                </a:lnTo>
                <a:lnTo>
                  <a:pt x="365" y="4"/>
                </a:lnTo>
                <a:close/>
                <a:moveTo>
                  <a:pt x="332" y="4"/>
                </a:moveTo>
                <a:lnTo>
                  <a:pt x="332" y="4"/>
                </a:lnTo>
                <a:lnTo>
                  <a:pt x="331" y="3"/>
                </a:lnTo>
                <a:lnTo>
                  <a:pt x="330" y="1"/>
                </a:lnTo>
                <a:lnTo>
                  <a:pt x="331" y="0"/>
                </a:lnTo>
                <a:lnTo>
                  <a:pt x="332" y="0"/>
                </a:lnTo>
                <a:lnTo>
                  <a:pt x="334" y="1"/>
                </a:lnTo>
                <a:lnTo>
                  <a:pt x="332" y="3"/>
                </a:lnTo>
                <a:lnTo>
                  <a:pt x="332" y="4"/>
                </a:lnTo>
                <a:close/>
                <a:moveTo>
                  <a:pt x="298" y="4"/>
                </a:moveTo>
                <a:lnTo>
                  <a:pt x="298" y="4"/>
                </a:lnTo>
                <a:lnTo>
                  <a:pt x="297" y="3"/>
                </a:lnTo>
                <a:lnTo>
                  <a:pt x="297" y="1"/>
                </a:lnTo>
                <a:lnTo>
                  <a:pt x="297" y="0"/>
                </a:lnTo>
                <a:lnTo>
                  <a:pt x="298" y="0"/>
                </a:lnTo>
                <a:lnTo>
                  <a:pt x="300" y="0"/>
                </a:lnTo>
                <a:lnTo>
                  <a:pt x="301" y="1"/>
                </a:lnTo>
                <a:lnTo>
                  <a:pt x="300" y="3"/>
                </a:lnTo>
                <a:lnTo>
                  <a:pt x="298" y="4"/>
                </a:lnTo>
                <a:close/>
                <a:moveTo>
                  <a:pt x="266" y="4"/>
                </a:moveTo>
                <a:lnTo>
                  <a:pt x="266" y="4"/>
                </a:lnTo>
                <a:lnTo>
                  <a:pt x="265" y="3"/>
                </a:lnTo>
                <a:lnTo>
                  <a:pt x="263" y="1"/>
                </a:lnTo>
                <a:lnTo>
                  <a:pt x="265" y="0"/>
                </a:lnTo>
                <a:lnTo>
                  <a:pt x="266" y="0"/>
                </a:lnTo>
                <a:lnTo>
                  <a:pt x="267" y="0"/>
                </a:lnTo>
                <a:lnTo>
                  <a:pt x="267" y="1"/>
                </a:lnTo>
                <a:lnTo>
                  <a:pt x="267" y="3"/>
                </a:lnTo>
                <a:lnTo>
                  <a:pt x="266" y="4"/>
                </a:lnTo>
                <a:close/>
                <a:moveTo>
                  <a:pt x="232" y="4"/>
                </a:moveTo>
                <a:lnTo>
                  <a:pt x="232" y="4"/>
                </a:lnTo>
                <a:lnTo>
                  <a:pt x="231" y="3"/>
                </a:lnTo>
                <a:lnTo>
                  <a:pt x="231" y="1"/>
                </a:lnTo>
                <a:lnTo>
                  <a:pt x="231" y="0"/>
                </a:lnTo>
                <a:lnTo>
                  <a:pt x="232" y="0"/>
                </a:lnTo>
                <a:lnTo>
                  <a:pt x="234" y="0"/>
                </a:lnTo>
                <a:lnTo>
                  <a:pt x="235" y="1"/>
                </a:lnTo>
                <a:lnTo>
                  <a:pt x="234" y="3"/>
                </a:lnTo>
                <a:lnTo>
                  <a:pt x="232" y="4"/>
                </a:lnTo>
                <a:close/>
                <a:moveTo>
                  <a:pt x="200" y="4"/>
                </a:moveTo>
                <a:lnTo>
                  <a:pt x="200" y="4"/>
                </a:lnTo>
                <a:lnTo>
                  <a:pt x="199" y="3"/>
                </a:lnTo>
                <a:lnTo>
                  <a:pt x="199" y="1"/>
                </a:lnTo>
                <a:lnTo>
                  <a:pt x="199" y="0"/>
                </a:lnTo>
                <a:lnTo>
                  <a:pt x="200" y="0"/>
                </a:lnTo>
                <a:lnTo>
                  <a:pt x="201" y="0"/>
                </a:lnTo>
                <a:lnTo>
                  <a:pt x="201" y="1"/>
                </a:lnTo>
                <a:lnTo>
                  <a:pt x="201" y="3"/>
                </a:lnTo>
                <a:lnTo>
                  <a:pt x="200" y="4"/>
                </a:lnTo>
                <a:close/>
                <a:moveTo>
                  <a:pt x="168" y="4"/>
                </a:moveTo>
                <a:lnTo>
                  <a:pt x="168" y="4"/>
                </a:lnTo>
                <a:lnTo>
                  <a:pt x="166" y="3"/>
                </a:lnTo>
                <a:lnTo>
                  <a:pt x="165" y="1"/>
                </a:lnTo>
                <a:lnTo>
                  <a:pt x="166" y="0"/>
                </a:lnTo>
                <a:lnTo>
                  <a:pt x="168" y="0"/>
                </a:lnTo>
                <a:lnTo>
                  <a:pt x="169" y="1"/>
                </a:lnTo>
                <a:lnTo>
                  <a:pt x="168" y="3"/>
                </a:lnTo>
                <a:lnTo>
                  <a:pt x="168" y="4"/>
                </a:lnTo>
                <a:close/>
                <a:moveTo>
                  <a:pt x="134" y="4"/>
                </a:moveTo>
                <a:lnTo>
                  <a:pt x="134" y="4"/>
                </a:lnTo>
                <a:lnTo>
                  <a:pt x="132" y="3"/>
                </a:lnTo>
                <a:lnTo>
                  <a:pt x="132" y="1"/>
                </a:lnTo>
                <a:lnTo>
                  <a:pt x="132" y="0"/>
                </a:lnTo>
                <a:lnTo>
                  <a:pt x="134" y="0"/>
                </a:lnTo>
                <a:lnTo>
                  <a:pt x="135" y="0"/>
                </a:lnTo>
                <a:lnTo>
                  <a:pt x="136" y="1"/>
                </a:lnTo>
                <a:lnTo>
                  <a:pt x="135" y="3"/>
                </a:lnTo>
                <a:lnTo>
                  <a:pt x="134" y="4"/>
                </a:lnTo>
                <a:close/>
                <a:moveTo>
                  <a:pt x="101" y="4"/>
                </a:moveTo>
                <a:lnTo>
                  <a:pt x="101" y="4"/>
                </a:lnTo>
                <a:lnTo>
                  <a:pt x="100" y="3"/>
                </a:lnTo>
                <a:lnTo>
                  <a:pt x="99" y="1"/>
                </a:lnTo>
                <a:lnTo>
                  <a:pt x="100" y="0"/>
                </a:lnTo>
                <a:lnTo>
                  <a:pt x="101" y="0"/>
                </a:lnTo>
                <a:lnTo>
                  <a:pt x="103" y="0"/>
                </a:lnTo>
                <a:lnTo>
                  <a:pt x="103" y="1"/>
                </a:lnTo>
                <a:lnTo>
                  <a:pt x="103" y="3"/>
                </a:lnTo>
                <a:lnTo>
                  <a:pt x="101" y="4"/>
                </a:lnTo>
                <a:close/>
                <a:moveTo>
                  <a:pt x="68" y="4"/>
                </a:moveTo>
                <a:lnTo>
                  <a:pt x="68" y="4"/>
                </a:lnTo>
                <a:lnTo>
                  <a:pt x="66" y="3"/>
                </a:lnTo>
                <a:lnTo>
                  <a:pt x="66" y="1"/>
                </a:lnTo>
                <a:lnTo>
                  <a:pt x="66" y="0"/>
                </a:lnTo>
                <a:lnTo>
                  <a:pt x="68" y="0"/>
                </a:lnTo>
                <a:lnTo>
                  <a:pt x="69" y="0"/>
                </a:lnTo>
                <a:lnTo>
                  <a:pt x="70" y="1"/>
                </a:lnTo>
                <a:lnTo>
                  <a:pt x="69" y="3"/>
                </a:lnTo>
                <a:lnTo>
                  <a:pt x="68" y="4"/>
                </a:lnTo>
                <a:close/>
                <a:moveTo>
                  <a:pt x="35" y="4"/>
                </a:moveTo>
                <a:lnTo>
                  <a:pt x="35" y="4"/>
                </a:lnTo>
                <a:lnTo>
                  <a:pt x="34" y="3"/>
                </a:lnTo>
                <a:lnTo>
                  <a:pt x="34" y="1"/>
                </a:lnTo>
                <a:lnTo>
                  <a:pt x="34" y="0"/>
                </a:lnTo>
                <a:lnTo>
                  <a:pt x="35" y="0"/>
                </a:lnTo>
                <a:lnTo>
                  <a:pt x="37" y="0"/>
                </a:lnTo>
                <a:lnTo>
                  <a:pt x="37" y="1"/>
                </a:lnTo>
                <a:lnTo>
                  <a:pt x="37" y="3"/>
                </a:lnTo>
                <a:lnTo>
                  <a:pt x="35" y="4"/>
                </a:lnTo>
                <a:close/>
                <a:moveTo>
                  <a:pt x="3" y="4"/>
                </a:moveTo>
                <a:lnTo>
                  <a:pt x="3" y="4"/>
                </a:lnTo>
                <a:lnTo>
                  <a:pt x="1" y="3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未知">
            <a:extLst>
              <a:ext uri="{FF2B5EF4-FFF2-40B4-BE49-F238E27FC236}">
                <a16:creationId xmlns:a16="http://schemas.microsoft.com/office/drawing/2014/main" id="{14E1FC81-C34C-6699-6BB8-1EABC0DD38C9}"/>
              </a:ext>
            </a:extLst>
          </p:cNvPr>
          <p:cNvSpPr>
            <a:spLocks/>
          </p:cNvSpPr>
          <p:nvPr/>
        </p:nvSpPr>
        <p:spPr bwMode="auto">
          <a:xfrm>
            <a:off x="1538673" y="5834580"/>
            <a:ext cx="165145" cy="109826"/>
          </a:xfrm>
          <a:custGeom>
            <a:avLst/>
            <a:gdLst>
              <a:gd name="T0" fmla="*/ 434492828 w 127"/>
              <a:gd name="T1" fmla="*/ 414458478 h 83"/>
              <a:gd name="T2" fmla="*/ 0 w 127"/>
              <a:gd name="T3" fmla="*/ 203423326 h 83"/>
              <a:gd name="T4" fmla="*/ 434492828 w 127"/>
              <a:gd name="T5" fmla="*/ 0 h 83"/>
              <a:gd name="T6" fmla="*/ 434492828 w 127"/>
              <a:gd name="T7" fmla="*/ 414458478 h 83"/>
              <a:gd name="T8" fmla="*/ 0 60000 65536"/>
              <a:gd name="T9" fmla="*/ 0 60000 65536"/>
              <a:gd name="T10" fmla="*/ 0 60000 65536"/>
              <a:gd name="T11" fmla="*/ 0 60000 65536"/>
              <a:gd name="T12" fmla="*/ 0 w 127"/>
              <a:gd name="T13" fmla="*/ 0 h 83"/>
              <a:gd name="T14" fmla="*/ 127 w 127"/>
              <a:gd name="T15" fmla="*/ 83 h 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7" h="83">
                <a:moveTo>
                  <a:pt x="127" y="83"/>
                </a:moveTo>
                <a:lnTo>
                  <a:pt x="0" y="41"/>
                </a:lnTo>
                <a:lnTo>
                  <a:pt x="127" y="0"/>
                </a:lnTo>
                <a:lnTo>
                  <a:pt x="127" y="8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未知">
            <a:extLst>
              <a:ext uri="{FF2B5EF4-FFF2-40B4-BE49-F238E27FC236}">
                <a16:creationId xmlns:a16="http://schemas.microsoft.com/office/drawing/2014/main" id="{508C9460-DB9F-E663-C30D-2D90767BBFF9}"/>
              </a:ext>
            </a:extLst>
          </p:cNvPr>
          <p:cNvSpPr>
            <a:spLocks/>
          </p:cNvSpPr>
          <p:nvPr/>
        </p:nvSpPr>
        <p:spPr bwMode="auto">
          <a:xfrm>
            <a:off x="2664837" y="5741260"/>
            <a:ext cx="280747" cy="298371"/>
          </a:xfrm>
          <a:custGeom>
            <a:avLst/>
            <a:gdLst>
              <a:gd name="T0" fmla="*/ 5858600 w 217"/>
              <a:gd name="T1" fmla="*/ 446341159 h 227"/>
              <a:gd name="T2" fmla="*/ 17922139 w 217"/>
              <a:gd name="T3" fmla="*/ 348105442 h 227"/>
              <a:gd name="T4" fmla="*/ 43607429 w 217"/>
              <a:gd name="T5" fmla="*/ 256183409 h 227"/>
              <a:gd name="T6" fmla="*/ 77229784 w 217"/>
              <a:gd name="T7" fmla="*/ 182291127 h 227"/>
              <a:gd name="T8" fmla="*/ 122271747 w 217"/>
              <a:gd name="T9" fmla="*/ 113371133 h 227"/>
              <a:gd name="T10" fmla="*/ 175228399 w 217"/>
              <a:gd name="T11" fmla="*/ 60672045 h 227"/>
              <a:gd name="T12" fmla="*/ 234584880 w 217"/>
              <a:gd name="T13" fmla="*/ 20996372 h 227"/>
              <a:gd name="T14" fmla="*/ 301967446 w 217"/>
              <a:gd name="T15" fmla="*/ 3971138 h 227"/>
              <a:gd name="T16" fmla="*/ 365632686 w 217"/>
              <a:gd name="T17" fmla="*/ 3971138 h 227"/>
              <a:gd name="T18" fmla="*/ 434136673 w 217"/>
              <a:gd name="T19" fmla="*/ 20996372 h 227"/>
              <a:gd name="T20" fmla="*/ 492454229 w 217"/>
              <a:gd name="T21" fmla="*/ 60672045 h 227"/>
              <a:gd name="T22" fmla="*/ 545120329 w 217"/>
              <a:gd name="T23" fmla="*/ 113371133 h 227"/>
              <a:gd name="T24" fmla="*/ 590415685 w 217"/>
              <a:gd name="T25" fmla="*/ 182291127 h 227"/>
              <a:gd name="T26" fmla="*/ 623865094 w 217"/>
              <a:gd name="T27" fmla="*/ 256183409 h 227"/>
              <a:gd name="T28" fmla="*/ 652637793 w 217"/>
              <a:gd name="T29" fmla="*/ 348105442 h 227"/>
              <a:gd name="T30" fmla="*/ 667640835 w 217"/>
              <a:gd name="T31" fmla="*/ 446341159 h 227"/>
              <a:gd name="T32" fmla="*/ 667640835 w 217"/>
              <a:gd name="T33" fmla="*/ 490035276 h 227"/>
              <a:gd name="T34" fmla="*/ 661693287 w 217"/>
              <a:gd name="T35" fmla="*/ 591068594 h 227"/>
              <a:gd name="T36" fmla="*/ 640965693 w 217"/>
              <a:gd name="T37" fmla="*/ 685652195 h 227"/>
              <a:gd name="T38" fmla="*/ 609035589 w 217"/>
              <a:gd name="T39" fmla="*/ 767322354 h 227"/>
              <a:gd name="T40" fmla="*/ 569593784 w 217"/>
              <a:gd name="T41" fmla="*/ 842402251 h 227"/>
              <a:gd name="T42" fmla="*/ 520085125 w 217"/>
              <a:gd name="T43" fmla="*/ 903181730 h 227"/>
              <a:gd name="T44" fmla="*/ 462151609 w 217"/>
              <a:gd name="T45" fmla="*/ 949607487 h 227"/>
              <a:gd name="T46" fmla="*/ 400709442 w 217"/>
              <a:gd name="T47" fmla="*/ 972957092 h 227"/>
              <a:gd name="T48" fmla="*/ 332633172 w 217"/>
              <a:gd name="T49" fmla="*/ 985307325 h 227"/>
              <a:gd name="T50" fmla="*/ 267626949 w 217"/>
              <a:gd name="T51" fmla="*/ 972957092 h 227"/>
              <a:gd name="T52" fmla="*/ 205402873 w 217"/>
              <a:gd name="T53" fmla="*/ 949607487 h 227"/>
              <a:gd name="T54" fmla="*/ 148250986 w 217"/>
              <a:gd name="T55" fmla="*/ 903181730 h 227"/>
              <a:gd name="T56" fmla="*/ 100842587 w 217"/>
              <a:gd name="T57" fmla="*/ 842402251 h 227"/>
              <a:gd name="T58" fmla="*/ 58648096 w 217"/>
              <a:gd name="T59" fmla="*/ 767322354 h 227"/>
              <a:gd name="T60" fmla="*/ 27400380 w 217"/>
              <a:gd name="T61" fmla="*/ 685652195 h 227"/>
              <a:gd name="T62" fmla="*/ 8798878 w 217"/>
              <a:gd name="T63" fmla="*/ 591068594 h 227"/>
              <a:gd name="T64" fmla="*/ 0 w 217"/>
              <a:gd name="T65" fmla="*/ 490035276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7"/>
              <a:gd name="T100" fmla="*/ 0 h 227"/>
              <a:gd name="T101" fmla="*/ 217 w 217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7" h="227">
                <a:moveTo>
                  <a:pt x="0" y="113"/>
                </a:moveTo>
                <a:lnTo>
                  <a:pt x="2" y="103"/>
                </a:lnTo>
                <a:lnTo>
                  <a:pt x="3" y="91"/>
                </a:lnTo>
                <a:lnTo>
                  <a:pt x="6" y="80"/>
                </a:lnTo>
                <a:lnTo>
                  <a:pt x="9" y="69"/>
                </a:lnTo>
                <a:lnTo>
                  <a:pt x="14" y="59"/>
                </a:lnTo>
                <a:lnTo>
                  <a:pt x="19" y="50"/>
                </a:lnTo>
                <a:lnTo>
                  <a:pt x="25" y="42"/>
                </a:lnTo>
                <a:lnTo>
                  <a:pt x="33" y="34"/>
                </a:lnTo>
                <a:lnTo>
                  <a:pt x="40" y="26"/>
                </a:lnTo>
                <a:lnTo>
                  <a:pt x="48" y="19"/>
                </a:lnTo>
                <a:lnTo>
                  <a:pt x="57" y="14"/>
                </a:lnTo>
                <a:lnTo>
                  <a:pt x="67" y="10"/>
                </a:lnTo>
                <a:lnTo>
                  <a:pt x="76" y="5"/>
                </a:lnTo>
                <a:lnTo>
                  <a:pt x="87" y="3"/>
                </a:lnTo>
                <a:lnTo>
                  <a:pt x="98" y="1"/>
                </a:lnTo>
                <a:lnTo>
                  <a:pt x="108" y="0"/>
                </a:lnTo>
                <a:lnTo>
                  <a:pt x="119" y="1"/>
                </a:lnTo>
                <a:lnTo>
                  <a:pt x="130" y="3"/>
                </a:lnTo>
                <a:lnTo>
                  <a:pt x="141" y="5"/>
                </a:lnTo>
                <a:lnTo>
                  <a:pt x="150" y="10"/>
                </a:lnTo>
                <a:lnTo>
                  <a:pt x="160" y="14"/>
                </a:lnTo>
                <a:lnTo>
                  <a:pt x="169" y="19"/>
                </a:lnTo>
                <a:lnTo>
                  <a:pt x="177" y="26"/>
                </a:lnTo>
                <a:lnTo>
                  <a:pt x="185" y="34"/>
                </a:lnTo>
                <a:lnTo>
                  <a:pt x="192" y="42"/>
                </a:lnTo>
                <a:lnTo>
                  <a:pt x="198" y="50"/>
                </a:lnTo>
                <a:lnTo>
                  <a:pt x="203" y="59"/>
                </a:lnTo>
                <a:lnTo>
                  <a:pt x="208" y="69"/>
                </a:lnTo>
                <a:lnTo>
                  <a:pt x="212" y="80"/>
                </a:lnTo>
                <a:lnTo>
                  <a:pt x="215" y="91"/>
                </a:lnTo>
                <a:lnTo>
                  <a:pt x="217" y="103"/>
                </a:lnTo>
                <a:lnTo>
                  <a:pt x="217" y="113"/>
                </a:lnTo>
                <a:lnTo>
                  <a:pt x="217" y="126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3" y="167"/>
                </a:lnTo>
                <a:lnTo>
                  <a:pt x="198" y="177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60" y="213"/>
                </a:lnTo>
                <a:lnTo>
                  <a:pt x="150" y="219"/>
                </a:lnTo>
                <a:lnTo>
                  <a:pt x="141" y="221"/>
                </a:lnTo>
                <a:lnTo>
                  <a:pt x="130" y="224"/>
                </a:lnTo>
                <a:lnTo>
                  <a:pt x="119" y="227"/>
                </a:lnTo>
                <a:lnTo>
                  <a:pt x="108" y="227"/>
                </a:lnTo>
                <a:lnTo>
                  <a:pt x="98" y="227"/>
                </a:lnTo>
                <a:lnTo>
                  <a:pt x="87" y="224"/>
                </a:lnTo>
                <a:lnTo>
                  <a:pt x="76" y="221"/>
                </a:lnTo>
                <a:lnTo>
                  <a:pt x="67" y="219"/>
                </a:lnTo>
                <a:lnTo>
                  <a:pt x="57" y="213"/>
                </a:lnTo>
                <a:lnTo>
                  <a:pt x="48" y="208"/>
                </a:lnTo>
                <a:lnTo>
                  <a:pt x="40" y="201"/>
                </a:lnTo>
                <a:lnTo>
                  <a:pt x="33" y="194"/>
                </a:lnTo>
                <a:lnTo>
                  <a:pt x="25" y="186"/>
                </a:lnTo>
                <a:lnTo>
                  <a:pt x="19" y="177"/>
                </a:lnTo>
                <a:lnTo>
                  <a:pt x="14" y="167"/>
                </a:lnTo>
                <a:lnTo>
                  <a:pt x="9" y="158"/>
                </a:lnTo>
                <a:lnTo>
                  <a:pt x="6" y="147"/>
                </a:lnTo>
                <a:lnTo>
                  <a:pt x="3" y="136"/>
                </a:lnTo>
                <a:lnTo>
                  <a:pt x="2" y="126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未知">
            <a:extLst>
              <a:ext uri="{FF2B5EF4-FFF2-40B4-BE49-F238E27FC236}">
                <a16:creationId xmlns:a16="http://schemas.microsoft.com/office/drawing/2014/main" id="{A9DF3306-E000-DEA6-F9D3-55422077AA96}"/>
              </a:ext>
            </a:extLst>
          </p:cNvPr>
          <p:cNvSpPr>
            <a:spLocks/>
          </p:cNvSpPr>
          <p:nvPr/>
        </p:nvSpPr>
        <p:spPr bwMode="auto">
          <a:xfrm>
            <a:off x="3228237" y="5020726"/>
            <a:ext cx="281382" cy="298371"/>
          </a:xfrm>
          <a:custGeom>
            <a:avLst/>
            <a:gdLst>
              <a:gd name="T0" fmla="*/ 3240229 w 216"/>
              <a:gd name="T1" fmla="*/ 485501602 h 226"/>
              <a:gd name="T2" fmla="*/ 17640192 w 216"/>
              <a:gd name="T3" fmla="*/ 375205301 h 226"/>
              <a:gd name="T4" fmla="*/ 46641729 w 216"/>
              <a:gd name="T5" fmla="*/ 281541765 h 226"/>
              <a:gd name="T6" fmla="*/ 84375203 w 216"/>
              <a:gd name="T7" fmla="*/ 194790464 h 226"/>
              <a:gd name="T8" fmla="*/ 138480098 w 216"/>
              <a:gd name="T9" fmla="*/ 119076492 h 226"/>
              <a:gd name="T10" fmla="*/ 199629625 w 216"/>
              <a:gd name="T11" fmla="*/ 61343543 h 226"/>
              <a:gd name="T12" fmla="*/ 267147653 w 216"/>
              <a:gd name="T13" fmla="*/ 23385031 h 226"/>
              <a:gd name="T14" fmla="*/ 345025250 w 216"/>
              <a:gd name="T15" fmla="*/ 4298969 h 226"/>
              <a:gd name="T16" fmla="*/ 419223425 w 216"/>
              <a:gd name="T17" fmla="*/ 4298969 h 226"/>
              <a:gd name="T18" fmla="*/ 498025336 w 216"/>
              <a:gd name="T19" fmla="*/ 23385031 h 226"/>
              <a:gd name="T20" fmla="*/ 565530112 w 216"/>
              <a:gd name="T21" fmla="*/ 61343543 h 226"/>
              <a:gd name="T22" fmla="*/ 625689234 w 216"/>
              <a:gd name="T23" fmla="*/ 119076492 h 226"/>
              <a:gd name="T24" fmla="*/ 679668055 w 216"/>
              <a:gd name="T25" fmla="*/ 194790464 h 226"/>
              <a:gd name="T26" fmla="*/ 717712575 w 216"/>
              <a:gd name="T27" fmla="*/ 281541765 h 226"/>
              <a:gd name="T28" fmla="*/ 750629190 w 216"/>
              <a:gd name="T29" fmla="*/ 375205301 h 226"/>
              <a:gd name="T30" fmla="*/ 768364923 w 216"/>
              <a:gd name="T31" fmla="*/ 485501602 h 226"/>
              <a:gd name="T32" fmla="*/ 768364923 w 216"/>
              <a:gd name="T33" fmla="*/ 538347344 h 226"/>
              <a:gd name="T34" fmla="*/ 760897017 w 216"/>
              <a:gd name="T35" fmla="*/ 648670450 h 226"/>
              <a:gd name="T36" fmla="*/ 737022078 w 216"/>
              <a:gd name="T37" fmla="*/ 752872443 h 226"/>
              <a:gd name="T38" fmla="*/ 700842729 w 216"/>
              <a:gd name="T39" fmla="*/ 838030353 h 226"/>
              <a:gd name="T40" fmla="*/ 653426848 w 216"/>
              <a:gd name="T41" fmla="*/ 922864214 h 226"/>
              <a:gd name="T42" fmla="*/ 598538309 w 216"/>
              <a:gd name="T43" fmla="*/ 991076223 h 226"/>
              <a:gd name="T44" fmla="*/ 531035388 w 216"/>
              <a:gd name="T45" fmla="*/ 1037090728 h 226"/>
              <a:gd name="T46" fmla="*/ 459209920 w 216"/>
              <a:gd name="T47" fmla="*/ 1066707152 h 226"/>
              <a:gd name="T48" fmla="*/ 384634143 w 216"/>
              <a:gd name="T49" fmla="*/ 1075907407 h 226"/>
              <a:gd name="T50" fmla="*/ 305076466 w 216"/>
              <a:gd name="T51" fmla="*/ 1066707152 h 226"/>
              <a:gd name="T52" fmla="*/ 234138249 w 216"/>
              <a:gd name="T53" fmla="*/ 1037090728 h 226"/>
              <a:gd name="T54" fmla="*/ 166617470 w 216"/>
              <a:gd name="T55" fmla="*/ 991076223 h 226"/>
              <a:gd name="T56" fmla="*/ 114162216 w 216"/>
              <a:gd name="T57" fmla="*/ 922864214 h 226"/>
              <a:gd name="T58" fmla="*/ 64248977 w 216"/>
              <a:gd name="T59" fmla="*/ 838030353 h 226"/>
              <a:gd name="T60" fmla="*/ 27952822 w 216"/>
              <a:gd name="T61" fmla="*/ 752872443 h 226"/>
              <a:gd name="T62" fmla="*/ 6645470 w 216"/>
              <a:gd name="T63" fmla="*/ 648670450 h 226"/>
              <a:gd name="T64" fmla="*/ 0 w 216"/>
              <a:gd name="T65" fmla="*/ 538347344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2" y="90"/>
                </a:lnTo>
                <a:lnTo>
                  <a:pt x="5" y="79"/>
                </a:lnTo>
                <a:lnTo>
                  <a:pt x="8" y="68"/>
                </a:lnTo>
                <a:lnTo>
                  <a:pt x="13" y="59"/>
                </a:lnTo>
                <a:lnTo>
                  <a:pt x="18" y="50"/>
                </a:lnTo>
                <a:lnTo>
                  <a:pt x="24" y="41"/>
                </a:lnTo>
                <a:lnTo>
                  <a:pt x="32" y="33"/>
                </a:lnTo>
                <a:lnTo>
                  <a:pt x="39" y="25"/>
                </a:lnTo>
                <a:lnTo>
                  <a:pt x="47" y="18"/>
                </a:lnTo>
                <a:lnTo>
                  <a:pt x="56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8" y="1"/>
                </a:lnTo>
                <a:lnTo>
                  <a:pt x="129" y="2"/>
                </a:lnTo>
                <a:lnTo>
                  <a:pt x="140" y="5"/>
                </a:lnTo>
                <a:lnTo>
                  <a:pt x="149" y="9"/>
                </a:lnTo>
                <a:lnTo>
                  <a:pt x="159" y="13"/>
                </a:lnTo>
                <a:lnTo>
                  <a:pt x="168" y="18"/>
                </a:lnTo>
                <a:lnTo>
                  <a:pt x="176" y="25"/>
                </a:lnTo>
                <a:lnTo>
                  <a:pt x="184" y="33"/>
                </a:lnTo>
                <a:lnTo>
                  <a:pt x="191" y="41"/>
                </a:lnTo>
                <a:lnTo>
                  <a:pt x="197" y="50"/>
                </a:lnTo>
                <a:lnTo>
                  <a:pt x="202" y="59"/>
                </a:lnTo>
                <a:lnTo>
                  <a:pt x="207" y="68"/>
                </a:lnTo>
                <a:lnTo>
                  <a:pt x="211" y="79"/>
                </a:lnTo>
                <a:lnTo>
                  <a:pt x="214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4" y="136"/>
                </a:lnTo>
                <a:lnTo>
                  <a:pt x="211" y="147"/>
                </a:lnTo>
                <a:lnTo>
                  <a:pt x="207" y="158"/>
                </a:lnTo>
                <a:lnTo>
                  <a:pt x="202" y="167"/>
                </a:lnTo>
                <a:lnTo>
                  <a:pt x="197" y="176"/>
                </a:lnTo>
                <a:lnTo>
                  <a:pt x="191" y="186"/>
                </a:lnTo>
                <a:lnTo>
                  <a:pt x="184" y="194"/>
                </a:lnTo>
                <a:lnTo>
                  <a:pt x="176" y="201"/>
                </a:lnTo>
                <a:lnTo>
                  <a:pt x="168" y="208"/>
                </a:lnTo>
                <a:lnTo>
                  <a:pt x="159" y="213"/>
                </a:lnTo>
                <a:lnTo>
                  <a:pt x="149" y="218"/>
                </a:lnTo>
                <a:lnTo>
                  <a:pt x="140" y="221"/>
                </a:lnTo>
                <a:lnTo>
                  <a:pt x="129" y="224"/>
                </a:lnTo>
                <a:lnTo>
                  <a:pt x="118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4"/>
                </a:lnTo>
                <a:lnTo>
                  <a:pt x="75" y="221"/>
                </a:lnTo>
                <a:lnTo>
                  <a:pt x="66" y="218"/>
                </a:lnTo>
                <a:lnTo>
                  <a:pt x="56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8" y="176"/>
                </a:lnTo>
                <a:lnTo>
                  <a:pt x="13" y="167"/>
                </a:lnTo>
                <a:lnTo>
                  <a:pt x="8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5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Line 52">
            <a:extLst>
              <a:ext uri="{FF2B5EF4-FFF2-40B4-BE49-F238E27FC236}">
                <a16:creationId xmlns:a16="http://schemas.microsoft.com/office/drawing/2014/main" id="{F012596C-2858-73E4-F320-6F906315AF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424" y="5274658"/>
            <a:ext cx="295356" cy="36629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 44">
            <a:extLst>
              <a:ext uri="{FF2B5EF4-FFF2-40B4-BE49-F238E27FC236}">
                <a16:creationId xmlns:a16="http://schemas.microsoft.com/office/drawing/2014/main" id="{BE625851-D58E-3E5F-6EAC-3FA675584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4560" y="5799664"/>
            <a:ext cx="63517" cy="152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</a:rPr>
              <a:t>C</a:t>
            </a:r>
            <a:endParaRPr lang="en-US" altLang="zh-CN" sz="1000" b="1" dirty="0">
              <a:solidFill>
                <a:srgbClr val="FF0000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30" name="Rectangle 47">
            <a:extLst>
              <a:ext uri="{FF2B5EF4-FFF2-40B4-BE49-F238E27FC236}">
                <a16:creationId xmlns:a16="http://schemas.microsoft.com/office/drawing/2014/main" id="{AF0C9161-4FA7-704F-A189-49F5EE42B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6689" y="5081035"/>
            <a:ext cx="6412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</a:rPr>
              <a:t>A</a:t>
            </a:r>
            <a:endParaRPr lang="en-US" altLang="zh-CN" sz="1000" b="1" dirty="0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36" name="未知">
            <a:extLst>
              <a:ext uri="{FF2B5EF4-FFF2-40B4-BE49-F238E27FC236}">
                <a16:creationId xmlns:a16="http://schemas.microsoft.com/office/drawing/2014/main" id="{393D1C2B-A4B5-0C74-811F-68975244D775}"/>
              </a:ext>
            </a:extLst>
          </p:cNvPr>
          <p:cNvSpPr>
            <a:spLocks/>
          </p:cNvSpPr>
          <p:nvPr/>
        </p:nvSpPr>
        <p:spPr bwMode="auto">
          <a:xfrm>
            <a:off x="2894770" y="5609215"/>
            <a:ext cx="146090" cy="165056"/>
          </a:xfrm>
          <a:custGeom>
            <a:avLst/>
            <a:gdLst>
              <a:gd name="T0" fmla="*/ 408854017 w 112"/>
              <a:gd name="T1" fmla="*/ 261729682 h 125"/>
              <a:gd name="T2" fmla="*/ 0 w 112"/>
              <a:gd name="T3" fmla="*/ 597391864 h 125"/>
              <a:gd name="T4" fmla="*/ 175847553 w 112"/>
              <a:gd name="T5" fmla="*/ 0 h 125"/>
              <a:gd name="T6" fmla="*/ 408854017 w 112"/>
              <a:gd name="T7" fmla="*/ 261729682 h 125"/>
              <a:gd name="T8" fmla="*/ 0 60000 65536"/>
              <a:gd name="T9" fmla="*/ 0 60000 65536"/>
              <a:gd name="T10" fmla="*/ 0 60000 65536"/>
              <a:gd name="T11" fmla="*/ 0 60000 65536"/>
              <a:gd name="T12" fmla="*/ 0 w 112"/>
              <a:gd name="T13" fmla="*/ 0 h 125"/>
              <a:gd name="T14" fmla="*/ 112 w 112"/>
              <a:gd name="T15" fmla="*/ 125 h 1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" h="125">
                <a:moveTo>
                  <a:pt x="112" y="55"/>
                </a:moveTo>
                <a:lnTo>
                  <a:pt x="0" y="125"/>
                </a:lnTo>
                <a:lnTo>
                  <a:pt x="48" y="0"/>
                </a:lnTo>
                <a:lnTo>
                  <a:pt x="112" y="55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Rectangle 54">
            <a:extLst>
              <a:ext uri="{FF2B5EF4-FFF2-40B4-BE49-F238E27FC236}">
                <a16:creationId xmlns:a16="http://schemas.microsoft.com/office/drawing/2014/main" id="{22A22E29-7E14-B37A-B0E9-0EAD7930F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4719" y="5509547"/>
            <a:ext cx="6412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>
                <a:solidFill>
                  <a:srgbClr val="FF0000"/>
                </a:solidFill>
                <a:latin typeface="宋体" pitchFamily="2" charset="-122"/>
              </a:rPr>
              <a:t>5</a:t>
            </a:r>
            <a:endParaRPr lang="zh-CN" altLang="en-US" sz="1000" b="1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38" name="Rectangle 55">
            <a:extLst>
              <a:ext uri="{FF2B5EF4-FFF2-40B4-BE49-F238E27FC236}">
                <a16:creationId xmlns:a16="http://schemas.microsoft.com/office/drawing/2014/main" id="{7511AD61-3995-D598-5E7D-8E64AD5D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6289" y="5180704"/>
            <a:ext cx="127035" cy="152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 dirty="0">
                <a:solidFill>
                  <a:srgbClr val="0000FF"/>
                </a:solidFill>
                <a:latin typeface="宋体" pitchFamily="2" charset="-122"/>
              </a:rPr>
              <a:t>30</a:t>
            </a:r>
            <a:endParaRPr lang="zh-CN" altLang="en-US" sz="1000" b="1" dirty="0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39" name="Rectangle 56">
            <a:extLst>
              <a:ext uri="{FF2B5EF4-FFF2-40B4-BE49-F238E27FC236}">
                <a16:creationId xmlns:a16="http://schemas.microsoft.com/office/drawing/2014/main" id="{215A56E5-4BF2-C7A3-590E-325EFEAB4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0199" y="5894889"/>
            <a:ext cx="63517" cy="152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>
                <a:solidFill>
                  <a:srgbClr val="0000FF"/>
                </a:solidFill>
                <a:latin typeface="宋体" pitchFamily="2" charset="-122"/>
              </a:rPr>
              <a:t>7</a:t>
            </a:r>
            <a:endParaRPr lang="zh-CN" altLang="en-US" sz="1000" b="1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40" name="未知">
            <a:extLst>
              <a:ext uri="{FF2B5EF4-FFF2-40B4-BE49-F238E27FC236}">
                <a16:creationId xmlns:a16="http://schemas.microsoft.com/office/drawing/2014/main" id="{0D1EAD23-D587-A781-2265-134C18AECE36}"/>
              </a:ext>
            </a:extLst>
          </p:cNvPr>
          <p:cNvSpPr>
            <a:spLocks noEditPoints="1"/>
          </p:cNvSpPr>
          <p:nvPr/>
        </p:nvSpPr>
        <p:spPr bwMode="auto">
          <a:xfrm>
            <a:off x="2802670" y="4779491"/>
            <a:ext cx="5081" cy="964944"/>
          </a:xfrm>
          <a:custGeom>
            <a:avLst/>
            <a:gdLst>
              <a:gd name="T0" fmla="*/ 6291456 w 4"/>
              <a:gd name="T1" fmla="*/ 2147483646 h 729"/>
              <a:gd name="T2" fmla="*/ 0 w 4"/>
              <a:gd name="T3" fmla="*/ 2147483646 h 729"/>
              <a:gd name="T4" fmla="*/ 0 w 4"/>
              <a:gd name="T5" fmla="*/ 2147483646 h 729"/>
              <a:gd name="T6" fmla="*/ 6291456 w 4"/>
              <a:gd name="T7" fmla="*/ 2147483646 h 729"/>
              <a:gd name="T8" fmla="*/ 0 w 4"/>
              <a:gd name="T9" fmla="*/ 2147483646 h 729"/>
              <a:gd name="T10" fmla="*/ 8388608 w 4"/>
              <a:gd name="T11" fmla="*/ 2147483646 h 729"/>
              <a:gd name="T12" fmla="*/ 0 w 4"/>
              <a:gd name="T13" fmla="*/ 2147483646 h 729"/>
              <a:gd name="T14" fmla="*/ 2097152 w 4"/>
              <a:gd name="T15" fmla="*/ 2147483646 h 729"/>
              <a:gd name="T16" fmla="*/ 2097152 w 4"/>
              <a:gd name="T17" fmla="*/ 2147483646 h 729"/>
              <a:gd name="T18" fmla="*/ 0 w 4"/>
              <a:gd name="T19" fmla="*/ 2147483646 h 729"/>
              <a:gd name="T20" fmla="*/ 8388608 w 4"/>
              <a:gd name="T21" fmla="*/ 2147483646 h 729"/>
              <a:gd name="T22" fmla="*/ 0 w 4"/>
              <a:gd name="T23" fmla="*/ 2147483646 h 729"/>
              <a:gd name="T24" fmla="*/ 6291456 w 4"/>
              <a:gd name="T25" fmla="*/ 2147483646 h 729"/>
              <a:gd name="T26" fmla="*/ 0 w 4"/>
              <a:gd name="T27" fmla="*/ 2147483646 h 729"/>
              <a:gd name="T28" fmla="*/ 0 w 4"/>
              <a:gd name="T29" fmla="*/ 2147483646 h 729"/>
              <a:gd name="T30" fmla="*/ 6291456 w 4"/>
              <a:gd name="T31" fmla="*/ 2147483646 h 729"/>
              <a:gd name="T32" fmla="*/ 0 w 4"/>
              <a:gd name="T33" fmla="*/ 2147483646 h 729"/>
              <a:gd name="T34" fmla="*/ 8388608 w 4"/>
              <a:gd name="T35" fmla="*/ 2147483646 h 729"/>
              <a:gd name="T36" fmla="*/ 0 w 4"/>
              <a:gd name="T37" fmla="*/ 2147483646 h 729"/>
              <a:gd name="T38" fmla="*/ 2097152 w 4"/>
              <a:gd name="T39" fmla="*/ 2147483646 h 729"/>
              <a:gd name="T40" fmla="*/ 2097152 w 4"/>
              <a:gd name="T41" fmla="*/ 2147483646 h 729"/>
              <a:gd name="T42" fmla="*/ 0 w 4"/>
              <a:gd name="T43" fmla="*/ 2147483646 h 729"/>
              <a:gd name="T44" fmla="*/ 8388608 w 4"/>
              <a:gd name="T45" fmla="*/ 2147483646 h 729"/>
              <a:gd name="T46" fmla="*/ 0 w 4"/>
              <a:gd name="T47" fmla="*/ 2147483646 h 729"/>
              <a:gd name="T48" fmla="*/ 6291456 w 4"/>
              <a:gd name="T49" fmla="*/ 1987132999 h 729"/>
              <a:gd name="T50" fmla="*/ 0 w 4"/>
              <a:gd name="T51" fmla="*/ 2002041578 h 729"/>
              <a:gd name="T52" fmla="*/ 0 w 4"/>
              <a:gd name="T53" fmla="*/ 1825046398 h 729"/>
              <a:gd name="T54" fmla="*/ 6291456 w 4"/>
              <a:gd name="T55" fmla="*/ 1840002253 h 729"/>
              <a:gd name="T56" fmla="*/ 0 w 4"/>
              <a:gd name="T57" fmla="*/ 1669314114 h 729"/>
              <a:gd name="T58" fmla="*/ 8388608 w 4"/>
              <a:gd name="T59" fmla="*/ 1669314114 h 729"/>
              <a:gd name="T60" fmla="*/ 0 w 4"/>
              <a:gd name="T61" fmla="*/ 1669314114 h 729"/>
              <a:gd name="T62" fmla="*/ 2097152 w 4"/>
              <a:gd name="T63" fmla="*/ 1493295914 h 729"/>
              <a:gd name="T64" fmla="*/ 2097152 w 4"/>
              <a:gd name="T65" fmla="*/ 1513874575 h 729"/>
              <a:gd name="T66" fmla="*/ 0 w 4"/>
              <a:gd name="T67" fmla="*/ 1338027933 h 729"/>
              <a:gd name="T68" fmla="*/ 8388608 w 4"/>
              <a:gd name="T69" fmla="*/ 1338027933 h 729"/>
              <a:gd name="T70" fmla="*/ 0 w 4"/>
              <a:gd name="T71" fmla="*/ 1338027933 h 729"/>
              <a:gd name="T72" fmla="*/ 6291456 w 4"/>
              <a:gd name="T73" fmla="*/ 1162094234 h 729"/>
              <a:gd name="T74" fmla="*/ 0 w 4"/>
              <a:gd name="T75" fmla="*/ 1171751270 h 729"/>
              <a:gd name="T76" fmla="*/ 0 w 4"/>
              <a:gd name="T77" fmla="*/ 995830460 h 729"/>
              <a:gd name="T78" fmla="*/ 6291456 w 4"/>
              <a:gd name="T79" fmla="*/ 1010771431 h 729"/>
              <a:gd name="T80" fmla="*/ 0 w 4"/>
              <a:gd name="T81" fmla="*/ 839884497 h 729"/>
              <a:gd name="T82" fmla="*/ 8388608 w 4"/>
              <a:gd name="T83" fmla="*/ 839884497 h 729"/>
              <a:gd name="T84" fmla="*/ 0 w 4"/>
              <a:gd name="T85" fmla="*/ 839884497 h 729"/>
              <a:gd name="T86" fmla="*/ 2097152 w 4"/>
              <a:gd name="T87" fmla="*/ 663011955 h 729"/>
              <a:gd name="T88" fmla="*/ 2097152 w 4"/>
              <a:gd name="T89" fmla="*/ 684565271 h 729"/>
              <a:gd name="T90" fmla="*/ 0 w 4"/>
              <a:gd name="T91" fmla="*/ 508743450 h 729"/>
              <a:gd name="T92" fmla="*/ 8388608 w 4"/>
              <a:gd name="T93" fmla="*/ 508743450 h 729"/>
              <a:gd name="T94" fmla="*/ 0 w 4"/>
              <a:gd name="T95" fmla="*/ 508743450 h 729"/>
              <a:gd name="T96" fmla="*/ 6291456 w 4"/>
              <a:gd name="T97" fmla="*/ 332782693 h 729"/>
              <a:gd name="T98" fmla="*/ 0 w 4"/>
              <a:gd name="T99" fmla="*/ 347161228 h 729"/>
              <a:gd name="T100" fmla="*/ 0 w 4"/>
              <a:gd name="T101" fmla="*/ 166500252 h 729"/>
              <a:gd name="T102" fmla="*/ 6291456 w 4"/>
              <a:gd name="T103" fmla="*/ 180424550 h 729"/>
              <a:gd name="T104" fmla="*/ 0 w 4"/>
              <a:gd name="T105" fmla="*/ 9301929 h 729"/>
              <a:gd name="T106" fmla="*/ 8388608 w 4"/>
              <a:gd name="T107" fmla="*/ 9301929 h 729"/>
              <a:gd name="T108" fmla="*/ 0 w 4"/>
              <a:gd name="T109" fmla="*/ 9301929 h 729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4"/>
              <a:gd name="T166" fmla="*/ 0 h 729"/>
              <a:gd name="T167" fmla="*/ 4 w 4"/>
              <a:gd name="T168" fmla="*/ 729 h 729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4" h="729">
                <a:moveTo>
                  <a:pt x="0" y="726"/>
                </a:moveTo>
                <a:lnTo>
                  <a:pt x="0" y="726"/>
                </a:lnTo>
                <a:lnTo>
                  <a:pt x="0" y="725"/>
                </a:lnTo>
                <a:lnTo>
                  <a:pt x="1" y="725"/>
                </a:lnTo>
                <a:lnTo>
                  <a:pt x="3" y="725"/>
                </a:lnTo>
                <a:lnTo>
                  <a:pt x="4" y="726"/>
                </a:lnTo>
                <a:lnTo>
                  <a:pt x="3" y="727"/>
                </a:lnTo>
                <a:lnTo>
                  <a:pt x="1" y="729"/>
                </a:lnTo>
                <a:lnTo>
                  <a:pt x="0" y="727"/>
                </a:lnTo>
                <a:lnTo>
                  <a:pt x="0" y="726"/>
                </a:lnTo>
                <a:close/>
                <a:moveTo>
                  <a:pt x="0" y="694"/>
                </a:moveTo>
                <a:lnTo>
                  <a:pt x="0" y="694"/>
                </a:lnTo>
                <a:lnTo>
                  <a:pt x="0" y="692"/>
                </a:lnTo>
                <a:lnTo>
                  <a:pt x="1" y="691"/>
                </a:lnTo>
                <a:lnTo>
                  <a:pt x="3" y="692"/>
                </a:lnTo>
                <a:lnTo>
                  <a:pt x="4" y="694"/>
                </a:lnTo>
                <a:lnTo>
                  <a:pt x="3" y="695"/>
                </a:lnTo>
                <a:lnTo>
                  <a:pt x="1" y="695"/>
                </a:lnTo>
                <a:lnTo>
                  <a:pt x="0" y="695"/>
                </a:lnTo>
                <a:lnTo>
                  <a:pt x="0" y="694"/>
                </a:lnTo>
                <a:close/>
                <a:moveTo>
                  <a:pt x="0" y="660"/>
                </a:moveTo>
                <a:lnTo>
                  <a:pt x="0" y="660"/>
                </a:lnTo>
                <a:lnTo>
                  <a:pt x="0" y="659"/>
                </a:lnTo>
                <a:lnTo>
                  <a:pt x="1" y="659"/>
                </a:lnTo>
                <a:lnTo>
                  <a:pt x="3" y="659"/>
                </a:lnTo>
                <a:lnTo>
                  <a:pt x="4" y="660"/>
                </a:lnTo>
                <a:lnTo>
                  <a:pt x="3" y="661"/>
                </a:lnTo>
                <a:lnTo>
                  <a:pt x="1" y="663"/>
                </a:lnTo>
                <a:lnTo>
                  <a:pt x="0" y="661"/>
                </a:lnTo>
                <a:lnTo>
                  <a:pt x="0" y="660"/>
                </a:lnTo>
                <a:close/>
                <a:moveTo>
                  <a:pt x="0" y="627"/>
                </a:moveTo>
                <a:lnTo>
                  <a:pt x="0" y="627"/>
                </a:lnTo>
                <a:lnTo>
                  <a:pt x="0" y="626"/>
                </a:lnTo>
                <a:lnTo>
                  <a:pt x="1" y="626"/>
                </a:lnTo>
                <a:lnTo>
                  <a:pt x="3" y="626"/>
                </a:lnTo>
                <a:lnTo>
                  <a:pt x="4" y="627"/>
                </a:lnTo>
                <a:lnTo>
                  <a:pt x="3" y="629"/>
                </a:lnTo>
                <a:lnTo>
                  <a:pt x="1" y="629"/>
                </a:lnTo>
                <a:lnTo>
                  <a:pt x="0" y="629"/>
                </a:lnTo>
                <a:lnTo>
                  <a:pt x="0" y="627"/>
                </a:lnTo>
                <a:close/>
                <a:moveTo>
                  <a:pt x="0" y="595"/>
                </a:moveTo>
                <a:lnTo>
                  <a:pt x="0" y="595"/>
                </a:lnTo>
                <a:lnTo>
                  <a:pt x="0" y="594"/>
                </a:lnTo>
                <a:lnTo>
                  <a:pt x="1" y="592"/>
                </a:lnTo>
                <a:lnTo>
                  <a:pt x="3" y="594"/>
                </a:lnTo>
                <a:lnTo>
                  <a:pt x="4" y="595"/>
                </a:lnTo>
                <a:lnTo>
                  <a:pt x="3" y="596"/>
                </a:lnTo>
                <a:lnTo>
                  <a:pt x="1" y="596"/>
                </a:lnTo>
                <a:lnTo>
                  <a:pt x="0" y="596"/>
                </a:lnTo>
                <a:lnTo>
                  <a:pt x="0" y="595"/>
                </a:lnTo>
                <a:close/>
                <a:moveTo>
                  <a:pt x="0" y="561"/>
                </a:moveTo>
                <a:lnTo>
                  <a:pt x="0" y="561"/>
                </a:lnTo>
                <a:lnTo>
                  <a:pt x="0" y="560"/>
                </a:lnTo>
                <a:lnTo>
                  <a:pt x="1" y="560"/>
                </a:lnTo>
                <a:lnTo>
                  <a:pt x="3" y="560"/>
                </a:lnTo>
                <a:lnTo>
                  <a:pt x="4" y="561"/>
                </a:lnTo>
                <a:lnTo>
                  <a:pt x="3" y="563"/>
                </a:lnTo>
                <a:lnTo>
                  <a:pt x="1" y="564"/>
                </a:lnTo>
                <a:lnTo>
                  <a:pt x="0" y="563"/>
                </a:lnTo>
                <a:lnTo>
                  <a:pt x="0" y="561"/>
                </a:lnTo>
                <a:close/>
                <a:moveTo>
                  <a:pt x="0" y="529"/>
                </a:moveTo>
                <a:lnTo>
                  <a:pt x="0" y="529"/>
                </a:lnTo>
                <a:lnTo>
                  <a:pt x="0" y="528"/>
                </a:lnTo>
                <a:lnTo>
                  <a:pt x="1" y="526"/>
                </a:lnTo>
                <a:lnTo>
                  <a:pt x="3" y="528"/>
                </a:lnTo>
                <a:lnTo>
                  <a:pt x="4" y="529"/>
                </a:lnTo>
                <a:lnTo>
                  <a:pt x="3" y="530"/>
                </a:lnTo>
                <a:lnTo>
                  <a:pt x="1" y="530"/>
                </a:lnTo>
                <a:lnTo>
                  <a:pt x="0" y="530"/>
                </a:lnTo>
                <a:lnTo>
                  <a:pt x="0" y="529"/>
                </a:lnTo>
                <a:close/>
                <a:moveTo>
                  <a:pt x="0" y="495"/>
                </a:moveTo>
                <a:lnTo>
                  <a:pt x="0" y="495"/>
                </a:lnTo>
                <a:lnTo>
                  <a:pt x="0" y="494"/>
                </a:lnTo>
                <a:lnTo>
                  <a:pt x="1" y="494"/>
                </a:lnTo>
                <a:lnTo>
                  <a:pt x="3" y="494"/>
                </a:lnTo>
                <a:lnTo>
                  <a:pt x="4" y="495"/>
                </a:lnTo>
                <a:lnTo>
                  <a:pt x="3" y="497"/>
                </a:lnTo>
                <a:lnTo>
                  <a:pt x="1" y="498"/>
                </a:lnTo>
                <a:lnTo>
                  <a:pt x="0" y="497"/>
                </a:lnTo>
                <a:lnTo>
                  <a:pt x="0" y="495"/>
                </a:lnTo>
                <a:close/>
                <a:moveTo>
                  <a:pt x="0" y="463"/>
                </a:moveTo>
                <a:lnTo>
                  <a:pt x="0" y="463"/>
                </a:lnTo>
                <a:lnTo>
                  <a:pt x="0" y="461"/>
                </a:lnTo>
                <a:lnTo>
                  <a:pt x="1" y="461"/>
                </a:lnTo>
                <a:lnTo>
                  <a:pt x="3" y="461"/>
                </a:lnTo>
                <a:lnTo>
                  <a:pt x="4" y="463"/>
                </a:lnTo>
                <a:lnTo>
                  <a:pt x="3" y="464"/>
                </a:lnTo>
                <a:lnTo>
                  <a:pt x="1" y="464"/>
                </a:lnTo>
                <a:lnTo>
                  <a:pt x="0" y="464"/>
                </a:lnTo>
                <a:lnTo>
                  <a:pt x="0" y="463"/>
                </a:lnTo>
                <a:close/>
                <a:moveTo>
                  <a:pt x="0" y="430"/>
                </a:moveTo>
                <a:lnTo>
                  <a:pt x="0" y="430"/>
                </a:lnTo>
                <a:lnTo>
                  <a:pt x="0" y="429"/>
                </a:lnTo>
                <a:lnTo>
                  <a:pt x="1" y="428"/>
                </a:lnTo>
                <a:lnTo>
                  <a:pt x="3" y="429"/>
                </a:lnTo>
                <a:lnTo>
                  <a:pt x="4" y="430"/>
                </a:lnTo>
                <a:lnTo>
                  <a:pt x="3" y="432"/>
                </a:lnTo>
                <a:lnTo>
                  <a:pt x="1" y="432"/>
                </a:lnTo>
                <a:lnTo>
                  <a:pt x="0" y="432"/>
                </a:lnTo>
                <a:lnTo>
                  <a:pt x="0" y="430"/>
                </a:lnTo>
                <a:close/>
                <a:moveTo>
                  <a:pt x="0" y="397"/>
                </a:moveTo>
                <a:lnTo>
                  <a:pt x="0" y="397"/>
                </a:lnTo>
                <a:lnTo>
                  <a:pt x="0" y="395"/>
                </a:lnTo>
                <a:lnTo>
                  <a:pt x="1" y="395"/>
                </a:lnTo>
                <a:lnTo>
                  <a:pt x="3" y="395"/>
                </a:lnTo>
                <a:lnTo>
                  <a:pt x="4" y="397"/>
                </a:lnTo>
                <a:lnTo>
                  <a:pt x="3" y="398"/>
                </a:lnTo>
                <a:lnTo>
                  <a:pt x="1" y="399"/>
                </a:lnTo>
                <a:lnTo>
                  <a:pt x="0" y="398"/>
                </a:lnTo>
                <a:lnTo>
                  <a:pt x="0" y="397"/>
                </a:lnTo>
                <a:close/>
                <a:moveTo>
                  <a:pt x="0" y="364"/>
                </a:moveTo>
                <a:lnTo>
                  <a:pt x="0" y="364"/>
                </a:lnTo>
                <a:lnTo>
                  <a:pt x="0" y="363"/>
                </a:lnTo>
                <a:lnTo>
                  <a:pt x="1" y="363"/>
                </a:lnTo>
                <a:lnTo>
                  <a:pt x="3" y="363"/>
                </a:lnTo>
                <a:lnTo>
                  <a:pt x="4" y="364"/>
                </a:lnTo>
                <a:lnTo>
                  <a:pt x="3" y="366"/>
                </a:lnTo>
                <a:lnTo>
                  <a:pt x="1" y="366"/>
                </a:lnTo>
                <a:lnTo>
                  <a:pt x="0" y="366"/>
                </a:lnTo>
                <a:lnTo>
                  <a:pt x="0" y="364"/>
                </a:lnTo>
                <a:close/>
                <a:moveTo>
                  <a:pt x="0" y="332"/>
                </a:moveTo>
                <a:lnTo>
                  <a:pt x="0" y="332"/>
                </a:lnTo>
                <a:lnTo>
                  <a:pt x="0" y="330"/>
                </a:lnTo>
                <a:lnTo>
                  <a:pt x="1" y="329"/>
                </a:lnTo>
                <a:lnTo>
                  <a:pt x="3" y="330"/>
                </a:lnTo>
                <a:lnTo>
                  <a:pt x="4" y="332"/>
                </a:lnTo>
                <a:lnTo>
                  <a:pt x="3" y="332"/>
                </a:lnTo>
                <a:lnTo>
                  <a:pt x="1" y="333"/>
                </a:lnTo>
                <a:lnTo>
                  <a:pt x="0" y="332"/>
                </a:lnTo>
                <a:close/>
                <a:moveTo>
                  <a:pt x="0" y="298"/>
                </a:moveTo>
                <a:lnTo>
                  <a:pt x="0" y="298"/>
                </a:lnTo>
                <a:lnTo>
                  <a:pt x="0" y="297"/>
                </a:lnTo>
                <a:lnTo>
                  <a:pt x="1" y="297"/>
                </a:lnTo>
                <a:lnTo>
                  <a:pt x="3" y="297"/>
                </a:lnTo>
                <a:lnTo>
                  <a:pt x="4" y="298"/>
                </a:lnTo>
                <a:lnTo>
                  <a:pt x="3" y="299"/>
                </a:lnTo>
                <a:lnTo>
                  <a:pt x="1" y="301"/>
                </a:lnTo>
                <a:lnTo>
                  <a:pt x="0" y="299"/>
                </a:lnTo>
                <a:lnTo>
                  <a:pt x="0" y="298"/>
                </a:lnTo>
                <a:close/>
                <a:moveTo>
                  <a:pt x="0" y="266"/>
                </a:moveTo>
                <a:lnTo>
                  <a:pt x="0" y="266"/>
                </a:lnTo>
                <a:lnTo>
                  <a:pt x="0" y="264"/>
                </a:lnTo>
                <a:lnTo>
                  <a:pt x="1" y="263"/>
                </a:lnTo>
                <a:lnTo>
                  <a:pt x="3" y="264"/>
                </a:lnTo>
                <a:lnTo>
                  <a:pt x="4" y="266"/>
                </a:lnTo>
                <a:lnTo>
                  <a:pt x="3" y="267"/>
                </a:lnTo>
                <a:lnTo>
                  <a:pt x="1" y="267"/>
                </a:lnTo>
                <a:lnTo>
                  <a:pt x="0" y="267"/>
                </a:lnTo>
                <a:lnTo>
                  <a:pt x="0" y="266"/>
                </a:lnTo>
                <a:close/>
                <a:moveTo>
                  <a:pt x="0" y="232"/>
                </a:moveTo>
                <a:lnTo>
                  <a:pt x="0" y="232"/>
                </a:lnTo>
                <a:lnTo>
                  <a:pt x="0" y="231"/>
                </a:lnTo>
                <a:lnTo>
                  <a:pt x="1" y="231"/>
                </a:lnTo>
                <a:lnTo>
                  <a:pt x="3" y="231"/>
                </a:lnTo>
                <a:lnTo>
                  <a:pt x="4" y="232"/>
                </a:lnTo>
                <a:lnTo>
                  <a:pt x="3" y="233"/>
                </a:lnTo>
                <a:lnTo>
                  <a:pt x="1" y="235"/>
                </a:lnTo>
                <a:lnTo>
                  <a:pt x="0" y="233"/>
                </a:lnTo>
                <a:lnTo>
                  <a:pt x="0" y="232"/>
                </a:lnTo>
                <a:close/>
                <a:moveTo>
                  <a:pt x="0" y="199"/>
                </a:moveTo>
                <a:lnTo>
                  <a:pt x="0" y="199"/>
                </a:lnTo>
                <a:lnTo>
                  <a:pt x="0" y="198"/>
                </a:lnTo>
                <a:lnTo>
                  <a:pt x="1" y="198"/>
                </a:lnTo>
                <a:lnTo>
                  <a:pt x="3" y="198"/>
                </a:lnTo>
                <a:lnTo>
                  <a:pt x="4" y="199"/>
                </a:lnTo>
                <a:lnTo>
                  <a:pt x="3" y="201"/>
                </a:lnTo>
                <a:lnTo>
                  <a:pt x="1" y="201"/>
                </a:lnTo>
                <a:lnTo>
                  <a:pt x="0" y="201"/>
                </a:lnTo>
                <a:lnTo>
                  <a:pt x="0" y="199"/>
                </a:lnTo>
                <a:close/>
                <a:moveTo>
                  <a:pt x="0" y="167"/>
                </a:moveTo>
                <a:lnTo>
                  <a:pt x="0" y="167"/>
                </a:lnTo>
                <a:lnTo>
                  <a:pt x="0" y="166"/>
                </a:lnTo>
                <a:lnTo>
                  <a:pt x="1" y="164"/>
                </a:lnTo>
                <a:lnTo>
                  <a:pt x="3" y="166"/>
                </a:lnTo>
                <a:lnTo>
                  <a:pt x="4" y="167"/>
                </a:lnTo>
                <a:lnTo>
                  <a:pt x="3" y="167"/>
                </a:lnTo>
                <a:lnTo>
                  <a:pt x="1" y="168"/>
                </a:lnTo>
                <a:lnTo>
                  <a:pt x="0" y="167"/>
                </a:lnTo>
                <a:close/>
                <a:moveTo>
                  <a:pt x="0" y="133"/>
                </a:moveTo>
                <a:lnTo>
                  <a:pt x="0" y="133"/>
                </a:lnTo>
                <a:lnTo>
                  <a:pt x="0" y="132"/>
                </a:lnTo>
                <a:lnTo>
                  <a:pt x="1" y="132"/>
                </a:lnTo>
                <a:lnTo>
                  <a:pt x="3" y="132"/>
                </a:lnTo>
                <a:lnTo>
                  <a:pt x="4" y="133"/>
                </a:lnTo>
                <a:lnTo>
                  <a:pt x="3" y="135"/>
                </a:lnTo>
                <a:lnTo>
                  <a:pt x="1" y="136"/>
                </a:lnTo>
                <a:lnTo>
                  <a:pt x="0" y="135"/>
                </a:lnTo>
                <a:lnTo>
                  <a:pt x="0" y="133"/>
                </a:lnTo>
                <a:close/>
                <a:moveTo>
                  <a:pt x="0" y="101"/>
                </a:moveTo>
                <a:lnTo>
                  <a:pt x="0" y="101"/>
                </a:lnTo>
                <a:lnTo>
                  <a:pt x="0" y="100"/>
                </a:lnTo>
                <a:lnTo>
                  <a:pt x="1" y="98"/>
                </a:lnTo>
                <a:lnTo>
                  <a:pt x="3" y="100"/>
                </a:lnTo>
                <a:lnTo>
                  <a:pt x="4" y="101"/>
                </a:lnTo>
                <a:lnTo>
                  <a:pt x="3" y="102"/>
                </a:lnTo>
                <a:lnTo>
                  <a:pt x="1" y="102"/>
                </a:lnTo>
                <a:lnTo>
                  <a:pt x="0" y="102"/>
                </a:lnTo>
                <a:lnTo>
                  <a:pt x="0" y="101"/>
                </a:lnTo>
                <a:close/>
                <a:moveTo>
                  <a:pt x="0" y="67"/>
                </a:moveTo>
                <a:lnTo>
                  <a:pt x="0" y="67"/>
                </a:lnTo>
                <a:lnTo>
                  <a:pt x="0" y="66"/>
                </a:lnTo>
                <a:lnTo>
                  <a:pt x="1" y="66"/>
                </a:lnTo>
                <a:lnTo>
                  <a:pt x="3" y="66"/>
                </a:lnTo>
                <a:lnTo>
                  <a:pt x="4" y="67"/>
                </a:lnTo>
                <a:lnTo>
                  <a:pt x="3" y="69"/>
                </a:lnTo>
                <a:lnTo>
                  <a:pt x="1" y="70"/>
                </a:lnTo>
                <a:lnTo>
                  <a:pt x="0" y="69"/>
                </a:lnTo>
                <a:lnTo>
                  <a:pt x="0" y="67"/>
                </a:lnTo>
                <a:close/>
                <a:moveTo>
                  <a:pt x="0" y="35"/>
                </a:moveTo>
                <a:lnTo>
                  <a:pt x="0" y="35"/>
                </a:lnTo>
                <a:lnTo>
                  <a:pt x="0" y="33"/>
                </a:lnTo>
                <a:lnTo>
                  <a:pt x="1" y="33"/>
                </a:lnTo>
                <a:lnTo>
                  <a:pt x="3" y="33"/>
                </a:lnTo>
                <a:lnTo>
                  <a:pt x="4" y="35"/>
                </a:lnTo>
                <a:lnTo>
                  <a:pt x="3" y="36"/>
                </a:lnTo>
                <a:lnTo>
                  <a:pt x="1" y="36"/>
                </a:lnTo>
                <a:lnTo>
                  <a:pt x="0" y="36"/>
                </a:lnTo>
                <a:lnTo>
                  <a:pt x="0" y="35"/>
                </a:lnTo>
                <a:close/>
                <a:moveTo>
                  <a:pt x="0" y="2"/>
                </a:move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3" y="1"/>
                </a:lnTo>
                <a:lnTo>
                  <a:pt x="4" y="2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未知">
            <a:extLst>
              <a:ext uri="{FF2B5EF4-FFF2-40B4-BE49-F238E27FC236}">
                <a16:creationId xmlns:a16="http://schemas.microsoft.com/office/drawing/2014/main" id="{6196875D-97CA-EC04-B857-7CC44FE801A9}"/>
              </a:ext>
            </a:extLst>
          </p:cNvPr>
          <p:cNvSpPr>
            <a:spLocks/>
          </p:cNvSpPr>
          <p:nvPr/>
        </p:nvSpPr>
        <p:spPr bwMode="auto">
          <a:xfrm>
            <a:off x="2750586" y="4612530"/>
            <a:ext cx="109250" cy="166961"/>
          </a:xfrm>
          <a:custGeom>
            <a:avLst/>
            <a:gdLst>
              <a:gd name="T0" fmla="*/ 0 w 83"/>
              <a:gd name="T1" fmla="*/ 553941714 h 127"/>
              <a:gd name="T2" fmla="*/ 181235229 w 83"/>
              <a:gd name="T3" fmla="*/ 0 h 127"/>
              <a:gd name="T4" fmla="*/ 366553562 w 83"/>
              <a:gd name="T5" fmla="*/ 553941714 h 127"/>
              <a:gd name="T6" fmla="*/ 0 w 83"/>
              <a:gd name="T7" fmla="*/ 553941714 h 127"/>
              <a:gd name="T8" fmla="*/ 0 60000 65536"/>
              <a:gd name="T9" fmla="*/ 0 60000 65536"/>
              <a:gd name="T10" fmla="*/ 0 60000 65536"/>
              <a:gd name="T11" fmla="*/ 0 60000 65536"/>
              <a:gd name="T12" fmla="*/ 0 w 83"/>
              <a:gd name="T13" fmla="*/ 0 h 127"/>
              <a:gd name="T14" fmla="*/ 83 w 83"/>
              <a:gd name="T15" fmla="*/ 127 h 1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3" h="127">
                <a:moveTo>
                  <a:pt x="0" y="127"/>
                </a:moveTo>
                <a:lnTo>
                  <a:pt x="41" y="0"/>
                </a:lnTo>
                <a:lnTo>
                  <a:pt x="83" y="127"/>
                </a:lnTo>
                <a:lnTo>
                  <a:pt x="0" y="12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Rectangle 59">
            <a:extLst>
              <a:ext uri="{FF2B5EF4-FFF2-40B4-BE49-F238E27FC236}">
                <a16:creationId xmlns:a16="http://schemas.microsoft.com/office/drawing/2014/main" id="{1DD2DA86-23E6-A341-C5E1-BBC1A80C7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956" y="4837895"/>
            <a:ext cx="127035" cy="152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>
                <a:solidFill>
                  <a:srgbClr val="0000FF"/>
                </a:solidFill>
                <a:latin typeface="宋体" pitchFamily="2" charset="-122"/>
              </a:rPr>
              <a:t>15</a:t>
            </a:r>
            <a:endParaRPr lang="zh-CN" altLang="en-US" sz="1000" b="1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43" name="Rectangle 60">
            <a:extLst>
              <a:ext uri="{FF2B5EF4-FFF2-40B4-BE49-F238E27FC236}">
                <a16:creationId xmlns:a16="http://schemas.microsoft.com/office/drawing/2014/main" id="{7654A453-93D8-7733-6011-45878FFDC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754" y="6348794"/>
            <a:ext cx="1861061" cy="276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800" b="1" i="0" dirty="0">
                <a:solidFill>
                  <a:srgbClr val="080808"/>
                </a:solidFill>
                <a:latin typeface="宋体" pitchFamily="2" charset="-122"/>
              </a:rPr>
              <a:t>（</a:t>
            </a:r>
            <a:r>
              <a:rPr lang="en-US" altLang="zh-CN" sz="1800" b="1" i="0" dirty="0">
                <a:solidFill>
                  <a:srgbClr val="080808"/>
                </a:solidFill>
                <a:latin typeface="宋体" pitchFamily="2" charset="-122"/>
              </a:rPr>
              <a:t>1</a:t>
            </a:r>
            <a:r>
              <a:rPr lang="zh-CN" altLang="en-US" sz="1800" b="1" i="0" dirty="0">
                <a:solidFill>
                  <a:srgbClr val="080808"/>
                </a:solidFill>
                <a:latin typeface="宋体" pitchFamily="2" charset="-122"/>
              </a:rPr>
              <a:t>）选</a:t>
            </a:r>
            <a:r>
              <a:rPr lang="en-US" altLang="zh-CN" sz="1800" b="1" i="0" dirty="0">
                <a:solidFill>
                  <a:srgbClr val="080808"/>
                </a:solidFill>
                <a:latin typeface="宋体" pitchFamily="2" charset="-122"/>
              </a:rPr>
              <a:t>C</a:t>
            </a:r>
            <a:r>
              <a:rPr lang="zh-CN" altLang="en-US" sz="1800" b="1" i="0" dirty="0">
                <a:solidFill>
                  <a:srgbClr val="080808"/>
                </a:solidFill>
                <a:latin typeface="宋体" pitchFamily="2" charset="-122"/>
              </a:rPr>
              <a:t>点，更新</a:t>
            </a:r>
            <a:endParaRPr lang="en-US" altLang="zh-CN" sz="1800" b="1" i="0" dirty="0">
              <a:solidFill>
                <a:srgbClr val="080808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8" name="TextBox 73">
            <a:extLst>
              <a:ext uri="{FF2B5EF4-FFF2-40B4-BE49-F238E27FC236}">
                <a16:creationId xmlns:a16="http://schemas.microsoft.com/office/drawing/2014/main" id="{1EA19318-81C5-8BDD-315F-A70AA67EB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5233" y="6055375"/>
            <a:ext cx="714375" cy="307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>
                <a:solidFill>
                  <a:srgbClr val="FF0000"/>
                </a:solidFill>
              </a:rPr>
              <a:t>5,A</a:t>
            </a:r>
            <a:endParaRPr lang="zh-CN" altLang="en-US" sz="1400" i="0" dirty="0">
              <a:solidFill>
                <a:srgbClr val="FF0000"/>
              </a:solidFill>
            </a:endParaRPr>
          </a:p>
        </p:txBody>
      </p:sp>
      <p:sp>
        <p:nvSpPr>
          <p:cNvPr id="9" name="TextBox 74">
            <a:extLst>
              <a:ext uri="{FF2B5EF4-FFF2-40B4-BE49-F238E27FC236}">
                <a16:creationId xmlns:a16="http://schemas.microsoft.com/office/drawing/2014/main" id="{36F09EAF-DC73-CCC7-EE74-9E6C9F5E1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6483" y="6055375"/>
            <a:ext cx="714375" cy="307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/>
              <a:t>12,C</a:t>
            </a:r>
            <a:endParaRPr lang="zh-CN" altLang="en-US" sz="1400" i="0" dirty="0"/>
          </a:p>
        </p:txBody>
      </p:sp>
      <p:sp>
        <p:nvSpPr>
          <p:cNvPr id="10" name="TextBox 75">
            <a:extLst>
              <a:ext uri="{FF2B5EF4-FFF2-40B4-BE49-F238E27FC236}">
                <a16:creationId xmlns:a16="http://schemas.microsoft.com/office/drawing/2014/main" id="{D4808C2E-6E7D-A2C0-BB4B-71B648178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6545" y="4720432"/>
            <a:ext cx="714375" cy="307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/>
              <a:t>30,A</a:t>
            </a:r>
            <a:endParaRPr lang="zh-CN" altLang="en-US" sz="1400" i="0" dirty="0"/>
          </a:p>
        </p:txBody>
      </p:sp>
      <p:sp>
        <p:nvSpPr>
          <p:cNvPr id="11" name="TextBox 76">
            <a:extLst>
              <a:ext uri="{FF2B5EF4-FFF2-40B4-BE49-F238E27FC236}">
                <a16:creationId xmlns:a16="http://schemas.microsoft.com/office/drawing/2014/main" id="{2BA178E0-0E12-8C48-014B-6F4A507E1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2420" y="4149080"/>
            <a:ext cx="7143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/>
              <a:t>20,C</a:t>
            </a:r>
            <a:endParaRPr lang="zh-CN" altLang="en-US" sz="1400" i="0" dirty="0"/>
          </a:p>
        </p:txBody>
      </p:sp>
      <p:sp>
        <p:nvSpPr>
          <p:cNvPr id="12" name="TextBox 77">
            <a:extLst>
              <a:ext uri="{FF2B5EF4-FFF2-40B4-BE49-F238E27FC236}">
                <a16:creationId xmlns:a16="http://schemas.microsoft.com/office/drawing/2014/main" id="{72AF2687-C75D-3F59-4EC1-5E9D7DF96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4149080"/>
            <a:ext cx="714375" cy="307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dirty="0"/>
              <a:t>∞</a:t>
            </a:r>
            <a:endParaRPr lang="zh-CN" altLang="en-US" sz="1400" dirty="0"/>
          </a:p>
        </p:txBody>
      </p:sp>
      <p:sp>
        <p:nvSpPr>
          <p:cNvPr id="53" name="未知">
            <a:extLst>
              <a:ext uri="{FF2B5EF4-FFF2-40B4-BE49-F238E27FC236}">
                <a16:creationId xmlns:a16="http://schemas.microsoft.com/office/drawing/2014/main" id="{06B3A5D7-226F-95A7-1A60-462C81DBCE3D}"/>
              </a:ext>
            </a:extLst>
          </p:cNvPr>
          <p:cNvSpPr>
            <a:spLocks/>
          </p:cNvSpPr>
          <p:nvPr/>
        </p:nvSpPr>
        <p:spPr bwMode="auto">
          <a:xfrm>
            <a:off x="5155114" y="4310983"/>
            <a:ext cx="281303" cy="301697"/>
          </a:xfrm>
          <a:custGeom>
            <a:avLst/>
            <a:gdLst>
              <a:gd name="T0" fmla="*/ 3240229 w 216"/>
              <a:gd name="T1" fmla="*/ 559741153 h 227"/>
              <a:gd name="T2" fmla="*/ 17640192 w 216"/>
              <a:gd name="T3" fmla="*/ 431963359 h 227"/>
              <a:gd name="T4" fmla="*/ 46641729 w 216"/>
              <a:gd name="T5" fmla="*/ 318314144 h 227"/>
              <a:gd name="T6" fmla="*/ 84375203 w 216"/>
              <a:gd name="T7" fmla="*/ 227932445 h 227"/>
              <a:gd name="T8" fmla="*/ 138480098 w 216"/>
              <a:gd name="T9" fmla="*/ 139722493 h 227"/>
              <a:gd name="T10" fmla="*/ 199629625 w 216"/>
              <a:gd name="T11" fmla="*/ 69278727 h 227"/>
              <a:gd name="T12" fmla="*/ 267147653 w 216"/>
              <a:gd name="T13" fmla="*/ 26073254 h 227"/>
              <a:gd name="T14" fmla="*/ 345025250 w 216"/>
              <a:gd name="T15" fmla="*/ 4849290 h 227"/>
              <a:gd name="T16" fmla="*/ 419223425 w 216"/>
              <a:gd name="T17" fmla="*/ 4849290 h 227"/>
              <a:gd name="T18" fmla="*/ 498025336 w 216"/>
              <a:gd name="T19" fmla="*/ 26073254 h 227"/>
              <a:gd name="T20" fmla="*/ 565530112 w 216"/>
              <a:gd name="T21" fmla="*/ 69278727 h 227"/>
              <a:gd name="T22" fmla="*/ 625689234 w 216"/>
              <a:gd name="T23" fmla="*/ 139722493 h 227"/>
              <a:gd name="T24" fmla="*/ 679668055 w 216"/>
              <a:gd name="T25" fmla="*/ 227932445 h 227"/>
              <a:gd name="T26" fmla="*/ 717712575 w 216"/>
              <a:gd name="T27" fmla="*/ 318314144 h 227"/>
              <a:gd name="T28" fmla="*/ 753892363 w 216"/>
              <a:gd name="T29" fmla="*/ 431963359 h 227"/>
              <a:gd name="T30" fmla="*/ 768364923 w 216"/>
              <a:gd name="T31" fmla="*/ 559741153 h 227"/>
              <a:gd name="T32" fmla="*/ 768364923 w 216"/>
              <a:gd name="T33" fmla="*/ 611789234 h 227"/>
              <a:gd name="T34" fmla="*/ 760897017 w 216"/>
              <a:gd name="T35" fmla="*/ 737559701 h 227"/>
              <a:gd name="T36" fmla="*/ 740838697 w 216"/>
              <a:gd name="T37" fmla="*/ 857787430 h 227"/>
              <a:gd name="T38" fmla="*/ 700842729 w 216"/>
              <a:gd name="T39" fmla="*/ 958434412 h 227"/>
              <a:gd name="T40" fmla="*/ 656926404 w 216"/>
              <a:gd name="T41" fmla="*/ 1052525427 h 227"/>
              <a:gd name="T42" fmla="*/ 598538309 w 216"/>
              <a:gd name="T43" fmla="*/ 1126388021 h 227"/>
              <a:gd name="T44" fmla="*/ 531035388 w 216"/>
              <a:gd name="T45" fmla="*/ 1185978067 h 227"/>
              <a:gd name="T46" fmla="*/ 459209920 w 216"/>
              <a:gd name="T47" fmla="*/ 1214510475 h 227"/>
              <a:gd name="T48" fmla="*/ 384634143 w 216"/>
              <a:gd name="T49" fmla="*/ 1230410188 h 227"/>
              <a:gd name="T50" fmla="*/ 305076466 w 216"/>
              <a:gd name="T51" fmla="*/ 1214510475 h 227"/>
              <a:gd name="T52" fmla="*/ 234138249 w 216"/>
              <a:gd name="T53" fmla="*/ 1185978067 h 227"/>
              <a:gd name="T54" fmla="*/ 166617470 w 216"/>
              <a:gd name="T55" fmla="*/ 1126388021 h 227"/>
              <a:gd name="T56" fmla="*/ 114162216 w 216"/>
              <a:gd name="T57" fmla="*/ 1052525427 h 227"/>
              <a:gd name="T58" fmla="*/ 64248977 w 216"/>
              <a:gd name="T59" fmla="*/ 958434412 h 227"/>
              <a:gd name="T60" fmla="*/ 27952822 w 216"/>
              <a:gd name="T61" fmla="*/ 857787430 h 227"/>
              <a:gd name="T62" fmla="*/ 6645470 w 216"/>
              <a:gd name="T63" fmla="*/ 737559701 h 227"/>
              <a:gd name="T64" fmla="*/ 0 w 216"/>
              <a:gd name="T65" fmla="*/ 611789234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3"/>
                </a:moveTo>
                <a:lnTo>
                  <a:pt x="1" y="103"/>
                </a:lnTo>
                <a:lnTo>
                  <a:pt x="2" y="90"/>
                </a:lnTo>
                <a:lnTo>
                  <a:pt x="5" y="80"/>
                </a:lnTo>
                <a:lnTo>
                  <a:pt x="8" y="69"/>
                </a:lnTo>
                <a:lnTo>
                  <a:pt x="13" y="59"/>
                </a:lnTo>
                <a:lnTo>
                  <a:pt x="18" y="50"/>
                </a:lnTo>
                <a:lnTo>
                  <a:pt x="24" y="42"/>
                </a:lnTo>
                <a:lnTo>
                  <a:pt x="32" y="34"/>
                </a:lnTo>
                <a:lnTo>
                  <a:pt x="39" y="26"/>
                </a:lnTo>
                <a:lnTo>
                  <a:pt x="47" y="19"/>
                </a:lnTo>
                <a:lnTo>
                  <a:pt x="56" y="13"/>
                </a:lnTo>
                <a:lnTo>
                  <a:pt x="66" y="9"/>
                </a:lnTo>
                <a:lnTo>
                  <a:pt x="75" y="5"/>
                </a:lnTo>
                <a:lnTo>
                  <a:pt x="86" y="3"/>
                </a:lnTo>
                <a:lnTo>
                  <a:pt x="97" y="1"/>
                </a:lnTo>
                <a:lnTo>
                  <a:pt x="108" y="0"/>
                </a:lnTo>
                <a:lnTo>
                  <a:pt x="118" y="1"/>
                </a:lnTo>
                <a:lnTo>
                  <a:pt x="129" y="3"/>
                </a:lnTo>
                <a:lnTo>
                  <a:pt x="140" y="5"/>
                </a:lnTo>
                <a:lnTo>
                  <a:pt x="149" y="9"/>
                </a:lnTo>
                <a:lnTo>
                  <a:pt x="159" y="13"/>
                </a:lnTo>
                <a:lnTo>
                  <a:pt x="168" y="19"/>
                </a:lnTo>
                <a:lnTo>
                  <a:pt x="176" y="26"/>
                </a:lnTo>
                <a:lnTo>
                  <a:pt x="185" y="34"/>
                </a:lnTo>
                <a:lnTo>
                  <a:pt x="191" y="42"/>
                </a:lnTo>
                <a:lnTo>
                  <a:pt x="197" y="50"/>
                </a:lnTo>
                <a:lnTo>
                  <a:pt x="202" y="59"/>
                </a:lnTo>
                <a:lnTo>
                  <a:pt x="208" y="69"/>
                </a:lnTo>
                <a:lnTo>
                  <a:pt x="212" y="80"/>
                </a:lnTo>
                <a:lnTo>
                  <a:pt x="214" y="90"/>
                </a:lnTo>
                <a:lnTo>
                  <a:pt x="216" y="103"/>
                </a:lnTo>
                <a:lnTo>
                  <a:pt x="216" y="113"/>
                </a:lnTo>
                <a:lnTo>
                  <a:pt x="216" y="125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2" y="167"/>
                </a:lnTo>
                <a:lnTo>
                  <a:pt x="197" y="177"/>
                </a:lnTo>
                <a:lnTo>
                  <a:pt x="191" y="186"/>
                </a:lnTo>
                <a:lnTo>
                  <a:pt x="185" y="194"/>
                </a:lnTo>
                <a:lnTo>
                  <a:pt x="176" y="201"/>
                </a:lnTo>
                <a:lnTo>
                  <a:pt x="168" y="208"/>
                </a:lnTo>
                <a:lnTo>
                  <a:pt x="159" y="213"/>
                </a:lnTo>
                <a:lnTo>
                  <a:pt x="149" y="219"/>
                </a:lnTo>
                <a:lnTo>
                  <a:pt x="140" y="221"/>
                </a:lnTo>
                <a:lnTo>
                  <a:pt x="129" y="224"/>
                </a:lnTo>
                <a:lnTo>
                  <a:pt x="118" y="227"/>
                </a:lnTo>
                <a:lnTo>
                  <a:pt x="108" y="227"/>
                </a:lnTo>
                <a:lnTo>
                  <a:pt x="97" y="227"/>
                </a:lnTo>
                <a:lnTo>
                  <a:pt x="86" y="224"/>
                </a:lnTo>
                <a:lnTo>
                  <a:pt x="75" y="221"/>
                </a:lnTo>
                <a:lnTo>
                  <a:pt x="66" y="219"/>
                </a:lnTo>
                <a:lnTo>
                  <a:pt x="56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8" y="177"/>
                </a:lnTo>
                <a:lnTo>
                  <a:pt x="13" y="167"/>
                </a:lnTo>
                <a:lnTo>
                  <a:pt x="8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5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未知">
            <a:extLst>
              <a:ext uri="{FF2B5EF4-FFF2-40B4-BE49-F238E27FC236}">
                <a16:creationId xmlns:a16="http://schemas.microsoft.com/office/drawing/2014/main" id="{05D58381-B8A2-5EEC-6661-2269B7F42C4F}"/>
              </a:ext>
            </a:extLst>
          </p:cNvPr>
          <p:cNvSpPr>
            <a:spLocks/>
          </p:cNvSpPr>
          <p:nvPr/>
        </p:nvSpPr>
        <p:spPr bwMode="auto">
          <a:xfrm>
            <a:off x="5155114" y="4310983"/>
            <a:ext cx="281303" cy="301697"/>
          </a:xfrm>
          <a:custGeom>
            <a:avLst/>
            <a:gdLst>
              <a:gd name="T0" fmla="*/ 3240229 w 216"/>
              <a:gd name="T1" fmla="*/ 559741153 h 227"/>
              <a:gd name="T2" fmla="*/ 17640192 w 216"/>
              <a:gd name="T3" fmla="*/ 431963359 h 227"/>
              <a:gd name="T4" fmla="*/ 46641729 w 216"/>
              <a:gd name="T5" fmla="*/ 318314144 h 227"/>
              <a:gd name="T6" fmla="*/ 84375203 w 216"/>
              <a:gd name="T7" fmla="*/ 227932445 h 227"/>
              <a:gd name="T8" fmla="*/ 138480098 w 216"/>
              <a:gd name="T9" fmla="*/ 139722493 h 227"/>
              <a:gd name="T10" fmla="*/ 199629625 w 216"/>
              <a:gd name="T11" fmla="*/ 69278727 h 227"/>
              <a:gd name="T12" fmla="*/ 267147653 w 216"/>
              <a:gd name="T13" fmla="*/ 26073254 h 227"/>
              <a:gd name="T14" fmla="*/ 345025250 w 216"/>
              <a:gd name="T15" fmla="*/ 4849290 h 227"/>
              <a:gd name="T16" fmla="*/ 419223425 w 216"/>
              <a:gd name="T17" fmla="*/ 4849290 h 227"/>
              <a:gd name="T18" fmla="*/ 498025336 w 216"/>
              <a:gd name="T19" fmla="*/ 26073254 h 227"/>
              <a:gd name="T20" fmla="*/ 565530112 w 216"/>
              <a:gd name="T21" fmla="*/ 69278727 h 227"/>
              <a:gd name="T22" fmla="*/ 625689234 w 216"/>
              <a:gd name="T23" fmla="*/ 139722493 h 227"/>
              <a:gd name="T24" fmla="*/ 679668055 w 216"/>
              <a:gd name="T25" fmla="*/ 227932445 h 227"/>
              <a:gd name="T26" fmla="*/ 717712575 w 216"/>
              <a:gd name="T27" fmla="*/ 318314144 h 227"/>
              <a:gd name="T28" fmla="*/ 753892363 w 216"/>
              <a:gd name="T29" fmla="*/ 431963359 h 227"/>
              <a:gd name="T30" fmla="*/ 768364923 w 216"/>
              <a:gd name="T31" fmla="*/ 559741153 h 227"/>
              <a:gd name="T32" fmla="*/ 768364923 w 216"/>
              <a:gd name="T33" fmla="*/ 611789234 h 227"/>
              <a:gd name="T34" fmla="*/ 760897017 w 216"/>
              <a:gd name="T35" fmla="*/ 737559701 h 227"/>
              <a:gd name="T36" fmla="*/ 740838697 w 216"/>
              <a:gd name="T37" fmla="*/ 857787430 h 227"/>
              <a:gd name="T38" fmla="*/ 700842729 w 216"/>
              <a:gd name="T39" fmla="*/ 958434412 h 227"/>
              <a:gd name="T40" fmla="*/ 656926404 w 216"/>
              <a:gd name="T41" fmla="*/ 1052525427 h 227"/>
              <a:gd name="T42" fmla="*/ 598538309 w 216"/>
              <a:gd name="T43" fmla="*/ 1126388021 h 227"/>
              <a:gd name="T44" fmla="*/ 531035388 w 216"/>
              <a:gd name="T45" fmla="*/ 1185978067 h 227"/>
              <a:gd name="T46" fmla="*/ 459209920 w 216"/>
              <a:gd name="T47" fmla="*/ 1214510475 h 227"/>
              <a:gd name="T48" fmla="*/ 384634143 w 216"/>
              <a:gd name="T49" fmla="*/ 1230410188 h 227"/>
              <a:gd name="T50" fmla="*/ 305076466 w 216"/>
              <a:gd name="T51" fmla="*/ 1214510475 h 227"/>
              <a:gd name="T52" fmla="*/ 234138249 w 216"/>
              <a:gd name="T53" fmla="*/ 1185978067 h 227"/>
              <a:gd name="T54" fmla="*/ 166617470 w 216"/>
              <a:gd name="T55" fmla="*/ 1126388021 h 227"/>
              <a:gd name="T56" fmla="*/ 114162216 w 216"/>
              <a:gd name="T57" fmla="*/ 1052525427 h 227"/>
              <a:gd name="T58" fmla="*/ 64248977 w 216"/>
              <a:gd name="T59" fmla="*/ 958434412 h 227"/>
              <a:gd name="T60" fmla="*/ 27952822 w 216"/>
              <a:gd name="T61" fmla="*/ 857787430 h 227"/>
              <a:gd name="T62" fmla="*/ 6645470 w 216"/>
              <a:gd name="T63" fmla="*/ 737559701 h 227"/>
              <a:gd name="T64" fmla="*/ 0 w 216"/>
              <a:gd name="T65" fmla="*/ 611789234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3"/>
                </a:moveTo>
                <a:lnTo>
                  <a:pt x="1" y="103"/>
                </a:lnTo>
                <a:lnTo>
                  <a:pt x="2" y="90"/>
                </a:lnTo>
                <a:lnTo>
                  <a:pt x="5" y="80"/>
                </a:lnTo>
                <a:lnTo>
                  <a:pt x="8" y="69"/>
                </a:lnTo>
                <a:lnTo>
                  <a:pt x="13" y="59"/>
                </a:lnTo>
                <a:lnTo>
                  <a:pt x="18" y="50"/>
                </a:lnTo>
                <a:lnTo>
                  <a:pt x="24" y="42"/>
                </a:lnTo>
                <a:lnTo>
                  <a:pt x="32" y="34"/>
                </a:lnTo>
                <a:lnTo>
                  <a:pt x="39" y="26"/>
                </a:lnTo>
                <a:lnTo>
                  <a:pt x="47" y="19"/>
                </a:lnTo>
                <a:lnTo>
                  <a:pt x="56" y="13"/>
                </a:lnTo>
                <a:lnTo>
                  <a:pt x="66" y="9"/>
                </a:lnTo>
                <a:lnTo>
                  <a:pt x="75" y="5"/>
                </a:lnTo>
                <a:lnTo>
                  <a:pt x="86" y="3"/>
                </a:lnTo>
                <a:lnTo>
                  <a:pt x="97" y="1"/>
                </a:lnTo>
                <a:lnTo>
                  <a:pt x="108" y="0"/>
                </a:lnTo>
                <a:lnTo>
                  <a:pt x="118" y="1"/>
                </a:lnTo>
                <a:lnTo>
                  <a:pt x="129" y="3"/>
                </a:lnTo>
                <a:lnTo>
                  <a:pt x="140" y="5"/>
                </a:lnTo>
                <a:lnTo>
                  <a:pt x="149" y="9"/>
                </a:lnTo>
                <a:lnTo>
                  <a:pt x="159" y="13"/>
                </a:lnTo>
                <a:lnTo>
                  <a:pt x="168" y="19"/>
                </a:lnTo>
                <a:lnTo>
                  <a:pt x="176" y="26"/>
                </a:lnTo>
                <a:lnTo>
                  <a:pt x="185" y="34"/>
                </a:lnTo>
                <a:lnTo>
                  <a:pt x="191" y="42"/>
                </a:lnTo>
                <a:lnTo>
                  <a:pt x="197" y="50"/>
                </a:lnTo>
                <a:lnTo>
                  <a:pt x="202" y="59"/>
                </a:lnTo>
                <a:lnTo>
                  <a:pt x="208" y="69"/>
                </a:lnTo>
                <a:lnTo>
                  <a:pt x="212" y="80"/>
                </a:lnTo>
                <a:lnTo>
                  <a:pt x="214" y="90"/>
                </a:lnTo>
                <a:lnTo>
                  <a:pt x="216" y="103"/>
                </a:lnTo>
                <a:lnTo>
                  <a:pt x="216" y="113"/>
                </a:lnTo>
                <a:lnTo>
                  <a:pt x="216" y="125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2" y="167"/>
                </a:lnTo>
                <a:lnTo>
                  <a:pt x="197" y="177"/>
                </a:lnTo>
                <a:lnTo>
                  <a:pt x="191" y="186"/>
                </a:lnTo>
                <a:lnTo>
                  <a:pt x="185" y="194"/>
                </a:lnTo>
                <a:lnTo>
                  <a:pt x="176" y="201"/>
                </a:lnTo>
                <a:lnTo>
                  <a:pt x="168" y="208"/>
                </a:lnTo>
                <a:lnTo>
                  <a:pt x="159" y="213"/>
                </a:lnTo>
                <a:lnTo>
                  <a:pt x="149" y="219"/>
                </a:lnTo>
                <a:lnTo>
                  <a:pt x="140" y="221"/>
                </a:lnTo>
                <a:lnTo>
                  <a:pt x="129" y="224"/>
                </a:lnTo>
                <a:lnTo>
                  <a:pt x="118" y="227"/>
                </a:lnTo>
                <a:lnTo>
                  <a:pt x="108" y="227"/>
                </a:lnTo>
                <a:lnTo>
                  <a:pt x="97" y="227"/>
                </a:lnTo>
                <a:lnTo>
                  <a:pt x="86" y="224"/>
                </a:lnTo>
                <a:lnTo>
                  <a:pt x="75" y="221"/>
                </a:lnTo>
                <a:lnTo>
                  <a:pt x="66" y="219"/>
                </a:lnTo>
                <a:lnTo>
                  <a:pt x="56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8" y="177"/>
                </a:lnTo>
                <a:lnTo>
                  <a:pt x="13" y="167"/>
                </a:lnTo>
                <a:lnTo>
                  <a:pt x="8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5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Rectangle 64">
            <a:extLst>
              <a:ext uri="{FF2B5EF4-FFF2-40B4-BE49-F238E27FC236}">
                <a16:creationId xmlns:a16="http://schemas.microsoft.com/office/drawing/2014/main" id="{5C1D36A0-6552-8EAD-FAB4-4CDE0EA21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538" y="4371322"/>
            <a:ext cx="63500" cy="15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>
                <a:solidFill>
                  <a:srgbClr val="0000FF"/>
                </a:solidFill>
                <a:latin typeface="宋体" pitchFamily="2" charset="-122"/>
              </a:rPr>
              <a:t>E</a:t>
            </a:r>
            <a:endParaRPr lang="en-US" altLang="zh-CN" sz="1000" b="1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56" name="未知">
            <a:extLst>
              <a:ext uri="{FF2B5EF4-FFF2-40B4-BE49-F238E27FC236}">
                <a16:creationId xmlns:a16="http://schemas.microsoft.com/office/drawing/2014/main" id="{868C8F16-62EE-0B7A-88B8-63CE23915035}"/>
              </a:ext>
            </a:extLst>
          </p:cNvPr>
          <p:cNvSpPr>
            <a:spLocks/>
          </p:cNvSpPr>
          <p:nvPr/>
        </p:nvSpPr>
        <p:spPr bwMode="auto">
          <a:xfrm>
            <a:off x="5155114" y="5741978"/>
            <a:ext cx="281303" cy="298521"/>
          </a:xfrm>
          <a:custGeom>
            <a:avLst/>
            <a:gdLst>
              <a:gd name="T0" fmla="*/ 3240229 w 216"/>
              <a:gd name="T1" fmla="*/ 446341159 h 227"/>
              <a:gd name="T2" fmla="*/ 17640192 w 216"/>
              <a:gd name="T3" fmla="*/ 348105442 h 227"/>
              <a:gd name="T4" fmla="*/ 46641729 w 216"/>
              <a:gd name="T5" fmla="*/ 256183409 h 227"/>
              <a:gd name="T6" fmla="*/ 84375203 w 216"/>
              <a:gd name="T7" fmla="*/ 182291127 h 227"/>
              <a:gd name="T8" fmla="*/ 138480098 w 216"/>
              <a:gd name="T9" fmla="*/ 113371133 h 227"/>
              <a:gd name="T10" fmla="*/ 199629625 w 216"/>
              <a:gd name="T11" fmla="*/ 60672045 h 227"/>
              <a:gd name="T12" fmla="*/ 267147653 w 216"/>
              <a:gd name="T13" fmla="*/ 20996372 h 227"/>
              <a:gd name="T14" fmla="*/ 345025250 w 216"/>
              <a:gd name="T15" fmla="*/ 3971138 h 227"/>
              <a:gd name="T16" fmla="*/ 419223425 w 216"/>
              <a:gd name="T17" fmla="*/ 3971138 h 227"/>
              <a:gd name="T18" fmla="*/ 498025336 w 216"/>
              <a:gd name="T19" fmla="*/ 20996372 h 227"/>
              <a:gd name="T20" fmla="*/ 565530112 w 216"/>
              <a:gd name="T21" fmla="*/ 60672045 h 227"/>
              <a:gd name="T22" fmla="*/ 625689234 w 216"/>
              <a:gd name="T23" fmla="*/ 113371133 h 227"/>
              <a:gd name="T24" fmla="*/ 679668055 w 216"/>
              <a:gd name="T25" fmla="*/ 182291127 h 227"/>
              <a:gd name="T26" fmla="*/ 717712575 w 216"/>
              <a:gd name="T27" fmla="*/ 256183409 h 227"/>
              <a:gd name="T28" fmla="*/ 753892363 w 216"/>
              <a:gd name="T29" fmla="*/ 348105442 h 227"/>
              <a:gd name="T30" fmla="*/ 768364923 w 216"/>
              <a:gd name="T31" fmla="*/ 446341159 h 227"/>
              <a:gd name="T32" fmla="*/ 768364923 w 216"/>
              <a:gd name="T33" fmla="*/ 490035276 h 227"/>
              <a:gd name="T34" fmla="*/ 760897017 w 216"/>
              <a:gd name="T35" fmla="*/ 591068594 h 227"/>
              <a:gd name="T36" fmla="*/ 740838697 w 216"/>
              <a:gd name="T37" fmla="*/ 685652195 h 227"/>
              <a:gd name="T38" fmla="*/ 700842729 w 216"/>
              <a:gd name="T39" fmla="*/ 767322354 h 227"/>
              <a:gd name="T40" fmla="*/ 656926404 w 216"/>
              <a:gd name="T41" fmla="*/ 842402251 h 227"/>
              <a:gd name="T42" fmla="*/ 598538309 w 216"/>
              <a:gd name="T43" fmla="*/ 903181730 h 227"/>
              <a:gd name="T44" fmla="*/ 531035388 w 216"/>
              <a:gd name="T45" fmla="*/ 949607487 h 227"/>
              <a:gd name="T46" fmla="*/ 459209920 w 216"/>
              <a:gd name="T47" fmla="*/ 972957092 h 227"/>
              <a:gd name="T48" fmla="*/ 384634143 w 216"/>
              <a:gd name="T49" fmla="*/ 985307325 h 227"/>
              <a:gd name="T50" fmla="*/ 305076466 w 216"/>
              <a:gd name="T51" fmla="*/ 972957092 h 227"/>
              <a:gd name="T52" fmla="*/ 234138249 w 216"/>
              <a:gd name="T53" fmla="*/ 949607487 h 227"/>
              <a:gd name="T54" fmla="*/ 166617470 w 216"/>
              <a:gd name="T55" fmla="*/ 903181730 h 227"/>
              <a:gd name="T56" fmla="*/ 114162216 w 216"/>
              <a:gd name="T57" fmla="*/ 842402251 h 227"/>
              <a:gd name="T58" fmla="*/ 64248977 w 216"/>
              <a:gd name="T59" fmla="*/ 767322354 h 227"/>
              <a:gd name="T60" fmla="*/ 27952822 w 216"/>
              <a:gd name="T61" fmla="*/ 685652195 h 227"/>
              <a:gd name="T62" fmla="*/ 6645470 w 216"/>
              <a:gd name="T63" fmla="*/ 591068594 h 227"/>
              <a:gd name="T64" fmla="*/ 0 w 216"/>
              <a:gd name="T65" fmla="*/ 490035276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3"/>
                </a:moveTo>
                <a:lnTo>
                  <a:pt x="1" y="103"/>
                </a:lnTo>
                <a:lnTo>
                  <a:pt x="2" y="91"/>
                </a:lnTo>
                <a:lnTo>
                  <a:pt x="5" y="80"/>
                </a:lnTo>
                <a:lnTo>
                  <a:pt x="8" y="69"/>
                </a:lnTo>
                <a:lnTo>
                  <a:pt x="13" y="59"/>
                </a:lnTo>
                <a:lnTo>
                  <a:pt x="18" y="50"/>
                </a:lnTo>
                <a:lnTo>
                  <a:pt x="24" y="42"/>
                </a:lnTo>
                <a:lnTo>
                  <a:pt x="32" y="34"/>
                </a:lnTo>
                <a:lnTo>
                  <a:pt x="39" y="26"/>
                </a:lnTo>
                <a:lnTo>
                  <a:pt x="47" y="19"/>
                </a:lnTo>
                <a:lnTo>
                  <a:pt x="56" y="14"/>
                </a:lnTo>
                <a:lnTo>
                  <a:pt x="66" y="10"/>
                </a:lnTo>
                <a:lnTo>
                  <a:pt x="75" y="5"/>
                </a:lnTo>
                <a:lnTo>
                  <a:pt x="86" y="3"/>
                </a:lnTo>
                <a:lnTo>
                  <a:pt x="97" y="1"/>
                </a:lnTo>
                <a:lnTo>
                  <a:pt x="108" y="0"/>
                </a:lnTo>
                <a:lnTo>
                  <a:pt x="118" y="1"/>
                </a:lnTo>
                <a:lnTo>
                  <a:pt x="129" y="3"/>
                </a:lnTo>
                <a:lnTo>
                  <a:pt x="140" y="5"/>
                </a:lnTo>
                <a:lnTo>
                  <a:pt x="149" y="10"/>
                </a:lnTo>
                <a:lnTo>
                  <a:pt x="159" y="14"/>
                </a:lnTo>
                <a:lnTo>
                  <a:pt x="168" y="19"/>
                </a:lnTo>
                <a:lnTo>
                  <a:pt x="176" y="26"/>
                </a:lnTo>
                <a:lnTo>
                  <a:pt x="185" y="34"/>
                </a:lnTo>
                <a:lnTo>
                  <a:pt x="191" y="42"/>
                </a:lnTo>
                <a:lnTo>
                  <a:pt x="197" y="50"/>
                </a:lnTo>
                <a:lnTo>
                  <a:pt x="202" y="59"/>
                </a:lnTo>
                <a:lnTo>
                  <a:pt x="208" y="69"/>
                </a:lnTo>
                <a:lnTo>
                  <a:pt x="212" y="80"/>
                </a:lnTo>
                <a:lnTo>
                  <a:pt x="214" y="91"/>
                </a:lnTo>
                <a:lnTo>
                  <a:pt x="216" y="103"/>
                </a:lnTo>
                <a:lnTo>
                  <a:pt x="216" y="113"/>
                </a:lnTo>
                <a:lnTo>
                  <a:pt x="216" y="126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2" y="167"/>
                </a:lnTo>
                <a:lnTo>
                  <a:pt x="197" y="177"/>
                </a:lnTo>
                <a:lnTo>
                  <a:pt x="191" y="186"/>
                </a:lnTo>
                <a:lnTo>
                  <a:pt x="185" y="194"/>
                </a:lnTo>
                <a:lnTo>
                  <a:pt x="176" y="201"/>
                </a:lnTo>
                <a:lnTo>
                  <a:pt x="168" y="208"/>
                </a:lnTo>
                <a:lnTo>
                  <a:pt x="159" y="213"/>
                </a:lnTo>
                <a:lnTo>
                  <a:pt x="149" y="219"/>
                </a:lnTo>
                <a:lnTo>
                  <a:pt x="140" y="221"/>
                </a:lnTo>
                <a:lnTo>
                  <a:pt x="129" y="224"/>
                </a:lnTo>
                <a:lnTo>
                  <a:pt x="118" y="227"/>
                </a:lnTo>
                <a:lnTo>
                  <a:pt x="108" y="227"/>
                </a:lnTo>
                <a:lnTo>
                  <a:pt x="97" y="227"/>
                </a:lnTo>
                <a:lnTo>
                  <a:pt x="86" y="224"/>
                </a:lnTo>
                <a:lnTo>
                  <a:pt x="75" y="221"/>
                </a:lnTo>
                <a:lnTo>
                  <a:pt x="66" y="219"/>
                </a:lnTo>
                <a:lnTo>
                  <a:pt x="56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8" y="177"/>
                </a:lnTo>
                <a:lnTo>
                  <a:pt x="13" y="167"/>
                </a:lnTo>
                <a:lnTo>
                  <a:pt x="8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6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未知">
            <a:extLst>
              <a:ext uri="{FF2B5EF4-FFF2-40B4-BE49-F238E27FC236}">
                <a16:creationId xmlns:a16="http://schemas.microsoft.com/office/drawing/2014/main" id="{5AE05BF2-0F42-34F7-1464-514602FC3559}"/>
              </a:ext>
            </a:extLst>
          </p:cNvPr>
          <p:cNvSpPr>
            <a:spLocks/>
          </p:cNvSpPr>
          <p:nvPr/>
        </p:nvSpPr>
        <p:spPr bwMode="auto">
          <a:xfrm>
            <a:off x="5155114" y="5741978"/>
            <a:ext cx="281303" cy="298521"/>
          </a:xfrm>
          <a:custGeom>
            <a:avLst/>
            <a:gdLst>
              <a:gd name="T0" fmla="*/ 3240229 w 216"/>
              <a:gd name="T1" fmla="*/ 446341159 h 227"/>
              <a:gd name="T2" fmla="*/ 17640192 w 216"/>
              <a:gd name="T3" fmla="*/ 348105442 h 227"/>
              <a:gd name="T4" fmla="*/ 46641729 w 216"/>
              <a:gd name="T5" fmla="*/ 256183409 h 227"/>
              <a:gd name="T6" fmla="*/ 84375203 w 216"/>
              <a:gd name="T7" fmla="*/ 182291127 h 227"/>
              <a:gd name="T8" fmla="*/ 138480098 w 216"/>
              <a:gd name="T9" fmla="*/ 113371133 h 227"/>
              <a:gd name="T10" fmla="*/ 199629625 w 216"/>
              <a:gd name="T11" fmla="*/ 60672045 h 227"/>
              <a:gd name="T12" fmla="*/ 267147653 w 216"/>
              <a:gd name="T13" fmla="*/ 20996372 h 227"/>
              <a:gd name="T14" fmla="*/ 345025250 w 216"/>
              <a:gd name="T15" fmla="*/ 3971138 h 227"/>
              <a:gd name="T16" fmla="*/ 419223425 w 216"/>
              <a:gd name="T17" fmla="*/ 3971138 h 227"/>
              <a:gd name="T18" fmla="*/ 498025336 w 216"/>
              <a:gd name="T19" fmla="*/ 20996372 h 227"/>
              <a:gd name="T20" fmla="*/ 565530112 w 216"/>
              <a:gd name="T21" fmla="*/ 60672045 h 227"/>
              <a:gd name="T22" fmla="*/ 625689234 w 216"/>
              <a:gd name="T23" fmla="*/ 113371133 h 227"/>
              <a:gd name="T24" fmla="*/ 679668055 w 216"/>
              <a:gd name="T25" fmla="*/ 182291127 h 227"/>
              <a:gd name="T26" fmla="*/ 717712575 w 216"/>
              <a:gd name="T27" fmla="*/ 256183409 h 227"/>
              <a:gd name="T28" fmla="*/ 753892363 w 216"/>
              <a:gd name="T29" fmla="*/ 348105442 h 227"/>
              <a:gd name="T30" fmla="*/ 768364923 w 216"/>
              <a:gd name="T31" fmla="*/ 446341159 h 227"/>
              <a:gd name="T32" fmla="*/ 768364923 w 216"/>
              <a:gd name="T33" fmla="*/ 490035276 h 227"/>
              <a:gd name="T34" fmla="*/ 760897017 w 216"/>
              <a:gd name="T35" fmla="*/ 591068594 h 227"/>
              <a:gd name="T36" fmla="*/ 740838697 w 216"/>
              <a:gd name="T37" fmla="*/ 685652195 h 227"/>
              <a:gd name="T38" fmla="*/ 700842729 w 216"/>
              <a:gd name="T39" fmla="*/ 767322354 h 227"/>
              <a:gd name="T40" fmla="*/ 656926404 w 216"/>
              <a:gd name="T41" fmla="*/ 842402251 h 227"/>
              <a:gd name="T42" fmla="*/ 598538309 w 216"/>
              <a:gd name="T43" fmla="*/ 903181730 h 227"/>
              <a:gd name="T44" fmla="*/ 531035388 w 216"/>
              <a:gd name="T45" fmla="*/ 949607487 h 227"/>
              <a:gd name="T46" fmla="*/ 459209920 w 216"/>
              <a:gd name="T47" fmla="*/ 972957092 h 227"/>
              <a:gd name="T48" fmla="*/ 384634143 w 216"/>
              <a:gd name="T49" fmla="*/ 985307325 h 227"/>
              <a:gd name="T50" fmla="*/ 305076466 w 216"/>
              <a:gd name="T51" fmla="*/ 972957092 h 227"/>
              <a:gd name="T52" fmla="*/ 234138249 w 216"/>
              <a:gd name="T53" fmla="*/ 949607487 h 227"/>
              <a:gd name="T54" fmla="*/ 166617470 w 216"/>
              <a:gd name="T55" fmla="*/ 903181730 h 227"/>
              <a:gd name="T56" fmla="*/ 114162216 w 216"/>
              <a:gd name="T57" fmla="*/ 842402251 h 227"/>
              <a:gd name="T58" fmla="*/ 64248977 w 216"/>
              <a:gd name="T59" fmla="*/ 767322354 h 227"/>
              <a:gd name="T60" fmla="*/ 27952822 w 216"/>
              <a:gd name="T61" fmla="*/ 685652195 h 227"/>
              <a:gd name="T62" fmla="*/ 6645470 w 216"/>
              <a:gd name="T63" fmla="*/ 591068594 h 227"/>
              <a:gd name="T64" fmla="*/ 0 w 216"/>
              <a:gd name="T65" fmla="*/ 490035276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3"/>
                </a:moveTo>
                <a:lnTo>
                  <a:pt x="1" y="103"/>
                </a:lnTo>
                <a:lnTo>
                  <a:pt x="2" y="91"/>
                </a:lnTo>
                <a:lnTo>
                  <a:pt x="5" y="80"/>
                </a:lnTo>
                <a:lnTo>
                  <a:pt x="8" y="69"/>
                </a:lnTo>
                <a:lnTo>
                  <a:pt x="13" y="59"/>
                </a:lnTo>
                <a:lnTo>
                  <a:pt x="18" y="50"/>
                </a:lnTo>
                <a:lnTo>
                  <a:pt x="24" y="42"/>
                </a:lnTo>
                <a:lnTo>
                  <a:pt x="32" y="34"/>
                </a:lnTo>
                <a:lnTo>
                  <a:pt x="39" y="26"/>
                </a:lnTo>
                <a:lnTo>
                  <a:pt x="47" y="19"/>
                </a:lnTo>
                <a:lnTo>
                  <a:pt x="56" y="14"/>
                </a:lnTo>
                <a:lnTo>
                  <a:pt x="66" y="10"/>
                </a:lnTo>
                <a:lnTo>
                  <a:pt x="75" y="5"/>
                </a:lnTo>
                <a:lnTo>
                  <a:pt x="86" y="3"/>
                </a:lnTo>
                <a:lnTo>
                  <a:pt x="97" y="1"/>
                </a:lnTo>
                <a:lnTo>
                  <a:pt x="108" y="0"/>
                </a:lnTo>
                <a:lnTo>
                  <a:pt x="118" y="1"/>
                </a:lnTo>
                <a:lnTo>
                  <a:pt x="129" y="3"/>
                </a:lnTo>
                <a:lnTo>
                  <a:pt x="140" y="5"/>
                </a:lnTo>
                <a:lnTo>
                  <a:pt x="149" y="10"/>
                </a:lnTo>
                <a:lnTo>
                  <a:pt x="159" y="14"/>
                </a:lnTo>
                <a:lnTo>
                  <a:pt x="168" y="19"/>
                </a:lnTo>
                <a:lnTo>
                  <a:pt x="176" y="26"/>
                </a:lnTo>
                <a:lnTo>
                  <a:pt x="185" y="34"/>
                </a:lnTo>
                <a:lnTo>
                  <a:pt x="191" y="42"/>
                </a:lnTo>
                <a:lnTo>
                  <a:pt x="197" y="50"/>
                </a:lnTo>
                <a:lnTo>
                  <a:pt x="202" y="59"/>
                </a:lnTo>
                <a:lnTo>
                  <a:pt x="208" y="69"/>
                </a:lnTo>
                <a:lnTo>
                  <a:pt x="212" y="80"/>
                </a:lnTo>
                <a:lnTo>
                  <a:pt x="214" y="91"/>
                </a:lnTo>
                <a:lnTo>
                  <a:pt x="216" y="103"/>
                </a:lnTo>
                <a:lnTo>
                  <a:pt x="216" y="113"/>
                </a:lnTo>
                <a:lnTo>
                  <a:pt x="216" y="126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2" y="167"/>
                </a:lnTo>
                <a:lnTo>
                  <a:pt x="197" y="177"/>
                </a:lnTo>
                <a:lnTo>
                  <a:pt x="191" y="186"/>
                </a:lnTo>
                <a:lnTo>
                  <a:pt x="185" y="194"/>
                </a:lnTo>
                <a:lnTo>
                  <a:pt x="176" y="201"/>
                </a:lnTo>
                <a:lnTo>
                  <a:pt x="168" y="208"/>
                </a:lnTo>
                <a:lnTo>
                  <a:pt x="159" y="213"/>
                </a:lnTo>
                <a:lnTo>
                  <a:pt x="149" y="219"/>
                </a:lnTo>
                <a:lnTo>
                  <a:pt x="140" y="221"/>
                </a:lnTo>
                <a:lnTo>
                  <a:pt x="129" y="224"/>
                </a:lnTo>
                <a:lnTo>
                  <a:pt x="118" y="227"/>
                </a:lnTo>
                <a:lnTo>
                  <a:pt x="108" y="227"/>
                </a:lnTo>
                <a:lnTo>
                  <a:pt x="97" y="227"/>
                </a:lnTo>
                <a:lnTo>
                  <a:pt x="86" y="224"/>
                </a:lnTo>
                <a:lnTo>
                  <a:pt x="75" y="221"/>
                </a:lnTo>
                <a:lnTo>
                  <a:pt x="66" y="219"/>
                </a:lnTo>
                <a:lnTo>
                  <a:pt x="56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8" y="177"/>
                </a:lnTo>
                <a:lnTo>
                  <a:pt x="13" y="167"/>
                </a:lnTo>
                <a:lnTo>
                  <a:pt x="8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6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Rectangle 67">
            <a:extLst>
              <a:ext uri="{FF2B5EF4-FFF2-40B4-BE49-F238E27FC236}">
                <a16:creationId xmlns:a16="http://schemas.microsoft.com/office/drawing/2014/main" id="{157EB30F-A055-A57F-D739-0C232ACFB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538" y="5800412"/>
            <a:ext cx="63500" cy="152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>
                <a:solidFill>
                  <a:srgbClr val="FF0000"/>
                </a:solidFill>
                <a:latin typeface="宋体" pitchFamily="2" charset="-122"/>
              </a:rPr>
              <a:t>F</a:t>
            </a:r>
            <a:endParaRPr lang="en-US" altLang="zh-CN" sz="1000" b="1">
              <a:solidFill>
                <a:srgbClr val="FF0000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59" name="未知">
            <a:extLst>
              <a:ext uri="{FF2B5EF4-FFF2-40B4-BE49-F238E27FC236}">
                <a16:creationId xmlns:a16="http://schemas.microsoft.com/office/drawing/2014/main" id="{65D2D9C2-0C2A-90B4-12AE-AC4A15174562}"/>
              </a:ext>
            </a:extLst>
          </p:cNvPr>
          <p:cNvSpPr>
            <a:spLocks/>
          </p:cNvSpPr>
          <p:nvPr/>
        </p:nvSpPr>
        <p:spPr bwMode="auto">
          <a:xfrm>
            <a:off x="5718990" y="5021082"/>
            <a:ext cx="280668" cy="298521"/>
          </a:xfrm>
          <a:custGeom>
            <a:avLst/>
            <a:gdLst>
              <a:gd name="T0" fmla="*/ 3132436 w 216"/>
              <a:gd name="T1" fmla="*/ 485501602 h 226"/>
              <a:gd name="T2" fmla="*/ 16248397 w 216"/>
              <a:gd name="T3" fmla="*/ 375205301 h 226"/>
              <a:gd name="T4" fmla="*/ 44718601 w 216"/>
              <a:gd name="T5" fmla="*/ 281541765 h 226"/>
              <a:gd name="T6" fmla="*/ 84284591 w 216"/>
              <a:gd name="T7" fmla="*/ 194790464 h 226"/>
              <a:gd name="T8" fmla="*/ 133056879 w 216"/>
              <a:gd name="T9" fmla="*/ 119076492 h 226"/>
              <a:gd name="T10" fmla="*/ 190341245 w 216"/>
              <a:gd name="T11" fmla="*/ 61343543 h 226"/>
              <a:gd name="T12" fmla="*/ 253391593 w 216"/>
              <a:gd name="T13" fmla="*/ 23385031 h 226"/>
              <a:gd name="T14" fmla="*/ 328077895 w 216"/>
              <a:gd name="T15" fmla="*/ 4298969 h 226"/>
              <a:gd name="T16" fmla="*/ 399417937 w 216"/>
              <a:gd name="T17" fmla="*/ 4298969 h 226"/>
              <a:gd name="T18" fmla="*/ 473614015 w 216"/>
              <a:gd name="T19" fmla="*/ 23385031 h 226"/>
              <a:gd name="T20" fmla="*/ 538647947 w 216"/>
              <a:gd name="T21" fmla="*/ 61343543 h 226"/>
              <a:gd name="T22" fmla="*/ 596831833 w 216"/>
              <a:gd name="T23" fmla="*/ 119076492 h 226"/>
              <a:gd name="T24" fmla="*/ 647868110 w 216"/>
              <a:gd name="T25" fmla="*/ 194790464 h 226"/>
              <a:gd name="T26" fmla="*/ 687412918 w 216"/>
              <a:gd name="T27" fmla="*/ 281541765 h 226"/>
              <a:gd name="T28" fmla="*/ 719059846 w 216"/>
              <a:gd name="T29" fmla="*/ 375205301 h 226"/>
              <a:gd name="T30" fmla="*/ 732218540 w 216"/>
              <a:gd name="T31" fmla="*/ 485501602 h 226"/>
              <a:gd name="T32" fmla="*/ 732218540 w 216"/>
              <a:gd name="T33" fmla="*/ 538347344 h 226"/>
              <a:gd name="T34" fmla="*/ 725469299 w 216"/>
              <a:gd name="T35" fmla="*/ 648670450 h 226"/>
              <a:gd name="T36" fmla="*/ 706123720 w 216"/>
              <a:gd name="T37" fmla="*/ 752872443 h 226"/>
              <a:gd name="T38" fmla="*/ 671344109 w 216"/>
              <a:gd name="T39" fmla="*/ 838030353 h 226"/>
              <a:gd name="T40" fmla="*/ 628521798 w 216"/>
              <a:gd name="T41" fmla="*/ 922864214 h 226"/>
              <a:gd name="T42" fmla="*/ 570381366 w 216"/>
              <a:gd name="T43" fmla="*/ 991076223 h 226"/>
              <a:gd name="T44" fmla="*/ 505400337 w 216"/>
              <a:gd name="T45" fmla="*/ 1037090728 h 226"/>
              <a:gd name="T46" fmla="*/ 437297754 w 216"/>
              <a:gd name="T47" fmla="*/ 1071012034 h 226"/>
              <a:gd name="T48" fmla="*/ 366134183 w 216"/>
              <a:gd name="T49" fmla="*/ 1075907407 h 226"/>
              <a:gd name="T50" fmla="*/ 291664425 w 216"/>
              <a:gd name="T51" fmla="*/ 1071012034 h 226"/>
              <a:gd name="T52" fmla="*/ 223644091 w 216"/>
              <a:gd name="T53" fmla="*/ 1037090728 h 226"/>
              <a:gd name="T54" fmla="*/ 162676700 w 216"/>
              <a:gd name="T55" fmla="*/ 991076223 h 226"/>
              <a:gd name="T56" fmla="*/ 107753531 w 216"/>
              <a:gd name="T57" fmla="*/ 922864214 h 226"/>
              <a:gd name="T58" fmla="*/ 65023271 w 216"/>
              <a:gd name="T59" fmla="*/ 838030353 h 226"/>
              <a:gd name="T60" fmla="*/ 30159397 w 216"/>
              <a:gd name="T61" fmla="*/ 752872443 h 226"/>
              <a:gd name="T62" fmla="*/ 6409892 w 216"/>
              <a:gd name="T63" fmla="*/ 648670450 h 226"/>
              <a:gd name="T64" fmla="*/ 0 w 216"/>
              <a:gd name="T65" fmla="*/ 538347344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2" y="90"/>
                </a:lnTo>
                <a:lnTo>
                  <a:pt x="5" y="79"/>
                </a:lnTo>
                <a:lnTo>
                  <a:pt x="9" y="70"/>
                </a:lnTo>
                <a:lnTo>
                  <a:pt x="13" y="59"/>
                </a:lnTo>
                <a:lnTo>
                  <a:pt x="19" y="50"/>
                </a:lnTo>
                <a:lnTo>
                  <a:pt x="25" y="41"/>
                </a:lnTo>
                <a:lnTo>
                  <a:pt x="32" y="33"/>
                </a:lnTo>
                <a:lnTo>
                  <a:pt x="39" y="25"/>
                </a:lnTo>
                <a:lnTo>
                  <a:pt x="48" y="20"/>
                </a:lnTo>
                <a:lnTo>
                  <a:pt x="56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8" y="1"/>
                </a:lnTo>
                <a:lnTo>
                  <a:pt x="129" y="2"/>
                </a:lnTo>
                <a:lnTo>
                  <a:pt x="140" y="5"/>
                </a:lnTo>
                <a:lnTo>
                  <a:pt x="149" y="9"/>
                </a:lnTo>
                <a:lnTo>
                  <a:pt x="159" y="13"/>
                </a:lnTo>
                <a:lnTo>
                  <a:pt x="168" y="20"/>
                </a:lnTo>
                <a:lnTo>
                  <a:pt x="176" y="25"/>
                </a:lnTo>
                <a:lnTo>
                  <a:pt x="185" y="33"/>
                </a:lnTo>
                <a:lnTo>
                  <a:pt x="191" y="41"/>
                </a:lnTo>
                <a:lnTo>
                  <a:pt x="198" y="50"/>
                </a:lnTo>
                <a:lnTo>
                  <a:pt x="203" y="59"/>
                </a:lnTo>
                <a:lnTo>
                  <a:pt x="208" y="70"/>
                </a:lnTo>
                <a:lnTo>
                  <a:pt x="212" y="79"/>
                </a:lnTo>
                <a:lnTo>
                  <a:pt x="214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3" y="167"/>
                </a:lnTo>
                <a:lnTo>
                  <a:pt x="198" y="176"/>
                </a:lnTo>
                <a:lnTo>
                  <a:pt x="191" y="186"/>
                </a:lnTo>
                <a:lnTo>
                  <a:pt x="185" y="194"/>
                </a:lnTo>
                <a:lnTo>
                  <a:pt x="176" y="201"/>
                </a:lnTo>
                <a:lnTo>
                  <a:pt x="168" y="208"/>
                </a:lnTo>
                <a:lnTo>
                  <a:pt x="159" y="213"/>
                </a:lnTo>
                <a:lnTo>
                  <a:pt x="149" y="218"/>
                </a:lnTo>
                <a:lnTo>
                  <a:pt x="140" y="221"/>
                </a:lnTo>
                <a:lnTo>
                  <a:pt x="129" y="225"/>
                </a:lnTo>
                <a:lnTo>
                  <a:pt x="118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5"/>
                </a:lnTo>
                <a:lnTo>
                  <a:pt x="75" y="221"/>
                </a:lnTo>
                <a:lnTo>
                  <a:pt x="66" y="218"/>
                </a:lnTo>
                <a:lnTo>
                  <a:pt x="56" y="213"/>
                </a:lnTo>
                <a:lnTo>
                  <a:pt x="48" y="208"/>
                </a:lnTo>
                <a:lnTo>
                  <a:pt x="39" y="201"/>
                </a:lnTo>
                <a:lnTo>
                  <a:pt x="32" y="194"/>
                </a:lnTo>
                <a:lnTo>
                  <a:pt x="25" y="186"/>
                </a:lnTo>
                <a:lnTo>
                  <a:pt x="19" y="176"/>
                </a:lnTo>
                <a:lnTo>
                  <a:pt x="13" y="167"/>
                </a:lnTo>
                <a:lnTo>
                  <a:pt x="9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5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未知">
            <a:extLst>
              <a:ext uri="{FF2B5EF4-FFF2-40B4-BE49-F238E27FC236}">
                <a16:creationId xmlns:a16="http://schemas.microsoft.com/office/drawing/2014/main" id="{3AFFC1B3-88B0-19AA-D890-B3796B987FBF}"/>
              </a:ext>
            </a:extLst>
          </p:cNvPr>
          <p:cNvSpPr>
            <a:spLocks/>
          </p:cNvSpPr>
          <p:nvPr/>
        </p:nvSpPr>
        <p:spPr bwMode="auto">
          <a:xfrm>
            <a:off x="5718990" y="5021082"/>
            <a:ext cx="280668" cy="298521"/>
          </a:xfrm>
          <a:custGeom>
            <a:avLst/>
            <a:gdLst>
              <a:gd name="T0" fmla="*/ 3132436 w 216"/>
              <a:gd name="T1" fmla="*/ 485501602 h 226"/>
              <a:gd name="T2" fmla="*/ 16248397 w 216"/>
              <a:gd name="T3" fmla="*/ 375205301 h 226"/>
              <a:gd name="T4" fmla="*/ 44718601 w 216"/>
              <a:gd name="T5" fmla="*/ 281541765 h 226"/>
              <a:gd name="T6" fmla="*/ 84284591 w 216"/>
              <a:gd name="T7" fmla="*/ 194790464 h 226"/>
              <a:gd name="T8" fmla="*/ 133056879 w 216"/>
              <a:gd name="T9" fmla="*/ 119076492 h 226"/>
              <a:gd name="T10" fmla="*/ 190341245 w 216"/>
              <a:gd name="T11" fmla="*/ 61343543 h 226"/>
              <a:gd name="T12" fmla="*/ 253391593 w 216"/>
              <a:gd name="T13" fmla="*/ 23385031 h 226"/>
              <a:gd name="T14" fmla="*/ 328077895 w 216"/>
              <a:gd name="T15" fmla="*/ 4298969 h 226"/>
              <a:gd name="T16" fmla="*/ 399417937 w 216"/>
              <a:gd name="T17" fmla="*/ 4298969 h 226"/>
              <a:gd name="T18" fmla="*/ 473614015 w 216"/>
              <a:gd name="T19" fmla="*/ 23385031 h 226"/>
              <a:gd name="T20" fmla="*/ 538647947 w 216"/>
              <a:gd name="T21" fmla="*/ 61343543 h 226"/>
              <a:gd name="T22" fmla="*/ 596831833 w 216"/>
              <a:gd name="T23" fmla="*/ 119076492 h 226"/>
              <a:gd name="T24" fmla="*/ 647868110 w 216"/>
              <a:gd name="T25" fmla="*/ 194790464 h 226"/>
              <a:gd name="T26" fmla="*/ 687412918 w 216"/>
              <a:gd name="T27" fmla="*/ 281541765 h 226"/>
              <a:gd name="T28" fmla="*/ 719059846 w 216"/>
              <a:gd name="T29" fmla="*/ 375205301 h 226"/>
              <a:gd name="T30" fmla="*/ 732218540 w 216"/>
              <a:gd name="T31" fmla="*/ 485501602 h 226"/>
              <a:gd name="T32" fmla="*/ 732218540 w 216"/>
              <a:gd name="T33" fmla="*/ 538347344 h 226"/>
              <a:gd name="T34" fmla="*/ 725469299 w 216"/>
              <a:gd name="T35" fmla="*/ 648670450 h 226"/>
              <a:gd name="T36" fmla="*/ 706123720 w 216"/>
              <a:gd name="T37" fmla="*/ 752872443 h 226"/>
              <a:gd name="T38" fmla="*/ 671344109 w 216"/>
              <a:gd name="T39" fmla="*/ 838030353 h 226"/>
              <a:gd name="T40" fmla="*/ 628521798 w 216"/>
              <a:gd name="T41" fmla="*/ 922864214 h 226"/>
              <a:gd name="T42" fmla="*/ 570381366 w 216"/>
              <a:gd name="T43" fmla="*/ 991076223 h 226"/>
              <a:gd name="T44" fmla="*/ 505400337 w 216"/>
              <a:gd name="T45" fmla="*/ 1037090728 h 226"/>
              <a:gd name="T46" fmla="*/ 437297754 w 216"/>
              <a:gd name="T47" fmla="*/ 1071012034 h 226"/>
              <a:gd name="T48" fmla="*/ 366134183 w 216"/>
              <a:gd name="T49" fmla="*/ 1075907407 h 226"/>
              <a:gd name="T50" fmla="*/ 291664425 w 216"/>
              <a:gd name="T51" fmla="*/ 1071012034 h 226"/>
              <a:gd name="T52" fmla="*/ 223644091 w 216"/>
              <a:gd name="T53" fmla="*/ 1037090728 h 226"/>
              <a:gd name="T54" fmla="*/ 162676700 w 216"/>
              <a:gd name="T55" fmla="*/ 991076223 h 226"/>
              <a:gd name="T56" fmla="*/ 107753531 w 216"/>
              <a:gd name="T57" fmla="*/ 922864214 h 226"/>
              <a:gd name="T58" fmla="*/ 65023271 w 216"/>
              <a:gd name="T59" fmla="*/ 838030353 h 226"/>
              <a:gd name="T60" fmla="*/ 30159397 w 216"/>
              <a:gd name="T61" fmla="*/ 752872443 h 226"/>
              <a:gd name="T62" fmla="*/ 6409892 w 216"/>
              <a:gd name="T63" fmla="*/ 648670450 h 226"/>
              <a:gd name="T64" fmla="*/ 0 w 216"/>
              <a:gd name="T65" fmla="*/ 538347344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2" y="90"/>
                </a:lnTo>
                <a:lnTo>
                  <a:pt x="5" y="79"/>
                </a:lnTo>
                <a:lnTo>
                  <a:pt x="9" y="70"/>
                </a:lnTo>
                <a:lnTo>
                  <a:pt x="13" y="59"/>
                </a:lnTo>
                <a:lnTo>
                  <a:pt x="19" y="50"/>
                </a:lnTo>
                <a:lnTo>
                  <a:pt x="25" y="41"/>
                </a:lnTo>
                <a:lnTo>
                  <a:pt x="32" y="33"/>
                </a:lnTo>
                <a:lnTo>
                  <a:pt x="39" y="25"/>
                </a:lnTo>
                <a:lnTo>
                  <a:pt x="48" y="20"/>
                </a:lnTo>
                <a:lnTo>
                  <a:pt x="56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8" y="1"/>
                </a:lnTo>
                <a:lnTo>
                  <a:pt x="129" y="2"/>
                </a:lnTo>
                <a:lnTo>
                  <a:pt x="140" y="5"/>
                </a:lnTo>
                <a:lnTo>
                  <a:pt x="149" y="9"/>
                </a:lnTo>
                <a:lnTo>
                  <a:pt x="159" y="13"/>
                </a:lnTo>
                <a:lnTo>
                  <a:pt x="168" y="20"/>
                </a:lnTo>
                <a:lnTo>
                  <a:pt x="176" y="25"/>
                </a:lnTo>
                <a:lnTo>
                  <a:pt x="185" y="33"/>
                </a:lnTo>
                <a:lnTo>
                  <a:pt x="191" y="41"/>
                </a:lnTo>
                <a:lnTo>
                  <a:pt x="198" y="50"/>
                </a:lnTo>
                <a:lnTo>
                  <a:pt x="203" y="59"/>
                </a:lnTo>
                <a:lnTo>
                  <a:pt x="208" y="70"/>
                </a:lnTo>
                <a:lnTo>
                  <a:pt x="212" y="79"/>
                </a:lnTo>
                <a:lnTo>
                  <a:pt x="214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3" y="167"/>
                </a:lnTo>
                <a:lnTo>
                  <a:pt x="198" y="176"/>
                </a:lnTo>
                <a:lnTo>
                  <a:pt x="191" y="186"/>
                </a:lnTo>
                <a:lnTo>
                  <a:pt x="185" y="194"/>
                </a:lnTo>
                <a:lnTo>
                  <a:pt x="176" y="201"/>
                </a:lnTo>
                <a:lnTo>
                  <a:pt x="168" y="208"/>
                </a:lnTo>
                <a:lnTo>
                  <a:pt x="159" y="213"/>
                </a:lnTo>
                <a:lnTo>
                  <a:pt x="149" y="218"/>
                </a:lnTo>
                <a:lnTo>
                  <a:pt x="140" y="221"/>
                </a:lnTo>
                <a:lnTo>
                  <a:pt x="129" y="225"/>
                </a:lnTo>
                <a:lnTo>
                  <a:pt x="118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5"/>
                </a:lnTo>
                <a:lnTo>
                  <a:pt x="75" y="221"/>
                </a:lnTo>
                <a:lnTo>
                  <a:pt x="66" y="218"/>
                </a:lnTo>
                <a:lnTo>
                  <a:pt x="56" y="213"/>
                </a:lnTo>
                <a:lnTo>
                  <a:pt x="48" y="208"/>
                </a:lnTo>
                <a:lnTo>
                  <a:pt x="39" y="201"/>
                </a:lnTo>
                <a:lnTo>
                  <a:pt x="32" y="194"/>
                </a:lnTo>
                <a:lnTo>
                  <a:pt x="25" y="186"/>
                </a:lnTo>
                <a:lnTo>
                  <a:pt x="19" y="176"/>
                </a:lnTo>
                <a:lnTo>
                  <a:pt x="13" y="167"/>
                </a:lnTo>
                <a:lnTo>
                  <a:pt x="9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5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 70">
            <a:extLst>
              <a:ext uri="{FF2B5EF4-FFF2-40B4-BE49-F238E27FC236}">
                <a16:creationId xmlns:a16="http://schemas.microsoft.com/office/drawing/2014/main" id="{81DAE6C1-613D-28D6-B3B8-4651C9351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7414" y="5081421"/>
            <a:ext cx="63500" cy="152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 dirty="0">
                <a:solidFill>
                  <a:srgbClr val="0000FF"/>
                </a:solidFill>
                <a:latin typeface="宋体" pitchFamily="2" charset="-122"/>
              </a:rPr>
              <a:t>D</a:t>
            </a:r>
            <a:endParaRPr lang="en-US" altLang="zh-CN" sz="1000" b="1" dirty="0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62" name="未知">
            <a:extLst>
              <a:ext uri="{FF2B5EF4-FFF2-40B4-BE49-F238E27FC236}">
                <a16:creationId xmlns:a16="http://schemas.microsoft.com/office/drawing/2014/main" id="{1F8495B2-77E6-2D3C-91FF-535C41CB0219}"/>
              </a:ext>
            </a:extLst>
          </p:cNvPr>
          <p:cNvSpPr>
            <a:spLocks/>
          </p:cNvSpPr>
          <p:nvPr/>
        </p:nvSpPr>
        <p:spPr bwMode="auto">
          <a:xfrm>
            <a:off x="6561629" y="4310983"/>
            <a:ext cx="282573" cy="301697"/>
          </a:xfrm>
          <a:custGeom>
            <a:avLst/>
            <a:gdLst>
              <a:gd name="T0" fmla="*/ 3468480 w 216"/>
              <a:gd name="T1" fmla="*/ 559741153 h 227"/>
              <a:gd name="T2" fmla="*/ 19279409 w 216"/>
              <a:gd name="T3" fmla="*/ 431963359 h 227"/>
              <a:gd name="T4" fmla="*/ 51371873 w 216"/>
              <a:gd name="T5" fmla="*/ 318314144 h 227"/>
              <a:gd name="T6" fmla="*/ 98258553 w 216"/>
              <a:gd name="T7" fmla="*/ 227932445 h 227"/>
              <a:gd name="T8" fmla="*/ 151879687 w 216"/>
              <a:gd name="T9" fmla="*/ 139722493 h 227"/>
              <a:gd name="T10" fmla="*/ 218040878 w 216"/>
              <a:gd name="T11" fmla="*/ 69278727 h 227"/>
              <a:gd name="T12" fmla="*/ 293737899 w 216"/>
              <a:gd name="T13" fmla="*/ 26073254 h 227"/>
              <a:gd name="T14" fmla="*/ 379467856 w 216"/>
              <a:gd name="T15" fmla="*/ 4849290 h 227"/>
              <a:gd name="T16" fmla="*/ 464985030 w 216"/>
              <a:gd name="T17" fmla="*/ 4849290 h 227"/>
              <a:gd name="T18" fmla="*/ 546365163 w 216"/>
              <a:gd name="T19" fmla="*/ 26073254 h 227"/>
              <a:gd name="T20" fmla="*/ 622739560 w 216"/>
              <a:gd name="T21" fmla="*/ 69278727 h 227"/>
              <a:gd name="T22" fmla="*/ 692368182 w 216"/>
              <a:gd name="T23" fmla="*/ 139722493 h 227"/>
              <a:gd name="T24" fmla="*/ 745936538 w 216"/>
              <a:gd name="T25" fmla="*/ 227932445 h 227"/>
              <a:gd name="T26" fmla="*/ 796511889 w 216"/>
              <a:gd name="T27" fmla="*/ 318314144 h 227"/>
              <a:gd name="T28" fmla="*/ 828864612 w 216"/>
              <a:gd name="T29" fmla="*/ 431963359 h 227"/>
              <a:gd name="T30" fmla="*/ 844450245 w 216"/>
              <a:gd name="T31" fmla="*/ 559741153 h 227"/>
              <a:gd name="T32" fmla="*/ 844450245 w 216"/>
              <a:gd name="T33" fmla="*/ 611789234 h 227"/>
              <a:gd name="T34" fmla="*/ 837258897 w 216"/>
              <a:gd name="T35" fmla="*/ 737559701 h 227"/>
              <a:gd name="T36" fmla="*/ 814086300 w 216"/>
              <a:gd name="T37" fmla="*/ 857787430 h 227"/>
              <a:gd name="T38" fmla="*/ 774630431 w 216"/>
              <a:gd name="T39" fmla="*/ 958434412 h 227"/>
              <a:gd name="T40" fmla="*/ 722693214 w 216"/>
              <a:gd name="T41" fmla="*/ 1052525427 h 227"/>
              <a:gd name="T42" fmla="*/ 656537371 w 216"/>
              <a:gd name="T43" fmla="*/ 1126388021 h 227"/>
              <a:gd name="T44" fmla="*/ 586522487 w 216"/>
              <a:gd name="T45" fmla="*/ 1185978067 h 227"/>
              <a:gd name="T46" fmla="*/ 504656372 w 216"/>
              <a:gd name="T47" fmla="*/ 1220474701 h 227"/>
              <a:gd name="T48" fmla="*/ 422873988 w 216"/>
              <a:gd name="T49" fmla="*/ 1230410188 h 227"/>
              <a:gd name="T50" fmla="*/ 336070776 w 216"/>
              <a:gd name="T51" fmla="*/ 1220474701 h 227"/>
              <a:gd name="T52" fmla="*/ 258010951 w 216"/>
              <a:gd name="T53" fmla="*/ 1185978067 h 227"/>
              <a:gd name="T54" fmla="*/ 187663513 w 216"/>
              <a:gd name="T55" fmla="*/ 1126388021 h 227"/>
              <a:gd name="T56" fmla="*/ 125236776 w 216"/>
              <a:gd name="T57" fmla="*/ 1052525427 h 227"/>
              <a:gd name="T58" fmla="*/ 73721376 w 216"/>
              <a:gd name="T59" fmla="*/ 958434412 h 227"/>
              <a:gd name="T60" fmla="*/ 35783859 w 216"/>
              <a:gd name="T61" fmla="*/ 857787430 h 227"/>
              <a:gd name="T62" fmla="*/ 7145711 w 216"/>
              <a:gd name="T63" fmla="*/ 737559701 h 227"/>
              <a:gd name="T64" fmla="*/ 0 w 216"/>
              <a:gd name="T65" fmla="*/ 611789234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3"/>
                </a:moveTo>
                <a:lnTo>
                  <a:pt x="1" y="103"/>
                </a:lnTo>
                <a:lnTo>
                  <a:pt x="2" y="90"/>
                </a:lnTo>
                <a:lnTo>
                  <a:pt x="5" y="80"/>
                </a:lnTo>
                <a:lnTo>
                  <a:pt x="9" y="70"/>
                </a:lnTo>
                <a:lnTo>
                  <a:pt x="13" y="59"/>
                </a:lnTo>
                <a:lnTo>
                  <a:pt x="19" y="50"/>
                </a:lnTo>
                <a:lnTo>
                  <a:pt x="25" y="42"/>
                </a:lnTo>
                <a:lnTo>
                  <a:pt x="32" y="34"/>
                </a:lnTo>
                <a:lnTo>
                  <a:pt x="39" y="26"/>
                </a:lnTo>
                <a:lnTo>
                  <a:pt x="48" y="20"/>
                </a:lnTo>
                <a:lnTo>
                  <a:pt x="56" y="13"/>
                </a:lnTo>
                <a:lnTo>
                  <a:pt x="66" y="9"/>
                </a:lnTo>
                <a:lnTo>
                  <a:pt x="75" y="5"/>
                </a:lnTo>
                <a:lnTo>
                  <a:pt x="86" y="3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3"/>
                </a:lnTo>
                <a:lnTo>
                  <a:pt x="140" y="5"/>
                </a:lnTo>
                <a:lnTo>
                  <a:pt x="150" y="9"/>
                </a:lnTo>
                <a:lnTo>
                  <a:pt x="159" y="13"/>
                </a:lnTo>
                <a:lnTo>
                  <a:pt x="168" y="20"/>
                </a:lnTo>
                <a:lnTo>
                  <a:pt x="177" y="26"/>
                </a:lnTo>
                <a:lnTo>
                  <a:pt x="185" y="34"/>
                </a:lnTo>
                <a:lnTo>
                  <a:pt x="191" y="42"/>
                </a:lnTo>
                <a:lnTo>
                  <a:pt x="198" y="50"/>
                </a:lnTo>
                <a:lnTo>
                  <a:pt x="204" y="59"/>
                </a:lnTo>
                <a:lnTo>
                  <a:pt x="208" y="70"/>
                </a:lnTo>
                <a:lnTo>
                  <a:pt x="212" y="80"/>
                </a:lnTo>
                <a:lnTo>
                  <a:pt x="214" y="90"/>
                </a:lnTo>
                <a:lnTo>
                  <a:pt x="216" y="103"/>
                </a:lnTo>
                <a:lnTo>
                  <a:pt x="216" y="113"/>
                </a:lnTo>
                <a:lnTo>
                  <a:pt x="216" y="125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4" y="167"/>
                </a:lnTo>
                <a:lnTo>
                  <a:pt x="198" y="177"/>
                </a:lnTo>
                <a:lnTo>
                  <a:pt x="191" y="186"/>
                </a:lnTo>
                <a:lnTo>
                  <a:pt x="185" y="194"/>
                </a:lnTo>
                <a:lnTo>
                  <a:pt x="177" y="201"/>
                </a:lnTo>
                <a:lnTo>
                  <a:pt x="168" y="208"/>
                </a:lnTo>
                <a:lnTo>
                  <a:pt x="159" y="213"/>
                </a:lnTo>
                <a:lnTo>
                  <a:pt x="150" y="219"/>
                </a:lnTo>
                <a:lnTo>
                  <a:pt x="140" y="221"/>
                </a:lnTo>
                <a:lnTo>
                  <a:pt x="129" y="225"/>
                </a:lnTo>
                <a:lnTo>
                  <a:pt x="119" y="227"/>
                </a:lnTo>
                <a:lnTo>
                  <a:pt x="108" y="227"/>
                </a:lnTo>
                <a:lnTo>
                  <a:pt x="97" y="227"/>
                </a:lnTo>
                <a:lnTo>
                  <a:pt x="86" y="225"/>
                </a:lnTo>
                <a:lnTo>
                  <a:pt x="75" y="221"/>
                </a:lnTo>
                <a:lnTo>
                  <a:pt x="66" y="219"/>
                </a:lnTo>
                <a:lnTo>
                  <a:pt x="56" y="213"/>
                </a:lnTo>
                <a:lnTo>
                  <a:pt x="48" y="208"/>
                </a:lnTo>
                <a:lnTo>
                  <a:pt x="39" y="201"/>
                </a:lnTo>
                <a:lnTo>
                  <a:pt x="32" y="194"/>
                </a:lnTo>
                <a:lnTo>
                  <a:pt x="25" y="186"/>
                </a:lnTo>
                <a:lnTo>
                  <a:pt x="19" y="177"/>
                </a:lnTo>
                <a:lnTo>
                  <a:pt x="13" y="167"/>
                </a:lnTo>
                <a:lnTo>
                  <a:pt x="9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5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未知">
            <a:extLst>
              <a:ext uri="{FF2B5EF4-FFF2-40B4-BE49-F238E27FC236}">
                <a16:creationId xmlns:a16="http://schemas.microsoft.com/office/drawing/2014/main" id="{1820CE66-0965-CBFB-A7C2-892FE913E32D}"/>
              </a:ext>
            </a:extLst>
          </p:cNvPr>
          <p:cNvSpPr>
            <a:spLocks/>
          </p:cNvSpPr>
          <p:nvPr/>
        </p:nvSpPr>
        <p:spPr bwMode="auto">
          <a:xfrm>
            <a:off x="6561629" y="4310983"/>
            <a:ext cx="282573" cy="301697"/>
          </a:xfrm>
          <a:custGeom>
            <a:avLst/>
            <a:gdLst>
              <a:gd name="T0" fmla="*/ 3468480 w 216"/>
              <a:gd name="T1" fmla="*/ 559741153 h 227"/>
              <a:gd name="T2" fmla="*/ 19279409 w 216"/>
              <a:gd name="T3" fmla="*/ 431963359 h 227"/>
              <a:gd name="T4" fmla="*/ 51371873 w 216"/>
              <a:gd name="T5" fmla="*/ 318314144 h 227"/>
              <a:gd name="T6" fmla="*/ 98258553 w 216"/>
              <a:gd name="T7" fmla="*/ 227932445 h 227"/>
              <a:gd name="T8" fmla="*/ 151879687 w 216"/>
              <a:gd name="T9" fmla="*/ 139722493 h 227"/>
              <a:gd name="T10" fmla="*/ 218040878 w 216"/>
              <a:gd name="T11" fmla="*/ 69278727 h 227"/>
              <a:gd name="T12" fmla="*/ 293737899 w 216"/>
              <a:gd name="T13" fmla="*/ 26073254 h 227"/>
              <a:gd name="T14" fmla="*/ 379467856 w 216"/>
              <a:gd name="T15" fmla="*/ 4849290 h 227"/>
              <a:gd name="T16" fmla="*/ 464985030 w 216"/>
              <a:gd name="T17" fmla="*/ 4849290 h 227"/>
              <a:gd name="T18" fmla="*/ 546365163 w 216"/>
              <a:gd name="T19" fmla="*/ 26073254 h 227"/>
              <a:gd name="T20" fmla="*/ 622739560 w 216"/>
              <a:gd name="T21" fmla="*/ 69278727 h 227"/>
              <a:gd name="T22" fmla="*/ 692368182 w 216"/>
              <a:gd name="T23" fmla="*/ 139722493 h 227"/>
              <a:gd name="T24" fmla="*/ 745936538 w 216"/>
              <a:gd name="T25" fmla="*/ 227932445 h 227"/>
              <a:gd name="T26" fmla="*/ 796511889 w 216"/>
              <a:gd name="T27" fmla="*/ 318314144 h 227"/>
              <a:gd name="T28" fmla="*/ 828864612 w 216"/>
              <a:gd name="T29" fmla="*/ 431963359 h 227"/>
              <a:gd name="T30" fmla="*/ 844450245 w 216"/>
              <a:gd name="T31" fmla="*/ 559741153 h 227"/>
              <a:gd name="T32" fmla="*/ 844450245 w 216"/>
              <a:gd name="T33" fmla="*/ 611789234 h 227"/>
              <a:gd name="T34" fmla="*/ 837258897 w 216"/>
              <a:gd name="T35" fmla="*/ 737559701 h 227"/>
              <a:gd name="T36" fmla="*/ 814086300 w 216"/>
              <a:gd name="T37" fmla="*/ 857787430 h 227"/>
              <a:gd name="T38" fmla="*/ 774630431 w 216"/>
              <a:gd name="T39" fmla="*/ 958434412 h 227"/>
              <a:gd name="T40" fmla="*/ 722693214 w 216"/>
              <a:gd name="T41" fmla="*/ 1052525427 h 227"/>
              <a:gd name="T42" fmla="*/ 656537371 w 216"/>
              <a:gd name="T43" fmla="*/ 1126388021 h 227"/>
              <a:gd name="T44" fmla="*/ 586522487 w 216"/>
              <a:gd name="T45" fmla="*/ 1185978067 h 227"/>
              <a:gd name="T46" fmla="*/ 504656372 w 216"/>
              <a:gd name="T47" fmla="*/ 1220474701 h 227"/>
              <a:gd name="T48" fmla="*/ 422873988 w 216"/>
              <a:gd name="T49" fmla="*/ 1230410188 h 227"/>
              <a:gd name="T50" fmla="*/ 336070776 w 216"/>
              <a:gd name="T51" fmla="*/ 1220474701 h 227"/>
              <a:gd name="T52" fmla="*/ 258010951 w 216"/>
              <a:gd name="T53" fmla="*/ 1185978067 h 227"/>
              <a:gd name="T54" fmla="*/ 187663513 w 216"/>
              <a:gd name="T55" fmla="*/ 1126388021 h 227"/>
              <a:gd name="T56" fmla="*/ 125236776 w 216"/>
              <a:gd name="T57" fmla="*/ 1052525427 h 227"/>
              <a:gd name="T58" fmla="*/ 73721376 w 216"/>
              <a:gd name="T59" fmla="*/ 958434412 h 227"/>
              <a:gd name="T60" fmla="*/ 35783859 w 216"/>
              <a:gd name="T61" fmla="*/ 857787430 h 227"/>
              <a:gd name="T62" fmla="*/ 7145711 w 216"/>
              <a:gd name="T63" fmla="*/ 737559701 h 227"/>
              <a:gd name="T64" fmla="*/ 0 w 216"/>
              <a:gd name="T65" fmla="*/ 611789234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3"/>
                </a:moveTo>
                <a:lnTo>
                  <a:pt x="1" y="103"/>
                </a:lnTo>
                <a:lnTo>
                  <a:pt x="2" y="90"/>
                </a:lnTo>
                <a:lnTo>
                  <a:pt x="5" y="80"/>
                </a:lnTo>
                <a:lnTo>
                  <a:pt x="9" y="70"/>
                </a:lnTo>
                <a:lnTo>
                  <a:pt x="13" y="59"/>
                </a:lnTo>
                <a:lnTo>
                  <a:pt x="19" y="50"/>
                </a:lnTo>
                <a:lnTo>
                  <a:pt x="25" y="42"/>
                </a:lnTo>
                <a:lnTo>
                  <a:pt x="32" y="34"/>
                </a:lnTo>
                <a:lnTo>
                  <a:pt x="39" y="26"/>
                </a:lnTo>
                <a:lnTo>
                  <a:pt x="48" y="20"/>
                </a:lnTo>
                <a:lnTo>
                  <a:pt x="56" y="13"/>
                </a:lnTo>
                <a:lnTo>
                  <a:pt x="66" y="9"/>
                </a:lnTo>
                <a:lnTo>
                  <a:pt x="75" y="5"/>
                </a:lnTo>
                <a:lnTo>
                  <a:pt x="86" y="3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3"/>
                </a:lnTo>
                <a:lnTo>
                  <a:pt x="140" y="5"/>
                </a:lnTo>
                <a:lnTo>
                  <a:pt x="150" y="9"/>
                </a:lnTo>
                <a:lnTo>
                  <a:pt x="159" y="13"/>
                </a:lnTo>
                <a:lnTo>
                  <a:pt x="168" y="20"/>
                </a:lnTo>
                <a:lnTo>
                  <a:pt x="177" y="26"/>
                </a:lnTo>
                <a:lnTo>
                  <a:pt x="185" y="34"/>
                </a:lnTo>
                <a:lnTo>
                  <a:pt x="191" y="42"/>
                </a:lnTo>
                <a:lnTo>
                  <a:pt x="198" y="50"/>
                </a:lnTo>
                <a:lnTo>
                  <a:pt x="204" y="59"/>
                </a:lnTo>
                <a:lnTo>
                  <a:pt x="208" y="70"/>
                </a:lnTo>
                <a:lnTo>
                  <a:pt x="212" y="80"/>
                </a:lnTo>
                <a:lnTo>
                  <a:pt x="214" y="90"/>
                </a:lnTo>
                <a:lnTo>
                  <a:pt x="216" y="103"/>
                </a:lnTo>
                <a:lnTo>
                  <a:pt x="216" y="113"/>
                </a:lnTo>
                <a:lnTo>
                  <a:pt x="216" y="125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4" y="167"/>
                </a:lnTo>
                <a:lnTo>
                  <a:pt x="198" y="177"/>
                </a:lnTo>
                <a:lnTo>
                  <a:pt x="191" y="186"/>
                </a:lnTo>
                <a:lnTo>
                  <a:pt x="185" y="194"/>
                </a:lnTo>
                <a:lnTo>
                  <a:pt x="177" y="201"/>
                </a:lnTo>
                <a:lnTo>
                  <a:pt x="168" y="208"/>
                </a:lnTo>
                <a:lnTo>
                  <a:pt x="159" y="213"/>
                </a:lnTo>
                <a:lnTo>
                  <a:pt x="150" y="219"/>
                </a:lnTo>
                <a:lnTo>
                  <a:pt x="140" y="221"/>
                </a:lnTo>
                <a:lnTo>
                  <a:pt x="129" y="225"/>
                </a:lnTo>
                <a:lnTo>
                  <a:pt x="119" y="227"/>
                </a:lnTo>
                <a:lnTo>
                  <a:pt x="108" y="227"/>
                </a:lnTo>
                <a:lnTo>
                  <a:pt x="97" y="227"/>
                </a:lnTo>
                <a:lnTo>
                  <a:pt x="86" y="225"/>
                </a:lnTo>
                <a:lnTo>
                  <a:pt x="75" y="221"/>
                </a:lnTo>
                <a:lnTo>
                  <a:pt x="66" y="219"/>
                </a:lnTo>
                <a:lnTo>
                  <a:pt x="56" y="213"/>
                </a:lnTo>
                <a:lnTo>
                  <a:pt x="48" y="208"/>
                </a:lnTo>
                <a:lnTo>
                  <a:pt x="39" y="201"/>
                </a:lnTo>
                <a:lnTo>
                  <a:pt x="32" y="194"/>
                </a:lnTo>
                <a:lnTo>
                  <a:pt x="25" y="186"/>
                </a:lnTo>
                <a:lnTo>
                  <a:pt x="19" y="177"/>
                </a:lnTo>
                <a:lnTo>
                  <a:pt x="13" y="167"/>
                </a:lnTo>
                <a:lnTo>
                  <a:pt x="9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5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88" name="Rectangle 73">
            <a:extLst>
              <a:ext uri="{FF2B5EF4-FFF2-40B4-BE49-F238E27FC236}">
                <a16:creationId xmlns:a16="http://schemas.microsoft.com/office/drawing/2014/main" id="{17FEFCB7-0087-D016-1BB7-EDE1A7E35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1958" y="4371322"/>
            <a:ext cx="63500" cy="15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>
                <a:solidFill>
                  <a:srgbClr val="0000FF"/>
                </a:solidFill>
                <a:latin typeface="宋体" pitchFamily="2" charset="-122"/>
              </a:rPr>
              <a:t>B</a:t>
            </a:r>
            <a:endParaRPr lang="en-US" altLang="zh-CN" sz="1000" b="1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2289" name="未知">
            <a:extLst>
              <a:ext uri="{FF2B5EF4-FFF2-40B4-BE49-F238E27FC236}">
                <a16:creationId xmlns:a16="http://schemas.microsoft.com/office/drawing/2014/main" id="{F74BF09A-2AA5-3229-8490-2CE15E53BCF9}"/>
              </a:ext>
            </a:extLst>
          </p:cNvPr>
          <p:cNvSpPr>
            <a:spLocks/>
          </p:cNvSpPr>
          <p:nvPr/>
        </p:nvSpPr>
        <p:spPr bwMode="auto">
          <a:xfrm>
            <a:off x="6561629" y="5741978"/>
            <a:ext cx="282573" cy="298521"/>
          </a:xfrm>
          <a:custGeom>
            <a:avLst/>
            <a:gdLst>
              <a:gd name="T0" fmla="*/ 3468480 w 216"/>
              <a:gd name="T1" fmla="*/ 446341159 h 227"/>
              <a:gd name="T2" fmla="*/ 19279409 w 216"/>
              <a:gd name="T3" fmla="*/ 348105442 h 227"/>
              <a:gd name="T4" fmla="*/ 51371873 w 216"/>
              <a:gd name="T5" fmla="*/ 256183409 h 227"/>
              <a:gd name="T6" fmla="*/ 98258553 w 216"/>
              <a:gd name="T7" fmla="*/ 182291127 h 227"/>
              <a:gd name="T8" fmla="*/ 151879687 w 216"/>
              <a:gd name="T9" fmla="*/ 113371133 h 227"/>
              <a:gd name="T10" fmla="*/ 218040878 w 216"/>
              <a:gd name="T11" fmla="*/ 60672045 h 227"/>
              <a:gd name="T12" fmla="*/ 293737899 w 216"/>
              <a:gd name="T13" fmla="*/ 20996372 h 227"/>
              <a:gd name="T14" fmla="*/ 379467856 w 216"/>
              <a:gd name="T15" fmla="*/ 3971138 h 227"/>
              <a:gd name="T16" fmla="*/ 464985030 w 216"/>
              <a:gd name="T17" fmla="*/ 3971138 h 227"/>
              <a:gd name="T18" fmla="*/ 546365163 w 216"/>
              <a:gd name="T19" fmla="*/ 20996372 h 227"/>
              <a:gd name="T20" fmla="*/ 622739560 w 216"/>
              <a:gd name="T21" fmla="*/ 60672045 h 227"/>
              <a:gd name="T22" fmla="*/ 692368182 w 216"/>
              <a:gd name="T23" fmla="*/ 113371133 h 227"/>
              <a:gd name="T24" fmla="*/ 745936538 w 216"/>
              <a:gd name="T25" fmla="*/ 182291127 h 227"/>
              <a:gd name="T26" fmla="*/ 796511889 w 216"/>
              <a:gd name="T27" fmla="*/ 256183409 h 227"/>
              <a:gd name="T28" fmla="*/ 828864612 w 216"/>
              <a:gd name="T29" fmla="*/ 348105442 h 227"/>
              <a:gd name="T30" fmla="*/ 844450245 w 216"/>
              <a:gd name="T31" fmla="*/ 446341159 h 227"/>
              <a:gd name="T32" fmla="*/ 844450245 w 216"/>
              <a:gd name="T33" fmla="*/ 490035276 h 227"/>
              <a:gd name="T34" fmla="*/ 837258897 w 216"/>
              <a:gd name="T35" fmla="*/ 591068594 h 227"/>
              <a:gd name="T36" fmla="*/ 814086300 w 216"/>
              <a:gd name="T37" fmla="*/ 685652195 h 227"/>
              <a:gd name="T38" fmla="*/ 774630431 w 216"/>
              <a:gd name="T39" fmla="*/ 767322354 h 227"/>
              <a:gd name="T40" fmla="*/ 722693214 w 216"/>
              <a:gd name="T41" fmla="*/ 842402251 h 227"/>
              <a:gd name="T42" fmla="*/ 656537371 w 216"/>
              <a:gd name="T43" fmla="*/ 903181730 h 227"/>
              <a:gd name="T44" fmla="*/ 586522487 w 216"/>
              <a:gd name="T45" fmla="*/ 949607487 h 227"/>
              <a:gd name="T46" fmla="*/ 504656372 w 216"/>
              <a:gd name="T47" fmla="*/ 980840495 h 227"/>
              <a:gd name="T48" fmla="*/ 422873988 w 216"/>
              <a:gd name="T49" fmla="*/ 985307325 h 227"/>
              <a:gd name="T50" fmla="*/ 336070776 w 216"/>
              <a:gd name="T51" fmla="*/ 980840495 h 227"/>
              <a:gd name="T52" fmla="*/ 258010951 w 216"/>
              <a:gd name="T53" fmla="*/ 949607487 h 227"/>
              <a:gd name="T54" fmla="*/ 187663513 w 216"/>
              <a:gd name="T55" fmla="*/ 903181730 h 227"/>
              <a:gd name="T56" fmla="*/ 125236776 w 216"/>
              <a:gd name="T57" fmla="*/ 842402251 h 227"/>
              <a:gd name="T58" fmla="*/ 73721376 w 216"/>
              <a:gd name="T59" fmla="*/ 767322354 h 227"/>
              <a:gd name="T60" fmla="*/ 35783859 w 216"/>
              <a:gd name="T61" fmla="*/ 685652195 h 227"/>
              <a:gd name="T62" fmla="*/ 7145711 w 216"/>
              <a:gd name="T63" fmla="*/ 591068594 h 227"/>
              <a:gd name="T64" fmla="*/ 0 w 216"/>
              <a:gd name="T65" fmla="*/ 490035276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3"/>
                </a:moveTo>
                <a:lnTo>
                  <a:pt x="1" y="103"/>
                </a:lnTo>
                <a:lnTo>
                  <a:pt x="2" y="91"/>
                </a:lnTo>
                <a:lnTo>
                  <a:pt x="5" y="80"/>
                </a:lnTo>
                <a:lnTo>
                  <a:pt x="9" y="70"/>
                </a:lnTo>
                <a:lnTo>
                  <a:pt x="13" y="59"/>
                </a:lnTo>
                <a:lnTo>
                  <a:pt x="19" y="50"/>
                </a:lnTo>
                <a:lnTo>
                  <a:pt x="25" y="42"/>
                </a:lnTo>
                <a:lnTo>
                  <a:pt x="32" y="34"/>
                </a:lnTo>
                <a:lnTo>
                  <a:pt x="39" y="26"/>
                </a:lnTo>
                <a:lnTo>
                  <a:pt x="48" y="20"/>
                </a:lnTo>
                <a:lnTo>
                  <a:pt x="56" y="14"/>
                </a:lnTo>
                <a:lnTo>
                  <a:pt x="66" y="10"/>
                </a:lnTo>
                <a:lnTo>
                  <a:pt x="75" y="5"/>
                </a:lnTo>
                <a:lnTo>
                  <a:pt x="86" y="3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3"/>
                </a:lnTo>
                <a:lnTo>
                  <a:pt x="140" y="5"/>
                </a:lnTo>
                <a:lnTo>
                  <a:pt x="150" y="10"/>
                </a:lnTo>
                <a:lnTo>
                  <a:pt x="159" y="14"/>
                </a:lnTo>
                <a:lnTo>
                  <a:pt x="168" y="20"/>
                </a:lnTo>
                <a:lnTo>
                  <a:pt x="177" y="26"/>
                </a:lnTo>
                <a:lnTo>
                  <a:pt x="185" y="34"/>
                </a:lnTo>
                <a:lnTo>
                  <a:pt x="191" y="42"/>
                </a:lnTo>
                <a:lnTo>
                  <a:pt x="198" y="50"/>
                </a:lnTo>
                <a:lnTo>
                  <a:pt x="204" y="59"/>
                </a:lnTo>
                <a:lnTo>
                  <a:pt x="208" y="70"/>
                </a:lnTo>
                <a:lnTo>
                  <a:pt x="212" y="80"/>
                </a:lnTo>
                <a:lnTo>
                  <a:pt x="214" y="91"/>
                </a:lnTo>
                <a:lnTo>
                  <a:pt x="216" y="103"/>
                </a:lnTo>
                <a:lnTo>
                  <a:pt x="216" y="113"/>
                </a:lnTo>
                <a:lnTo>
                  <a:pt x="216" y="126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4" y="167"/>
                </a:lnTo>
                <a:lnTo>
                  <a:pt x="198" y="177"/>
                </a:lnTo>
                <a:lnTo>
                  <a:pt x="191" y="186"/>
                </a:lnTo>
                <a:lnTo>
                  <a:pt x="185" y="194"/>
                </a:lnTo>
                <a:lnTo>
                  <a:pt x="177" y="201"/>
                </a:lnTo>
                <a:lnTo>
                  <a:pt x="168" y="208"/>
                </a:lnTo>
                <a:lnTo>
                  <a:pt x="159" y="213"/>
                </a:lnTo>
                <a:lnTo>
                  <a:pt x="150" y="219"/>
                </a:lnTo>
                <a:lnTo>
                  <a:pt x="140" y="221"/>
                </a:lnTo>
                <a:lnTo>
                  <a:pt x="129" y="226"/>
                </a:lnTo>
                <a:lnTo>
                  <a:pt x="119" y="227"/>
                </a:lnTo>
                <a:lnTo>
                  <a:pt x="108" y="227"/>
                </a:lnTo>
                <a:lnTo>
                  <a:pt x="97" y="227"/>
                </a:lnTo>
                <a:lnTo>
                  <a:pt x="86" y="226"/>
                </a:lnTo>
                <a:lnTo>
                  <a:pt x="75" y="221"/>
                </a:lnTo>
                <a:lnTo>
                  <a:pt x="66" y="219"/>
                </a:lnTo>
                <a:lnTo>
                  <a:pt x="56" y="213"/>
                </a:lnTo>
                <a:lnTo>
                  <a:pt x="48" y="208"/>
                </a:lnTo>
                <a:lnTo>
                  <a:pt x="39" y="201"/>
                </a:lnTo>
                <a:lnTo>
                  <a:pt x="32" y="194"/>
                </a:lnTo>
                <a:lnTo>
                  <a:pt x="25" y="186"/>
                </a:lnTo>
                <a:lnTo>
                  <a:pt x="19" y="177"/>
                </a:lnTo>
                <a:lnTo>
                  <a:pt x="13" y="167"/>
                </a:lnTo>
                <a:lnTo>
                  <a:pt x="9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6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1" name="未知">
            <a:extLst>
              <a:ext uri="{FF2B5EF4-FFF2-40B4-BE49-F238E27FC236}">
                <a16:creationId xmlns:a16="http://schemas.microsoft.com/office/drawing/2014/main" id="{3F917C36-DCF4-D17B-9C7C-3A3CE40C812D}"/>
              </a:ext>
            </a:extLst>
          </p:cNvPr>
          <p:cNvSpPr>
            <a:spLocks/>
          </p:cNvSpPr>
          <p:nvPr/>
        </p:nvSpPr>
        <p:spPr bwMode="auto">
          <a:xfrm>
            <a:off x="6561629" y="5741978"/>
            <a:ext cx="282573" cy="298521"/>
          </a:xfrm>
          <a:custGeom>
            <a:avLst/>
            <a:gdLst>
              <a:gd name="T0" fmla="*/ 3468480 w 216"/>
              <a:gd name="T1" fmla="*/ 446341159 h 227"/>
              <a:gd name="T2" fmla="*/ 19279409 w 216"/>
              <a:gd name="T3" fmla="*/ 348105442 h 227"/>
              <a:gd name="T4" fmla="*/ 51371873 w 216"/>
              <a:gd name="T5" fmla="*/ 256183409 h 227"/>
              <a:gd name="T6" fmla="*/ 98258553 w 216"/>
              <a:gd name="T7" fmla="*/ 182291127 h 227"/>
              <a:gd name="T8" fmla="*/ 151879687 w 216"/>
              <a:gd name="T9" fmla="*/ 113371133 h 227"/>
              <a:gd name="T10" fmla="*/ 218040878 w 216"/>
              <a:gd name="T11" fmla="*/ 60672045 h 227"/>
              <a:gd name="T12" fmla="*/ 293737899 w 216"/>
              <a:gd name="T13" fmla="*/ 20996372 h 227"/>
              <a:gd name="T14" fmla="*/ 379467856 w 216"/>
              <a:gd name="T15" fmla="*/ 3971138 h 227"/>
              <a:gd name="T16" fmla="*/ 464985030 w 216"/>
              <a:gd name="T17" fmla="*/ 3971138 h 227"/>
              <a:gd name="T18" fmla="*/ 546365163 w 216"/>
              <a:gd name="T19" fmla="*/ 20996372 h 227"/>
              <a:gd name="T20" fmla="*/ 622739560 w 216"/>
              <a:gd name="T21" fmla="*/ 60672045 h 227"/>
              <a:gd name="T22" fmla="*/ 692368182 w 216"/>
              <a:gd name="T23" fmla="*/ 113371133 h 227"/>
              <a:gd name="T24" fmla="*/ 745936538 w 216"/>
              <a:gd name="T25" fmla="*/ 182291127 h 227"/>
              <a:gd name="T26" fmla="*/ 796511889 w 216"/>
              <a:gd name="T27" fmla="*/ 256183409 h 227"/>
              <a:gd name="T28" fmla="*/ 828864612 w 216"/>
              <a:gd name="T29" fmla="*/ 348105442 h 227"/>
              <a:gd name="T30" fmla="*/ 844450245 w 216"/>
              <a:gd name="T31" fmla="*/ 446341159 h 227"/>
              <a:gd name="T32" fmla="*/ 844450245 w 216"/>
              <a:gd name="T33" fmla="*/ 490035276 h 227"/>
              <a:gd name="T34" fmla="*/ 837258897 w 216"/>
              <a:gd name="T35" fmla="*/ 591068594 h 227"/>
              <a:gd name="T36" fmla="*/ 814086300 w 216"/>
              <a:gd name="T37" fmla="*/ 685652195 h 227"/>
              <a:gd name="T38" fmla="*/ 774630431 w 216"/>
              <a:gd name="T39" fmla="*/ 767322354 h 227"/>
              <a:gd name="T40" fmla="*/ 722693214 w 216"/>
              <a:gd name="T41" fmla="*/ 842402251 h 227"/>
              <a:gd name="T42" fmla="*/ 656537371 w 216"/>
              <a:gd name="T43" fmla="*/ 903181730 h 227"/>
              <a:gd name="T44" fmla="*/ 586522487 w 216"/>
              <a:gd name="T45" fmla="*/ 949607487 h 227"/>
              <a:gd name="T46" fmla="*/ 504656372 w 216"/>
              <a:gd name="T47" fmla="*/ 980840495 h 227"/>
              <a:gd name="T48" fmla="*/ 422873988 w 216"/>
              <a:gd name="T49" fmla="*/ 985307325 h 227"/>
              <a:gd name="T50" fmla="*/ 336070776 w 216"/>
              <a:gd name="T51" fmla="*/ 980840495 h 227"/>
              <a:gd name="T52" fmla="*/ 258010951 w 216"/>
              <a:gd name="T53" fmla="*/ 949607487 h 227"/>
              <a:gd name="T54" fmla="*/ 187663513 w 216"/>
              <a:gd name="T55" fmla="*/ 903181730 h 227"/>
              <a:gd name="T56" fmla="*/ 125236776 w 216"/>
              <a:gd name="T57" fmla="*/ 842402251 h 227"/>
              <a:gd name="T58" fmla="*/ 73721376 w 216"/>
              <a:gd name="T59" fmla="*/ 767322354 h 227"/>
              <a:gd name="T60" fmla="*/ 35783859 w 216"/>
              <a:gd name="T61" fmla="*/ 685652195 h 227"/>
              <a:gd name="T62" fmla="*/ 7145711 w 216"/>
              <a:gd name="T63" fmla="*/ 591068594 h 227"/>
              <a:gd name="T64" fmla="*/ 0 w 216"/>
              <a:gd name="T65" fmla="*/ 490035276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3"/>
                </a:moveTo>
                <a:lnTo>
                  <a:pt x="1" y="103"/>
                </a:lnTo>
                <a:lnTo>
                  <a:pt x="2" y="91"/>
                </a:lnTo>
                <a:lnTo>
                  <a:pt x="5" y="80"/>
                </a:lnTo>
                <a:lnTo>
                  <a:pt x="9" y="70"/>
                </a:lnTo>
                <a:lnTo>
                  <a:pt x="13" y="59"/>
                </a:lnTo>
                <a:lnTo>
                  <a:pt x="19" y="50"/>
                </a:lnTo>
                <a:lnTo>
                  <a:pt x="25" y="42"/>
                </a:lnTo>
                <a:lnTo>
                  <a:pt x="32" y="34"/>
                </a:lnTo>
                <a:lnTo>
                  <a:pt x="39" y="26"/>
                </a:lnTo>
                <a:lnTo>
                  <a:pt x="48" y="20"/>
                </a:lnTo>
                <a:lnTo>
                  <a:pt x="56" y="14"/>
                </a:lnTo>
                <a:lnTo>
                  <a:pt x="66" y="10"/>
                </a:lnTo>
                <a:lnTo>
                  <a:pt x="75" y="5"/>
                </a:lnTo>
                <a:lnTo>
                  <a:pt x="86" y="3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3"/>
                </a:lnTo>
                <a:lnTo>
                  <a:pt x="140" y="5"/>
                </a:lnTo>
                <a:lnTo>
                  <a:pt x="150" y="10"/>
                </a:lnTo>
                <a:lnTo>
                  <a:pt x="159" y="14"/>
                </a:lnTo>
                <a:lnTo>
                  <a:pt x="168" y="20"/>
                </a:lnTo>
                <a:lnTo>
                  <a:pt x="177" y="26"/>
                </a:lnTo>
                <a:lnTo>
                  <a:pt x="185" y="34"/>
                </a:lnTo>
                <a:lnTo>
                  <a:pt x="191" y="42"/>
                </a:lnTo>
                <a:lnTo>
                  <a:pt x="198" y="50"/>
                </a:lnTo>
                <a:lnTo>
                  <a:pt x="204" y="59"/>
                </a:lnTo>
                <a:lnTo>
                  <a:pt x="208" y="70"/>
                </a:lnTo>
                <a:lnTo>
                  <a:pt x="212" y="80"/>
                </a:lnTo>
                <a:lnTo>
                  <a:pt x="214" y="91"/>
                </a:lnTo>
                <a:lnTo>
                  <a:pt x="216" y="103"/>
                </a:lnTo>
                <a:lnTo>
                  <a:pt x="216" y="113"/>
                </a:lnTo>
                <a:lnTo>
                  <a:pt x="216" y="126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4" y="167"/>
                </a:lnTo>
                <a:lnTo>
                  <a:pt x="198" y="177"/>
                </a:lnTo>
                <a:lnTo>
                  <a:pt x="191" y="186"/>
                </a:lnTo>
                <a:lnTo>
                  <a:pt x="185" y="194"/>
                </a:lnTo>
                <a:lnTo>
                  <a:pt x="177" y="201"/>
                </a:lnTo>
                <a:lnTo>
                  <a:pt x="168" y="208"/>
                </a:lnTo>
                <a:lnTo>
                  <a:pt x="159" y="213"/>
                </a:lnTo>
                <a:lnTo>
                  <a:pt x="150" y="219"/>
                </a:lnTo>
                <a:lnTo>
                  <a:pt x="140" y="221"/>
                </a:lnTo>
                <a:lnTo>
                  <a:pt x="129" y="226"/>
                </a:lnTo>
                <a:lnTo>
                  <a:pt x="119" y="227"/>
                </a:lnTo>
                <a:lnTo>
                  <a:pt x="108" y="227"/>
                </a:lnTo>
                <a:lnTo>
                  <a:pt x="97" y="227"/>
                </a:lnTo>
                <a:lnTo>
                  <a:pt x="86" y="226"/>
                </a:lnTo>
                <a:lnTo>
                  <a:pt x="75" y="221"/>
                </a:lnTo>
                <a:lnTo>
                  <a:pt x="66" y="219"/>
                </a:lnTo>
                <a:lnTo>
                  <a:pt x="56" y="213"/>
                </a:lnTo>
                <a:lnTo>
                  <a:pt x="48" y="208"/>
                </a:lnTo>
                <a:lnTo>
                  <a:pt x="39" y="201"/>
                </a:lnTo>
                <a:lnTo>
                  <a:pt x="32" y="194"/>
                </a:lnTo>
                <a:lnTo>
                  <a:pt x="25" y="186"/>
                </a:lnTo>
                <a:lnTo>
                  <a:pt x="19" y="177"/>
                </a:lnTo>
                <a:lnTo>
                  <a:pt x="13" y="167"/>
                </a:lnTo>
                <a:lnTo>
                  <a:pt x="9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6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4" name="Rectangle 76">
            <a:extLst>
              <a:ext uri="{FF2B5EF4-FFF2-40B4-BE49-F238E27FC236}">
                <a16:creationId xmlns:a16="http://schemas.microsoft.com/office/drawing/2014/main" id="{86781B12-CBEF-F7E0-DDDA-B356F5031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1958" y="5800412"/>
            <a:ext cx="63500" cy="152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</a:rPr>
              <a:t>C</a:t>
            </a:r>
            <a:endParaRPr lang="en-US" altLang="zh-CN" sz="1000" b="1" dirty="0">
              <a:solidFill>
                <a:srgbClr val="FF0000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2295" name="未知">
            <a:extLst>
              <a:ext uri="{FF2B5EF4-FFF2-40B4-BE49-F238E27FC236}">
                <a16:creationId xmlns:a16="http://schemas.microsoft.com/office/drawing/2014/main" id="{3D6EEE57-DC6B-697F-9271-C8889649EB8B}"/>
              </a:ext>
            </a:extLst>
          </p:cNvPr>
          <p:cNvSpPr>
            <a:spLocks/>
          </p:cNvSpPr>
          <p:nvPr/>
        </p:nvSpPr>
        <p:spPr bwMode="auto">
          <a:xfrm>
            <a:off x="7125505" y="5021082"/>
            <a:ext cx="280668" cy="298521"/>
          </a:xfrm>
          <a:custGeom>
            <a:avLst/>
            <a:gdLst>
              <a:gd name="T0" fmla="*/ 3132436 w 216"/>
              <a:gd name="T1" fmla="*/ 485501602 h 226"/>
              <a:gd name="T2" fmla="*/ 16248397 w 216"/>
              <a:gd name="T3" fmla="*/ 375205301 h 226"/>
              <a:gd name="T4" fmla="*/ 44718601 w 216"/>
              <a:gd name="T5" fmla="*/ 281541765 h 226"/>
              <a:gd name="T6" fmla="*/ 84284591 w 216"/>
              <a:gd name="T7" fmla="*/ 194790464 h 226"/>
              <a:gd name="T8" fmla="*/ 133056879 w 216"/>
              <a:gd name="T9" fmla="*/ 119076492 h 226"/>
              <a:gd name="T10" fmla="*/ 190341245 w 216"/>
              <a:gd name="T11" fmla="*/ 61343543 h 226"/>
              <a:gd name="T12" fmla="*/ 253391593 w 216"/>
              <a:gd name="T13" fmla="*/ 23385031 h 226"/>
              <a:gd name="T14" fmla="*/ 328077895 w 216"/>
              <a:gd name="T15" fmla="*/ 4298969 h 226"/>
              <a:gd name="T16" fmla="*/ 404053641 w 216"/>
              <a:gd name="T17" fmla="*/ 4298969 h 226"/>
              <a:gd name="T18" fmla="*/ 473614015 w 216"/>
              <a:gd name="T19" fmla="*/ 23385031 h 226"/>
              <a:gd name="T20" fmla="*/ 538647947 w 216"/>
              <a:gd name="T21" fmla="*/ 61343543 h 226"/>
              <a:gd name="T22" fmla="*/ 599974025 w 216"/>
              <a:gd name="T23" fmla="*/ 119076492 h 226"/>
              <a:gd name="T24" fmla="*/ 647868110 w 216"/>
              <a:gd name="T25" fmla="*/ 194790464 h 226"/>
              <a:gd name="T26" fmla="*/ 690592437 w 216"/>
              <a:gd name="T27" fmla="*/ 281541765 h 226"/>
              <a:gd name="T28" fmla="*/ 719059846 w 216"/>
              <a:gd name="T29" fmla="*/ 375205301 h 226"/>
              <a:gd name="T30" fmla="*/ 732218540 w 216"/>
              <a:gd name="T31" fmla="*/ 485501602 h 226"/>
              <a:gd name="T32" fmla="*/ 732218540 w 216"/>
              <a:gd name="T33" fmla="*/ 538347344 h 226"/>
              <a:gd name="T34" fmla="*/ 725469299 w 216"/>
              <a:gd name="T35" fmla="*/ 648670450 h 226"/>
              <a:gd name="T36" fmla="*/ 706123720 w 216"/>
              <a:gd name="T37" fmla="*/ 752872443 h 226"/>
              <a:gd name="T38" fmla="*/ 671344109 w 216"/>
              <a:gd name="T39" fmla="*/ 838030353 h 226"/>
              <a:gd name="T40" fmla="*/ 628521798 w 216"/>
              <a:gd name="T41" fmla="*/ 922864214 h 226"/>
              <a:gd name="T42" fmla="*/ 570381366 w 216"/>
              <a:gd name="T43" fmla="*/ 991076223 h 226"/>
              <a:gd name="T44" fmla="*/ 508488705 w 216"/>
              <a:gd name="T45" fmla="*/ 1037090728 h 226"/>
              <a:gd name="T46" fmla="*/ 437297754 w 216"/>
              <a:gd name="T47" fmla="*/ 1071012034 h 226"/>
              <a:gd name="T48" fmla="*/ 366134183 w 216"/>
              <a:gd name="T49" fmla="*/ 1075907407 h 226"/>
              <a:gd name="T50" fmla="*/ 291664425 w 216"/>
              <a:gd name="T51" fmla="*/ 1071012034 h 226"/>
              <a:gd name="T52" fmla="*/ 223644091 w 216"/>
              <a:gd name="T53" fmla="*/ 1037090728 h 226"/>
              <a:gd name="T54" fmla="*/ 162676700 w 216"/>
              <a:gd name="T55" fmla="*/ 991076223 h 226"/>
              <a:gd name="T56" fmla="*/ 107753531 w 216"/>
              <a:gd name="T57" fmla="*/ 922864214 h 226"/>
              <a:gd name="T58" fmla="*/ 65023271 w 216"/>
              <a:gd name="T59" fmla="*/ 838030353 h 226"/>
              <a:gd name="T60" fmla="*/ 30159397 w 216"/>
              <a:gd name="T61" fmla="*/ 752872443 h 226"/>
              <a:gd name="T62" fmla="*/ 6409892 w 216"/>
              <a:gd name="T63" fmla="*/ 648670450 h 226"/>
              <a:gd name="T64" fmla="*/ 0 w 216"/>
              <a:gd name="T65" fmla="*/ 538347344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2" y="90"/>
                </a:lnTo>
                <a:lnTo>
                  <a:pt x="5" y="79"/>
                </a:lnTo>
                <a:lnTo>
                  <a:pt x="9" y="70"/>
                </a:lnTo>
                <a:lnTo>
                  <a:pt x="13" y="59"/>
                </a:lnTo>
                <a:lnTo>
                  <a:pt x="19" y="50"/>
                </a:lnTo>
                <a:lnTo>
                  <a:pt x="25" y="41"/>
                </a:lnTo>
                <a:lnTo>
                  <a:pt x="32" y="33"/>
                </a:lnTo>
                <a:lnTo>
                  <a:pt x="39" y="25"/>
                </a:lnTo>
                <a:lnTo>
                  <a:pt x="48" y="20"/>
                </a:lnTo>
                <a:lnTo>
                  <a:pt x="56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2"/>
                </a:lnTo>
                <a:lnTo>
                  <a:pt x="140" y="5"/>
                </a:lnTo>
                <a:lnTo>
                  <a:pt x="150" y="9"/>
                </a:lnTo>
                <a:lnTo>
                  <a:pt x="159" y="13"/>
                </a:lnTo>
                <a:lnTo>
                  <a:pt x="168" y="20"/>
                </a:lnTo>
                <a:lnTo>
                  <a:pt x="177" y="25"/>
                </a:lnTo>
                <a:lnTo>
                  <a:pt x="185" y="33"/>
                </a:lnTo>
                <a:lnTo>
                  <a:pt x="191" y="41"/>
                </a:lnTo>
                <a:lnTo>
                  <a:pt x="198" y="50"/>
                </a:lnTo>
                <a:lnTo>
                  <a:pt x="204" y="59"/>
                </a:lnTo>
                <a:lnTo>
                  <a:pt x="208" y="70"/>
                </a:lnTo>
                <a:lnTo>
                  <a:pt x="212" y="79"/>
                </a:lnTo>
                <a:lnTo>
                  <a:pt x="214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4" y="167"/>
                </a:lnTo>
                <a:lnTo>
                  <a:pt x="198" y="176"/>
                </a:lnTo>
                <a:lnTo>
                  <a:pt x="191" y="186"/>
                </a:lnTo>
                <a:lnTo>
                  <a:pt x="185" y="194"/>
                </a:lnTo>
                <a:lnTo>
                  <a:pt x="177" y="201"/>
                </a:lnTo>
                <a:lnTo>
                  <a:pt x="168" y="208"/>
                </a:lnTo>
                <a:lnTo>
                  <a:pt x="159" y="213"/>
                </a:lnTo>
                <a:lnTo>
                  <a:pt x="150" y="218"/>
                </a:lnTo>
                <a:lnTo>
                  <a:pt x="140" y="221"/>
                </a:lnTo>
                <a:lnTo>
                  <a:pt x="129" y="225"/>
                </a:lnTo>
                <a:lnTo>
                  <a:pt x="119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5"/>
                </a:lnTo>
                <a:lnTo>
                  <a:pt x="75" y="221"/>
                </a:lnTo>
                <a:lnTo>
                  <a:pt x="66" y="218"/>
                </a:lnTo>
                <a:lnTo>
                  <a:pt x="56" y="213"/>
                </a:lnTo>
                <a:lnTo>
                  <a:pt x="48" y="208"/>
                </a:lnTo>
                <a:lnTo>
                  <a:pt x="39" y="201"/>
                </a:lnTo>
                <a:lnTo>
                  <a:pt x="32" y="194"/>
                </a:lnTo>
                <a:lnTo>
                  <a:pt x="25" y="186"/>
                </a:lnTo>
                <a:lnTo>
                  <a:pt x="19" y="176"/>
                </a:lnTo>
                <a:lnTo>
                  <a:pt x="13" y="167"/>
                </a:lnTo>
                <a:lnTo>
                  <a:pt x="9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5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27" name="未知">
            <a:extLst>
              <a:ext uri="{FF2B5EF4-FFF2-40B4-BE49-F238E27FC236}">
                <a16:creationId xmlns:a16="http://schemas.microsoft.com/office/drawing/2014/main" id="{E9262B59-0070-400E-2E91-0D54FB2BE93F}"/>
              </a:ext>
            </a:extLst>
          </p:cNvPr>
          <p:cNvSpPr>
            <a:spLocks/>
          </p:cNvSpPr>
          <p:nvPr/>
        </p:nvSpPr>
        <p:spPr bwMode="auto">
          <a:xfrm>
            <a:off x="7125505" y="5021082"/>
            <a:ext cx="280668" cy="298521"/>
          </a:xfrm>
          <a:custGeom>
            <a:avLst/>
            <a:gdLst>
              <a:gd name="T0" fmla="*/ 3132436 w 216"/>
              <a:gd name="T1" fmla="*/ 485501602 h 226"/>
              <a:gd name="T2" fmla="*/ 16248397 w 216"/>
              <a:gd name="T3" fmla="*/ 375205301 h 226"/>
              <a:gd name="T4" fmla="*/ 44718601 w 216"/>
              <a:gd name="T5" fmla="*/ 281541765 h 226"/>
              <a:gd name="T6" fmla="*/ 84284591 w 216"/>
              <a:gd name="T7" fmla="*/ 194790464 h 226"/>
              <a:gd name="T8" fmla="*/ 133056879 w 216"/>
              <a:gd name="T9" fmla="*/ 119076492 h 226"/>
              <a:gd name="T10" fmla="*/ 190341245 w 216"/>
              <a:gd name="T11" fmla="*/ 61343543 h 226"/>
              <a:gd name="T12" fmla="*/ 253391593 w 216"/>
              <a:gd name="T13" fmla="*/ 23385031 h 226"/>
              <a:gd name="T14" fmla="*/ 328077895 w 216"/>
              <a:gd name="T15" fmla="*/ 4298969 h 226"/>
              <a:gd name="T16" fmla="*/ 404053641 w 216"/>
              <a:gd name="T17" fmla="*/ 4298969 h 226"/>
              <a:gd name="T18" fmla="*/ 473614015 w 216"/>
              <a:gd name="T19" fmla="*/ 23385031 h 226"/>
              <a:gd name="T20" fmla="*/ 538647947 w 216"/>
              <a:gd name="T21" fmla="*/ 61343543 h 226"/>
              <a:gd name="T22" fmla="*/ 599974025 w 216"/>
              <a:gd name="T23" fmla="*/ 119076492 h 226"/>
              <a:gd name="T24" fmla="*/ 647868110 w 216"/>
              <a:gd name="T25" fmla="*/ 194790464 h 226"/>
              <a:gd name="T26" fmla="*/ 690592437 w 216"/>
              <a:gd name="T27" fmla="*/ 281541765 h 226"/>
              <a:gd name="T28" fmla="*/ 719059846 w 216"/>
              <a:gd name="T29" fmla="*/ 375205301 h 226"/>
              <a:gd name="T30" fmla="*/ 732218540 w 216"/>
              <a:gd name="T31" fmla="*/ 485501602 h 226"/>
              <a:gd name="T32" fmla="*/ 732218540 w 216"/>
              <a:gd name="T33" fmla="*/ 538347344 h 226"/>
              <a:gd name="T34" fmla="*/ 725469299 w 216"/>
              <a:gd name="T35" fmla="*/ 648670450 h 226"/>
              <a:gd name="T36" fmla="*/ 706123720 w 216"/>
              <a:gd name="T37" fmla="*/ 752872443 h 226"/>
              <a:gd name="T38" fmla="*/ 671344109 w 216"/>
              <a:gd name="T39" fmla="*/ 838030353 h 226"/>
              <a:gd name="T40" fmla="*/ 628521798 w 216"/>
              <a:gd name="T41" fmla="*/ 922864214 h 226"/>
              <a:gd name="T42" fmla="*/ 570381366 w 216"/>
              <a:gd name="T43" fmla="*/ 991076223 h 226"/>
              <a:gd name="T44" fmla="*/ 508488705 w 216"/>
              <a:gd name="T45" fmla="*/ 1037090728 h 226"/>
              <a:gd name="T46" fmla="*/ 437297754 w 216"/>
              <a:gd name="T47" fmla="*/ 1071012034 h 226"/>
              <a:gd name="T48" fmla="*/ 366134183 w 216"/>
              <a:gd name="T49" fmla="*/ 1075907407 h 226"/>
              <a:gd name="T50" fmla="*/ 291664425 w 216"/>
              <a:gd name="T51" fmla="*/ 1071012034 h 226"/>
              <a:gd name="T52" fmla="*/ 223644091 w 216"/>
              <a:gd name="T53" fmla="*/ 1037090728 h 226"/>
              <a:gd name="T54" fmla="*/ 162676700 w 216"/>
              <a:gd name="T55" fmla="*/ 991076223 h 226"/>
              <a:gd name="T56" fmla="*/ 107753531 w 216"/>
              <a:gd name="T57" fmla="*/ 922864214 h 226"/>
              <a:gd name="T58" fmla="*/ 65023271 w 216"/>
              <a:gd name="T59" fmla="*/ 838030353 h 226"/>
              <a:gd name="T60" fmla="*/ 30159397 w 216"/>
              <a:gd name="T61" fmla="*/ 752872443 h 226"/>
              <a:gd name="T62" fmla="*/ 6409892 w 216"/>
              <a:gd name="T63" fmla="*/ 648670450 h 226"/>
              <a:gd name="T64" fmla="*/ 0 w 216"/>
              <a:gd name="T65" fmla="*/ 538347344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2" y="90"/>
                </a:lnTo>
                <a:lnTo>
                  <a:pt x="5" y="79"/>
                </a:lnTo>
                <a:lnTo>
                  <a:pt x="9" y="70"/>
                </a:lnTo>
                <a:lnTo>
                  <a:pt x="13" y="59"/>
                </a:lnTo>
                <a:lnTo>
                  <a:pt x="19" y="50"/>
                </a:lnTo>
                <a:lnTo>
                  <a:pt x="25" y="41"/>
                </a:lnTo>
                <a:lnTo>
                  <a:pt x="32" y="33"/>
                </a:lnTo>
                <a:lnTo>
                  <a:pt x="39" y="25"/>
                </a:lnTo>
                <a:lnTo>
                  <a:pt x="48" y="20"/>
                </a:lnTo>
                <a:lnTo>
                  <a:pt x="56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2"/>
                </a:lnTo>
                <a:lnTo>
                  <a:pt x="140" y="5"/>
                </a:lnTo>
                <a:lnTo>
                  <a:pt x="150" y="9"/>
                </a:lnTo>
                <a:lnTo>
                  <a:pt x="159" y="13"/>
                </a:lnTo>
                <a:lnTo>
                  <a:pt x="168" y="20"/>
                </a:lnTo>
                <a:lnTo>
                  <a:pt x="177" y="25"/>
                </a:lnTo>
                <a:lnTo>
                  <a:pt x="185" y="33"/>
                </a:lnTo>
                <a:lnTo>
                  <a:pt x="191" y="41"/>
                </a:lnTo>
                <a:lnTo>
                  <a:pt x="198" y="50"/>
                </a:lnTo>
                <a:lnTo>
                  <a:pt x="204" y="59"/>
                </a:lnTo>
                <a:lnTo>
                  <a:pt x="208" y="70"/>
                </a:lnTo>
                <a:lnTo>
                  <a:pt x="212" y="79"/>
                </a:lnTo>
                <a:lnTo>
                  <a:pt x="214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4" y="167"/>
                </a:lnTo>
                <a:lnTo>
                  <a:pt x="198" y="176"/>
                </a:lnTo>
                <a:lnTo>
                  <a:pt x="191" y="186"/>
                </a:lnTo>
                <a:lnTo>
                  <a:pt x="185" y="194"/>
                </a:lnTo>
                <a:lnTo>
                  <a:pt x="177" y="201"/>
                </a:lnTo>
                <a:lnTo>
                  <a:pt x="168" y="208"/>
                </a:lnTo>
                <a:lnTo>
                  <a:pt x="159" y="213"/>
                </a:lnTo>
                <a:lnTo>
                  <a:pt x="150" y="218"/>
                </a:lnTo>
                <a:lnTo>
                  <a:pt x="140" y="221"/>
                </a:lnTo>
                <a:lnTo>
                  <a:pt x="129" y="225"/>
                </a:lnTo>
                <a:lnTo>
                  <a:pt x="119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5"/>
                </a:lnTo>
                <a:lnTo>
                  <a:pt x="75" y="221"/>
                </a:lnTo>
                <a:lnTo>
                  <a:pt x="66" y="218"/>
                </a:lnTo>
                <a:lnTo>
                  <a:pt x="56" y="213"/>
                </a:lnTo>
                <a:lnTo>
                  <a:pt x="48" y="208"/>
                </a:lnTo>
                <a:lnTo>
                  <a:pt x="39" y="201"/>
                </a:lnTo>
                <a:lnTo>
                  <a:pt x="32" y="194"/>
                </a:lnTo>
                <a:lnTo>
                  <a:pt x="25" y="186"/>
                </a:lnTo>
                <a:lnTo>
                  <a:pt x="19" y="176"/>
                </a:lnTo>
                <a:lnTo>
                  <a:pt x="13" y="167"/>
                </a:lnTo>
                <a:lnTo>
                  <a:pt x="9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5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28" name="Rectangle 79">
            <a:extLst>
              <a:ext uri="{FF2B5EF4-FFF2-40B4-BE49-F238E27FC236}">
                <a16:creationId xmlns:a16="http://schemas.microsoft.com/office/drawing/2014/main" id="{A5634FB3-171F-8EF3-B865-97136C477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929" y="5081421"/>
            <a:ext cx="63500" cy="152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</a:rPr>
              <a:t>A</a:t>
            </a:r>
            <a:endParaRPr lang="en-US" altLang="zh-CN" sz="1000" b="1" dirty="0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12329" name="未知">
            <a:extLst>
              <a:ext uri="{FF2B5EF4-FFF2-40B4-BE49-F238E27FC236}">
                <a16:creationId xmlns:a16="http://schemas.microsoft.com/office/drawing/2014/main" id="{79018D51-1D67-A4B0-7166-6ACDB54F0690}"/>
              </a:ext>
            </a:extLst>
          </p:cNvPr>
          <p:cNvSpPr>
            <a:spLocks noEditPoints="1"/>
          </p:cNvSpPr>
          <p:nvPr/>
        </p:nvSpPr>
        <p:spPr bwMode="auto">
          <a:xfrm>
            <a:off x="5348787" y="5454255"/>
            <a:ext cx="273048" cy="344887"/>
          </a:xfrm>
          <a:custGeom>
            <a:avLst/>
            <a:gdLst>
              <a:gd name="T0" fmla="*/ 5953032 w 211"/>
              <a:gd name="T1" fmla="*/ 1445828445 h 259"/>
              <a:gd name="T2" fmla="*/ 8868717 w 211"/>
              <a:gd name="T3" fmla="*/ 1460980307 h 259"/>
              <a:gd name="T4" fmla="*/ 0 w 211"/>
              <a:gd name="T5" fmla="*/ 1460980307 h 259"/>
              <a:gd name="T6" fmla="*/ 0 w 211"/>
              <a:gd name="T7" fmla="*/ 1445828445 h 259"/>
              <a:gd name="T8" fmla="*/ 68662054 w 211"/>
              <a:gd name="T9" fmla="*/ 1303037125 h 259"/>
              <a:gd name="T10" fmla="*/ 75061770 w 211"/>
              <a:gd name="T11" fmla="*/ 1313470935 h 259"/>
              <a:gd name="T12" fmla="*/ 68662054 w 211"/>
              <a:gd name="T13" fmla="*/ 1327545409 h 259"/>
              <a:gd name="T14" fmla="*/ 62766974 w 211"/>
              <a:gd name="T15" fmla="*/ 1307889323 h 259"/>
              <a:gd name="T16" fmla="*/ 131341246 w 211"/>
              <a:gd name="T17" fmla="*/ 1162757631 h 259"/>
              <a:gd name="T18" fmla="*/ 134153466 w 211"/>
              <a:gd name="T19" fmla="*/ 1158100215 h 259"/>
              <a:gd name="T20" fmla="*/ 139927409 w 211"/>
              <a:gd name="T21" fmla="*/ 1173310140 h 259"/>
              <a:gd name="T22" fmla="*/ 134153466 w 211"/>
              <a:gd name="T23" fmla="*/ 1178890215 h 259"/>
              <a:gd name="T24" fmla="*/ 131341246 w 211"/>
              <a:gd name="T25" fmla="*/ 1162757631 h 259"/>
              <a:gd name="T26" fmla="*/ 192610008 w 211"/>
              <a:gd name="T27" fmla="*/ 1020766301 h 259"/>
              <a:gd name="T28" fmla="*/ 201425304 w 211"/>
              <a:gd name="T29" fmla="*/ 1020766301 h 259"/>
              <a:gd name="T30" fmla="*/ 198424380 w 211"/>
              <a:gd name="T31" fmla="*/ 1038636200 h 259"/>
              <a:gd name="T32" fmla="*/ 192610008 w 211"/>
              <a:gd name="T33" fmla="*/ 1020766301 h 259"/>
              <a:gd name="T34" fmla="*/ 257716732 w 211"/>
              <a:gd name="T35" fmla="*/ 874483533 h 259"/>
              <a:gd name="T36" fmla="*/ 270560754 w 211"/>
              <a:gd name="T37" fmla="*/ 874483533 h 259"/>
              <a:gd name="T38" fmla="*/ 264275526 w 211"/>
              <a:gd name="T39" fmla="*/ 890778885 h 259"/>
              <a:gd name="T40" fmla="*/ 257716732 w 211"/>
              <a:gd name="T41" fmla="*/ 886183564 h 259"/>
              <a:gd name="T42" fmla="*/ 257716732 w 211"/>
              <a:gd name="T43" fmla="*/ 874483533 h 259"/>
              <a:gd name="T44" fmla="*/ 326842780 w 211"/>
              <a:gd name="T45" fmla="*/ 721396205 h 259"/>
              <a:gd name="T46" fmla="*/ 332582899 w 211"/>
              <a:gd name="T47" fmla="*/ 726977363 h 259"/>
              <a:gd name="T48" fmla="*/ 326842780 w 211"/>
              <a:gd name="T49" fmla="*/ 746050552 h 259"/>
              <a:gd name="T50" fmla="*/ 323414592 w 211"/>
              <a:gd name="T51" fmla="*/ 726977363 h 259"/>
              <a:gd name="T52" fmla="*/ 386708425 w 211"/>
              <a:gd name="T53" fmla="*/ 586500093 h 259"/>
              <a:gd name="T54" fmla="*/ 398474534 w 211"/>
              <a:gd name="T55" fmla="*/ 586500093 h 259"/>
              <a:gd name="T56" fmla="*/ 395514124 w 211"/>
              <a:gd name="T57" fmla="*/ 591408802 h 259"/>
              <a:gd name="T58" fmla="*/ 386708425 w 211"/>
              <a:gd name="T59" fmla="*/ 591408802 h 259"/>
              <a:gd name="T60" fmla="*/ 450236342 w 211"/>
              <a:gd name="T61" fmla="*/ 441651029 h 259"/>
              <a:gd name="T62" fmla="*/ 457568260 w 211"/>
              <a:gd name="T63" fmla="*/ 433984433 h 259"/>
              <a:gd name="T64" fmla="*/ 464668993 w 211"/>
              <a:gd name="T65" fmla="*/ 451797909 h 259"/>
              <a:gd name="T66" fmla="*/ 454756290 w 211"/>
              <a:gd name="T67" fmla="*/ 456856880 h 259"/>
              <a:gd name="T68" fmla="*/ 450236342 w 211"/>
              <a:gd name="T69" fmla="*/ 441651029 h 259"/>
              <a:gd name="T70" fmla="*/ 522038239 w 211"/>
              <a:gd name="T71" fmla="*/ 287672479 h 259"/>
              <a:gd name="T72" fmla="*/ 525204715 w 211"/>
              <a:gd name="T73" fmla="*/ 298827280 h 259"/>
              <a:gd name="T74" fmla="*/ 522038239 w 211"/>
              <a:gd name="T75" fmla="*/ 309263411 h 259"/>
              <a:gd name="T76" fmla="*/ 515985203 w 211"/>
              <a:gd name="T77" fmla="*/ 298827280 h 259"/>
              <a:gd name="T78" fmla="*/ 578318724 w 211"/>
              <a:gd name="T79" fmla="*/ 154238672 h 259"/>
              <a:gd name="T80" fmla="*/ 588231410 w 211"/>
              <a:gd name="T81" fmla="*/ 147512458 h 259"/>
              <a:gd name="T82" fmla="*/ 588231410 w 211"/>
              <a:gd name="T83" fmla="*/ 159212544 h 259"/>
              <a:gd name="T84" fmla="*/ 578318724 w 211"/>
              <a:gd name="T85" fmla="*/ 169733758 h 259"/>
              <a:gd name="T86" fmla="*/ 578318724 w 211"/>
              <a:gd name="T87" fmla="*/ 154238672 h 259"/>
              <a:gd name="T88" fmla="*/ 647324688 w 211"/>
              <a:gd name="T89" fmla="*/ 0 h 259"/>
              <a:gd name="T90" fmla="*/ 656181278 w 211"/>
              <a:gd name="T91" fmla="*/ 16737596 h 259"/>
              <a:gd name="T92" fmla="*/ 647324688 w 211"/>
              <a:gd name="T93" fmla="*/ 21878801 h 259"/>
              <a:gd name="T94" fmla="*/ 644231341 w 211"/>
              <a:gd name="T95" fmla="*/ 4977639 h 259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11"/>
              <a:gd name="T145" fmla="*/ 0 h 259"/>
              <a:gd name="T146" fmla="*/ 211 w 211"/>
              <a:gd name="T147" fmla="*/ 259 h 259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11" h="259">
                <a:moveTo>
                  <a:pt x="0" y="256"/>
                </a:moveTo>
                <a:lnTo>
                  <a:pt x="0" y="256"/>
                </a:lnTo>
                <a:lnTo>
                  <a:pt x="2" y="256"/>
                </a:lnTo>
                <a:lnTo>
                  <a:pt x="3" y="256"/>
                </a:lnTo>
                <a:lnTo>
                  <a:pt x="3" y="258"/>
                </a:lnTo>
                <a:lnTo>
                  <a:pt x="3" y="259"/>
                </a:lnTo>
                <a:lnTo>
                  <a:pt x="2" y="259"/>
                </a:lnTo>
                <a:lnTo>
                  <a:pt x="0" y="259"/>
                </a:lnTo>
                <a:lnTo>
                  <a:pt x="0" y="258"/>
                </a:lnTo>
                <a:lnTo>
                  <a:pt x="0" y="256"/>
                </a:lnTo>
                <a:close/>
                <a:moveTo>
                  <a:pt x="20" y="231"/>
                </a:moveTo>
                <a:lnTo>
                  <a:pt x="20" y="231"/>
                </a:lnTo>
                <a:lnTo>
                  <a:pt x="22" y="231"/>
                </a:lnTo>
                <a:lnTo>
                  <a:pt x="23" y="231"/>
                </a:lnTo>
                <a:lnTo>
                  <a:pt x="24" y="232"/>
                </a:lnTo>
                <a:lnTo>
                  <a:pt x="24" y="233"/>
                </a:lnTo>
                <a:lnTo>
                  <a:pt x="23" y="235"/>
                </a:lnTo>
                <a:lnTo>
                  <a:pt x="22" y="235"/>
                </a:lnTo>
                <a:lnTo>
                  <a:pt x="22" y="233"/>
                </a:lnTo>
                <a:lnTo>
                  <a:pt x="20" y="232"/>
                </a:lnTo>
                <a:lnTo>
                  <a:pt x="20" y="231"/>
                </a:lnTo>
                <a:close/>
                <a:moveTo>
                  <a:pt x="42" y="206"/>
                </a:moveTo>
                <a:lnTo>
                  <a:pt x="42" y="206"/>
                </a:lnTo>
                <a:lnTo>
                  <a:pt x="43" y="205"/>
                </a:lnTo>
                <a:lnTo>
                  <a:pt x="45" y="205"/>
                </a:lnTo>
                <a:lnTo>
                  <a:pt x="45" y="206"/>
                </a:lnTo>
                <a:lnTo>
                  <a:pt x="45" y="208"/>
                </a:lnTo>
                <a:lnTo>
                  <a:pt x="43" y="209"/>
                </a:lnTo>
                <a:lnTo>
                  <a:pt x="42" y="208"/>
                </a:lnTo>
                <a:lnTo>
                  <a:pt x="41" y="208"/>
                </a:lnTo>
                <a:lnTo>
                  <a:pt x="42" y="206"/>
                </a:lnTo>
                <a:close/>
                <a:moveTo>
                  <a:pt x="62" y="181"/>
                </a:moveTo>
                <a:lnTo>
                  <a:pt x="62" y="181"/>
                </a:lnTo>
                <a:lnTo>
                  <a:pt x="64" y="179"/>
                </a:lnTo>
                <a:lnTo>
                  <a:pt x="65" y="179"/>
                </a:lnTo>
                <a:lnTo>
                  <a:pt x="65" y="181"/>
                </a:lnTo>
                <a:lnTo>
                  <a:pt x="65" y="182"/>
                </a:lnTo>
                <a:lnTo>
                  <a:pt x="64" y="184"/>
                </a:lnTo>
                <a:lnTo>
                  <a:pt x="62" y="182"/>
                </a:lnTo>
                <a:lnTo>
                  <a:pt x="62" y="181"/>
                </a:lnTo>
                <a:close/>
                <a:moveTo>
                  <a:pt x="83" y="155"/>
                </a:moveTo>
                <a:lnTo>
                  <a:pt x="83" y="155"/>
                </a:lnTo>
                <a:lnTo>
                  <a:pt x="84" y="154"/>
                </a:lnTo>
                <a:lnTo>
                  <a:pt x="85" y="154"/>
                </a:lnTo>
                <a:lnTo>
                  <a:pt x="87" y="155"/>
                </a:lnTo>
                <a:lnTo>
                  <a:pt x="87" y="157"/>
                </a:lnTo>
                <a:lnTo>
                  <a:pt x="85" y="158"/>
                </a:lnTo>
                <a:lnTo>
                  <a:pt x="84" y="158"/>
                </a:lnTo>
                <a:lnTo>
                  <a:pt x="84" y="157"/>
                </a:lnTo>
                <a:lnTo>
                  <a:pt x="83" y="157"/>
                </a:lnTo>
                <a:lnTo>
                  <a:pt x="83" y="155"/>
                </a:lnTo>
                <a:close/>
                <a:moveTo>
                  <a:pt x="104" y="129"/>
                </a:moveTo>
                <a:lnTo>
                  <a:pt x="104" y="129"/>
                </a:lnTo>
                <a:lnTo>
                  <a:pt x="105" y="128"/>
                </a:lnTo>
                <a:lnTo>
                  <a:pt x="107" y="128"/>
                </a:lnTo>
                <a:lnTo>
                  <a:pt x="107" y="129"/>
                </a:lnTo>
                <a:lnTo>
                  <a:pt x="107" y="131"/>
                </a:lnTo>
                <a:lnTo>
                  <a:pt x="105" y="132"/>
                </a:lnTo>
                <a:lnTo>
                  <a:pt x="104" y="132"/>
                </a:lnTo>
                <a:lnTo>
                  <a:pt x="103" y="131"/>
                </a:lnTo>
                <a:lnTo>
                  <a:pt x="104" y="129"/>
                </a:lnTo>
                <a:close/>
                <a:moveTo>
                  <a:pt x="124" y="104"/>
                </a:moveTo>
                <a:lnTo>
                  <a:pt x="124" y="104"/>
                </a:lnTo>
                <a:lnTo>
                  <a:pt x="126" y="102"/>
                </a:lnTo>
                <a:lnTo>
                  <a:pt x="127" y="102"/>
                </a:lnTo>
                <a:lnTo>
                  <a:pt x="128" y="104"/>
                </a:lnTo>
                <a:lnTo>
                  <a:pt x="128" y="105"/>
                </a:lnTo>
                <a:lnTo>
                  <a:pt x="127" y="105"/>
                </a:lnTo>
                <a:lnTo>
                  <a:pt x="126" y="107"/>
                </a:lnTo>
                <a:lnTo>
                  <a:pt x="124" y="107"/>
                </a:lnTo>
                <a:lnTo>
                  <a:pt x="124" y="105"/>
                </a:lnTo>
                <a:lnTo>
                  <a:pt x="124" y="104"/>
                </a:lnTo>
                <a:close/>
                <a:moveTo>
                  <a:pt x="145" y="78"/>
                </a:moveTo>
                <a:lnTo>
                  <a:pt x="145" y="78"/>
                </a:lnTo>
                <a:lnTo>
                  <a:pt x="146" y="77"/>
                </a:lnTo>
                <a:lnTo>
                  <a:pt x="147" y="77"/>
                </a:lnTo>
                <a:lnTo>
                  <a:pt x="149" y="78"/>
                </a:lnTo>
                <a:lnTo>
                  <a:pt x="149" y="80"/>
                </a:lnTo>
                <a:lnTo>
                  <a:pt x="147" y="81"/>
                </a:lnTo>
                <a:lnTo>
                  <a:pt x="146" y="81"/>
                </a:lnTo>
                <a:lnTo>
                  <a:pt x="145" y="80"/>
                </a:lnTo>
                <a:lnTo>
                  <a:pt x="145" y="78"/>
                </a:lnTo>
                <a:close/>
                <a:moveTo>
                  <a:pt x="166" y="53"/>
                </a:moveTo>
                <a:lnTo>
                  <a:pt x="166" y="53"/>
                </a:lnTo>
                <a:lnTo>
                  <a:pt x="168" y="51"/>
                </a:lnTo>
                <a:lnTo>
                  <a:pt x="169" y="51"/>
                </a:lnTo>
                <a:lnTo>
                  <a:pt x="169" y="53"/>
                </a:lnTo>
                <a:lnTo>
                  <a:pt x="169" y="54"/>
                </a:lnTo>
                <a:lnTo>
                  <a:pt x="168" y="55"/>
                </a:lnTo>
                <a:lnTo>
                  <a:pt x="166" y="55"/>
                </a:lnTo>
                <a:lnTo>
                  <a:pt x="166" y="54"/>
                </a:lnTo>
                <a:lnTo>
                  <a:pt x="166" y="53"/>
                </a:lnTo>
                <a:close/>
                <a:moveTo>
                  <a:pt x="186" y="27"/>
                </a:moveTo>
                <a:lnTo>
                  <a:pt x="186" y="27"/>
                </a:lnTo>
                <a:lnTo>
                  <a:pt x="188" y="26"/>
                </a:lnTo>
                <a:lnTo>
                  <a:pt x="189" y="26"/>
                </a:lnTo>
                <a:lnTo>
                  <a:pt x="191" y="27"/>
                </a:lnTo>
                <a:lnTo>
                  <a:pt x="191" y="28"/>
                </a:lnTo>
                <a:lnTo>
                  <a:pt x="189" y="28"/>
                </a:lnTo>
                <a:lnTo>
                  <a:pt x="188" y="30"/>
                </a:lnTo>
                <a:lnTo>
                  <a:pt x="186" y="30"/>
                </a:lnTo>
                <a:lnTo>
                  <a:pt x="186" y="28"/>
                </a:lnTo>
                <a:lnTo>
                  <a:pt x="186" y="27"/>
                </a:lnTo>
                <a:close/>
                <a:moveTo>
                  <a:pt x="207" y="1"/>
                </a:moveTo>
                <a:lnTo>
                  <a:pt x="207" y="1"/>
                </a:lnTo>
                <a:lnTo>
                  <a:pt x="208" y="0"/>
                </a:lnTo>
                <a:lnTo>
                  <a:pt x="209" y="0"/>
                </a:lnTo>
                <a:lnTo>
                  <a:pt x="211" y="1"/>
                </a:lnTo>
                <a:lnTo>
                  <a:pt x="211" y="3"/>
                </a:lnTo>
                <a:lnTo>
                  <a:pt x="209" y="4"/>
                </a:lnTo>
                <a:lnTo>
                  <a:pt x="208" y="4"/>
                </a:lnTo>
                <a:lnTo>
                  <a:pt x="207" y="3"/>
                </a:lnTo>
                <a:lnTo>
                  <a:pt x="207" y="1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30" name="未知">
            <a:extLst>
              <a:ext uri="{FF2B5EF4-FFF2-40B4-BE49-F238E27FC236}">
                <a16:creationId xmlns:a16="http://schemas.microsoft.com/office/drawing/2014/main" id="{587BD211-066C-C838-7783-1CEF4D818781}"/>
              </a:ext>
            </a:extLst>
          </p:cNvPr>
          <p:cNvSpPr>
            <a:spLocks/>
          </p:cNvSpPr>
          <p:nvPr/>
        </p:nvSpPr>
        <p:spPr bwMode="auto">
          <a:xfrm>
            <a:off x="5631360" y="5292291"/>
            <a:ext cx="146049" cy="167045"/>
          </a:xfrm>
          <a:custGeom>
            <a:avLst/>
            <a:gdLst>
              <a:gd name="T0" fmla="*/ 0 w 112"/>
              <a:gd name="T1" fmla="*/ 369317894 h 126"/>
              <a:gd name="T2" fmla="*/ 408854017 w 112"/>
              <a:gd name="T3" fmla="*/ 0 h 126"/>
              <a:gd name="T4" fmla="*/ 236696596 w 112"/>
              <a:gd name="T5" fmla="*/ 648230899 h 126"/>
              <a:gd name="T6" fmla="*/ 0 w 112"/>
              <a:gd name="T7" fmla="*/ 369317894 h 126"/>
              <a:gd name="T8" fmla="*/ 0 60000 65536"/>
              <a:gd name="T9" fmla="*/ 0 60000 65536"/>
              <a:gd name="T10" fmla="*/ 0 60000 65536"/>
              <a:gd name="T11" fmla="*/ 0 60000 65536"/>
              <a:gd name="T12" fmla="*/ 0 w 112"/>
              <a:gd name="T13" fmla="*/ 0 h 126"/>
              <a:gd name="T14" fmla="*/ 112 w 112"/>
              <a:gd name="T15" fmla="*/ 126 h 1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" h="126">
                <a:moveTo>
                  <a:pt x="0" y="72"/>
                </a:moveTo>
                <a:lnTo>
                  <a:pt x="112" y="0"/>
                </a:lnTo>
                <a:lnTo>
                  <a:pt x="65" y="126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31" name="未知">
            <a:extLst>
              <a:ext uri="{FF2B5EF4-FFF2-40B4-BE49-F238E27FC236}">
                <a16:creationId xmlns:a16="http://schemas.microsoft.com/office/drawing/2014/main" id="{CE650BB2-2A5C-F5C8-8C5D-8CBDDCE2AA4A}"/>
              </a:ext>
            </a:extLst>
          </p:cNvPr>
          <p:cNvSpPr>
            <a:spLocks noEditPoints="1"/>
          </p:cNvSpPr>
          <p:nvPr/>
        </p:nvSpPr>
        <p:spPr bwMode="auto">
          <a:xfrm>
            <a:off x="5293543" y="4779724"/>
            <a:ext cx="4445" cy="965430"/>
          </a:xfrm>
          <a:custGeom>
            <a:avLst/>
            <a:gdLst>
              <a:gd name="T0" fmla="*/ 381523 w 4"/>
              <a:gd name="T1" fmla="*/ 2147483646 h 729"/>
              <a:gd name="T2" fmla="*/ 0 w 4"/>
              <a:gd name="T3" fmla="*/ 2147483646 h 729"/>
              <a:gd name="T4" fmla="*/ 0 w 4"/>
              <a:gd name="T5" fmla="*/ 2147483646 h 729"/>
              <a:gd name="T6" fmla="*/ 381523 w 4"/>
              <a:gd name="T7" fmla="*/ 2147483646 h 729"/>
              <a:gd name="T8" fmla="*/ 0 w 4"/>
              <a:gd name="T9" fmla="*/ 2147483646 h 729"/>
              <a:gd name="T10" fmla="*/ 505983 w 4"/>
              <a:gd name="T11" fmla="*/ 2147483646 h 729"/>
              <a:gd name="T12" fmla="*/ 0 w 4"/>
              <a:gd name="T13" fmla="*/ 2147483646 h 729"/>
              <a:gd name="T14" fmla="*/ 289133 w 4"/>
              <a:gd name="T15" fmla="*/ 2147483646 h 729"/>
              <a:gd name="T16" fmla="*/ 289133 w 4"/>
              <a:gd name="T17" fmla="*/ 2147483646 h 729"/>
              <a:gd name="T18" fmla="*/ 0 w 4"/>
              <a:gd name="T19" fmla="*/ 2147483646 h 729"/>
              <a:gd name="T20" fmla="*/ 505983 w 4"/>
              <a:gd name="T21" fmla="*/ 2147483646 h 729"/>
              <a:gd name="T22" fmla="*/ 0 w 4"/>
              <a:gd name="T23" fmla="*/ 2147483646 h 729"/>
              <a:gd name="T24" fmla="*/ 381523 w 4"/>
              <a:gd name="T25" fmla="*/ 2147483646 h 729"/>
              <a:gd name="T26" fmla="*/ 0 w 4"/>
              <a:gd name="T27" fmla="*/ 2147483646 h 729"/>
              <a:gd name="T28" fmla="*/ 0 w 4"/>
              <a:gd name="T29" fmla="*/ 2147483646 h 729"/>
              <a:gd name="T30" fmla="*/ 381523 w 4"/>
              <a:gd name="T31" fmla="*/ 2147483646 h 729"/>
              <a:gd name="T32" fmla="*/ 0 w 4"/>
              <a:gd name="T33" fmla="*/ 2147483646 h 729"/>
              <a:gd name="T34" fmla="*/ 505983 w 4"/>
              <a:gd name="T35" fmla="*/ 2147483646 h 729"/>
              <a:gd name="T36" fmla="*/ 0 w 4"/>
              <a:gd name="T37" fmla="*/ 2147483646 h 729"/>
              <a:gd name="T38" fmla="*/ 289133 w 4"/>
              <a:gd name="T39" fmla="*/ 2147483646 h 729"/>
              <a:gd name="T40" fmla="*/ 289133 w 4"/>
              <a:gd name="T41" fmla="*/ 2147483646 h 729"/>
              <a:gd name="T42" fmla="*/ 0 w 4"/>
              <a:gd name="T43" fmla="*/ 2147483646 h 729"/>
              <a:gd name="T44" fmla="*/ 505983 w 4"/>
              <a:gd name="T45" fmla="*/ 2147483646 h 729"/>
              <a:gd name="T46" fmla="*/ 0 w 4"/>
              <a:gd name="T47" fmla="*/ 2147483646 h 729"/>
              <a:gd name="T48" fmla="*/ 381523 w 4"/>
              <a:gd name="T49" fmla="*/ 1987132999 h 729"/>
              <a:gd name="T50" fmla="*/ 0 w 4"/>
              <a:gd name="T51" fmla="*/ 2002041578 h 729"/>
              <a:gd name="T52" fmla="*/ 0 w 4"/>
              <a:gd name="T53" fmla="*/ 1825046398 h 729"/>
              <a:gd name="T54" fmla="*/ 381523 w 4"/>
              <a:gd name="T55" fmla="*/ 1840002253 h 729"/>
              <a:gd name="T56" fmla="*/ 0 w 4"/>
              <a:gd name="T57" fmla="*/ 1669314114 h 729"/>
              <a:gd name="T58" fmla="*/ 505983 w 4"/>
              <a:gd name="T59" fmla="*/ 1669314114 h 729"/>
              <a:gd name="T60" fmla="*/ 0 w 4"/>
              <a:gd name="T61" fmla="*/ 1669314114 h 729"/>
              <a:gd name="T62" fmla="*/ 289133 w 4"/>
              <a:gd name="T63" fmla="*/ 1493295914 h 729"/>
              <a:gd name="T64" fmla="*/ 289133 w 4"/>
              <a:gd name="T65" fmla="*/ 1513874575 h 729"/>
              <a:gd name="T66" fmla="*/ 0 w 4"/>
              <a:gd name="T67" fmla="*/ 1338027933 h 729"/>
              <a:gd name="T68" fmla="*/ 505983 w 4"/>
              <a:gd name="T69" fmla="*/ 1338027933 h 729"/>
              <a:gd name="T70" fmla="*/ 0 w 4"/>
              <a:gd name="T71" fmla="*/ 1338027933 h 729"/>
              <a:gd name="T72" fmla="*/ 381523 w 4"/>
              <a:gd name="T73" fmla="*/ 1162094234 h 729"/>
              <a:gd name="T74" fmla="*/ 0 w 4"/>
              <a:gd name="T75" fmla="*/ 1171751270 h 729"/>
              <a:gd name="T76" fmla="*/ 0 w 4"/>
              <a:gd name="T77" fmla="*/ 995830460 h 729"/>
              <a:gd name="T78" fmla="*/ 381523 w 4"/>
              <a:gd name="T79" fmla="*/ 1010771431 h 729"/>
              <a:gd name="T80" fmla="*/ 0 w 4"/>
              <a:gd name="T81" fmla="*/ 839884497 h 729"/>
              <a:gd name="T82" fmla="*/ 505983 w 4"/>
              <a:gd name="T83" fmla="*/ 839884497 h 729"/>
              <a:gd name="T84" fmla="*/ 0 w 4"/>
              <a:gd name="T85" fmla="*/ 839884497 h 729"/>
              <a:gd name="T86" fmla="*/ 289133 w 4"/>
              <a:gd name="T87" fmla="*/ 663011955 h 729"/>
              <a:gd name="T88" fmla="*/ 289133 w 4"/>
              <a:gd name="T89" fmla="*/ 684565271 h 729"/>
              <a:gd name="T90" fmla="*/ 0 w 4"/>
              <a:gd name="T91" fmla="*/ 508743450 h 729"/>
              <a:gd name="T92" fmla="*/ 505983 w 4"/>
              <a:gd name="T93" fmla="*/ 508743450 h 729"/>
              <a:gd name="T94" fmla="*/ 0 w 4"/>
              <a:gd name="T95" fmla="*/ 508743450 h 729"/>
              <a:gd name="T96" fmla="*/ 381523 w 4"/>
              <a:gd name="T97" fmla="*/ 332782693 h 729"/>
              <a:gd name="T98" fmla="*/ 0 w 4"/>
              <a:gd name="T99" fmla="*/ 347161228 h 729"/>
              <a:gd name="T100" fmla="*/ 0 w 4"/>
              <a:gd name="T101" fmla="*/ 166500252 h 729"/>
              <a:gd name="T102" fmla="*/ 381523 w 4"/>
              <a:gd name="T103" fmla="*/ 180424550 h 729"/>
              <a:gd name="T104" fmla="*/ 0 w 4"/>
              <a:gd name="T105" fmla="*/ 9301929 h 729"/>
              <a:gd name="T106" fmla="*/ 505983 w 4"/>
              <a:gd name="T107" fmla="*/ 9301929 h 729"/>
              <a:gd name="T108" fmla="*/ 0 w 4"/>
              <a:gd name="T109" fmla="*/ 9301929 h 729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4"/>
              <a:gd name="T166" fmla="*/ 0 h 729"/>
              <a:gd name="T167" fmla="*/ 4 w 4"/>
              <a:gd name="T168" fmla="*/ 729 h 729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4" h="729">
                <a:moveTo>
                  <a:pt x="0" y="726"/>
                </a:moveTo>
                <a:lnTo>
                  <a:pt x="0" y="726"/>
                </a:lnTo>
                <a:lnTo>
                  <a:pt x="0" y="725"/>
                </a:lnTo>
                <a:lnTo>
                  <a:pt x="2" y="725"/>
                </a:lnTo>
                <a:lnTo>
                  <a:pt x="3" y="725"/>
                </a:lnTo>
                <a:lnTo>
                  <a:pt x="4" y="726"/>
                </a:lnTo>
                <a:lnTo>
                  <a:pt x="3" y="727"/>
                </a:lnTo>
                <a:lnTo>
                  <a:pt x="2" y="729"/>
                </a:lnTo>
                <a:lnTo>
                  <a:pt x="0" y="727"/>
                </a:lnTo>
                <a:lnTo>
                  <a:pt x="0" y="726"/>
                </a:lnTo>
                <a:close/>
                <a:moveTo>
                  <a:pt x="0" y="694"/>
                </a:moveTo>
                <a:lnTo>
                  <a:pt x="0" y="694"/>
                </a:lnTo>
                <a:lnTo>
                  <a:pt x="0" y="692"/>
                </a:lnTo>
                <a:lnTo>
                  <a:pt x="2" y="691"/>
                </a:lnTo>
                <a:lnTo>
                  <a:pt x="3" y="692"/>
                </a:lnTo>
                <a:lnTo>
                  <a:pt x="4" y="694"/>
                </a:lnTo>
                <a:lnTo>
                  <a:pt x="3" y="695"/>
                </a:lnTo>
                <a:lnTo>
                  <a:pt x="2" y="695"/>
                </a:lnTo>
                <a:lnTo>
                  <a:pt x="0" y="695"/>
                </a:lnTo>
                <a:lnTo>
                  <a:pt x="0" y="694"/>
                </a:lnTo>
                <a:close/>
                <a:moveTo>
                  <a:pt x="0" y="660"/>
                </a:moveTo>
                <a:lnTo>
                  <a:pt x="0" y="660"/>
                </a:lnTo>
                <a:lnTo>
                  <a:pt x="0" y="659"/>
                </a:lnTo>
                <a:lnTo>
                  <a:pt x="2" y="659"/>
                </a:lnTo>
                <a:lnTo>
                  <a:pt x="3" y="659"/>
                </a:lnTo>
                <a:lnTo>
                  <a:pt x="4" y="660"/>
                </a:lnTo>
                <a:lnTo>
                  <a:pt x="3" y="661"/>
                </a:lnTo>
                <a:lnTo>
                  <a:pt x="2" y="663"/>
                </a:lnTo>
                <a:lnTo>
                  <a:pt x="0" y="661"/>
                </a:lnTo>
                <a:lnTo>
                  <a:pt x="0" y="660"/>
                </a:lnTo>
                <a:close/>
                <a:moveTo>
                  <a:pt x="0" y="627"/>
                </a:moveTo>
                <a:lnTo>
                  <a:pt x="0" y="627"/>
                </a:lnTo>
                <a:lnTo>
                  <a:pt x="0" y="626"/>
                </a:lnTo>
                <a:lnTo>
                  <a:pt x="2" y="626"/>
                </a:lnTo>
                <a:lnTo>
                  <a:pt x="3" y="626"/>
                </a:lnTo>
                <a:lnTo>
                  <a:pt x="4" y="627"/>
                </a:lnTo>
                <a:lnTo>
                  <a:pt x="3" y="629"/>
                </a:lnTo>
                <a:lnTo>
                  <a:pt x="2" y="629"/>
                </a:lnTo>
                <a:lnTo>
                  <a:pt x="0" y="629"/>
                </a:lnTo>
                <a:lnTo>
                  <a:pt x="0" y="627"/>
                </a:lnTo>
                <a:close/>
                <a:moveTo>
                  <a:pt x="0" y="595"/>
                </a:moveTo>
                <a:lnTo>
                  <a:pt x="0" y="595"/>
                </a:lnTo>
                <a:lnTo>
                  <a:pt x="0" y="594"/>
                </a:lnTo>
                <a:lnTo>
                  <a:pt x="2" y="592"/>
                </a:lnTo>
                <a:lnTo>
                  <a:pt x="3" y="594"/>
                </a:lnTo>
                <a:lnTo>
                  <a:pt x="4" y="595"/>
                </a:lnTo>
                <a:lnTo>
                  <a:pt x="3" y="596"/>
                </a:lnTo>
                <a:lnTo>
                  <a:pt x="2" y="596"/>
                </a:lnTo>
                <a:lnTo>
                  <a:pt x="0" y="596"/>
                </a:lnTo>
                <a:lnTo>
                  <a:pt x="0" y="595"/>
                </a:lnTo>
                <a:close/>
                <a:moveTo>
                  <a:pt x="0" y="561"/>
                </a:moveTo>
                <a:lnTo>
                  <a:pt x="0" y="561"/>
                </a:lnTo>
                <a:lnTo>
                  <a:pt x="0" y="560"/>
                </a:lnTo>
                <a:lnTo>
                  <a:pt x="2" y="560"/>
                </a:lnTo>
                <a:lnTo>
                  <a:pt x="3" y="560"/>
                </a:lnTo>
                <a:lnTo>
                  <a:pt x="4" y="561"/>
                </a:lnTo>
                <a:lnTo>
                  <a:pt x="3" y="563"/>
                </a:lnTo>
                <a:lnTo>
                  <a:pt x="2" y="564"/>
                </a:lnTo>
                <a:lnTo>
                  <a:pt x="0" y="563"/>
                </a:lnTo>
                <a:lnTo>
                  <a:pt x="0" y="561"/>
                </a:lnTo>
                <a:close/>
                <a:moveTo>
                  <a:pt x="0" y="529"/>
                </a:moveTo>
                <a:lnTo>
                  <a:pt x="0" y="529"/>
                </a:lnTo>
                <a:lnTo>
                  <a:pt x="0" y="528"/>
                </a:lnTo>
                <a:lnTo>
                  <a:pt x="2" y="526"/>
                </a:lnTo>
                <a:lnTo>
                  <a:pt x="3" y="528"/>
                </a:lnTo>
                <a:lnTo>
                  <a:pt x="4" y="529"/>
                </a:lnTo>
                <a:lnTo>
                  <a:pt x="3" y="530"/>
                </a:lnTo>
                <a:lnTo>
                  <a:pt x="2" y="530"/>
                </a:lnTo>
                <a:lnTo>
                  <a:pt x="0" y="530"/>
                </a:lnTo>
                <a:lnTo>
                  <a:pt x="0" y="529"/>
                </a:lnTo>
                <a:close/>
                <a:moveTo>
                  <a:pt x="0" y="495"/>
                </a:moveTo>
                <a:lnTo>
                  <a:pt x="0" y="495"/>
                </a:lnTo>
                <a:lnTo>
                  <a:pt x="0" y="494"/>
                </a:lnTo>
                <a:lnTo>
                  <a:pt x="2" y="494"/>
                </a:lnTo>
                <a:lnTo>
                  <a:pt x="3" y="494"/>
                </a:lnTo>
                <a:lnTo>
                  <a:pt x="4" y="495"/>
                </a:lnTo>
                <a:lnTo>
                  <a:pt x="3" y="497"/>
                </a:lnTo>
                <a:lnTo>
                  <a:pt x="2" y="498"/>
                </a:lnTo>
                <a:lnTo>
                  <a:pt x="0" y="497"/>
                </a:lnTo>
                <a:lnTo>
                  <a:pt x="0" y="495"/>
                </a:lnTo>
                <a:close/>
                <a:moveTo>
                  <a:pt x="0" y="463"/>
                </a:moveTo>
                <a:lnTo>
                  <a:pt x="0" y="463"/>
                </a:lnTo>
                <a:lnTo>
                  <a:pt x="0" y="461"/>
                </a:lnTo>
                <a:lnTo>
                  <a:pt x="2" y="461"/>
                </a:lnTo>
                <a:lnTo>
                  <a:pt x="3" y="461"/>
                </a:lnTo>
                <a:lnTo>
                  <a:pt x="4" y="463"/>
                </a:lnTo>
                <a:lnTo>
                  <a:pt x="3" y="464"/>
                </a:lnTo>
                <a:lnTo>
                  <a:pt x="2" y="464"/>
                </a:lnTo>
                <a:lnTo>
                  <a:pt x="0" y="464"/>
                </a:lnTo>
                <a:lnTo>
                  <a:pt x="0" y="463"/>
                </a:lnTo>
                <a:close/>
                <a:moveTo>
                  <a:pt x="0" y="430"/>
                </a:moveTo>
                <a:lnTo>
                  <a:pt x="0" y="430"/>
                </a:lnTo>
                <a:lnTo>
                  <a:pt x="0" y="429"/>
                </a:lnTo>
                <a:lnTo>
                  <a:pt x="2" y="428"/>
                </a:lnTo>
                <a:lnTo>
                  <a:pt x="3" y="429"/>
                </a:lnTo>
                <a:lnTo>
                  <a:pt x="4" y="430"/>
                </a:lnTo>
                <a:lnTo>
                  <a:pt x="3" y="432"/>
                </a:lnTo>
                <a:lnTo>
                  <a:pt x="2" y="432"/>
                </a:lnTo>
                <a:lnTo>
                  <a:pt x="0" y="432"/>
                </a:lnTo>
                <a:lnTo>
                  <a:pt x="0" y="430"/>
                </a:lnTo>
                <a:close/>
                <a:moveTo>
                  <a:pt x="0" y="397"/>
                </a:moveTo>
                <a:lnTo>
                  <a:pt x="0" y="397"/>
                </a:lnTo>
                <a:lnTo>
                  <a:pt x="0" y="395"/>
                </a:lnTo>
                <a:lnTo>
                  <a:pt x="2" y="395"/>
                </a:lnTo>
                <a:lnTo>
                  <a:pt x="3" y="395"/>
                </a:lnTo>
                <a:lnTo>
                  <a:pt x="4" y="397"/>
                </a:lnTo>
                <a:lnTo>
                  <a:pt x="3" y="398"/>
                </a:lnTo>
                <a:lnTo>
                  <a:pt x="2" y="399"/>
                </a:lnTo>
                <a:lnTo>
                  <a:pt x="0" y="398"/>
                </a:lnTo>
                <a:lnTo>
                  <a:pt x="0" y="397"/>
                </a:lnTo>
                <a:close/>
                <a:moveTo>
                  <a:pt x="0" y="364"/>
                </a:moveTo>
                <a:lnTo>
                  <a:pt x="0" y="364"/>
                </a:lnTo>
                <a:lnTo>
                  <a:pt x="0" y="363"/>
                </a:lnTo>
                <a:lnTo>
                  <a:pt x="2" y="363"/>
                </a:lnTo>
                <a:lnTo>
                  <a:pt x="3" y="363"/>
                </a:lnTo>
                <a:lnTo>
                  <a:pt x="4" y="364"/>
                </a:lnTo>
                <a:lnTo>
                  <a:pt x="3" y="366"/>
                </a:lnTo>
                <a:lnTo>
                  <a:pt x="2" y="366"/>
                </a:lnTo>
                <a:lnTo>
                  <a:pt x="0" y="366"/>
                </a:lnTo>
                <a:lnTo>
                  <a:pt x="0" y="364"/>
                </a:lnTo>
                <a:close/>
                <a:moveTo>
                  <a:pt x="0" y="332"/>
                </a:moveTo>
                <a:lnTo>
                  <a:pt x="0" y="332"/>
                </a:lnTo>
                <a:lnTo>
                  <a:pt x="0" y="330"/>
                </a:lnTo>
                <a:lnTo>
                  <a:pt x="2" y="329"/>
                </a:lnTo>
                <a:lnTo>
                  <a:pt x="3" y="330"/>
                </a:lnTo>
                <a:lnTo>
                  <a:pt x="4" y="332"/>
                </a:lnTo>
                <a:lnTo>
                  <a:pt x="3" y="332"/>
                </a:lnTo>
                <a:lnTo>
                  <a:pt x="2" y="333"/>
                </a:lnTo>
                <a:lnTo>
                  <a:pt x="0" y="332"/>
                </a:lnTo>
                <a:close/>
                <a:moveTo>
                  <a:pt x="0" y="298"/>
                </a:moveTo>
                <a:lnTo>
                  <a:pt x="0" y="298"/>
                </a:lnTo>
                <a:lnTo>
                  <a:pt x="0" y="297"/>
                </a:lnTo>
                <a:lnTo>
                  <a:pt x="2" y="297"/>
                </a:lnTo>
                <a:lnTo>
                  <a:pt x="3" y="297"/>
                </a:lnTo>
                <a:lnTo>
                  <a:pt x="4" y="298"/>
                </a:lnTo>
                <a:lnTo>
                  <a:pt x="3" y="299"/>
                </a:lnTo>
                <a:lnTo>
                  <a:pt x="2" y="301"/>
                </a:lnTo>
                <a:lnTo>
                  <a:pt x="0" y="299"/>
                </a:lnTo>
                <a:lnTo>
                  <a:pt x="0" y="298"/>
                </a:lnTo>
                <a:close/>
                <a:moveTo>
                  <a:pt x="0" y="266"/>
                </a:moveTo>
                <a:lnTo>
                  <a:pt x="0" y="266"/>
                </a:lnTo>
                <a:lnTo>
                  <a:pt x="0" y="264"/>
                </a:lnTo>
                <a:lnTo>
                  <a:pt x="2" y="263"/>
                </a:lnTo>
                <a:lnTo>
                  <a:pt x="3" y="264"/>
                </a:lnTo>
                <a:lnTo>
                  <a:pt x="4" y="266"/>
                </a:lnTo>
                <a:lnTo>
                  <a:pt x="3" y="267"/>
                </a:lnTo>
                <a:lnTo>
                  <a:pt x="2" y="267"/>
                </a:lnTo>
                <a:lnTo>
                  <a:pt x="0" y="267"/>
                </a:lnTo>
                <a:lnTo>
                  <a:pt x="0" y="266"/>
                </a:lnTo>
                <a:close/>
                <a:moveTo>
                  <a:pt x="0" y="232"/>
                </a:moveTo>
                <a:lnTo>
                  <a:pt x="0" y="232"/>
                </a:lnTo>
                <a:lnTo>
                  <a:pt x="0" y="231"/>
                </a:lnTo>
                <a:lnTo>
                  <a:pt x="2" y="231"/>
                </a:lnTo>
                <a:lnTo>
                  <a:pt x="3" y="231"/>
                </a:lnTo>
                <a:lnTo>
                  <a:pt x="4" y="232"/>
                </a:lnTo>
                <a:lnTo>
                  <a:pt x="3" y="233"/>
                </a:lnTo>
                <a:lnTo>
                  <a:pt x="2" y="235"/>
                </a:lnTo>
                <a:lnTo>
                  <a:pt x="0" y="233"/>
                </a:lnTo>
                <a:lnTo>
                  <a:pt x="0" y="232"/>
                </a:lnTo>
                <a:close/>
                <a:moveTo>
                  <a:pt x="0" y="199"/>
                </a:moveTo>
                <a:lnTo>
                  <a:pt x="0" y="199"/>
                </a:lnTo>
                <a:lnTo>
                  <a:pt x="0" y="198"/>
                </a:lnTo>
                <a:lnTo>
                  <a:pt x="2" y="198"/>
                </a:lnTo>
                <a:lnTo>
                  <a:pt x="3" y="198"/>
                </a:lnTo>
                <a:lnTo>
                  <a:pt x="4" y="199"/>
                </a:lnTo>
                <a:lnTo>
                  <a:pt x="3" y="201"/>
                </a:lnTo>
                <a:lnTo>
                  <a:pt x="2" y="201"/>
                </a:lnTo>
                <a:lnTo>
                  <a:pt x="0" y="201"/>
                </a:lnTo>
                <a:lnTo>
                  <a:pt x="0" y="199"/>
                </a:lnTo>
                <a:close/>
                <a:moveTo>
                  <a:pt x="0" y="167"/>
                </a:moveTo>
                <a:lnTo>
                  <a:pt x="0" y="167"/>
                </a:lnTo>
                <a:lnTo>
                  <a:pt x="0" y="166"/>
                </a:lnTo>
                <a:lnTo>
                  <a:pt x="2" y="164"/>
                </a:lnTo>
                <a:lnTo>
                  <a:pt x="3" y="166"/>
                </a:lnTo>
                <a:lnTo>
                  <a:pt x="4" y="167"/>
                </a:lnTo>
                <a:lnTo>
                  <a:pt x="3" y="167"/>
                </a:lnTo>
                <a:lnTo>
                  <a:pt x="2" y="168"/>
                </a:lnTo>
                <a:lnTo>
                  <a:pt x="0" y="167"/>
                </a:lnTo>
                <a:close/>
                <a:moveTo>
                  <a:pt x="0" y="133"/>
                </a:moveTo>
                <a:lnTo>
                  <a:pt x="0" y="133"/>
                </a:lnTo>
                <a:lnTo>
                  <a:pt x="0" y="132"/>
                </a:lnTo>
                <a:lnTo>
                  <a:pt x="2" y="132"/>
                </a:lnTo>
                <a:lnTo>
                  <a:pt x="3" y="132"/>
                </a:lnTo>
                <a:lnTo>
                  <a:pt x="4" y="133"/>
                </a:lnTo>
                <a:lnTo>
                  <a:pt x="3" y="135"/>
                </a:lnTo>
                <a:lnTo>
                  <a:pt x="2" y="136"/>
                </a:lnTo>
                <a:lnTo>
                  <a:pt x="0" y="135"/>
                </a:lnTo>
                <a:lnTo>
                  <a:pt x="0" y="133"/>
                </a:lnTo>
                <a:close/>
                <a:moveTo>
                  <a:pt x="0" y="101"/>
                </a:moveTo>
                <a:lnTo>
                  <a:pt x="0" y="101"/>
                </a:lnTo>
                <a:lnTo>
                  <a:pt x="0" y="100"/>
                </a:lnTo>
                <a:lnTo>
                  <a:pt x="2" y="98"/>
                </a:lnTo>
                <a:lnTo>
                  <a:pt x="3" y="100"/>
                </a:lnTo>
                <a:lnTo>
                  <a:pt x="4" y="101"/>
                </a:lnTo>
                <a:lnTo>
                  <a:pt x="3" y="102"/>
                </a:lnTo>
                <a:lnTo>
                  <a:pt x="2" y="102"/>
                </a:lnTo>
                <a:lnTo>
                  <a:pt x="0" y="102"/>
                </a:lnTo>
                <a:lnTo>
                  <a:pt x="0" y="101"/>
                </a:lnTo>
                <a:close/>
                <a:moveTo>
                  <a:pt x="0" y="67"/>
                </a:moveTo>
                <a:lnTo>
                  <a:pt x="0" y="67"/>
                </a:lnTo>
                <a:lnTo>
                  <a:pt x="0" y="66"/>
                </a:lnTo>
                <a:lnTo>
                  <a:pt x="2" y="66"/>
                </a:lnTo>
                <a:lnTo>
                  <a:pt x="3" y="66"/>
                </a:lnTo>
                <a:lnTo>
                  <a:pt x="4" y="67"/>
                </a:lnTo>
                <a:lnTo>
                  <a:pt x="3" y="69"/>
                </a:lnTo>
                <a:lnTo>
                  <a:pt x="2" y="70"/>
                </a:lnTo>
                <a:lnTo>
                  <a:pt x="0" y="69"/>
                </a:lnTo>
                <a:lnTo>
                  <a:pt x="0" y="67"/>
                </a:lnTo>
                <a:close/>
                <a:moveTo>
                  <a:pt x="0" y="35"/>
                </a:moveTo>
                <a:lnTo>
                  <a:pt x="0" y="35"/>
                </a:lnTo>
                <a:lnTo>
                  <a:pt x="0" y="33"/>
                </a:lnTo>
                <a:lnTo>
                  <a:pt x="2" y="33"/>
                </a:lnTo>
                <a:lnTo>
                  <a:pt x="3" y="33"/>
                </a:lnTo>
                <a:lnTo>
                  <a:pt x="4" y="35"/>
                </a:lnTo>
                <a:lnTo>
                  <a:pt x="3" y="36"/>
                </a:lnTo>
                <a:lnTo>
                  <a:pt x="2" y="36"/>
                </a:lnTo>
                <a:lnTo>
                  <a:pt x="0" y="36"/>
                </a:lnTo>
                <a:lnTo>
                  <a:pt x="0" y="35"/>
                </a:lnTo>
                <a:close/>
                <a:moveTo>
                  <a:pt x="0" y="2"/>
                </a:move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32" name="未知">
            <a:extLst>
              <a:ext uri="{FF2B5EF4-FFF2-40B4-BE49-F238E27FC236}">
                <a16:creationId xmlns:a16="http://schemas.microsoft.com/office/drawing/2014/main" id="{67129207-33F2-5265-0AB8-73F1D95D2B90}"/>
              </a:ext>
            </a:extLst>
          </p:cNvPr>
          <p:cNvSpPr>
            <a:spLocks/>
          </p:cNvSpPr>
          <p:nvPr/>
        </p:nvSpPr>
        <p:spPr bwMode="auto">
          <a:xfrm>
            <a:off x="5240838" y="4612680"/>
            <a:ext cx="109854" cy="167045"/>
          </a:xfrm>
          <a:custGeom>
            <a:avLst/>
            <a:gdLst>
              <a:gd name="T0" fmla="*/ 0 w 83"/>
              <a:gd name="T1" fmla="*/ 553941714 h 127"/>
              <a:gd name="T2" fmla="*/ 210053417 w 83"/>
              <a:gd name="T3" fmla="*/ 0 h 127"/>
              <a:gd name="T4" fmla="*/ 414458478 w 83"/>
              <a:gd name="T5" fmla="*/ 553941714 h 127"/>
              <a:gd name="T6" fmla="*/ 0 w 83"/>
              <a:gd name="T7" fmla="*/ 553941714 h 127"/>
              <a:gd name="T8" fmla="*/ 0 60000 65536"/>
              <a:gd name="T9" fmla="*/ 0 60000 65536"/>
              <a:gd name="T10" fmla="*/ 0 60000 65536"/>
              <a:gd name="T11" fmla="*/ 0 60000 65536"/>
              <a:gd name="T12" fmla="*/ 0 w 83"/>
              <a:gd name="T13" fmla="*/ 0 h 127"/>
              <a:gd name="T14" fmla="*/ 83 w 83"/>
              <a:gd name="T15" fmla="*/ 127 h 1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3" h="127">
                <a:moveTo>
                  <a:pt x="0" y="127"/>
                </a:moveTo>
                <a:lnTo>
                  <a:pt x="42" y="0"/>
                </a:lnTo>
                <a:lnTo>
                  <a:pt x="83" y="127"/>
                </a:lnTo>
                <a:lnTo>
                  <a:pt x="0" y="12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33" name="Line 86">
            <a:extLst>
              <a:ext uri="{FF2B5EF4-FFF2-40B4-BE49-F238E27FC236}">
                <a16:creationId xmlns:a16="http://schemas.microsoft.com/office/drawing/2014/main" id="{BEF7A5BD-ABA2-A673-E38C-0820FEB253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6911" y="5891239"/>
            <a:ext cx="974718" cy="127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34" name="未知">
            <a:extLst>
              <a:ext uri="{FF2B5EF4-FFF2-40B4-BE49-F238E27FC236}">
                <a16:creationId xmlns:a16="http://schemas.microsoft.com/office/drawing/2014/main" id="{056DD7F5-B92A-A72F-6E8E-5BA6CBDFADD0}"/>
              </a:ext>
            </a:extLst>
          </p:cNvPr>
          <p:cNvSpPr>
            <a:spLocks/>
          </p:cNvSpPr>
          <p:nvPr/>
        </p:nvSpPr>
        <p:spPr bwMode="auto">
          <a:xfrm>
            <a:off x="5436417" y="5835345"/>
            <a:ext cx="165099" cy="109881"/>
          </a:xfrm>
          <a:custGeom>
            <a:avLst/>
            <a:gdLst>
              <a:gd name="T0" fmla="*/ 434492828 w 127"/>
              <a:gd name="T1" fmla="*/ 414458478 h 83"/>
              <a:gd name="T2" fmla="*/ 0 w 127"/>
              <a:gd name="T3" fmla="*/ 203423326 h 83"/>
              <a:gd name="T4" fmla="*/ 434492828 w 127"/>
              <a:gd name="T5" fmla="*/ 0 h 83"/>
              <a:gd name="T6" fmla="*/ 434492828 w 127"/>
              <a:gd name="T7" fmla="*/ 414458478 h 83"/>
              <a:gd name="T8" fmla="*/ 0 60000 65536"/>
              <a:gd name="T9" fmla="*/ 0 60000 65536"/>
              <a:gd name="T10" fmla="*/ 0 60000 65536"/>
              <a:gd name="T11" fmla="*/ 0 60000 65536"/>
              <a:gd name="T12" fmla="*/ 0 w 127"/>
              <a:gd name="T13" fmla="*/ 0 h 83"/>
              <a:gd name="T14" fmla="*/ 127 w 127"/>
              <a:gd name="T15" fmla="*/ 83 h 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7" h="83">
                <a:moveTo>
                  <a:pt x="127" y="83"/>
                </a:moveTo>
                <a:lnTo>
                  <a:pt x="0" y="41"/>
                </a:lnTo>
                <a:lnTo>
                  <a:pt x="127" y="0"/>
                </a:lnTo>
                <a:lnTo>
                  <a:pt x="127" y="83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35" name="Line 88">
            <a:extLst>
              <a:ext uri="{FF2B5EF4-FFF2-40B4-BE49-F238E27FC236}">
                <a16:creationId xmlns:a16="http://schemas.microsoft.com/office/drawing/2014/main" id="{DF2114A2-F55D-45F8-102A-B85484E5B6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87382" y="5291021"/>
            <a:ext cx="295273" cy="36648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36" name="未知">
            <a:extLst>
              <a:ext uri="{FF2B5EF4-FFF2-40B4-BE49-F238E27FC236}">
                <a16:creationId xmlns:a16="http://schemas.microsoft.com/office/drawing/2014/main" id="{628DD0CE-901D-734F-713C-C387CAB331F1}"/>
              </a:ext>
            </a:extLst>
          </p:cNvPr>
          <p:cNvSpPr>
            <a:spLocks/>
          </p:cNvSpPr>
          <p:nvPr/>
        </p:nvSpPr>
        <p:spPr bwMode="auto">
          <a:xfrm>
            <a:off x="6792132" y="5609867"/>
            <a:ext cx="146049" cy="165139"/>
          </a:xfrm>
          <a:custGeom>
            <a:avLst/>
            <a:gdLst>
              <a:gd name="T0" fmla="*/ 408854017 w 112"/>
              <a:gd name="T1" fmla="*/ 261729682 h 125"/>
              <a:gd name="T2" fmla="*/ 0 w 112"/>
              <a:gd name="T3" fmla="*/ 597391864 h 125"/>
              <a:gd name="T4" fmla="*/ 172549918 w 112"/>
              <a:gd name="T5" fmla="*/ 0 h 125"/>
              <a:gd name="T6" fmla="*/ 408854017 w 112"/>
              <a:gd name="T7" fmla="*/ 261729682 h 125"/>
              <a:gd name="T8" fmla="*/ 0 60000 65536"/>
              <a:gd name="T9" fmla="*/ 0 60000 65536"/>
              <a:gd name="T10" fmla="*/ 0 60000 65536"/>
              <a:gd name="T11" fmla="*/ 0 60000 65536"/>
              <a:gd name="T12" fmla="*/ 0 w 112"/>
              <a:gd name="T13" fmla="*/ 0 h 125"/>
              <a:gd name="T14" fmla="*/ 112 w 112"/>
              <a:gd name="T15" fmla="*/ 125 h 1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" h="125">
                <a:moveTo>
                  <a:pt x="112" y="55"/>
                </a:moveTo>
                <a:lnTo>
                  <a:pt x="0" y="125"/>
                </a:lnTo>
                <a:lnTo>
                  <a:pt x="47" y="0"/>
                </a:lnTo>
                <a:lnTo>
                  <a:pt x="112" y="55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37" name="Rectangle 90">
            <a:extLst>
              <a:ext uri="{FF2B5EF4-FFF2-40B4-BE49-F238E27FC236}">
                <a16:creationId xmlns:a16="http://schemas.microsoft.com/office/drawing/2014/main" id="{EBF3FA1B-0E28-B670-554B-1CEDEBB33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796" y="5517232"/>
            <a:ext cx="63500" cy="152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</a:rPr>
              <a:t>5</a:t>
            </a:r>
            <a:endParaRPr lang="zh-CN" altLang="en-US" sz="1000" b="1" dirty="0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12338" name="Rectangle 92">
            <a:extLst>
              <a:ext uri="{FF2B5EF4-FFF2-40B4-BE49-F238E27FC236}">
                <a16:creationId xmlns:a16="http://schemas.microsoft.com/office/drawing/2014/main" id="{D396CDF7-BAA8-574F-6C7C-81A6F1381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964" y="5123976"/>
            <a:ext cx="126999" cy="152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 dirty="0">
                <a:solidFill>
                  <a:srgbClr val="0000FF"/>
                </a:solidFill>
                <a:latin typeface="宋体" pitchFamily="2" charset="-122"/>
              </a:rPr>
              <a:t>18</a:t>
            </a:r>
            <a:endParaRPr lang="zh-CN" altLang="en-US" sz="1000" b="1" dirty="0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2339" name="Rectangle 93">
            <a:extLst>
              <a:ext uri="{FF2B5EF4-FFF2-40B4-BE49-F238E27FC236}">
                <a16:creationId xmlns:a16="http://schemas.microsoft.com/office/drawing/2014/main" id="{81E70922-0D4C-2FA0-DEA5-8FC3E7DA4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7386" y="5551433"/>
            <a:ext cx="126999" cy="150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 dirty="0">
                <a:solidFill>
                  <a:srgbClr val="0000FF"/>
                </a:solidFill>
                <a:latin typeface="宋体" pitchFamily="2" charset="-122"/>
              </a:rPr>
              <a:t>10</a:t>
            </a:r>
            <a:endParaRPr lang="zh-CN" altLang="en-US" sz="1000" b="1" dirty="0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2340" name="Rectangle 94">
            <a:extLst>
              <a:ext uri="{FF2B5EF4-FFF2-40B4-BE49-F238E27FC236}">
                <a16:creationId xmlns:a16="http://schemas.microsoft.com/office/drawing/2014/main" id="{7FBF1B34-FDA2-AD7E-76FA-5486F118E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7762" y="5895685"/>
            <a:ext cx="63500" cy="152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</a:rPr>
              <a:t>7</a:t>
            </a:r>
            <a:endParaRPr lang="zh-CN" altLang="en-US" sz="1000" b="1" dirty="0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12341" name="未知">
            <a:extLst>
              <a:ext uri="{FF2B5EF4-FFF2-40B4-BE49-F238E27FC236}">
                <a16:creationId xmlns:a16="http://schemas.microsoft.com/office/drawing/2014/main" id="{1677D18B-B2BC-12FB-BA2B-C0377DBA4ED2}"/>
              </a:ext>
            </a:extLst>
          </p:cNvPr>
          <p:cNvSpPr>
            <a:spLocks noEditPoints="1"/>
          </p:cNvSpPr>
          <p:nvPr/>
        </p:nvSpPr>
        <p:spPr bwMode="auto">
          <a:xfrm>
            <a:off x="6700058" y="4779724"/>
            <a:ext cx="6350" cy="965430"/>
          </a:xfrm>
          <a:custGeom>
            <a:avLst/>
            <a:gdLst>
              <a:gd name="T0" fmla="*/ 484306175 w 4"/>
              <a:gd name="T1" fmla="*/ 2147483646 h 729"/>
              <a:gd name="T2" fmla="*/ 484306175 w 4"/>
              <a:gd name="T3" fmla="*/ 2147483646 h 729"/>
              <a:gd name="T4" fmla="*/ 0 w 4"/>
              <a:gd name="T5" fmla="*/ 2147483646 h 729"/>
              <a:gd name="T6" fmla="*/ 920181458 w 4"/>
              <a:gd name="T7" fmla="*/ 2147483646 h 729"/>
              <a:gd name="T8" fmla="*/ 0 w 4"/>
              <a:gd name="T9" fmla="*/ 2147483646 h 729"/>
              <a:gd name="T10" fmla="*/ 0 w 4"/>
              <a:gd name="T11" fmla="*/ 2147483646 h 729"/>
              <a:gd name="T12" fmla="*/ 920181458 w 4"/>
              <a:gd name="T13" fmla="*/ 2147483646 h 729"/>
              <a:gd name="T14" fmla="*/ 0 w 4"/>
              <a:gd name="T15" fmla="*/ 2147483646 h 729"/>
              <a:gd name="T16" fmla="*/ 729446613 w 4"/>
              <a:gd name="T17" fmla="*/ 2147483646 h 729"/>
              <a:gd name="T18" fmla="*/ 0 w 4"/>
              <a:gd name="T19" fmla="*/ 2147483646 h 729"/>
              <a:gd name="T20" fmla="*/ 0 w 4"/>
              <a:gd name="T21" fmla="*/ 2147483646 h 729"/>
              <a:gd name="T22" fmla="*/ 729446613 w 4"/>
              <a:gd name="T23" fmla="*/ 2147483646 h 729"/>
              <a:gd name="T24" fmla="*/ 0 w 4"/>
              <a:gd name="T25" fmla="*/ 2147483646 h 729"/>
              <a:gd name="T26" fmla="*/ 729446613 w 4"/>
              <a:gd name="T27" fmla="*/ 2147483646 h 729"/>
              <a:gd name="T28" fmla="*/ 0 w 4"/>
              <a:gd name="T29" fmla="*/ 2147483646 h 729"/>
              <a:gd name="T30" fmla="*/ 0 w 4"/>
              <a:gd name="T31" fmla="*/ 2147483646 h 729"/>
              <a:gd name="T32" fmla="*/ 729446613 w 4"/>
              <a:gd name="T33" fmla="*/ 2147483646 h 729"/>
              <a:gd name="T34" fmla="*/ 0 w 4"/>
              <a:gd name="T35" fmla="*/ 2147483646 h 729"/>
              <a:gd name="T36" fmla="*/ 484306175 w 4"/>
              <a:gd name="T37" fmla="*/ 2147483646 h 729"/>
              <a:gd name="T38" fmla="*/ 484306175 w 4"/>
              <a:gd name="T39" fmla="*/ 2147483646 h 729"/>
              <a:gd name="T40" fmla="*/ 0 w 4"/>
              <a:gd name="T41" fmla="*/ 2147483646 h 729"/>
              <a:gd name="T42" fmla="*/ 920181458 w 4"/>
              <a:gd name="T43" fmla="*/ 2147483646 h 729"/>
              <a:gd name="T44" fmla="*/ 0 w 4"/>
              <a:gd name="T45" fmla="*/ 2147483646 h 729"/>
              <a:gd name="T46" fmla="*/ 0 w 4"/>
              <a:gd name="T47" fmla="*/ 2147483646 h 729"/>
              <a:gd name="T48" fmla="*/ 920181458 w 4"/>
              <a:gd name="T49" fmla="*/ 2147483646 h 729"/>
              <a:gd name="T50" fmla="*/ 0 w 4"/>
              <a:gd name="T51" fmla="*/ 2147483646 h 729"/>
              <a:gd name="T52" fmla="*/ 729446613 w 4"/>
              <a:gd name="T53" fmla="*/ 1987132999 h 729"/>
              <a:gd name="T54" fmla="*/ 484306175 w 4"/>
              <a:gd name="T55" fmla="*/ 2007179912 h 729"/>
              <a:gd name="T56" fmla="*/ 0 w 4"/>
              <a:gd name="T57" fmla="*/ 1831243440 h 729"/>
              <a:gd name="T58" fmla="*/ 729446613 w 4"/>
              <a:gd name="T59" fmla="*/ 1825046398 h 729"/>
              <a:gd name="T60" fmla="*/ 0 w 4"/>
              <a:gd name="T61" fmla="*/ 1840002253 h 729"/>
              <a:gd name="T62" fmla="*/ 0 w 4"/>
              <a:gd name="T63" fmla="*/ 1659712197 h 729"/>
              <a:gd name="T64" fmla="*/ 729446613 w 4"/>
              <a:gd name="T65" fmla="*/ 1673776350 h 729"/>
              <a:gd name="T66" fmla="*/ 0 w 4"/>
              <a:gd name="T67" fmla="*/ 1669314114 h 729"/>
              <a:gd name="T68" fmla="*/ 484306175 w 4"/>
              <a:gd name="T69" fmla="*/ 1493295914 h 729"/>
              <a:gd name="T70" fmla="*/ 484306175 w 4"/>
              <a:gd name="T71" fmla="*/ 1513874575 h 729"/>
              <a:gd name="T72" fmla="*/ 0 w 4"/>
              <a:gd name="T73" fmla="*/ 1338027933 h 729"/>
              <a:gd name="T74" fmla="*/ 920181458 w 4"/>
              <a:gd name="T75" fmla="*/ 1338027933 h 729"/>
              <a:gd name="T76" fmla="*/ 0 w 4"/>
              <a:gd name="T77" fmla="*/ 1338027933 h 729"/>
              <a:gd name="T78" fmla="*/ 729446613 w 4"/>
              <a:gd name="T79" fmla="*/ 1162094234 h 729"/>
              <a:gd name="T80" fmla="*/ 484306175 w 4"/>
              <a:gd name="T81" fmla="*/ 1182111779 h 729"/>
              <a:gd name="T82" fmla="*/ 0 w 4"/>
              <a:gd name="T83" fmla="*/ 1000676487 h 729"/>
              <a:gd name="T84" fmla="*/ 920181458 w 4"/>
              <a:gd name="T85" fmla="*/ 1000676487 h 729"/>
              <a:gd name="T86" fmla="*/ 0 w 4"/>
              <a:gd name="T87" fmla="*/ 1000676487 h 729"/>
              <a:gd name="T88" fmla="*/ 729446613 w 4"/>
              <a:gd name="T89" fmla="*/ 833891862 h 729"/>
              <a:gd name="T90" fmla="*/ 484306175 w 4"/>
              <a:gd name="T91" fmla="*/ 844221027 h 729"/>
              <a:gd name="T92" fmla="*/ 0 w 4"/>
              <a:gd name="T93" fmla="*/ 668358775 h 729"/>
              <a:gd name="T94" fmla="*/ 729446613 w 4"/>
              <a:gd name="T95" fmla="*/ 663011955 h 729"/>
              <a:gd name="T96" fmla="*/ 0 w 4"/>
              <a:gd name="T97" fmla="*/ 677946726 h 729"/>
              <a:gd name="T98" fmla="*/ 0 w 4"/>
              <a:gd name="T99" fmla="*/ 504166110 h 729"/>
              <a:gd name="T100" fmla="*/ 729446613 w 4"/>
              <a:gd name="T101" fmla="*/ 513711569 h 729"/>
              <a:gd name="T102" fmla="*/ 0 w 4"/>
              <a:gd name="T103" fmla="*/ 508743450 h 729"/>
              <a:gd name="T104" fmla="*/ 484306175 w 4"/>
              <a:gd name="T105" fmla="*/ 332782693 h 729"/>
              <a:gd name="T106" fmla="*/ 484306175 w 4"/>
              <a:gd name="T107" fmla="*/ 351660434 h 729"/>
              <a:gd name="T108" fmla="*/ 0 w 4"/>
              <a:gd name="T109" fmla="*/ 175807449 h 729"/>
              <a:gd name="T110" fmla="*/ 920181458 w 4"/>
              <a:gd name="T111" fmla="*/ 175807449 h 729"/>
              <a:gd name="T112" fmla="*/ 0 w 4"/>
              <a:gd name="T113" fmla="*/ 180424550 h 729"/>
              <a:gd name="T114" fmla="*/ 0 w 4"/>
              <a:gd name="T115" fmla="*/ 4461254 h 729"/>
              <a:gd name="T116" fmla="*/ 920181458 w 4"/>
              <a:gd name="T117" fmla="*/ 9301929 h 729"/>
              <a:gd name="T118" fmla="*/ 0 w 4"/>
              <a:gd name="T119" fmla="*/ 9301929 h 729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4"/>
              <a:gd name="T181" fmla="*/ 0 h 729"/>
              <a:gd name="T182" fmla="*/ 4 w 4"/>
              <a:gd name="T183" fmla="*/ 729 h 729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4" h="729">
                <a:moveTo>
                  <a:pt x="0" y="726"/>
                </a:moveTo>
                <a:lnTo>
                  <a:pt x="0" y="726"/>
                </a:lnTo>
                <a:lnTo>
                  <a:pt x="0" y="725"/>
                </a:lnTo>
                <a:lnTo>
                  <a:pt x="2" y="725"/>
                </a:lnTo>
                <a:lnTo>
                  <a:pt x="3" y="725"/>
                </a:lnTo>
                <a:lnTo>
                  <a:pt x="4" y="726"/>
                </a:lnTo>
                <a:lnTo>
                  <a:pt x="3" y="727"/>
                </a:lnTo>
                <a:lnTo>
                  <a:pt x="2" y="729"/>
                </a:lnTo>
                <a:lnTo>
                  <a:pt x="0" y="727"/>
                </a:lnTo>
                <a:lnTo>
                  <a:pt x="0" y="726"/>
                </a:lnTo>
                <a:close/>
                <a:moveTo>
                  <a:pt x="0" y="694"/>
                </a:moveTo>
                <a:lnTo>
                  <a:pt x="0" y="694"/>
                </a:lnTo>
                <a:lnTo>
                  <a:pt x="0" y="692"/>
                </a:lnTo>
                <a:lnTo>
                  <a:pt x="2" y="692"/>
                </a:lnTo>
                <a:lnTo>
                  <a:pt x="3" y="692"/>
                </a:lnTo>
                <a:lnTo>
                  <a:pt x="4" y="694"/>
                </a:lnTo>
                <a:lnTo>
                  <a:pt x="3" y="695"/>
                </a:lnTo>
                <a:lnTo>
                  <a:pt x="2" y="695"/>
                </a:lnTo>
                <a:lnTo>
                  <a:pt x="0" y="695"/>
                </a:lnTo>
                <a:lnTo>
                  <a:pt x="0" y="694"/>
                </a:lnTo>
                <a:close/>
                <a:moveTo>
                  <a:pt x="0" y="661"/>
                </a:moveTo>
                <a:lnTo>
                  <a:pt x="0" y="661"/>
                </a:lnTo>
                <a:lnTo>
                  <a:pt x="0" y="660"/>
                </a:lnTo>
                <a:lnTo>
                  <a:pt x="0" y="659"/>
                </a:lnTo>
                <a:lnTo>
                  <a:pt x="2" y="659"/>
                </a:lnTo>
                <a:lnTo>
                  <a:pt x="3" y="659"/>
                </a:lnTo>
                <a:lnTo>
                  <a:pt x="4" y="661"/>
                </a:lnTo>
                <a:lnTo>
                  <a:pt x="3" y="661"/>
                </a:lnTo>
                <a:lnTo>
                  <a:pt x="2" y="663"/>
                </a:lnTo>
                <a:lnTo>
                  <a:pt x="0" y="661"/>
                </a:lnTo>
                <a:close/>
                <a:moveTo>
                  <a:pt x="0" y="627"/>
                </a:moveTo>
                <a:lnTo>
                  <a:pt x="0" y="627"/>
                </a:lnTo>
                <a:lnTo>
                  <a:pt x="0" y="626"/>
                </a:lnTo>
                <a:lnTo>
                  <a:pt x="2" y="626"/>
                </a:lnTo>
                <a:lnTo>
                  <a:pt x="3" y="626"/>
                </a:lnTo>
                <a:lnTo>
                  <a:pt x="4" y="627"/>
                </a:lnTo>
                <a:lnTo>
                  <a:pt x="3" y="629"/>
                </a:lnTo>
                <a:lnTo>
                  <a:pt x="2" y="629"/>
                </a:lnTo>
                <a:lnTo>
                  <a:pt x="0" y="629"/>
                </a:lnTo>
                <a:lnTo>
                  <a:pt x="0" y="627"/>
                </a:lnTo>
                <a:close/>
                <a:moveTo>
                  <a:pt x="0" y="595"/>
                </a:moveTo>
                <a:lnTo>
                  <a:pt x="0" y="595"/>
                </a:lnTo>
                <a:lnTo>
                  <a:pt x="0" y="594"/>
                </a:lnTo>
                <a:lnTo>
                  <a:pt x="2" y="592"/>
                </a:lnTo>
                <a:lnTo>
                  <a:pt x="3" y="594"/>
                </a:lnTo>
                <a:lnTo>
                  <a:pt x="4" y="595"/>
                </a:lnTo>
                <a:lnTo>
                  <a:pt x="3" y="596"/>
                </a:lnTo>
                <a:lnTo>
                  <a:pt x="2" y="596"/>
                </a:lnTo>
                <a:lnTo>
                  <a:pt x="0" y="596"/>
                </a:lnTo>
                <a:lnTo>
                  <a:pt x="0" y="595"/>
                </a:lnTo>
                <a:close/>
                <a:moveTo>
                  <a:pt x="0" y="561"/>
                </a:moveTo>
                <a:lnTo>
                  <a:pt x="0" y="561"/>
                </a:lnTo>
                <a:lnTo>
                  <a:pt x="0" y="560"/>
                </a:lnTo>
                <a:lnTo>
                  <a:pt x="2" y="560"/>
                </a:lnTo>
                <a:lnTo>
                  <a:pt x="3" y="560"/>
                </a:lnTo>
                <a:lnTo>
                  <a:pt x="4" y="561"/>
                </a:lnTo>
                <a:lnTo>
                  <a:pt x="3" y="563"/>
                </a:lnTo>
                <a:lnTo>
                  <a:pt x="2" y="564"/>
                </a:lnTo>
                <a:lnTo>
                  <a:pt x="0" y="563"/>
                </a:lnTo>
                <a:lnTo>
                  <a:pt x="0" y="561"/>
                </a:lnTo>
                <a:close/>
                <a:moveTo>
                  <a:pt x="0" y="529"/>
                </a:moveTo>
                <a:lnTo>
                  <a:pt x="0" y="529"/>
                </a:lnTo>
                <a:lnTo>
                  <a:pt x="0" y="528"/>
                </a:lnTo>
                <a:lnTo>
                  <a:pt x="2" y="528"/>
                </a:lnTo>
                <a:lnTo>
                  <a:pt x="3" y="528"/>
                </a:lnTo>
                <a:lnTo>
                  <a:pt x="4" y="529"/>
                </a:lnTo>
                <a:lnTo>
                  <a:pt x="3" y="530"/>
                </a:lnTo>
                <a:lnTo>
                  <a:pt x="2" y="530"/>
                </a:lnTo>
                <a:lnTo>
                  <a:pt x="0" y="530"/>
                </a:lnTo>
                <a:lnTo>
                  <a:pt x="0" y="529"/>
                </a:lnTo>
                <a:close/>
                <a:moveTo>
                  <a:pt x="0" y="497"/>
                </a:moveTo>
                <a:lnTo>
                  <a:pt x="0" y="497"/>
                </a:lnTo>
                <a:lnTo>
                  <a:pt x="0" y="495"/>
                </a:lnTo>
                <a:lnTo>
                  <a:pt x="0" y="494"/>
                </a:lnTo>
                <a:lnTo>
                  <a:pt x="2" y="494"/>
                </a:lnTo>
                <a:lnTo>
                  <a:pt x="3" y="494"/>
                </a:lnTo>
                <a:lnTo>
                  <a:pt x="4" y="497"/>
                </a:lnTo>
                <a:lnTo>
                  <a:pt x="3" y="497"/>
                </a:lnTo>
                <a:lnTo>
                  <a:pt x="2" y="498"/>
                </a:lnTo>
                <a:lnTo>
                  <a:pt x="0" y="497"/>
                </a:lnTo>
                <a:close/>
                <a:moveTo>
                  <a:pt x="0" y="463"/>
                </a:moveTo>
                <a:lnTo>
                  <a:pt x="0" y="463"/>
                </a:lnTo>
                <a:lnTo>
                  <a:pt x="0" y="461"/>
                </a:lnTo>
                <a:lnTo>
                  <a:pt x="2" y="461"/>
                </a:lnTo>
                <a:lnTo>
                  <a:pt x="3" y="461"/>
                </a:lnTo>
                <a:lnTo>
                  <a:pt x="4" y="463"/>
                </a:lnTo>
                <a:lnTo>
                  <a:pt x="3" y="464"/>
                </a:lnTo>
                <a:lnTo>
                  <a:pt x="2" y="465"/>
                </a:lnTo>
                <a:lnTo>
                  <a:pt x="2" y="464"/>
                </a:lnTo>
                <a:lnTo>
                  <a:pt x="0" y="464"/>
                </a:lnTo>
                <a:lnTo>
                  <a:pt x="0" y="463"/>
                </a:lnTo>
                <a:close/>
                <a:moveTo>
                  <a:pt x="0" y="430"/>
                </a:moveTo>
                <a:lnTo>
                  <a:pt x="0" y="430"/>
                </a:lnTo>
                <a:lnTo>
                  <a:pt x="0" y="429"/>
                </a:lnTo>
                <a:lnTo>
                  <a:pt x="2" y="428"/>
                </a:lnTo>
                <a:lnTo>
                  <a:pt x="3" y="428"/>
                </a:lnTo>
                <a:lnTo>
                  <a:pt x="3" y="429"/>
                </a:lnTo>
                <a:lnTo>
                  <a:pt x="4" y="430"/>
                </a:lnTo>
                <a:lnTo>
                  <a:pt x="3" y="432"/>
                </a:lnTo>
                <a:lnTo>
                  <a:pt x="2" y="432"/>
                </a:lnTo>
                <a:lnTo>
                  <a:pt x="0" y="432"/>
                </a:lnTo>
                <a:lnTo>
                  <a:pt x="0" y="430"/>
                </a:lnTo>
                <a:close/>
                <a:moveTo>
                  <a:pt x="0" y="397"/>
                </a:moveTo>
                <a:lnTo>
                  <a:pt x="0" y="397"/>
                </a:lnTo>
                <a:lnTo>
                  <a:pt x="0" y="395"/>
                </a:lnTo>
                <a:lnTo>
                  <a:pt x="2" y="395"/>
                </a:lnTo>
                <a:lnTo>
                  <a:pt x="3" y="395"/>
                </a:lnTo>
                <a:lnTo>
                  <a:pt x="4" y="397"/>
                </a:lnTo>
                <a:lnTo>
                  <a:pt x="3" y="398"/>
                </a:lnTo>
                <a:lnTo>
                  <a:pt x="3" y="399"/>
                </a:lnTo>
                <a:lnTo>
                  <a:pt x="2" y="399"/>
                </a:lnTo>
                <a:lnTo>
                  <a:pt x="0" y="398"/>
                </a:lnTo>
                <a:lnTo>
                  <a:pt x="0" y="397"/>
                </a:lnTo>
                <a:close/>
                <a:moveTo>
                  <a:pt x="0" y="364"/>
                </a:moveTo>
                <a:lnTo>
                  <a:pt x="0" y="364"/>
                </a:lnTo>
                <a:lnTo>
                  <a:pt x="0" y="363"/>
                </a:lnTo>
                <a:lnTo>
                  <a:pt x="2" y="363"/>
                </a:lnTo>
                <a:lnTo>
                  <a:pt x="3" y="363"/>
                </a:lnTo>
                <a:lnTo>
                  <a:pt x="4" y="364"/>
                </a:lnTo>
                <a:lnTo>
                  <a:pt x="3" y="366"/>
                </a:lnTo>
                <a:lnTo>
                  <a:pt x="2" y="366"/>
                </a:lnTo>
                <a:lnTo>
                  <a:pt x="0" y="366"/>
                </a:lnTo>
                <a:lnTo>
                  <a:pt x="0" y="364"/>
                </a:lnTo>
                <a:close/>
                <a:moveTo>
                  <a:pt x="0" y="332"/>
                </a:moveTo>
                <a:lnTo>
                  <a:pt x="0" y="332"/>
                </a:lnTo>
                <a:lnTo>
                  <a:pt x="0" y="330"/>
                </a:lnTo>
                <a:lnTo>
                  <a:pt x="2" y="329"/>
                </a:lnTo>
                <a:lnTo>
                  <a:pt x="3" y="330"/>
                </a:lnTo>
                <a:lnTo>
                  <a:pt x="4" y="332"/>
                </a:lnTo>
                <a:lnTo>
                  <a:pt x="3" y="333"/>
                </a:lnTo>
                <a:lnTo>
                  <a:pt x="2" y="333"/>
                </a:lnTo>
                <a:lnTo>
                  <a:pt x="0" y="333"/>
                </a:lnTo>
                <a:lnTo>
                  <a:pt x="0" y="332"/>
                </a:lnTo>
                <a:close/>
                <a:moveTo>
                  <a:pt x="0" y="298"/>
                </a:moveTo>
                <a:lnTo>
                  <a:pt x="0" y="298"/>
                </a:lnTo>
                <a:lnTo>
                  <a:pt x="0" y="297"/>
                </a:lnTo>
                <a:lnTo>
                  <a:pt x="2" y="297"/>
                </a:lnTo>
                <a:lnTo>
                  <a:pt x="3" y="297"/>
                </a:lnTo>
                <a:lnTo>
                  <a:pt x="4" y="298"/>
                </a:lnTo>
                <a:lnTo>
                  <a:pt x="3" y="299"/>
                </a:lnTo>
                <a:lnTo>
                  <a:pt x="2" y="301"/>
                </a:lnTo>
                <a:lnTo>
                  <a:pt x="0" y="299"/>
                </a:lnTo>
                <a:lnTo>
                  <a:pt x="0" y="298"/>
                </a:lnTo>
                <a:close/>
                <a:moveTo>
                  <a:pt x="0" y="266"/>
                </a:moveTo>
                <a:lnTo>
                  <a:pt x="0" y="266"/>
                </a:lnTo>
                <a:lnTo>
                  <a:pt x="0" y="264"/>
                </a:lnTo>
                <a:lnTo>
                  <a:pt x="2" y="264"/>
                </a:lnTo>
                <a:lnTo>
                  <a:pt x="3" y="264"/>
                </a:lnTo>
                <a:lnTo>
                  <a:pt x="4" y="266"/>
                </a:lnTo>
                <a:lnTo>
                  <a:pt x="3" y="267"/>
                </a:lnTo>
                <a:lnTo>
                  <a:pt x="2" y="267"/>
                </a:lnTo>
                <a:lnTo>
                  <a:pt x="0" y="267"/>
                </a:lnTo>
                <a:lnTo>
                  <a:pt x="0" y="266"/>
                </a:lnTo>
                <a:close/>
                <a:moveTo>
                  <a:pt x="0" y="232"/>
                </a:moveTo>
                <a:lnTo>
                  <a:pt x="0" y="232"/>
                </a:lnTo>
                <a:lnTo>
                  <a:pt x="0" y="231"/>
                </a:lnTo>
                <a:lnTo>
                  <a:pt x="2" y="231"/>
                </a:lnTo>
                <a:lnTo>
                  <a:pt x="3" y="231"/>
                </a:lnTo>
                <a:lnTo>
                  <a:pt x="4" y="232"/>
                </a:lnTo>
                <a:lnTo>
                  <a:pt x="3" y="233"/>
                </a:lnTo>
                <a:lnTo>
                  <a:pt x="3" y="235"/>
                </a:lnTo>
                <a:lnTo>
                  <a:pt x="2" y="235"/>
                </a:lnTo>
                <a:lnTo>
                  <a:pt x="0" y="233"/>
                </a:lnTo>
                <a:lnTo>
                  <a:pt x="0" y="232"/>
                </a:lnTo>
                <a:close/>
                <a:moveTo>
                  <a:pt x="0" y="199"/>
                </a:moveTo>
                <a:lnTo>
                  <a:pt x="0" y="199"/>
                </a:lnTo>
                <a:lnTo>
                  <a:pt x="0" y="198"/>
                </a:lnTo>
                <a:lnTo>
                  <a:pt x="2" y="198"/>
                </a:lnTo>
                <a:lnTo>
                  <a:pt x="3" y="198"/>
                </a:lnTo>
                <a:lnTo>
                  <a:pt x="4" y="199"/>
                </a:lnTo>
                <a:lnTo>
                  <a:pt x="3" y="201"/>
                </a:lnTo>
                <a:lnTo>
                  <a:pt x="2" y="201"/>
                </a:lnTo>
                <a:lnTo>
                  <a:pt x="0" y="201"/>
                </a:lnTo>
                <a:lnTo>
                  <a:pt x="0" y="199"/>
                </a:lnTo>
                <a:close/>
                <a:moveTo>
                  <a:pt x="0" y="167"/>
                </a:moveTo>
                <a:lnTo>
                  <a:pt x="0" y="167"/>
                </a:lnTo>
                <a:lnTo>
                  <a:pt x="0" y="166"/>
                </a:lnTo>
                <a:lnTo>
                  <a:pt x="2" y="164"/>
                </a:lnTo>
                <a:lnTo>
                  <a:pt x="3" y="166"/>
                </a:lnTo>
                <a:lnTo>
                  <a:pt x="4" y="167"/>
                </a:lnTo>
                <a:lnTo>
                  <a:pt x="3" y="168"/>
                </a:lnTo>
                <a:lnTo>
                  <a:pt x="2" y="168"/>
                </a:lnTo>
                <a:lnTo>
                  <a:pt x="0" y="168"/>
                </a:lnTo>
                <a:lnTo>
                  <a:pt x="0" y="167"/>
                </a:lnTo>
                <a:close/>
                <a:moveTo>
                  <a:pt x="0" y="133"/>
                </a:moveTo>
                <a:lnTo>
                  <a:pt x="0" y="133"/>
                </a:lnTo>
                <a:lnTo>
                  <a:pt x="0" y="132"/>
                </a:lnTo>
                <a:lnTo>
                  <a:pt x="2" y="132"/>
                </a:lnTo>
                <a:lnTo>
                  <a:pt x="3" y="132"/>
                </a:lnTo>
                <a:lnTo>
                  <a:pt x="4" y="133"/>
                </a:lnTo>
                <a:lnTo>
                  <a:pt x="3" y="135"/>
                </a:lnTo>
                <a:lnTo>
                  <a:pt x="2" y="136"/>
                </a:lnTo>
                <a:lnTo>
                  <a:pt x="0" y="135"/>
                </a:lnTo>
                <a:lnTo>
                  <a:pt x="0" y="133"/>
                </a:lnTo>
                <a:close/>
                <a:moveTo>
                  <a:pt x="0" y="101"/>
                </a:moveTo>
                <a:lnTo>
                  <a:pt x="0" y="101"/>
                </a:lnTo>
                <a:lnTo>
                  <a:pt x="0" y="100"/>
                </a:lnTo>
                <a:lnTo>
                  <a:pt x="2" y="100"/>
                </a:lnTo>
                <a:lnTo>
                  <a:pt x="3" y="100"/>
                </a:lnTo>
                <a:lnTo>
                  <a:pt x="4" y="101"/>
                </a:lnTo>
                <a:lnTo>
                  <a:pt x="3" y="102"/>
                </a:lnTo>
                <a:lnTo>
                  <a:pt x="2" y="102"/>
                </a:lnTo>
                <a:lnTo>
                  <a:pt x="0" y="102"/>
                </a:lnTo>
                <a:lnTo>
                  <a:pt x="0" y="101"/>
                </a:lnTo>
                <a:close/>
                <a:moveTo>
                  <a:pt x="0" y="69"/>
                </a:moveTo>
                <a:lnTo>
                  <a:pt x="0" y="69"/>
                </a:lnTo>
                <a:lnTo>
                  <a:pt x="0" y="67"/>
                </a:lnTo>
                <a:lnTo>
                  <a:pt x="0" y="66"/>
                </a:lnTo>
                <a:lnTo>
                  <a:pt x="2" y="66"/>
                </a:lnTo>
                <a:lnTo>
                  <a:pt x="3" y="66"/>
                </a:lnTo>
                <a:lnTo>
                  <a:pt x="4" y="69"/>
                </a:lnTo>
                <a:lnTo>
                  <a:pt x="3" y="69"/>
                </a:lnTo>
                <a:lnTo>
                  <a:pt x="2" y="70"/>
                </a:lnTo>
                <a:lnTo>
                  <a:pt x="0" y="69"/>
                </a:lnTo>
                <a:close/>
                <a:moveTo>
                  <a:pt x="0" y="35"/>
                </a:moveTo>
                <a:lnTo>
                  <a:pt x="0" y="35"/>
                </a:lnTo>
                <a:lnTo>
                  <a:pt x="0" y="33"/>
                </a:lnTo>
                <a:lnTo>
                  <a:pt x="2" y="33"/>
                </a:lnTo>
                <a:lnTo>
                  <a:pt x="3" y="33"/>
                </a:lnTo>
                <a:lnTo>
                  <a:pt x="4" y="35"/>
                </a:lnTo>
                <a:lnTo>
                  <a:pt x="3" y="36"/>
                </a:lnTo>
                <a:lnTo>
                  <a:pt x="2" y="37"/>
                </a:lnTo>
                <a:lnTo>
                  <a:pt x="2" y="36"/>
                </a:lnTo>
                <a:lnTo>
                  <a:pt x="0" y="36"/>
                </a:lnTo>
                <a:lnTo>
                  <a:pt x="0" y="35"/>
                </a:lnTo>
                <a:close/>
                <a:moveTo>
                  <a:pt x="0" y="2"/>
                </a:move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2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42" name="未知">
            <a:extLst>
              <a:ext uri="{FF2B5EF4-FFF2-40B4-BE49-F238E27FC236}">
                <a16:creationId xmlns:a16="http://schemas.microsoft.com/office/drawing/2014/main" id="{513B1D60-8962-4573-98A6-4F6FCDA6CE19}"/>
              </a:ext>
            </a:extLst>
          </p:cNvPr>
          <p:cNvSpPr>
            <a:spLocks/>
          </p:cNvSpPr>
          <p:nvPr/>
        </p:nvSpPr>
        <p:spPr bwMode="auto">
          <a:xfrm>
            <a:off x="6647353" y="4612680"/>
            <a:ext cx="109854" cy="167045"/>
          </a:xfrm>
          <a:custGeom>
            <a:avLst/>
            <a:gdLst>
              <a:gd name="T0" fmla="*/ 0 w 84"/>
              <a:gd name="T1" fmla="*/ 553941714 h 127"/>
              <a:gd name="T2" fmla="*/ 162290326 w 84"/>
              <a:gd name="T3" fmla="*/ 0 h 127"/>
              <a:gd name="T4" fmla="*/ 325842559 w 84"/>
              <a:gd name="T5" fmla="*/ 553941714 h 127"/>
              <a:gd name="T6" fmla="*/ 0 w 84"/>
              <a:gd name="T7" fmla="*/ 553941714 h 127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127"/>
              <a:gd name="T14" fmla="*/ 84 w 84"/>
              <a:gd name="T15" fmla="*/ 127 h 1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127">
                <a:moveTo>
                  <a:pt x="0" y="127"/>
                </a:moveTo>
                <a:lnTo>
                  <a:pt x="42" y="0"/>
                </a:lnTo>
                <a:lnTo>
                  <a:pt x="84" y="127"/>
                </a:lnTo>
                <a:lnTo>
                  <a:pt x="0" y="12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43" name="Rectangle 97">
            <a:extLst>
              <a:ext uri="{FF2B5EF4-FFF2-40B4-BE49-F238E27FC236}">
                <a16:creationId xmlns:a16="http://schemas.microsoft.com/office/drawing/2014/main" id="{DEED6026-10D6-E443-5251-1B978466A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603" y="4838158"/>
            <a:ext cx="126999" cy="152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>
                <a:solidFill>
                  <a:srgbClr val="0000FF"/>
                </a:solidFill>
                <a:latin typeface="宋体" pitchFamily="2" charset="-122"/>
              </a:rPr>
              <a:t>15</a:t>
            </a:r>
            <a:endParaRPr lang="zh-CN" altLang="en-US" sz="1000" b="1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2344" name="Rectangle 98">
            <a:extLst>
              <a:ext uri="{FF2B5EF4-FFF2-40B4-BE49-F238E27FC236}">
                <a16:creationId xmlns:a16="http://schemas.microsoft.com/office/drawing/2014/main" id="{4DF3B433-94C3-9B4D-69BC-BDE2D2C1F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709" y="6443820"/>
            <a:ext cx="2325989" cy="276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i="0" dirty="0">
                <a:solidFill>
                  <a:srgbClr val="080808"/>
                </a:solidFill>
                <a:latin typeface="宋体" pitchFamily="2" charset="-122"/>
              </a:rPr>
              <a:t>（</a:t>
            </a:r>
            <a:r>
              <a:rPr lang="en-US" altLang="zh-CN" sz="1800" b="1" i="0" dirty="0">
                <a:solidFill>
                  <a:srgbClr val="080808"/>
                </a:solidFill>
                <a:latin typeface="宋体" pitchFamily="2" charset="-122"/>
              </a:rPr>
              <a:t>2</a:t>
            </a:r>
            <a:r>
              <a:rPr lang="zh-CN" altLang="en-US" sz="1800" b="1" i="0" dirty="0">
                <a:solidFill>
                  <a:srgbClr val="080808"/>
                </a:solidFill>
                <a:latin typeface="宋体" pitchFamily="2" charset="-122"/>
              </a:rPr>
              <a:t>）选</a:t>
            </a:r>
            <a:r>
              <a:rPr lang="en-US" altLang="zh-CN" sz="1800" b="1" i="0" dirty="0">
                <a:solidFill>
                  <a:srgbClr val="080808"/>
                </a:solidFill>
                <a:latin typeface="宋体" pitchFamily="2" charset="-122"/>
              </a:rPr>
              <a:t>F</a:t>
            </a:r>
            <a:r>
              <a:rPr lang="zh-CN" altLang="en-US" sz="1800" b="1" i="0" dirty="0">
                <a:solidFill>
                  <a:srgbClr val="080808"/>
                </a:solidFill>
                <a:latin typeface="宋体" pitchFamily="2" charset="-122"/>
              </a:rPr>
              <a:t>点，更新路径</a:t>
            </a:r>
            <a:endParaRPr lang="en-US" altLang="zh-CN" sz="1800" b="1" i="0" dirty="0">
              <a:solidFill>
                <a:srgbClr val="080808"/>
              </a:solidFill>
              <a:latin typeface="宋体" pitchFamily="2" charset="-122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DF6295-A473-BEC2-F09E-811580C5A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5604" y="6056251"/>
            <a:ext cx="714375" cy="30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>
                <a:solidFill>
                  <a:srgbClr val="FF0000"/>
                </a:solidFill>
              </a:rPr>
              <a:t>5,A</a:t>
            </a:r>
            <a:endParaRPr lang="zh-CN" altLang="en-US" sz="1400" i="0" dirty="0">
              <a:solidFill>
                <a:srgbClr val="FF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DFC2A7-7655-D6E9-ED13-3C4F9E8E4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854" y="6056251"/>
            <a:ext cx="714375" cy="30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>
                <a:solidFill>
                  <a:srgbClr val="FF0000"/>
                </a:solidFill>
              </a:rPr>
              <a:t>12,C</a:t>
            </a:r>
            <a:endParaRPr lang="zh-CN" altLang="en-US" sz="1400" i="0" dirty="0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20FD9B-80DD-D95D-0784-9B4E04AAD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5483" y="4732466"/>
            <a:ext cx="714375" cy="30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dirty="0"/>
              <a:t>22,F</a:t>
            </a:r>
            <a:endParaRPr lang="zh-CN" altLang="en-US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12D9DC-0D23-9F7F-BD38-8ECFAF01C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2792" y="4148996"/>
            <a:ext cx="7143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/>
              <a:t>20,C</a:t>
            </a:r>
            <a:endParaRPr lang="zh-CN" altLang="en-US" sz="1400" i="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3198DB-FF8C-40E0-58EF-BE27E81F5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979" y="4148996"/>
            <a:ext cx="714375" cy="30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/>
              <a:t>30,F</a:t>
            </a:r>
            <a:endParaRPr lang="zh-CN" altLang="en-US" sz="1400" i="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AEDA4E-6443-7B5F-1468-E4E127F37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1417" y="4720636"/>
            <a:ext cx="714375" cy="30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>
                <a:solidFill>
                  <a:srgbClr val="FF0000"/>
                </a:solidFill>
              </a:rPr>
              <a:t>0</a:t>
            </a:r>
            <a:endParaRPr lang="zh-CN" altLang="en-US" sz="1400" i="0" dirty="0">
              <a:solidFill>
                <a:srgbClr val="FF0000"/>
              </a:solidFill>
            </a:endParaRPr>
          </a:p>
        </p:txBody>
      </p:sp>
      <p:sp>
        <p:nvSpPr>
          <p:cNvPr id="12346" name="椭圆 12345">
            <a:extLst>
              <a:ext uri="{FF2B5EF4-FFF2-40B4-BE49-F238E27FC236}">
                <a16:creationId xmlns:a16="http://schemas.microsoft.com/office/drawing/2014/main" id="{D0C6A854-3247-569C-44B9-0E01933BFFA0}"/>
              </a:ext>
            </a:extLst>
          </p:cNvPr>
          <p:cNvSpPr/>
          <p:nvPr/>
        </p:nvSpPr>
        <p:spPr bwMode="auto">
          <a:xfrm>
            <a:off x="6510176" y="3202036"/>
            <a:ext cx="330671" cy="4007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347" name="椭圆 12346">
            <a:extLst>
              <a:ext uri="{FF2B5EF4-FFF2-40B4-BE49-F238E27FC236}">
                <a16:creationId xmlns:a16="http://schemas.microsoft.com/office/drawing/2014/main" id="{DE7FC633-E11C-F599-2FA1-DEB8401C4548}"/>
              </a:ext>
            </a:extLst>
          </p:cNvPr>
          <p:cNvSpPr/>
          <p:nvPr/>
        </p:nvSpPr>
        <p:spPr bwMode="auto">
          <a:xfrm>
            <a:off x="5443538" y="2519575"/>
            <a:ext cx="363878" cy="342666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350" name="椭圆 12349">
            <a:extLst>
              <a:ext uri="{FF2B5EF4-FFF2-40B4-BE49-F238E27FC236}">
                <a16:creationId xmlns:a16="http://schemas.microsoft.com/office/drawing/2014/main" id="{6C23B9E6-C901-57A9-62EC-1C2063A97383}"/>
              </a:ext>
            </a:extLst>
          </p:cNvPr>
          <p:cNvSpPr/>
          <p:nvPr/>
        </p:nvSpPr>
        <p:spPr bwMode="auto">
          <a:xfrm>
            <a:off x="2951215" y="4057548"/>
            <a:ext cx="330671" cy="4007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351" name="椭圆 12350">
            <a:extLst>
              <a:ext uri="{FF2B5EF4-FFF2-40B4-BE49-F238E27FC236}">
                <a16:creationId xmlns:a16="http://schemas.microsoft.com/office/drawing/2014/main" id="{E79CB812-DF0F-6F13-DD7A-2BB686CEA90A}"/>
              </a:ext>
            </a:extLst>
          </p:cNvPr>
          <p:cNvSpPr/>
          <p:nvPr/>
        </p:nvSpPr>
        <p:spPr bwMode="auto">
          <a:xfrm>
            <a:off x="1674665" y="4668004"/>
            <a:ext cx="330671" cy="4007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352" name="椭圆 12351">
            <a:extLst>
              <a:ext uri="{FF2B5EF4-FFF2-40B4-BE49-F238E27FC236}">
                <a16:creationId xmlns:a16="http://schemas.microsoft.com/office/drawing/2014/main" id="{7B7EADE0-7950-B0C9-7EBD-CA50EF42DF9A}"/>
              </a:ext>
            </a:extLst>
          </p:cNvPr>
          <p:cNvSpPr/>
          <p:nvPr/>
        </p:nvSpPr>
        <p:spPr bwMode="auto">
          <a:xfrm>
            <a:off x="1188281" y="6010428"/>
            <a:ext cx="330671" cy="4007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353" name="椭圆 12352">
            <a:extLst>
              <a:ext uri="{FF2B5EF4-FFF2-40B4-BE49-F238E27FC236}">
                <a16:creationId xmlns:a16="http://schemas.microsoft.com/office/drawing/2014/main" id="{0C9BF829-A871-92BE-37B9-6A534E637EAC}"/>
              </a:ext>
            </a:extLst>
          </p:cNvPr>
          <p:cNvSpPr/>
          <p:nvPr/>
        </p:nvSpPr>
        <p:spPr bwMode="auto">
          <a:xfrm>
            <a:off x="996274" y="4121660"/>
            <a:ext cx="330671" cy="4007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354" name="椭圆 12353">
            <a:extLst>
              <a:ext uri="{FF2B5EF4-FFF2-40B4-BE49-F238E27FC236}">
                <a16:creationId xmlns:a16="http://schemas.microsoft.com/office/drawing/2014/main" id="{EE5E13C5-B9E7-43BB-D5F7-EC82152F090C}"/>
              </a:ext>
            </a:extLst>
          </p:cNvPr>
          <p:cNvSpPr/>
          <p:nvPr/>
        </p:nvSpPr>
        <p:spPr bwMode="auto">
          <a:xfrm>
            <a:off x="6739178" y="1303140"/>
            <a:ext cx="330671" cy="4007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355" name="椭圆 12354">
            <a:extLst>
              <a:ext uri="{FF2B5EF4-FFF2-40B4-BE49-F238E27FC236}">
                <a16:creationId xmlns:a16="http://schemas.microsoft.com/office/drawing/2014/main" id="{50356EF2-D11C-56C0-A71E-E248E31CF87D}"/>
              </a:ext>
            </a:extLst>
          </p:cNvPr>
          <p:cNvSpPr/>
          <p:nvPr/>
        </p:nvSpPr>
        <p:spPr bwMode="auto">
          <a:xfrm>
            <a:off x="5311837" y="1314065"/>
            <a:ext cx="330671" cy="4007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356" name="椭圆 12355">
            <a:extLst>
              <a:ext uri="{FF2B5EF4-FFF2-40B4-BE49-F238E27FC236}">
                <a16:creationId xmlns:a16="http://schemas.microsoft.com/office/drawing/2014/main" id="{3FAE859F-19FB-615B-9CDE-C6894729409B}"/>
              </a:ext>
            </a:extLst>
          </p:cNvPr>
          <p:cNvSpPr/>
          <p:nvPr/>
        </p:nvSpPr>
        <p:spPr bwMode="auto">
          <a:xfrm>
            <a:off x="4981166" y="3208707"/>
            <a:ext cx="330671" cy="4007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357" name="椭圆 12356">
            <a:extLst>
              <a:ext uri="{FF2B5EF4-FFF2-40B4-BE49-F238E27FC236}">
                <a16:creationId xmlns:a16="http://schemas.microsoft.com/office/drawing/2014/main" id="{345163F5-F5AD-CE0F-3F8B-037073F67929}"/>
              </a:ext>
            </a:extLst>
          </p:cNvPr>
          <p:cNvSpPr/>
          <p:nvPr/>
        </p:nvSpPr>
        <p:spPr bwMode="auto">
          <a:xfrm>
            <a:off x="5625461" y="4643404"/>
            <a:ext cx="330671" cy="4007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358" name="椭圆 12357">
            <a:extLst>
              <a:ext uri="{FF2B5EF4-FFF2-40B4-BE49-F238E27FC236}">
                <a16:creationId xmlns:a16="http://schemas.microsoft.com/office/drawing/2014/main" id="{88E6E37B-C8A7-98DA-8D34-70EF7DF505B0}"/>
              </a:ext>
            </a:extLst>
          </p:cNvPr>
          <p:cNvSpPr/>
          <p:nvPr/>
        </p:nvSpPr>
        <p:spPr bwMode="auto">
          <a:xfrm>
            <a:off x="4865516" y="4110621"/>
            <a:ext cx="330671" cy="4007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359" name="椭圆 12358">
            <a:extLst>
              <a:ext uri="{FF2B5EF4-FFF2-40B4-BE49-F238E27FC236}">
                <a16:creationId xmlns:a16="http://schemas.microsoft.com/office/drawing/2014/main" id="{D97F2937-27F9-8114-3A1D-1B1118A5B31C}"/>
              </a:ext>
            </a:extLst>
          </p:cNvPr>
          <p:cNvSpPr/>
          <p:nvPr/>
        </p:nvSpPr>
        <p:spPr bwMode="auto">
          <a:xfrm>
            <a:off x="6737075" y="4061108"/>
            <a:ext cx="330671" cy="4007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 animBg="1"/>
      <p:bldP spid="17" grpId="0" animBg="1"/>
      <p:bldP spid="18" grpId="0"/>
      <p:bldP spid="20" grpId="0" animBg="1"/>
      <p:bldP spid="21" grpId="0"/>
      <p:bldP spid="22" grpId="0" animBg="1"/>
      <p:bldP spid="23" grpId="0" animBg="1"/>
      <p:bldP spid="24" grpId="0"/>
      <p:bldP spid="25" grpId="0" animBg="1"/>
      <p:bldP spid="28" grpId="0" animBg="1"/>
      <p:bldP spid="31" grpId="0" animBg="1"/>
      <p:bldP spid="32" grpId="0" animBg="1"/>
      <p:bldP spid="33" grpId="0" animBg="1"/>
      <p:bldP spid="34" grpId="0" animBg="1"/>
      <p:bldP spid="26" grpId="0" animBg="1"/>
      <p:bldP spid="29" grpId="0" animBg="1"/>
      <p:bldP spid="35" grpId="0" animBg="1"/>
      <p:bldP spid="27" grpId="0"/>
      <p:bldP spid="30" grpId="0"/>
      <p:bldP spid="36" grpId="0" animBg="1"/>
      <p:bldP spid="37" grpId="0"/>
      <p:bldP spid="38" grpId="0"/>
      <p:bldP spid="39" grpId="0"/>
      <p:bldP spid="40" grpId="0" animBg="1"/>
      <p:bldP spid="41" grpId="0" animBg="1"/>
      <p:bldP spid="42" grpId="0"/>
      <p:bldP spid="43" grpId="0"/>
      <p:bldP spid="8" grpId="0"/>
      <p:bldP spid="9" grpId="0"/>
      <p:bldP spid="10" grpId="0"/>
      <p:bldP spid="11" grpId="0"/>
      <p:bldP spid="12" grpId="0"/>
      <p:bldP spid="54" grpId="0" animBg="1"/>
      <p:bldP spid="55" grpId="0"/>
      <p:bldP spid="57" grpId="0" animBg="1"/>
      <p:bldP spid="58" grpId="0"/>
      <p:bldP spid="60" grpId="0" animBg="1"/>
      <p:bldP spid="61" grpId="0"/>
      <p:bldP spid="62" grpId="0" animBg="1"/>
      <p:bldP spid="63" grpId="0" animBg="1"/>
      <p:bldP spid="12288" grpId="0"/>
      <p:bldP spid="12289" grpId="0" animBg="1"/>
      <p:bldP spid="12291" grpId="0" animBg="1"/>
      <p:bldP spid="12294" grpId="0"/>
      <p:bldP spid="12327" grpId="0" animBg="1"/>
      <p:bldP spid="12328" grpId="0"/>
      <p:bldP spid="12329" grpId="0" animBg="1"/>
      <p:bldP spid="12330" grpId="0" animBg="1"/>
      <p:bldP spid="12331" grpId="0" animBg="1"/>
      <p:bldP spid="12332" grpId="0" animBg="1"/>
      <p:bldP spid="12333" grpId="0" animBg="1"/>
      <p:bldP spid="12334" grpId="0" animBg="1"/>
      <p:bldP spid="12335" grpId="0" animBg="1"/>
      <p:bldP spid="12336" grpId="0" animBg="1"/>
      <p:bldP spid="12337" grpId="0"/>
      <p:bldP spid="12338" grpId="0"/>
      <p:bldP spid="12339" grpId="0"/>
      <p:bldP spid="12340" grpId="0"/>
      <p:bldP spid="12341" grpId="0" animBg="1"/>
      <p:bldP spid="12342" grpId="0" animBg="1"/>
      <p:bldP spid="12343" grpId="0"/>
      <p:bldP spid="12344" grpId="0"/>
      <p:bldP spid="48" grpId="0"/>
      <p:bldP spid="49" grpId="0"/>
      <p:bldP spid="50" grpId="0"/>
      <p:bldP spid="51" grpId="0"/>
      <p:bldP spid="52" grpId="0"/>
      <p:bldP spid="47" grpId="0"/>
      <p:bldP spid="12346" grpId="0" animBg="1"/>
      <p:bldP spid="12347" grpId="0" animBg="1"/>
      <p:bldP spid="12350" grpId="0" animBg="1"/>
      <p:bldP spid="12351" grpId="0" animBg="1"/>
      <p:bldP spid="12352" grpId="0" animBg="1"/>
      <p:bldP spid="12353" grpId="0" animBg="1"/>
      <p:bldP spid="12354" grpId="0" animBg="1"/>
      <p:bldP spid="12355" grpId="0" animBg="1"/>
      <p:bldP spid="12356" grpId="0" animBg="1"/>
      <p:bldP spid="12357" grpId="0" animBg="1"/>
      <p:bldP spid="12358" grpId="0" animBg="1"/>
      <p:bldP spid="1235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20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25" y="1227956"/>
            <a:ext cx="279082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77" name="未知"/>
          <p:cNvSpPr>
            <a:spLocks/>
          </p:cNvSpPr>
          <p:nvPr/>
        </p:nvSpPr>
        <p:spPr bwMode="auto">
          <a:xfrm>
            <a:off x="4935566" y="1540457"/>
            <a:ext cx="282573" cy="301535"/>
          </a:xfrm>
          <a:custGeom>
            <a:avLst/>
            <a:gdLst>
              <a:gd name="T0" fmla="*/ 3468480 w 216"/>
              <a:gd name="T1" fmla="*/ 559741153 h 227"/>
              <a:gd name="T2" fmla="*/ 19279409 w 216"/>
              <a:gd name="T3" fmla="*/ 431963359 h 227"/>
              <a:gd name="T4" fmla="*/ 51371873 w 216"/>
              <a:gd name="T5" fmla="*/ 326584817 h 227"/>
              <a:gd name="T6" fmla="*/ 93100459 w 216"/>
              <a:gd name="T7" fmla="*/ 227932445 h 227"/>
              <a:gd name="T8" fmla="*/ 151879687 w 216"/>
              <a:gd name="T9" fmla="*/ 139722493 h 227"/>
              <a:gd name="T10" fmla="*/ 218040878 w 216"/>
              <a:gd name="T11" fmla="*/ 75813534 h 227"/>
              <a:gd name="T12" fmla="*/ 293737899 w 216"/>
              <a:gd name="T13" fmla="*/ 33107939 h 227"/>
              <a:gd name="T14" fmla="*/ 379467856 w 216"/>
              <a:gd name="T15" fmla="*/ 10147193 h 227"/>
              <a:gd name="T16" fmla="*/ 464985030 w 216"/>
              <a:gd name="T17" fmla="*/ 10147193 h 227"/>
              <a:gd name="T18" fmla="*/ 546365163 w 216"/>
              <a:gd name="T19" fmla="*/ 33107939 h 227"/>
              <a:gd name="T20" fmla="*/ 622739560 w 216"/>
              <a:gd name="T21" fmla="*/ 75813534 h 227"/>
              <a:gd name="T22" fmla="*/ 692368182 w 216"/>
              <a:gd name="T23" fmla="*/ 139722493 h 227"/>
              <a:gd name="T24" fmla="*/ 745936538 w 216"/>
              <a:gd name="T25" fmla="*/ 227932445 h 227"/>
              <a:gd name="T26" fmla="*/ 789344504 w 216"/>
              <a:gd name="T27" fmla="*/ 326584817 h 227"/>
              <a:gd name="T28" fmla="*/ 828864612 w 216"/>
              <a:gd name="T29" fmla="*/ 431963359 h 227"/>
              <a:gd name="T30" fmla="*/ 844450245 w 216"/>
              <a:gd name="T31" fmla="*/ 559741153 h 227"/>
              <a:gd name="T32" fmla="*/ 844450245 w 216"/>
              <a:gd name="T33" fmla="*/ 618956149 h 227"/>
              <a:gd name="T34" fmla="*/ 832344154 w 216"/>
              <a:gd name="T35" fmla="*/ 744022768 h 227"/>
              <a:gd name="T36" fmla="*/ 814086300 w 216"/>
              <a:gd name="T37" fmla="*/ 857787430 h 227"/>
              <a:gd name="T38" fmla="*/ 769858614 w 216"/>
              <a:gd name="T39" fmla="*/ 958434412 h 227"/>
              <a:gd name="T40" fmla="*/ 722693214 w 216"/>
              <a:gd name="T41" fmla="*/ 1057112630 h 227"/>
              <a:gd name="T42" fmla="*/ 660207783 w 216"/>
              <a:gd name="T43" fmla="*/ 1126388021 h 227"/>
              <a:gd name="T44" fmla="*/ 586522487 w 216"/>
              <a:gd name="T45" fmla="*/ 1185978067 h 227"/>
              <a:gd name="T46" fmla="*/ 504656372 w 216"/>
              <a:gd name="T47" fmla="*/ 1220474701 h 227"/>
              <a:gd name="T48" fmla="*/ 422873988 w 216"/>
              <a:gd name="T49" fmla="*/ 1230410188 h 227"/>
              <a:gd name="T50" fmla="*/ 336070776 w 216"/>
              <a:gd name="T51" fmla="*/ 1220474701 h 227"/>
              <a:gd name="T52" fmla="*/ 258010951 w 216"/>
              <a:gd name="T53" fmla="*/ 1185978067 h 227"/>
              <a:gd name="T54" fmla="*/ 184191063 w 216"/>
              <a:gd name="T55" fmla="*/ 1126388021 h 227"/>
              <a:gd name="T56" fmla="*/ 125236776 w 216"/>
              <a:gd name="T57" fmla="*/ 1057112630 h 227"/>
              <a:gd name="T58" fmla="*/ 73721376 w 216"/>
              <a:gd name="T59" fmla="*/ 958434412 h 227"/>
              <a:gd name="T60" fmla="*/ 30328991 w 216"/>
              <a:gd name="T61" fmla="*/ 857787430 h 227"/>
              <a:gd name="T62" fmla="*/ 7145711 w 216"/>
              <a:gd name="T63" fmla="*/ 744022768 h 227"/>
              <a:gd name="T64" fmla="*/ 0 w 216"/>
              <a:gd name="T65" fmla="*/ 618956149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4"/>
                </a:moveTo>
                <a:lnTo>
                  <a:pt x="1" y="103"/>
                </a:lnTo>
                <a:lnTo>
                  <a:pt x="2" y="91"/>
                </a:lnTo>
                <a:lnTo>
                  <a:pt x="5" y="80"/>
                </a:lnTo>
                <a:lnTo>
                  <a:pt x="8" y="69"/>
                </a:lnTo>
                <a:lnTo>
                  <a:pt x="13" y="60"/>
                </a:lnTo>
                <a:lnTo>
                  <a:pt x="19" y="50"/>
                </a:lnTo>
                <a:lnTo>
                  <a:pt x="24" y="42"/>
                </a:lnTo>
                <a:lnTo>
                  <a:pt x="32" y="34"/>
                </a:lnTo>
                <a:lnTo>
                  <a:pt x="39" y="26"/>
                </a:lnTo>
                <a:lnTo>
                  <a:pt x="47" y="19"/>
                </a:lnTo>
                <a:lnTo>
                  <a:pt x="56" y="14"/>
                </a:lnTo>
                <a:lnTo>
                  <a:pt x="66" y="10"/>
                </a:lnTo>
                <a:lnTo>
                  <a:pt x="75" y="6"/>
                </a:lnTo>
                <a:lnTo>
                  <a:pt x="86" y="3"/>
                </a:lnTo>
                <a:lnTo>
                  <a:pt x="97" y="2"/>
                </a:lnTo>
                <a:lnTo>
                  <a:pt x="108" y="0"/>
                </a:lnTo>
                <a:lnTo>
                  <a:pt x="119" y="2"/>
                </a:lnTo>
                <a:lnTo>
                  <a:pt x="129" y="3"/>
                </a:lnTo>
                <a:lnTo>
                  <a:pt x="140" y="6"/>
                </a:lnTo>
                <a:lnTo>
                  <a:pt x="150" y="10"/>
                </a:lnTo>
                <a:lnTo>
                  <a:pt x="159" y="14"/>
                </a:lnTo>
                <a:lnTo>
                  <a:pt x="169" y="19"/>
                </a:lnTo>
                <a:lnTo>
                  <a:pt x="177" y="26"/>
                </a:lnTo>
                <a:lnTo>
                  <a:pt x="185" y="34"/>
                </a:lnTo>
                <a:lnTo>
                  <a:pt x="191" y="42"/>
                </a:lnTo>
                <a:lnTo>
                  <a:pt x="197" y="50"/>
                </a:lnTo>
                <a:lnTo>
                  <a:pt x="202" y="60"/>
                </a:lnTo>
                <a:lnTo>
                  <a:pt x="208" y="69"/>
                </a:lnTo>
                <a:lnTo>
                  <a:pt x="212" y="80"/>
                </a:lnTo>
                <a:lnTo>
                  <a:pt x="213" y="91"/>
                </a:lnTo>
                <a:lnTo>
                  <a:pt x="216" y="103"/>
                </a:lnTo>
                <a:lnTo>
                  <a:pt x="216" y="114"/>
                </a:lnTo>
                <a:lnTo>
                  <a:pt x="216" y="126"/>
                </a:lnTo>
                <a:lnTo>
                  <a:pt x="213" y="137"/>
                </a:lnTo>
                <a:lnTo>
                  <a:pt x="212" y="148"/>
                </a:lnTo>
                <a:lnTo>
                  <a:pt x="208" y="158"/>
                </a:lnTo>
                <a:lnTo>
                  <a:pt x="202" y="168"/>
                </a:lnTo>
                <a:lnTo>
                  <a:pt x="197" y="177"/>
                </a:lnTo>
                <a:lnTo>
                  <a:pt x="191" y="187"/>
                </a:lnTo>
                <a:lnTo>
                  <a:pt x="185" y="195"/>
                </a:lnTo>
                <a:lnTo>
                  <a:pt x="177" y="202"/>
                </a:lnTo>
                <a:lnTo>
                  <a:pt x="169" y="208"/>
                </a:lnTo>
                <a:lnTo>
                  <a:pt x="159" y="214"/>
                </a:lnTo>
                <a:lnTo>
                  <a:pt x="150" y="219"/>
                </a:lnTo>
                <a:lnTo>
                  <a:pt x="140" y="222"/>
                </a:lnTo>
                <a:lnTo>
                  <a:pt x="129" y="225"/>
                </a:lnTo>
                <a:lnTo>
                  <a:pt x="119" y="227"/>
                </a:lnTo>
                <a:lnTo>
                  <a:pt x="108" y="227"/>
                </a:lnTo>
                <a:lnTo>
                  <a:pt x="97" y="227"/>
                </a:lnTo>
                <a:lnTo>
                  <a:pt x="86" y="225"/>
                </a:lnTo>
                <a:lnTo>
                  <a:pt x="75" y="222"/>
                </a:lnTo>
                <a:lnTo>
                  <a:pt x="66" y="219"/>
                </a:lnTo>
                <a:lnTo>
                  <a:pt x="56" y="214"/>
                </a:lnTo>
                <a:lnTo>
                  <a:pt x="47" y="208"/>
                </a:lnTo>
                <a:lnTo>
                  <a:pt x="39" y="202"/>
                </a:lnTo>
                <a:lnTo>
                  <a:pt x="32" y="195"/>
                </a:lnTo>
                <a:lnTo>
                  <a:pt x="24" y="187"/>
                </a:lnTo>
                <a:lnTo>
                  <a:pt x="19" y="177"/>
                </a:lnTo>
                <a:lnTo>
                  <a:pt x="13" y="168"/>
                </a:lnTo>
                <a:lnTo>
                  <a:pt x="8" y="158"/>
                </a:lnTo>
                <a:lnTo>
                  <a:pt x="5" y="148"/>
                </a:lnTo>
                <a:lnTo>
                  <a:pt x="2" y="137"/>
                </a:lnTo>
                <a:lnTo>
                  <a:pt x="1" y="126"/>
                </a:lnTo>
                <a:lnTo>
                  <a:pt x="0" y="114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8" name="未知"/>
          <p:cNvSpPr>
            <a:spLocks/>
          </p:cNvSpPr>
          <p:nvPr/>
        </p:nvSpPr>
        <p:spPr bwMode="auto">
          <a:xfrm>
            <a:off x="4935566" y="1540457"/>
            <a:ext cx="282573" cy="301535"/>
          </a:xfrm>
          <a:custGeom>
            <a:avLst/>
            <a:gdLst>
              <a:gd name="T0" fmla="*/ 3468480 w 216"/>
              <a:gd name="T1" fmla="*/ 559741153 h 227"/>
              <a:gd name="T2" fmla="*/ 19279409 w 216"/>
              <a:gd name="T3" fmla="*/ 431963359 h 227"/>
              <a:gd name="T4" fmla="*/ 51371873 w 216"/>
              <a:gd name="T5" fmla="*/ 326584817 h 227"/>
              <a:gd name="T6" fmla="*/ 93100459 w 216"/>
              <a:gd name="T7" fmla="*/ 227932445 h 227"/>
              <a:gd name="T8" fmla="*/ 151879687 w 216"/>
              <a:gd name="T9" fmla="*/ 139722493 h 227"/>
              <a:gd name="T10" fmla="*/ 218040878 w 216"/>
              <a:gd name="T11" fmla="*/ 75813534 h 227"/>
              <a:gd name="T12" fmla="*/ 293737899 w 216"/>
              <a:gd name="T13" fmla="*/ 33107939 h 227"/>
              <a:gd name="T14" fmla="*/ 379467856 w 216"/>
              <a:gd name="T15" fmla="*/ 10147193 h 227"/>
              <a:gd name="T16" fmla="*/ 464985030 w 216"/>
              <a:gd name="T17" fmla="*/ 10147193 h 227"/>
              <a:gd name="T18" fmla="*/ 546365163 w 216"/>
              <a:gd name="T19" fmla="*/ 33107939 h 227"/>
              <a:gd name="T20" fmla="*/ 622739560 w 216"/>
              <a:gd name="T21" fmla="*/ 75813534 h 227"/>
              <a:gd name="T22" fmla="*/ 692368182 w 216"/>
              <a:gd name="T23" fmla="*/ 139722493 h 227"/>
              <a:gd name="T24" fmla="*/ 745936538 w 216"/>
              <a:gd name="T25" fmla="*/ 227932445 h 227"/>
              <a:gd name="T26" fmla="*/ 789344504 w 216"/>
              <a:gd name="T27" fmla="*/ 326584817 h 227"/>
              <a:gd name="T28" fmla="*/ 828864612 w 216"/>
              <a:gd name="T29" fmla="*/ 431963359 h 227"/>
              <a:gd name="T30" fmla="*/ 844450245 w 216"/>
              <a:gd name="T31" fmla="*/ 559741153 h 227"/>
              <a:gd name="T32" fmla="*/ 844450245 w 216"/>
              <a:gd name="T33" fmla="*/ 618956149 h 227"/>
              <a:gd name="T34" fmla="*/ 832344154 w 216"/>
              <a:gd name="T35" fmla="*/ 744022768 h 227"/>
              <a:gd name="T36" fmla="*/ 814086300 w 216"/>
              <a:gd name="T37" fmla="*/ 857787430 h 227"/>
              <a:gd name="T38" fmla="*/ 769858614 w 216"/>
              <a:gd name="T39" fmla="*/ 958434412 h 227"/>
              <a:gd name="T40" fmla="*/ 722693214 w 216"/>
              <a:gd name="T41" fmla="*/ 1057112630 h 227"/>
              <a:gd name="T42" fmla="*/ 660207783 w 216"/>
              <a:gd name="T43" fmla="*/ 1126388021 h 227"/>
              <a:gd name="T44" fmla="*/ 586522487 w 216"/>
              <a:gd name="T45" fmla="*/ 1185978067 h 227"/>
              <a:gd name="T46" fmla="*/ 504656372 w 216"/>
              <a:gd name="T47" fmla="*/ 1220474701 h 227"/>
              <a:gd name="T48" fmla="*/ 422873988 w 216"/>
              <a:gd name="T49" fmla="*/ 1230410188 h 227"/>
              <a:gd name="T50" fmla="*/ 336070776 w 216"/>
              <a:gd name="T51" fmla="*/ 1220474701 h 227"/>
              <a:gd name="T52" fmla="*/ 258010951 w 216"/>
              <a:gd name="T53" fmla="*/ 1185978067 h 227"/>
              <a:gd name="T54" fmla="*/ 184191063 w 216"/>
              <a:gd name="T55" fmla="*/ 1126388021 h 227"/>
              <a:gd name="T56" fmla="*/ 125236776 w 216"/>
              <a:gd name="T57" fmla="*/ 1057112630 h 227"/>
              <a:gd name="T58" fmla="*/ 73721376 w 216"/>
              <a:gd name="T59" fmla="*/ 958434412 h 227"/>
              <a:gd name="T60" fmla="*/ 30328991 w 216"/>
              <a:gd name="T61" fmla="*/ 857787430 h 227"/>
              <a:gd name="T62" fmla="*/ 7145711 w 216"/>
              <a:gd name="T63" fmla="*/ 744022768 h 227"/>
              <a:gd name="T64" fmla="*/ 0 w 216"/>
              <a:gd name="T65" fmla="*/ 618956149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4"/>
                </a:moveTo>
                <a:lnTo>
                  <a:pt x="1" y="103"/>
                </a:lnTo>
                <a:lnTo>
                  <a:pt x="2" y="91"/>
                </a:lnTo>
                <a:lnTo>
                  <a:pt x="5" y="80"/>
                </a:lnTo>
                <a:lnTo>
                  <a:pt x="8" y="69"/>
                </a:lnTo>
                <a:lnTo>
                  <a:pt x="13" y="60"/>
                </a:lnTo>
                <a:lnTo>
                  <a:pt x="19" y="50"/>
                </a:lnTo>
                <a:lnTo>
                  <a:pt x="24" y="42"/>
                </a:lnTo>
                <a:lnTo>
                  <a:pt x="32" y="34"/>
                </a:lnTo>
                <a:lnTo>
                  <a:pt x="39" y="26"/>
                </a:lnTo>
                <a:lnTo>
                  <a:pt x="47" y="19"/>
                </a:lnTo>
                <a:lnTo>
                  <a:pt x="56" y="14"/>
                </a:lnTo>
                <a:lnTo>
                  <a:pt x="66" y="10"/>
                </a:lnTo>
                <a:lnTo>
                  <a:pt x="75" y="6"/>
                </a:lnTo>
                <a:lnTo>
                  <a:pt x="86" y="3"/>
                </a:lnTo>
                <a:lnTo>
                  <a:pt x="97" y="2"/>
                </a:lnTo>
                <a:lnTo>
                  <a:pt x="108" y="0"/>
                </a:lnTo>
                <a:lnTo>
                  <a:pt x="119" y="2"/>
                </a:lnTo>
                <a:lnTo>
                  <a:pt x="129" y="3"/>
                </a:lnTo>
                <a:lnTo>
                  <a:pt x="140" y="6"/>
                </a:lnTo>
                <a:lnTo>
                  <a:pt x="150" y="10"/>
                </a:lnTo>
                <a:lnTo>
                  <a:pt x="159" y="14"/>
                </a:lnTo>
                <a:lnTo>
                  <a:pt x="169" y="19"/>
                </a:lnTo>
                <a:lnTo>
                  <a:pt x="177" y="26"/>
                </a:lnTo>
                <a:lnTo>
                  <a:pt x="185" y="34"/>
                </a:lnTo>
                <a:lnTo>
                  <a:pt x="191" y="42"/>
                </a:lnTo>
                <a:lnTo>
                  <a:pt x="197" y="50"/>
                </a:lnTo>
                <a:lnTo>
                  <a:pt x="202" y="60"/>
                </a:lnTo>
                <a:lnTo>
                  <a:pt x="208" y="69"/>
                </a:lnTo>
                <a:lnTo>
                  <a:pt x="212" y="80"/>
                </a:lnTo>
                <a:lnTo>
                  <a:pt x="213" y="91"/>
                </a:lnTo>
                <a:lnTo>
                  <a:pt x="216" y="103"/>
                </a:lnTo>
                <a:lnTo>
                  <a:pt x="216" y="114"/>
                </a:lnTo>
                <a:lnTo>
                  <a:pt x="216" y="126"/>
                </a:lnTo>
                <a:lnTo>
                  <a:pt x="213" y="137"/>
                </a:lnTo>
                <a:lnTo>
                  <a:pt x="212" y="148"/>
                </a:lnTo>
                <a:lnTo>
                  <a:pt x="208" y="158"/>
                </a:lnTo>
                <a:lnTo>
                  <a:pt x="202" y="168"/>
                </a:lnTo>
                <a:lnTo>
                  <a:pt x="197" y="177"/>
                </a:lnTo>
                <a:lnTo>
                  <a:pt x="191" y="187"/>
                </a:lnTo>
                <a:lnTo>
                  <a:pt x="185" y="195"/>
                </a:lnTo>
                <a:lnTo>
                  <a:pt x="177" y="202"/>
                </a:lnTo>
                <a:lnTo>
                  <a:pt x="169" y="208"/>
                </a:lnTo>
                <a:lnTo>
                  <a:pt x="159" y="214"/>
                </a:lnTo>
                <a:lnTo>
                  <a:pt x="150" y="219"/>
                </a:lnTo>
                <a:lnTo>
                  <a:pt x="140" y="222"/>
                </a:lnTo>
                <a:lnTo>
                  <a:pt x="129" y="225"/>
                </a:lnTo>
                <a:lnTo>
                  <a:pt x="119" y="227"/>
                </a:lnTo>
                <a:lnTo>
                  <a:pt x="108" y="227"/>
                </a:lnTo>
                <a:lnTo>
                  <a:pt x="97" y="227"/>
                </a:lnTo>
                <a:lnTo>
                  <a:pt x="86" y="225"/>
                </a:lnTo>
                <a:lnTo>
                  <a:pt x="75" y="222"/>
                </a:lnTo>
                <a:lnTo>
                  <a:pt x="66" y="219"/>
                </a:lnTo>
                <a:lnTo>
                  <a:pt x="56" y="214"/>
                </a:lnTo>
                <a:lnTo>
                  <a:pt x="47" y="208"/>
                </a:lnTo>
                <a:lnTo>
                  <a:pt x="39" y="202"/>
                </a:lnTo>
                <a:lnTo>
                  <a:pt x="32" y="195"/>
                </a:lnTo>
                <a:lnTo>
                  <a:pt x="24" y="187"/>
                </a:lnTo>
                <a:lnTo>
                  <a:pt x="19" y="177"/>
                </a:lnTo>
                <a:lnTo>
                  <a:pt x="13" y="168"/>
                </a:lnTo>
                <a:lnTo>
                  <a:pt x="8" y="158"/>
                </a:lnTo>
                <a:lnTo>
                  <a:pt x="5" y="148"/>
                </a:lnTo>
                <a:lnTo>
                  <a:pt x="2" y="137"/>
                </a:lnTo>
                <a:lnTo>
                  <a:pt x="1" y="126"/>
                </a:lnTo>
                <a:lnTo>
                  <a:pt x="0" y="114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9" name="Rectangle 176"/>
          <p:cNvSpPr>
            <a:spLocks noChangeArrowheads="1"/>
          </p:cNvSpPr>
          <p:nvPr/>
        </p:nvSpPr>
        <p:spPr bwMode="auto">
          <a:xfrm>
            <a:off x="5037166" y="1600764"/>
            <a:ext cx="63500" cy="152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 dirty="0">
                <a:solidFill>
                  <a:srgbClr val="0000FF"/>
                </a:solidFill>
                <a:latin typeface="宋体" pitchFamily="2" charset="-122"/>
              </a:rPr>
              <a:t>E</a:t>
            </a:r>
            <a:endParaRPr lang="en-US" altLang="zh-CN" sz="1000" b="1" dirty="0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380" name="未知"/>
          <p:cNvSpPr>
            <a:spLocks/>
          </p:cNvSpPr>
          <p:nvPr/>
        </p:nvSpPr>
        <p:spPr bwMode="auto">
          <a:xfrm>
            <a:off x="4935566" y="2968780"/>
            <a:ext cx="282573" cy="301535"/>
          </a:xfrm>
          <a:custGeom>
            <a:avLst/>
            <a:gdLst>
              <a:gd name="T0" fmla="*/ 3468480 w 216"/>
              <a:gd name="T1" fmla="*/ 605799974 h 226"/>
              <a:gd name="T2" fmla="*/ 19279409 w 216"/>
              <a:gd name="T3" fmla="*/ 470234226 h 226"/>
              <a:gd name="T4" fmla="*/ 51371873 w 216"/>
              <a:gd name="T5" fmla="*/ 351636369 h 226"/>
              <a:gd name="T6" fmla="*/ 93100459 w 216"/>
              <a:gd name="T7" fmla="*/ 243453492 h 226"/>
              <a:gd name="T8" fmla="*/ 151879687 w 216"/>
              <a:gd name="T9" fmla="*/ 149345652 h 226"/>
              <a:gd name="T10" fmla="*/ 218040878 w 216"/>
              <a:gd name="T11" fmla="*/ 76838499 h 226"/>
              <a:gd name="T12" fmla="*/ 293737899 w 216"/>
              <a:gd name="T13" fmla="*/ 30747017 h 226"/>
              <a:gd name="T14" fmla="*/ 379467856 w 216"/>
              <a:gd name="T15" fmla="*/ 5246112 h 226"/>
              <a:gd name="T16" fmla="*/ 464985030 w 216"/>
              <a:gd name="T17" fmla="*/ 5246112 h 226"/>
              <a:gd name="T18" fmla="*/ 546365163 w 216"/>
              <a:gd name="T19" fmla="*/ 30747017 h 226"/>
              <a:gd name="T20" fmla="*/ 622739560 w 216"/>
              <a:gd name="T21" fmla="*/ 76838499 h 226"/>
              <a:gd name="T22" fmla="*/ 692368182 w 216"/>
              <a:gd name="T23" fmla="*/ 149345652 h 226"/>
              <a:gd name="T24" fmla="*/ 745936538 w 216"/>
              <a:gd name="T25" fmla="*/ 243453492 h 226"/>
              <a:gd name="T26" fmla="*/ 789344504 w 216"/>
              <a:gd name="T27" fmla="*/ 351636369 h 226"/>
              <a:gd name="T28" fmla="*/ 828864612 w 216"/>
              <a:gd name="T29" fmla="*/ 470234226 h 226"/>
              <a:gd name="T30" fmla="*/ 844450245 w 216"/>
              <a:gd name="T31" fmla="*/ 605799974 h 226"/>
              <a:gd name="T32" fmla="*/ 844450245 w 216"/>
              <a:gd name="T33" fmla="*/ 673247391 h 226"/>
              <a:gd name="T34" fmla="*/ 837258897 w 216"/>
              <a:gd name="T35" fmla="*/ 809121661 h 226"/>
              <a:gd name="T36" fmla="*/ 814086300 w 216"/>
              <a:gd name="T37" fmla="*/ 939556915 h 226"/>
              <a:gd name="T38" fmla="*/ 769858614 w 216"/>
              <a:gd name="T39" fmla="*/ 1047187779 h 226"/>
              <a:gd name="T40" fmla="*/ 722693214 w 216"/>
              <a:gd name="T41" fmla="*/ 1154717196 h 226"/>
              <a:gd name="T42" fmla="*/ 660207783 w 216"/>
              <a:gd name="T43" fmla="*/ 1235532183 h 226"/>
              <a:gd name="T44" fmla="*/ 586522487 w 216"/>
              <a:gd name="T45" fmla="*/ 1296425926 h 226"/>
              <a:gd name="T46" fmla="*/ 504656372 w 216"/>
              <a:gd name="T47" fmla="*/ 1332984545 h 226"/>
              <a:gd name="T48" fmla="*/ 422873988 w 216"/>
              <a:gd name="T49" fmla="*/ 1343980891 h 226"/>
              <a:gd name="T50" fmla="*/ 336070776 w 216"/>
              <a:gd name="T51" fmla="*/ 1332984545 h 226"/>
              <a:gd name="T52" fmla="*/ 258010951 w 216"/>
              <a:gd name="T53" fmla="*/ 1296425926 h 226"/>
              <a:gd name="T54" fmla="*/ 184191063 w 216"/>
              <a:gd name="T55" fmla="*/ 1235532183 h 226"/>
              <a:gd name="T56" fmla="*/ 125236776 w 216"/>
              <a:gd name="T57" fmla="*/ 1154717196 h 226"/>
              <a:gd name="T58" fmla="*/ 73721376 w 216"/>
              <a:gd name="T59" fmla="*/ 1047187779 h 226"/>
              <a:gd name="T60" fmla="*/ 30328991 w 216"/>
              <a:gd name="T61" fmla="*/ 939556915 h 226"/>
              <a:gd name="T62" fmla="*/ 7145711 w 216"/>
              <a:gd name="T63" fmla="*/ 809121661 h 226"/>
              <a:gd name="T64" fmla="*/ 0 w 216"/>
              <a:gd name="T65" fmla="*/ 673247391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2" y="90"/>
                </a:lnTo>
                <a:lnTo>
                  <a:pt x="5" y="79"/>
                </a:lnTo>
                <a:lnTo>
                  <a:pt x="8" y="68"/>
                </a:lnTo>
                <a:lnTo>
                  <a:pt x="13" y="59"/>
                </a:lnTo>
                <a:lnTo>
                  <a:pt x="19" y="50"/>
                </a:lnTo>
                <a:lnTo>
                  <a:pt x="24" y="41"/>
                </a:lnTo>
                <a:lnTo>
                  <a:pt x="32" y="33"/>
                </a:lnTo>
                <a:lnTo>
                  <a:pt x="39" y="25"/>
                </a:lnTo>
                <a:lnTo>
                  <a:pt x="47" y="18"/>
                </a:lnTo>
                <a:lnTo>
                  <a:pt x="56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2"/>
                </a:lnTo>
                <a:lnTo>
                  <a:pt x="140" y="5"/>
                </a:lnTo>
                <a:lnTo>
                  <a:pt x="150" y="9"/>
                </a:lnTo>
                <a:lnTo>
                  <a:pt x="159" y="13"/>
                </a:lnTo>
                <a:lnTo>
                  <a:pt x="169" y="18"/>
                </a:lnTo>
                <a:lnTo>
                  <a:pt x="177" y="25"/>
                </a:lnTo>
                <a:lnTo>
                  <a:pt x="185" y="33"/>
                </a:lnTo>
                <a:lnTo>
                  <a:pt x="191" y="41"/>
                </a:lnTo>
                <a:lnTo>
                  <a:pt x="197" y="50"/>
                </a:lnTo>
                <a:lnTo>
                  <a:pt x="202" y="59"/>
                </a:lnTo>
                <a:lnTo>
                  <a:pt x="208" y="68"/>
                </a:lnTo>
                <a:lnTo>
                  <a:pt x="212" y="79"/>
                </a:lnTo>
                <a:lnTo>
                  <a:pt x="214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2" y="167"/>
                </a:lnTo>
                <a:lnTo>
                  <a:pt x="197" y="176"/>
                </a:lnTo>
                <a:lnTo>
                  <a:pt x="191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59" y="213"/>
                </a:lnTo>
                <a:lnTo>
                  <a:pt x="150" y="218"/>
                </a:lnTo>
                <a:lnTo>
                  <a:pt x="140" y="221"/>
                </a:lnTo>
                <a:lnTo>
                  <a:pt x="129" y="224"/>
                </a:lnTo>
                <a:lnTo>
                  <a:pt x="119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4"/>
                </a:lnTo>
                <a:lnTo>
                  <a:pt x="75" y="221"/>
                </a:lnTo>
                <a:lnTo>
                  <a:pt x="66" y="218"/>
                </a:lnTo>
                <a:lnTo>
                  <a:pt x="56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9" y="176"/>
                </a:lnTo>
                <a:lnTo>
                  <a:pt x="13" y="167"/>
                </a:lnTo>
                <a:lnTo>
                  <a:pt x="8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5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81" name="未知"/>
          <p:cNvSpPr>
            <a:spLocks/>
          </p:cNvSpPr>
          <p:nvPr/>
        </p:nvSpPr>
        <p:spPr bwMode="auto">
          <a:xfrm>
            <a:off x="4935566" y="2968780"/>
            <a:ext cx="282573" cy="301535"/>
          </a:xfrm>
          <a:custGeom>
            <a:avLst/>
            <a:gdLst>
              <a:gd name="T0" fmla="*/ 3468480 w 216"/>
              <a:gd name="T1" fmla="*/ 605799974 h 226"/>
              <a:gd name="T2" fmla="*/ 19279409 w 216"/>
              <a:gd name="T3" fmla="*/ 470234226 h 226"/>
              <a:gd name="T4" fmla="*/ 51371873 w 216"/>
              <a:gd name="T5" fmla="*/ 351636369 h 226"/>
              <a:gd name="T6" fmla="*/ 93100459 w 216"/>
              <a:gd name="T7" fmla="*/ 243453492 h 226"/>
              <a:gd name="T8" fmla="*/ 151879687 w 216"/>
              <a:gd name="T9" fmla="*/ 149345652 h 226"/>
              <a:gd name="T10" fmla="*/ 218040878 w 216"/>
              <a:gd name="T11" fmla="*/ 76838499 h 226"/>
              <a:gd name="T12" fmla="*/ 293737899 w 216"/>
              <a:gd name="T13" fmla="*/ 30747017 h 226"/>
              <a:gd name="T14" fmla="*/ 379467856 w 216"/>
              <a:gd name="T15" fmla="*/ 5246112 h 226"/>
              <a:gd name="T16" fmla="*/ 464985030 w 216"/>
              <a:gd name="T17" fmla="*/ 5246112 h 226"/>
              <a:gd name="T18" fmla="*/ 546365163 w 216"/>
              <a:gd name="T19" fmla="*/ 30747017 h 226"/>
              <a:gd name="T20" fmla="*/ 622739560 w 216"/>
              <a:gd name="T21" fmla="*/ 76838499 h 226"/>
              <a:gd name="T22" fmla="*/ 692368182 w 216"/>
              <a:gd name="T23" fmla="*/ 149345652 h 226"/>
              <a:gd name="T24" fmla="*/ 745936538 w 216"/>
              <a:gd name="T25" fmla="*/ 243453492 h 226"/>
              <a:gd name="T26" fmla="*/ 789344504 w 216"/>
              <a:gd name="T27" fmla="*/ 351636369 h 226"/>
              <a:gd name="T28" fmla="*/ 828864612 w 216"/>
              <a:gd name="T29" fmla="*/ 470234226 h 226"/>
              <a:gd name="T30" fmla="*/ 844450245 w 216"/>
              <a:gd name="T31" fmla="*/ 605799974 h 226"/>
              <a:gd name="T32" fmla="*/ 844450245 w 216"/>
              <a:gd name="T33" fmla="*/ 673247391 h 226"/>
              <a:gd name="T34" fmla="*/ 837258897 w 216"/>
              <a:gd name="T35" fmla="*/ 809121661 h 226"/>
              <a:gd name="T36" fmla="*/ 814086300 w 216"/>
              <a:gd name="T37" fmla="*/ 939556915 h 226"/>
              <a:gd name="T38" fmla="*/ 769858614 w 216"/>
              <a:gd name="T39" fmla="*/ 1047187779 h 226"/>
              <a:gd name="T40" fmla="*/ 722693214 w 216"/>
              <a:gd name="T41" fmla="*/ 1154717196 h 226"/>
              <a:gd name="T42" fmla="*/ 660207783 w 216"/>
              <a:gd name="T43" fmla="*/ 1235532183 h 226"/>
              <a:gd name="T44" fmla="*/ 586522487 w 216"/>
              <a:gd name="T45" fmla="*/ 1296425926 h 226"/>
              <a:gd name="T46" fmla="*/ 504656372 w 216"/>
              <a:gd name="T47" fmla="*/ 1332984545 h 226"/>
              <a:gd name="T48" fmla="*/ 422873988 w 216"/>
              <a:gd name="T49" fmla="*/ 1343980891 h 226"/>
              <a:gd name="T50" fmla="*/ 336070776 w 216"/>
              <a:gd name="T51" fmla="*/ 1332984545 h 226"/>
              <a:gd name="T52" fmla="*/ 258010951 w 216"/>
              <a:gd name="T53" fmla="*/ 1296425926 h 226"/>
              <a:gd name="T54" fmla="*/ 184191063 w 216"/>
              <a:gd name="T55" fmla="*/ 1235532183 h 226"/>
              <a:gd name="T56" fmla="*/ 125236776 w 216"/>
              <a:gd name="T57" fmla="*/ 1154717196 h 226"/>
              <a:gd name="T58" fmla="*/ 73721376 w 216"/>
              <a:gd name="T59" fmla="*/ 1047187779 h 226"/>
              <a:gd name="T60" fmla="*/ 30328991 w 216"/>
              <a:gd name="T61" fmla="*/ 939556915 h 226"/>
              <a:gd name="T62" fmla="*/ 7145711 w 216"/>
              <a:gd name="T63" fmla="*/ 809121661 h 226"/>
              <a:gd name="T64" fmla="*/ 0 w 216"/>
              <a:gd name="T65" fmla="*/ 673247391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2" y="90"/>
                </a:lnTo>
                <a:lnTo>
                  <a:pt x="5" y="79"/>
                </a:lnTo>
                <a:lnTo>
                  <a:pt x="8" y="68"/>
                </a:lnTo>
                <a:lnTo>
                  <a:pt x="13" y="59"/>
                </a:lnTo>
                <a:lnTo>
                  <a:pt x="19" y="50"/>
                </a:lnTo>
                <a:lnTo>
                  <a:pt x="24" y="41"/>
                </a:lnTo>
                <a:lnTo>
                  <a:pt x="32" y="33"/>
                </a:lnTo>
                <a:lnTo>
                  <a:pt x="39" y="25"/>
                </a:lnTo>
                <a:lnTo>
                  <a:pt x="47" y="18"/>
                </a:lnTo>
                <a:lnTo>
                  <a:pt x="56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2"/>
                </a:lnTo>
                <a:lnTo>
                  <a:pt x="140" y="5"/>
                </a:lnTo>
                <a:lnTo>
                  <a:pt x="150" y="9"/>
                </a:lnTo>
                <a:lnTo>
                  <a:pt x="159" y="13"/>
                </a:lnTo>
                <a:lnTo>
                  <a:pt x="169" y="18"/>
                </a:lnTo>
                <a:lnTo>
                  <a:pt x="177" y="25"/>
                </a:lnTo>
                <a:lnTo>
                  <a:pt x="185" y="33"/>
                </a:lnTo>
                <a:lnTo>
                  <a:pt x="191" y="41"/>
                </a:lnTo>
                <a:lnTo>
                  <a:pt x="197" y="50"/>
                </a:lnTo>
                <a:lnTo>
                  <a:pt x="202" y="59"/>
                </a:lnTo>
                <a:lnTo>
                  <a:pt x="208" y="68"/>
                </a:lnTo>
                <a:lnTo>
                  <a:pt x="212" y="79"/>
                </a:lnTo>
                <a:lnTo>
                  <a:pt x="214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2" y="167"/>
                </a:lnTo>
                <a:lnTo>
                  <a:pt x="197" y="176"/>
                </a:lnTo>
                <a:lnTo>
                  <a:pt x="191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59" y="213"/>
                </a:lnTo>
                <a:lnTo>
                  <a:pt x="150" y="218"/>
                </a:lnTo>
                <a:lnTo>
                  <a:pt x="140" y="221"/>
                </a:lnTo>
                <a:lnTo>
                  <a:pt x="129" y="224"/>
                </a:lnTo>
                <a:lnTo>
                  <a:pt x="119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4"/>
                </a:lnTo>
                <a:lnTo>
                  <a:pt x="75" y="221"/>
                </a:lnTo>
                <a:lnTo>
                  <a:pt x="66" y="218"/>
                </a:lnTo>
                <a:lnTo>
                  <a:pt x="56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9" y="176"/>
                </a:lnTo>
                <a:lnTo>
                  <a:pt x="13" y="167"/>
                </a:lnTo>
                <a:lnTo>
                  <a:pt x="8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5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82" name="Rectangle 179"/>
          <p:cNvSpPr>
            <a:spLocks noChangeArrowheads="1"/>
          </p:cNvSpPr>
          <p:nvPr/>
        </p:nvSpPr>
        <p:spPr bwMode="auto">
          <a:xfrm>
            <a:off x="5037166" y="3029087"/>
            <a:ext cx="63500" cy="154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>
                <a:solidFill>
                  <a:srgbClr val="FF0000"/>
                </a:solidFill>
                <a:latin typeface="宋体" pitchFamily="2" charset="-122"/>
              </a:rPr>
              <a:t>F</a:t>
            </a:r>
            <a:endParaRPr lang="en-US" altLang="zh-CN" sz="1000" b="1">
              <a:solidFill>
                <a:srgbClr val="FF0000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383" name="未知"/>
          <p:cNvSpPr>
            <a:spLocks/>
          </p:cNvSpPr>
          <p:nvPr/>
        </p:nvSpPr>
        <p:spPr bwMode="auto">
          <a:xfrm>
            <a:off x="5499443" y="2250175"/>
            <a:ext cx="280668" cy="298361"/>
          </a:xfrm>
          <a:custGeom>
            <a:avLst/>
            <a:gdLst>
              <a:gd name="T0" fmla="*/ 3132436 w 216"/>
              <a:gd name="T1" fmla="*/ 446341159 h 227"/>
              <a:gd name="T2" fmla="*/ 16248397 w 216"/>
              <a:gd name="T3" fmla="*/ 348105442 h 227"/>
              <a:gd name="T4" fmla="*/ 44718601 w 216"/>
              <a:gd name="T5" fmla="*/ 260095379 h 227"/>
              <a:gd name="T6" fmla="*/ 81008170 w 216"/>
              <a:gd name="T7" fmla="*/ 182291127 h 227"/>
              <a:gd name="T8" fmla="*/ 133056879 w 216"/>
              <a:gd name="T9" fmla="*/ 113371133 h 227"/>
              <a:gd name="T10" fmla="*/ 190341245 w 216"/>
              <a:gd name="T11" fmla="*/ 60672045 h 227"/>
              <a:gd name="T12" fmla="*/ 253391593 w 216"/>
              <a:gd name="T13" fmla="*/ 25570180 h 227"/>
              <a:gd name="T14" fmla="*/ 328077895 w 216"/>
              <a:gd name="T15" fmla="*/ 3971138 h 227"/>
              <a:gd name="T16" fmla="*/ 404053641 w 216"/>
              <a:gd name="T17" fmla="*/ 3971138 h 227"/>
              <a:gd name="T18" fmla="*/ 473614015 w 216"/>
              <a:gd name="T19" fmla="*/ 25570180 h 227"/>
              <a:gd name="T20" fmla="*/ 538647947 w 216"/>
              <a:gd name="T21" fmla="*/ 60672045 h 227"/>
              <a:gd name="T22" fmla="*/ 599974025 w 216"/>
              <a:gd name="T23" fmla="*/ 113371133 h 227"/>
              <a:gd name="T24" fmla="*/ 651021663 w 216"/>
              <a:gd name="T25" fmla="*/ 182291127 h 227"/>
              <a:gd name="T26" fmla="*/ 684280176 w 216"/>
              <a:gd name="T27" fmla="*/ 260095379 h 227"/>
              <a:gd name="T28" fmla="*/ 719059846 w 216"/>
              <a:gd name="T29" fmla="*/ 348105442 h 227"/>
              <a:gd name="T30" fmla="*/ 732218540 w 216"/>
              <a:gd name="T31" fmla="*/ 446341159 h 227"/>
              <a:gd name="T32" fmla="*/ 732218540 w 216"/>
              <a:gd name="T33" fmla="*/ 494825899 h 227"/>
              <a:gd name="T34" fmla="*/ 725469299 w 216"/>
              <a:gd name="T35" fmla="*/ 591068594 h 227"/>
              <a:gd name="T36" fmla="*/ 706123720 w 216"/>
              <a:gd name="T37" fmla="*/ 685652195 h 227"/>
              <a:gd name="T38" fmla="*/ 668021454 w 216"/>
              <a:gd name="T39" fmla="*/ 767322354 h 227"/>
              <a:gd name="T40" fmla="*/ 628521798 w 216"/>
              <a:gd name="T41" fmla="*/ 846470598 h 227"/>
              <a:gd name="T42" fmla="*/ 573427077 w 216"/>
              <a:gd name="T43" fmla="*/ 903181730 h 227"/>
              <a:gd name="T44" fmla="*/ 508488705 w 216"/>
              <a:gd name="T45" fmla="*/ 949607487 h 227"/>
              <a:gd name="T46" fmla="*/ 437297754 w 216"/>
              <a:gd name="T47" fmla="*/ 972957092 h 227"/>
              <a:gd name="T48" fmla="*/ 366134183 w 216"/>
              <a:gd name="T49" fmla="*/ 985307325 h 227"/>
              <a:gd name="T50" fmla="*/ 291664425 w 216"/>
              <a:gd name="T51" fmla="*/ 972957092 h 227"/>
              <a:gd name="T52" fmla="*/ 223644091 w 216"/>
              <a:gd name="T53" fmla="*/ 949607487 h 227"/>
              <a:gd name="T54" fmla="*/ 158792020 w 216"/>
              <a:gd name="T55" fmla="*/ 903181730 h 227"/>
              <a:gd name="T56" fmla="*/ 107753531 w 216"/>
              <a:gd name="T57" fmla="*/ 846470598 h 227"/>
              <a:gd name="T58" fmla="*/ 65023271 w 216"/>
              <a:gd name="T59" fmla="*/ 767322354 h 227"/>
              <a:gd name="T60" fmla="*/ 26840323 w 216"/>
              <a:gd name="T61" fmla="*/ 685652195 h 227"/>
              <a:gd name="T62" fmla="*/ 6409892 w 216"/>
              <a:gd name="T63" fmla="*/ 591068594 h 227"/>
              <a:gd name="T64" fmla="*/ 0 w 216"/>
              <a:gd name="T65" fmla="*/ 494825899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4"/>
                </a:moveTo>
                <a:lnTo>
                  <a:pt x="1" y="103"/>
                </a:lnTo>
                <a:lnTo>
                  <a:pt x="2" y="91"/>
                </a:lnTo>
                <a:lnTo>
                  <a:pt x="5" y="80"/>
                </a:lnTo>
                <a:lnTo>
                  <a:pt x="8" y="69"/>
                </a:lnTo>
                <a:lnTo>
                  <a:pt x="13" y="60"/>
                </a:lnTo>
                <a:lnTo>
                  <a:pt x="19" y="50"/>
                </a:lnTo>
                <a:lnTo>
                  <a:pt x="24" y="42"/>
                </a:lnTo>
                <a:lnTo>
                  <a:pt x="32" y="34"/>
                </a:lnTo>
                <a:lnTo>
                  <a:pt x="39" y="26"/>
                </a:lnTo>
                <a:lnTo>
                  <a:pt x="47" y="19"/>
                </a:lnTo>
                <a:lnTo>
                  <a:pt x="56" y="14"/>
                </a:lnTo>
                <a:lnTo>
                  <a:pt x="66" y="10"/>
                </a:lnTo>
                <a:lnTo>
                  <a:pt x="75" y="6"/>
                </a:lnTo>
                <a:lnTo>
                  <a:pt x="86" y="3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3"/>
                </a:lnTo>
                <a:lnTo>
                  <a:pt x="140" y="6"/>
                </a:lnTo>
                <a:lnTo>
                  <a:pt x="150" y="10"/>
                </a:lnTo>
                <a:lnTo>
                  <a:pt x="159" y="14"/>
                </a:lnTo>
                <a:lnTo>
                  <a:pt x="169" y="19"/>
                </a:lnTo>
                <a:lnTo>
                  <a:pt x="177" y="26"/>
                </a:lnTo>
                <a:lnTo>
                  <a:pt x="185" y="34"/>
                </a:lnTo>
                <a:lnTo>
                  <a:pt x="192" y="42"/>
                </a:lnTo>
                <a:lnTo>
                  <a:pt x="197" y="50"/>
                </a:lnTo>
                <a:lnTo>
                  <a:pt x="202" y="60"/>
                </a:lnTo>
                <a:lnTo>
                  <a:pt x="208" y="69"/>
                </a:lnTo>
                <a:lnTo>
                  <a:pt x="212" y="80"/>
                </a:lnTo>
                <a:lnTo>
                  <a:pt x="214" y="91"/>
                </a:lnTo>
                <a:lnTo>
                  <a:pt x="216" y="103"/>
                </a:lnTo>
                <a:lnTo>
                  <a:pt x="216" y="114"/>
                </a:lnTo>
                <a:lnTo>
                  <a:pt x="216" y="126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2" y="168"/>
                </a:lnTo>
                <a:lnTo>
                  <a:pt x="197" y="177"/>
                </a:lnTo>
                <a:lnTo>
                  <a:pt x="192" y="186"/>
                </a:lnTo>
                <a:lnTo>
                  <a:pt x="185" y="195"/>
                </a:lnTo>
                <a:lnTo>
                  <a:pt x="177" y="201"/>
                </a:lnTo>
                <a:lnTo>
                  <a:pt x="169" y="208"/>
                </a:lnTo>
                <a:lnTo>
                  <a:pt x="159" y="213"/>
                </a:lnTo>
                <a:lnTo>
                  <a:pt x="150" y="219"/>
                </a:lnTo>
                <a:lnTo>
                  <a:pt x="140" y="222"/>
                </a:lnTo>
                <a:lnTo>
                  <a:pt x="129" y="224"/>
                </a:lnTo>
                <a:lnTo>
                  <a:pt x="119" y="227"/>
                </a:lnTo>
                <a:lnTo>
                  <a:pt x="108" y="227"/>
                </a:lnTo>
                <a:lnTo>
                  <a:pt x="97" y="227"/>
                </a:lnTo>
                <a:lnTo>
                  <a:pt x="86" y="224"/>
                </a:lnTo>
                <a:lnTo>
                  <a:pt x="75" y="222"/>
                </a:lnTo>
                <a:lnTo>
                  <a:pt x="66" y="219"/>
                </a:lnTo>
                <a:lnTo>
                  <a:pt x="56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5"/>
                </a:lnTo>
                <a:lnTo>
                  <a:pt x="24" y="186"/>
                </a:lnTo>
                <a:lnTo>
                  <a:pt x="19" y="177"/>
                </a:lnTo>
                <a:lnTo>
                  <a:pt x="13" y="168"/>
                </a:lnTo>
                <a:lnTo>
                  <a:pt x="8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6"/>
                </a:lnTo>
                <a:lnTo>
                  <a:pt x="0" y="114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84" name="未知"/>
          <p:cNvSpPr>
            <a:spLocks/>
          </p:cNvSpPr>
          <p:nvPr/>
        </p:nvSpPr>
        <p:spPr bwMode="auto">
          <a:xfrm>
            <a:off x="5499443" y="2250175"/>
            <a:ext cx="280668" cy="298361"/>
          </a:xfrm>
          <a:custGeom>
            <a:avLst/>
            <a:gdLst>
              <a:gd name="T0" fmla="*/ 3132436 w 216"/>
              <a:gd name="T1" fmla="*/ 446341159 h 227"/>
              <a:gd name="T2" fmla="*/ 16248397 w 216"/>
              <a:gd name="T3" fmla="*/ 348105442 h 227"/>
              <a:gd name="T4" fmla="*/ 44718601 w 216"/>
              <a:gd name="T5" fmla="*/ 260095379 h 227"/>
              <a:gd name="T6" fmla="*/ 81008170 w 216"/>
              <a:gd name="T7" fmla="*/ 182291127 h 227"/>
              <a:gd name="T8" fmla="*/ 133056879 w 216"/>
              <a:gd name="T9" fmla="*/ 113371133 h 227"/>
              <a:gd name="T10" fmla="*/ 190341245 w 216"/>
              <a:gd name="T11" fmla="*/ 60672045 h 227"/>
              <a:gd name="T12" fmla="*/ 253391593 w 216"/>
              <a:gd name="T13" fmla="*/ 25570180 h 227"/>
              <a:gd name="T14" fmla="*/ 328077895 w 216"/>
              <a:gd name="T15" fmla="*/ 3971138 h 227"/>
              <a:gd name="T16" fmla="*/ 404053641 w 216"/>
              <a:gd name="T17" fmla="*/ 3971138 h 227"/>
              <a:gd name="T18" fmla="*/ 473614015 w 216"/>
              <a:gd name="T19" fmla="*/ 25570180 h 227"/>
              <a:gd name="T20" fmla="*/ 538647947 w 216"/>
              <a:gd name="T21" fmla="*/ 60672045 h 227"/>
              <a:gd name="T22" fmla="*/ 599974025 w 216"/>
              <a:gd name="T23" fmla="*/ 113371133 h 227"/>
              <a:gd name="T24" fmla="*/ 651021663 w 216"/>
              <a:gd name="T25" fmla="*/ 182291127 h 227"/>
              <a:gd name="T26" fmla="*/ 684280176 w 216"/>
              <a:gd name="T27" fmla="*/ 260095379 h 227"/>
              <a:gd name="T28" fmla="*/ 719059846 w 216"/>
              <a:gd name="T29" fmla="*/ 348105442 h 227"/>
              <a:gd name="T30" fmla="*/ 732218540 w 216"/>
              <a:gd name="T31" fmla="*/ 446341159 h 227"/>
              <a:gd name="T32" fmla="*/ 732218540 w 216"/>
              <a:gd name="T33" fmla="*/ 494825899 h 227"/>
              <a:gd name="T34" fmla="*/ 725469299 w 216"/>
              <a:gd name="T35" fmla="*/ 591068594 h 227"/>
              <a:gd name="T36" fmla="*/ 706123720 w 216"/>
              <a:gd name="T37" fmla="*/ 685652195 h 227"/>
              <a:gd name="T38" fmla="*/ 668021454 w 216"/>
              <a:gd name="T39" fmla="*/ 767322354 h 227"/>
              <a:gd name="T40" fmla="*/ 628521798 w 216"/>
              <a:gd name="T41" fmla="*/ 846470598 h 227"/>
              <a:gd name="T42" fmla="*/ 573427077 w 216"/>
              <a:gd name="T43" fmla="*/ 903181730 h 227"/>
              <a:gd name="T44" fmla="*/ 508488705 w 216"/>
              <a:gd name="T45" fmla="*/ 949607487 h 227"/>
              <a:gd name="T46" fmla="*/ 437297754 w 216"/>
              <a:gd name="T47" fmla="*/ 972957092 h 227"/>
              <a:gd name="T48" fmla="*/ 366134183 w 216"/>
              <a:gd name="T49" fmla="*/ 985307325 h 227"/>
              <a:gd name="T50" fmla="*/ 291664425 w 216"/>
              <a:gd name="T51" fmla="*/ 972957092 h 227"/>
              <a:gd name="T52" fmla="*/ 223644091 w 216"/>
              <a:gd name="T53" fmla="*/ 949607487 h 227"/>
              <a:gd name="T54" fmla="*/ 158792020 w 216"/>
              <a:gd name="T55" fmla="*/ 903181730 h 227"/>
              <a:gd name="T56" fmla="*/ 107753531 w 216"/>
              <a:gd name="T57" fmla="*/ 846470598 h 227"/>
              <a:gd name="T58" fmla="*/ 65023271 w 216"/>
              <a:gd name="T59" fmla="*/ 767322354 h 227"/>
              <a:gd name="T60" fmla="*/ 26840323 w 216"/>
              <a:gd name="T61" fmla="*/ 685652195 h 227"/>
              <a:gd name="T62" fmla="*/ 6409892 w 216"/>
              <a:gd name="T63" fmla="*/ 591068594 h 227"/>
              <a:gd name="T64" fmla="*/ 0 w 216"/>
              <a:gd name="T65" fmla="*/ 494825899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4"/>
                </a:moveTo>
                <a:lnTo>
                  <a:pt x="1" y="103"/>
                </a:lnTo>
                <a:lnTo>
                  <a:pt x="2" y="91"/>
                </a:lnTo>
                <a:lnTo>
                  <a:pt x="5" y="80"/>
                </a:lnTo>
                <a:lnTo>
                  <a:pt x="8" y="69"/>
                </a:lnTo>
                <a:lnTo>
                  <a:pt x="13" y="60"/>
                </a:lnTo>
                <a:lnTo>
                  <a:pt x="19" y="50"/>
                </a:lnTo>
                <a:lnTo>
                  <a:pt x="24" y="42"/>
                </a:lnTo>
                <a:lnTo>
                  <a:pt x="32" y="34"/>
                </a:lnTo>
                <a:lnTo>
                  <a:pt x="39" y="26"/>
                </a:lnTo>
                <a:lnTo>
                  <a:pt x="47" y="19"/>
                </a:lnTo>
                <a:lnTo>
                  <a:pt x="56" y="14"/>
                </a:lnTo>
                <a:lnTo>
                  <a:pt x="66" y="10"/>
                </a:lnTo>
                <a:lnTo>
                  <a:pt x="75" y="6"/>
                </a:lnTo>
                <a:lnTo>
                  <a:pt x="86" y="3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3"/>
                </a:lnTo>
                <a:lnTo>
                  <a:pt x="140" y="6"/>
                </a:lnTo>
                <a:lnTo>
                  <a:pt x="150" y="10"/>
                </a:lnTo>
                <a:lnTo>
                  <a:pt x="159" y="14"/>
                </a:lnTo>
                <a:lnTo>
                  <a:pt x="169" y="19"/>
                </a:lnTo>
                <a:lnTo>
                  <a:pt x="177" y="26"/>
                </a:lnTo>
                <a:lnTo>
                  <a:pt x="185" y="34"/>
                </a:lnTo>
                <a:lnTo>
                  <a:pt x="192" y="42"/>
                </a:lnTo>
                <a:lnTo>
                  <a:pt x="197" y="50"/>
                </a:lnTo>
                <a:lnTo>
                  <a:pt x="202" y="60"/>
                </a:lnTo>
                <a:lnTo>
                  <a:pt x="208" y="69"/>
                </a:lnTo>
                <a:lnTo>
                  <a:pt x="212" y="80"/>
                </a:lnTo>
                <a:lnTo>
                  <a:pt x="214" y="91"/>
                </a:lnTo>
                <a:lnTo>
                  <a:pt x="216" y="103"/>
                </a:lnTo>
                <a:lnTo>
                  <a:pt x="216" y="114"/>
                </a:lnTo>
                <a:lnTo>
                  <a:pt x="216" y="126"/>
                </a:lnTo>
                <a:lnTo>
                  <a:pt x="214" y="136"/>
                </a:lnTo>
                <a:lnTo>
                  <a:pt x="212" y="147"/>
                </a:lnTo>
                <a:lnTo>
                  <a:pt x="208" y="158"/>
                </a:lnTo>
                <a:lnTo>
                  <a:pt x="202" y="168"/>
                </a:lnTo>
                <a:lnTo>
                  <a:pt x="197" y="177"/>
                </a:lnTo>
                <a:lnTo>
                  <a:pt x="192" y="186"/>
                </a:lnTo>
                <a:lnTo>
                  <a:pt x="185" y="195"/>
                </a:lnTo>
                <a:lnTo>
                  <a:pt x="177" y="201"/>
                </a:lnTo>
                <a:lnTo>
                  <a:pt x="169" y="208"/>
                </a:lnTo>
                <a:lnTo>
                  <a:pt x="159" y="213"/>
                </a:lnTo>
                <a:lnTo>
                  <a:pt x="150" y="219"/>
                </a:lnTo>
                <a:lnTo>
                  <a:pt x="140" y="222"/>
                </a:lnTo>
                <a:lnTo>
                  <a:pt x="129" y="224"/>
                </a:lnTo>
                <a:lnTo>
                  <a:pt x="119" y="227"/>
                </a:lnTo>
                <a:lnTo>
                  <a:pt x="108" y="227"/>
                </a:lnTo>
                <a:lnTo>
                  <a:pt x="97" y="227"/>
                </a:lnTo>
                <a:lnTo>
                  <a:pt x="86" y="224"/>
                </a:lnTo>
                <a:lnTo>
                  <a:pt x="75" y="222"/>
                </a:lnTo>
                <a:lnTo>
                  <a:pt x="66" y="219"/>
                </a:lnTo>
                <a:lnTo>
                  <a:pt x="56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5"/>
                </a:lnTo>
                <a:lnTo>
                  <a:pt x="24" y="186"/>
                </a:lnTo>
                <a:lnTo>
                  <a:pt x="19" y="177"/>
                </a:lnTo>
                <a:lnTo>
                  <a:pt x="13" y="168"/>
                </a:lnTo>
                <a:lnTo>
                  <a:pt x="8" y="158"/>
                </a:lnTo>
                <a:lnTo>
                  <a:pt x="5" y="147"/>
                </a:lnTo>
                <a:lnTo>
                  <a:pt x="2" y="136"/>
                </a:lnTo>
                <a:lnTo>
                  <a:pt x="1" y="126"/>
                </a:lnTo>
                <a:lnTo>
                  <a:pt x="0" y="114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85" name="Rectangle 182"/>
          <p:cNvSpPr>
            <a:spLocks noChangeArrowheads="1"/>
          </p:cNvSpPr>
          <p:nvPr/>
        </p:nvSpPr>
        <p:spPr bwMode="auto">
          <a:xfrm>
            <a:off x="5601042" y="2308577"/>
            <a:ext cx="63500" cy="152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 dirty="0">
                <a:solidFill>
                  <a:srgbClr val="0000FF"/>
                </a:solidFill>
                <a:latin typeface="宋体" pitchFamily="2" charset="-122"/>
              </a:rPr>
              <a:t>D</a:t>
            </a:r>
            <a:endParaRPr lang="en-US" altLang="zh-CN" sz="1000" b="1" dirty="0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386" name="未知"/>
          <p:cNvSpPr>
            <a:spLocks/>
          </p:cNvSpPr>
          <p:nvPr/>
        </p:nvSpPr>
        <p:spPr bwMode="auto">
          <a:xfrm>
            <a:off x="6343987" y="1540457"/>
            <a:ext cx="280668" cy="301535"/>
          </a:xfrm>
          <a:custGeom>
            <a:avLst/>
            <a:gdLst>
              <a:gd name="T0" fmla="*/ 3132436 w 216"/>
              <a:gd name="T1" fmla="*/ 559741153 h 227"/>
              <a:gd name="T2" fmla="*/ 16248397 w 216"/>
              <a:gd name="T3" fmla="*/ 431963359 h 227"/>
              <a:gd name="T4" fmla="*/ 44718601 w 216"/>
              <a:gd name="T5" fmla="*/ 326584817 h 227"/>
              <a:gd name="T6" fmla="*/ 81008170 w 216"/>
              <a:gd name="T7" fmla="*/ 227932445 h 227"/>
              <a:gd name="T8" fmla="*/ 133056879 w 216"/>
              <a:gd name="T9" fmla="*/ 139722493 h 227"/>
              <a:gd name="T10" fmla="*/ 193570726 w 216"/>
              <a:gd name="T11" fmla="*/ 75813534 h 227"/>
              <a:gd name="T12" fmla="*/ 253391593 w 216"/>
              <a:gd name="T13" fmla="*/ 33107939 h 227"/>
              <a:gd name="T14" fmla="*/ 328077895 w 216"/>
              <a:gd name="T15" fmla="*/ 10147193 h 227"/>
              <a:gd name="T16" fmla="*/ 404053641 w 216"/>
              <a:gd name="T17" fmla="*/ 10147193 h 227"/>
              <a:gd name="T18" fmla="*/ 473614015 w 216"/>
              <a:gd name="T19" fmla="*/ 33107939 h 227"/>
              <a:gd name="T20" fmla="*/ 538647947 w 216"/>
              <a:gd name="T21" fmla="*/ 75813534 h 227"/>
              <a:gd name="T22" fmla="*/ 599974025 w 216"/>
              <a:gd name="T23" fmla="*/ 139722493 h 227"/>
              <a:gd name="T24" fmla="*/ 651021663 w 216"/>
              <a:gd name="T25" fmla="*/ 227932445 h 227"/>
              <a:gd name="T26" fmla="*/ 684280176 w 216"/>
              <a:gd name="T27" fmla="*/ 326584817 h 227"/>
              <a:gd name="T28" fmla="*/ 719059846 w 216"/>
              <a:gd name="T29" fmla="*/ 431963359 h 227"/>
              <a:gd name="T30" fmla="*/ 732218540 w 216"/>
              <a:gd name="T31" fmla="*/ 559741153 h 227"/>
              <a:gd name="T32" fmla="*/ 732218540 w 216"/>
              <a:gd name="T33" fmla="*/ 618956149 h 227"/>
              <a:gd name="T34" fmla="*/ 722192024 w 216"/>
              <a:gd name="T35" fmla="*/ 744022768 h 227"/>
              <a:gd name="T36" fmla="*/ 706123720 w 216"/>
              <a:gd name="T37" fmla="*/ 857787430 h 227"/>
              <a:gd name="T38" fmla="*/ 668021454 w 216"/>
              <a:gd name="T39" fmla="*/ 958434412 h 227"/>
              <a:gd name="T40" fmla="*/ 628521798 w 216"/>
              <a:gd name="T41" fmla="*/ 1057112630 h 227"/>
              <a:gd name="T42" fmla="*/ 573427077 w 216"/>
              <a:gd name="T43" fmla="*/ 1126388021 h 227"/>
              <a:gd name="T44" fmla="*/ 508488705 w 216"/>
              <a:gd name="T45" fmla="*/ 1185978067 h 227"/>
              <a:gd name="T46" fmla="*/ 437297754 w 216"/>
              <a:gd name="T47" fmla="*/ 1220474701 h 227"/>
              <a:gd name="T48" fmla="*/ 366134183 w 216"/>
              <a:gd name="T49" fmla="*/ 1230410188 h 227"/>
              <a:gd name="T50" fmla="*/ 291664425 w 216"/>
              <a:gd name="T51" fmla="*/ 1220474701 h 227"/>
              <a:gd name="T52" fmla="*/ 223644091 w 216"/>
              <a:gd name="T53" fmla="*/ 1185978067 h 227"/>
              <a:gd name="T54" fmla="*/ 158792020 w 216"/>
              <a:gd name="T55" fmla="*/ 1126388021 h 227"/>
              <a:gd name="T56" fmla="*/ 107753531 w 216"/>
              <a:gd name="T57" fmla="*/ 1057112630 h 227"/>
              <a:gd name="T58" fmla="*/ 65023271 w 216"/>
              <a:gd name="T59" fmla="*/ 958434412 h 227"/>
              <a:gd name="T60" fmla="*/ 26840323 w 216"/>
              <a:gd name="T61" fmla="*/ 857787430 h 227"/>
              <a:gd name="T62" fmla="*/ 9836524 w 216"/>
              <a:gd name="T63" fmla="*/ 744022768 h 227"/>
              <a:gd name="T64" fmla="*/ 0 w 216"/>
              <a:gd name="T65" fmla="*/ 618956149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4"/>
                </a:moveTo>
                <a:lnTo>
                  <a:pt x="1" y="103"/>
                </a:lnTo>
                <a:lnTo>
                  <a:pt x="3" y="91"/>
                </a:lnTo>
                <a:lnTo>
                  <a:pt x="5" y="80"/>
                </a:lnTo>
                <a:lnTo>
                  <a:pt x="8" y="69"/>
                </a:lnTo>
                <a:lnTo>
                  <a:pt x="13" y="60"/>
                </a:lnTo>
                <a:lnTo>
                  <a:pt x="19" y="50"/>
                </a:lnTo>
                <a:lnTo>
                  <a:pt x="24" y="42"/>
                </a:lnTo>
                <a:lnTo>
                  <a:pt x="32" y="34"/>
                </a:lnTo>
                <a:lnTo>
                  <a:pt x="39" y="26"/>
                </a:lnTo>
                <a:lnTo>
                  <a:pt x="47" y="19"/>
                </a:lnTo>
                <a:lnTo>
                  <a:pt x="57" y="14"/>
                </a:lnTo>
                <a:lnTo>
                  <a:pt x="66" y="10"/>
                </a:lnTo>
                <a:lnTo>
                  <a:pt x="75" y="6"/>
                </a:lnTo>
                <a:lnTo>
                  <a:pt x="86" y="3"/>
                </a:lnTo>
                <a:lnTo>
                  <a:pt x="97" y="2"/>
                </a:lnTo>
                <a:lnTo>
                  <a:pt x="108" y="0"/>
                </a:lnTo>
                <a:lnTo>
                  <a:pt x="119" y="2"/>
                </a:lnTo>
                <a:lnTo>
                  <a:pt x="129" y="3"/>
                </a:lnTo>
                <a:lnTo>
                  <a:pt x="140" y="6"/>
                </a:lnTo>
                <a:lnTo>
                  <a:pt x="150" y="10"/>
                </a:lnTo>
                <a:lnTo>
                  <a:pt x="159" y="14"/>
                </a:lnTo>
                <a:lnTo>
                  <a:pt x="169" y="19"/>
                </a:lnTo>
                <a:lnTo>
                  <a:pt x="177" y="26"/>
                </a:lnTo>
                <a:lnTo>
                  <a:pt x="185" y="34"/>
                </a:lnTo>
                <a:lnTo>
                  <a:pt x="192" y="42"/>
                </a:lnTo>
                <a:lnTo>
                  <a:pt x="197" y="50"/>
                </a:lnTo>
                <a:lnTo>
                  <a:pt x="202" y="60"/>
                </a:lnTo>
                <a:lnTo>
                  <a:pt x="208" y="69"/>
                </a:lnTo>
                <a:lnTo>
                  <a:pt x="212" y="80"/>
                </a:lnTo>
                <a:lnTo>
                  <a:pt x="213" y="91"/>
                </a:lnTo>
                <a:lnTo>
                  <a:pt x="216" y="103"/>
                </a:lnTo>
                <a:lnTo>
                  <a:pt x="216" y="114"/>
                </a:lnTo>
                <a:lnTo>
                  <a:pt x="216" y="126"/>
                </a:lnTo>
                <a:lnTo>
                  <a:pt x="213" y="137"/>
                </a:lnTo>
                <a:lnTo>
                  <a:pt x="212" y="148"/>
                </a:lnTo>
                <a:lnTo>
                  <a:pt x="208" y="158"/>
                </a:lnTo>
                <a:lnTo>
                  <a:pt x="202" y="168"/>
                </a:lnTo>
                <a:lnTo>
                  <a:pt x="197" y="177"/>
                </a:lnTo>
                <a:lnTo>
                  <a:pt x="192" y="187"/>
                </a:lnTo>
                <a:lnTo>
                  <a:pt x="185" y="195"/>
                </a:lnTo>
                <a:lnTo>
                  <a:pt x="177" y="202"/>
                </a:lnTo>
                <a:lnTo>
                  <a:pt x="169" y="208"/>
                </a:lnTo>
                <a:lnTo>
                  <a:pt x="159" y="214"/>
                </a:lnTo>
                <a:lnTo>
                  <a:pt x="150" y="219"/>
                </a:lnTo>
                <a:lnTo>
                  <a:pt x="140" y="222"/>
                </a:lnTo>
                <a:lnTo>
                  <a:pt x="129" y="225"/>
                </a:lnTo>
                <a:lnTo>
                  <a:pt x="119" y="227"/>
                </a:lnTo>
                <a:lnTo>
                  <a:pt x="108" y="227"/>
                </a:lnTo>
                <a:lnTo>
                  <a:pt x="97" y="227"/>
                </a:lnTo>
                <a:lnTo>
                  <a:pt x="86" y="225"/>
                </a:lnTo>
                <a:lnTo>
                  <a:pt x="75" y="222"/>
                </a:lnTo>
                <a:lnTo>
                  <a:pt x="66" y="219"/>
                </a:lnTo>
                <a:lnTo>
                  <a:pt x="57" y="214"/>
                </a:lnTo>
                <a:lnTo>
                  <a:pt x="47" y="208"/>
                </a:lnTo>
                <a:lnTo>
                  <a:pt x="39" y="202"/>
                </a:lnTo>
                <a:lnTo>
                  <a:pt x="32" y="195"/>
                </a:lnTo>
                <a:lnTo>
                  <a:pt x="24" y="187"/>
                </a:lnTo>
                <a:lnTo>
                  <a:pt x="19" y="177"/>
                </a:lnTo>
                <a:lnTo>
                  <a:pt x="13" y="168"/>
                </a:lnTo>
                <a:lnTo>
                  <a:pt x="8" y="158"/>
                </a:lnTo>
                <a:lnTo>
                  <a:pt x="5" y="148"/>
                </a:lnTo>
                <a:lnTo>
                  <a:pt x="3" y="137"/>
                </a:lnTo>
                <a:lnTo>
                  <a:pt x="1" y="126"/>
                </a:lnTo>
                <a:lnTo>
                  <a:pt x="0" y="114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87" name="未知"/>
          <p:cNvSpPr>
            <a:spLocks/>
          </p:cNvSpPr>
          <p:nvPr/>
        </p:nvSpPr>
        <p:spPr bwMode="auto">
          <a:xfrm>
            <a:off x="6343987" y="1540457"/>
            <a:ext cx="280668" cy="301535"/>
          </a:xfrm>
          <a:custGeom>
            <a:avLst/>
            <a:gdLst>
              <a:gd name="T0" fmla="*/ 3132436 w 216"/>
              <a:gd name="T1" fmla="*/ 559741153 h 227"/>
              <a:gd name="T2" fmla="*/ 16248397 w 216"/>
              <a:gd name="T3" fmla="*/ 431963359 h 227"/>
              <a:gd name="T4" fmla="*/ 44718601 w 216"/>
              <a:gd name="T5" fmla="*/ 326584817 h 227"/>
              <a:gd name="T6" fmla="*/ 81008170 w 216"/>
              <a:gd name="T7" fmla="*/ 227932445 h 227"/>
              <a:gd name="T8" fmla="*/ 133056879 w 216"/>
              <a:gd name="T9" fmla="*/ 139722493 h 227"/>
              <a:gd name="T10" fmla="*/ 193570726 w 216"/>
              <a:gd name="T11" fmla="*/ 75813534 h 227"/>
              <a:gd name="T12" fmla="*/ 253391593 w 216"/>
              <a:gd name="T13" fmla="*/ 33107939 h 227"/>
              <a:gd name="T14" fmla="*/ 328077895 w 216"/>
              <a:gd name="T15" fmla="*/ 10147193 h 227"/>
              <a:gd name="T16" fmla="*/ 404053641 w 216"/>
              <a:gd name="T17" fmla="*/ 10147193 h 227"/>
              <a:gd name="T18" fmla="*/ 473614015 w 216"/>
              <a:gd name="T19" fmla="*/ 33107939 h 227"/>
              <a:gd name="T20" fmla="*/ 538647947 w 216"/>
              <a:gd name="T21" fmla="*/ 75813534 h 227"/>
              <a:gd name="T22" fmla="*/ 599974025 w 216"/>
              <a:gd name="T23" fmla="*/ 139722493 h 227"/>
              <a:gd name="T24" fmla="*/ 651021663 w 216"/>
              <a:gd name="T25" fmla="*/ 227932445 h 227"/>
              <a:gd name="T26" fmla="*/ 684280176 w 216"/>
              <a:gd name="T27" fmla="*/ 326584817 h 227"/>
              <a:gd name="T28" fmla="*/ 719059846 w 216"/>
              <a:gd name="T29" fmla="*/ 431963359 h 227"/>
              <a:gd name="T30" fmla="*/ 732218540 w 216"/>
              <a:gd name="T31" fmla="*/ 559741153 h 227"/>
              <a:gd name="T32" fmla="*/ 732218540 w 216"/>
              <a:gd name="T33" fmla="*/ 618956149 h 227"/>
              <a:gd name="T34" fmla="*/ 722192024 w 216"/>
              <a:gd name="T35" fmla="*/ 744022768 h 227"/>
              <a:gd name="T36" fmla="*/ 706123720 w 216"/>
              <a:gd name="T37" fmla="*/ 857787430 h 227"/>
              <a:gd name="T38" fmla="*/ 668021454 w 216"/>
              <a:gd name="T39" fmla="*/ 958434412 h 227"/>
              <a:gd name="T40" fmla="*/ 628521798 w 216"/>
              <a:gd name="T41" fmla="*/ 1057112630 h 227"/>
              <a:gd name="T42" fmla="*/ 573427077 w 216"/>
              <a:gd name="T43" fmla="*/ 1126388021 h 227"/>
              <a:gd name="T44" fmla="*/ 508488705 w 216"/>
              <a:gd name="T45" fmla="*/ 1185978067 h 227"/>
              <a:gd name="T46" fmla="*/ 437297754 w 216"/>
              <a:gd name="T47" fmla="*/ 1220474701 h 227"/>
              <a:gd name="T48" fmla="*/ 366134183 w 216"/>
              <a:gd name="T49" fmla="*/ 1230410188 h 227"/>
              <a:gd name="T50" fmla="*/ 291664425 w 216"/>
              <a:gd name="T51" fmla="*/ 1220474701 h 227"/>
              <a:gd name="T52" fmla="*/ 223644091 w 216"/>
              <a:gd name="T53" fmla="*/ 1185978067 h 227"/>
              <a:gd name="T54" fmla="*/ 158792020 w 216"/>
              <a:gd name="T55" fmla="*/ 1126388021 h 227"/>
              <a:gd name="T56" fmla="*/ 107753531 w 216"/>
              <a:gd name="T57" fmla="*/ 1057112630 h 227"/>
              <a:gd name="T58" fmla="*/ 65023271 w 216"/>
              <a:gd name="T59" fmla="*/ 958434412 h 227"/>
              <a:gd name="T60" fmla="*/ 26840323 w 216"/>
              <a:gd name="T61" fmla="*/ 857787430 h 227"/>
              <a:gd name="T62" fmla="*/ 9836524 w 216"/>
              <a:gd name="T63" fmla="*/ 744022768 h 227"/>
              <a:gd name="T64" fmla="*/ 0 w 216"/>
              <a:gd name="T65" fmla="*/ 618956149 h 2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7"/>
              <a:gd name="T101" fmla="*/ 216 w 216"/>
              <a:gd name="T102" fmla="*/ 227 h 22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7">
                <a:moveTo>
                  <a:pt x="0" y="114"/>
                </a:moveTo>
                <a:lnTo>
                  <a:pt x="1" y="103"/>
                </a:lnTo>
                <a:lnTo>
                  <a:pt x="3" y="91"/>
                </a:lnTo>
                <a:lnTo>
                  <a:pt x="5" y="80"/>
                </a:lnTo>
                <a:lnTo>
                  <a:pt x="8" y="69"/>
                </a:lnTo>
                <a:lnTo>
                  <a:pt x="13" y="60"/>
                </a:lnTo>
                <a:lnTo>
                  <a:pt x="19" y="50"/>
                </a:lnTo>
                <a:lnTo>
                  <a:pt x="24" y="42"/>
                </a:lnTo>
                <a:lnTo>
                  <a:pt x="32" y="34"/>
                </a:lnTo>
                <a:lnTo>
                  <a:pt x="39" y="26"/>
                </a:lnTo>
                <a:lnTo>
                  <a:pt x="47" y="19"/>
                </a:lnTo>
                <a:lnTo>
                  <a:pt x="57" y="14"/>
                </a:lnTo>
                <a:lnTo>
                  <a:pt x="66" y="10"/>
                </a:lnTo>
                <a:lnTo>
                  <a:pt x="75" y="6"/>
                </a:lnTo>
                <a:lnTo>
                  <a:pt x="86" y="3"/>
                </a:lnTo>
                <a:lnTo>
                  <a:pt x="97" y="2"/>
                </a:lnTo>
                <a:lnTo>
                  <a:pt x="108" y="0"/>
                </a:lnTo>
                <a:lnTo>
                  <a:pt x="119" y="2"/>
                </a:lnTo>
                <a:lnTo>
                  <a:pt x="129" y="3"/>
                </a:lnTo>
                <a:lnTo>
                  <a:pt x="140" y="6"/>
                </a:lnTo>
                <a:lnTo>
                  <a:pt x="150" y="10"/>
                </a:lnTo>
                <a:lnTo>
                  <a:pt x="159" y="14"/>
                </a:lnTo>
                <a:lnTo>
                  <a:pt x="169" y="19"/>
                </a:lnTo>
                <a:lnTo>
                  <a:pt x="177" y="26"/>
                </a:lnTo>
                <a:lnTo>
                  <a:pt x="185" y="34"/>
                </a:lnTo>
                <a:lnTo>
                  <a:pt x="192" y="42"/>
                </a:lnTo>
                <a:lnTo>
                  <a:pt x="197" y="50"/>
                </a:lnTo>
                <a:lnTo>
                  <a:pt x="202" y="60"/>
                </a:lnTo>
                <a:lnTo>
                  <a:pt x="208" y="69"/>
                </a:lnTo>
                <a:lnTo>
                  <a:pt x="212" y="80"/>
                </a:lnTo>
                <a:lnTo>
                  <a:pt x="213" y="91"/>
                </a:lnTo>
                <a:lnTo>
                  <a:pt x="216" y="103"/>
                </a:lnTo>
                <a:lnTo>
                  <a:pt x="216" y="114"/>
                </a:lnTo>
                <a:lnTo>
                  <a:pt x="216" y="126"/>
                </a:lnTo>
                <a:lnTo>
                  <a:pt x="213" y="137"/>
                </a:lnTo>
                <a:lnTo>
                  <a:pt x="212" y="148"/>
                </a:lnTo>
                <a:lnTo>
                  <a:pt x="208" y="158"/>
                </a:lnTo>
                <a:lnTo>
                  <a:pt x="202" y="168"/>
                </a:lnTo>
                <a:lnTo>
                  <a:pt x="197" y="177"/>
                </a:lnTo>
                <a:lnTo>
                  <a:pt x="192" y="187"/>
                </a:lnTo>
                <a:lnTo>
                  <a:pt x="185" y="195"/>
                </a:lnTo>
                <a:lnTo>
                  <a:pt x="177" y="202"/>
                </a:lnTo>
                <a:lnTo>
                  <a:pt x="169" y="208"/>
                </a:lnTo>
                <a:lnTo>
                  <a:pt x="159" y="214"/>
                </a:lnTo>
                <a:lnTo>
                  <a:pt x="150" y="219"/>
                </a:lnTo>
                <a:lnTo>
                  <a:pt x="140" y="222"/>
                </a:lnTo>
                <a:lnTo>
                  <a:pt x="129" y="225"/>
                </a:lnTo>
                <a:lnTo>
                  <a:pt x="119" y="227"/>
                </a:lnTo>
                <a:lnTo>
                  <a:pt x="108" y="227"/>
                </a:lnTo>
                <a:lnTo>
                  <a:pt x="97" y="227"/>
                </a:lnTo>
                <a:lnTo>
                  <a:pt x="86" y="225"/>
                </a:lnTo>
                <a:lnTo>
                  <a:pt x="75" y="222"/>
                </a:lnTo>
                <a:lnTo>
                  <a:pt x="66" y="219"/>
                </a:lnTo>
                <a:lnTo>
                  <a:pt x="57" y="214"/>
                </a:lnTo>
                <a:lnTo>
                  <a:pt x="47" y="208"/>
                </a:lnTo>
                <a:lnTo>
                  <a:pt x="39" y="202"/>
                </a:lnTo>
                <a:lnTo>
                  <a:pt x="32" y="195"/>
                </a:lnTo>
                <a:lnTo>
                  <a:pt x="24" y="187"/>
                </a:lnTo>
                <a:lnTo>
                  <a:pt x="19" y="177"/>
                </a:lnTo>
                <a:lnTo>
                  <a:pt x="13" y="168"/>
                </a:lnTo>
                <a:lnTo>
                  <a:pt x="8" y="158"/>
                </a:lnTo>
                <a:lnTo>
                  <a:pt x="5" y="148"/>
                </a:lnTo>
                <a:lnTo>
                  <a:pt x="3" y="137"/>
                </a:lnTo>
                <a:lnTo>
                  <a:pt x="1" y="126"/>
                </a:lnTo>
                <a:lnTo>
                  <a:pt x="0" y="114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88" name="Rectangle 185"/>
          <p:cNvSpPr>
            <a:spLocks noChangeArrowheads="1"/>
          </p:cNvSpPr>
          <p:nvPr/>
        </p:nvSpPr>
        <p:spPr bwMode="auto">
          <a:xfrm>
            <a:off x="6445586" y="1600764"/>
            <a:ext cx="64135" cy="153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>
                <a:solidFill>
                  <a:srgbClr val="FF0000"/>
                </a:solidFill>
                <a:latin typeface="宋体" pitchFamily="2" charset="-122"/>
              </a:rPr>
              <a:t>B</a:t>
            </a:r>
            <a:endParaRPr lang="en-US" altLang="zh-CN" sz="1000" b="1">
              <a:solidFill>
                <a:srgbClr val="FF0000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389" name="未知"/>
          <p:cNvSpPr>
            <a:spLocks/>
          </p:cNvSpPr>
          <p:nvPr/>
        </p:nvSpPr>
        <p:spPr bwMode="auto">
          <a:xfrm>
            <a:off x="6343987" y="2968780"/>
            <a:ext cx="280668" cy="301535"/>
          </a:xfrm>
          <a:custGeom>
            <a:avLst/>
            <a:gdLst>
              <a:gd name="T0" fmla="*/ 3132436 w 216"/>
              <a:gd name="T1" fmla="*/ 605799974 h 226"/>
              <a:gd name="T2" fmla="*/ 16248397 w 216"/>
              <a:gd name="T3" fmla="*/ 470234226 h 226"/>
              <a:gd name="T4" fmla="*/ 44718601 w 216"/>
              <a:gd name="T5" fmla="*/ 351636369 h 226"/>
              <a:gd name="T6" fmla="*/ 81008170 w 216"/>
              <a:gd name="T7" fmla="*/ 243453492 h 226"/>
              <a:gd name="T8" fmla="*/ 133056879 w 216"/>
              <a:gd name="T9" fmla="*/ 149345652 h 226"/>
              <a:gd name="T10" fmla="*/ 193570726 w 216"/>
              <a:gd name="T11" fmla="*/ 76838499 h 226"/>
              <a:gd name="T12" fmla="*/ 253391593 w 216"/>
              <a:gd name="T13" fmla="*/ 30747017 h 226"/>
              <a:gd name="T14" fmla="*/ 328077895 w 216"/>
              <a:gd name="T15" fmla="*/ 5246112 h 226"/>
              <a:gd name="T16" fmla="*/ 404053641 w 216"/>
              <a:gd name="T17" fmla="*/ 5246112 h 226"/>
              <a:gd name="T18" fmla="*/ 473614015 w 216"/>
              <a:gd name="T19" fmla="*/ 30747017 h 226"/>
              <a:gd name="T20" fmla="*/ 538647947 w 216"/>
              <a:gd name="T21" fmla="*/ 76838499 h 226"/>
              <a:gd name="T22" fmla="*/ 599974025 w 216"/>
              <a:gd name="T23" fmla="*/ 149345652 h 226"/>
              <a:gd name="T24" fmla="*/ 651021663 w 216"/>
              <a:gd name="T25" fmla="*/ 243453492 h 226"/>
              <a:gd name="T26" fmla="*/ 684280176 w 216"/>
              <a:gd name="T27" fmla="*/ 351636369 h 226"/>
              <a:gd name="T28" fmla="*/ 719059846 w 216"/>
              <a:gd name="T29" fmla="*/ 470234226 h 226"/>
              <a:gd name="T30" fmla="*/ 732218540 w 216"/>
              <a:gd name="T31" fmla="*/ 605799974 h 226"/>
              <a:gd name="T32" fmla="*/ 732218540 w 216"/>
              <a:gd name="T33" fmla="*/ 673247391 h 226"/>
              <a:gd name="T34" fmla="*/ 728896509 w 216"/>
              <a:gd name="T35" fmla="*/ 809121661 h 226"/>
              <a:gd name="T36" fmla="*/ 706123720 w 216"/>
              <a:gd name="T37" fmla="*/ 939556915 h 226"/>
              <a:gd name="T38" fmla="*/ 668021454 w 216"/>
              <a:gd name="T39" fmla="*/ 1047187779 h 226"/>
              <a:gd name="T40" fmla="*/ 628521798 w 216"/>
              <a:gd name="T41" fmla="*/ 1154717196 h 226"/>
              <a:gd name="T42" fmla="*/ 573427077 w 216"/>
              <a:gd name="T43" fmla="*/ 1235532183 h 226"/>
              <a:gd name="T44" fmla="*/ 508488705 w 216"/>
              <a:gd name="T45" fmla="*/ 1296425926 h 226"/>
              <a:gd name="T46" fmla="*/ 437297754 w 216"/>
              <a:gd name="T47" fmla="*/ 1332984545 h 226"/>
              <a:gd name="T48" fmla="*/ 366134183 w 216"/>
              <a:gd name="T49" fmla="*/ 1343980891 h 226"/>
              <a:gd name="T50" fmla="*/ 291664425 w 216"/>
              <a:gd name="T51" fmla="*/ 1332984545 h 226"/>
              <a:gd name="T52" fmla="*/ 223644091 w 216"/>
              <a:gd name="T53" fmla="*/ 1296425926 h 226"/>
              <a:gd name="T54" fmla="*/ 158792020 w 216"/>
              <a:gd name="T55" fmla="*/ 1235532183 h 226"/>
              <a:gd name="T56" fmla="*/ 107753531 w 216"/>
              <a:gd name="T57" fmla="*/ 1154717196 h 226"/>
              <a:gd name="T58" fmla="*/ 65023271 w 216"/>
              <a:gd name="T59" fmla="*/ 1047187779 h 226"/>
              <a:gd name="T60" fmla="*/ 26840323 w 216"/>
              <a:gd name="T61" fmla="*/ 939556915 h 226"/>
              <a:gd name="T62" fmla="*/ 9836524 w 216"/>
              <a:gd name="T63" fmla="*/ 809121661 h 226"/>
              <a:gd name="T64" fmla="*/ 0 w 216"/>
              <a:gd name="T65" fmla="*/ 673247391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3" y="90"/>
                </a:lnTo>
                <a:lnTo>
                  <a:pt x="5" y="79"/>
                </a:lnTo>
                <a:lnTo>
                  <a:pt x="8" y="68"/>
                </a:lnTo>
                <a:lnTo>
                  <a:pt x="13" y="59"/>
                </a:lnTo>
                <a:lnTo>
                  <a:pt x="19" y="50"/>
                </a:lnTo>
                <a:lnTo>
                  <a:pt x="24" y="41"/>
                </a:lnTo>
                <a:lnTo>
                  <a:pt x="32" y="33"/>
                </a:lnTo>
                <a:lnTo>
                  <a:pt x="39" y="25"/>
                </a:lnTo>
                <a:lnTo>
                  <a:pt x="47" y="18"/>
                </a:lnTo>
                <a:lnTo>
                  <a:pt x="57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2"/>
                </a:lnTo>
                <a:lnTo>
                  <a:pt x="140" y="5"/>
                </a:lnTo>
                <a:lnTo>
                  <a:pt x="150" y="9"/>
                </a:lnTo>
                <a:lnTo>
                  <a:pt x="159" y="13"/>
                </a:lnTo>
                <a:lnTo>
                  <a:pt x="169" y="18"/>
                </a:lnTo>
                <a:lnTo>
                  <a:pt x="177" y="25"/>
                </a:lnTo>
                <a:lnTo>
                  <a:pt x="185" y="33"/>
                </a:lnTo>
                <a:lnTo>
                  <a:pt x="192" y="41"/>
                </a:lnTo>
                <a:lnTo>
                  <a:pt x="197" y="50"/>
                </a:lnTo>
                <a:lnTo>
                  <a:pt x="202" y="59"/>
                </a:lnTo>
                <a:lnTo>
                  <a:pt x="208" y="68"/>
                </a:lnTo>
                <a:lnTo>
                  <a:pt x="212" y="79"/>
                </a:lnTo>
                <a:lnTo>
                  <a:pt x="215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2" y="167"/>
                </a:lnTo>
                <a:lnTo>
                  <a:pt x="197" y="176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59" y="213"/>
                </a:lnTo>
                <a:lnTo>
                  <a:pt x="150" y="218"/>
                </a:lnTo>
                <a:lnTo>
                  <a:pt x="140" y="221"/>
                </a:lnTo>
                <a:lnTo>
                  <a:pt x="129" y="224"/>
                </a:lnTo>
                <a:lnTo>
                  <a:pt x="119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4"/>
                </a:lnTo>
                <a:lnTo>
                  <a:pt x="75" y="221"/>
                </a:lnTo>
                <a:lnTo>
                  <a:pt x="66" y="218"/>
                </a:lnTo>
                <a:lnTo>
                  <a:pt x="57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9" y="176"/>
                </a:lnTo>
                <a:lnTo>
                  <a:pt x="13" y="167"/>
                </a:lnTo>
                <a:lnTo>
                  <a:pt x="8" y="158"/>
                </a:lnTo>
                <a:lnTo>
                  <a:pt x="5" y="147"/>
                </a:lnTo>
                <a:lnTo>
                  <a:pt x="3" y="136"/>
                </a:lnTo>
                <a:lnTo>
                  <a:pt x="1" y="125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0" name="未知"/>
          <p:cNvSpPr>
            <a:spLocks/>
          </p:cNvSpPr>
          <p:nvPr/>
        </p:nvSpPr>
        <p:spPr bwMode="auto">
          <a:xfrm>
            <a:off x="6343987" y="2968780"/>
            <a:ext cx="280668" cy="301535"/>
          </a:xfrm>
          <a:custGeom>
            <a:avLst/>
            <a:gdLst>
              <a:gd name="T0" fmla="*/ 3132436 w 216"/>
              <a:gd name="T1" fmla="*/ 605799974 h 226"/>
              <a:gd name="T2" fmla="*/ 16248397 w 216"/>
              <a:gd name="T3" fmla="*/ 470234226 h 226"/>
              <a:gd name="T4" fmla="*/ 44718601 w 216"/>
              <a:gd name="T5" fmla="*/ 351636369 h 226"/>
              <a:gd name="T6" fmla="*/ 81008170 w 216"/>
              <a:gd name="T7" fmla="*/ 243453492 h 226"/>
              <a:gd name="T8" fmla="*/ 133056879 w 216"/>
              <a:gd name="T9" fmla="*/ 149345652 h 226"/>
              <a:gd name="T10" fmla="*/ 193570726 w 216"/>
              <a:gd name="T11" fmla="*/ 76838499 h 226"/>
              <a:gd name="T12" fmla="*/ 253391593 w 216"/>
              <a:gd name="T13" fmla="*/ 30747017 h 226"/>
              <a:gd name="T14" fmla="*/ 328077895 w 216"/>
              <a:gd name="T15" fmla="*/ 5246112 h 226"/>
              <a:gd name="T16" fmla="*/ 404053641 w 216"/>
              <a:gd name="T17" fmla="*/ 5246112 h 226"/>
              <a:gd name="T18" fmla="*/ 473614015 w 216"/>
              <a:gd name="T19" fmla="*/ 30747017 h 226"/>
              <a:gd name="T20" fmla="*/ 538647947 w 216"/>
              <a:gd name="T21" fmla="*/ 76838499 h 226"/>
              <a:gd name="T22" fmla="*/ 599974025 w 216"/>
              <a:gd name="T23" fmla="*/ 149345652 h 226"/>
              <a:gd name="T24" fmla="*/ 651021663 w 216"/>
              <a:gd name="T25" fmla="*/ 243453492 h 226"/>
              <a:gd name="T26" fmla="*/ 684280176 w 216"/>
              <a:gd name="T27" fmla="*/ 351636369 h 226"/>
              <a:gd name="T28" fmla="*/ 719059846 w 216"/>
              <a:gd name="T29" fmla="*/ 470234226 h 226"/>
              <a:gd name="T30" fmla="*/ 732218540 w 216"/>
              <a:gd name="T31" fmla="*/ 605799974 h 226"/>
              <a:gd name="T32" fmla="*/ 732218540 w 216"/>
              <a:gd name="T33" fmla="*/ 673247391 h 226"/>
              <a:gd name="T34" fmla="*/ 728896509 w 216"/>
              <a:gd name="T35" fmla="*/ 809121661 h 226"/>
              <a:gd name="T36" fmla="*/ 706123720 w 216"/>
              <a:gd name="T37" fmla="*/ 939556915 h 226"/>
              <a:gd name="T38" fmla="*/ 668021454 w 216"/>
              <a:gd name="T39" fmla="*/ 1047187779 h 226"/>
              <a:gd name="T40" fmla="*/ 628521798 w 216"/>
              <a:gd name="T41" fmla="*/ 1154717196 h 226"/>
              <a:gd name="T42" fmla="*/ 573427077 w 216"/>
              <a:gd name="T43" fmla="*/ 1235532183 h 226"/>
              <a:gd name="T44" fmla="*/ 508488705 w 216"/>
              <a:gd name="T45" fmla="*/ 1296425926 h 226"/>
              <a:gd name="T46" fmla="*/ 437297754 w 216"/>
              <a:gd name="T47" fmla="*/ 1332984545 h 226"/>
              <a:gd name="T48" fmla="*/ 366134183 w 216"/>
              <a:gd name="T49" fmla="*/ 1343980891 h 226"/>
              <a:gd name="T50" fmla="*/ 291664425 w 216"/>
              <a:gd name="T51" fmla="*/ 1332984545 h 226"/>
              <a:gd name="T52" fmla="*/ 223644091 w 216"/>
              <a:gd name="T53" fmla="*/ 1296425926 h 226"/>
              <a:gd name="T54" fmla="*/ 158792020 w 216"/>
              <a:gd name="T55" fmla="*/ 1235532183 h 226"/>
              <a:gd name="T56" fmla="*/ 107753531 w 216"/>
              <a:gd name="T57" fmla="*/ 1154717196 h 226"/>
              <a:gd name="T58" fmla="*/ 65023271 w 216"/>
              <a:gd name="T59" fmla="*/ 1047187779 h 226"/>
              <a:gd name="T60" fmla="*/ 26840323 w 216"/>
              <a:gd name="T61" fmla="*/ 939556915 h 226"/>
              <a:gd name="T62" fmla="*/ 9836524 w 216"/>
              <a:gd name="T63" fmla="*/ 809121661 h 226"/>
              <a:gd name="T64" fmla="*/ 0 w 216"/>
              <a:gd name="T65" fmla="*/ 673247391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3" y="90"/>
                </a:lnTo>
                <a:lnTo>
                  <a:pt x="5" y="79"/>
                </a:lnTo>
                <a:lnTo>
                  <a:pt x="8" y="68"/>
                </a:lnTo>
                <a:lnTo>
                  <a:pt x="13" y="59"/>
                </a:lnTo>
                <a:lnTo>
                  <a:pt x="19" y="50"/>
                </a:lnTo>
                <a:lnTo>
                  <a:pt x="24" y="41"/>
                </a:lnTo>
                <a:lnTo>
                  <a:pt x="32" y="33"/>
                </a:lnTo>
                <a:lnTo>
                  <a:pt x="39" y="25"/>
                </a:lnTo>
                <a:lnTo>
                  <a:pt x="47" y="18"/>
                </a:lnTo>
                <a:lnTo>
                  <a:pt x="57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2"/>
                </a:lnTo>
                <a:lnTo>
                  <a:pt x="140" y="5"/>
                </a:lnTo>
                <a:lnTo>
                  <a:pt x="150" y="9"/>
                </a:lnTo>
                <a:lnTo>
                  <a:pt x="159" y="13"/>
                </a:lnTo>
                <a:lnTo>
                  <a:pt x="169" y="18"/>
                </a:lnTo>
                <a:lnTo>
                  <a:pt x="177" y="25"/>
                </a:lnTo>
                <a:lnTo>
                  <a:pt x="185" y="33"/>
                </a:lnTo>
                <a:lnTo>
                  <a:pt x="192" y="41"/>
                </a:lnTo>
                <a:lnTo>
                  <a:pt x="197" y="50"/>
                </a:lnTo>
                <a:lnTo>
                  <a:pt x="202" y="59"/>
                </a:lnTo>
                <a:lnTo>
                  <a:pt x="208" y="68"/>
                </a:lnTo>
                <a:lnTo>
                  <a:pt x="212" y="79"/>
                </a:lnTo>
                <a:lnTo>
                  <a:pt x="215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2" y="167"/>
                </a:lnTo>
                <a:lnTo>
                  <a:pt x="197" y="176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59" y="213"/>
                </a:lnTo>
                <a:lnTo>
                  <a:pt x="150" y="218"/>
                </a:lnTo>
                <a:lnTo>
                  <a:pt x="140" y="221"/>
                </a:lnTo>
                <a:lnTo>
                  <a:pt x="129" y="224"/>
                </a:lnTo>
                <a:lnTo>
                  <a:pt x="119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4"/>
                </a:lnTo>
                <a:lnTo>
                  <a:pt x="75" y="221"/>
                </a:lnTo>
                <a:lnTo>
                  <a:pt x="66" y="218"/>
                </a:lnTo>
                <a:lnTo>
                  <a:pt x="57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9" y="176"/>
                </a:lnTo>
                <a:lnTo>
                  <a:pt x="13" y="167"/>
                </a:lnTo>
                <a:lnTo>
                  <a:pt x="8" y="158"/>
                </a:lnTo>
                <a:lnTo>
                  <a:pt x="5" y="147"/>
                </a:lnTo>
                <a:lnTo>
                  <a:pt x="3" y="136"/>
                </a:lnTo>
                <a:lnTo>
                  <a:pt x="1" y="125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1" name="Rectangle 188"/>
          <p:cNvSpPr>
            <a:spLocks noChangeArrowheads="1"/>
          </p:cNvSpPr>
          <p:nvPr/>
        </p:nvSpPr>
        <p:spPr bwMode="auto">
          <a:xfrm>
            <a:off x="6445586" y="3029087"/>
            <a:ext cx="63500" cy="154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 dirty="0">
                <a:solidFill>
                  <a:srgbClr val="FF0000"/>
                </a:solidFill>
                <a:latin typeface="宋体" pitchFamily="2" charset="-122"/>
              </a:rPr>
              <a:t>C</a:t>
            </a:r>
            <a:endParaRPr lang="en-US" altLang="zh-CN" sz="1000" b="1" dirty="0">
              <a:solidFill>
                <a:srgbClr val="FF0000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392" name="未知"/>
          <p:cNvSpPr>
            <a:spLocks/>
          </p:cNvSpPr>
          <p:nvPr/>
        </p:nvSpPr>
        <p:spPr bwMode="auto">
          <a:xfrm>
            <a:off x="6921833" y="2256523"/>
            <a:ext cx="280668" cy="299630"/>
          </a:xfrm>
          <a:custGeom>
            <a:avLst/>
            <a:gdLst>
              <a:gd name="T0" fmla="*/ 3132436 w 216"/>
              <a:gd name="T1" fmla="*/ 530921433 h 226"/>
              <a:gd name="T2" fmla="*/ 16248397 w 216"/>
              <a:gd name="T3" fmla="*/ 412030994 h 226"/>
              <a:gd name="T4" fmla="*/ 44718601 w 216"/>
              <a:gd name="T5" fmla="*/ 306955967 h 226"/>
              <a:gd name="T6" fmla="*/ 81008170 w 216"/>
              <a:gd name="T7" fmla="*/ 214744967 h 226"/>
              <a:gd name="T8" fmla="*/ 133056879 w 216"/>
              <a:gd name="T9" fmla="*/ 130247567 h 226"/>
              <a:gd name="T10" fmla="*/ 190341245 w 216"/>
              <a:gd name="T11" fmla="*/ 66805270 h 226"/>
              <a:gd name="T12" fmla="*/ 253391593 w 216"/>
              <a:gd name="T13" fmla="*/ 25142567 h 226"/>
              <a:gd name="T14" fmla="*/ 328077895 w 216"/>
              <a:gd name="T15" fmla="*/ 4719390 h 226"/>
              <a:gd name="T16" fmla="*/ 404053641 w 216"/>
              <a:gd name="T17" fmla="*/ 4719390 h 226"/>
              <a:gd name="T18" fmla="*/ 473614015 w 216"/>
              <a:gd name="T19" fmla="*/ 25142567 h 226"/>
              <a:gd name="T20" fmla="*/ 538647947 w 216"/>
              <a:gd name="T21" fmla="*/ 66805270 h 226"/>
              <a:gd name="T22" fmla="*/ 599974025 w 216"/>
              <a:gd name="T23" fmla="*/ 130247567 h 226"/>
              <a:gd name="T24" fmla="*/ 647868110 w 216"/>
              <a:gd name="T25" fmla="*/ 214744967 h 226"/>
              <a:gd name="T26" fmla="*/ 684280176 w 216"/>
              <a:gd name="T27" fmla="*/ 306955967 h 226"/>
              <a:gd name="T28" fmla="*/ 719059846 w 216"/>
              <a:gd name="T29" fmla="*/ 412030994 h 226"/>
              <a:gd name="T30" fmla="*/ 732218540 w 216"/>
              <a:gd name="T31" fmla="*/ 530921433 h 226"/>
              <a:gd name="T32" fmla="*/ 732218540 w 216"/>
              <a:gd name="T33" fmla="*/ 588560306 h 226"/>
              <a:gd name="T34" fmla="*/ 725469299 w 216"/>
              <a:gd name="T35" fmla="*/ 707635123 h 226"/>
              <a:gd name="T36" fmla="*/ 706123720 w 216"/>
              <a:gd name="T37" fmla="*/ 817938906 h 226"/>
              <a:gd name="T38" fmla="*/ 668021454 w 216"/>
              <a:gd name="T39" fmla="*/ 917805539 h 226"/>
              <a:gd name="T40" fmla="*/ 628521798 w 216"/>
              <a:gd name="T41" fmla="*/ 1009756555 h 226"/>
              <a:gd name="T42" fmla="*/ 570381366 w 216"/>
              <a:gd name="T43" fmla="*/ 1076707342 h 226"/>
              <a:gd name="T44" fmla="*/ 508488705 w 216"/>
              <a:gd name="T45" fmla="*/ 1133989214 h 226"/>
              <a:gd name="T46" fmla="*/ 437297754 w 216"/>
              <a:gd name="T47" fmla="*/ 1165977676 h 226"/>
              <a:gd name="T48" fmla="*/ 366134183 w 216"/>
              <a:gd name="T49" fmla="*/ 1176707096 h 226"/>
              <a:gd name="T50" fmla="*/ 291664425 w 216"/>
              <a:gd name="T51" fmla="*/ 1165977676 h 226"/>
              <a:gd name="T52" fmla="*/ 223644091 w 216"/>
              <a:gd name="T53" fmla="*/ 1133989214 h 226"/>
              <a:gd name="T54" fmla="*/ 158792020 w 216"/>
              <a:gd name="T55" fmla="*/ 1076707342 h 226"/>
              <a:gd name="T56" fmla="*/ 107753531 w 216"/>
              <a:gd name="T57" fmla="*/ 1009756555 h 226"/>
              <a:gd name="T58" fmla="*/ 65023271 w 216"/>
              <a:gd name="T59" fmla="*/ 917805539 h 226"/>
              <a:gd name="T60" fmla="*/ 26840323 w 216"/>
              <a:gd name="T61" fmla="*/ 817938906 h 226"/>
              <a:gd name="T62" fmla="*/ 6409892 w 216"/>
              <a:gd name="T63" fmla="*/ 707635123 h 226"/>
              <a:gd name="T64" fmla="*/ 0 w 216"/>
              <a:gd name="T65" fmla="*/ 588560306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2" y="90"/>
                </a:lnTo>
                <a:lnTo>
                  <a:pt x="5" y="79"/>
                </a:lnTo>
                <a:lnTo>
                  <a:pt x="8" y="68"/>
                </a:lnTo>
                <a:lnTo>
                  <a:pt x="13" y="59"/>
                </a:lnTo>
                <a:lnTo>
                  <a:pt x="19" y="49"/>
                </a:lnTo>
                <a:lnTo>
                  <a:pt x="24" y="41"/>
                </a:lnTo>
                <a:lnTo>
                  <a:pt x="32" y="33"/>
                </a:lnTo>
                <a:lnTo>
                  <a:pt x="39" y="25"/>
                </a:lnTo>
                <a:lnTo>
                  <a:pt x="47" y="18"/>
                </a:lnTo>
                <a:lnTo>
                  <a:pt x="56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2"/>
                </a:lnTo>
                <a:lnTo>
                  <a:pt x="140" y="5"/>
                </a:lnTo>
                <a:lnTo>
                  <a:pt x="150" y="9"/>
                </a:lnTo>
                <a:lnTo>
                  <a:pt x="159" y="13"/>
                </a:lnTo>
                <a:lnTo>
                  <a:pt x="168" y="18"/>
                </a:lnTo>
                <a:lnTo>
                  <a:pt x="177" y="25"/>
                </a:lnTo>
                <a:lnTo>
                  <a:pt x="185" y="33"/>
                </a:lnTo>
                <a:lnTo>
                  <a:pt x="191" y="41"/>
                </a:lnTo>
                <a:lnTo>
                  <a:pt x="197" y="49"/>
                </a:lnTo>
                <a:lnTo>
                  <a:pt x="202" y="59"/>
                </a:lnTo>
                <a:lnTo>
                  <a:pt x="208" y="68"/>
                </a:lnTo>
                <a:lnTo>
                  <a:pt x="212" y="79"/>
                </a:lnTo>
                <a:lnTo>
                  <a:pt x="214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4" y="136"/>
                </a:lnTo>
                <a:lnTo>
                  <a:pt x="212" y="147"/>
                </a:lnTo>
                <a:lnTo>
                  <a:pt x="208" y="157"/>
                </a:lnTo>
                <a:lnTo>
                  <a:pt x="202" y="167"/>
                </a:lnTo>
                <a:lnTo>
                  <a:pt x="197" y="176"/>
                </a:lnTo>
                <a:lnTo>
                  <a:pt x="191" y="186"/>
                </a:lnTo>
                <a:lnTo>
                  <a:pt x="185" y="194"/>
                </a:lnTo>
                <a:lnTo>
                  <a:pt x="177" y="201"/>
                </a:lnTo>
                <a:lnTo>
                  <a:pt x="168" y="207"/>
                </a:lnTo>
                <a:lnTo>
                  <a:pt x="159" y="213"/>
                </a:lnTo>
                <a:lnTo>
                  <a:pt x="150" y="218"/>
                </a:lnTo>
                <a:lnTo>
                  <a:pt x="140" y="221"/>
                </a:lnTo>
                <a:lnTo>
                  <a:pt x="129" y="224"/>
                </a:lnTo>
                <a:lnTo>
                  <a:pt x="119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4"/>
                </a:lnTo>
                <a:lnTo>
                  <a:pt x="75" y="221"/>
                </a:lnTo>
                <a:lnTo>
                  <a:pt x="66" y="218"/>
                </a:lnTo>
                <a:lnTo>
                  <a:pt x="56" y="213"/>
                </a:lnTo>
                <a:lnTo>
                  <a:pt x="47" y="207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9" y="176"/>
                </a:lnTo>
                <a:lnTo>
                  <a:pt x="13" y="167"/>
                </a:lnTo>
                <a:lnTo>
                  <a:pt x="8" y="157"/>
                </a:lnTo>
                <a:lnTo>
                  <a:pt x="5" y="147"/>
                </a:lnTo>
                <a:lnTo>
                  <a:pt x="2" y="136"/>
                </a:lnTo>
                <a:lnTo>
                  <a:pt x="1" y="125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3" name="未知"/>
          <p:cNvSpPr>
            <a:spLocks/>
          </p:cNvSpPr>
          <p:nvPr/>
        </p:nvSpPr>
        <p:spPr bwMode="auto">
          <a:xfrm>
            <a:off x="6921833" y="2256523"/>
            <a:ext cx="280668" cy="299630"/>
          </a:xfrm>
          <a:custGeom>
            <a:avLst/>
            <a:gdLst>
              <a:gd name="T0" fmla="*/ 3132436 w 216"/>
              <a:gd name="T1" fmla="*/ 530921433 h 226"/>
              <a:gd name="T2" fmla="*/ 16248397 w 216"/>
              <a:gd name="T3" fmla="*/ 412030994 h 226"/>
              <a:gd name="T4" fmla="*/ 44718601 w 216"/>
              <a:gd name="T5" fmla="*/ 306955967 h 226"/>
              <a:gd name="T6" fmla="*/ 81008170 w 216"/>
              <a:gd name="T7" fmla="*/ 214744967 h 226"/>
              <a:gd name="T8" fmla="*/ 133056879 w 216"/>
              <a:gd name="T9" fmla="*/ 130247567 h 226"/>
              <a:gd name="T10" fmla="*/ 190341245 w 216"/>
              <a:gd name="T11" fmla="*/ 66805270 h 226"/>
              <a:gd name="T12" fmla="*/ 253391593 w 216"/>
              <a:gd name="T13" fmla="*/ 25142567 h 226"/>
              <a:gd name="T14" fmla="*/ 328077895 w 216"/>
              <a:gd name="T15" fmla="*/ 4719390 h 226"/>
              <a:gd name="T16" fmla="*/ 404053641 w 216"/>
              <a:gd name="T17" fmla="*/ 4719390 h 226"/>
              <a:gd name="T18" fmla="*/ 473614015 w 216"/>
              <a:gd name="T19" fmla="*/ 25142567 h 226"/>
              <a:gd name="T20" fmla="*/ 538647947 w 216"/>
              <a:gd name="T21" fmla="*/ 66805270 h 226"/>
              <a:gd name="T22" fmla="*/ 599974025 w 216"/>
              <a:gd name="T23" fmla="*/ 130247567 h 226"/>
              <a:gd name="T24" fmla="*/ 647868110 w 216"/>
              <a:gd name="T25" fmla="*/ 214744967 h 226"/>
              <a:gd name="T26" fmla="*/ 684280176 w 216"/>
              <a:gd name="T27" fmla="*/ 306955967 h 226"/>
              <a:gd name="T28" fmla="*/ 719059846 w 216"/>
              <a:gd name="T29" fmla="*/ 412030994 h 226"/>
              <a:gd name="T30" fmla="*/ 732218540 w 216"/>
              <a:gd name="T31" fmla="*/ 530921433 h 226"/>
              <a:gd name="T32" fmla="*/ 732218540 w 216"/>
              <a:gd name="T33" fmla="*/ 588560306 h 226"/>
              <a:gd name="T34" fmla="*/ 725469299 w 216"/>
              <a:gd name="T35" fmla="*/ 707635123 h 226"/>
              <a:gd name="T36" fmla="*/ 706123720 w 216"/>
              <a:gd name="T37" fmla="*/ 817938906 h 226"/>
              <a:gd name="T38" fmla="*/ 668021454 w 216"/>
              <a:gd name="T39" fmla="*/ 917805539 h 226"/>
              <a:gd name="T40" fmla="*/ 628521798 w 216"/>
              <a:gd name="T41" fmla="*/ 1009756555 h 226"/>
              <a:gd name="T42" fmla="*/ 570381366 w 216"/>
              <a:gd name="T43" fmla="*/ 1076707342 h 226"/>
              <a:gd name="T44" fmla="*/ 508488705 w 216"/>
              <a:gd name="T45" fmla="*/ 1133989214 h 226"/>
              <a:gd name="T46" fmla="*/ 437297754 w 216"/>
              <a:gd name="T47" fmla="*/ 1165977676 h 226"/>
              <a:gd name="T48" fmla="*/ 366134183 w 216"/>
              <a:gd name="T49" fmla="*/ 1176707096 h 226"/>
              <a:gd name="T50" fmla="*/ 291664425 w 216"/>
              <a:gd name="T51" fmla="*/ 1165977676 h 226"/>
              <a:gd name="T52" fmla="*/ 223644091 w 216"/>
              <a:gd name="T53" fmla="*/ 1133989214 h 226"/>
              <a:gd name="T54" fmla="*/ 158792020 w 216"/>
              <a:gd name="T55" fmla="*/ 1076707342 h 226"/>
              <a:gd name="T56" fmla="*/ 107753531 w 216"/>
              <a:gd name="T57" fmla="*/ 1009756555 h 226"/>
              <a:gd name="T58" fmla="*/ 65023271 w 216"/>
              <a:gd name="T59" fmla="*/ 917805539 h 226"/>
              <a:gd name="T60" fmla="*/ 26840323 w 216"/>
              <a:gd name="T61" fmla="*/ 817938906 h 226"/>
              <a:gd name="T62" fmla="*/ 6409892 w 216"/>
              <a:gd name="T63" fmla="*/ 707635123 h 226"/>
              <a:gd name="T64" fmla="*/ 0 w 216"/>
              <a:gd name="T65" fmla="*/ 588560306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2" y="90"/>
                </a:lnTo>
                <a:lnTo>
                  <a:pt x="5" y="79"/>
                </a:lnTo>
                <a:lnTo>
                  <a:pt x="8" y="68"/>
                </a:lnTo>
                <a:lnTo>
                  <a:pt x="13" y="59"/>
                </a:lnTo>
                <a:lnTo>
                  <a:pt x="19" y="49"/>
                </a:lnTo>
                <a:lnTo>
                  <a:pt x="24" y="41"/>
                </a:lnTo>
                <a:lnTo>
                  <a:pt x="32" y="33"/>
                </a:lnTo>
                <a:lnTo>
                  <a:pt x="39" y="25"/>
                </a:lnTo>
                <a:lnTo>
                  <a:pt x="47" y="18"/>
                </a:lnTo>
                <a:lnTo>
                  <a:pt x="56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2"/>
                </a:lnTo>
                <a:lnTo>
                  <a:pt x="140" y="5"/>
                </a:lnTo>
                <a:lnTo>
                  <a:pt x="150" y="9"/>
                </a:lnTo>
                <a:lnTo>
                  <a:pt x="159" y="13"/>
                </a:lnTo>
                <a:lnTo>
                  <a:pt x="168" y="18"/>
                </a:lnTo>
                <a:lnTo>
                  <a:pt x="177" y="25"/>
                </a:lnTo>
                <a:lnTo>
                  <a:pt x="185" y="33"/>
                </a:lnTo>
                <a:lnTo>
                  <a:pt x="191" y="41"/>
                </a:lnTo>
                <a:lnTo>
                  <a:pt x="197" y="49"/>
                </a:lnTo>
                <a:lnTo>
                  <a:pt x="202" y="59"/>
                </a:lnTo>
                <a:lnTo>
                  <a:pt x="208" y="68"/>
                </a:lnTo>
                <a:lnTo>
                  <a:pt x="212" y="79"/>
                </a:lnTo>
                <a:lnTo>
                  <a:pt x="214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4" y="136"/>
                </a:lnTo>
                <a:lnTo>
                  <a:pt x="212" y="147"/>
                </a:lnTo>
                <a:lnTo>
                  <a:pt x="208" y="157"/>
                </a:lnTo>
                <a:lnTo>
                  <a:pt x="202" y="167"/>
                </a:lnTo>
                <a:lnTo>
                  <a:pt x="197" y="176"/>
                </a:lnTo>
                <a:lnTo>
                  <a:pt x="191" y="186"/>
                </a:lnTo>
                <a:lnTo>
                  <a:pt x="185" y="194"/>
                </a:lnTo>
                <a:lnTo>
                  <a:pt x="177" y="201"/>
                </a:lnTo>
                <a:lnTo>
                  <a:pt x="168" y="207"/>
                </a:lnTo>
                <a:lnTo>
                  <a:pt x="159" y="213"/>
                </a:lnTo>
                <a:lnTo>
                  <a:pt x="150" y="218"/>
                </a:lnTo>
                <a:lnTo>
                  <a:pt x="140" y="221"/>
                </a:lnTo>
                <a:lnTo>
                  <a:pt x="129" y="224"/>
                </a:lnTo>
                <a:lnTo>
                  <a:pt x="119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4"/>
                </a:lnTo>
                <a:lnTo>
                  <a:pt x="75" y="221"/>
                </a:lnTo>
                <a:lnTo>
                  <a:pt x="66" y="218"/>
                </a:lnTo>
                <a:lnTo>
                  <a:pt x="56" y="213"/>
                </a:lnTo>
                <a:lnTo>
                  <a:pt x="47" y="207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9" y="176"/>
                </a:lnTo>
                <a:lnTo>
                  <a:pt x="13" y="167"/>
                </a:lnTo>
                <a:lnTo>
                  <a:pt x="8" y="157"/>
                </a:lnTo>
                <a:lnTo>
                  <a:pt x="5" y="147"/>
                </a:lnTo>
                <a:lnTo>
                  <a:pt x="2" y="136"/>
                </a:lnTo>
                <a:lnTo>
                  <a:pt x="1" y="125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4" name="Rectangle 191"/>
          <p:cNvSpPr>
            <a:spLocks noChangeArrowheads="1"/>
          </p:cNvSpPr>
          <p:nvPr/>
        </p:nvSpPr>
        <p:spPr bwMode="auto">
          <a:xfrm>
            <a:off x="7020257" y="2316830"/>
            <a:ext cx="64135" cy="153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000" b="1">
                <a:solidFill>
                  <a:srgbClr val="FF0000"/>
                </a:solidFill>
                <a:latin typeface="宋体" pitchFamily="2" charset="-122"/>
              </a:rPr>
              <a:t>A</a:t>
            </a:r>
            <a:endParaRPr lang="en-US" altLang="zh-CN" sz="1000" b="1">
              <a:solidFill>
                <a:srgbClr val="FF0000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395" name="未知"/>
          <p:cNvSpPr>
            <a:spLocks/>
          </p:cNvSpPr>
          <p:nvPr/>
        </p:nvSpPr>
        <p:spPr bwMode="auto">
          <a:xfrm>
            <a:off x="5414988" y="2521238"/>
            <a:ext cx="146049" cy="168225"/>
          </a:xfrm>
          <a:custGeom>
            <a:avLst/>
            <a:gdLst>
              <a:gd name="T0" fmla="*/ 0 w 112"/>
              <a:gd name="T1" fmla="*/ 507152128 h 125"/>
              <a:gd name="T2" fmla="*/ 408854017 w 112"/>
              <a:gd name="T3" fmla="*/ 0 h 125"/>
              <a:gd name="T4" fmla="*/ 236696596 w 112"/>
              <a:gd name="T5" fmla="*/ 891168653 h 125"/>
              <a:gd name="T6" fmla="*/ 0 w 112"/>
              <a:gd name="T7" fmla="*/ 507152128 h 125"/>
              <a:gd name="T8" fmla="*/ 0 60000 65536"/>
              <a:gd name="T9" fmla="*/ 0 60000 65536"/>
              <a:gd name="T10" fmla="*/ 0 60000 65536"/>
              <a:gd name="T11" fmla="*/ 0 60000 65536"/>
              <a:gd name="T12" fmla="*/ 0 w 112"/>
              <a:gd name="T13" fmla="*/ 0 h 125"/>
              <a:gd name="T14" fmla="*/ 112 w 112"/>
              <a:gd name="T15" fmla="*/ 125 h 1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" h="125">
                <a:moveTo>
                  <a:pt x="0" y="71"/>
                </a:moveTo>
                <a:lnTo>
                  <a:pt x="112" y="0"/>
                </a:lnTo>
                <a:lnTo>
                  <a:pt x="65" y="125"/>
                </a:lnTo>
                <a:lnTo>
                  <a:pt x="0" y="7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6" name="Line 195"/>
          <p:cNvSpPr>
            <a:spLocks noChangeShapeType="1"/>
          </p:cNvSpPr>
          <p:nvPr/>
        </p:nvSpPr>
        <p:spPr bwMode="auto">
          <a:xfrm flipH="1">
            <a:off x="5369269" y="3119864"/>
            <a:ext cx="974718" cy="317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7" name="未知"/>
          <p:cNvSpPr>
            <a:spLocks/>
          </p:cNvSpPr>
          <p:nvPr/>
        </p:nvSpPr>
        <p:spPr bwMode="auto">
          <a:xfrm>
            <a:off x="5218140" y="3064001"/>
            <a:ext cx="167004" cy="111092"/>
          </a:xfrm>
          <a:custGeom>
            <a:avLst/>
            <a:gdLst>
              <a:gd name="T0" fmla="*/ 553941714 w 127"/>
              <a:gd name="T1" fmla="*/ 415350985 h 84"/>
              <a:gd name="T2" fmla="*/ 0 w 127"/>
              <a:gd name="T3" fmla="*/ 208294135 h 84"/>
              <a:gd name="T4" fmla="*/ 553941714 w 127"/>
              <a:gd name="T5" fmla="*/ 0 h 84"/>
              <a:gd name="T6" fmla="*/ 553941714 w 127"/>
              <a:gd name="T7" fmla="*/ 415350985 h 84"/>
              <a:gd name="T8" fmla="*/ 0 60000 65536"/>
              <a:gd name="T9" fmla="*/ 0 60000 65536"/>
              <a:gd name="T10" fmla="*/ 0 60000 65536"/>
              <a:gd name="T11" fmla="*/ 0 60000 65536"/>
              <a:gd name="T12" fmla="*/ 0 w 127"/>
              <a:gd name="T13" fmla="*/ 0 h 84"/>
              <a:gd name="T14" fmla="*/ 127 w 127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7" h="84">
                <a:moveTo>
                  <a:pt x="127" y="84"/>
                </a:moveTo>
                <a:lnTo>
                  <a:pt x="0" y="42"/>
                </a:lnTo>
                <a:lnTo>
                  <a:pt x="127" y="0"/>
                </a:lnTo>
                <a:lnTo>
                  <a:pt x="127" y="84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8" name="Line 197"/>
          <p:cNvSpPr>
            <a:spLocks noChangeShapeType="1"/>
          </p:cNvSpPr>
          <p:nvPr/>
        </p:nvSpPr>
        <p:spPr bwMode="auto">
          <a:xfrm flipH="1">
            <a:off x="6669105" y="2519969"/>
            <a:ext cx="297178" cy="36628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9" name="未知"/>
          <p:cNvSpPr>
            <a:spLocks/>
          </p:cNvSpPr>
          <p:nvPr/>
        </p:nvSpPr>
        <p:spPr bwMode="auto">
          <a:xfrm>
            <a:off x="6575760" y="2838644"/>
            <a:ext cx="146049" cy="165051"/>
          </a:xfrm>
          <a:custGeom>
            <a:avLst/>
            <a:gdLst>
              <a:gd name="T0" fmla="*/ 408854017 w 112"/>
              <a:gd name="T1" fmla="*/ 304952872 h 124"/>
              <a:gd name="T2" fmla="*/ 0 w 112"/>
              <a:gd name="T3" fmla="*/ 701513112 h 124"/>
              <a:gd name="T4" fmla="*/ 172549918 w 112"/>
              <a:gd name="T5" fmla="*/ 0 h 124"/>
              <a:gd name="T6" fmla="*/ 408854017 w 112"/>
              <a:gd name="T7" fmla="*/ 304952872 h 124"/>
              <a:gd name="T8" fmla="*/ 0 60000 65536"/>
              <a:gd name="T9" fmla="*/ 0 60000 65536"/>
              <a:gd name="T10" fmla="*/ 0 60000 65536"/>
              <a:gd name="T11" fmla="*/ 0 60000 65536"/>
              <a:gd name="T12" fmla="*/ 0 w 112"/>
              <a:gd name="T13" fmla="*/ 0 h 124"/>
              <a:gd name="T14" fmla="*/ 112 w 112"/>
              <a:gd name="T15" fmla="*/ 124 h 1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" h="124">
                <a:moveTo>
                  <a:pt x="112" y="54"/>
                </a:moveTo>
                <a:lnTo>
                  <a:pt x="0" y="124"/>
                </a:lnTo>
                <a:lnTo>
                  <a:pt x="47" y="0"/>
                </a:lnTo>
                <a:lnTo>
                  <a:pt x="112" y="54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400" name="Rectangle 199"/>
          <p:cNvSpPr>
            <a:spLocks noChangeArrowheads="1"/>
          </p:cNvSpPr>
          <p:nvPr/>
        </p:nvSpPr>
        <p:spPr bwMode="auto">
          <a:xfrm>
            <a:off x="6845633" y="2738978"/>
            <a:ext cx="6412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</a:rPr>
              <a:t>5</a:t>
            </a:r>
            <a:endParaRPr lang="zh-CN" altLang="en-US" sz="1000" b="1" dirty="0">
              <a:solidFill>
                <a:srgbClr val="FF0000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401" name="Rectangle 201"/>
          <p:cNvSpPr>
            <a:spLocks noChangeArrowheads="1"/>
          </p:cNvSpPr>
          <p:nvPr/>
        </p:nvSpPr>
        <p:spPr bwMode="auto">
          <a:xfrm>
            <a:off x="5357839" y="2780241"/>
            <a:ext cx="126999" cy="152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 dirty="0">
                <a:solidFill>
                  <a:srgbClr val="0000FF"/>
                </a:solidFill>
                <a:latin typeface="宋体" pitchFamily="2" charset="-122"/>
              </a:rPr>
              <a:t>10</a:t>
            </a:r>
            <a:endParaRPr lang="zh-CN" altLang="en-US" sz="1000" b="1" dirty="0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402" name="Rectangle 202"/>
          <p:cNvSpPr>
            <a:spLocks noChangeArrowheads="1"/>
          </p:cNvSpPr>
          <p:nvPr/>
        </p:nvSpPr>
        <p:spPr bwMode="auto">
          <a:xfrm>
            <a:off x="5861390" y="3123038"/>
            <a:ext cx="6412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</a:rPr>
              <a:t>7</a:t>
            </a:r>
            <a:endParaRPr lang="zh-CN" altLang="en-US" sz="1000" b="1" dirty="0">
              <a:solidFill>
                <a:srgbClr val="FF0000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403" name="未知"/>
          <p:cNvSpPr>
            <a:spLocks/>
          </p:cNvSpPr>
          <p:nvPr/>
        </p:nvSpPr>
        <p:spPr bwMode="auto">
          <a:xfrm>
            <a:off x="6405581" y="1826122"/>
            <a:ext cx="107949" cy="166955"/>
          </a:xfrm>
          <a:custGeom>
            <a:avLst/>
            <a:gdLst>
              <a:gd name="T0" fmla="*/ 0 w 84"/>
              <a:gd name="T1" fmla="*/ 553941714 h 127"/>
              <a:gd name="T2" fmla="*/ 112864617 w 84"/>
              <a:gd name="T3" fmla="*/ 0 h 127"/>
              <a:gd name="T4" fmla="*/ 225867066 w 84"/>
              <a:gd name="T5" fmla="*/ 553941714 h 127"/>
              <a:gd name="T6" fmla="*/ 0 w 84"/>
              <a:gd name="T7" fmla="*/ 553941714 h 127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127"/>
              <a:gd name="T14" fmla="*/ 84 w 84"/>
              <a:gd name="T15" fmla="*/ 127 h 1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127">
                <a:moveTo>
                  <a:pt x="0" y="127"/>
                </a:moveTo>
                <a:lnTo>
                  <a:pt x="42" y="0"/>
                </a:lnTo>
                <a:lnTo>
                  <a:pt x="84" y="127"/>
                </a:lnTo>
                <a:lnTo>
                  <a:pt x="0" y="127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04" name="Rectangle 204"/>
          <p:cNvSpPr>
            <a:spLocks noChangeArrowheads="1"/>
          </p:cNvSpPr>
          <p:nvPr/>
        </p:nvSpPr>
        <p:spPr bwMode="auto">
          <a:xfrm>
            <a:off x="6281757" y="2370789"/>
            <a:ext cx="12824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宋体" pitchFamily="2" charset="-122"/>
              </a:rPr>
              <a:t>15</a:t>
            </a:r>
            <a:endParaRPr lang="zh-CN" altLang="en-US" sz="1000" b="1" dirty="0">
              <a:solidFill>
                <a:srgbClr val="FF0000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405" name="Rectangle 205"/>
          <p:cNvSpPr>
            <a:spLocks noChangeArrowheads="1"/>
          </p:cNvSpPr>
          <p:nvPr/>
        </p:nvSpPr>
        <p:spPr bwMode="auto">
          <a:xfrm>
            <a:off x="4857462" y="3656279"/>
            <a:ext cx="2325989" cy="276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800" b="1" i="0" dirty="0">
                <a:solidFill>
                  <a:srgbClr val="080808"/>
                </a:solidFill>
                <a:latin typeface="宋体" pitchFamily="2" charset="-122"/>
              </a:rPr>
              <a:t>（</a:t>
            </a:r>
            <a:r>
              <a:rPr lang="en-US" altLang="zh-CN" sz="1800" b="1" i="0" dirty="0">
                <a:solidFill>
                  <a:srgbClr val="080808"/>
                </a:solidFill>
                <a:latin typeface="宋体" pitchFamily="2" charset="-122"/>
              </a:rPr>
              <a:t>3</a:t>
            </a:r>
            <a:r>
              <a:rPr lang="zh-CN" altLang="en-US" sz="1800" b="1" i="0" dirty="0">
                <a:solidFill>
                  <a:srgbClr val="080808"/>
                </a:solidFill>
                <a:latin typeface="宋体" pitchFamily="2" charset="-122"/>
              </a:rPr>
              <a:t>）选</a:t>
            </a:r>
            <a:r>
              <a:rPr lang="en-US" altLang="zh-CN" sz="1800" b="1" i="0" dirty="0">
                <a:solidFill>
                  <a:srgbClr val="080808"/>
                </a:solidFill>
                <a:latin typeface="宋体" pitchFamily="2" charset="-122"/>
              </a:rPr>
              <a:t>B</a:t>
            </a:r>
            <a:r>
              <a:rPr lang="zh-CN" altLang="en-US" sz="1800" b="1" i="0" dirty="0">
                <a:solidFill>
                  <a:srgbClr val="080808"/>
                </a:solidFill>
                <a:latin typeface="宋体" pitchFamily="2" charset="-122"/>
              </a:rPr>
              <a:t>点，更新路径</a:t>
            </a:r>
            <a:endParaRPr lang="en-US" altLang="zh-CN" sz="1800" b="1" i="0" dirty="0">
              <a:solidFill>
                <a:srgbClr val="080808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406" name="Line 206"/>
          <p:cNvSpPr>
            <a:spLocks noChangeShapeType="1"/>
          </p:cNvSpPr>
          <p:nvPr/>
        </p:nvSpPr>
        <p:spPr bwMode="auto">
          <a:xfrm flipV="1">
            <a:off x="6462096" y="1978476"/>
            <a:ext cx="3175" cy="97443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07" name="未知"/>
          <p:cNvSpPr>
            <a:spLocks noEditPoints="1"/>
          </p:cNvSpPr>
          <p:nvPr/>
        </p:nvSpPr>
        <p:spPr bwMode="auto">
          <a:xfrm>
            <a:off x="5186390" y="2664071"/>
            <a:ext cx="273048" cy="344702"/>
          </a:xfrm>
          <a:custGeom>
            <a:avLst/>
            <a:gdLst>
              <a:gd name="T0" fmla="*/ 5953032 w 211"/>
              <a:gd name="T1" fmla="*/ 1445828445 h 259"/>
              <a:gd name="T2" fmla="*/ 8868717 w 211"/>
              <a:gd name="T3" fmla="*/ 1460980307 h 259"/>
              <a:gd name="T4" fmla="*/ 0 w 211"/>
              <a:gd name="T5" fmla="*/ 1460980307 h 259"/>
              <a:gd name="T6" fmla="*/ 0 w 211"/>
              <a:gd name="T7" fmla="*/ 1445828445 h 259"/>
              <a:gd name="T8" fmla="*/ 68662054 w 211"/>
              <a:gd name="T9" fmla="*/ 1303037125 h 259"/>
              <a:gd name="T10" fmla="*/ 75061770 w 211"/>
              <a:gd name="T11" fmla="*/ 1313470935 h 259"/>
              <a:gd name="T12" fmla="*/ 68662054 w 211"/>
              <a:gd name="T13" fmla="*/ 1327545409 h 259"/>
              <a:gd name="T14" fmla="*/ 62766974 w 211"/>
              <a:gd name="T15" fmla="*/ 1307889323 h 259"/>
              <a:gd name="T16" fmla="*/ 131341246 w 211"/>
              <a:gd name="T17" fmla="*/ 1162757631 h 259"/>
              <a:gd name="T18" fmla="*/ 134153466 w 211"/>
              <a:gd name="T19" fmla="*/ 1158100215 h 259"/>
              <a:gd name="T20" fmla="*/ 139927409 w 211"/>
              <a:gd name="T21" fmla="*/ 1173310140 h 259"/>
              <a:gd name="T22" fmla="*/ 134153466 w 211"/>
              <a:gd name="T23" fmla="*/ 1178890215 h 259"/>
              <a:gd name="T24" fmla="*/ 131341246 w 211"/>
              <a:gd name="T25" fmla="*/ 1162757631 h 259"/>
              <a:gd name="T26" fmla="*/ 192610008 w 211"/>
              <a:gd name="T27" fmla="*/ 1020766301 h 259"/>
              <a:gd name="T28" fmla="*/ 201425304 w 211"/>
              <a:gd name="T29" fmla="*/ 1020766301 h 259"/>
              <a:gd name="T30" fmla="*/ 198424380 w 211"/>
              <a:gd name="T31" fmla="*/ 1038636200 h 259"/>
              <a:gd name="T32" fmla="*/ 192610008 w 211"/>
              <a:gd name="T33" fmla="*/ 1020766301 h 259"/>
              <a:gd name="T34" fmla="*/ 257716732 w 211"/>
              <a:gd name="T35" fmla="*/ 874483533 h 259"/>
              <a:gd name="T36" fmla="*/ 270560754 w 211"/>
              <a:gd name="T37" fmla="*/ 874483533 h 259"/>
              <a:gd name="T38" fmla="*/ 264275526 w 211"/>
              <a:gd name="T39" fmla="*/ 890778885 h 259"/>
              <a:gd name="T40" fmla="*/ 257716732 w 211"/>
              <a:gd name="T41" fmla="*/ 886183564 h 259"/>
              <a:gd name="T42" fmla="*/ 257716732 w 211"/>
              <a:gd name="T43" fmla="*/ 874483533 h 259"/>
              <a:gd name="T44" fmla="*/ 326842780 w 211"/>
              <a:gd name="T45" fmla="*/ 721396205 h 259"/>
              <a:gd name="T46" fmla="*/ 332582899 w 211"/>
              <a:gd name="T47" fmla="*/ 726977363 h 259"/>
              <a:gd name="T48" fmla="*/ 326842780 w 211"/>
              <a:gd name="T49" fmla="*/ 746050552 h 259"/>
              <a:gd name="T50" fmla="*/ 323414592 w 211"/>
              <a:gd name="T51" fmla="*/ 726977363 h 259"/>
              <a:gd name="T52" fmla="*/ 386708425 w 211"/>
              <a:gd name="T53" fmla="*/ 586500093 h 259"/>
              <a:gd name="T54" fmla="*/ 398474534 w 211"/>
              <a:gd name="T55" fmla="*/ 586500093 h 259"/>
              <a:gd name="T56" fmla="*/ 395514124 w 211"/>
              <a:gd name="T57" fmla="*/ 591408802 h 259"/>
              <a:gd name="T58" fmla="*/ 386708425 w 211"/>
              <a:gd name="T59" fmla="*/ 591408802 h 259"/>
              <a:gd name="T60" fmla="*/ 450236342 w 211"/>
              <a:gd name="T61" fmla="*/ 441651029 h 259"/>
              <a:gd name="T62" fmla="*/ 457568260 w 211"/>
              <a:gd name="T63" fmla="*/ 433984433 h 259"/>
              <a:gd name="T64" fmla="*/ 464668993 w 211"/>
              <a:gd name="T65" fmla="*/ 451797909 h 259"/>
              <a:gd name="T66" fmla="*/ 454756290 w 211"/>
              <a:gd name="T67" fmla="*/ 456856880 h 259"/>
              <a:gd name="T68" fmla="*/ 450236342 w 211"/>
              <a:gd name="T69" fmla="*/ 441651029 h 259"/>
              <a:gd name="T70" fmla="*/ 522038239 w 211"/>
              <a:gd name="T71" fmla="*/ 287672479 h 259"/>
              <a:gd name="T72" fmla="*/ 525204715 w 211"/>
              <a:gd name="T73" fmla="*/ 298827280 h 259"/>
              <a:gd name="T74" fmla="*/ 522038239 w 211"/>
              <a:gd name="T75" fmla="*/ 309263411 h 259"/>
              <a:gd name="T76" fmla="*/ 515985203 w 211"/>
              <a:gd name="T77" fmla="*/ 298827280 h 259"/>
              <a:gd name="T78" fmla="*/ 578318724 w 211"/>
              <a:gd name="T79" fmla="*/ 154238672 h 259"/>
              <a:gd name="T80" fmla="*/ 588231410 w 211"/>
              <a:gd name="T81" fmla="*/ 147512458 h 259"/>
              <a:gd name="T82" fmla="*/ 588231410 w 211"/>
              <a:gd name="T83" fmla="*/ 159212544 h 259"/>
              <a:gd name="T84" fmla="*/ 578318724 w 211"/>
              <a:gd name="T85" fmla="*/ 169733758 h 259"/>
              <a:gd name="T86" fmla="*/ 578318724 w 211"/>
              <a:gd name="T87" fmla="*/ 154238672 h 259"/>
              <a:gd name="T88" fmla="*/ 647324688 w 211"/>
              <a:gd name="T89" fmla="*/ 0 h 259"/>
              <a:gd name="T90" fmla="*/ 656181278 w 211"/>
              <a:gd name="T91" fmla="*/ 16737596 h 259"/>
              <a:gd name="T92" fmla="*/ 647324688 w 211"/>
              <a:gd name="T93" fmla="*/ 21878801 h 259"/>
              <a:gd name="T94" fmla="*/ 644231341 w 211"/>
              <a:gd name="T95" fmla="*/ 4977639 h 259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11"/>
              <a:gd name="T145" fmla="*/ 0 h 259"/>
              <a:gd name="T146" fmla="*/ 211 w 211"/>
              <a:gd name="T147" fmla="*/ 259 h 259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11" h="259">
                <a:moveTo>
                  <a:pt x="0" y="256"/>
                </a:moveTo>
                <a:lnTo>
                  <a:pt x="0" y="256"/>
                </a:lnTo>
                <a:lnTo>
                  <a:pt x="2" y="256"/>
                </a:lnTo>
                <a:lnTo>
                  <a:pt x="3" y="256"/>
                </a:lnTo>
                <a:lnTo>
                  <a:pt x="3" y="258"/>
                </a:lnTo>
                <a:lnTo>
                  <a:pt x="3" y="259"/>
                </a:lnTo>
                <a:lnTo>
                  <a:pt x="2" y="259"/>
                </a:lnTo>
                <a:lnTo>
                  <a:pt x="0" y="259"/>
                </a:lnTo>
                <a:lnTo>
                  <a:pt x="0" y="258"/>
                </a:lnTo>
                <a:lnTo>
                  <a:pt x="0" y="256"/>
                </a:lnTo>
                <a:close/>
                <a:moveTo>
                  <a:pt x="20" y="231"/>
                </a:moveTo>
                <a:lnTo>
                  <a:pt x="20" y="231"/>
                </a:lnTo>
                <a:lnTo>
                  <a:pt x="22" y="231"/>
                </a:lnTo>
                <a:lnTo>
                  <a:pt x="23" y="231"/>
                </a:lnTo>
                <a:lnTo>
                  <a:pt x="24" y="232"/>
                </a:lnTo>
                <a:lnTo>
                  <a:pt x="24" y="233"/>
                </a:lnTo>
                <a:lnTo>
                  <a:pt x="23" y="235"/>
                </a:lnTo>
                <a:lnTo>
                  <a:pt x="22" y="235"/>
                </a:lnTo>
                <a:lnTo>
                  <a:pt x="22" y="233"/>
                </a:lnTo>
                <a:lnTo>
                  <a:pt x="20" y="232"/>
                </a:lnTo>
                <a:lnTo>
                  <a:pt x="20" y="231"/>
                </a:lnTo>
                <a:close/>
                <a:moveTo>
                  <a:pt x="42" y="206"/>
                </a:moveTo>
                <a:lnTo>
                  <a:pt x="42" y="206"/>
                </a:lnTo>
                <a:lnTo>
                  <a:pt x="43" y="205"/>
                </a:lnTo>
                <a:lnTo>
                  <a:pt x="45" y="205"/>
                </a:lnTo>
                <a:lnTo>
                  <a:pt x="45" y="206"/>
                </a:lnTo>
                <a:lnTo>
                  <a:pt x="45" y="208"/>
                </a:lnTo>
                <a:lnTo>
                  <a:pt x="43" y="209"/>
                </a:lnTo>
                <a:lnTo>
                  <a:pt x="42" y="208"/>
                </a:lnTo>
                <a:lnTo>
                  <a:pt x="41" y="208"/>
                </a:lnTo>
                <a:lnTo>
                  <a:pt x="42" y="206"/>
                </a:lnTo>
                <a:close/>
                <a:moveTo>
                  <a:pt x="62" y="181"/>
                </a:moveTo>
                <a:lnTo>
                  <a:pt x="62" y="181"/>
                </a:lnTo>
                <a:lnTo>
                  <a:pt x="64" y="179"/>
                </a:lnTo>
                <a:lnTo>
                  <a:pt x="65" y="179"/>
                </a:lnTo>
                <a:lnTo>
                  <a:pt x="65" y="181"/>
                </a:lnTo>
                <a:lnTo>
                  <a:pt x="65" y="182"/>
                </a:lnTo>
                <a:lnTo>
                  <a:pt x="64" y="184"/>
                </a:lnTo>
                <a:lnTo>
                  <a:pt x="62" y="182"/>
                </a:lnTo>
                <a:lnTo>
                  <a:pt x="62" y="181"/>
                </a:lnTo>
                <a:close/>
                <a:moveTo>
                  <a:pt x="83" y="155"/>
                </a:moveTo>
                <a:lnTo>
                  <a:pt x="83" y="155"/>
                </a:lnTo>
                <a:lnTo>
                  <a:pt x="84" y="154"/>
                </a:lnTo>
                <a:lnTo>
                  <a:pt x="85" y="154"/>
                </a:lnTo>
                <a:lnTo>
                  <a:pt x="87" y="155"/>
                </a:lnTo>
                <a:lnTo>
                  <a:pt x="87" y="157"/>
                </a:lnTo>
                <a:lnTo>
                  <a:pt x="85" y="158"/>
                </a:lnTo>
                <a:lnTo>
                  <a:pt x="84" y="158"/>
                </a:lnTo>
                <a:lnTo>
                  <a:pt x="84" y="157"/>
                </a:lnTo>
                <a:lnTo>
                  <a:pt x="83" y="157"/>
                </a:lnTo>
                <a:lnTo>
                  <a:pt x="83" y="155"/>
                </a:lnTo>
                <a:close/>
                <a:moveTo>
                  <a:pt x="104" y="129"/>
                </a:moveTo>
                <a:lnTo>
                  <a:pt x="104" y="129"/>
                </a:lnTo>
                <a:lnTo>
                  <a:pt x="105" y="128"/>
                </a:lnTo>
                <a:lnTo>
                  <a:pt x="107" y="128"/>
                </a:lnTo>
                <a:lnTo>
                  <a:pt x="107" y="129"/>
                </a:lnTo>
                <a:lnTo>
                  <a:pt x="107" y="131"/>
                </a:lnTo>
                <a:lnTo>
                  <a:pt x="105" y="132"/>
                </a:lnTo>
                <a:lnTo>
                  <a:pt x="104" y="132"/>
                </a:lnTo>
                <a:lnTo>
                  <a:pt x="103" y="131"/>
                </a:lnTo>
                <a:lnTo>
                  <a:pt x="104" y="129"/>
                </a:lnTo>
                <a:close/>
                <a:moveTo>
                  <a:pt x="124" y="104"/>
                </a:moveTo>
                <a:lnTo>
                  <a:pt x="124" y="104"/>
                </a:lnTo>
                <a:lnTo>
                  <a:pt x="126" y="102"/>
                </a:lnTo>
                <a:lnTo>
                  <a:pt x="127" y="102"/>
                </a:lnTo>
                <a:lnTo>
                  <a:pt x="128" y="104"/>
                </a:lnTo>
                <a:lnTo>
                  <a:pt x="128" y="105"/>
                </a:lnTo>
                <a:lnTo>
                  <a:pt x="127" y="105"/>
                </a:lnTo>
                <a:lnTo>
                  <a:pt x="126" y="107"/>
                </a:lnTo>
                <a:lnTo>
                  <a:pt x="124" y="107"/>
                </a:lnTo>
                <a:lnTo>
                  <a:pt x="124" y="105"/>
                </a:lnTo>
                <a:lnTo>
                  <a:pt x="124" y="104"/>
                </a:lnTo>
                <a:close/>
                <a:moveTo>
                  <a:pt x="145" y="78"/>
                </a:moveTo>
                <a:lnTo>
                  <a:pt x="145" y="78"/>
                </a:lnTo>
                <a:lnTo>
                  <a:pt x="146" y="77"/>
                </a:lnTo>
                <a:lnTo>
                  <a:pt x="147" y="77"/>
                </a:lnTo>
                <a:lnTo>
                  <a:pt x="149" y="78"/>
                </a:lnTo>
                <a:lnTo>
                  <a:pt x="149" y="80"/>
                </a:lnTo>
                <a:lnTo>
                  <a:pt x="147" y="81"/>
                </a:lnTo>
                <a:lnTo>
                  <a:pt x="146" y="81"/>
                </a:lnTo>
                <a:lnTo>
                  <a:pt x="145" y="80"/>
                </a:lnTo>
                <a:lnTo>
                  <a:pt x="145" y="78"/>
                </a:lnTo>
                <a:close/>
                <a:moveTo>
                  <a:pt x="166" y="53"/>
                </a:moveTo>
                <a:lnTo>
                  <a:pt x="166" y="53"/>
                </a:lnTo>
                <a:lnTo>
                  <a:pt x="168" y="51"/>
                </a:lnTo>
                <a:lnTo>
                  <a:pt x="169" y="51"/>
                </a:lnTo>
                <a:lnTo>
                  <a:pt x="169" y="53"/>
                </a:lnTo>
                <a:lnTo>
                  <a:pt x="169" y="54"/>
                </a:lnTo>
                <a:lnTo>
                  <a:pt x="168" y="55"/>
                </a:lnTo>
                <a:lnTo>
                  <a:pt x="166" y="55"/>
                </a:lnTo>
                <a:lnTo>
                  <a:pt x="166" y="54"/>
                </a:lnTo>
                <a:lnTo>
                  <a:pt x="166" y="53"/>
                </a:lnTo>
                <a:close/>
                <a:moveTo>
                  <a:pt x="186" y="27"/>
                </a:moveTo>
                <a:lnTo>
                  <a:pt x="186" y="27"/>
                </a:lnTo>
                <a:lnTo>
                  <a:pt x="188" y="26"/>
                </a:lnTo>
                <a:lnTo>
                  <a:pt x="189" y="26"/>
                </a:lnTo>
                <a:lnTo>
                  <a:pt x="191" y="27"/>
                </a:lnTo>
                <a:lnTo>
                  <a:pt x="191" y="28"/>
                </a:lnTo>
                <a:lnTo>
                  <a:pt x="189" y="28"/>
                </a:lnTo>
                <a:lnTo>
                  <a:pt x="188" y="30"/>
                </a:lnTo>
                <a:lnTo>
                  <a:pt x="186" y="30"/>
                </a:lnTo>
                <a:lnTo>
                  <a:pt x="186" y="28"/>
                </a:lnTo>
                <a:lnTo>
                  <a:pt x="186" y="27"/>
                </a:lnTo>
                <a:close/>
                <a:moveTo>
                  <a:pt x="207" y="1"/>
                </a:moveTo>
                <a:lnTo>
                  <a:pt x="207" y="1"/>
                </a:lnTo>
                <a:lnTo>
                  <a:pt x="208" y="0"/>
                </a:lnTo>
                <a:lnTo>
                  <a:pt x="209" y="0"/>
                </a:lnTo>
                <a:lnTo>
                  <a:pt x="211" y="1"/>
                </a:lnTo>
                <a:lnTo>
                  <a:pt x="211" y="3"/>
                </a:lnTo>
                <a:lnTo>
                  <a:pt x="209" y="4"/>
                </a:lnTo>
                <a:lnTo>
                  <a:pt x="208" y="4"/>
                </a:lnTo>
                <a:lnTo>
                  <a:pt x="207" y="3"/>
                </a:lnTo>
                <a:lnTo>
                  <a:pt x="207" y="1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68" name="TextBox 76"/>
          <p:cNvSpPr txBox="1">
            <a:spLocks noChangeArrowheads="1"/>
          </p:cNvSpPr>
          <p:nvPr/>
        </p:nvSpPr>
        <p:spPr bwMode="auto">
          <a:xfrm>
            <a:off x="6286500" y="3299337"/>
            <a:ext cx="714375" cy="30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>
                <a:solidFill>
                  <a:srgbClr val="FF0000"/>
                </a:solidFill>
              </a:rPr>
              <a:t>5,A</a:t>
            </a:r>
            <a:endParaRPr lang="zh-CN" altLang="en-US" sz="1400" i="0" dirty="0">
              <a:solidFill>
                <a:srgbClr val="FF0000"/>
              </a:solidFill>
            </a:endParaRPr>
          </a:p>
        </p:txBody>
      </p:sp>
      <p:sp>
        <p:nvSpPr>
          <p:cNvPr id="15369" name="TextBox 77"/>
          <p:cNvSpPr txBox="1">
            <a:spLocks noChangeArrowheads="1"/>
          </p:cNvSpPr>
          <p:nvPr/>
        </p:nvSpPr>
        <p:spPr bwMode="auto">
          <a:xfrm>
            <a:off x="4857750" y="3299337"/>
            <a:ext cx="714375" cy="30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>
                <a:solidFill>
                  <a:srgbClr val="FF0000"/>
                </a:solidFill>
              </a:rPr>
              <a:t>12,C</a:t>
            </a:r>
            <a:endParaRPr lang="zh-CN" altLang="en-US" sz="1400" i="0" dirty="0">
              <a:solidFill>
                <a:srgbClr val="FF0000"/>
              </a:solidFill>
            </a:endParaRPr>
          </a:p>
        </p:txBody>
      </p:sp>
      <p:sp>
        <p:nvSpPr>
          <p:cNvPr id="15370" name="TextBox 78"/>
          <p:cNvSpPr txBox="1">
            <a:spLocks noChangeArrowheads="1"/>
          </p:cNvSpPr>
          <p:nvPr/>
        </p:nvSpPr>
        <p:spPr bwMode="auto">
          <a:xfrm>
            <a:off x="5357813" y="1964254"/>
            <a:ext cx="714375" cy="30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/>
              <a:t>22,F</a:t>
            </a:r>
            <a:endParaRPr lang="zh-CN" altLang="en-US" sz="1400" i="0" dirty="0"/>
          </a:p>
        </p:txBody>
      </p:sp>
      <p:sp>
        <p:nvSpPr>
          <p:cNvPr id="15371" name="TextBox 79"/>
          <p:cNvSpPr txBox="1">
            <a:spLocks noChangeArrowheads="1"/>
          </p:cNvSpPr>
          <p:nvPr/>
        </p:nvSpPr>
        <p:spPr bwMode="auto">
          <a:xfrm>
            <a:off x="6643688" y="1392841"/>
            <a:ext cx="7143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>
                <a:solidFill>
                  <a:srgbClr val="FF0000"/>
                </a:solidFill>
              </a:rPr>
              <a:t>20,C</a:t>
            </a:r>
            <a:endParaRPr lang="zh-CN" altLang="en-US" sz="1400" i="0" dirty="0">
              <a:solidFill>
                <a:srgbClr val="FF0000"/>
              </a:solidFill>
            </a:endParaRPr>
          </a:p>
        </p:txBody>
      </p:sp>
      <p:sp>
        <p:nvSpPr>
          <p:cNvPr id="15372" name="TextBox 80"/>
          <p:cNvSpPr txBox="1">
            <a:spLocks noChangeArrowheads="1"/>
          </p:cNvSpPr>
          <p:nvPr/>
        </p:nvSpPr>
        <p:spPr bwMode="auto">
          <a:xfrm>
            <a:off x="4714875" y="1299393"/>
            <a:ext cx="714375" cy="30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/>
              <a:t>28,B</a:t>
            </a:r>
            <a:endParaRPr lang="zh-CN" altLang="en-US" sz="1400" i="0" dirty="0"/>
          </a:p>
        </p:txBody>
      </p:sp>
      <p:sp>
        <p:nvSpPr>
          <p:cNvPr id="15374" name="Rectangle 164"/>
          <p:cNvSpPr>
            <a:spLocks noChangeArrowheads="1"/>
          </p:cNvSpPr>
          <p:nvPr/>
        </p:nvSpPr>
        <p:spPr bwMode="auto">
          <a:xfrm>
            <a:off x="5759454" y="1464268"/>
            <a:ext cx="63500" cy="152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>
                <a:solidFill>
                  <a:srgbClr val="0000FF"/>
                </a:solidFill>
                <a:latin typeface="宋体" pitchFamily="2" charset="-122"/>
              </a:rPr>
              <a:t>8</a:t>
            </a:r>
            <a:endParaRPr lang="zh-CN" altLang="en-US" sz="1000" b="1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375" name="未知"/>
          <p:cNvSpPr>
            <a:spLocks noEditPoints="1"/>
          </p:cNvSpPr>
          <p:nvPr/>
        </p:nvSpPr>
        <p:spPr bwMode="auto">
          <a:xfrm>
            <a:off x="5422959" y="1660501"/>
            <a:ext cx="947414" cy="3174"/>
          </a:xfrm>
          <a:custGeom>
            <a:avLst/>
            <a:gdLst>
              <a:gd name="T0" fmla="*/ 2147483646 w 729"/>
              <a:gd name="T1" fmla="*/ 0 h 4"/>
              <a:gd name="T2" fmla="*/ 2147483646 w 729"/>
              <a:gd name="T3" fmla="*/ 2147483646 h 4"/>
              <a:gd name="T4" fmla="*/ 2147483646 w 729"/>
              <a:gd name="T5" fmla="*/ 2147483646 h 4"/>
              <a:gd name="T6" fmla="*/ 2147483646 w 729"/>
              <a:gd name="T7" fmla="*/ 0 h 4"/>
              <a:gd name="T8" fmla="*/ 2147483646 w 729"/>
              <a:gd name="T9" fmla="*/ 2147483646 h 4"/>
              <a:gd name="T10" fmla="*/ 2147483646 w 729"/>
              <a:gd name="T11" fmla="*/ 0 h 4"/>
              <a:gd name="T12" fmla="*/ 2147483646 w 729"/>
              <a:gd name="T13" fmla="*/ 2147483646 h 4"/>
              <a:gd name="T14" fmla="*/ 2147483646 w 729"/>
              <a:gd name="T15" fmla="*/ 2147483646 h 4"/>
              <a:gd name="T16" fmla="*/ 2147483646 w 729"/>
              <a:gd name="T17" fmla="*/ 2147483646 h 4"/>
              <a:gd name="T18" fmla="*/ 2147483646 w 729"/>
              <a:gd name="T19" fmla="*/ 2147483646 h 4"/>
              <a:gd name="T20" fmla="*/ 2147483646 w 729"/>
              <a:gd name="T21" fmla="*/ 0 h 4"/>
              <a:gd name="T22" fmla="*/ 2147483646 w 729"/>
              <a:gd name="T23" fmla="*/ 2147483646 h 4"/>
              <a:gd name="T24" fmla="*/ 2147483646 w 729"/>
              <a:gd name="T25" fmla="*/ 0 h 4"/>
              <a:gd name="T26" fmla="*/ 2147483646 w 729"/>
              <a:gd name="T27" fmla="*/ 2147483646 h 4"/>
              <a:gd name="T28" fmla="*/ 2147483646 w 729"/>
              <a:gd name="T29" fmla="*/ 2147483646 h 4"/>
              <a:gd name="T30" fmla="*/ 2147483646 w 729"/>
              <a:gd name="T31" fmla="*/ 0 h 4"/>
              <a:gd name="T32" fmla="*/ 2147483646 w 729"/>
              <a:gd name="T33" fmla="*/ 2147483646 h 4"/>
              <a:gd name="T34" fmla="*/ 2147483646 w 729"/>
              <a:gd name="T35" fmla="*/ 0 h 4"/>
              <a:gd name="T36" fmla="*/ 2147483646 w 729"/>
              <a:gd name="T37" fmla="*/ 2147483646 h 4"/>
              <a:gd name="T38" fmla="*/ 2147483646 w 729"/>
              <a:gd name="T39" fmla="*/ 2147483646 h 4"/>
              <a:gd name="T40" fmla="*/ 2147483646 w 729"/>
              <a:gd name="T41" fmla="*/ 2147483646 h 4"/>
              <a:gd name="T42" fmla="*/ 2147483646 w 729"/>
              <a:gd name="T43" fmla="*/ 2147483646 h 4"/>
              <a:gd name="T44" fmla="*/ 2147483646 w 729"/>
              <a:gd name="T45" fmla="*/ 0 h 4"/>
              <a:gd name="T46" fmla="*/ 2147483646 w 729"/>
              <a:gd name="T47" fmla="*/ 2147483646 h 4"/>
              <a:gd name="T48" fmla="*/ 2147483646 w 729"/>
              <a:gd name="T49" fmla="*/ 0 h 4"/>
              <a:gd name="T50" fmla="*/ 2147483646 w 729"/>
              <a:gd name="T51" fmla="*/ 2147483646 h 4"/>
              <a:gd name="T52" fmla="*/ 2147483646 w 729"/>
              <a:gd name="T53" fmla="*/ 2147483646 h 4"/>
              <a:gd name="T54" fmla="*/ 2147483646 w 729"/>
              <a:gd name="T55" fmla="*/ 0 h 4"/>
              <a:gd name="T56" fmla="*/ 2147483646 w 729"/>
              <a:gd name="T57" fmla="*/ 2147483646 h 4"/>
              <a:gd name="T58" fmla="*/ 2147483646 w 729"/>
              <a:gd name="T59" fmla="*/ 0 h 4"/>
              <a:gd name="T60" fmla="*/ 2147483646 w 729"/>
              <a:gd name="T61" fmla="*/ 2147483646 h 4"/>
              <a:gd name="T62" fmla="*/ 2147483646 w 729"/>
              <a:gd name="T63" fmla="*/ 2147483646 h 4"/>
              <a:gd name="T64" fmla="*/ 2147483646 w 729"/>
              <a:gd name="T65" fmla="*/ 2147483646 h 4"/>
              <a:gd name="T66" fmla="*/ 2147483646 w 729"/>
              <a:gd name="T67" fmla="*/ 2147483646 h 4"/>
              <a:gd name="T68" fmla="*/ 2147483646 w 729"/>
              <a:gd name="T69" fmla="*/ 0 h 4"/>
              <a:gd name="T70" fmla="*/ 2147483646 w 729"/>
              <a:gd name="T71" fmla="*/ 2147483646 h 4"/>
              <a:gd name="T72" fmla="*/ 2147483646 w 729"/>
              <a:gd name="T73" fmla="*/ 0 h 4"/>
              <a:gd name="T74" fmla="*/ 2147483646 w 729"/>
              <a:gd name="T75" fmla="*/ 2147483646 h 4"/>
              <a:gd name="T76" fmla="*/ 2147483646 w 729"/>
              <a:gd name="T77" fmla="*/ 2147483646 h 4"/>
              <a:gd name="T78" fmla="*/ 2147483646 w 729"/>
              <a:gd name="T79" fmla="*/ 0 h 4"/>
              <a:gd name="T80" fmla="*/ 2147483646 w 729"/>
              <a:gd name="T81" fmla="*/ 2147483646 h 4"/>
              <a:gd name="T82" fmla="*/ 2147483646 w 729"/>
              <a:gd name="T83" fmla="*/ 0 h 4"/>
              <a:gd name="T84" fmla="*/ 2147483646 w 729"/>
              <a:gd name="T85" fmla="*/ 2147483646 h 4"/>
              <a:gd name="T86" fmla="*/ 2147483646 w 729"/>
              <a:gd name="T87" fmla="*/ 2147483646 h 4"/>
              <a:gd name="T88" fmla="*/ 2147483646 w 729"/>
              <a:gd name="T89" fmla="*/ 2147483646 h 4"/>
              <a:gd name="T90" fmla="*/ 2147483646 w 729"/>
              <a:gd name="T91" fmla="*/ 2147483646 h 4"/>
              <a:gd name="T92" fmla="*/ 2147483646 w 729"/>
              <a:gd name="T93" fmla="*/ 0 h 4"/>
              <a:gd name="T94" fmla="*/ 2147483646 w 729"/>
              <a:gd name="T95" fmla="*/ 2147483646 h 4"/>
              <a:gd name="T96" fmla="*/ 2147483646 w 729"/>
              <a:gd name="T97" fmla="*/ 0 h 4"/>
              <a:gd name="T98" fmla="*/ 2147483646 w 729"/>
              <a:gd name="T99" fmla="*/ 2147483646 h 4"/>
              <a:gd name="T100" fmla="*/ 2147483646 w 729"/>
              <a:gd name="T101" fmla="*/ 2147483646 h 4"/>
              <a:gd name="T102" fmla="*/ 2147483646 w 729"/>
              <a:gd name="T103" fmla="*/ 0 h 4"/>
              <a:gd name="T104" fmla="*/ 2147483646 w 729"/>
              <a:gd name="T105" fmla="*/ 2147483646 h 4"/>
              <a:gd name="T106" fmla="*/ 2147483646 w 729"/>
              <a:gd name="T107" fmla="*/ 0 h 4"/>
              <a:gd name="T108" fmla="*/ 2147483646 w 729"/>
              <a:gd name="T109" fmla="*/ 2147483646 h 4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729"/>
              <a:gd name="T166" fmla="*/ 0 h 4"/>
              <a:gd name="T167" fmla="*/ 729 w 729"/>
              <a:gd name="T168" fmla="*/ 4 h 4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729" h="4">
                <a:moveTo>
                  <a:pt x="726" y="4"/>
                </a:moveTo>
                <a:lnTo>
                  <a:pt x="726" y="4"/>
                </a:lnTo>
                <a:lnTo>
                  <a:pt x="725" y="3"/>
                </a:lnTo>
                <a:lnTo>
                  <a:pt x="725" y="2"/>
                </a:lnTo>
                <a:lnTo>
                  <a:pt x="725" y="0"/>
                </a:lnTo>
                <a:lnTo>
                  <a:pt x="726" y="0"/>
                </a:lnTo>
                <a:lnTo>
                  <a:pt x="728" y="0"/>
                </a:lnTo>
                <a:lnTo>
                  <a:pt x="729" y="2"/>
                </a:lnTo>
                <a:lnTo>
                  <a:pt x="728" y="3"/>
                </a:lnTo>
                <a:lnTo>
                  <a:pt x="726" y="4"/>
                </a:lnTo>
                <a:close/>
                <a:moveTo>
                  <a:pt x="694" y="4"/>
                </a:moveTo>
                <a:lnTo>
                  <a:pt x="694" y="4"/>
                </a:lnTo>
                <a:lnTo>
                  <a:pt x="693" y="3"/>
                </a:lnTo>
                <a:lnTo>
                  <a:pt x="691" y="2"/>
                </a:lnTo>
                <a:lnTo>
                  <a:pt x="693" y="0"/>
                </a:lnTo>
                <a:lnTo>
                  <a:pt x="694" y="0"/>
                </a:lnTo>
                <a:lnTo>
                  <a:pt x="695" y="0"/>
                </a:lnTo>
                <a:lnTo>
                  <a:pt x="695" y="2"/>
                </a:lnTo>
                <a:lnTo>
                  <a:pt x="695" y="3"/>
                </a:lnTo>
                <a:lnTo>
                  <a:pt x="694" y="4"/>
                </a:lnTo>
                <a:close/>
                <a:moveTo>
                  <a:pt x="660" y="4"/>
                </a:moveTo>
                <a:lnTo>
                  <a:pt x="660" y="4"/>
                </a:lnTo>
                <a:lnTo>
                  <a:pt x="659" y="3"/>
                </a:lnTo>
                <a:lnTo>
                  <a:pt x="659" y="2"/>
                </a:lnTo>
                <a:lnTo>
                  <a:pt x="659" y="0"/>
                </a:lnTo>
                <a:lnTo>
                  <a:pt x="660" y="0"/>
                </a:lnTo>
                <a:lnTo>
                  <a:pt x="662" y="0"/>
                </a:lnTo>
                <a:lnTo>
                  <a:pt x="663" y="2"/>
                </a:lnTo>
                <a:lnTo>
                  <a:pt x="662" y="3"/>
                </a:lnTo>
                <a:lnTo>
                  <a:pt x="660" y="4"/>
                </a:lnTo>
                <a:close/>
                <a:moveTo>
                  <a:pt x="628" y="4"/>
                </a:moveTo>
                <a:lnTo>
                  <a:pt x="628" y="4"/>
                </a:lnTo>
                <a:lnTo>
                  <a:pt x="627" y="3"/>
                </a:lnTo>
                <a:lnTo>
                  <a:pt x="627" y="2"/>
                </a:lnTo>
                <a:lnTo>
                  <a:pt x="627" y="0"/>
                </a:lnTo>
                <a:lnTo>
                  <a:pt x="628" y="0"/>
                </a:lnTo>
                <a:lnTo>
                  <a:pt x="629" y="0"/>
                </a:lnTo>
                <a:lnTo>
                  <a:pt x="629" y="2"/>
                </a:lnTo>
                <a:lnTo>
                  <a:pt x="629" y="3"/>
                </a:lnTo>
                <a:lnTo>
                  <a:pt x="628" y="4"/>
                </a:lnTo>
                <a:close/>
                <a:moveTo>
                  <a:pt x="596" y="4"/>
                </a:moveTo>
                <a:lnTo>
                  <a:pt x="596" y="4"/>
                </a:lnTo>
                <a:lnTo>
                  <a:pt x="594" y="3"/>
                </a:lnTo>
                <a:lnTo>
                  <a:pt x="593" y="2"/>
                </a:lnTo>
                <a:lnTo>
                  <a:pt x="594" y="0"/>
                </a:lnTo>
                <a:lnTo>
                  <a:pt x="596" y="0"/>
                </a:lnTo>
                <a:lnTo>
                  <a:pt x="597" y="0"/>
                </a:lnTo>
                <a:lnTo>
                  <a:pt x="597" y="2"/>
                </a:lnTo>
                <a:lnTo>
                  <a:pt x="597" y="3"/>
                </a:lnTo>
                <a:lnTo>
                  <a:pt x="596" y="4"/>
                </a:lnTo>
                <a:close/>
                <a:moveTo>
                  <a:pt x="562" y="4"/>
                </a:moveTo>
                <a:lnTo>
                  <a:pt x="562" y="4"/>
                </a:lnTo>
                <a:lnTo>
                  <a:pt x="560" y="3"/>
                </a:lnTo>
                <a:lnTo>
                  <a:pt x="560" y="2"/>
                </a:lnTo>
                <a:lnTo>
                  <a:pt x="560" y="0"/>
                </a:lnTo>
                <a:lnTo>
                  <a:pt x="562" y="0"/>
                </a:lnTo>
                <a:lnTo>
                  <a:pt x="563" y="0"/>
                </a:lnTo>
                <a:lnTo>
                  <a:pt x="564" y="2"/>
                </a:lnTo>
                <a:lnTo>
                  <a:pt x="563" y="3"/>
                </a:lnTo>
                <a:lnTo>
                  <a:pt x="562" y="4"/>
                </a:lnTo>
                <a:close/>
                <a:moveTo>
                  <a:pt x="529" y="4"/>
                </a:moveTo>
                <a:lnTo>
                  <a:pt x="529" y="4"/>
                </a:lnTo>
                <a:lnTo>
                  <a:pt x="528" y="3"/>
                </a:lnTo>
                <a:lnTo>
                  <a:pt x="527" y="2"/>
                </a:lnTo>
                <a:lnTo>
                  <a:pt x="528" y="0"/>
                </a:lnTo>
                <a:lnTo>
                  <a:pt x="529" y="0"/>
                </a:lnTo>
                <a:lnTo>
                  <a:pt x="531" y="0"/>
                </a:lnTo>
                <a:lnTo>
                  <a:pt x="531" y="2"/>
                </a:lnTo>
                <a:lnTo>
                  <a:pt x="531" y="3"/>
                </a:lnTo>
                <a:lnTo>
                  <a:pt x="529" y="4"/>
                </a:lnTo>
                <a:close/>
                <a:moveTo>
                  <a:pt x="496" y="4"/>
                </a:moveTo>
                <a:lnTo>
                  <a:pt x="496" y="4"/>
                </a:lnTo>
                <a:lnTo>
                  <a:pt x="494" y="3"/>
                </a:lnTo>
                <a:lnTo>
                  <a:pt x="494" y="2"/>
                </a:lnTo>
                <a:lnTo>
                  <a:pt x="494" y="0"/>
                </a:lnTo>
                <a:lnTo>
                  <a:pt x="496" y="0"/>
                </a:lnTo>
                <a:lnTo>
                  <a:pt x="497" y="0"/>
                </a:lnTo>
                <a:lnTo>
                  <a:pt x="498" y="2"/>
                </a:lnTo>
                <a:lnTo>
                  <a:pt x="497" y="3"/>
                </a:lnTo>
                <a:lnTo>
                  <a:pt x="496" y="4"/>
                </a:lnTo>
                <a:close/>
                <a:moveTo>
                  <a:pt x="463" y="4"/>
                </a:moveTo>
                <a:lnTo>
                  <a:pt x="463" y="4"/>
                </a:lnTo>
                <a:lnTo>
                  <a:pt x="462" y="3"/>
                </a:lnTo>
                <a:lnTo>
                  <a:pt x="462" y="2"/>
                </a:lnTo>
                <a:lnTo>
                  <a:pt x="462" y="0"/>
                </a:lnTo>
                <a:lnTo>
                  <a:pt x="463" y="0"/>
                </a:lnTo>
                <a:lnTo>
                  <a:pt x="465" y="0"/>
                </a:lnTo>
                <a:lnTo>
                  <a:pt x="465" y="2"/>
                </a:lnTo>
                <a:lnTo>
                  <a:pt x="465" y="3"/>
                </a:lnTo>
                <a:lnTo>
                  <a:pt x="463" y="4"/>
                </a:lnTo>
                <a:close/>
                <a:moveTo>
                  <a:pt x="431" y="4"/>
                </a:moveTo>
                <a:lnTo>
                  <a:pt x="431" y="4"/>
                </a:lnTo>
                <a:lnTo>
                  <a:pt x="429" y="3"/>
                </a:lnTo>
                <a:lnTo>
                  <a:pt x="428" y="2"/>
                </a:lnTo>
                <a:lnTo>
                  <a:pt x="429" y="0"/>
                </a:lnTo>
                <a:lnTo>
                  <a:pt x="431" y="0"/>
                </a:lnTo>
                <a:lnTo>
                  <a:pt x="432" y="0"/>
                </a:lnTo>
                <a:lnTo>
                  <a:pt x="432" y="2"/>
                </a:lnTo>
                <a:lnTo>
                  <a:pt x="432" y="3"/>
                </a:lnTo>
                <a:lnTo>
                  <a:pt x="431" y="4"/>
                </a:lnTo>
                <a:close/>
                <a:moveTo>
                  <a:pt x="397" y="4"/>
                </a:moveTo>
                <a:lnTo>
                  <a:pt x="397" y="4"/>
                </a:lnTo>
                <a:lnTo>
                  <a:pt x="396" y="3"/>
                </a:lnTo>
                <a:lnTo>
                  <a:pt x="396" y="2"/>
                </a:lnTo>
                <a:lnTo>
                  <a:pt x="396" y="0"/>
                </a:lnTo>
                <a:lnTo>
                  <a:pt x="397" y="0"/>
                </a:lnTo>
                <a:lnTo>
                  <a:pt x="398" y="0"/>
                </a:lnTo>
                <a:lnTo>
                  <a:pt x="400" y="2"/>
                </a:lnTo>
                <a:lnTo>
                  <a:pt x="398" y="3"/>
                </a:lnTo>
                <a:lnTo>
                  <a:pt x="397" y="4"/>
                </a:lnTo>
                <a:close/>
                <a:moveTo>
                  <a:pt x="365" y="4"/>
                </a:moveTo>
                <a:lnTo>
                  <a:pt x="365" y="4"/>
                </a:lnTo>
                <a:lnTo>
                  <a:pt x="363" y="3"/>
                </a:lnTo>
                <a:lnTo>
                  <a:pt x="363" y="2"/>
                </a:lnTo>
                <a:lnTo>
                  <a:pt x="363" y="0"/>
                </a:lnTo>
                <a:lnTo>
                  <a:pt x="365" y="0"/>
                </a:lnTo>
                <a:lnTo>
                  <a:pt x="366" y="0"/>
                </a:lnTo>
                <a:lnTo>
                  <a:pt x="366" y="2"/>
                </a:lnTo>
                <a:lnTo>
                  <a:pt x="366" y="3"/>
                </a:lnTo>
                <a:lnTo>
                  <a:pt x="365" y="4"/>
                </a:lnTo>
                <a:close/>
                <a:moveTo>
                  <a:pt x="332" y="4"/>
                </a:moveTo>
                <a:lnTo>
                  <a:pt x="332" y="4"/>
                </a:lnTo>
                <a:lnTo>
                  <a:pt x="331" y="3"/>
                </a:lnTo>
                <a:lnTo>
                  <a:pt x="330" y="2"/>
                </a:lnTo>
                <a:lnTo>
                  <a:pt x="331" y="0"/>
                </a:lnTo>
                <a:lnTo>
                  <a:pt x="332" y="0"/>
                </a:lnTo>
                <a:lnTo>
                  <a:pt x="334" y="2"/>
                </a:lnTo>
                <a:lnTo>
                  <a:pt x="332" y="3"/>
                </a:lnTo>
                <a:lnTo>
                  <a:pt x="332" y="4"/>
                </a:lnTo>
                <a:close/>
                <a:moveTo>
                  <a:pt x="298" y="4"/>
                </a:moveTo>
                <a:lnTo>
                  <a:pt x="298" y="4"/>
                </a:lnTo>
                <a:lnTo>
                  <a:pt x="297" y="3"/>
                </a:lnTo>
                <a:lnTo>
                  <a:pt x="297" y="2"/>
                </a:lnTo>
                <a:lnTo>
                  <a:pt x="297" y="0"/>
                </a:lnTo>
                <a:lnTo>
                  <a:pt x="298" y="0"/>
                </a:lnTo>
                <a:lnTo>
                  <a:pt x="300" y="0"/>
                </a:lnTo>
                <a:lnTo>
                  <a:pt x="301" y="2"/>
                </a:lnTo>
                <a:lnTo>
                  <a:pt x="300" y="3"/>
                </a:lnTo>
                <a:lnTo>
                  <a:pt x="298" y="4"/>
                </a:lnTo>
                <a:close/>
                <a:moveTo>
                  <a:pt x="266" y="4"/>
                </a:moveTo>
                <a:lnTo>
                  <a:pt x="266" y="4"/>
                </a:lnTo>
                <a:lnTo>
                  <a:pt x="265" y="3"/>
                </a:lnTo>
                <a:lnTo>
                  <a:pt x="263" y="2"/>
                </a:lnTo>
                <a:lnTo>
                  <a:pt x="265" y="0"/>
                </a:lnTo>
                <a:lnTo>
                  <a:pt x="266" y="0"/>
                </a:lnTo>
                <a:lnTo>
                  <a:pt x="267" y="0"/>
                </a:lnTo>
                <a:lnTo>
                  <a:pt x="267" y="2"/>
                </a:lnTo>
                <a:lnTo>
                  <a:pt x="267" y="3"/>
                </a:lnTo>
                <a:lnTo>
                  <a:pt x="266" y="4"/>
                </a:lnTo>
                <a:close/>
                <a:moveTo>
                  <a:pt x="232" y="4"/>
                </a:moveTo>
                <a:lnTo>
                  <a:pt x="232" y="4"/>
                </a:lnTo>
                <a:lnTo>
                  <a:pt x="231" y="3"/>
                </a:lnTo>
                <a:lnTo>
                  <a:pt x="231" y="2"/>
                </a:lnTo>
                <a:lnTo>
                  <a:pt x="231" y="0"/>
                </a:lnTo>
                <a:lnTo>
                  <a:pt x="232" y="0"/>
                </a:lnTo>
                <a:lnTo>
                  <a:pt x="234" y="0"/>
                </a:lnTo>
                <a:lnTo>
                  <a:pt x="235" y="2"/>
                </a:lnTo>
                <a:lnTo>
                  <a:pt x="234" y="3"/>
                </a:lnTo>
                <a:lnTo>
                  <a:pt x="232" y="4"/>
                </a:lnTo>
                <a:close/>
                <a:moveTo>
                  <a:pt x="200" y="4"/>
                </a:moveTo>
                <a:lnTo>
                  <a:pt x="200" y="4"/>
                </a:lnTo>
                <a:lnTo>
                  <a:pt x="199" y="3"/>
                </a:lnTo>
                <a:lnTo>
                  <a:pt x="199" y="2"/>
                </a:lnTo>
                <a:lnTo>
                  <a:pt x="199" y="0"/>
                </a:lnTo>
                <a:lnTo>
                  <a:pt x="200" y="0"/>
                </a:lnTo>
                <a:lnTo>
                  <a:pt x="201" y="0"/>
                </a:lnTo>
                <a:lnTo>
                  <a:pt x="201" y="2"/>
                </a:lnTo>
                <a:lnTo>
                  <a:pt x="201" y="3"/>
                </a:lnTo>
                <a:lnTo>
                  <a:pt x="200" y="4"/>
                </a:lnTo>
                <a:close/>
                <a:moveTo>
                  <a:pt x="168" y="4"/>
                </a:moveTo>
                <a:lnTo>
                  <a:pt x="168" y="4"/>
                </a:lnTo>
                <a:lnTo>
                  <a:pt x="166" y="3"/>
                </a:lnTo>
                <a:lnTo>
                  <a:pt x="165" y="2"/>
                </a:lnTo>
                <a:lnTo>
                  <a:pt x="166" y="0"/>
                </a:lnTo>
                <a:lnTo>
                  <a:pt x="168" y="0"/>
                </a:lnTo>
                <a:lnTo>
                  <a:pt x="169" y="2"/>
                </a:lnTo>
                <a:lnTo>
                  <a:pt x="168" y="3"/>
                </a:lnTo>
                <a:lnTo>
                  <a:pt x="168" y="4"/>
                </a:lnTo>
                <a:close/>
                <a:moveTo>
                  <a:pt x="134" y="4"/>
                </a:moveTo>
                <a:lnTo>
                  <a:pt x="134" y="4"/>
                </a:lnTo>
                <a:lnTo>
                  <a:pt x="132" y="3"/>
                </a:lnTo>
                <a:lnTo>
                  <a:pt x="132" y="2"/>
                </a:lnTo>
                <a:lnTo>
                  <a:pt x="132" y="0"/>
                </a:lnTo>
                <a:lnTo>
                  <a:pt x="134" y="0"/>
                </a:lnTo>
                <a:lnTo>
                  <a:pt x="135" y="0"/>
                </a:lnTo>
                <a:lnTo>
                  <a:pt x="136" y="2"/>
                </a:lnTo>
                <a:lnTo>
                  <a:pt x="135" y="3"/>
                </a:lnTo>
                <a:lnTo>
                  <a:pt x="134" y="4"/>
                </a:lnTo>
                <a:close/>
                <a:moveTo>
                  <a:pt x="101" y="4"/>
                </a:moveTo>
                <a:lnTo>
                  <a:pt x="101" y="4"/>
                </a:lnTo>
                <a:lnTo>
                  <a:pt x="100" y="3"/>
                </a:lnTo>
                <a:lnTo>
                  <a:pt x="99" y="2"/>
                </a:lnTo>
                <a:lnTo>
                  <a:pt x="100" y="0"/>
                </a:lnTo>
                <a:lnTo>
                  <a:pt x="101" y="0"/>
                </a:lnTo>
                <a:lnTo>
                  <a:pt x="103" y="0"/>
                </a:lnTo>
                <a:lnTo>
                  <a:pt x="103" y="2"/>
                </a:lnTo>
                <a:lnTo>
                  <a:pt x="103" y="3"/>
                </a:lnTo>
                <a:lnTo>
                  <a:pt x="101" y="4"/>
                </a:lnTo>
                <a:close/>
                <a:moveTo>
                  <a:pt x="68" y="4"/>
                </a:moveTo>
                <a:lnTo>
                  <a:pt x="68" y="4"/>
                </a:lnTo>
                <a:lnTo>
                  <a:pt x="66" y="3"/>
                </a:lnTo>
                <a:lnTo>
                  <a:pt x="66" y="2"/>
                </a:lnTo>
                <a:lnTo>
                  <a:pt x="66" y="0"/>
                </a:lnTo>
                <a:lnTo>
                  <a:pt x="68" y="0"/>
                </a:lnTo>
                <a:lnTo>
                  <a:pt x="69" y="0"/>
                </a:lnTo>
                <a:lnTo>
                  <a:pt x="70" y="2"/>
                </a:lnTo>
                <a:lnTo>
                  <a:pt x="69" y="3"/>
                </a:lnTo>
                <a:lnTo>
                  <a:pt x="68" y="4"/>
                </a:lnTo>
                <a:close/>
                <a:moveTo>
                  <a:pt x="35" y="4"/>
                </a:moveTo>
                <a:lnTo>
                  <a:pt x="35" y="4"/>
                </a:lnTo>
                <a:lnTo>
                  <a:pt x="34" y="3"/>
                </a:lnTo>
                <a:lnTo>
                  <a:pt x="34" y="2"/>
                </a:lnTo>
                <a:lnTo>
                  <a:pt x="34" y="0"/>
                </a:lnTo>
                <a:lnTo>
                  <a:pt x="35" y="0"/>
                </a:lnTo>
                <a:lnTo>
                  <a:pt x="37" y="0"/>
                </a:lnTo>
                <a:lnTo>
                  <a:pt x="37" y="2"/>
                </a:lnTo>
                <a:lnTo>
                  <a:pt x="37" y="3"/>
                </a:lnTo>
                <a:lnTo>
                  <a:pt x="35" y="4"/>
                </a:lnTo>
                <a:close/>
                <a:moveTo>
                  <a:pt x="3" y="4"/>
                </a:moveTo>
                <a:lnTo>
                  <a:pt x="3" y="4"/>
                </a:lnTo>
                <a:lnTo>
                  <a:pt x="1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6" name="未知"/>
          <p:cNvSpPr>
            <a:spLocks/>
          </p:cNvSpPr>
          <p:nvPr/>
        </p:nvSpPr>
        <p:spPr bwMode="auto">
          <a:xfrm>
            <a:off x="5241985" y="1603360"/>
            <a:ext cx="165099" cy="111107"/>
          </a:xfrm>
          <a:custGeom>
            <a:avLst/>
            <a:gdLst>
              <a:gd name="T0" fmla="*/ 2147483646 w 127"/>
              <a:gd name="T1" fmla="*/ 2147483646 h 83"/>
              <a:gd name="T2" fmla="*/ 0 w 127"/>
              <a:gd name="T3" fmla="*/ 2147483646 h 83"/>
              <a:gd name="T4" fmla="*/ 2147483646 w 127"/>
              <a:gd name="T5" fmla="*/ 0 h 83"/>
              <a:gd name="T6" fmla="*/ 2147483646 w 127"/>
              <a:gd name="T7" fmla="*/ 2147483646 h 83"/>
              <a:gd name="T8" fmla="*/ 0 60000 65536"/>
              <a:gd name="T9" fmla="*/ 0 60000 65536"/>
              <a:gd name="T10" fmla="*/ 0 60000 65536"/>
              <a:gd name="T11" fmla="*/ 0 60000 65536"/>
              <a:gd name="T12" fmla="*/ 0 w 127"/>
              <a:gd name="T13" fmla="*/ 0 h 83"/>
              <a:gd name="T14" fmla="*/ 127 w 127"/>
              <a:gd name="T15" fmla="*/ 83 h 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7" h="83">
                <a:moveTo>
                  <a:pt x="127" y="83"/>
                </a:moveTo>
                <a:lnTo>
                  <a:pt x="0" y="42"/>
                </a:lnTo>
                <a:lnTo>
                  <a:pt x="127" y="0"/>
                </a:lnTo>
                <a:lnTo>
                  <a:pt x="127" y="8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ectangle 134"/>
          <p:cNvSpPr>
            <a:spLocks noChangeArrowheads="1"/>
          </p:cNvSpPr>
          <p:nvPr/>
        </p:nvSpPr>
        <p:spPr bwMode="auto">
          <a:xfrm>
            <a:off x="1524201" y="186000"/>
            <a:ext cx="642463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迪杰斯特拉算法求解过程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50F8181-8CD3-D1F8-806A-10C58C70C199}"/>
              </a:ext>
            </a:extLst>
          </p:cNvPr>
          <p:cNvSpPr/>
          <p:nvPr/>
        </p:nvSpPr>
        <p:spPr bwMode="auto">
          <a:xfrm>
            <a:off x="5343578" y="1863388"/>
            <a:ext cx="330671" cy="4007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A2EC6BB-940C-27D2-D0F9-E08357C56579}"/>
              </a:ext>
            </a:extLst>
          </p:cNvPr>
          <p:cNvSpPr/>
          <p:nvPr/>
        </p:nvSpPr>
        <p:spPr bwMode="auto">
          <a:xfrm>
            <a:off x="4695646" y="1208371"/>
            <a:ext cx="330671" cy="4007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416" name="Rectangle 205">
            <a:extLst>
              <a:ext uri="{FF2B5EF4-FFF2-40B4-BE49-F238E27FC236}">
                <a16:creationId xmlns:a16="http://schemas.microsoft.com/office/drawing/2014/main" id="{69D3931E-890F-3870-A29C-79C4F309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829" y="6358663"/>
            <a:ext cx="232595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800" b="1" i="0" dirty="0">
                <a:solidFill>
                  <a:srgbClr val="080808"/>
                </a:solidFill>
                <a:latin typeface="宋体" pitchFamily="2" charset="-122"/>
              </a:rPr>
              <a:t>（</a:t>
            </a:r>
            <a:r>
              <a:rPr lang="en-US" altLang="zh-CN" sz="1800" b="1" i="0" dirty="0">
                <a:solidFill>
                  <a:srgbClr val="080808"/>
                </a:solidFill>
                <a:latin typeface="宋体" pitchFamily="2" charset="-122"/>
              </a:rPr>
              <a:t>4</a:t>
            </a:r>
            <a:r>
              <a:rPr lang="zh-CN" altLang="en-US" sz="1800" b="1" i="0" dirty="0">
                <a:solidFill>
                  <a:srgbClr val="080808"/>
                </a:solidFill>
                <a:latin typeface="宋体" pitchFamily="2" charset="-122"/>
              </a:rPr>
              <a:t>）选</a:t>
            </a:r>
            <a:r>
              <a:rPr lang="en-US" altLang="zh-CN" sz="1800" b="1" i="0" dirty="0">
                <a:solidFill>
                  <a:srgbClr val="080808"/>
                </a:solidFill>
                <a:latin typeface="宋体" pitchFamily="2" charset="-122"/>
              </a:rPr>
              <a:t>D</a:t>
            </a:r>
            <a:r>
              <a:rPr lang="zh-CN" altLang="en-US" sz="1800" b="1" i="0" dirty="0">
                <a:solidFill>
                  <a:srgbClr val="080808"/>
                </a:solidFill>
                <a:latin typeface="宋体" pitchFamily="2" charset="-122"/>
              </a:rPr>
              <a:t>点，更新路径</a:t>
            </a:r>
            <a:endParaRPr lang="en-US" altLang="zh-CN" sz="1800" b="1" i="0" dirty="0">
              <a:solidFill>
                <a:srgbClr val="080808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grpSp>
        <p:nvGrpSpPr>
          <p:cNvPr id="15429" name="组合 15428">
            <a:extLst>
              <a:ext uri="{FF2B5EF4-FFF2-40B4-BE49-F238E27FC236}">
                <a16:creationId xmlns:a16="http://schemas.microsoft.com/office/drawing/2014/main" id="{B805F47A-F72D-C6E6-D959-D21CACF62FD4}"/>
              </a:ext>
            </a:extLst>
          </p:cNvPr>
          <p:cNvGrpSpPr/>
          <p:nvPr/>
        </p:nvGrpSpPr>
        <p:grpSpPr>
          <a:xfrm>
            <a:off x="1133704" y="4117526"/>
            <a:ext cx="2500313" cy="2214224"/>
            <a:chOff x="1133704" y="4117526"/>
            <a:chExt cx="2500313" cy="2214224"/>
          </a:xfrm>
        </p:grpSpPr>
        <p:sp>
          <p:nvSpPr>
            <p:cNvPr id="50" name="未知">
              <a:extLst>
                <a:ext uri="{FF2B5EF4-FFF2-40B4-BE49-F238E27FC236}">
                  <a16:creationId xmlns:a16="http://schemas.microsoft.com/office/drawing/2014/main" id="{AA33526C-049E-1FE3-BFCD-2401928BF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520" y="4265142"/>
              <a:ext cx="282573" cy="301535"/>
            </a:xfrm>
            <a:custGeom>
              <a:avLst/>
              <a:gdLst>
                <a:gd name="T0" fmla="*/ 3468480 w 216"/>
                <a:gd name="T1" fmla="*/ 559741153 h 227"/>
                <a:gd name="T2" fmla="*/ 19279409 w 216"/>
                <a:gd name="T3" fmla="*/ 431963359 h 227"/>
                <a:gd name="T4" fmla="*/ 51371873 w 216"/>
                <a:gd name="T5" fmla="*/ 326584817 h 227"/>
                <a:gd name="T6" fmla="*/ 93100459 w 216"/>
                <a:gd name="T7" fmla="*/ 227932445 h 227"/>
                <a:gd name="T8" fmla="*/ 151879687 w 216"/>
                <a:gd name="T9" fmla="*/ 139722493 h 227"/>
                <a:gd name="T10" fmla="*/ 218040878 w 216"/>
                <a:gd name="T11" fmla="*/ 75813534 h 227"/>
                <a:gd name="T12" fmla="*/ 293737899 w 216"/>
                <a:gd name="T13" fmla="*/ 33107939 h 227"/>
                <a:gd name="T14" fmla="*/ 379467856 w 216"/>
                <a:gd name="T15" fmla="*/ 10147193 h 227"/>
                <a:gd name="T16" fmla="*/ 464985030 w 216"/>
                <a:gd name="T17" fmla="*/ 10147193 h 227"/>
                <a:gd name="T18" fmla="*/ 546365163 w 216"/>
                <a:gd name="T19" fmla="*/ 33107939 h 227"/>
                <a:gd name="T20" fmla="*/ 622739560 w 216"/>
                <a:gd name="T21" fmla="*/ 75813534 h 227"/>
                <a:gd name="T22" fmla="*/ 692368182 w 216"/>
                <a:gd name="T23" fmla="*/ 139722493 h 227"/>
                <a:gd name="T24" fmla="*/ 745936538 w 216"/>
                <a:gd name="T25" fmla="*/ 227932445 h 227"/>
                <a:gd name="T26" fmla="*/ 789344504 w 216"/>
                <a:gd name="T27" fmla="*/ 326584817 h 227"/>
                <a:gd name="T28" fmla="*/ 828864612 w 216"/>
                <a:gd name="T29" fmla="*/ 431963359 h 227"/>
                <a:gd name="T30" fmla="*/ 844450245 w 216"/>
                <a:gd name="T31" fmla="*/ 559741153 h 227"/>
                <a:gd name="T32" fmla="*/ 844450245 w 216"/>
                <a:gd name="T33" fmla="*/ 618956149 h 227"/>
                <a:gd name="T34" fmla="*/ 832344154 w 216"/>
                <a:gd name="T35" fmla="*/ 744022768 h 227"/>
                <a:gd name="T36" fmla="*/ 814086300 w 216"/>
                <a:gd name="T37" fmla="*/ 857787430 h 227"/>
                <a:gd name="T38" fmla="*/ 769858614 w 216"/>
                <a:gd name="T39" fmla="*/ 958434412 h 227"/>
                <a:gd name="T40" fmla="*/ 722693214 w 216"/>
                <a:gd name="T41" fmla="*/ 1057112630 h 227"/>
                <a:gd name="T42" fmla="*/ 660207783 w 216"/>
                <a:gd name="T43" fmla="*/ 1126388021 h 227"/>
                <a:gd name="T44" fmla="*/ 586522487 w 216"/>
                <a:gd name="T45" fmla="*/ 1185978067 h 227"/>
                <a:gd name="T46" fmla="*/ 504656372 w 216"/>
                <a:gd name="T47" fmla="*/ 1220474701 h 227"/>
                <a:gd name="T48" fmla="*/ 422873988 w 216"/>
                <a:gd name="T49" fmla="*/ 1230410188 h 227"/>
                <a:gd name="T50" fmla="*/ 336070776 w 216"/>
                <a:gd name="T51" fmla="*/ 1220474701 h 227"/>
                <a:gd name="T52" fmla="*/ 258010951 w 216"/>
                <a:gd name="T53" fmla="*/ 1185978067 h 227"/>
                <a:gd name="T54" fmla="*/ 184191063 w 216"/>
                <a:gd name="T55" fmla="*/ 1126388021 h 227"/>
                <a:gd name="T56" fmla="*/ 125236776 w 216"/>
                <a:gd name="T57" fmla="*/ 1057112630 h 227"/>
                <a:gd name="T58" fmla="*/ 73721376 w 216"/>
                <a:gd name="T59" fmla="*/ 958434412 h 227"/>
                <a:gd name="T60" fmla="*/ 30328991 w 216"/>
                <a:gd name="T61" fmla="*/ 857787430 h 227"/>
                <a:gd name="T62" fmla="*/ 7145711 w 216"/>
                <a:gd name="T63" fmla="*/ 744022768 h 227"/>
                <a:gd name="T64" fmla="*/ 0 w 216"/>
                <a:gd name="T65" fmla="*/ 618956149 h 22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7"/>
                <a:gd name="T101" fmla="*/ 216 w 216"/>
                <a:gd name="T102" fmla="*/ 227 h 22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7">
                  <a:moveTo>
                    <a:pt x="0" y="114"/>
                  </a:moveTo>
                  <a:lnTo>
                    <a:pt x="1" y="103"/>
                  </a:lnTo>
                  <a:lnTo>
                    <a:pt x="2" y="91"/>
                  </a:lnTo>
                  <a:lnTo>
                    <a:pt x="5" y="80"/>
                  </a:lnTo>
                  <a:lnTo>
                    <a:pt x="8" y="69"/>
                  </a:lnTo>
                  <a:lnTo>
                    <a:pt x="13" y="60"/>
                  </a:lnTo>
                  <a:lnTo>
                    <a:pt x="19" y="50"/>
                  </a:lnTo>
                  <a:lnTo>
                    <a:pt x="24" y="42"/>
                  </a:lnTo>
                  <a:lnTo>
                    <a:pt x="32" y="34"/>
                  </a:lnTo>
                  <a:lnTo>
                    <a:pt x="39" y="26"/>
                  </a:lnTo>
                  <a:lnTo>
                    <a:pt x="47" y="19"/>
                  </a:lnTo>
                  <a:lnTo>
                    <a:pt x="56" y="14"/>
                  </a:lnTo>
                  <a:lnTo>
                    <a:pt x="66" y="10"/>
                  </a:lnTo>
                  <a:lnTo>
                    <a:pt x="75" y="6"/>
                  </a:lnTo>
                  <a:lnTo>
                    <a:pt x="86" y="3"/>
                  </a:lnTo>
                  <a:lnTo>
                    <a:pt x="97" y="2"/>
                  </a:lnTo>
                  <a:lnTo>
                    <a:pt x="108" y="0"/>
                  </a:lnTo>
                  <a:lnTo>
                    <a:pt x="119" y="2"/>
                  </a:lnTo>
                  <a:lnTo>
                    <a:pt x="129" y="3"/>
                  </a:lnTo>
                  <a:lnTo>
                    <a:pt x="140" y="6"/>
                  </a:lnTo>
                  <a:lnTo>
                    <a:pt x="150" y="10"/>
                  </a:lnTo>
                  <a:lnTo>
                    <a:pt x="159" y="14"/>
                  </a:lnTo>
                  <a:lnTo>
                    <a:pt x="169" y="19"/>
                  </a:lnTo>
                  <a:lnTo>
                    <a:pt x="177" y="26"/>
                  </a:lnTo>
                  <a:lnTo>
                    <a:pt x="185" y="34"/>
                  </a:lnTo>
                  <a:lnTo>
                    <a:pt x="191" y="42"/>
                  </a:lnTo>
                  <a:lnTo>
                    <a:pt x="197" y="50"/>
                  </a:lnTo>
                  <a:lnTo>
                    <a:pt x="202" y="60"/>
                  </a:lnTo>
                  <a:lnTo>
                    <a:pt x="208" y="69"/>
                  </a:lnTo>
                  <a:lnTo>
                    <a:pt x="212" y="80"/>
                  </a:lnTo>
                  <a:lnTo>
                    <a:pt x="213" y="91"/>
                  </a:lnTo>
                  <a:lnTo>
                    <a:pt x="216" y="103"/>
                  </a:lnTo>
                  <a:lnTo>
                    <a:pt x="216" y="114"/>
                  </a:lnTo>
                  <a:lnTo>
                    <a:pt x="216" y="126"/>
                  </a:lnTo>
                  <a:lnTo>
                    <a:pt x="213" y="137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8"/>
                  </a:lnTo>
                  <a:lnTo>
                    <a:pt x="197" y="177"/>
                  </a:lnTo>
                  <a:lnTo>
                    <a:pt x="191" y="187"/>
                  </a:lnTo>
                  <a:lnTo>
                    <a:pt x="185" y="195"/>
                  </a:lnTo>
                  <a:lnTo>
                    <a:pt x="177" y="202"/>
                  </a:lnTo>
                  <a:lnTo>
                    <a:pt x="169" y="208"/>
                  </a:lnTo>
                  <a:lnTo>
                    <a:pt x="159" y="214"/>
                  </a:lnTo>
                  <a:lnTo>
                    <a:pt x="150" y="219"/>
                  </a:lnTo>
                  <a:lnTo>
                    <a:pt x="140" y="222"/>
                  </a:lnTo>
                  <a:lnTo>
                    <a:pt x="129" y="225"/>
                  </a:lnTo>
                  <a:lnTo>
                    <a:pt x="119" y="227"/>
                  </a:lnTo>
                  <a:lnTo>
                    <a:pt x="108" y="227"/>
                  </a:lnTo>
                  <a:lnTo>
                    <a:pt x="97" y="227"/>
                  </a:lnTo>
                  <a:lnTo>
                    <a:pt x="86" y="225"/>
                  </a:lnTo>
                  <a:lnTo>
                    <a:pt x="75" y="222"/>
                  </a:lnTo>
                  <a:lnTo>
                    <a:pt x="66" y="219"/>
                  </a:lnTo>
                  <a:lnTo>
                    <a:pt x="56" y="214"/>
                  </a:lnTo>
                  <a:lnTo>
                    <a:pt x="47" y="208"/>
                  </a:lnTo>
                  <a:lnTo>
                    <a:pt x="39" y="202"/>
                  </a:lnTo>
                  <a:lnTo>
                    <a:pt x="32" y="195"/>
                  </a:lnTo>
                  <a:lnTo>
                    <a:pt x="24" y="187"/>
                  </a:lnTo>
                  <a:lnTo>
                    <a:pt x="19" y="177"/>
                  </a:lnTo>
                  <a:lnTo>
                    <a:pt x="13" y="168"/>
                  </a:lnTo>
                  <a:lnTo>
                    <a:pt x="8" y="158"/>
                  </a:lnTo>
                  <a:lnTo>
                    <a:pt x="5" y="148"/>
                  </a:lnTo>
                  <a:lnTo>
                    <a:pt x="2" y="137"/>
                  </a:lnTo>
                  <a:lnTo>
                    <a:pt x="1" y="126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未知">
              <a:extLst>
                <a:ext uri="{FF2B5EF4-FFF2-40B4-BE49-F238E27FC236}">
                  <a16:creationId xmlns:a16="http://schemas.microsoft.com/office/drawing/2014/main" id="{A5D4C179-BDB4-680A-B9E1-32DF2A533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520" y="5693465"/>
              <a:ext cx="282573" cy="301535"/>
            </a:xfrm>
            <a:custGeom>
              <a:avLst/>
              <a:gdLst>
                <a:gd name="T0" fmla="*/ 3468480 w 216"/>
                <a:gd name="T1" fmla="*/ 605799974 h 226"/>
                <a:gd name="T2" fmla="*/ 19279409 w 216"/>
                <a:gd name="T3" fmla="*/ 470234226 h 226"/>
                <a:gd name="T4" fmla="*/ 51371873 w 216"/>
                <a:gd name="T5" fmla="*/ 351636369 h 226"/>
                <a:gd name="T6" fmla="*/ 93100459 w 216"/>
                <a:gd name="T7" fmla="*/ 243453492 h 226"/>
                <a:gd name="T8" fmla="*/ 151879687 w 216"/>
                <a:gd name="T9" fmla="*/ 149345652 h 226"/>
                <a:gd name="T10" fmla="*/ 218040878 w 216"/>
                <a:gd name="T11" fmla="*/ 76838499 h 226"/>
                <a:gd name="T12" fmla="*/ 293737899 w 216"/>
                <a:gd name="T13" fmla="*/ 30747017 h 226"/>
                <a:gd name="T14" fmla="*/ 379467856 w 216"/>
                <a:gd name="T15" fmla="*/ 5246112 h 226"/>
                <a:gd name="T16" fmla="*/ 464985030 w 216"/>
                <a:gd name="T17" fmla="*/ 5246112 h 226"/>
                <a:gd name="T18" fmla="*/ 546365163 w 216"/>
                <a:gd name="T19" fmla="*/ 30747017 h 226"/>
                <a:gd name="T20" fmla="*/ 622739560 w 216"/>
                <a:gd name="T21" fmla="*/ 76838499 h 226"/>
                <a:gd name="T22" fmla="*/ 692368182 w 216"/>
                <a:gd name="T23" fmla="*/ 149345652 h 226"/>
                <a:gd name="T24" fmla="*/ 745936538 w 216"/>
                <a:gd name="T25" fmla="*/ 243453492 h 226"/>
                <a:gd name="T26" fmla="*/ 789344504 w 216"/>
                <a:gd name="T27" fmla="*/ 351636369 h 226"/>
                <a:gd name="T28" fmla="*/ 828864612 w 216"/>
                <a:gd name="T29" fmla="*/ 470234226 h 226"/>
                <a:gd name="T30" fmla="*/ 844450245 w 216"/>
                <a:gd name="T31" fmla="*/ 605799974 h 226"/>
                <a:gd name="T32" fmla="*/ 844450245 w 216"/>
                <a:gd name="T33" fmla="*/ 673247391 h 226"/>
                <a:gd name="T34" fmla="*/ 837258897 w 216"/>
                <a:gd name="T35" fmla="*/ 809121661 h 226"/>
                <a:gd name="T36" fmla="*/ 814086300 w 216"/>
                <a:gd name="T37" fmla="*/ 939556915 h 226"/>
                <a:gd name="T38" fmla="*/ 769858614 w 216"/>
                <a:gd name="T39" fmla="*/ 1047187779 h 226"/>
                <a:gd name="T40" fmla="*/ 722693214 w 216"/>
                <a:gd name="T41" fmla="*/ 1154717196 h 226"/>
                <a:gd name="T42" fmla="*/ 660207783 w 216"/>
                <a:gd name="T43" fmla="*/ 1235532183 h 226"/>
                <a:gd name="T44" fmla="*/ 586522487 w 216"/>
                <a:gd name="T45" fmla="*/ 1296425926 h 226"/>
                <a:gd name="T46" fmla="*/ 504656372 w 216"/>
                <a:gd name="T47" fmla="*/ 1332984545 h 226"/>
                <a:gd name="T48" fmla="*/ 422873988 w 216"/>
                <a:gd name="T49" fmla="*/ 1343980891 h 226"/>
                <a:gd name="T50" fmla="*/ 336070776 w 216"/>
                <a:gd name="T51" fmla="*/ 1332984545 h 226"/>
                <a:gd name="T52" fmla="*/ 258010951 w 216"/>
                <a:gd name="T53" fmla="*/ 1296425926 h 226"/>
                <a:gd name="T54" fmla="*/ 184191063 w 216"/>
                <a:gd name="T55" fmla="*/ 1235532183 h 226"/>
                <a:gd name="T56" fmla="*/ 125236776 w 216"/>
                <a:gd name="T57" fmla="*/ 1154717196 h 226"/>
                <a:gd name="T58" fmla="*/ 73721376 w 216"/>
                <a:gd name="T59" fmla="*/ 1047187779 h 226"/>
                <a:gd name="T60" fmla="*/ 30328991 w 216"/>
                <a:gd name="T61" fmla="*/ 939556915 h 226"/>
                <a:gd name="T62" fmla="*/ 7145711 w 216"/>
                <a:gd name="T63" fmla="*/ 809121661 h 226"/>
                <a:gd name="T64" fmla="*/ 0 w 216"/>
                <a:gd name="T65" fmla="*/ 673247391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6"/>
                <a:gd name="T101" fmla="*/ 216 w 216"/>
                <a:gd name="T102" fmla="*/ 226 h 2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6">
                  <a:moveTo>
                    <a:pt x="0" y="113"/>
                  </a:moveTo>
                  <a:lnTo>
                    <a:pt x="1" y="102"/>
                  </a:lnTo>
                  <a:lnTo>
                    <a:pt x="2" y="90"/>
                  </a:lnTo>
                  <a:lnTo>
                    <a:pt x="5" y="79"/>
                  </a:lnTo>
                  <a:lnTo>
                    <a:pt x="8" y="68"/>
                  </a:lnTo>
                  <a:lnTo>
                    <a:pt x="13" y="59"/>
                  </a:lnTo>
                  <a:lnTo>
                    <a:pt x="19" y="50"/>
                  </a:lnTo>
                  <a:lnTo>
                    <a:pt x="24" y="41"/>
                  </a:lnTo>
                  <a:lnTo>
                    <a:pt x="32" y="33"/>
                  </a:lnTo>
                  <a:lnTo>
                    <a:pt x="39" y="25"/>
                  </a:lnTo>
                  <a:lnTo>
                    <a:pt x="47" y="18"/>
                  </a:lnTo>
                  <a:lnTo>
                    <a:pt x="56" y="13"/>
                  </a:lnTo>
                  <a:lnTo>
                    <a:pt x="66" y="9"/>
                  </a:lnTo>
                  <a:lnTo>
                    <a:pt x="75" y="5"/>
                  </a:lnTo>
                  <a:lnTo>
                    <a:pt x="86" y="2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2"/>
                  </a:lnTo>
                  <a:lnTo>
                    <a:pt x="140" y="5"/>
                  </a:lnTo>
                  <a:lnTo>
                    <a:pt x="150" y="9"/>
                  </a:lnTo>
                  <a:lnTo>
                    <a:pt x="159" y="13"/>
                  </a:lnTo>
                  <a:lnTo>
                    <a:pt x="169" y="18"/>
                  </a:lnTo>
                  <a:lnTo>
                    <a:pt x="177" y="25"/>
                  </a:lnTo>
                  <a:lnTo>
                    <a:pt x="185" y="33"/>
                  </a:lnTo>
                  <a:lnTo>
                    <a:pt x="191" y="41"/>
                  </a:lnTo>
                  <a:lnTo>
                    <a:pt x="197" y="50"/>
                  </a:lnTo>
                  <a:lnTo>
                    <a:pt x="202" y="59"/>
                  </a:lnTo>
                  <a:lnTo>
                    <a:pt x="208" y="68"/>
                  </a:lnTo>
                  <a:lnTo>
                    <a:pt x="212" y="79"/>
                  </a:lnTo>
                  <a:lnTo>
                    <a:pt x="214" y="90"/>
                  </a:lnTo>
                  <a:lnTo>
                    <a:pt x="216" y="102"/>
                  </a:lnTo>
                  <a:lnTo>
                    <a:pt x="216" y="113"/>
                  </a:lnTo>
                  <a:lnTo>
                    <a:pt x="216" y="125"/>
                  </a:lnTo>
                  <a:lnTo>
                    <a:pt x="214" y="136"/>
                  </a:lnTo>
                  <a:lnTo>
                    <a:pt x="212" y="147"/>
                  </a:lnTo>
                  <a:lnTo>
                    <a:pt x="208" y="158"/>
                  </a:lnTo>
                  <a:lnTo>
                    <a:pt x="202" y="167"/>
                  </a:lnTo>
                  <a:lnTo>
                    <a:pt x="197" y="176"/>
                  </a:lnTo>
                  <a:lnTo>
                    <a:pt x="191" y="186"/>
                  </a:lnTo>
                  <a:lnTo>
                    <a:pt x="185" y="194"/>
                  </a:lnTo>
                  <a:lnTo>
                    <a:pt x="177" y="201"/>
                  </a:lnTo>
                  <a:lnTo>
                    <a:pt x="169" y="208"/>
                  </a:lnTo>
                  <a:lnTo>
                    <a:pt x="159" y="213"/>
                  </a:lnTo>
                  <a:lnTo>
                    <a:pt x="150" y="218"/>
                  </a:lnTo>
                  <a:lnTo>
                    <a:pt x="140" y="221"/>
                  </a:lnTo>
                  <a:lnTo>
                    <a:pt x="129" y="224"/>
                  </a:lnTo>
                  <a:lnTo>
                    <a:pt x="119" y="226"/>
                  </a:lnTo>
                  <a:lnTo>
                    <a:pt x="108" y="226"/>
                  </a:lnTo>
                  <a:lnTo>
                    <a:pt x="97" y="226"/>
                  </a:lnTo>
                  <a:lnTo>
                    <a:pt x="86" y="224"/>
                  </a:lnTo>
                  <a:lnTo>
                    <a:pt x="75" y="221"/>
                  </a:lnTo>
                  <a:lnTo>
                    <a:pt x="66" y="218"/>
                  </a:lnTo>
                  <a:lnTo>
                    <a:pt x="56" y="213"/>
                  </a:lnTo>
                  <a:lnTo>
                    <a:pt x="47" y="208"/>
                  </a:lnTo>
                  <a:lnTo>
                    <a:pt x="39" y="201"/>
                  </a:lnTo>
                  <a:lnTo>
                    <a:pt x="32" y="194"/>
                  </a:lnTo>
                  <a:lnTo>
                    <a:pt x="24" y="186"/>
                  </a:lnTo>
                  <a:lnTo>
                    <a:pt x="19" y="176"/>
                  </a:lnTo>
                  <a:lnTo>
                    <a:pt x="13" y="167"/>
                  </a:lnTo>
                  <a:lnTo>
                    <a:pt x="8" y="158"/>
                  </a:lnTo>
                  <a:lnTo>
                    <a:pt x="5" y="147"/>
                  </a:lnTo>
                  <a:lnTo>
                    <a:pt x="2" y="136"/>
                  </a:lnTo>
                  <a:lnTo>
                    <a:pt x="1" y="125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未知">
              <a:extLst>
                <a:ext uri="{FF2B5EF4-FFF2-40B4-BE49-F238E27FC236}">
                  <a16:creationId xmlns:a16="http://schemas.microsoft.com/office/drawing/2014/main" id="{89F4BB5B-8FB9-E4D9-C0BB-5F773DAD9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520" y="5693465"/>
              <a:ext cx="282573" cy="301535"/>
            </a:xfrm>
            <a:custGeom>
              <a:avLst/>
              <a:gdLst>
                <a:gd name="T0" fmla="*/ 3468480 w 216"/>
                <a:gd name="T1" fmla="*/ 605799974 h 226"/>
                <a:gd name="T2" fmla="*/ 19279409 w 216"/>
                <a:gd name="T3" fmla="*/ 470234226 h 226"/>
                <a:gd name="T4" fmla="*/ 51371873 w 216"/>
                <a:gd name="T5" fmla="*/ 351636369 h 226"/>
                <a:gd name="T6" fmla="*/ 93100459 w 216"/>
                <a:gd name="T7" fmla="*/ 243453492 h 226"/>
                <a:gd name="T8" fmla="*/ 151879687 w 216"/>
                <a:gd name="T9" fmla="*/ 149345652 h 226"/>
                <a:gd name="T10" fmla="*/ 218040878 w 216"/>
                <a:gd name="T11" fmla="*/ 76838499 h 226"/>
                <a:gd name="T12" fmla="*/ 293737899 w 216"/>
                <a:gd name="T13" fmla="*/ 30747017 h 226"/>
                <a:gd name="T14" fmla="*/ 379467856 w 216"/>
                <a:gd name="T15" fmla="*/ 5246112 h 226"/>
                <a:gd name="T16" fmla="*/ 464985030 w 216"/>
                <a:gd name="T17" fmla="*/ 5246112 h 226"/>
                <a:gd name="T18" fmla="*/ 546365163 w 216"/>
                <a:gd name="T19" fmla="*/ 30747017 h 226"/>
                <a:gd name="T20" fmla="*/ 622739560 w 216"/>
                <a:gd name="T21" fmla="*/ 76838499 h 226"/>
                <a:gd name="T22" fmla="*/ 692368182 w 216"/>
                <a:gd name="T23" fmla="*/ 149345652 h 226"/>
                <a:gd name="T24" fmla="*/ 745936538 w 216"/>
                <a:gd name="T25" fmla="*/ 243453492 h 226"/>
                <a:gd name="T26" fmla="*/ 789344504 w 216"/>
                <a:gd name="T27" fmla="*/ 351636369 h 226"/>
                <a:gd name="T28" fmla="*/ 828864612 w 216"/>
                <a:gd name="T29" fmla="*/ 470234226 h 226"/>
                <a:gd name="T30" fmla="*/ 844450245 w 216"/>
                <a:gd name="T31" fmla="*/ 605799974 h 226"/>
                <a:gd name="T32" fmla="*/ 844450245 w 216"/>
                <a:gd name="T33" fmla="*/ 673247391 h 226"/>
                <a:gd name="T34" fmla="*/ 837258897 w 216"/>
                <a:gd name="T35" fmla="*/ 809121661 h 226"/>
                <a:gd name="T36" fmla="*/ 814086300 w 216"/>
                <a:gd name="T37" fmla="*/ 939556915 h 226"/>
                <a:gd name="T38" fmla="*/ 769858614 w 216"/>
                <a:gd name="T39" fmla="*/ 1047187779 h 226"/>
                <a:gd name="T40" fmla="*/ 722693214 w 216"/>
                <a:gd name="T41" fmla="*/ 1154717196 h 226"/>
                <a:gd name="T42" fmla="*/ 660207783 w 216"/>
                <a:gd name="T43" fmla="*/ 1235532183 h 226"/>
                <a:gd name="T44" fmla="*/ 586522487 w 216"/>
                <a:gd name="T45" fmla="*/ 1296425926 h 226"/>
                <a:gd name="T46" fmla="*/ 504656372 w 216"/>
                <a:gd name="T47" fmla="*/ 1332984545 h 226"/>
                <a:gd name="T48" fmla="*/ 422873988 w 216"/>
                <a:gd name="T49" fmla="*/ 1343980891 h 226"/>
                <a:gd name="T50" fmla="*/ 336070776 w 216"/>
                <a:gd name="T51" fmla="*/ 1332984545 h 226"/>
                <a:gd name="T52" fmla="*/ 258010951 w 216"/>
                <a:gd name="T53" fmla="*/ 1296425926 h 226"/>
                <a:gd name="T54" fmla="*/ 184191063 w 216"/>
                <a:gd name="T55" fmla="*/ 1235532183 h 226"/>
                <a:gd name="T56" fmla="*/ 125236776 w 216"/>
                <a:gd name="T57" fmla="*/ 1154717196 h 226"/>
                <a:gd name="T58" fmla="*/ 73721376 w 216"/>
                <a:gd name="T59" fmla="*/ 1047187779 h 226"/>
                <a:gd name="T60" fmla="*/ 30328991 w 216"/>
                <a:gd name="T61" fmla="*/ 939556915 h 226"/>
                <a:gd name="T62" fmla="*/ 7145711 w 216"/>
                <a:gd name="T63" fmla="*/ 809121661 h 226"/>
                <a:gd name="T64" fmla="*/ 0 w 216"/>
                <a:gd name="T65" fmla="*/ 673247391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6"/>
                <a:gd name="T101" fmla="*/ 216 w 216"/>
                <a:gd name="T102" fmla="*/ 226 h 2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6">
                  <a:moveTo>
                    <a:pt x="0" y="113"/>
                  </a:moveTo>
                  <a:lnTo>
                    <a:pt x="1" y="102"/>
                  </a:lnTo>
                  <a:lnTo>
                    <a:pt x="2" y="90"/>
                  </a:lnTo>
                  <a:lnTo>
                    <a:pt x="5" y="79"/>
                  </a:lnTo>
                  <a:lnTo>
                    <a:pt x="8" y="68"/>
                  </a:lnTo>
                  <a:lnTo>
                    <a:pt x="13" y="59"/>
                  </a:lnTo>
                  <a:lnTo>
                    <a:pt x="19" y="50"/>
                  </a:lnTo>
                  <a:lnTo>
                    <a:pt x="24" y="41"/>
                  </a:lnTo>
                  <a:lnTo>
                    <a:pt x="32" y="33"/>
                  </a:lnTo>
                  <a:lnTo>
                    <a:pt x="39" y="25"/>
                  </a:lnTo>
                  <a:lnTo>
                    <a:pt x="47" y="18"/>
                  </a:lnTo>
                  <a:lnTo>
                    <a:pt x="56" y="13"/>
                  </a:lnTo>
                  <a:lnTo>
                    <a:pt x="66" y="9"/>
                  </a:lnTo>
                  <a:lnTo>
                    <a:pt x="75" y="5"/>
                  </a:lnTo>
                  <a:lnTo>
                    <a:pt x="86" y="2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2"/>
                  </a:lnTo>
                  <a:lnTo>
                    <a:pt x="140" y="5"/>
                  </a:lnTo>
                  <a:lnTo>
                    <a:pt x="150" y="9"/>
                  </a:lnTo>
                  <a:lnTo>
                    <a:pt x="159" y="13"/>
                  </a:lnTo>
                  <a:lnTo>
                    <a:pt x="169" y="18"/>
                  </a:lnTo>
                  <a:lnTo>
                    <a:pt x="177" y="25"/>
                  </a:lnTo>
                  <a:lnTo>
                    <a:pt x="185" y="33"/>
                  </a:lnTo>
                  <a:lnTo>
                    <a:pt x="191" y="41"/>
                  </a:lnTo>
                  <a:lnTo>
                    <a:pt x="197" y="50"/>
                  </a:lnTo>
                  <a:lnTo>
                    <a:pt x="202" y="59"/>
                  </a:lnTo>
                  <a:lnTo>
                    <a:pt x="208" y="68"/>
                  </a:lnTo>
                  <a:lnTo>
                    <a:pt x="212" y="79"/>
                  </a:lnTo>
                  <a:lnTo>
                    <a:pt x="214" y="90"/>
                  </a:lnTo>
                  <a:lnTo>
                    <a:pt x="216" y="102"/>
                  </a:lnTo>
                  <a:lnTo>
                    <a:pt x="216" y="113"/>
                  </a:lnTo>
                  <a:lnTo>
                    <a:pt x="216" y="125"/>
                  </a:lnTo>
                  <a:lnTo>
                    <a:pt x="214" y="136"/>
                  </a:lnTo>
                  <a:lnTo>
                    <a:pt x="212" y="147"/>
                  </a:lnTo>
                  <a:lnTo>
                    <a:pt x="208" y="158"/>
                  </a:lnTo>
                  <a:lnTo>
                    <a:pt x="202" y="167"/>
                  </a:lnTo>
                  <a:lnTo>
                    <a:pt x="197" y="176"/>
                  </a:lnTo>
                  <a:lnTo>
                    <a:pt x="191" y="186"/>
                  </a:lnTo>
                  <a:lnTo>
                    <a:pt x="185" y="194"/>
                  </a:lnTo>
                  <a:lnTo>
                    <a:pt x="177" y="201"/>
                  </a:lnTo>
                  <a:lnTo>
                    <a:pt x="169" y="208"/>
                  </a:lnTo>
                  <a:lnTo>
                    <a:pt x="159" y="213"/>
                  </a:lnTo>
                  <a:lnTo>
                    <a:pt x="150" y="218"/>
                  </a:lnTo>
                  <a:lnTo>
                    <a:pt x="140" y="221"/>
                  </a:lnTo>
                  <a:lnTo>
                    <a:pt x="129" y="224"/>
                  </a:lnTo>
                  <a:lnTo>
                    <a:pt x="119" y="226"/>
                  </a:lnTo>
                  <a:lnTo>
                    <a:pt x="108" y="226"/>
                  </a:lnTo>
                  <a:lnTo>
                    <a:pt x="97" y="226"/>
                  </a:lnTo>
                  <a:lnTo>
                    <a:pt x="86" y="224"/>
                  </a:lnTo>
                  <a:lnTo>
                    <a:pt x="75" y="221"/>
                  </a:lnTo>
                  <a:lnTo>
                    <a:pt x="66" y="218"/>
                  </a:lnTo>
                  <a:lnTo>
                    <a:pt x="56" y="213"/>
                  </a:lnTo>
                  <a:lnTo>
                    <a:pt x="47" y="208"/>
                  </a:lnTo>
                  <a:lnTo>
                    <a:pt x="39" y="201"/>
                  </a:lnTo>
                  <a:lnTo>
                    <a:pt x="32" y="194"/>
                  </a:lnTo>
                  <a:lnTo>
                    <a:pt x="24" y="186"/>
                  </a:lnTo>
                  <a:lnTo>
                    <a:pt x="19" y="176"/>
                  </a:lnTo>
                  <a:lnTo>
                    <a:pt x="13" y="167"/>
                  </a:lnTo>
                  <a:lnTo>
                    <a:pt x="8" y="158"/>
                  </a:lnTo>
                  <a:lnTo>
                    <a:pt x="5" y="147"/>
                  </a:lnTo>
                  <a:lnTo>
                    <a:pt x="2" y="136"/>
                  </a:lnTo>
                  <a:lnTo>
                    <a:pt x="1" y="125"/>
                  </a:lnTo>
                  <a:lnTo>
                    <a:pt x="0" y="11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Rectangle 179">
              <a:extLst>
                <a:ext uri="{FF2B5EF4-FFF2-40B4-BE49-F238E27FC236}">
                  <a16:creationId xmlns:a16="http://schemas.microsoft.com/office/drawing/2014/main" id="{34B19827-5E44-22C3-7B0C-F6D1812BD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3120" y="5753772"/>
              <a:ext cx="63500" cy="154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sz="1000" b="1">
                  <a:solidFill>
                    <a:srgbClr val="FF0000"/>
                  </a:solidFill>
                  <a:latin typeface="宋体" pitchFamily="2" charset="-122"/>
                </a:rPr>
                <a:t>F</a:t>
              </a:r>
              <a:endParaRPr lang="en-US" altLang="zh-CN" sz="1000" b="1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endParaRPr>
            </a:p>
          </p:txBody>
        </p:sp>
        <p:sp>
          <p:nvSpPr>
            <p:cNvPr id="56" name="未知">
              <a:extLst>
                <a:ext uri="{FF2B5EF4-FFF2-40B4-BE49-F238E27FC236}">
                  <a16:creationId xmlns:a16="http://schemas.microsoft.com/office/drawing/2014/main" id="{760BCD7A-EC77-C245-8485-A2E31B9C1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397" y="4974860"/>
              <a:ext cx="280668" cy="298361"/>
            </a:xfrm>
            <a:custGeom>
              <a:avLst/>
              <a:gdLst>
                <a:gd name="T0" fmla="*/ 3132436 w 216"/>
                <a:gd name="T1" fmla="*/ 446341159 h 227"/>
                <a:gd name="T2" fmla="*/ 16248397 w 216"/>
                <a:gd name="T3" fmla="*/ 348105442 h 227"/>
                <a:gd name="T4" fmla="*/ 44718601 w 216"/>
                <a:gd name="T5" fmla="*/ 260095379 h 227"/>
                <a:gd name="T6" fmla="*/ 81008170 w 216"/>
                <a:gd name="T7" fmla="*/ 182291127 h 227"/>
                <a:gd name="T8" fmla="*/ 133056879 w 216"/>
                <a:gd name="T9" fmla="*/ 113371133 h 227"/>
                <a:gd name="T10" fmla="*/ 190341245 w 216"/>
                <a:gd name="T11" fmla="*/ 60672045 h 227"/>
                <a:gd name="T12" fmla="*/ 253391593 w 216"/>
                <a:gd name="T13" fmla="*/ 25570180 h 227"/>
                <a:gd name="T14" fmla="*/ 328077895 w 216"/>
                <a:gd name="T15" fmla="*/ 3971138 h 227"/>
                <a:gd name="T16" fmla="*/ 404053641 w 216"/>
                <a:gd name="T17" fmla="*/ 3971138 h 227"/>
                <a:gd name="T18" fmla="*/ 473614015 w 216"/>
                <a:gd name="T19" fmla="*/ 25570180 h 227"/>
                <a:gd name="T20" fmla="*/ 538647947 w 216"/>
                <a:gd name="T21" fmla="*/ 60672045 h 227"/>
                <a:gd name="T22" fmla="*/ 599974025 w 216"/>
                <a:gd name="T23" fmla="*/ 113371133 h 227"/>
                <a:gd name="T24" fmla="*/ 651021663 w 216"/>
                <a:gd name="T25" fmla="*/ 182291127 h 227"/>
                <a:gd name="T26" fmla="*/ 684280176 w 216"/>
                <a:gd name="T27" fmla="*/ 260095379 h 227"/>
                <a:gd name="T28" fmla="*/ 719059846 w 216"/>
                <a:gd name="T29" fmla="*/ 348105442 h 227"/>
                <a:gd name="T30" fmla="*/ 732218540 w 216"/>
                <a:gd name="T31" fmla="*/ 446341159 h 227"/>
                <a:gd name="T32" fmla="*/ 732218540 w 216"/>
                <a:gd name="T33" fmla="*/ 494825899 h 227"/>
                <a:gd name="T34" fmla="*/ 725469299 w 216"/>
                <a:gd name="T35" fmla="*/ 591068594 h 227"/>
                <a:gd name="T36" fmla="*/ 706123720 w 216"/>
                <a:gd name="T37" fmla="*/ 685652195 h 227"/>
                <a:gd name="T38" fmla="*/ 668021454 w 216"/>
                <a:gd name="T39" fmla="*/ 767322354 h 227"/>
                <a:gd name="T40" fmla="*/ 628521798 w 216"/>
                <a:gd name="T41" fmla="*/ 846470598 h 227"/>
                <a:gd name="T42" fmla="*/ 573427077 w 216"/>
                <a:gd name="T43" fmla="*/ 903181730 h 227"/>
                <a:gd name="T44" fmla="*/ 508488705 w 216"/>
                <a:gd name="T45" fmla="*/ 949607487 h 227"/>
                <a:gd name="T46" fmla="*/ 437297754 w 216"/>
                <a:gd name="T47" fmla="*/ 972957092 h 227"/>
                <a:gd name="T48" fmla="*/ 366134183 w 216"/>
                <a:gd name="T49" fmla="*/ 985307325 h 227"/>
                <a:gd name="T50" fmla="*/ 291664425 w 216"/>
                <a:gd name="T51" fmla="*/ 972957092 h 227"/>
                <a:gd name="T52" fmla="*/ 223644091 w 216"/>
                <a:gd name="T53" fmla="*/ 949607487 h 227"/>
                <a:gd name="T54" fmla="*/ 158792020 w 216"/>
                <a:gd name="T55" fmla="*/ 903181730 h 227"/>
                <a:gd name="T56" fmla="*/ 107753531 w 216"/>
                <a:gd name="T57" fmla="*/ 846470598 h 227"/>
                <a:gd name="T58" fmla="*/ 65023271 w 216"/>
                <a:gd name="T59" fmla="*/ 767322354 h 227"/>
                <a:gd name="T60" fmla="*/ 26840323 w 216"/>
                <a:gd name="T61" fmla="*/ 685652195 h 227"/>
                <a:gd name="T62" fmla="*/ 6409892 w 216"/>
                <a:gd name="T63" fmla="*/ 591068594 h 227"/>
                <a:gd name="T64" fmla="*/ 0 w 216"/>
                <a:gd name="T65" fmla="*/ 494825899 h 22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7"/>
                <a:gd name="T101" fmla="*/ 216 w 216"/>
                <a:gd name="T102" fmla="*/ 227 h 22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7">
                  <a:moveTo>
                    <a:pt x="0" y="114"/>
                  </a:moveTo>
                  <a:lnTo>
                    <a:pt x="1" y="103"/>
                  </a:lnTo>
                  <a:lnTo>
                    <a:pt x="2" y="91"/>
                  </a:lnTo>
                  <a:lnTo>
                    <a:pt x="5" y="80"/>
                  </a:lnTo>
                  <a:lnTo>
                    <a:pt x="8" y="69"/>
                  </a:lnTo>
                  <a:lnTo>
                    <a:pt x="13" y="60"/>
                  </a:lnTo>
                  <a:lnTo>
                    <a:pt x="19" y="50"/>
                  </a:lnTo>
                  <a:lnTo>
                    <a:pt x="24" y="42"/>
                  </a:lnTo>
                  <a:lnTo>
                    <a:pt x="32" y="34"/>
                  </a:lnTo>
                  <a:lnTo>
                    <a:pt x="39" y="26"/>
                  </a:lnTo>
                  <a:lnTo>
                    <a:pt x="47" y="19"/>
                  </a:lnTo>
                  <a:lnTo>
                    <a:pt x="56" y="14"/>
                  </a:lnTo>
                  <a:lnTo>
                    <a:pt x="66" y="10"/>
                  </a:lnTo>
                  <a:lnTo>
                    <a:pt x="75" y="6"/>
                  </a:lnTo>
                  <a:lnTo>
                    <a:pt x="86" y="3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3"/>
                  </a:lnTo>
                  <a:lnTo>
                    <a:pt x="140" y="6"/>
                  </a:lnTo>
                  <a:lnTo>
                    <a:pt x="150" y="10"/>
                  </a:lnTo>
                  <a:lnTo>
                    <a:pt x="159" y="14"/>
                  </a:lnTo>
                  <a:lnTo>
                    <a:pt x="169" y="19"/>
                  </a:lnTo>
                  <a:lnTo>
                    <a:pt x="177" y="26"/>
                  </a:lnTo>
                  <a:lnTo>
                    <a:pt x="185" y="34"/>
                  </a:lnTo>
                  <a:lnTo>
                    <a:pt x="192" y="42"/>
                  </a:lnTo>
                  <a:lnTo>
                    <a:pt x="197" y="50"/>
                  </a:lnTo>
                  <a:lnTo>
                    <a:pt x="202" y="60"/>
                  </a:lnTo>
                  <a:lnTo>
                    <a:pt x="208" y="69"/>
                  </a:lnTo>
                  <a:lnTo>
                    <a:pt x="212" y="80"/>
                  </a:lnTo>
                  <a:lnTo>
                    <a:pt x="214" y="91"/>
                  </a:lnTo>
                  <a:lnTo>
                    <a:pt x="216" y="103"/>
                  </a:lnTo>
                  <a:lnTo>
                    <a:pt x="216" y="114"/>
                  </a:lnTo>
                  <a:lnTo>
                    <a:pt x="216" y="126"/>
                  </a:lnTo>
                  <a:lnTo>
                    <a:pt x="214" y="136"/>
                  </a:lnTo>
                  <a:lnTo>
                    <a:pt x="212" y="147"/>
                  </a:lnTo>
                  <a:lnTo>
                    <a:pt x="208" y="158"/>
                  </a:lnTo>
                  <a:lnTo>
                    <a:pt x="202" y="168"/>
                  </a:lnTo>
                  <a:lnTo>
                    <a:pt x="197" y="177"/>
                  </a:lnTo>
                  <a:lnTo>
                    <a:pt x="192" y="186"/>
                  </a:lnTo>
                  <a:lnTo>
                    <a:pt x="185" y="195"/>
                  </a:lnTo>
                  <a:lnTo>
                    <a:pt x="177" y="201"/>
                  </a:lnTo>
                  <a:lnTo>
                    <a:pt x="169" y="208"/>
                  </a:lnTo>
                  <a:lnTo>
                    <a:pt x="159" y="213"/>
                  </a:lnTo>
                  <a:lnTo>
                    <a:pt x="150" y="219"/>
                  </a:lnTo>
                  <a:lnTo>
                    <a:pt x="140" y="222"/>
                  </a:lnTo>
                  <a:lnTo>
                    <a:pt x="129" y="224"/>
                  </a:lnTo>
                  <a:lnTo>
                    <a:pt x="119" y="227"/>
                  </a:lnTo>
                  <a:lnTo>
                    <a:pt x="108" y="227"/>
                  </a:lnTo>
                  <a:lnTo>
                    <a:pt x="97" y="227"/>
                  </a:lnTo>
                  <a:lnTo>
                    <a:pt x="86" y="224"/>
                  </a:lnTo>
                  <a:lnTo>
                    <a:pt x="75" y="222"/>
                  </a:lnTo>
                  <a:lnTo>
                    <a:pt x="66" y="219"/>
                  </a:lnTo>
                  <a:lnTo>
                    <a:pt x="56" y="213"/>
                  </a:lnTo>
                  <a:lnTo>
                    <a:pt x="47" y="208"/>
                  </a:lnTo>
                  <a:lnTo>
                    <a:pt x="39" y="201"/>
                  </a:lnTo>
                  <a:lnTo>
                    <a:pt x="32" y="195"/>
                  </a:lnTo>
                  <a:lnTo>
                    <a:pt x="24" y="186"/>
                  </a:lnTo>
                  <a:lnTo>
                    <a:pt x="19" y="177"/>
                  </a:lnTo>
                  <a:lnTo>
                    <a:pt x="13" y="168"/>
                  </a:lnTo>
                  <a:lnTo>
                    <a:pt x="8" y="158"/>
                  </a:lnTo>
                  <a:lnTo>
                    <a:pt x="5" y="147"/>
                  </a:lnTo>
                  <a:lnTo>
                    <a:pt x="2" y="136"/>
                  </a:lnTo>
                  <a:lnTo>
                    <a:pt x="1" y="126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未知">
              <a:extLst>
                <a:ext uri="{FF2B5EF4-FFF2-40B4-BE49-F238E27FC236}">
                  <a16:creationId xmlns:a16="http://schemas.microsoft.com/office/drawing/2014/main" id="{8A931D33-FCD4-3951-C6E8-5AD7B49E2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397" y="4974860"/>
              <a:ext cx="280668" cy="298361"/>
            </a:xfrm>
            <a:custGeom>
              <a:avLst/>
              <a:gdLst>
                <a:gd name="T0" fmla="*/ 3132436 w 216"/>
                <a:gd name="T1" fmla="*/ 446341159 h 227"/>
                <a:gd name="T2" fmla="*/ 16248397 w 216"/>
                <a:gd name="T3" fmla="*/ 348105442 h 227"/>
                <a:gd name="T4" fmla="*/ 44718601 w 216"/>
                <a:gd name="T5" fmla="*/ 260095379 h 227"/>
                <a:gd name="T6" fmla="*/ 81008170 w 216"/>
                <a:gd name="T7" fmla="*/ 182291127 h 227"/>
                <a:gd name="T8" fmla="*/ 133056879 w 216"/>
                <a:gd name="T9" fmla="*/ 113371133 h 227"/>
                <a:gd name="T10" fmla="*/ 190341245 w 216"/>
                <a:gd name="T11" fmla="*/ 60672045 h 227"/>
                <a:gd name="T12" fmla="*/ 253391593 w 216"/>
                <a:gd name="T13" fmla="*/ 25570180 h 227"/>
                <a:gd name="T14" fmla="*/ 328077895 w 216"/>
                <a:gd name="T15" fmla="*/ 3971138 h 227"/>
                <a:gd name="T16" fmla="*/ 404053641 w 216"/>
                <a:gd name="T17" fmla="*/ 3971138 h 227"/>
                <a:gd name="T18" fmla="*/ 473614015 w 216"/>
                <a:gd name="T19" fmla="*/ 25570180 h 227"/>
                <a:gd name="T20" fmla="*/ 538647947 w 216"/>
                <a:gd name="T21" fmla="*/ 60672045 h 227"/>
                <a:gd name="T22" fmla="*/ 599974025 w 216"/>
                <a:gd name="T23" fmla="*/ 113371133 h 227"/>
                <a:gd name="T24" fmla="*/ 651021663 w 216"/>
                <a:gd name="T25" fmla="*/ 182291127 h 227"/>
                <a:gd name="T26" fmla="*/ 684280176 w 216"/>
                <a:gd name="T27" fmla="*/ 260095379 h 227"/>
                <a:gd name="T28" fmla="*/ 719059846 w 216"/>
                <a:gd name="T29" fmla="*/ 348105442 h 227"/>
                <a:gd name="T30" fmla="*/ 732218540 w 216"/>
                <a:gd name="T31" fmla="*/ 446341159 h 227"/>
                <a:gd name="T32" fmla="*/ 732218540 w 216"/>
                <a:gd name="T33" fmla="*/ 494825899 h 227"/>
                <a:gd name="T34" fmla="*/ 725469299 w 216"/>
                <a:gd name="T35" fmla="*/ 591068594 h 227"/>
                <a:gd name="T36" fmla="*/ 706123720 w 216"/>
                <a:gd name="T37" fmla="*/ 685652195 h 227"/>
                <a:gd name="T38" fmla="*/ 668021454 w 216"/>
                <a:gd name="T39" fmla="*/ 767322354 h 227"/>
                <a:gd name="T40" fmla="*/ 628521798 w 216"/>
                <a:gd name="T41" fmla="*/ 846470598 h 227"/>
                <a:gd name="T42" fmla="*/ 573427077 w 216"/>
                <a:gd name="T43" fmla="*/ 903181730 h 227"/>
                <a:gd name="T44" fmla="*/ 508488705 w 216"/>
                <a:gd name="T45" fmla="*/ 949607487 h 227"/>
                <a:gd name="T46" fmla="*/ 437297754 w 216"/>
                <a:gd name="T47" fmla="*/ 972957092 h 227"/>
                <a:gd name="T48" fmla="*/ 366134183 w 216"/>
                <a:gd name="T49" fmla="*/ 985307325 h 227"/>
                <a:gd name="T50" fmla="*/ 291664425 w 216"/>
                <a:gd name="T51" fmla="*/ 972957092 h 227"/>
                <a:gd name="T52" fmla="*/ 223644091 w 216"/>
                <a:gd name="T53" fmla="*/ 949607487 h 227"/>
                <a:gd name="T54" fmla="*/ 158792020 w 216"/>
                <a:gd name="T55" fmla="*/ 903181730 h 227"/>
                <a:gd name="T56" fmla="*/ 107753531 w 216"/>
                <a:gd name="T57" fmla="*/ 846470598 h 227"/>
                <a:gd name="T58" fmla="*/ 65023271 w 216"/>
                <a:gd name="T59" fmla="*/ 767322354 h 227"/>
                <a:gd name="T60" fmla="*/ 26840323 w 216"/>
                <a:gd name="T61" fmla="*/ 685652195 h 227"/>
                <a:gd name="T62" fmla="*/ 6409892 w 216"/>
                <a:gd name="T63" fmla="*/ 591068594 h 227"/>
                <a:gd name="T64" fmla="*/ 0 w 216"/>
                <a:gd name="T65" fmla="*/ 494825899 h 22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7"/>
                <a:gd name="T101" fmla="*/ 216 w 216"/>
                <a:gd name="T102" fmla="*/ 227 h 22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7">
                  <a:moveTo>
                    <a:pt x="0" y="114"/>
                  </a:moveTo>
                  <a:lnTo>
                    <a:pt x="1" y="103"/>
                  </a:lnTo>
                  <a:lnTo>
                    <a:pt x="2" y="91"/>
                  </a:lnTo>
                  <a:lnTo>
                    <a:pt x="5" y="80"/>
                  </a:lnTo>
                  <a:lnTo>
                    <a:pt x="8" y="69"/>
                  </a:lnTo>
                  <a:lnTo>
                    <a:pt x="13" y="60"/>
                  </a:lnTo>
                  <a:lnTo>
                    <a:pt x="19" y="50"/>
                  </a:lnTo>
                  <a:lnTo>
                    <a:pt x="24" y="42"/>
                  </a:lnTo>
                  <a:lnTo>
                    <a:pt x="32" y="34"/>
                  </a:lnTo>
                  <a:lnTo>
                    <a:pt x="39" y="26"/>
                  </a:lnTo>
                  <a:lnTo>
                    <a:pt x="47" y="19"/>
                  </a:lnTo>
                  <a:lnTo>
                    <a:pt x="56" y="14"/>
                  </a:lnTo>
                  <a:lnTo>
                    <a:pt x="66" y="10"/>
                  </a:lnTo>
                  <a:lnTo>
                    <a:pt x="75" y="6"/>
                  </a:lnTo>
                  <a:lnTo>
                    <a:pt x="86" y="3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3"/>
                  </a:lnTo>
                  <a:lnTo>
                    <a:pt x="140" y="6"/>
                  </a:lnTo>
                  <a:lnTo>
                    <a:pt x="150" y="10"/>
                  </a:lnTo>
                  <a:lnTo>
                    <a:pt x="159" y="14"/>
                  </a:lnTo>
                  <a:lnTo>
                    <a:pt x="169" y="19"/>
                  </a:lnTo>
                  <a:lnTo>
                    <a:pt x="177" y="26"/>
                  </a:lnTo>
                  <a:lnTo>
                    <a:pt x="185" y="34"/>
                  </a:lnTo>
                  <a:lnTo>
                    <a:pt x="192" y="42"/>
                  </a:lnTo>
                  <a:lnTo>
                    <a:pt x="197" y="50"/>
                  </a:lnTo>
                  <a:lnTo>
                    <a:pt x="202" y="60"/>
                  </a:lnTo>
                  <a:lnTo>
                    <a:pt x="208" y="69"/>
                  </a:lnTo>
                  <a:lnTo>
                    <a:pt x="212" y="80"/>
                  </a:lnTo>
                  <a:lnTo>
                    <a:pt x="214" y="91"/>
                  </a:lnTo>
                  <a:lnTo>
                    <a:pt x="216" y="103"/>
                  </a:lnTo>
                  <a:lnTo>
                    <a:pt x="216" y="114"/>
                  </a:lnTo>
                  <a:lnTo>
                    <a:pt x="216" y="126"/>
                  </a:lnTo>
                  <a:lnTo>
                    <a:pt x="214" y="136"/>
                  </a:lnTo>
                  <a:lnTo>
                    <a:pt x="212" y="147"/>
                  </a:lnTo>
                  <a:lnTo>
                    <a:pt x="208" y="158"/>
                  </a:lnTo>
                  <a:lnTo>
                    <a:pt x="202" y="168"/>
                  </a:lnTo>
                  <a:lnTo>
                    <a:pt x="197" y="177"/>
                  </a:lnTo>
                  <a:lnTo>
                    <a:pt x="192" y="186"/>
                  </a:lnTo>
                  <a:lnTo>
                    <a:pt x="185" y="195"/>
                  </a:lnTo>
                  <a:lnTo>
                    <a:pt x="177" y="201"/>
                  </a:lnTo>
                  <a:lnTo>
                    <a:pt x="169" y="208"/>
                  </a:lnTo>
                  <a:lnTo>
                    <a:pt x="159" y="213"/>
                  </a:lnTo>
                  <a:lnTo>
                    <a:pt x="150" y="219"/>
                  </a:lnTo>
                  <a:lnTo>
                    <a:pt x="140" y="222"/>
                  </a:lnTo>
                  <a:lnTo>
                    <a:pt x="129" y="224"/>
                  </a:lnTo>
                  <a:lnTo>
                    <a:pt x="119" y="227"/>
                  </a:lnTo>
                  <a:lnTo>
                    <a:pt x="108" y="227"/>
                  </a:lnTo>
                  <a:lnTo>
                    <a:pt x="97" y="227"/>
                  </a:lnTo>
                  <a:lnTo>
                    <a:pt x="86" y="224"/>
                  </a:lnTo>
                  <a:lnTo>
                    <a:pt x="75" y="222"/>
                  </a:lnTo>
                  <a:lnTo>
                    <a:pt x="66" y="219"/>
                  </a:lnTo>
                  <a:lnTo>
                    <a:pt x="56" y="213"/>
                  </a:lnTo>
                  <a:lnTo>
                    <a:pt x="47" y="208"/>
                  </a:lnTo>
                  <a:lnTo>
                    <a:pt x="39" y="201"/>
                  </a:lnTo>
                  <a:lnTo>
                    <a:pt x="32" y="195"/>
                  </a:lnTo>
                  <a:lnTo>
                    <a:pt x="24" y="186"/>
                  </a:lnTo>
                  <a:lnTo>
                    <a:pt x="19" y="177"/>
                  </a:lnTo>
                  <a:lnTo>
                    <a:pt x="13" y="168"/>
                  </a:lnTo>
                  <a:lnTo>
                    <a:pt x="8" y="158"/>
                  </a:lnTo>
                  <a:lnTo>
                    <a:pt x="5" y="147"/>
                  </a:lnTo>
                  <a:lnTo>
                    <a:pt x="2" y="136"/>
                  </a:lnTo>
                  <a:lnTo>
                    <a:pt x="1" y="126"/>
                  </a:lnTo>
                  <a:lnTo>
                    <a:pt x="0" y="11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Rectangle 182">
              <a:extLst>
                <a:ext uri="{FF2B5EF4-FFF2-40B4-BE49-F238E27FC236}">
                  <a16:creationId xmlns:a16="http://schemas.microsoft.com/office/drawing/2014/main" id="{BF7CAFA6-F9D7-725D-7196-A54830406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996" y="5033262"/>
              <a:ext cx="64120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sz="1000" b="1" dirty="0">
                  <a:solidFill>
                    <a:srgbClr val="FF0000"/>
                  </a:solidFill>
                  <a:latin typeface="宋体" pitchFamily="2" charset="-122"/>
                </a:rPr>
                <a:t>D</a:t>
              </a:r>
              <a:endParaRPr lang="en-US" altLang="zh-CN" sz="1000" b="1" dirty="0">
                <a:solidFill>
                  <a:srgbClr val="FF0000"/>
                </a:solidFill>
                <a:ea typeface="楷体_GB2312" pitchFamily="1" charset="-122"/>
              </a:endParaRPr>
            </a:p>
          </p:txBody>
        </p:sp>
        <p:sp>
          <p:nvSpPr>
            <p:cNvPr id="59" name="未知">
              <a:extLst>
                <a:ext uri="{FF2B5EF4-FFF2-40B4-BE49-F238E27FC236}">
                  <a16:creationId xmlns:a16="http://schemas.microsoft.com/office/drawing/2014/main" id="{E56273CF-177D-5022-060C-3E7AA8F1D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941" y="4265142"/>
              <a:ext cx="280668" cy="301535"/>
            </a:xfrm>
            <a:custGeom>
              <a:avLst/>
              <a:gdLst>
                <a:gd name="T0" fmla="*/ 3132436 w 216"/>
                <a:gd name="T1" fmla="*/ 559741153 h 227"/>
                <a:gd name="T2" fmla="*/ 16248397 w 216"/>
                <a:gd name="T3" fmla="*/ 431963359 h 227"/>
                <a:gd name="T4" fmla="*/ 44718601 w 216"/>
                <a:gd name="T5" fmla="*/ 326584817 h 227"/>
                <a:gd name="T6" fmla="*/ 81008170 w 216"/>
                <a:gd name="T7" fmla="*/ 227932445 h 227"/>
                <a:gd name="T8" fmla="*/ 133056879 w 216"/>
                <a:gd name="T9" fmla="*/ 139722493 h 227"/>
                <a:gd name="T10" fmla="*/ 193570726 w 216"/>
                <a:gd name="T11" fmla="*/ 75813534 h 227"/>
                <a:gd name="T12" fmla="*/ 253391593 w 216"/>
                <a:gd name="T13" fmla="*/ 33107939 h 227"/>
                <a:gd name="T14" fmla="*/ 328077895 w 216"/>
                <a:gd name="T15" fmla="*/ 10147193 h 227"/>
                <a:gd name="T16" fmla="*/ 404053641 w 216"/>
                <a:gd name="T17" fmla="*/ 10147193 h 227"/>
                <a:gd name="T18" fmla="*/ 473614015 w 216"/>
                <a:gd name="T19" fmla="*/ 33107939 h 227"/>
                <a:gd name="T20" fmla="*/ 538647947 w 216"/>
                <a:gd name="T21" fmla="*/ 75813534 h 227"/>
                <a:gd name="T22" fmla="*/ 599974025 w 216"/>
                <a:gd name="T23" fmla="*/ 139722493 h 227"/>
                <a:gd name="T24" fmla="*/ 651021663 w 216"/>
                <a:gd name="T25" fmla="*/ 227932445 h 227"/>
                <a:gd name="T26" fmla="*/ 684280176 w 216"/>
                <a:gd name="T27" fmla="*/ 326584817 h 227"/>
                <a:gd name="T28" fmla="*/ 719059846 w 216"/>
                <a:gd name="T29" fmla="*/ 431963359 h 227"/>
                <a:gd name="T30" fmla="*/ 732218540 w 216"/>
                <a:gd name="T31" fmla="*/ 559741153 h 227"/>
                <a:gd name="T32" fmla="*/ 732218540 w 216"/>
                <a:gd name="T33" fmla="*/ 618956149 h 227"/>
                <a:gd name="T34" fmla="*/ 722192024 w 216"/>
                <a:gd name="T35" fmla="*/ 744022768 h 227"/>
                <a:gd name="T36" fmla="*/ 706123720 w 216"/>
                <a:gd name="T37" fmla="*/ 857787430 h 227"/>
                <a:gd name="T38" fmla="*/ 668021454 w 216"/>
                <a:gd name="T39" fmla="*/ 958434412 h 227"/>
                <a:gd name="T40" fmla="*/ 628521798 w 216"/>
                <a:gd name="T41" fmla="*/ 1057112630 h 227"/>
                <a:gd name="T42" fmla="*/ 573427077 w 216"/>
                <a:gd name="T43" fmla="*/ 1126388021 h 227"/>
                <a:gd name="T44" fmla="*/ 508488705 w 216"/>
                <a:gd name="T45" fmla="*/ 1185978067 h 227"/>
                <a:gd name="T46" fmla="*/ 437297754 w 216"/>
                <a:gd name="T47" fmla="*/ 1220474701 h 227"/>
                <a:gd name="T48" fmla="*/ 366134183 w 216"/>
                <a:gd name="T49" fmla="*/ 1230410188 h 227"/>
                <a:gd name="T50" fmla="*/ 291664425 w 216"/>
                <a:gd name="T51" fmla="*/ 1220474701 h 227"/>
                <a:gd name="T52" fmla="*/ 223644091 w 216"/>
                <a:gd name="T53" fmla="*/ 1185978067 h 227"/>
                <a:gd name="T54" fmla="*/ 158792020 w 216"/>
                <a:gd name="T55" fmla="*/ 1126388021 h 227"/>
                <a:gd name="T56" fmla="*/ 107753531 w 216"/>
                <a:gd name="T57" fmla="*/ 1057112630 h 227"/>
                <a:gd name="T58" fmla="*/ 65023271 w 216"/>
                <a:gd name="T59" fmla="*/ 958434412 h 227"/>
                <a:gd name="T60" fmla="*/ 26840323 w 216"/>
                <a:gd name="T61" fmla="*/ 857787430 h 227"/>
                <a:gd name="T62" fmla="*/ 9836524 w 216"/>
                <a:gd name="T63" fmla="*/ 744022768 h 227"/>
                <a:gd name="T64" fmla="*/ 0 w 216"/>
                <a:gd name="T65" fmla="*/ 618956149 h 22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7"/>
                <a:gd name="T101" fmla="*/ 216 w 216"/>
                <a:gd name="T102" fmla="*/ 227 h 22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7">
                  <a:moveTo>
                    <a:pt x="0" y="114"/>
                  </a:moveTo>
                  <a:lnTo>
                    <a:pt x="1" y="103"/>
                  </a:lnTo>
                  <a:lnTo>
                    <a:pt x="3" y="91"/>
                  </a:lnTo>
                  <a:lnTo>
                    <a:pt x="5" y="80"/>
                  </a:lnTo>
                  <a:lnTo>
                    <a:pt x="8" y="69"/>
                  </a:lnTo>
                  <a:lnTo>
                    <a:pt x="13" y="60"/>
                  </a:lnTo>
                  <a:lnTo>
                    <a:pt x="19" y="50"/>
                  </a:lnTo>
                  <a:lnTo>
                    <a:pt x="24" y="42"/>
                  </a:lnTo>
                  <a:lnTo>
                    <a:pt x="32" y="34"/>
                  </a:lnTo>
                  <a:lnTo>
                    <a:pt x="39" y="26"/>
                  </a:lnTo>
                  <a:lnTo>
                    <a:pt x="47" y="19"/>
                  </a:lnTo>
                  <a:lnTo>
                    <a:pt x="57" y="14"/>
                  </a:lnTo>
                  <a:lnTo>
                    <a:pt x="66" y="10"/>
                  </a:lnTo>
                  <a:lnTo>
                    <a:pt x="75" y="6"/>
                  </a:lnTo>
                  <a:lnTo>
                    <a:pt x="86" y="3"/>
                  </a:lnTo>
                  <a:lnTo>
                    <a:pt x="97" y="2"/>
                  </a:lnTo>
                  <a:lnTo>
                    <a:pt x="108" y="0"/>
                  </a:lnTo>
                  <a:lnTo>
                    <a:pt x="119" y="2"/>
                  </a:lnTo>
                  <a:lnTo>
                    <a:pt x="129" y="3"/>
                  </a:lnTo>
                  <a:lnTo>
                    <a:pt x="140" y="6"/>
                  </a:lnTo>
                  <a:lnTo>
                    <a:pt x="150" y="10"/>
                  </a:lnTo>
                  <a:lnTo>
                    <a:pt x="159" y="14"/>
                  </a:lnTo>
                  <a:lnTo>
                    <a:pt x="169" y="19"/>
                  </a:lnTo>
                  <a:lnTo>
                    <a:pt x="177" y="26"/>
                  </a:lnTo>
                  <a:lnTo>
                    <a:pt x="185" y="34"/>
                  </a:lnTo>
                  <a:lnTo>
                    <a:pt x="192" y="42"/>
                  </a:lnTo>
                  <a:lnTo>
                    <a:pt x="197" y="50"/>
                  </a:lnTo>
                  <a:lnTo>
                    <a:pt x="202" y="60"/>
                  </a:lnTo>
                  <a:lnTo>
                    <a:pt x="208" y="69"/>
                  </a:lnTo>
                  <a:lnTo>
                    <a:pt x="212" y="80"/>
                  </a:lnTo>
                  <a:lnTo>
                    <a:pt x="213" y="91"/>
                  </a:lnTo>
                  <a:lnTo>
                    <a:pt x="216" y="103"/>
                  </a:lnTo>
                  <a:lnTo>
                    <a:pt x="216" y="114"/>
                  </a:lnTo>
                  <a:lnTo>
                    <a:pt x="216" y="126"/>
                  </a:lnTo>
                  <a:lnTo>
                    <a:pt x="213" y="137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8"/>
                  </a:lnTo>
                  <a:lnTo>
                    <a:pt x="197" y="177"/>
                  </a:lnTo>
                  <a:lnTo>
                    <a:pt x="192" y="187"/>
                  </a:lnTo>
                  <a:lnTo>
                    <a:pt x="185" y="195"/>
                  </a:lnTo>
                  <a:lnTo>
                    <a:pt x="177" y="202"/>
                  </a:lnTo>
                  <a:lnTo>
                    <a:pt x="169" y="208"/>
                  </a:lnTo>
                  <a:lnTo>
                    <a:pt x="159" y="214"/>
                  </a:lnTo>
                  <a:lnTo>
                    <a:pt x="150" y="219"/>
                  </a:lnTo>
                  <a:lnTo>
                    <a:pt x="140" y="222"/>
                  </a:lnTo>
                  <a:lnTo>
                    <a:pt x="129" y="225"/>
                  </a:lnTo>
                  <a:lnTo>
                    <a:pt x="119" y="227"/>
                  </a:lnTo>
                  <a:lnTo>
                    <a:pt x="108" y="227"/>
                  </a:lnTo>
                  <a:lnTo>
                    <a:pt x="97" y="227"/>
                  </a:lnTo>
                  <a:lnTo>
                    <a:pt x="86" y="225"/>
                  </a:lnTo>
                  <a:lnTo>
                    <a:pt x="75" y="222"/>
                  </a:lnTo>
                  <a:lnTo>
                    <a:pt x="66" y="219"/>
                  </a:lnTo>
                  <a:lnTo>
                    <a:pt x="57" y="214"/>
                  </a:lnTo>
                  <a:lnTo>
                    <a:pt x="47" y="208"/>
                  </a:lnTo>
                  <a:lnTo>
                    <a:pt x="39" y="202"/>
                  </a:lnTo>
                  <a:lnTo>
                    <a:pt x="32" y="195"/>
                  </a:lnTo>
                  <a:lnTo>
                    <a:pt x="24" y="187"/>
                  </a:lnTo>
                  <a:lnTo>
                    <a:pt x="19" y="177"/>
                  </a:lnTo>
                  <a:lnTo>
                    <a:pt x="13" y="168"/>
                  </a:lnTo>
                  <a:lnTo>
                    <a:pt x="8" y="158"/>
                  </a:lnTo>
                  <a:lnTo>
                    <a:pt x="5" y="148"/>
                  </a:lnTo>
                  <a:lnTo>
                    <a:pt x="3" y="137"/>
                  </a:lnTo>
                  <a:lnTo>
                    <a:pt x="1" y="126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未知">
              <a:extLst>
                <a:ext uri="{FF2B5EF4-FFF2-40B4-BE49-F238E27FC236}">
                  <a16:creationId xmlns:a16="http://schemas.microsoft.com/office/drawing/2014/main" id="{A3915723-1714-B1CA-0616-90AC988F6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941" y="4265142"/>
              <a:ext cx="280668" cy="301535"/>
            </a:xfrm>
            <a:custGeom>
              <a:avLst/>
              <a:gdLst>
                <a:gd name="T0" fmla="*/ 3132436 w 216"/>
                <a:gd name="T1" fmla="*/ 559741153 h 227"/>
                <a:gd name="T2" fmla="*/ 16248397 w 216"/>
                <a:gd name="T3" fmla="*/ 431963359 h 227"/>
                <a:gd name="T4" fmla="*/ 44718601 w 216"/>
                <a:gd name="T5" fmla="*/ 326584817 h 227"/>
                <a:gd name="T6" fmla="*/ 81008170 w 216"/>
                <a:gd name="T7" fmla="*/ 227932445 h 227"/>
                <a:gd name="T8" fmla="*/ 133056879 w 216"/>
                <a:gd name="T9" fmla="*/ 139722493 h 227"/>
                <a:gd name="T10" fmla="*/ 193570726 w 216"/>
                <a:gd name="T11" fmla="*/ 75813534 h 227"/>
                <a:gd name="T12" fmla="*/ 253391593 w 216"/>
                <a:gd name="T13" fmla="*/ 33107939 h 227"/>
                <a:gd name="T14" fmla="*/ 328077895 w 216"/>
                <a:gd name="T15" fmla="*/ 10147193 h 227"/>
                <a:gd name="T16" fmla="*/ 404053641 w 216"/>
                <a:gd name="T17" fmla="*/ 10147193 h 227"/>
                <a:gd name="T18" fmla="*/ 473614015 w 216"/>
                <a:gd name="T19" fmla="*/ 33107939 h 227"/>
                <a:gd name="T20" fmla="*/ 538647947 w 216"/>
                <a:gd name="T21" fmla="*/ 75813534 h 227"/>
                <a:gd name="T22" fmla="*/ 599974025 w 216"/>
                <a:gd name="T23" fmla="*/ 139722493 h 227"/>
                <a:gd name="T24" fmla="*/ 651021663 w 216"/>
                <a:gd name="T25" fmla="*/ 227932445 h 227"/>
                <a:gd name="T26" fmla="*/ 684280176 w 216"/>
                <a:gd name="T27" fmla="*/ 326584817 h 227"/>
                <a:gd name="T28" fmla="*/ 719059846 w 216"/>
                <a:gd name="T29" fmla="*/ 431963359 h 227"/>
                <a:gd name="T30" fmla="*/ 732218540 w 216"/>
                <a:gd name="T31" fmla="*/ 559741153 h 227"/>
                <a:gd name="T32" fmla="*/ 732218540 w 216"/>
                <a:gd name="T33" fmla="*/ 618956149 h 227"/>
                <a:gd name="T34" fmla="*/ 722192024 w 216"/>
                <a:gd name="T35" fmla="*/ 744022768 h 227"/>
                <a:gd name="T36" fmla="*/ 706123720 w 216"/>
                <a:gd name="T37" fmla="*/ 857787430 h 227"/>
                <a:gd name="T38" fmla="*/ 668021454 w 216"/>
                <a:gd name="T39" fmla="*/ 958434412 h 227"/>
                <a:gd name="T40" fmla="*/ 628521798 w 216"/>
                <a:gd name="T41" fmla="*/ 1057112630 h 227"/>
                <a:gd name="T42" fmla="*/ 573427077 w 216"/>
                <a:gd name="T43" fmla="*/ 1126388021 h 227"/>
                <a:gd name="T44" fmla="*/ 508488705 w 216"/>
                <a:gd name="T45" fmla="*/ 1185978067 h 227"/>
                <a:gd name="T46" fmla="*/ 437297754 w 216"/>
                <a:gd name="T47" fmla="*/ 1220474701 h 227"/>
                <a:gd name="T48" fmla="*/ 366134183 w 216"/>
                <a:gd name="T49" fmla="*/ 1230410188 h 227"/>
                <a:gd name="T50" fmla="*/ 291664425 w 216"/>
                <a:gd name="T51" fmla="*/ 1220474701 h 227"/>
                <a:gd name="T52" fmla="*/ 223644091 w 216"/>
                <a:gd name="T53" fmla="*/ 1185978067 h 227"/>
                <a:gd name="T54" fmla="*/ 158792020 w 216"/>
                <a:gd name="T55" fmla="*/ 1126388021 h 227"/>
                <a:gd name="T56" fmla="*/ 107753531 w 216"/>
                <a:gd name="T57" fmla="*/ 1057112630 h 227"/>
                <a:gd name="T58" fmla="*/ 65023271 w 216"/>
                <a:gd name="T59" fmla="*/ 958434412 h 227"/>
                <a:gd name="T60" fmla="*/ 26840323 w 216"/>
                <a:gd name="T61" fmla="*/ 857787430 h 227"/>
                <a:gd name="T62" fmla="*/ 9836524 w 216"/>
                <a:gd name="T63" fmla="*/ 744022768 h 227"/>
                <a:gd name="T64" fmla="*/ 0 w 216"/>
                <a:gd name="T65" fmla="*/ 618956149 h 22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7"/>
                <a:gd name="T101" fmla="*/ 216 w 216"/>
                <a:gd name="T102" fmla="*/ 227 h 22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7">
                  <a:moveTo>
                    <a:pt x="0" y="114"/>
                  </a:moveTo>
                  <a:lnTo>
                    <a:pt x="1" y="103"/>
                  </a:lnTo>
                  <a:lnTo>
                    <a:pt x="3" y="91"/>
                  </a:lnTo>
                  <a:lnTo>
                    <a:pt x="5" y="80"/>
                  </a:lnTo>
                  <a:lnTo>
                    <a:pt x="8" y="69"/>
                  </a:lnTo>
                  <a:lnTo>
                    <a:pt x="13" y="60"/>
                  </a:lnTo>
                  <a:lnTo>
                    <a:pt x="19" y="50"/>
                  </a:lnTo>
                  <a:lnTo>
                    <a:pt x="24" y="42"/>
                  </a:lnTo>
                  <a:lnTo>
                    <a:pt x="32" y="34"/>
                  </a:lnTo>
                  <a:lnTo>
                    <a:pt x="39" y="26"/>
                  </a:lnTo>
                  <a:lnTo>
                    <a:pt x="47" y="19"/>
                  </a:lnTo>
                  <a:lnTo>
                    <a:pt x="57" y="14"/>
                  </a:lnTo>
                  <a:lnTo>
                    <a:pt x="66" y="10"/>
                  </a:lnTo>
                  <a:lnTo>
                    <a:pt x="75" y="6"/>
                  </a:lnTo>
                  <a:lnTo>
                    <a:pt x="86" y="3"/>
                  </a:lnTo>
                  <a:lnTo>
                    <a:pt x="97" y="2"/>
                  </a:lnTo>
                  <a:lnTo>
                    <a:pt x="108" y="0"/>
                  </a:lnTo>
                  <a:lnTo>
                    <a:pt x="119" y="2"/>
                  </a:lnTo>
                  <a:lnTo>
                    <a:pt x="129" y="3"/>
                  </a:lnTo>
                  <a:lnTo>
                    <a:pt x="140" y="6"/>
                  </a:lnTo>
                  <a:lnTo>
                    <a:pt x="150" y="10"/>
                  </a:lnTo>
                  <a:lnTo>
                    <a:pt x="159" y="14"/>
                  </a:lnTo>
                  <a:lnTo>
                    <a:pt x="169" y="19"/>
                  </a:lnTo>
                  <a:lnTo>
                    <a:pt x="177" y="26"/>
                  </a:lnTo>
                  <a:lnTo>
                    <a:pt x="185" y="34"/>
                  </a:lnTo>
                  <a:lnTo>
                    <a:pt x="192" y="42"/>
                  </a:lnTo>
                  <a:lnTo>
                    <a:pt x="197" y="50"/>
                  </a:lnTo>
                  <a:lnTo>
                    <a:pt x="202" y="60"/>
                  </a:lnTo>
                  <a:lnTo>
                    <a:pt x="208" y="69"/>
                  </a:lnTo>
                  <a:lnTo>
                    <a:pt x="212" y="80"/>
                  </a:lnTo>
                  <a:lnTo>
                    <a:pt x="213" y="91"/>
                  </a:lnTo>
                  <a:lnTo>
                    <a:pt x="216" y="103"/>
                  </a:lnTo>
                  <a:lnTo>
                    <a:pt x="216" y="114"/>
                  </a:lnTo>
                  <a:lnTo>
                    <a:pt x="216" y="126"/>
                  </a:lnTo>
                  <a:lnTo>
                    <a:pt x="213" y="137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8"/>
                  </a:lnTo>
                  <a:lnTo>
                    <a:pt x="197" y="177"/>
                  </a:lnTo>
                  <a:lnTo>
                    <a:pt x="192" y="187"/>
                  </a:lnTo>
                  <a:lnTo>
                    <a:pt x="185" y="195"/>
                  </a:lnTo>
                  <a:lnTo>
                    <a:pt x="177" y="202"/>
                  </a:lnTo>
                  <a:lnTo>
                    <a:pt x="169" y="208"/>
                  </a:lnTo>
                  <a:lnTo>
                    <a:pt x="159" y="214"/>
                  </a:lnTo>
                  <a:lnTo>
                    <a:pt x="150" y="219"/>
                  </a:lnTo>
                  <a:lnTo>
                    <a:pt x="140" y="222"/>
                  </a:lnTo>
                  <a:lnTo>
                    <a:pt x="129" y="225"/>
                  </a:lnTo>
                  <a:lnTo>
                    <a:pt x="119" y="227"/>
                  </a:lnTo>
                  <a:lnTo>
                    <a:pt x="108" y="227"/>
                  </a:lnTo>
                  <a:lnTo>
                    <a:pt x="97" y="227"/>
                  </a:lnTo>
                  <a:lnTo>
                    <a:pt x="86" y="225"/>
                  </a:lnTo>
                  <a:lnTo>
                    <a:pt x="75" y="222"/>
                  </a:lnTo>
                  <a:lnTo>
                    <a:pt x="66" y="219"/>
                  </a:lnTo>
                  <a:lnTo>
                    <a:pt x="57" y="214"/>
                  </a:lnTo>
                  <a:lnTo>
                    <a:pt x="47" y="208"/>
                  </a:lnTo>
                  <a:lnTo>
                    <a:pt x="39" y="202"/>
                  </a:lnTo>
                  <a:lnTo>
                    <a:pt x="32" y="195"/>
                  </a:lnTo>
                  <a:lnTo>
                    <a:pt x="24" y="187"/>
                  </a:lnTo>
                  <a:lnTo>
                    <a:pt x="19" y="177"/>
                  </a:lnTo>
                  <a:lnTo>
                    <a:pt x="13" y="168"/>
                  </a:lnTo>
                  <a:lnTo>
                    <a:pt x="8" y="158"/>
                  </a:lnTo>
                  <a:lnTo>
                    <a:pt x="5" y="148"/>
                  </a:lnTo>
                  <a:lnTo>
                    <a:pt x="3" y="137"/>
                  </a:lnTo>
                  <a:lnTo>
                    <a:pt x="1" y="126"/>
                  </a:lnTo>
                  <a:lnTo>
                    <a:pt x="0" y="11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185">
              <a:extLst>
                <a:ext uri="{FF2B5EF4-FFF2-40B4-BE49-F238E27FC236}">
                  <a16:creationId xmlns:a16="http://schemas.microsoft.com/office/drawing/2014/main" id="{44D5F2D5-1C0B-81A6-AD14-0E4B51B91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0" y="4325449"/>
              <a:ext cx="64135" cy="153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sz="1000" b="1">
                  <a:solidFill>
                    <a:srgbClr val="FF0000"/>
                  </a:solidFill>
                  <a:latin typeface="宋体" pitchFamily="2" charset="-122"/>
                </a:rPr>
                <a:t>B</a:t>
              </a:r>
              <a:endParaRPr lang="en-US" altLang="zh-CN" sz="1000" b="1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endParaRPr>
            </a:p>
          </p:txBody>
        </p:sp>
        <p:sp>
          <p:nvSpPr>
            <p:cNvPr id="62" name="未知">
              <a:extLst>
                <a:ext uri="{FF2B5EF4-FFF2-40B4-BE49-F238E27FC236}">
                  <a16:creationId xmlns:a16="http://schemas.microsoft.com/office/drawing/2014/main" id="{538A110D-D226-E844-A41B-C834A2C08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941" y="5693465"/>
              <a:ext cx="280668" cy="301535"/>
            </a:xfrm>
            <a:custGeom>
              <a:avLst/>
              <a:gdLst>
                <a:gd name="T0" fmla="*/ 3132436 w 216"/>
                <a:gd name="T1" fmla="*/ 605799974 h 226"/>
                <a:gd name="T2" fmla="*/ 16248397 w 216"/>
                <a:gd name="T3" fmla="*/ 470234226 h 226"/>
                <a:gd name="T4" fmla="*/ 44718601 w 216"/>
                <a:gd name="T5" fmla="*/ 351636369 h 226"/>
                <a:gd name="T6" fmla="*/ 81008170 w 216"/>
                <a:gd name="T7" fmla="*/ 243453492 h 226"/>
                <a:gd name="T8" fmla="*/ 133056879 w 216"/>
                <a:gd name="T9" fmla="*/ 149345652 h 226"/>
                <a:gd name="T10" fmla="*/ 193570726 w 216"/>
                <a:gd name="T11" fmla="*/ 76838499 h 226"/>
                <a:gd name="T12" fmla="*/ 253391593 w 216"/>
                <a:gd name="T13" fmla="*/ 30747017 h 226"/>
                <a:gd name="T14" fmla="*/ 328077895 w 216"/>
                <a:gd name="T15" fmla="*/ 5246112 h 226"/>
                <a:gd name="T16" fmla="*/ 404053641 w 216"/>
                <a:gd name="T17" fmla="*/ 5246112 h 226"/>
                <a:gd name="T18" fmla="*/ 473614015 w 216"/>
                <a:gd name="T19" fmla="*/ 30747017 h 226"/>
                <a:gd name="T20" fmla="*/ 538647947 w 216"/>
                <a:gd name="T21" fmla="*/ 76838499 h 226"/>
                <a:gd name="T22" fmla="*/ 599974025 w 216"/>
                <a:gd name="T23" fmla="*/ 149345652 h 226"/>
                <a:gd name="T24" fmla="*/ 651021663 w 216"/>
                <a:gd name="T25" fmla="*/ 243453492 h 226"/>
                <a:gd name="T26" fmla="*/ 684280176 w 216"/>
                <a:gd name="T27" fmla="*/ 351636369 h 226"/>
                <a:gd name="T28" fmla="*/ 719059846 w 216"/>
                <a:gd name="T29" fmla="*/ 470234226 h 226"/>
                <a:gd name="T30" fmla="*/ 732218540 w 216"/>
                <a:gd name="T31" fmla="*/ 605799974 h 226"/>
                <a:gd name="T32" fmla="*/ 732218540 w 216"/>
                <a:gd name="T33" fmla="*/ 673247391 h 226"/>
                <a:gd name="T34" fmla="*/ 728896509 w 216"/>
                <a:gd name="T35" fmla="*/ 809121661 h 226"/>
                <a:gd name="T36" fmla="*/ 706123720 w 216"/>
                <a:gd name="T37" fmla="*/ 939556915 h 226"/>
                <a:gd name="T38" fmla="*/ 668021454 w 216"/>
                <a:gd name="T39" fmla="*/ 1047187779 h 226"/>
                <a:gd name="T40" fmla="*/ 628521798 w 216"/>
                <a:gd name="T41" fmla="*/ 1154717196 h 226"/>
                <a:gd name="T42" fmla="*/ 573427077 w 216"/>
                <a:gd name="T43" fmla="*/ 1235532183 h 226"/>
                <a:gd name="T44" fmla="*/ 508488705 w 216"/>
                <a:gd name="T45" fmla="*/ 1296425926 h 226"/>
                <a:gd name="T46" fmla="*/ 437297754 w 216"/>
                <a:gd name="T47" fmla="*/ 1332984545 h 226"/>
                <a:gd name="T48" fmla="*/ 366134183 w 216"/>
                <a:gd name="T49" fmla="*/ 1343980891 h 226"/>
                <a:gd name="T50" fmla="*/ 291664425 w 216"/>
                <a:gd name="T51" fmla="*/ 1332984545 h 226"/>
                <a:gd name="T52" fmla="*/ 223644091 w 216"/>
                <a:gd name="T53" fmla="*/ 1296425926 h 226"/>
                <a:gd name="T54" fmla="*/ 158792020 w 216"/>
                <a:gd name="T55" fmla="*/ 1235532183 h 226"/>
                <a:gd name="T56" fmla="*/ 107753531 w 216"/>
                <a:gd name="T57" fmla="*/ 1154717196 h 226"/>
                <a:gd name="T58" fmla="*/ 65023271 w 216"/>
                <a:gd name="T59" fmla="*/ 1047187779 h 226"/>
                <a:gd name="T60" fmla="*/ 26840323 w 216"/>
                <a:gd name="T61" fmla="*/ 939556915 h 226"/>
                <a:gd name="T62" fmla="*/ 9836524 w 216"/>
                <a:gd name="T63" fmla="*/ 809121661 h 226"/>
                <a:gd name="T64" fmla="*/ 0 w 216"/>
                <a:gd name="T65" fmla="*/ 673247391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6"/>
                <a:gd name="T101" fmla="*/ 216 w 216"/>
                <a:gd name="T102" fmla="*/ 226 h 2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6">
                  <a:moveTo>
                    <a:pt x="0" y="113"/>
                  </a:moveTo>
                  <a:lnTo>
                    <a:pt x="1" y="102"/>
                  </a:lnTo>
                  <a:lnTo>
                    <a:pt x="3" y="90"/>
                  </a:lnTo>
                  <a:lnTo>
                    <a:pt x="5" y="79"/>
                  </a:lnTo>
                  <a:lnTo>
                    <a:pt x="8" y="68"/>
                  </a:lnTo>
                  <a:lnTo>
                    <a:pt x="13" y="59"/>
                  </a:lnTo>
                  <a:lnTo>
                    <a:pt x="19" y="50"/>
                  </a:lnTo>
                  <a:lnTo>
                    <a:pt x="24" y="41"/>
                  </a:lnTo>
                  <a:lnTo>
                    <a:pt x="32" y="33"/>
                  </a:lnTo>
                  <a:lnTo>
                    <a:pt x="39" y="25"/>
                  </a:lnTo>
                  <a:lnTo>
                    <a:pt x="47" y="18"/>
                  </a:lnTo>
                  <a:lnTo>
                    <a:pt x="57" y="13"/>
                  </a:lnTo>
                  <a:lnTo>
                    <a:pt x="66" y="9"/>
                  </a:lnTo>
                  <a:lnTo>
                    <a:pt x="75" y="5"/>
                  </a:lnTo>
                  <a:lnTo>
                    <a:pt x="86" y="2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2"/>
                  </a:lnTo>
                  <a:lnTo>
                    <a:pt x="140" y="5"/>
                  </a:lnTo>
                  <a:lnTo>
                    <a:pt x="150" y="9"/>
                  </a:lnTo>
                  <a:lnTo>
                    <a:pt x="159" y="13"/>
                  </a:lnTo>
                  <a:lnTo>
                    <a:pt x="169" y="18"/>
                  </a:lnTo>
                  <a:lnTo>
                    <a:pt x="177" y="25"/>
                  </a:lnTo>
                  <a:lnTo>
                    <a:pt x="185" y="33"/>
                  </a:lnTo>
                  <a:lnTo>
                    <a:pt x="192" y="41"/>
                  </a:lnTo>
                  <a:lnTo>
                    <a:pt x="197" y="50"/>
                  </a:lnTo>
                  <a:lnTo>
                    <a:pt x="202" y="59"/>
                  </a:lnTo>
                  <a:lnTo>
                    <a:pt x="208" y="68"/>
                  </a:lnTo>
                  <a:lnTo>
                    <a:pt x="212" y="79"/>
                  </a:lnTo>
                  <a:lnTo>
                    <a:pt x="215" y="90"/>
                  </a:lnTo>
                  <a:lnTo>
                    <a:pt x="216" y="102"/>
                  </a:lnTo>
                  <a:lnTo>
                    <a:pt x="216" y="113"/>
                  </a:lnTo>
                  <a:lnTo>
                    <a:pt x="216" y="125"/>
                  </a:lnTo>
                  <a:lnTo>
                    <a:pt x="215" y="136"/>
                  </a:lnTo>
                  <a:lnTo>
                    <a:pt x="212" y="147"/>
                  </a:lnTo>
                  <a:lnTo>
                    <a:pt x="208" y="158"/>
                  </a:lnTo>
                  <a:lnTo>
                    <a:pt x="202" y="167"/>
                  </a:lnTo>
                  <a:lnTo>
                    <a:pt x="197" y="176"/>
                  </a:lnTo>
                  <a:lnTo>
                    <a:pt x="192" y="186"/>
                  </a:lnTo>
                  <a:lnTo>
                    <a:pt x="185" y="194"/>
                  </a:lnTo>
                  <a:lnTo>
                    <a:pt x="177" y="201"/>
                  </a:lnTo>
                  <a:lnTo>
                    <a:pt x="169" y="208"/>
                  </a:lnTo>
                  <a:lnTo>
                    <a:pt x="159" y="213"/>
                  </a:lnTo>
                  <a:lnTo>
                    <a:pt x="150" y="218"/>
                  </a:lnTo>
                  <a:lnTo>
                    <a:pt x="140" y="221"/>
                  </a:lnTo>
                  <a:lnTo>
                    <a:pt x="129" y="224"/>
                  </a:lnTo>
                  <a:lnTo>
                    <a:pt x="119" y="226"/>
                  </a:lnTo>
                  <a:lnTo>
                    <a:pt x="108" y="226"/>
                  </a:lnTo>
                  <a:lnTo>
                    <a:pt x="97" y="226"/>
                  </a:lnTo>
                  <a:lnTo>
                    <a:pt x="86" y="224"/>
                  </a:lnTo>
                  <a:lnTo>
                    <a:pt x="75" y="221"/>
                  </a:lnTo>
                  <a:lnTo>
                    <a:pt x="66" y="218"/>
                  </a:lnTo>
                  <a:lnTo>
                    <a:pt x="57" y="213"/>
                  </a:lnTo>
                  <a:lnTo>
                    <a:pt x="47" y="208"/>
                  </a:lnTo>
                  <a:lnTo>
                    <a:pt x="39" y="201"/>
                  </a:lnTo>
                  <a:lnTo>
                    <a:pt x="32" y="194"/>
                  </a:lnTo>
                  <a:lnTo>
                    <a:pt x="24" y="186"/>
                  </a:lnTo>
                  <a:lnTo>
                    <a:pt x="19" y="176"/>
                  </a:lnTo>
                  <a:lnTo>
                    <a:pt x="13" y="167"/>
                  </a:lnTo>
                  <a:lnTo>
                    <a:pt x="8" y="158"/>
                  </a:lnTo>
                  <a:lnTo>
                    <a:pt x="5" y="147"/>
                  </a:lnTo>
                  <a:lnTo>
                    <a:pt x="3" y="136"/>
                  </a:lnTo>
                  <a:lnTo>
                    <a:pt x="1" y="125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未知">
              <a:extLst>
                <a:ext uri="{FF2B5EF4-FFF2-40B4-BE49-F238E27FC236}">
                  <a16:creationId xmlns:a16="http://schemas.microsoft.com/office/drawing/2014/main" id="{C39C5949-058C-31B3-4340-6DFFF16D3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941" y="5693465"/>
              <a:ext cx="280668" cy="301535"/>
            </a:xfrm>
            <a:custGeom>
              <a:avLst/>
              <a:gdLst>
                <a:gd name="T0" fmla="*/ 3132436 w 216"/>
                <a:gd name="T1" fmla="*/ 605799974 h 226"/>
                <a:gd name="T2" fmla="*/ 16248397 w 216"/>
                <a:gd name="T3" fmla="*/ 470234226 h 226"/>
                <a:gd name="T4" fmla="*/ 44718601 w 216"/>
                <a:gd name="T5" fmla="*/ 351636369 h 226"/>
                <a:gd name="T6" fmla="*/ 81008170 w 216"/>
                <a:gd name="T7" fmla="*/ 243453492 h 226"/>
                <a:gd name="T8" fmla="*/ 133056879 w 216"/>
                <a:gd name="T9" fmla="*/ 149345652 h 226"/>
                <a:gd name="T10" fmla="*/ 193570726 w 216"/>
                <a:gd name="T11" fmla="*/ 76838499 h 226"/>
                <a:gd name="T12" fmla="*/ 253391593 w 216"/>
                <a:gd name="T13" fmla="*/ 30747017 h 226"/>
                <a:gd name="T14" fmla="*/ 328077895 w 216"/>
                <a:gd name="T15" fmla="*/ 5246112 h 226"/>
                <a:gd name="T16" fmla="*/ 404053641 w 216"/>
                <a:gd name="T17" fmla="*/ 5246112 h 226"/>
                <a:gd name="T18" fmla="*/ 473614015 w 216"/>
                <a:gd name="T19" fmla="*/ 30747017 h 226"/>
                <a:gd name="T20" fmla="*/ 538647947 w 216"/>
                <a:gd name="T21" fmla="*/ 76838499 h 226"/>
                <a:gd name="T22" fmla="*/ 599974025 w 216"/>
                <a:gd name="T23" fmla="*/ 149345652 h 226"/>
                <a:gd name="T24" fmla="*/ 651021663 w 216"/>
                <a:gd name="T25" fmla="*/ 243453492 h 226"/>
                <a:gd name="T26" fmla="*/ 684280176 w 216"/>
                <a:gd name="T27" fmla="*/ 351636369 h 226"/>
                <a:gd name="T28" fmla="*/ 719059846 w 216"/>
                <a:gd name="T29" fmla="*/ 470234226 h 226"/>
                <a:gd name="T30" fmla="*/ 732218540 w 216"/>
                <a:gd name="T31" fmla="*/ 605799974 h 226"/>
                <a:gd name="T32" fmla="*/ 732218540 w 216"/>
                <a:gd name="T33" fmla="*/ 673247391 h 226"/>
                <a:gd name="T34" fmla="*/ 728896509 w 216"/>
                <a:gd name="T35" fmla="*/ 809121661 h 226"/>
                <a:gd name="T36" fmla="*/ 706123720 w 216"/>
                <a:gd name="T37" fmla="*/ 939556915 h 226"/>
                <a:gd name="T38" fmla="*/ 668021454 w 216"/>
                <a:gd name="T39" fmla="*/ 1047187779 h 226"/>
                <a:gd name="T40" fmla="*/ 628521798 w 216"/>
                <a:gd name="T41" fmla="*/ 1154717196 h 226"/>
                <a:gd name="T42" fmla="*/ 573427077 w 216"/>
                <a:gd name="T43" fmla="*/ 1235532183 h 226"/>
                <a:gd name="T44" fmla="*/ 508488705 w 216"/>
                <a:gd name="T45" fmla="*/ 1296425926 h 226"/>
                <a:gd name="T46" fmla="*/ 437297754 w 216"/>
                <a:gd name="T47" fmla="*/ 1332984545 h 226"/>
                <a:gd name="T48" fmla="*/ 366134183 w 216"/>
                <a:gd name="T49" fmla="*/ 1343980891 h 226"/>
                <a:gd name="T50" fmla="*/ 291664425 w 216"/>
                <a:gd name="T51" fmla="*/ 1332984545 h 226"/>
                <a:gd name="T52" fmla="*/ 223644091 w 216"/>
                <a:gd name="T53" fmla="*/ 1296425926 h 226"/>
                <a:gd name="T54" fmla="*/ 158792020 w 216"/>
                <a:gd name="T55" fmla="*/ 1235532183 h 226"/>
                <a:gd name="T56" fmla="*/ 107753531 w 216"/>
                <a:gd name="T57" fmla="*/ 1154717196 h 226"/>
                <a:gd name="T58" fmla="*/ 65023271 w 216"/>
                <a:gd name="T59" fmla="*/ 1047187779 h 226"/>
                <a:gd name="T60" fmla="*/ 26840323 w 216"/>
                <a:gd name="T61" fmla="*/ 939556915 h 226"/>
                <a:gd name="T62" fmla="*/ 9836524 w 216"/>
                <a:gd name="T63" fmla="*/ 809121661 h 226"/>
                <a:gd name="T64" fmla="*/ 0 w 216"/>
                <a:gd name="T65" fmla="*/ 673247391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6"/>
                <a:gd name="T101" fmla="*/ 216 w 216"/>
                <a:gd name="T102" fmla="*/ 226 h 2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6">
                  <a:moveTo>
                    <a:pt x="0" y="113"/>
                  </a:moveTo>
                  <a:lnTo>
                    <a:pt x="1" y="102"/>
                  </a:lnTo>
                  <a:lnTo>
                    <a:pt x="3" y="90"/>
                  </a:lnTo>
                  <a:lnTo>
                    <a:pt x="5" y="79"/>
                  </a:lnTo>
                  <a:lnTo>
                    <a:pt x="8" y="68"/>
                  </a:lnTo>
                  <a:lnTo>
                    <a:pt x="13" y="59"/>
                  </a:lnTo>
                  <a:lnTo>
                    <a:pt x="19" y="50"/>
                  </a:lnTo>
                  <a:lnTo>
                    <a:pt x="24" y="41"/>
                  </a:lnTo>
                  <a:lnTo>
                    <a:pt x="32" y="33"/>
                  </a:lnTo>
                  <a:lnTo>
                    <a:pt x="39" y="25"/>
                  </a:lnTo>
                  <a:lnTo>
                    <a:pt x="47" y="18"/>
                  </a:lnTo>
                  <a:lnTo>
                    <a:pt x="57" y="13"/>
                  </a:lnTo>
                  <a:lnTo>
                    <a:pt x="66" y="9"/>
                  </a:lnTo>
                  <a:lnTo>
                    <a:pt x="75" y="5"/>
                  </a:lnTo>
                  <a:lnTo>
                    <a:pt x="86" y="2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2"/>
                  </a:lnTo>
                  <a:lnTo>
                    <a:pt x="140" y="5"/>
                  </a:lnTo>
                  <a:lnTo>
                    <a:pt x="150" y="9"/>
                  </a:lnTo>
                  <a:lnTo>
                    <a:pt x="159" y="13"/>
                  </a:lnTo>
                  <a:lnTo>
                    <a:pt x="169" y="18"/>
                  </a:lnTo>
                  <a:lnTo>
                    <a:pt x="177" y="25"/>
                  </a:lnTo>
                  <a:lnTo>
                    <a:pt x="185" y="33"/>
                  </a:lnTo>
                  <a:lnTo>
                    <a:pt x="192" y="41"/>
                  </a:lnTo>
                  <a:lnTo>
                    <a:pt x="197" y="50"/>
                  </a:lnTo>
                  <a:lnTo>
                    <a:pt x="202" y="59"/>
                  </a:lnTo>
                  <a:lnTo>
                    <a:pt x="208" y="68"/>
                  </a:lnTo>
                  <a:lnTo>
                    <a:pt x="212" y="79"/>
                  </a:lnTo>
                  <a:lnTo>
                    <a:pt x="215" y="90"/>
                  </a:lnTo>
                  <a:lnTo>
                    <a:pt x="216" y="102"/>
                  </a:lnTo>
                  <a:lnTo>
                    <a:pt x="216" y="113"/>
                  </a:lnTo>
                  <a:lnTo>
                    <a:pt x="216" y="125"/>
                  </a:lnTo>
                  <a:lnTo>
                    <a:pt x="215" y="136"/>
                  </a:lnTo>
                  <a:lnTo>
                    <a:pt x="212" y="147"/>
                  </a:lnTo>
                  <a:lnTo>
                    <a:pt x="208" y="158"/>
                  </a:lnTo>
                  <a:lnTo>
                    <a:pt x="202" y="167"/>
                  </a:lnTo>
                  <a:lnTo>
                    <a:pt x="197" y="176"/>
                  </a:lnTo>
                  <a:lnTo>
                    <a:pt x="192" y="186"/>
                  </a:lnTo>
                  <a:lnTo>
                    <a:pt x="185" y="194"/>
                  </a:lnTo>
                  <a:lnTo>
                    <a:pt x="177" y="201"/>
                  </a:lnTo>
                  <a:lnTo>
                    <a:pt x="169" y="208"/>
                  </a:lnTo>
                  <a:lnTo>
                    <a:pt x="159" y="213"/>
                  </a:lnTo>
                  <a:lnTo>
                    <a:pt x="150" y="218"/>
                  </a:lnTo>
                  <a:lnTo>
                    <a:pt x="140" y="221"/>
                  </a:lnTo>
                  <a:lnTo>
                    <a:pt x="129" y="224"/>
                  </a:lnTo>
                  <a:lnTo>
                    <a:pt x="119" y="226"/>
                  </a:lnTo>
                  <a:lnTo>
                    <a:pt x="108" y="226"/>
                  </a:lnTo>
                  <a:lnTo>
                    <a:pt x="97" y="226"/>
                  </a:lnTo>
                  <a:lnTo>
                    <a:pt x="86" y="224"/>
                  </a:lnTo>
                  <a:lnTo>
                    <a:pt x="75" y="221"/>
                  </a:lnTo>
                  <a:lnTo>
                    <a:pt x="66" y="218"/>
                  </a:lnTo>
                  <a:lnTo>
                    <a:pt x="57" y="213"/>
                  </a:lnTo>
                  <a:lnTo>
                    <a:pt x="47" y="208"/>
                  </a:lnTo>
                  <a:lnTo>
                    <a:pt x="39" y="201"/>
                  </a:lnTo>
                  <a:lnTo>
                    <a:pt x="32" y="194"/>
                  </a:lnTo>
                  <a:lnTo>
                    <a:pt x="24" y="186"/>
                  </a:lnTo>
                  <a:lnTo>
                    <a:pt x="19" y="176"/>
                  </a:lnTo>
                  <a:lnTo>
                    <a:pt x="13" y="167"/>
                  </a:lnTo>
                  <a:lnTo>
                    <a:pt x="8" y="158"/>
                  </a:lnTo>
                  <a:lnTo>
                    <a:pt x="5" y="147"/>
                  </a:lnTo>
                  <a:lnTo>
                    <a:pt x="3" y="136"/>
                  </a:lnTo>
                  <a:lnTo>
                    <a:pt x="1" y="125"/>
                  </a:lnTo>
                  <a:lnTo>
                    <a:pt x="0" y="11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0" name="Rectangle 188">
              <a:extLst>
                <a:ext uri="{FF2B5EF4-FFF2-40B4-BE49-F238E27FC236}">
                  <a16:creationId xmlns:a16="http://schemas.microsoft.com/office/drawing/2014/main" id="{8D8EF583-44F9-273F-2413-C402A289B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0" y="5753772"/>
              <a:ext cx="63500" cy="154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sz="1000" b="1">
                  <a:solidFill>
                    <a:srgbClr val="FF0000"/>
                  </a:solidFill>
                  <a:latin typeface="宋体" pitchFamily="2" charset="-122"/>
                </a:rPr>
                <a:t>C</a:t>
              </a:r>
              <a:endParaRPr lang="en-US" altLang="zh-CN" sz="1000" b="1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endParaRPr>
            </a:p>
          </p:txBody>
        </p:sp>
        <p:sp>
          <p:nvSpPr>
            <p:cNvPr id="15361" name="未知">
              <a:extLst>
                <a:ext uri="{FF2B5EF4-FFF2-40B4-BE49-F238E27FC236}">
                  <a16:creationId xmlns:a16="http://schemas.microsoft.com/office/drawing/2014/main" id="{BF9A8408-38DD-51DD-13D6-0BF88288F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7787" y="4981208"/>
              <a:ext cx="280668" cy="299630"/>
            </a:xfrm>
            <a:custGeom>
              <a:avLst/>
              <a:gdLst>
                <a:gd name="T0" fmla="*/ 3132436 w 216"/>
                <a:gd name="T1" fmla="*/ 530921433 h 226"/>
                <a:gd name="T2" fmla="*/ 16248397 w 216"/>
                <a:gd name="T3" fmla="*/ 412030994 h 226"/>
                <a:gd name="T4" fmla="*/ 44718601 w 216"/>
                <a:gd name="T5" fmla="*/ 306955967 h 226"/>
                <a:gd name="T6" fmla="*/ 81008170 w 216"/>
                <a:gd name="T7" fmla="*/ 214744967 h 226"/>
                <a:gd name="T8" fmla="*/ 133056879 w 216"/>
                <a:gd name="T9" fmla="*/ 130247567 h 226"/>
                <a:gd name="T10" fmla="*/ 190341245 w 216"/>
                <a:gd name="T11" fmla="*/ 66805270 h 226"/>
                <a:gd name="T12" fmla="*/ 253391593 w 216"/>
                <a:gd name="T13" fmla="*/ 25142567 h 226"/>
                <a:gd name="T14" fmla="*/ 328077895 w 216"/>
                <a:gd name="T15" fmla="*/ 4719390 h 226"/>
                <a:gd name="T16" fmla="*/ 404053641 w 216"/>
                <a:gd name="T17" fmla="*/ 4719390 h 226"/>
                <a:gd name="T18" fmla="*/ 473614015 w 216"/>
                <a:gd name="T19" fmla="*/ 25142567 h 226"/>
                <a:gd name="T20" fmla="*/ 538647947 w 216"/>
                <a:gd name="T21" fmla="*/ 66805270 h 226"/>
                <a:gd name="T22" fmla="*/ 599974025 w 216"/>
                <a:gd name="T23" fmla="*/ 130247567 h 226"/>
                <a:gd name="T24" fmla="*/ 647868110 w 216"/>
                <a:gd name="T25" fmla="*/ 214744967 h 226"/>
                <a:gd name="T26" fmla="*/ 684280176 w 216"/>
                <a:gd name="T27" fmla="*/ 306955967 h 226"/>
                <a:gd name="T28" fmla="*/ 719059846 w 216"/>
                <a:gd name="T29" fmla="*/ 412030994 h 226"/>
                <a:gd name="T30" fmla="*/ 732218540 w 216"/>
                <a:gd name="T31" fmla="*/ 530921433 h 226"/>
                <a:gd name="T32" fmla="*/ 732218540 w 216"/>
                <a:gd name="T33" fmla="*/ 588560306 h 226"/>
                <a:gd name="T34" fmla="*/ 725469299 w 216"/>
                <a:gd name="T35" fmla="*/ 707635123 h 226"/>
                <a:gd name="T36" fmla="*/ 706123720 w 216"/>
                <a:gd name="T37" fmla="*/ 817938906 h 226"/>
                <a:gd name="T38" fmla="*/ 668021454 w 216"/>
                <a:gd name="T39" fmla="*/ 917805539 h 226"/>
                <a:gd name="T40" fmla="*/ 628521798 w 216"/>
                <a:gd name="T41" fmla="*/ 1009756555 h 226"/>
                <a:gd name="T42" fmla="*/ 570381366 w 216"/>
                <a:gd name="T43" fmla="*/ 1076707342 h 226"/>
                <a:gd name="T44" fmla="*/ 508488705 w 216"/>
                <a:gd name="T45" fmla="*/ 1133989214 h 226"/>
                <a:gd name="T46" fmla="*/ 437297754 w 216"/>
                <a:gd name="T47" fmla="*/ 1165977676 h 226"/>
                <a:gd name="T48" fmla="*/ 366134183 w 216"/>
                <a:gd name="T49" fmla="*/ 1176707096 h 226"/>
                <a:gd name="T50" fmla="*/ 291664425 w 216"/>
                <a:gd name="T51" fmla="*/ 1165977676 h 226"/>
                <a:gd name="T52" fmla="*/ 223644091 w 216"/>
                <a:gd name="T53" fmla="*/ 1133989214 h 226"/>
                <a:gd name="T54" fmla="*/ 158792020 w 216"/>
                <a:gd name="T55" fmla="*/ 1076707342 h 226"/>
                <a:gd name="T56" fmla="*/ 107753531 w 216"/>
                <a:gd name="T57" fmla="*/ 1009756555 h 226"/>
                <a:gd name="T58" fmla="*/ 65023271 w 216"/>
                <a:gd name="T59" fmla="*/ 917805539 h 226"/>
                <a:gd name="T60" fmla="*/ 26840323 w 216"/>
                <a:gd name="T61" fmla="*/ 817938906 h 226"/>
                <a:gd name="T62" fmla="*/ 6409892 w 216"/>
                <a:gd name="T63" fmla="*/ 707635123 h 226"/>
                <a:gd name="T64" fmla="*/ 0 w 216"/>
                <a:gd name="T65" fmla="*/ 588560306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6"/>
                <a:gd name="T101" fmla="*/ 216 w 216"/>
                <a:gd name="T102" fmla="*/ 226 h 2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6">
                  <a:moveTo>
                    <a:pt x="0" y="113"/>
                  </a:moveTo>
                  <a:lnTo>
                    <a:pt x="1" y="102"/>
                  </a:lnTo>
                  <a:lnTo>
                    <a:pt x="2" y="90"/>
                  </a:lnTo>
                  <a:lnTo>
                    <a:pt x="5" y="79"/>
                  </a:lnTo>
                  <a:lnTo>
                    <a:pt x="8" y="68"/>
                  </a:lnTo>
                  <a:lnTo>
                    <a:pt x="13" y="59"/>
                  </a:lnTo>
                  <a:lnTo>
                    <a:pt x="19" y="49"/>
                  </a:lnTo>
                  <a:lnTo>
                    <a:pt x="24" y="41"/>
                  </a:lnTo>
                  <a:lnTo>
                    <a:pt x="32" y="33"/>
                  </a:lnTo>
                  <a:lnTo>
                    <a:pt x="39" y="25"/>
                  </a:lnTo>
                  <a:lnTo>
                    <a:pt x="47" y="18"/>
                  </a:lnTo>
                  <a:lnTo>
                    <a:pt x="56" y="13"/>
                  </a:lnTo>
                  <a:lnTo>
                    <a:pt x="66" y="9"/>
                  </a:lnTo>
                  <a:lnTo>
                    <a:pt x="75" y="5"/>
                  </a:lnTo>
                  <a:lnTo>
                    <a:pt x="86" y="2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2"/>
                  </a:lnTo>
                  <a:lnTo>
                    <a:pt x="140" y="5"/>
                  </a:lnTo>
                  <a:lnTo>
                    <a:pt x="150" y="9"/>
                  </a:lnTo>
                  <a:lnTo>
                    <a:pt x="159" y="13"/>
                  </a:lnTo>
                  <a:lnTo>
                    <a:pt x="168" y="18"/>
                  </a:lnTo>
                  <a:lnTo>
                    <a:pt x="177" y="25"/>
                  </a:lnTo>
                  <a:lnTo>
                    <a:pt x="185" y="33"/>
                  </a:lnTo>
                  <a:lnTo>
                    <a:pt x="191" y="41"/>
                  </a:lnTo>
                  <a:lnTo>
                    <a:pt x="197" y="49"/>
                  </a:lnTo>
                  <a:lnTo>
                    <a:pt x="202" y="59"/>
                  </a:lnTo>
                  <a:lnTo>
                    <a:pt x="208" y="68"/>
                  </a:lnTo>
                  <a:lnTo>
                    <a:pt x="212" y="79"/>
                  </a:lnTo>
                  <a:lnTo>
                    <a:pt x="214" y="90"/>
                  </a:lnTo>
                  <a:lnTo>
                    <a:pt x="216" y="102"/>
                  </a:lnTo>
                  <a:lnTo>
                    <a:pt x="216" y="113"/>
                  </a:lnTo>
                  <a:lnTo>
                    <a:pt x="216" y="125"/>
                  </a:lnTo>
                  <a:lnTo>
                    <a:pt x="214" y="136"/>
                  </a:lnTo>
                  <a:lnTo>
                    <a:pt x="212" y="147"/>
                  </a:lnTo>
                  <a:lnTo>
                    <a:pt x="208" y="157"/>
                  </a:lnTo>
                  <a:lnTo>
                    <a:pt x="202" y="167"/>
                  </a:lnTo>
                  <a:lnTo>
                    <a:pt x="197" y="176"/>
                  </a:lnTo>
                  <a:lnTo>
                    <a:pt x="191" y="186"/>
                  </a:lnTo>
                  <a:lnTo>
                    <a:pt x="185" y="194"/>
                  </a:lnTo>
                  <a:lnTo>
                    <a:pt x="177" y="201"/>
                  </a:lnTo>
                  <a:lnTo>
                    <a:pt x="168" y="207"/>
                  </a:lnTo>
                  <a:lnTo>
                    <a:pt x="159" y="213"/>
                  </a:lnTo>
                  <a:lnTo>
                    <a:pt x="150" y="218"/>
                  </a:lnTo>
                  <a:lnTo>
                    <a:pt x="140" y="221"/>
                  </a:lnTo>
                  <a:lnTo>
                    <a:pt x="129" y="224"/>
                  </a:lnTo>
                  <a:lnTo>
                    <a:pt x="119" y="226"/>
                  </a:lnTo>
                  <a:lnTo>
                    <a:pt x="108" y="226"/>
                  </a:lnTo>
                  <a:lnTo>
                    <a:pt x="97" y="226"/>
                  </a:lnTo>
                  <a:lnTo>
                    <a:pt x="86" y="224"/>
                  </a:lnTo>
                  <a:lnTo>
                    <a:pt x="75" y="221"/>
                  </a:lnTo>
                  <a:lnTo>
                    <a:pt x="66" y="218"/>
                  </a:lnTo>
                  <a:lnTo>
                    <a:pt x="56" y="213"/>
                  </a:lnTo>
                  <a:lnTo>
                    <a:pt x="47" y="207"/>
                  </a:lnTo>
                  <a:lnTo>
                    <a:pt x="39" y="201"/>
                  </a:lnTo>
                  <a:lnTo>
                    <a:pt x="32" y="194"/>
                  </a:lnTo>
                  <a:lnTo>
                    <a:pt x="24" y="186"/>
                  </a:lnTo>
                  <a:lnTo>
                    <a:pt x="19" y="176"/>
                  </a:lnTo>
                  <a:lnTo>
                    <a:pt x="13" y="167"/>
                  </a:lnTo>
                  <a:lnTo>
                    <a:pt x="8" y="157"/>
                  </a:lnTo>
                  <a:lnTo>
                    <a:pt x="5" y="147"/>
                  </a:lnTo>
                  <a:lnTo>
                    <a:pt x="2" y="136"/>
                  </a:lnTo>
                  <a:lnTo>
                    <a:pt x="1" y="125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4" name="未知">
              <a:extLst>
                <a:ext uri="{FF2B5EF4-FFF2-40B4-BE49-F238E27FC236}">
                  <a16:creationId xmlns:a16="http://schemas.microsoft.com/office/drawing/2014/main" id="{6B4284B8-FE06-B297-3C3C-0078BD73F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7787" y="4981208"/>
              <a:ext cx="280668" cy="299630"/>
            </a:xfrm>
            <a:custGeom>
              <a:avLst/>
              <a:gdLst>
                <a:gd name="T0" fmla="*/ 3132436 w 216"/>
                <a:gd name="T1" fmla="*/ 530921433 h 226"/>
                <a:gd name="T2" fmla="*/ 16248397 w 216"/>
                <a:gd name="T3" fmla="*/ 412030994 h 226"/>
                <a:gd name="T4" fmla="*/ 44718601 w 216"/>
                <a:gd name="T5" fmla="*/ 306955967 h 226"/>
                <a:gd name="T6" fmla="*/ 81008170 w 216"/>
                <a:gd name="T7" fmla="*/ 214744967 h 226"/>
                <a:gd name="T8" fmla="*/ 133056879 w 216"/>
                <a:gd name="T9" fmla="*/ 130247567 h 226"/>
                <a:gd name="T10" fmla="*/ 190341245 w 216"/>
                <a:gd name="T11" fmla="*/ 66805270 h 226"/>
                <a:gd name="T12" fmla="*/ 253391593 w 216"/>
                <a:gd name="T13" fmla="*/ 25142567 h 226"/>
                <a:gd name="T14" fmla="*/ 328077895 w 216"/>
                <a:gd name="T15" fmla="*/ 4719390 h 226"/>
                <a:gd name="T16" fmla="*/ 404053641 w 216"/>
                <a:gd name="T17" fmla="*/ 4719390 h 226"/>
                <a:gd name="T18" fmla="*/ 473614015 w 216"/>
                <a:gd name="T19" fmla="*/ 25142567 h 226"/>
                <a:gd name="T20" fmla="*/ 538647947 w 216"/>
                <a:gd name="T21" fmla="*/ 66805270 h 226"/>
                <a:gd name="T22" fmla="*/ 599974025 w 216"/>
                <a:gd name="T23" fmla="*/ 130247567 h 226"/>
                <a:gd name="T24" fmla="*/ 647868110 w 216"/>
                <a:gd name="T25" fmla="*/ 214744967 h 226"/>
                <a:gd name="T26" fmla="*/ 684280176 w 216"/>
                <a:gd name="T27" fmla="*/ 306955967 h 226"/>
                <a:gd name="T28" fmla="*/ 719059846 w 216"/>
                <a:gd name="T29" fmla="*/ 412030994 h 226"/>
                <a:gd name="T30" fmla="*/ 732218540 w 216"/>
                <a:gd name="T31" fmla="*/ 530921433 h 226"/>
                <a:gd name="T32" fmla="*/ 732218540 w 216"/>
                <a:gd name="T33" fmla="*/ 588560306 h 226"/>
                <a:gd name="T34" fmla="*/ 725469299 w 216"/>
                <a:gd name="T35" fmla="*/ 707635123 h 226"/>
                <a:gd name="T36" fmla="*/ 706123720 w 216"/>
                <a:gd name="T37" fmla="*/ 817938906 h 226"/>
                <a:gd name="T38" fmla="*/ 668021454 w 216"/>
                <a:gd name="T39" fmla="*/ 917805539 h 226"/>
                <a:gd name="T40" fmla="*/ 628521798 w 216"/>
                <a:gd name="T41" fmla="*/ 1009756555 h 226"/>
                <a:gd name="T42" fmla="*/ 570381366 w 216"/>
                <a:gd name="T43" fmla="*/ 1076707342 h 226"/>
                <a:gd name="T44" fmla="*/ 508488705 w 216"/>
                <a:gd name="T45" fmla="*/ 1133989214 h 226"/>
                <a:gd name="T46" fmla="*/ 437297754 w 216"/>
                <a:gd name="T47" fmla="*/ 1165977676 h 226"/>
                <a:gd name="T48" fmla="*/ 366134183 w 216"/>
                <a:gd name="T49" fmla="*/ 1176707096 h 226"/>
                <a:gd name="T50" fmla="*/ 291664425 w 216"/>
                <a:gd name="T51" fmla="*/ 1165977676 h 226"/>
                <a:gd name="T52" fmla="*/ 223644091 w 216"/>
                <a:gd name="T53" fmla="*/ 1133989214 h 226"/>
                <a:gd name="T54" fmla="*/ 158792020 w 216"/>
                <a:gd name="T55" fmla="*/ 1076707342 h 226"/>
                <a:gd name="T56" fmla="*/ 107753531 w 216"/>
                <a:gd name="T57" fmla="*/ 1009756555 h 226"/>
                <a:gd name="T58" fmla="*/ 65023271 w 216"/>
                <a:gd name="T59" fmla="*/ 917805539 h 226"/>
                <a:gd name="T60" fmla="*/ 26840323 w 216"/>
                <a:gd name="T61" fmla="*/ 817938906 h 226"/>
                <a:gd name="T62" fmla="*/ 6409892 w 216"/>
                <a:gd name="T63" fmla="*/ 707635123 h 226"/>
                <a:gd name="T64" fmla="*/ 0 w 216"/>
                <a:gd name="T65" fmla="*/ 588560306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6"/>
                <a:gd name="T101" fmla="*/ 216 w 216"/>
                <a:gd name="T102" fmla="*/ 226 h 2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6">
                  <a:moveTo>
                    <a:pt x="0" y="113"/>
                  </a:moveTo>
                  <a:lnTo>
                    <a:pt x="1" y="102"/>
                  </a:lnTo>
                  <a:lnTo>
                    <a:pt x="2" y="90"/>
                  </a:lnTo>
                  <a:lnTo>
                    <a:pt x="5" y="79"/>
                  </a:lnTo>
                  <a:lnTo>
                    <a:pt x="8" y="68"/>
                  </a:lnTo>
                  <a:lnTo>
                    <a:pt x="13" y="59"/>
                  </a:lnTo>
                  <a:lnTo>
                    <a:pt x="19" y="49"/>
                  </a:lnTo>
                  <a:lnTo>
                    <a:pt x="24" y="41"/>
                  </a:lnTo>
                  <a:lnTo>
                    <a:pt x="32" y="33"/>
                  </a:lnTo>
                  <a:lnTo>
                    <a:pt x="39" y="25"/>
                  </a:lnTo>
                  <a:lnTo>
                    <a:pt x="47" y="18"/>
                  </a:lnTo>
                  <a:lnTo>
                    <a:pt x="56" y="13"/>
                  </a:lnTo>
                  <a:lnTo>
                    <a:pt x="66" y="9"/>
                  </a:lnTo>
                  <a:lnTo>
                    <a:pt x="75" y="5"/>
                  </a:lnTo>
                  <a:lnTo>
                    <a:pt x="86" y="2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2"/>
                  </a:lnTo>
                  <a:lnTo>
                    <a:pt x="140" y="5"/>
                  </a:lnTo>
                  <a:lnTo>
                    <a:pt x="150" y="9"/>
                  </a:lnTo>
                  <a:lnTo>
                    <a:pt x="159" y="13"/>
                  </a:lnTo>
                  <a:lnTo>
                    <a:pt x="168" y="18"/>
                  </a:lnTo>
                  <a:lnTo>
                    <a:pt x="177" y="25"/>
                  </a:lnTo>
                  <a:lnTo>
                    <a:pt x="185" y="33"/>
                  </a:lnTo>
                  <a:lnTo>
                    <a:pt x="191" y="41"/>
                  </a:lnTo>
                  <a:lnTo>
                    <a:pt x="197" y="49"/>
                  </a:lnTo>
                  <a:lnTo>
                    <a:pt x="202" y="59"/>
                  </a:lnTo>
                  <a:lnTo>
                    <a:pt x="208" y="68"/>
                  </a:lnTo>
                  <a:lnTo>
                    <a:pt x="212" y="79"/>
                  </a:lnTo>
                  <a:lnTo>
                    <a:pt x="214" y="90"/>
                  </a:lnTo>
                  <a:lnTo>
                    <a:pt x="216" y="102"/>
                  </a:lnTo>
                  <a:lnTo>
                    <a:pt x="216" y="113"/>
                  </a:lnTo>
                  <a:lnTo>
                    <a:pt x="216" y="125"/>
                  </a:lnTo>
                  <a:lnTo>
                    <a:pt x="214" y="136"/>
                  </a:lnTo>
                  <a:lnTo>
                    <a:pt x="212" y="147"/>
                  </a:lnTo>
                  <a:lnTo>
                    <a:pt x="208" y="157"/>
                  </a:lnTo>
                  <a:lnTo>
                    <a:pt x="202" y="167"/>
                  </a:lnTo>
                  <a:lnTo>
                    <a:pt x="197" y="176"/>
                  </a:lnTo>
                  <a:lnTo>
                    <a:pt x="191" y="186"/>
                  </a:lnTo>
                  <a:lnTo>
                    <a:pt x="185" y="194"/>
                  </a:lnTo>
                  <a:lnTo>
                    <a:pt x="177" y="201"/>
                  </a:lnTo>
                  <a:lnTo>
                    <a:pt x="168" y="207"/>
                  </a:lnTo>
                  <a:lnTo>
                    <a:pt x="159" y="213"/>
                  </a:lnTo>
                  <a:lnTo>
                    <a:pt x="150" y="218"/>
                  </a:lnTo>
                  <a:lnTo>
                    <a:pt x="140" y="221"/>
                  </a:lnTo>
                  <a:lnTo>
                    <a:pt x="129" y="224"/>
                  </a:lnTo>
                  <a:lnTo>
                    <a:pt x="119" y="226"/>
                  </a:lnTo>
                  <a:lnTo>
                    <a:pt x="108" y="226"/>
                  </a:lnTo>
                  <a:lnTo>
                    <a:pt x="97" y="226"/>
                  </a:lnTo>
                  <a:lnTo>
                    <a:pt x="86" y="224"/>
                  </a:lnTo>
                  <a:lnTo>
                    <a:pt x="75" y="221"/>
                  </a:lnTo>
                  <a:lnTo>
                    <a:pt x="66" y="218"/>
                  </a:lnTo>
                  <a:lnTo>
                    <a:pt x="56" y="213"/>
                  </a:lnTo>
                  <a:lnTo>
                    <a:pt x="47" y="207"/>
                  </a:lnTo>
                  <a:lnTo>
                    <a:pt x="39" y="201"/>
                  </a:lnTo>
                  <a:lnTo>
                    <a:pt x="32" y="194"/>
                  </a:lnTo>
                  <a:lnTo>
                    <a:pt x="24" y="186"/>
                  </a:lnTo>
                  <a:lnTo>
                    <a:pt x="19" y="176"/>
                  </a:lnTo>
                  <a:lnTo>
                    <a:pt x="13" y="167"/>
                  </a:lnTo>
                  <a:lnTo>
                    <a:pt x="8" y="157"/>
                  </a:lnTo>
                  <a:lnTo>
                    <a:pt x="5" y="147"/>
                  </a:lnTo>
                  <a:lnTo>
                    <a:pt x="2" y="136"/>
                  </a:lnTo>
                  <a:lnTo>
                    <a:pt x="1" y="125"/>
                  </a:lnTo>
                  <a:lnTo>
                    <a:pt x="0" y="11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5" name="Rectangle 191">
              <a:extLst>
                <a:ext uri="{FF2B5EF4-FFF2-40B4-BE49-F238E27FC236}">
                  <a16:creationId xmlns:a16="http://schemas.microsoft.com/office/drawing/2014/main" id="{C144ED4F-C555-8A0E-3A12-BAC3C9A8D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6211" y="5041515"/>
              <a:ext cx="64135" cy="153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sz="1000" b="1">
                  <a:solidFill>
                    <a:srgbClr val="FF0000"/>
                  </a:solidFill>
                  <a:latin typeface="宋体" pitchFamily="2" charset="-122"/>
                </a:rPr>
                <a:t>A</a:t>
              </a:r>
              <a:endParaRPr lang="en-US" altLang="zh-CN" sz="1000" b="1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endParaRPr>
            </a:p>
          </p:txBody>
        </p:sp>
        <p:sp>
          <p:nvSpPr>
            <p:cNvPr id="15366" name="未知">
              <a:extLst>
                <a:ext uri="{FF2B5EF4-FFF2-40B4-BE49-F238E27FC236}">
                  <a16:creationId xmlns:a16="http://schemas.microsoft.com/office/drawing/2014/main" id="{835EB750-DCBE-9136-E14C-187403351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942" y="5245923"/>
              <a:ext cx="146049" cy="168225"/>
            </a:xfrm>
            <a:custGeom>
              <a:avLst/>
              <a:gdLst>
                <a:gd name="T0" fmla="*/ 0 w 112"/>
                <a:gd name="T1" fmla="*/ 507152128 h 125"/>
                <a:gd name="T2" fmla="*/ 408854017 w 112"/>
                <a:gd name="T3" fmla="*/ 0 h 125"/>
                <a:gd name="T4" fmla="*/ 236696596 w 112"/>
                <a:gd name="T5" fmla="*/ 891168653 h 125"/>
                <a:gd name="T6" fmla="*/ 0 w 112"/>
                <a:gd name="T7" fmla="*/ 507152128 h 1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125"/>
                <a:gd name="T14" fmla="*/ 112 w 112"/>
                <a:gd name="T15" fmla="*/ 125 h 1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125">
                  <a:moveTo>
                    <a:pt x="0" y="71"/>
                  </a:moveTo>
                  <a:lnTo>
                    <a:pt x="112" y="0"/>
                  </a:lnTo>
                  <a:lnTo>
                    <a:pt x="65" y="125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5367" name="Line 195">
              <a:extLst>
                <a:ext uri="{FF2B5EF4-FFF2-40B4-BE49-F238E27FC236}">
                  <a16:creationId xmlns:a16="http://schemas.microsoft.com/office/drawing/2014/main" id="{50AC3974-3723-8514-AE52-E0D67973D9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5223" y="5844549"/>
              <a:ext cx="974718" cy="31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8" name="未知">
              <a:extLst>
                <a:ext uri="{FF2B5EF4-FFF2-40B4-BE49-F238E27FC236}">
                  <a16:creationId xmlns:a16="http://schemas.microsoft.com/office/drawing/2014/main" id="{E2ABAAFC-70D7-BFBD-F8F7-E3AFC0DE4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094" y="5788686"/>
              <a:ext cx="167004" cy="111092"/>
            </a:xfrm>
            <a:custGeom>
              <a:avLst/>
              <a:gdLst>
                <a:gd name="T0" fmla="*/ 553941714 w 127"/>
                <a:gd name="T1" fmla="*/ 415350985 h 84"/>
                <a:gd name="T2" fmla="*/ 0 w 127"/>
                <a:gd name="T3" fmla="*/ 208294135 h 84"/>
                <a:gd name="T4" fmla="*/ 553941714 w 127"/>
                <a:gd name="T5" fmla="*/ 0 h 84"/>
                <a:gd name="T6" fmla="*/ 553941714 w 127"/>
                <a:gd name="T7" fmla="*/ 415350985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7"/>
                <a:gd name="T13" fmla="*/ 0 h 84"/>
                <a:gd name="T14" fmla="*/ 127 w 127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7" h="84">
                  <a:moveTo>
                    <a:pt x="127" y="84"/>
                  </a:moveTo>
                  <a:lnTo>
                    <a:pt x="0" y="42"/>
                  </a:lnTo>
                  <a:lnTo>
                    <a:pt x="127" y="0"/>
                  </a:lnTo>
                  <a:lnTo>
                    <a:pt x="127" y="84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9" name="Line 197">
              <a:extLst>
                <a:ext uri="{FF2B5EF4-FFF2-40B4-BE49-F238E27FC236}">
                  <a16:creationId xmlns:a16="http://schemas.microsoft.com/office/drawing/2014/main" id="{8C9DA20A-376D-697B-DACC-F6CE4722E0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45059" y="5244654"/>
              <a:ext cx="297178" cy="36628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0" name="未知">
              <a:extLst>
                <a:ext uri="{FF2B5EF4-FFF2-40B4-BE49-F238E27FC236}">
                  <a16:creationId xmlns:a16="http://schemas.microsoft.com/office/drawing/2014/main" id="{FC36333C-98B5-B822-533E-C79F228BB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714" y="5563329"/>
              <a:ext cx="146049" cy="165051"/>
            </a:xfrm>
            <a:custGeom>
              <a:avLst/>
              <a:gdLst>
                <a:gd name="T0" fmla="*/ 408854017 w 112"/>
                <a:gd name="T1" fmla="*/ 304952872 h 124"/>
                <a:gd name="T2" fmla="*/ 0 w 112"/>
                <a:gd name="T3" fmla="*/ 701513112 h 124"/>
                <a:gd name="T4" fmla="*/ 172549918 w 112"/>
                <a:gd name="T5" fmla="*/ 0 h 124"/>
                <a:gd name="T6" fmla="*/ 408854017 w 112"/>
                <a:gd name="T7" fmla="*/ 304952872 h 1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124"/>
                <a:gd name="T14" fmla="*/ 112 w 112"/>
                <a:gd name="T15" fmla="*/ 124 h 1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124">
                  <a:moveTo>
                    <a:pt x="112" y="54"/>
                  </a:moveTo>
                  <a:lnTo>
                    <a:pt x="0" y="124"/>
                  </a:lnTo>
                  <a:lnTo>
                    <a:pt x="47" y="0"/>
                  </a:lnTo>
                  <a:lnTo>
                    <a:pt x="112" y="54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5411" name="Rectangle 199">
              <a:extLst>
                <a:ext uri="{FF2B5EF4-FFF2-40B4-BE49-F238E27FC236}">
                  <a16:creationId xmlns:a16="http://schemas.microsoft.com/office/drawing/2014/main" id="{84C470D4-6497-C902-2F7E-510152E9D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1587" y="5463663"/>
              <a:ext cx="64120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zh-CN" altLang="en-US" sz="1000" b="1" dirty="0">
                  <a:solidFill>
                    <a:srgbClr val="FF0000"/>
                  </a:solidFill>
                  <a:latin typeface="宋体" pitchFamily="2" charset="-122"/>
                </a:rPr>
                <a:t>5</a:t>
              </a:r>
              <a:endParaRPr lang="zh-CN" altLang="en-US" sz="1000" b="1" dirty="0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endParaRPr>
            </a:p>
          </p:txBody>
        </p:sp>
        <p:sp>
          <p:nvSpPr>
            <p:cNvPr id="15412" name="Rectangle 201">
              <a:extLst>
                <a:ext uri="{FF2B5EF4-FFF2-40B4-BE49-F238E27FC236}">
                  <a16:creationId xmlns:a16="http://schemas.microsoft.com/office/drawing/2014/main" id="{A52C8E98-B287-4E67-C664-7AE542FA5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793" y="5504926"/>
              <a:ext cx="128240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zh-CN" altLang="en-US" sz="1000" b="1" dirty="0">
                  <a:solidFill>
                    <a:srgbClr val="FF0000"/>
                  </a:solidFill>
                  <a:latin typeface="宋体" pitchFamily="2" charset="-122"/>
                </a:rPr>
                <a:t>10</a:t>
              </a:r>
              <a:endParaRPr lang="zh-CN" altLang="en-US" sz="1000" b="1" dirty="0">
                <a:solidFill>
                  <a:srgbClr val="FF0000"/>
                </a:solidFill>
                <a:ea typeface="楷体_GB2312" pitchFamily="1" charset="-122"/>
              </a:endParaRPr>
            </a:p>
          </p:txBody>
        </p:sp>
        <p:sp>
          <p:nvSpPr>
            <p:cNvPr id="15413" name="Rectangle 202">
              <a:extLst>
                <a:ext uri="{FF2B5EF4-FFF2-40B4-BE49-F238E27FC236}">
                  <a16:creationId xmlns:a16="http://schemas.microsoft.com/office/drawing/2014/main" id="{DB5BB8FA-2C80-9BB5-EF70-7AD32B4F0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7344" y="5847723"/>
              <a:ext cx="64120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zh-CN" altLang="en-US" sz="1000" b="1" dirty="0">
                  <a:solidFill>
                    <a:srgbClr val="FF0000"/>
                  </a:solidFill>
                  <a:latin typeface="宋体" pitchFamily="2" charset="-122"/>
                </a:rPr>
                <a:t>7</a:t>
              </a:r>
              <a:endParaRPr lang="zh-CN" altLang="en-US" sz="1000" b="1" dirty="0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endParaRPr>
            </a:p>
          </p:txBody>
        </p:sp>
        <p:sp>
          <p:nvSpPr>
            <p:cNvPr id="15414" name="未知">
              <a:extLst>
                <a:ext uri="{FF2B5EF4-FFF2-40B4-BE49-F238E27FC236}">
                  <a16:creationId xmlns:a16="http://schemas.microsoft.com/office/drawing/2014/main" id="{0EC87969-B79D-E2AC-3F3C-4E4CD23E4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535" y="4550807"/>
              <a:ext cx="107949" cy="166955"/>
            </a:xfrm>
            <a:custGeom>
              <a:avLst/>
              <a:gdLst>
                <a:gd name="T0" fmla="*/ 0 w 84"/>
                <a:gd name="T1" fmla="*/ 553941714 h 127"/>
                <a:gd name="T2" fmla="*/ 112864617 w 84"/>
                <a:gd name="T3" fmla="*/ 0 h 127"/>
                <a:gd name="T4" fmla="*/ 225867066 w 84"/>
                <a:gd name="T5" fmla="*/ 553941714 h 127"/>
                <a:gd name="T6" fmla="*/ 0 w 84"/>
                <a:gd name="T7" fmla="*/ 553941714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4"/>
                <a:gd name="T13" fmla="*/ 0 h 127"/>
                <a:gd name="T14" fmla="*/ 84 w 84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4" h="127">
                  <a:moveTo>
                    <a:pt x="0" y="127"/>
                  </a:moveTo>
                  <a:lnTo>
                    <a:pt x="42" y="0"/>
                  </a:lnTo>
                  <a:lnTo>
                    <a:pt x="84" y="127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5" name="Rectangle 204">
              <a:extLst>
                <a:ext uri="{FF2B5EF4-FFF2-40B4-BE49-F238E27FC236}">
                  <a16:creationId xmlns:a16="http://schemas.microsoft.com/office/drawing/2014/main" id="{902D390B-9FAD-DC2D-FBCA-171B7F5C7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7711" y="5095474"/>
              <a:ext cx="128240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zh-CN" altLang="en-US" sz="1000" b="1" dirty="0">
                  <a:solidFill>
                    <a:srgbClr val="FF0000"/>
                  </a:solidFill>
                  <a:latin typeface="宋体" pitchFamily="2" charset="-122"/>
                </a:rPr>
                <a:t>15</a:t>
              </a:r>
              <a:endParaRPr lang="zh-CN" altLang="en-US" sz="1000" b="1" dirty="0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endParaRPr>
            </a:p>
          </p:txBody>
        </p:sp>
        <p:sp>
          <p:nvSpPr>
            <p:cNvPr id="15417" name="Line 206">
              <a:extLst>
                <a:ext uri="{FF2B5EF4-FFF2-40B4-BE49-F238E27FC236}">
                  <a16:creationId xmlns:a16="http://schemas.microsoft.com/office/drawing/2014/main" id="{730B73D5-3315-447A-3427-678DF280B8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8050" y="4703161"/>
              <a:ext cx="3175" cy="97443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8" name="未知">
              <a:extLst>
                <a:ext uri="{FF2B5EF4-FFF2-40B4-BE49-F238E27FC236}">
                  <a16:creationId xmlns:a16="http://schemas.microsoft.com/office/drawing/2014/main" id="{CC4203DC-DD13-17D3-4525-1F3686B181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62344" y="5388756"/>
              <a:ext cx="273048" cy="344702"/>
            </a:xfrm>
            <a:custGeom>
              <a:avLst/>
              <a:gdLst>
                <a:gd name="T0" fmla="*/ 5953032 w 211"/>
                <a:gd name="T1" fmla="*/ 1445828445 h 259"/>
                <a:gd name="T2" fmla="*/ 8868717 w 211"/>
                <a:gd name="T3" fmla="*/ 1460980307 h 259"/>
                <a:gd name="T4" fmla="*/ 0 w 211"/>
                <a:gd name="T5" fmla="*/ 1460980307 h 259"/>
                <a:gd name="T6" fmla="*/ 0 w 211"/>
                <a:gd name="T7" fmla="*/ 1445828445 h 259"/>
                <a:gd name="T8" fmla="*/ 68662054 w 211"/>
                <a:gd name="T9" fmla="*/ 1303037125 h 259"/>
                <a:gd name="T10" fmla="*/ 75061770 w 211"/>
                <a:gd name="T11" fmla="*/ 1313470935 h 259"/>
                <a:gd name="T12" fmla="*/ 68662054 w 211"/>
                <a:gd name="T13" fmla="*/ 1327545409 h 259"/>
                <a:gd name="T14" fmla="*/ 62766974 w 211"/>
                <a:gd name="T15" fmla="*/ 1307889323 h 259"/>
                <a:gd name="T16" fmla="*/ 131341246 w 211"/>
                <a:gd name="T17" fmla="*/ 1162757631 h 259"/>
                <a:gd name="T18" fmla="*/ 134153466 w 211"/>
                <a:gd name="T19" fmla="*/ 1158100215 h 259"/>
                <a:gd name="T20" fmla="*/ 139927409 w 211"/>
                <a:gd name="T21" fmla="*/ 1173310140 h 259"/>
                <a:gd name="T22" fmla="*/ 134153466 w 211"/>
                <a:gd name="T23" fmla="*/ 1178890215 h 259"/>
                <a:gd name="T24" fmla="*/ 131341246 w 211"/>
                <a:gd name="T25" fmla="*/ 1162757631 h 259"/>
                <a:gd name="T26" fmla="*/ 192610008 w 211"/>
                <a:gd name="T27" fmla="*/ 1020766301 h 259"/>
                <a:gd name="T28" fmla="*/ 201425304 w 211"/>
                <a:gd name="T29" fmla="*/ 1020766301 h 259"/>
                <a:gd name="T30" fmla="*/ 198424380 w 211"/>
                <a:gd name="T31" fmla="*/ 1038636200 h 259"/>
                <a:gd name="T32" fmla="*/ 192610008 w 211"/>
                <a:gd name="T33" fmla="*/ 1020766301 h 259"/>
                <a:gd name="T34" fmla="*/ 257716732 w 211"/>
                <a:gd name="T35" fmla="*/ 874483533 h 259"/>
                <a:gd name="T36" fmla="*/ 270560754 w 211"/>
                <a:gd name="T37" fmla="*/ 874483533 h 259"/>
                <a:gd name="T38" fmla="*/ 264275526 w 211"/>
                <a:gd name="T39" fmla="*/ 890778885 h 259"/>
                <a:gd name="T40" fmla="*/ 257716732 w 211"/>
                <a:gd name="T41" fmla="*/ 886183564 h 259"/>
                <a:gd name="T42" fmla="*/ 257716732 w 211"/>
                <a:gd name="T43" fmla="*/ 874483533 h 259"/>
                <a:gd name="T44" fmla="*/ 326842780 w 211"/>
                <a:gd name="T45" fmla="*/ 721396205 h 259"/>
                <a:gd name="T46" fmla="*/ 332582899 w 211"/>
                <a:gd name="T47" fmla="*/ 726977363 h 259"/>
                <a:gd name="T48" fmla="*/ 326842780 w 211"/>
                <a:gd name="T49" fmla="*/ 746050552 h 259"/>
                <a:gd name="T50" fmla="*/ 323414592 w 211"/>
                <a:gd name="T51" fmla="*/ 726977363 h 259"/>
                <a:gd name="T52" fmla="*/ 386708425 w 211"/>
                <a:gd name="T53" fmla="*/ 586500093 h 259"/>
                <a:gd name="T54" fmla="*/ 398474534 w 211"/>
                <a:gd name="T55" fmla="*/ 586500093 h 259"/>
                <a:gd name="T56" fmla="*/ 395514124 w 211"/>
                <a:gd name="T57" fmla="*/ 591408802 h 259"/>
                <a:gd name="T58" fmla="*/ 386708425 w 211"/>
                <a:gd name="T59" fmla="*/ 591408802 h 259"/>
                <a:gd name="T60" fmla="*/ 450236342 w 211"/>
                <a:gd name="T61" fmla="*/ 441651029 h 259"/>
                <a:gd name="T62" fmla="*/ 457568260 w 211"/>
                <a:gd name="T63" fmla="*/ 433984433 h 259"/>
                <a:gd name="T64" fmla="*/ 464668993 w 211"/>
                <a:gd name="T65" fmla="*/ 451797909 h 259"/>
                <a:gd name="T66" fmla="*/ 454756290 w 211"/>
                <a:gd name="T67" fmla="*/ 456856880 h 259"/>
                <a:gd name="T68" fmla="*/ 450236342 w 211"/>
                <a:gd name="T69" fmla="*/ 441651029 h 259"/>
                <a:gd name="T70" fmla="*/ 522038239 w 211"/>
                <a:gd name="T71" fmla="*/ 287672479 h 259"/>
                <a:gd name="T72" fmla="*/ 525204715 w 211"/>
                <a:gd name="T73" fmla="*/ 298827280 h 259"/>
                <a:gd name="T74" fmla="*/ 522038239 w 211"/>
                <a:gd name="T75" fmla="*/ 309263411 h 259"/>
                <a:gd name="T76" fmla="*/ 515985203 w 211"/>
                <a:gd name="T77" fmla="*/ 298827280 h 259"/>
                <a:gd name="T78" fmla="*/ 578318724 w 211"/>
                <a:gd name="T79" fmla="*/ 154238672 h 259"/>
                <a:gd name="T80" fmla="*/ 588231410 w 211"/>
                <a:gd name="T81" fmla="*/ 147512458 h 259"/>
                <a:gd name="T82" fmla="*/ 588231410 w 211"/>
                <a:gd name="T83" fmla="*/ 159212544 h 259"/>
                <a:gd name="T84" fmla="*/ 578318724 w 211"/>
                <a:gd name="T85" fmla="*/ 169733758 h 259"/>
                <a:gd name="T86" fmla="*/ 578318724 w 211"/>
                <a:gd name="T87" fmla="*/ 154238672 h 259"/>
                <a:gd name="T88" fmla="*/ 647324688 w 211"/>
                <a:gd name="T89" fmla="*/ 0 h 259"/>
                <a:gd name="T90" fmla="*/ 656181278 w 211"/>
                <a:gd name="T91" fmla="*/ 16737596 h 259"/>
                <a:gd name="T92" fmla="*/ 647324688 w 211"/>
                <a:gd name="T93" fmla="*/ 21878801 h 259"/>
                <a:gd name="T94" fmla="*/ 644231341 w 211"/>
                <a:gd name="T95" fmla="*/ 4977639 h 259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11"/>
                <a:gd name="T145" fmla="*/ 0 h 259"/>
                <a:gd name="T146" fmla="*/ 211 w 211"/>
                <a:gd name="T147" fmla="*/ 259 h 259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11" h="259">
                  <a:moveTo>
                    <a:pt x="0" y="256"/>
                  </a:moveTo>
                  <a:lnTo>
                    <a:pt x="0" y="256"/>
                  </a:lnTo>
                  <a:lnTo>
                    <a:pt x="2" y="256"/>
                  </a:lnTo>
                  <a:lnTo>
                    <a:pt x="3" y="256"/>
                  </a:lnTo>
                  <a:lnTo>
                    <a:pt x="3" y="258"/>
                  </a:lnTo>
                  <a:lnTo>
                    <a:pt x="3" y="259"/>
                  </a:lnTo>
                  <a:lnTo>
                    <a:pt x="2" y="259"/>
                  </a:lnTo>
                  <a:lnTo>
                    <a:pt x="0" y="259"/>
                  </a:lnTo>
                  <a:lnTo>
                    <a:pt x="0" y="258"/>
                  </a:lnTo>
                  <a:lnTo>
                    <a:pt x="0" y="256"/>
                  </a:lnTo>
                  <a:close/>
                  <a:moveTo>
                    <a:pt x="20" y="231"/>
                  </a:moveTo>
                  <a:lnTo>
                    <a:pt x="20" y="231"/>
                  </a:lnTo>
                  <a:lnTo>
                    <a:pt x="22" y="231"/>
                  </a:lnTo>
                  <a:lnTo>
                    <a:pt x="23" y="231"/>
                  </a:lnTo>
                  <a:lnTo>
                    <a:pt x="24" y="232"/>
                  </a:lnTo>
                  <a:lnTo>
                    <a:pt x="24" y="233"/>
                  </a:lnTo>
                  <a:lnTo>
                    <a:pt x="23" y="235"/>
                  </a:lnTo>
                  <a:lnTo>
                    <a:pt x="22" y="235"/>
                  </a:lnTo>
                  <a:lnTo>
                    <a:pt x="22" y="233"/>
                  </a:lnTo>
                  <a:lnTo>
                    <a:pt x="20" y="232"/>
                  </a:lnTo>
                  <a:lnTo>
                    <a:pt x="20" y="231"/>
                  </a:lnTo>
                  <a:close/>
                  <a:moveTo>
                    <a:pt x="42" y="206"/>
                  </a:moveTo>
                  <a:lnTo>
                    <a:pt x="42" y="206"/>
                  </a:lnTo>
                  <a:lnTo>
                    <a:pt x="43" y="205"/>
                  </a:lnTo>
                  <a:lnTo>
                    <a:pt x="45" y="205"/>
                  </a:lnTo>
                  <a:lnTo>
                    <a:pt x="45" y="206"/>
                  </a:lnTo>
                  <a:lnTo>
                    <a:pt x="45" y="208"/>
                  </a:lnTo>
                  <a:lnTo>
                    <a:pt x="43" y="209"/>
                  </a:lnTo>
                  <a:lnTo>
                    <a:pt x="42" y="208"/>
                  </a:lnTo>
                  <a:lnTo>
                    <a:pt x="41" y="208"/>
                  </a:lnTo>
                  <a:lnTo>
                    <a:pt x="42" y="206"/>
                  </a:lnTo>
                  <a:close/>
                  <a:moveTo>
                    <a:pt x="62" y="181"/>
                  </a:moveTo>
                  <a:lnTo>
                    <a:pt x="62" y="181"/>
                  </a:lnTo>
                  <a:lnTo>
                    <a:pt x="64" y="179"/>
                  </a:lnTo>
                  <a:lnTo>
                    <a:pt x="65" y="179"/>
                  </a:lnTo>
                  <a:lnTo>
                    <a:pt x="65" y="181"/>
                  </a:lnTo>
                  <a:lnTo>
                    <a:pt x="65" y="182"/>
                  </a:lnTo>
                  <a:lnTo>
                    <a:pt x="64" y="184"/>
                  </a:lnTo>
                  <a:lnTo>
                    <a:pt x="62" y="182"/>
                  </a:lnTo>
                  <a:lnTo>
                    <a:pt x="62" y="181"/>
                  </a:lnTo>
                  <a:close/>
                  <a:moveTo>
                    <a:pt x="83" y="155"/>
                  </a:moveTo>
                  <a:lnTo>
                    <a:pt x="83" y="155"/>
                  </a:lnTo>
                  <a:lnTo>
                    <a:pt x="84" y="154"/>
                  </a:lnTo>
                  <a:lnTo>
                    <a:pt x="85" y="154"/>
                  </a:lnTo>
                  <a:lnTo>
                    <a:pt x="87" y="155"/>
                  </a:lnTo>
                  <a:lnTo>
                    <a:pt x="87" y="157"/>
                  </a:lnTo>
                  <a:lnTo>
                    <a:pt x="85" y="158"/>
                  </a:lnTo>
                  <a:lnTo>
                    <a:pt x="84" y="158"/>
                  </a:lnTo>
                  <a:lnTo>
                    <a:pt x="84" y="157"/>
                  </a:lnTo>
                  <a:lnTo>
                    <a:pt x="83" y="157"/>
                  </a:lnTo>
                  <a:lnTo>
                    <a:pt x="83" y="155"/>
                  </a:lnTo>
                  <a:close/>
                  <a:moveTo>
                    <a:pt x="104" y="129"/>
                  </a:moveTo>
                  <a:lnTo>
                    <a:pt x="104" y="129"/>
                  </a:lnTo>
                  <a:lnTo>
                    <a:pt x="105" y="128"/>
                  </a:lnTo>
                  <a:lnTo>
                    <a:pt x="107" y="128"/>
                  </a:lnTo>
                  <a:lnTo>
                    <a:pt x="107" y="129"/>
                  </a:lnTo>
                  <a:lnTo>
                    <a:pt x="107" y="131"/>
                  </a:lnTo>
                  <a:lnTo>
                    <a:pt x="105" y="132"/>
                  </a:lnTo>
                  <a:lnTo>
                    <a:pt x="104" y="132"/>
                  </a:lnTo>
                  <a:lnTo>
                    <a:pt x="103" y="131"/>
                  </a:lnTo>
                  <a:lnTo>
                    <a:pt x="104" y="129"/>
                  </a:lnTo>
                  <a:close/>
                  <a:moveTo>
                    <a:pt x="124" y="104"/>
                  </a:moveTo>
                  <a:lnTo>
                    <a:pt x="124" y="104"/>
                  </a:lnTo>
                  <a:lnTo>
                    <a:pt x="126" y="102"/>
                  </a:lnTo>
                  <a:lnTo>
                    <a:pt x="127" y="102"/>
                  </a:lnTo>
                  <a:lnTo>
                    <a:pt x="128" y="104"/>
                  </a:lnTo>
                  <a:lnTo>
                    <a:pt x="128" y="105"/>
                  </a:lnTo>
                  <a:lnTo>
                    <a:pt x="127" y="105"/>
                  </a:lnTo>
                  <a:lnTo>
                    <a:pt x="126" y="107"/>
                  </a:lnTo>
                  <a:lnTo>
                    <a:pt x="124" y="107"/>
                  </a:lnTo>
                  <a:lnTo>
                    <a:pt x="124" y="105"/>
                  </a:lnTo>
                  <a:lnTo>
                    <a:pt x="124" y="104"/>
                  </a:lnTo>
                  <a:close/>
                  <a:moveTo>
                    <a:pt x="145" y="78"/>
                  </a:moveTo>
                  <a:lnTo>
                    <a:pt x="145" y="78"/>
                  </a:lnTo>
                  <a:lnTo>
                    <a:pt x="146" y="77"/>
                  </a:lnTo>
                  <a:lnTo>
                    <a:pt x="147" y="77"/>
                  </a:lnTo>
                  <a:lnTo>
                    <a:pt x="149" y="78"/>
                  </a:lnTo>
                  <a:lnTo>
                    <a:pt x="149" y="80"/>
                  </a:lnTo>
                  <a:lnTo>
                    <a:pt x="147" y="81"/>
                  </a:lnTo>
                  <a:lnTo>
                    <a:pt x="146" y="81"/>
                  </a:lnTo>
                  <a:lnTo>
                    <a:pt x="145" y="80"/>
                  </a:lnTo>
                  <a:lnTo>
                    <a:pt x="145" y="78"/>
                  </a:lnTo>
                  <a:close/>
                  <a:moveTo>
                    <a:pt x="166" y="53"/>
                  </a:moveTo>
                  <a:lnTo>
                    <a:pt x="166" y="53"/>
                  </a:lnTo>
                  <a:lnTo>
                    <a:pt x="168" y="51"/>
                  </a:lnTo>
                  <a:lnTo>
                    <a:pt x="169" y="51"/>
                  </a:lnTo>
                  <a:lnTo>
                    <a:pt x="169" y="53"/>
                  </a:lnTo>
                  <a:lnTo>
                    <a:pt x="169" y="54"/>
                  </a:lnTo>
                  <a:lnTo>
                    <a:pt x="168" y="55"/>
                  </a:lnTo>
                  <a:lnTo>
                    <a:pt x="166" y="55"/>
                  </a:lnTo>
                  <a:lnTo>
                    <a:pt x="166" y="54"/>
                  </a:lnTo>
                  <a:lnTo>
                    <a:pt x="166" y="53"/>
                  </a:lnTo>
                  <a:close/>
                  <a:moveTo>
                    <a:pt x="186" y="27"/>
                  </a:moveTo>
                  <a:lnTo>
                    <a:pt x="186" y="27"/>
                  </a:lnTo>
                  <a:lnTo>
                    <a:pt x="188" y="26"/>
                  </a:lnTo>
                  <a:lnTo>
                    <a:pt x="189" y="26"/>
                  </a:lnTo>
                  <a:lnTo>
                    <a:pt x="191" y="27"/>
                  </a:lnTo>
                  <a:lnTo>
                    <a:pt x="191" y="28"/>
                  </a:lnTo>
                  <a:lnTo>
                    <a:pt x="189" y="28"/>
                  </a:lnTo>
                  <a:lnTo>
                    <a:pt x="188" y="30"/>
                  </a:lnTo>
                  <a:lnTo>
                    <a:pt x="186" y="30"/>
                  </a:lnTo>
                  <a:lnTo>
                    <a:pt x="186" y="28"/>
                  </a:lnTo>
                  <a:lnTo>
                    <a:pt x="186" y="27"/>
                  </a:lnTo>
                  <a:close/>
                  <a:moveTo>
                    <a:pt x="207" y="1"/>
                  </a:moveTo>
                  <a:lnTo>
                    <a:pt x="207" y="1"/>
                  </a:lnTo>
                  <a:lnTo>
                    <a:pt x="208" y="0"/>
                  </a:lnTo>
                  <a:lnTo>
                    <a:pt x="209" y="0"/>
                  </a:lnTo>
                  <a:lnTo>
                    <a:pt x="211" y="1"/>
                  </a:lnTo>
                  <a:lnTo>
                    <a:pt x="211" y="3"/>
                  </a:lnTo>
                  <a:lnTo>
                    <a:pt x="209" y="4"/>
                  </a:lnTo>
                  <a:lnTo>
                    <a:pt x="208" y="4"/>
                  </a:lnTo>
                  <a:lnTo>
                    <a:pt x="207" y="3"/>
                  </a:lnTo>
                  <a:lnTo>
                    <a:pt x="207" y="1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9" name="TextBox 76">
              <a:extLst>
                <a:ext uri="{FF2B5EF4-FFF2-40B4-BE49-F238E27FC236}">
                  <a16:creationId xmlns:a16="http://schemas.microsoft.com/office/drawing/2014/main" id="{4A714A3C-583B-9481-26AC-E9919E53C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454" y="6024022"/>
              <a:ext cx="714375" cy="307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i="0" dirty="0">
                  <a:solidFill>
                    <a:srgbClr val="FF0000"/>
                  </a:solidFill>
                </a:rPr>
                <a:t>5,A</a:t>
              </a:r>
              <a:endParaRPr lang="zh-CN" altLang="en-US" sz="1400" i="0" dirty="0">
                <a:solidFill>
                  <a:srgbClr val="FF0000"/>
                </a:solidFill>
              </a:endParaRPr>
            </a:p>
          </p:txBody>
        </p:sp>
        <p:sp>
          <p:nvSpPr>
            <p:cNvPr id="15420" name="TextBox 77">
              <a:extLst>
                <a:ext uri="{FF2B5EF4-FFF2-40B4-BE49-F238E27FC236}">
                  <a16:creationId xmlns:a16="http://schemas.microsoft.com/office/drawing/2014/main" id="{E5CDD7F0-BC24-1266-4135-DE4D67B6F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704" y="6024022"/>
              <a:ext cx="714375" cy="307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i="0" dirty="0">
                  <a:solidFill>
                    <a:srgbClr val="FF0000"/>
                  </a:solidFill>
                </a:rPr>
                <a:t>12,C</a:t>
              </a:r>
              <a:endParaRPr lang="zh-CN" altLang="en-US" sz="1400" i="0" dirty="0">
                <a:solidFill>
                  <a:srgbClr val="FF0000"/>
                </a:solidFill>
              </a:endParaRPr>
            </a:p>
          </p:txBody>
        </p:sp>
        <p:sp>
          <p:nvSpPr>
            <p:cNvPr id="15421" name="TextBox 78">
              <a:extLst>
                <a:ext uri="{FF2B5EF4-FFF2-40B4-BE49-F238E27FC236}">
                  <a16:creationId xmlns:a16="http://schemas.microsoft.com/office/drawing/2014/main" id="{48B6CD8F-F83D-FFED-709F-3D468F7621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767" y="4688939"/>
              <a:ext cx="714375" cy="307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i="0" dirty="0">
                  <a:solidFill>
                    <a:srgbClr val="FF0000"/>
                  </a:solidFill>
                </a:rPr>
                <a:t>22,F</a:t>
              </a:r>
              <a:endParaRPr lang="zh-CN" altLang="en-US" sz="1400" i="0" dirty="0">
                <a:solidFill>
                  <a:srgbClr val="FF0000"/>
                </a:solidFill>
              </a:endParaRPr>
            </a:p>
          </p:txBody>
        </p:sp>
        <p:sp>
          <p:nvSpPr>
            <p:cNvPr id="15422" name="TextBox 79">
              <a:extLst>
                <a:ext uri="{FF2B5EF4-FFF2-40B4-BE49-F238E27FC236}">
                  <a16:creationId xmlns:a16="http://schemas.microsoft.com/office/drawing/2014/main" id="{365A5090-4BD6-BE16-FE78-C285BD557E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9642" y="4117526"/>
              <a:ext cx="71437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i="0" dirty="0">
                  <a:solidFill>
                    <a:srgbClr val="FF0000"/>
                  </a:solidFill>
                </a:rPr>
                <a:t>20,C</a:t>
              </a:r>
              <a:endParaRPr lang="zh-CN" altLang="en-US" sz="1400" i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15430" name="未知">
            <a:extLst>
              <a:ext uri="{FF2B5EF4-FFF2-40B4-BE49-F238E27FC236}">
                <a16:creationId xmlns:a16="http://schemas.microsoft.com/office/drawing/2014/main" id="{C92D37FB-8FD8-0DA8-32C3-44CA6E4631B8}"/>
              </a:ext>
            </a:extLst>
          </p:cNvPr>
          <p:cNvSpPr>
            <a:spLocks/>
          </p:cNvSpPr>
          <p:nvPr/>
        </p:nvSpPr>
        <p:spPr bwMode="auto">
          <a:xfrm>
            <a:off x="1266996" y="4207585"/>
            <a:ext cx="280668" cy="301535"/>
          </a:xfrm>
          <a:custGeom>
            <a:avLst/>
            <a:gdLst>
              <a:gd name="T0" fmla="*/ 3132436 w 216"/>
              <a:gd name="T1" fmla="*/ 605799974 h 226"/>
              <a:gd name="T2" fmla="*/ 16248397 w 216"/>
              <a:gd name="T3" fmla="*/ 470234226 h 226"/>
              <a:gd name="T4" fmla="*/ 44718601 w 216"/>
              <a:gd name="T5" fmla="*/ 351636369 h 226"/>
              <a:gd name="T6" fmla="*/ 81008170 w 216"/>
              <a:gd name="T7" fmla="*/ 243453492 h 226"/>
              <a:gd name="T8" fmla="*/ 133056879 w 216"/>
              <a:gd name="T9" fmla="*/ 149345652 h 226"/>
              <a:gd name="T10" fmla="*/ 193570726 w 216"/>
              <a:gd name="T11" fmla="*/ 76838499 h 226"/>
              <a:gd name="T12" fmla="*/ 253391593 w 216"/>
              <a:gd name="T13" fmla="*/ 30747017 h 226"/>
              <a:gd name="T14" fmla="*/ 328077895 w 216"/>
              <a:gd name="T15" fmla="*/ 5246112 h 226"/>
              <a:gd name="T16" fmla="*/ 404053641 w 216"/>
              <a:gd name="T17" fmla="*/ 5246112 h 226"/>
              <a:gd name="T18" fmla="*/ 473614015 w 216"/>
              <a:gd name="T19" fmla="*/ 30747017 h 226"/>
              <a:gd name="T20" fmla="*/ 538647947 w 216"/>
              <a:gd name="T21" fmla="*/ 76838499 h 226"/>
              <a:gd name="T22" fmla="*/ 599974025 w 216"/>
              <a:gd name="T23" fmla="*/ 149345652 h 226"/>
              <a:gd name="T24" fmla="*/ 651021663 w 216"/>
              <a:gd name="T25" fmla="*/ 243453492 h 226"/>
              <a:gd name="T26" fmla="*/ 684280176 w 216"/>
              <a:gd name="T27" fmla="*/ 351636369 h 226"/>
              <a:gd name="T28" fmla="*/ 719059846 w 216"/>
              <a:gd name="T29" fmla="*/ 470234226 h 226"/>
              <a:gd name="T30" fmla="*/ 732218540 w 216"/>
              <a:gd name="T31" fmla="*/ 605799974 h 226"/>
              <a:gd name="T32" fmla="*/ 732218540 w 216"/>
              <a:gd name="T33" fmla="*/ 673247391 h 226"/>
              <a:gd name="T34" fmla="*/ 728896509 w 216"/>
              <a:gd name="T35" fmla="*/ 809121661 h 226"/>
              <a:gd name="T36" fmla="*/ 706123720 w 216"/>
              <a:gd name="T37" fmla="*/ 939556915 h 226"/>
              <a:gd name="T38" fmla="*/ 668021454 w 216"/>
              <a:gd name="T39" fmla="*/ 1047187779 h 226"/>
              <a:gd name="T40" fmla="*/ 628521798 w 216"/>
              <a:gd name="T41" fmla="*/ 1154717196 h 226"/>
              <a:gd name="T42" fmla="*/ 573427077 w 216"/>
              <a:gd name="T43" fmla="*/ 1235532183 h 226"/>
              <a:gd name="T44" fmla="*/ 508488705 w 216"/>
              <a:gd name="T45" fmla="*/ 1296425926 h 226"/>
              <a:gd name="T46" fmla="*/ 437297754 w 216"/>
              <a:gd name="T47" fmla="*/ 1332984545 h 226"/>
              <a:gd name="T48" fmla="*/ 366134183 w 216"/>
              <a:gd name="T49" fmla="*/ 1343980891 h 226"/>
              <a:gd name="T50" fmla="*/ 291664425 w 216"/>
              <a:gd name="T51" fmla="*/ 1332984545 h 226"/>
              <a:gd name="T52" fmla="*/ 223644091 w 216"/>
              <a:gd name="T53" fmla="*/ 1296425926 h 226"/>
              <a:gd name="T54" fmla="*/ 158792020 w 216"/>
              <a:gd name="T55" fmla="*/ 1235532183 h 226"/>
              <a:gd name="T56" fmla="*/ 107753531 w 216"/>
              <a:gd name="T57" fmla="*/ 1154717196 h 226"/>
              <a:gd name="T58" fmla="*/ 65023271 w 216"/>
              <a:gd name="T59" fmla="*/ 1047187779 h 226"/>
              <a:gd name="T60" fmla="*/ 26840323 w 216"/>
              <a:gd name="T61" fmla="*/ 939556915 h 226"/>
              <a:gd name="T62" fmla="*/ 9836524 w 216"/>
              <a:gd name="T63" fmla="*/ 809121661 h 226"/>
              <a:gd name="T64" fmla="*/ 0 w 216"/>
              <a:gd name="T65" fmla="*/ 673247391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3" y="90"/>
                </a:lnTo>
                <a:lnTo>
                  <a:pt x="5" y="79"/>
                </a:lnTo>
                <a:lnTo>
                  <a:pt x="8" y="68"/>
                </a:lnTo>
                <a:lnTo>
                  <a:pt x="13" y="59"/>
                </a:lnTo>
                <a:lnTo>
                  <a:pt x="19" y="50"/>
                </a:lnTo>
                <a:lnTo>
                  <a:pt x="24" y="41"/>
                </a:lnTo>
                <a:lnTo>
                  <a:pt x="32" y="33"/>
                </a:lnTo>
                <a:lnTo>
                  <a:pt x="39" y="25"/>
                </a:lnTo>
                <a:lnTo>
                  <a:pt x="47" y="18"/>
                </a:lnTo>
                <a:lnTo>
                  <a:pt x="57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2"/>
                </a:lnTo>
                <a:lnTo>
                  <a:pt x="140" y="5"/>
                </a:lnTo>
                <a:lnTo>
                  <a:pt x="150" y="9"/>
                </a:lnTo>
                <a:lnTo>
                  <a:pt x="159" y="13"/>
                </a:lnTo>
                <a:lnTo>
                  <a:pt x="169" y="18"/>
                </a:lnTo>
                <a:lnTo>
                  <a:pt x="177" y="25"/>
                </a:lnTo>
                <a:lnTo>
                  <a:pt x="185" y="33"/>
                </a:lnTo>
                <a:lnTo>
                  <a:pt x="192" y="41"/>
                </a:lnTo>
                <a:lnTo>
                  <a:pt x="197" y="50"/>
                </a:lnTo>
                <a:lnTo>
                  <a:pt x="202" y="59"/>
                </a:lnTo>
                <a:lnTo>
                  <a:pt x="208" y="68"/>
                </a:lnTo>
                <a:lnTo>
                  <a:pt x="212" y="79"/>
                </a:lnTo>
                <a:lnTo>
                  <a:pt x="215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2" y="167"/>
                </a:lnTo>
                <a:lnTo>
                  <a:pt x="197" y="176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59" y="213"/>
                </a:lnTo>
                <a:lnTo>
                  <a:pt x="150" y="218"/>
                </a:lnTo>
                <a:lnTo>
                  <a:pt x="140" y="221"/>
                </a:lnTo>
                <a:lnTo>
                  <a:pt x="129" y="224"/>
                </a:lnTo>
                <a:lnTo>
                  <a:pt x="119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4"/>
                </a:lnTo>
                <a:lnTo>
                  <a:pt x="75" y="221"/>
                </a:lnTo>
                <a:lnTo>
                  <a:pt x="66" y="218"/>
                </a:lnTo>
                <a:lnTo>
                  <a:pt x="57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9" y="176"/>
                </a:lnTo>
                <a:lnTo>
                  <a:pt x="13" y="167"/>
                </a:lnTo>
                <a:lnTo>
                  <a:pt x="8" y="158"/>
                </a:lnTo>
                <a:lnTo>
                  <a:pt x="5" y="147"/>
                </a:lnTo>
                <a:lnTo>
                  <a:pt x="3" y="136"/>
                </a:lnTo>
                <a:lnTo>
                  <a:pt x="1" y="125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31" name="Rectangle 188">
            <a:extLst>
              <a:ext uri="{FF2B5EF4-FFF2-40B4-BE49-F238E27FC236}">
                <a16:creationId xmlns:a16="http://schemas.microsoft.com/office/drawing/2014/main" id="{1ADFC68E-E680-994D-664F-29D3CB7A2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595" y="4190891"/>
            <a:ext cx="13625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600" dirty="0">
                <a:ea typeface="楷体_GB2312" pitchFamily="1" charset="-122"/>
              </a:rPr>
              <a:t>E</a:t>
            </a:r>
            <a:endParaRPr lang="en-US" altLang="zh-CN" sz="1600" b="1" dirty="0"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432" name="未知">
            <a:extLst>
              <a:ext uri="{FF2B5EF4-FFF2-40B4-BE49-F238E27FC236}">
                <a16:creationId xmlns:a16="http://schemas.microsoft.com/office/drawing/2014/main" id="{C4CD7C19-68F5-5D86-8FB5-70F7BC65B906}"/>
              </a:ext>
            </a:extLst>
          </p:cNvPr>
          <p:cNvSpPr>
            <a:spLocks/>
          </p:cNvSpPr>
          <p:nvPr/>
        </p:nvSpPr>
        <p:spPr bwMode="auto">
          <a:xfrm>
            <a:off x="1260011" y="4202100"/>
            <a:ext cx="280668" cy="301535"/>
          </a:xfrm>
          <a:custGeom>
            <a:avLst/>
            <a:gdLst>
              <a:gd name="T0" fmla="*/ 3132436 w 216"/>
              <a:gd name="T1" fmla="*/ 605799974 h 226"/>
              <a:gd name="T2" fmla="*/ 16248397 w 216"/>
              <a:gd name="T3" fmla="*/ 470234226 h 226"/>
              <a:gd name="T4" fmla="*/ 44718601 w 216"/>
              <a:gd name="T5" fmla="*/ 351636369 h 226"/>
              <a:gd name="T6" fmla="*/ 81008170 w 216"/>
              <a:gd name="T7" fmla="*/ 243453492 h 226"/>
              <a:gd name="T8" fmla="*/ 133056879 w 216"/>
              <a:gd name="T9" fmla="*/ 149345652 h 226"/>
              <a:gd name="T10" fmla="*/ 193570726 w 216"/>
              <a:gd name="T11" fmla="*/ 76838499 h 226"/>
              <a:gd name="T12" fmla="*/ 253391593 w 216"/>
              <a:gd name="T13" fmla="*/ 30747017 h 226"/>
              <a:gd name="T14" fmla="*/ 328077895 w 216"/>
              <a:gd name="T15" fmla="*/ 5246112 h 226"/>
              <a:gd name="T16" fmla="*/ 404053641 w 216"/>
              <a:gd name="T17" fmla="*/ 5246112 h 226"/>
              <a:gd name="T18" fmla="*/ 473614015 w 216"/>
              <a:gd name="T19" fmla="*/ 30747017 h 226"/>
              <a:gd name="T20" fmla="*/ 538647947 w 216"/>
              <a:gd name="T21" fmla="*/ 76838499 h 226"/>
              <a:gd name="T22" fmla="*/ 599974025 w 216"/>
              <a:gd name="T23" fmla="*/ 149345652 h 226"/>
              <a:gd name="T24" fmla="*/ 651021663 w 216"/>
              <a:gd name="T25" fmla="*/ 243453492 h 226"/>
              <a:gd name="T26" fmla="*/ 684280176 w 216"/>
              <a:gd name="T27" fmla="*/ 351636369 h 226"/>
              <a:gd name="T28" fmla="*/ 719059846 w 216"/>
              <a:gd name="T29" fmla="*/ 470234226 h 226"/>
              <a:gd name="T30" fmla="*/ 732218540 w 216"/>
              <a:gd name="T31" fmla="*/ 605799974 h 226"/>
              <a:gd name="T32" fmla="*/ 732218540 w 216"/>
              <a:gd name="T33" fmla="*/ 673247391 h 226"/>
              <a:gd name="T34" fmla="*/ 728896509 w 216"/>
              <a:gd name="T35" fmla="*/ 809121661 h 226"/>
              <a:gd name="T36" fmla="*/ 706123720 w 216"/>
              <a:gd name="T37" fmla="*/ 939556915 h 226"/>
              <a:gd name="T38" fmla="*/ 668021454 w 216"/>
              <a:gd name="T39" fmla="*/ 1047187779 h 226"/>
              <a:gd name="T40" fmla="*/ 628521798 w 216"/>
              <a:gd name="T41" fmla="*/ 1154717196 h 226"/>
              <a:gd name="T42" fmla="*/ 573427077 w 216"/>
              <a:gd name="T43" fmla="*/ 1235532183 h 226"/>
              <a:gd name="T44" fmla="*/ 508488705 w 216"/>
              <a:gd name="T45" fmla="*/ 1296425926 h 226"/>
              <a:gd name="T46" fmla="*/ 437297754 w 216"/>
              <a:gd name="T47" fmla="*/ 1332984545 h 226"/>
              <a:gd name="T48" fmla="*/ 366134183 w 216"/>
              <a:gd name="T49" fmla="*/ 1343980891 h 226"/>
              <a:gd name="T50" fmla="*/ 291664425 w 216"/>
              <a:gd name="T51" fmla="*/ 1332984545 h 226"/>
              <a:gd name="T52" fmla="*/ 223644091 w 216"/>
              <a:gd name="T53" fmla="*/ 1296425926 h 226"/>
              <a:gd name="T54" fmla="*/ 158792020 w 216"/>
              <a:gd name="T55" fmla="*/ 1235532183 h 226"/>
              <a:gd name="T56" fmla="*/ 107753531 w 216"/>
              <a:gd name="T57" fmla="*/ 1154717196 h 226"/>
              <a:gd name="T58" fmla="*/ 65023271 w 216"/>
              <a:gd name="T59" fmla="*/ 1047187779 h 226"/>
              <a:gd name="T60" fmla="*/ 26840323 w 216"/>
              <a:gd name="T61" fmla="*/ 939556915 h 226"/>
              <a:gd name="T62" fmla="*/ 9836524 w 216"/>
              <a:gd name="T63" fmla="*/ 809121661 h 226"/>
              <a:gd name="T64" fmla="*/ 0 w 216"/>
              <a:gd name="T65" fmla="*/ 673247391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3" y="90"/>
                </a:lnTo>
                <a:lnTo>
                  <a:pt x="5" y="79"/>
                </a:lnTo>
                <a:lnTo>
                  <a:pt x="8" y="68"/>
                </a:lnTo>
                <a:lnTo>
                  <a:pt x="13" y="59"/>
                </a:lnTo>
                <a:lnTo>
                  <a:pt x="19" y="50"/>
                </a:lnTo>
                <a:lnTo>
                  <a:pt x="24" y="41"/>
                </a:lnTo>
                <a:lnTo>
                  <a:pt x="32" y="33"/>
                </a:lnTo>
                <a:lnTo>
                  <a:pt x="39" y="25"/>
                </a:lnTo>
                <a:lnTo>
                  <a:pt x="47" y="18"/>
                </a:lnTo>
                <a:lnTo>
                  <a:pt x="57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2"/>
                </a:lnTo>
                <a:lnTo>
                  <a:pt x="140" y="5"/>
                </a:lnTo>
                <a:lnTo>
                  <a:pt x="150" y="9"/>
                </a:lnTo>
                <a:lnTo>
                  <a:pt x="159" y="13"/>
                </a:lnTo>
                <a:lnTo>
                  <a:pt x="169" y="18"/>
                </a:lnTo>
                <a:lnTo>
                  <a:pt x="177" y="25"/>
                </a:lnTo>
                <a:lnTo>
                  <a:pt x="185" y="33"/>
                </a:lnTo>
                <a:lnTo>
                  <a:pt x="192" y="41"/>
                </a:lnTo>
                <a:lnTo>
                  <a:pt x="197" y="50"/>
                </a:lnTo>
                <a:lnTo>
                  <a:pt x="202" y="59"/>
                </a:lnTo>
                <a:lnTo>
                  <a:pt x="208" y="68"/>
                </a:lnTo>
                <a:lnTo>
                  <a:pt x="212" y="79"/>
                </a:lnTo>
                <a:lnTo>
                  <a:pt x="215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2" y="167"/>
                </a:lnTo>
                <a:lnTo>
                  <a:pt x="197" y="176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59" y="213"/>
                </a:lnTo>
                <a:lnTo>
                  <a:pt x="150" y="218"/>
                </a:lnTo>
                <a:lnTo>
                  <a:pt x="140" y="221"/>
                </a:lnTo>
                <a:lnTo>
                  <a:pt x="129" y="224"/>
                </a:lnTo>
                <a:lnTo>
                  <a:pt x="119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4"/>
                </a:lnTo>
                <a:lnTo>
                  <a:pt x="75" y="221"/>
                </a:lnTo>
                <a:lnTo>
                  <a:pt x="66" y="218"/>
                </a:lnTo>
                <a:lnTo>
                  <a:pt x="57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9" y="176"/>
                </a:lnTo>
                <a:lnTo>
                  <a:pt x="13" y="167"/>
                </a:lnTo>
                <a:lnTo>
                  <a:pt x="8" y="158"/>
                </a:lnTo>
                <a:lnTo>
                  <a:pt x="5" y="147"/>
                </a:lnTo>
                <a:lnTo>
                  <a:pt x="3" y="136"/>
                </a:lnTo>
                <a:lnTo>
                  <a:pt x="1" y="125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33" name="未知">
            <a:extLst>
              <a:ext uri="{FF2B5EF4-FFF2-40B4-BE49-F238E27FC236}">
                <a16:creationId xmlns:a16="http://schemas.microsoft.com/office/drawing/2014/main" id="{706828EA-DC17-00B7-EB8C-389DF2F96E01}"/>
              </a:ext>
            </a:extLst>
          </p:cNvPr>
          <p:cNvSpPr>
            <a:spLocks noEditPoints="1"/>
          </p:cNvSpPr>
          <p:nvPr/>
        </p:nvSpPr>
        <p:spPr bwMode="auto">
          <a:xfrm>
            <a:off x="1625941" y="4388172"/>
            <a:ext cx="947414" cy="3174"/>
          </a:xfrm>
          <a:custGeom>
            <a:avLst/>
            <a:gdLst>
              <a:gd name="T0" fmla="*/ 2147483646 w 729"/>
              <a:gd name="T1" fmla="*/ 0 h 4"/>
              <a:gd name="T2" fmla="*/ 2147483646 w 729"/>
              <a:gd name="T3" fmla="*/ 2147483646 h 4"/>
              <a:gd name="T4" fmla="*/ 2147483646 w 729"/>
              <a:gd name="T5" fmla="*/ 2147483646 h 4"/>
              <a:gd name="T6" fmla="*/ 2147483646 w 729"/>
              <a:gd name="T7" fmla="*/ 0 h 4"/>
              <a:gd name="T8" fmla="*/ 2147483646 w 729"/>
              <a:gd name="T9" fmla="*/ 2147483646 h 4"/>
              <a:gd name="T10" fmla="*/ 2147483646 w 729"/>
              <a:gd name="T11" fmla="*/ 0 h 4"/>
              <a:gd name="T12" fmla="*/ 2147483646 w 729"/>
              <a:gd name="T13" fmla="*/ 2147483646 h 4"/>
              <a:gd name="T14" fmla="*/ 2147483646 w 729"/>
              <a:gd name="T15" fmla="*/ 2147483646 h 4"/>
              <a:gd name="T16" fmla="*/ 2147483646 w 729"/>
              <a:gd name="T17" fmla="*/ 2147483646 h 4"/>
              <a:gd name="T18" fmla="*/ 2147483646 w 729"/>
              <a:gd name="T19" fmla="*/ 2147483646 h 4"/>
              <a:gd name="T20" fmla="*/ 2147483646 w 729"/>
              <a:gd name="T21" fmla="*/ 0 h 4"/>
              <a:gd name="T22" fmla="*/ 2147483646 w 729"/>
              <a:gd name="T23" fmla="*/ 2147483646 h 4"/>
              <a:gd name="T24" fmla="*/ 2147483646 w 729"/>
              <a:gd name="T25" fmla="*/ 0 h 4"/>
              <a:gd name="T26" fmla="*/ 2147483646 w 729"/>
              <a:gd name="T27" fmla="*/ 2147483646 h 4"/>
              <a:gd name="T28" fmla="*/ 2147483646 w 729"/>
              <a:gd name="T29" fmla="*/ 2147483646 h 4"/>
              <a:gd name="T30" fmla="*/ 2147483646 w 729"/>
              <a:gd name="T31" fmla="*/ 0 h 4"/>
              <a:gd name="T32" fmla="*/ 2147483646 w 729"/>
              <a:gd name="T33" fmla="*/ 2147483646 h 4"/>
              <a:gd name="T34" fmla="*/ 2147483646 w 729"/>
              <a:gd name="T35" fmla="*/ 0 h 4"/>
              <a:gd name="T36" fmla="*/ 2147483646 w 729"/>
              <a:gd name="T37" fmla="*/ 2147483646 h 4"/>
              <a:gd name="T38" fmla="*/ 2147483646 w 729"/>
              <a:gd name="T39" fmla="*/ 2147483646 h 4"/>
              <a:gd name="T40" fmla="*/ 2147483646 w 729"/>
              <a:gd name="T41" fmla="*/ 2147483646 h 4"/>
              <a:gd name="T42" fmla="*/ 2147483646 w 729"/>
              <a:gd name="T43" fmla="*/ 2147483646 h 4"/>
              <a:gd name="T44" fmla="*/ 2147483646 w 729"/>
              <a:gd name="T45" fmla="*/ 0 h 4"/>
              <a:gd name="T46" fmla="*/ 2147483646 w 729"/>
              <a:gd name="T47" fmla="*/ 2147483646 h 4"/>
              <a:gd name="T48" fmla="*/ 2147483646 w 729"/>
              <a:gd name="T49" fmla="*/ 0 h 4"/>
              <a:gd name="T50" fmla="*/ 2147483646 w 729"/>
              <a:gd name="T51" fmla="*/ 2147483646 h 4"/>
              <a:gd name="T52" fmla="*/ 2147483646 w 729"/>
              <a:gd name="T53" fmla="*/ 2147483646 h 4"/>
              <a:gd name="T54" fmla="*/ 2147483646 w 729"/>
              <a:gd name="T55" fmla="*/ 0 h 4"/>
              <a:gd name="T56" fmla="*/ 2147483646 w 729"/>
              <a:gd name="T57" fmla="*/ 2147483646 h 4"/>
              <a:gd name="T58" fmla="*/ 2147483646 w 729"/>
              <a:gd name="T59" fmla="*/ 0 h 4"/>
              <a:gd name="T60" fmla="*/ 2147483646 w 729"/>
              <a:gd name="T61" fmla="*/ 2147483646 h 4"/>
              <a:gd name="T62" fmla="*/ 2147483646 w 729"/>
              <a:gd name="T63" fmla="*/ 2147483646 h 4"/>
              <a:gd name="T64" fmla="*/ 2147483646 w 729"/>
              <a:gd name="T65" fmla="*/ 2147483646 h 4"/>
              <a:gd name="T66" fmla="*/ 2147483646 w 729"/>
              <a:gd name="T67" fmla="*/ 2147483646 h 4"/>
              <a:gd name="T68" fmla="*/ 2147483646 w 729"/>
              <a:gd name="T69" fmla="*/ 0 h 4"/>
              <a:gd name="T70" fmla="*/ 2147483646 w 729"/>
              <a:gd name="T71" fmla="*/ 2147483646 h 4"/>
              <a:gd name="T72" fmla="*/ 2147483646 w 729"/>
              <a:gd name="T73" fmla="*/ 0 h 4"/>
              <a:gd name="T74" fmla="*/ 2147483646 w 729"/>
              <a:gd name="T75" fmla="*/ 2147483646 h 4"/>
              <a:gd name="T76" fmla="*/ 2147483646 w 729"/>
              <a:gd name="T77" fmla="*/ 2147483646 h 4"/>
              <a:gd name="T78" fmla="*/ 2147483646 w 729"/>
              <a:gd name="T79" fmla="*/ 0 h 4"/>
              <a:gd name="T80" fmla="*/ 2147483646 w 729"/>
              <a:gd name="T81" fmla="*/ 2147483646 h 4"/>
              <a:gd name="T82" fmla="*/ 2147483646 w 729"/>
              <a:gd name="T83" fmla="*/ 0 h 4"/>
              <a:gd name="T84" fmla="*/ 2147483646 w 729"/>
              <a:gd name="T85" fmla="*/ 2147483646 h 4"/>
              <a:gd name="T86" fmla="*/ 2147483646 w 729"/>
              <a:gd name="T87" fmla="*/ 2147483646 h 4"/>
              <a:gd name="T88" fmla="*/ 2147483646 w 729"/>
              <a:gd name="T89" fmla="*/ 2147483646 h 4"/>
              <a:gd name="T90" fmla="*/ 2147483646 w 729"/>
              <a:gd name="T91" fmla="*/ 2147483646 h 4"/>
              <a:gd name="T92" fmla="*/ 2147483646 w 729"/>
              <a:gd name="T93" fmla="*/ 0 h 4"/>
              <a:gd name="T94" fmla="*/ 2147483646 w 729"/>
              <a:gd name="T95" fmla="*/ 2147483646 h 4"/>
              <a:gd name="T96" fmla="*/ 2147483646 w 729"/>
              <a:gd name="T97" fmla="*/ 0 h 4"/>
              <a:gd name="T98" fmla="*/ 2147483646 w 729"/>
              <a:gd name="T99" fmla="*/ 2147483646 h 4"/>
              <a:gd name="T100" fmla="*/ 2147483646 w 729"/>
              <a:gd name="T101" fmla="*/ 2147483646 h 4"/>
              <a:gd name="T102" fmla="*/ 2147483646 w 729"/>
              <a:gd name="T103" fmla="*/ 0 h 4"/>
              <a:gd name="T104" fmla="*/ 2147483646 w 729"/>
              <a:gd name="T105" fmla="*/ 2147483646 h 4"/>
              <a:gd name="T106" fmla="*/ 2147483646 w 729"/>
              <a:gd name="T107" fmla="*/ 0 h 4"/>
              <a:gd name="T108" fmla="*/ 2147483646 w 729"/>
              <a:gd name="T109" fmla="*/ 2147483646 h 4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729"/>
              <a:gd name="T166" fmla="*/ 0 h 4"/>
              <a:gd name="T167" fmla="*/ 729 w 729"/>
              <a:gd name="T168" fmla="*/ 4 h 4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729" h="4">
                <a:moveTo>
                  <a:pt x="726" y="4"/>
                </a:moveTo>
                <a:lnTo>
                  <a:pt x="726" y="4"/>
                </a:lnTo>
                <a:lnTo>
                  <a:pt x="725" y="3"/>
                </a:lnTo>
                <a:lnTo>
                  <a:pt x="725" y="2"/>
                </a:lnTo>
                <a:lnTo>
                  <a:pt x="725" y="0"/>
                </a:lnTo>
                <a:lnTo>
                  <a:pt x="726" y="0"/>
                </a:lnTo>
                <a:lnTo>
                  <a:pt x="728" y="0"/>
                </a:lnTo>
                <a:lnTo>
                  <a:pt x="729" y="2"/>
                </a:lnTo>
                <a:lnTo>
                  <a:pt x="728" y="3"/>
                </a:lnTo>
                <a:lnTo>
                  <a:pt x="726" y="4"/>
                </a:lnTo>
                <a:close/>
                <a:moveTo>
                  <a:pt x="694" y="4"/>
                </a:moveTo>
                <a:lnTo>
                  <a:pt x="694" y="4"/>
                </a:lnTo>
                <a:lnTo>
                  <a:pt x="693" y="3"/>
                </a:lnTo>
                <a:lnTo>
                  <a:pt x="691" y="2"/>
                </a:lnTo>
                <a:lnTo>
                  <a:pt x="693" y="0"/>
                </a:lnTo>
                <a:lnTo>
                  <a:pt x="694" y="0"/>
                </a:lnTo>
                <a:lnTo>
                  <a:pt x="695" y="0"/>
                </a:lnTo>
                <a:lnTo>
                  <a:pt x="695" y="2"/>
                </a:lnTo>
                <a:lnTo>
                  <a:pt x="695" y="3"/>
                </a:lnTo>
                <a:lnTo>
                  <a:pt x="694" y="4"/>
                </a:lnTo>
                <a:close/>
                <a:moveTo>
                  <a:pt x="660" y="4"/>
                </a:moveTo>
                <a:lnTo>
                  <a:pt x="660" y="4"/>
                </a:lnTo>
                <a:lnTo>
                  <a:pt x="659" y="3"/>
                </a:lnTo>
                <a:lnTo>
                  <a:pt x="659" y="2"/>
                </a:lnTo>
                <a:lnTo>
                  <a:pt x="659" y="0"/>
                </a:lnTo>
                <a:lnTo>
                  <a:pt x="660" y="0"/>
                </a:lnTo>
                <a:lnTo>
                  <a:pt x="662" y="0"/>
                </a:lnTo>
                <a:lnTo>
                  <a:pt x="663" y="2"/>
                </a:lnTo>
                <a:lnTo>
                  <a:pt x="662" y="3"/>
                </a:lnTo>
                <a:lnTo>
                  <a:pt x="660" y="4"/>
                </a:lnTo>
                <a:close/>
                <a:moveTo>
                  <a:pt x="628" y="4"/>
                </a:moveTo>
                <a:lnTo>
                  <a:pt x="628" y="4"/>
                </a:lnTo>
                <a:lnTo>
                  <a:pt x="627" y="3"/>
                </a:lnTo>
                <a:lnTo>
                  <a:pt x="627" y="2"/>
                </a:lnTo>
                <a:lnTo>
                  <a:pt x="627" y="0"/>
                </a:lnTo>
                <a:lnTo>
                  <a:pt x="628" y="0"/>
                </a:lnTo>
                <a:lnTo>
                  <a:pt x="629" y="0"/>
                </a:lnTo>
                <a:lnTo>
                  <a:pt x="629" y="2"/>
                </a:lnTo>
                <a:lnTo>
                  <a:pt x="629" y="3"/>
                </a:lnTo>
                <a:lnTo>
                  <a:pt x="628" y="4"/>
                </a:lnTo>
                <a:close/>
                <a:moveTo>
                  <a:pt x="596" y="4"/>
                </a:moveTo>
                <a:lnTo>
                  <a:pt x="596" y="4"/>
                </a:lnTo>
                <a:lnTo>
                  <a:pt x="594" y="3"/>
                </a:lnTo>
                <a:lnTo>
                  <a:pt x="593" y="2"/>
                </a:lnTo>
                <a:lnTo>
                  <a:pt x="594" y="0"/>
                </a:lnTo>
                <a:lnTo>
                  <a:pt x="596" y="0"/>
                </a:lnTo>
                <a:lnTo>
                  <a:pt x="597" y="0"/>
                </a:lnTo>
                <a:lnTo>
                  <a:pt x="597" y="2"/>
                </a:lnTo>
                <a:lnTo>
                  <a:pt x="597" y="3"/>
                </a:lnTo>
                <a:lnTo>
                  <a:pt x="596" y="4"/>
                </a:lnTo>
                <a:close/>
                <a:moveTo>
                  <a:pt x="562" y="4"/>
                </a:moveTo>
                <a:lnTo>
                  <a:pt x="562" y="4"/>
                </a:lnTo>
                <a:lnTo>
                  <a:pt x="560" y="3"/>
                </a:lnTo>
                <a:lnTo>
                  <a:pt x="560" y="2"/>
                </a:lnTo>
                <a:lnTo>
                  <a:pt x="560" y="0"/>
                </a:lnTo>
                <a:lnTo>
                  <a:pt x="562" y="0"/>
                </a:lnTo>
                <a:lnTo>
                  <a:pt x="563" y="0"/>
                </a:lnTo>
                <a:lnTo>
                  <a:pt x="564" y="2"/>
                </a:lnTo>
                <a:lnTo>
                  <a:pt x="563" y="3"/>
                </a:lnTo>
                <a:lnTo>
                  <a:pt x="562" y="4"/>
                </a:lnTo>
                <a:close/>
                <a:moveTo>
                  <a:pt x="529" y="4"/>
                </a:moveTo>
                <a:lnTo>
                  <a:pt x="529" y="4"/>
                </a:lnTo>
                <a:lnTo>
                  <a:pt x="528" y="3"/>
                </a:lnTo>
                <a:lnTo>
                  <a:pt x="527" y="2"/>
                </a:lnTo>
                <a:lnTo>
                  <a:pt x="528" y="0"/>
                </a:lnTo>
                <a:lnTo>
                  <a:pt x="529" y="0"/>
                </a:lnTo>
                <a:lnTo>
                  <a:pt x="531" y="0"/>
                </a:lnTo>
                <a:lnTo>
                  <a:pt x="531" y="2"/>
                </a:lnTo>
                <a:lnTo>
                  <a:pt x="531" y="3"/>
                </a:lnTo>
                <a:lnTo>
                  <a:pt x="529" y="4"/>
                </a:lnTo>
                <a:close/>
                <a:moveTo>
                  <a:pt x="496" y="4"/>
                </a:moveTo>
                <a:lnTo>
                  <a:pt x="496" y="4"/>
                </a:lnTo>
                <a:lnTo>
                  <a:pt x="494" y="3"/>
                </a:lnTo>
                <a:lnTo>
                  <a:pt x="494" y="2"/>
                </a:lnTo>
                <a:lnTo>
                  <a:pt x="494" y="0"/>
                </a:lnTo>
                <a:lnTo>
                  <a:pt x="496" y="0"/>
                </a:lnTo>
                <a:lnTo>
                  <a:pt x="497" y="0"/>
                </a:lnTo>
                <a:lnTo>
                  <a:pt x="498" y="2"/>
                </a:lnTo>
                <a:lnTo>
                  <a:pt x="497" y="3"/>
                </a:lnTo>
                <a:lnTo>
                  <a:pt x="496" y="4"/>
                </a:lnTo>
                <a:close/>
                <a:moveTo>
                  <a:pt x="463" y="4"/>
                </a:moveTo>
                <a:lnTo>
                  <a:pt x="463" y="4"/>
                </a:lnTo>
                <a:lnTo>
                  <a:pt x="462" y="3"/>
                </a:lnTo>
                <a:lnTo>
                  <a:pt x="462" y="2"/>
                </a:lnTo>
                <a:lnTo>
                  <a:pt x="462" y="0"/>
                </a:lnTo>
                <a:lnTo>
                  <a:pt x="463" y="0"/>
                </a:lnTo>
                <a:lnTo>
                  <a:pt x="465" y="0"/>
                </a:lnTo>
                <a:lnTo>
                  <a:pt x="465" y="2"/>
                </a:lnTo>
                <a:lnTo>
                  <a:pt x="465" y="3"/>
                </a:lnTo>
                <a:lnTo>
                  <a:pt x="463" y="4"/>
                </a:lnTo>
                <a:close/>
                <a:moveTo>
                  <a:pt x="431" y="4"/>
                </a:moveTo>
                <a:lnTo>
                  <a:pt x="431" y="4"/>
                </a:lnTo>
                <a:lnTo>
                  <a:pt x="429" y="3"/>
                </a:lnTo>
                <a:lnTo>
                  <a:pt x="428" y="2"/>
                </a:lnTo>
                <a:lnTo>
                  <a:pt x="429" y="0"/>
                </a:lnTo>
                <a:lnTo>
                  <a:pt x="431" y="0"/>
                </a:lnTo>
                <a:lnTo>
                  <a:pt x="432" y="0"/>
                </a:lnTo>
                <a:lnTo>
                  <a:pt x="432" y="2"/>
                </a:lnTo>
                <a:lnTo>
                  <a:pt x="432" y="3"/>
                </a:lnTo>
                <a:lnTo>
                  <a:pt x="431" y="4"/>
                </a:lnTo>
                <a:close/>
                <a:moveTo>
                  <a:pt x="397" y="4"/>
                </a:moveTo>
                <a:lnTo>
                  <a:pt x="397" y="4"/>
                </a:lnTo>
                <a:lnTo>
                  <a:pt x="396" y="3"/>
                </a:lnTo>
                <a:lnTo>
                  <a:pt x="396" y="2"/>
                </a:lnTo>
                <a:lnTo>
                  <a:pt x="396" y="0"/>
                </a:lnTo>
                <a:lnTo>
                  <a:pt x="397" y="0"/>
                </a:lnTo>
                <a:lnTo>
                  <a:pt x="398" y="0"/>
                </a:lnTo>
                <a:lnTo>
                  <a:pt x="400" y="2"/>
                </a:lnTo>
                <a:lnTo>
                  <a:pt x="398" y="3"/>
                </a:lnTo>
                <a:lnTo>
                  <a:pt x="397" y="4"/>
                </a:lnTo>
                <a:close/>
                <a:moveTo>
                  <a:pt x="365" y="4"/>
                </a:moveTo>
                <a:lnTo>
                  <a:pt x="365" y="4"/>
                </a:lnTo>
                <a:lnTo>
                  <a:pt x="363" y="3"/>
                </a:lnTo>
                <a:lnTo>
                  <a:pt x="363" y="2"/>
                </a:lnTo>
                <a:lnTo>
                  <a:pt x="363" y="0"/>
                </a:lnTo>
                <a:lnTo>
                  <a:pt x="365" y="0"/>
                </a:lnTo>
                <a:lnTo>
                  <a:pt x="366" y="0"/>
                </a:lnTo>
                <a:lnTo>
                  <a:pt x="366" y="2"/>
                </a:lnTo>
                <a:lnTo>
                  <a:pt x="366" y="3"/>
                </a:lnTo>
                <a:lnTo>
                  <a:pt x="365" y="4"/>
                </a:lnTo>
                <a:close/>
                <a:moveTo>
                  <a:pt x="332" y="4"/>
                </a:moveTo>
                <a:lnTo>
                  <a:pt x="332" y="4"/>
                </a:lnTo>
                <a:lnTo>
                  <a:pt x="331" y="3"/>
                </a:lnTo>
                <a:lnTo>
                  <a:pt x="330" y="2"/>
                </a:lnTo>
                <a:lnTo>
                  <a:pt x="331" y="0"/>
                </a:lnTo>
                <a:lnTo>
                  <a:pt x="332" y="0"/>
                </a:lnTo>
                <a:lnTo>
                  <a:pt x="334" y="2"/>
                </a:lnTo>
                <a:lnTo>
                  <a:pt x="332" y="3"/>
                </a:lnTo>
                <a:lnTo>
                  <a:pt x="332" y="4"/>
                </a:lnTo>
                <a:close/>
                <a:moveTo>
                  <a:pt x="298" y="4"/>
                </a:moveTo>
                <a:lnTo>
                  <a:pt x="298" y="4"/>
                </a:lnTo>
                <a:lnTo>
                  <a:pt x="297" y="3"/>
                </a:lnTo>
                <a:lnTo>
                  <a:pt x="297" y="2"/>
                </a:lnTo>
                <a:lnTo>
                  <a:pt x="297" y="0"/>
                </a:lnTo>
                <a:lnTo>
                  <a:pt x="298" y="0"/>
                </a:lnTo>
                <a:lnTo>
                  <a:pt x="300" y="0"/>
                </a:lnTo>
                <a:lnTo>
                  <a:pt x="301" y="2"/>
                </a:lnTo>
                <a:lnTo>
                  <a:pt x="300" y="3"/>
                </a:lnTo>
                <a:lnTo>
                  <a:pt x="298" y="4"/>
                </a:lnTo>
                <a:close/>
                <a:moveTo>
                  <a:pt x="266" y="4"/>
                </a:moveTo>
                <a:lnTo>
                  <a:pt x="266" y="4"/>
                </a:lnTo>
                <a:lnTo>
                  <a:pt x="265" y="3"/>
                </a:lnTo>
                <a:lnTo>
                  <a:pt x="263" y="2"/>
                </a:lnTo>
                <a:lnTo>
                  <a:pt x="265" y="0"/>
                </a:lnTo>
                <a:lnTo>
                  <a:pt x="266" y="0"/>
                </a:lnTo>
                <a:lnTo>
                  <a:pt x="267" y="0"/>
                </a:lnTo>
                <a:lnTo>
                  <a:pt x="267" y="2"/>
                </a:lnTo>
                <a:lnTo>
                  <a:pt x="267" y="3"/>
                </a:lnTo>
                <a:lnTo>
                  <a:pt x="266" y="4"/>
                </a:lnTo>
                <a:close/>
                <a:moveTo>
                  <a:pt x="232" y="4"/>
                </a:moveTo>
                <a:lnTo>
                  <a:pt x="232" y="4"/>
                </a:lnTo>
                <a:lnTo>
                  <a:pt x="231" y="3"/>
                </a:lnTo>
                <a:lnTo>
                  <a:pt x="231" y="2"/>
                </a:lnTo>
                <a:lnTo>
                  <a:pt x="231" y="0"/>
                </a:lnTo>
                <a:lnTo>
                  <a:pt x="232" y="0"/>
                </a:lnTo>
                <a:lnTo>
                  <a:pt x="234" y="0"/>
                </a:lnTo>
                <a:lnTo>
                  <a:pt x="235" y="2"/>
                </a:lnTo>
                <a:lnTo>
                  <a:pt x="234" y="3"/>
                </a:lnTo>
                <a:lnTo>
                  <a:pt x="232" y="4"/>
                </a:lnTo>
                <a:close/>
                <a:moveTo>
                  <a:pt x="200" y="4"/>
                </a:moveTo>
                <a:lnTo>
                  <a:pt x="200" y="4"/>
                </a:lnTo>
                <a:lnTo>
                  <a:pt x="199" y="3"/>
                </a:lnTo>
                <a:lnTo>
                  <a:pt x="199" y="2"/>
                </a:lnTo>
                <a:lnTo>
                  <a:pt x="199" y="0"/>
                </a:lnTo>
                <a:lnTo>
                  <a:pt x="200" y="0"/>
                </a:lnTo>
                <a:lnTo>
                  <a:pt x="201" y="0"/>
                </a:lnTo>
                <a:lnTo>
                  <a:pt x="201" y="2"/>
                </a:lnTo>
                <a:lnTo>
                  <a:pt x="201" y="3"/>
                </a:lnTo>
                <a:lnTo>
                  <a:pt x="200" y="4"/>
                </a:lnTo>
                <a:close/>
                <a:moveTo>
                  <a:pt x="168" y="4"/>
                </a:moveTo>
                <a:lnTo>
                  <a:pt x="168" y="4"/>
                </a:lnTo>
                <a:lnTo>
                  <a:pt x="166" y="3"/>
                </a:lnTo>
                <a:lnTo>
                  <a:pt x="165" y="2"/>
                </a:lnTo>
                <a:lnTo>
                  <a:pt x="166" y="0"/>
                </a:lnTo>
                <a:lnTo>
                  <a:pt x="168" y="0"/>
                </a:lnTo>
                <a:lnTo>
                  <a:pt x="169" y="2"/>
                </a:lnTo>
                <a:lnTo>
                  <a:pt x="168" y="3"/>
                </a:lnTo>
                <a:lnTo>
                  <a:pt x="168" y="4"/>
                </a:lnTo>
                <a:close/>
                <a:moveTo>
                  <a:pt x="134" y="4"/>
                </a:moveTo>
                <a:lnTo>
                  <a:pt x="134" y="4"/>
                </a:lnTo>
                <a:lnTo>
                  <a:pt x="132" y="3"/>
                </a:lnTo>
                <a:lnTo>
                  <a:pt x="132" y="2"/>
                </a:lnTo>
                <a:lnTo>
                  <a:pt x="132" y="0"/>
                </a:lnTo>
                <a:lnTo>
                  <a:pt x="134" y="0"/>
                </a:lnTo>
                <a:lnTo>
                  <a:pt x="135" y="0"/>
                </a:lnTo>
                <a:lnTo>
                  <a:pt x="136" y="2"/>
                </a:lnTo>
                <a:lnTo>
                  <a:pt x="135" y="3"/>
                </a:lnTo>
                <a:lnTo>
                  <a:pt x="134" y="4"/>
                </a:lnTo>
                <a:close/>
                <a:moveTo>
                  <a:pt x="101" y="4"/>
                </a:moveTo>
                <a:lnTo>
                  <a:pt x="101" y="4"/>
                </a:lnTo>
                <a:lnTo>
                  <a:pt x="100" y="3"/>
                </a:lnTo>
                <a:lnTo>
                  <a:pt x="99" y="2"/>
                </a:lnTo>
                <a:lnTo>
                  <a:pt x="100" y="0"/>
                </a:lnTo>
                <a:lnTo>
                  <a:pt x="101" y="0"/>
                </a:lnTo>
                <a:lnTo>
                  <a:pt x="103" y="0"/>
                </a:lnTo>
                <a:lnTo>
                  <a:pt x="103" y="2"/>
                </a:lnTo>
                <a:lnTo>
                  <a:pt x="103" y="3"/>
                </a:lnTo>
                <a:lnTo>
                  <a:pt x="101" y="4"/>
                </a:lnTo>
                <a:close/>
                <a:moveTo>
                  <a:pt x="68" y="4"/>
                </a:moveTo>
                <a:lnTo>
                  <a:pt x="68" y="4"/>
                </a:lnTo>
                <a:lnTo>
                  <a:pt x="66" y="3"/>
                </a:lnTo>
                <a:lnTo>
                  <a:pt x="66" y="2"/>
                </a:lnTo>
                <a:lnTo>
                  <a:pt x="66" y="0"/>
                </a:lnTo>
                <a:lnTo>
                  <a:pt x="68" y="0"/>
                </a:lnTo>
                <a:lnTo>
                  <a:pt x="69" y="0"/>
                </a:lnTo>
                <a:lnTo>
                  <a:pt x="70" y="2"/>
                </a:lnTo>
                <a:lnTo>
                  <a:pt x="69" y="3"/>
                </a:lnTo>
                <a:lnTo>
                  <a:pt x="68" y="4"/>
                </a:lnTo>
                <a:close/>
                <a:moveTo>
                  <a:pt x="35" y="4"/>
                </a:moveTo>
                <a:lnTo>
                  <a:pt x="35" y="4"/>
                </a:lnTo>
                <a:lnTo>
                  <a:pt x="34" y="3"/>
                </a:lnTo>
                <a:lnTo>
                  <a:pt x="34" y="2"/>
                </a:lnTo>
                <a:lnTo>
                  <a:pt x="34" y="0"/>
                </a:lnTo>
                <a:lnTo>
                  <a:pt x="35" y="0"/>
                </a:lnTo>
                <a:lnTo>
                  <a:pt x="37" y="0"/>
                </a:lnTo>
                <a:lnTo>
                  <a:pt x="37" y="2"/>
                </a:lnTo>
                <a:lnTo>
                  <a:pt x="37" y="3"/>
                </a:lnTo>
                <a:lnTo>
                  <a:pt x="35" y="4"/>
                </a:lnTo>
                <a:close/>
                <a:moveTo>
                  <a:pt x="3" y="4"/>
                </a:moveTo>
                <a:lnTo>
                  <a:pt x="3" y="4"/>
                </a:lnTo>
                <a:lnTo>
                  <a:pt x="1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34" name="未知">
            <a:extLst>
              <a:ext uri="{FF2B5EF4-FFF2-40B4-BE49-F238E27FC236}">
                <a16:creationId xmlns:a16="http://schemas.microsoft.com/office/drawing/2014/main" id="{38F6BA6D-20F2-78F9-110D-CDCFB8CBFFB6}"/>
              </a:ext>
            </a:extLst>
          </p:cNvPr>
          <p:cNvSpPr>
            <a:spLocks/>
          </p:cNvSpPr>
          <p:nvPr/>
        </p:nvSpPr>
        <p:spPr bwMode="auto">
          <a:xfrm>
            <a:off x="1547664" y="4325992"/>
            <a:ext cx="165099" cy="111120"/>
          </a:xfrm>
          <a:custGeom>
            <a:avLst/>
            <a:gdLst>
              <a:gd name="T0" fmla="*/ 434492828 w 127"/>
              <a:gd name="T1" fmla="*/ 527471135 h 83"/>
              <a:gd name="T2" fmla="*/ 0 w 127"/>
              <a:gd name="T3" fmla="*/ 268626438 h 83"/>
              <a:gd name="T4" fmla="*/ 434492828 w 127"/>
              <a:gd name="T5" fmla="*/ 0 h 83"/>
              <a:gd name="T6" fmla="*/ 434492828 w 127"/>
              <a:gd name="T7" fmla="*/ 527471135 h 83"/>
              <a:gd name="T8" fmla="*/ 0 60000 65536"/>
              <a:gd name="T9" fmla="*/ 0 60000 65536"/>
              <a:gd name="T10" fmla="*/ 0 60000 65536"/>
              <a:gd name="T11" fmla="*/ 0 60000 65536"/>
              <a:gd name="T12" fmla="*/ 0 w 127"/>
              <a:gd name="T13" fmla="*/ 0 h 83"/>
              <a:gd name="T14" fmla="*/ 127 w 127"/>
              <a:gd name="T15" fmla="*/ 83 h 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7" h="83">
                <a:moveTo>
                  <a:pt x="127" y="83"/>
                </a:moveTo>
                <a:lnTo>
                  <a:pt x="0" y="42"/>
                </a:lnTo>
                <a:lnTo>
                  <a:pt x="127" y="0"/>
                </a:lnTo>
                <a:lnTo>
                  <a:pt x="127" y="8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35" name="Rectangle 164">
            <a:extLst>
              <a:ext uri="{FF2B5EF4-FFF2-40B4-BE49-F238E27FC236}">
                <a16:creationId xmlns:a16="http://schemas.microsoft.com/office/drawing/2014/main" id="{E6A9AC93-B256-8DD1-AC6E-5C5ED93C7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728" y="4139208"/>
            <a:ext cx="635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>
                <a:solidFill>
                  <a:srgbClr val="0000FF"/>
                </a:solidFill>
                <a:latin typeface="宋体" pitchFamily="2" charset="-122"/>
              </a:rPr>
              <a:t>8</a:t>
            </a:r>
            <a:endParaRPr lang="zh-CN" altLang="en-US" sz="1000" b="1">
              <a:solidFill>
                <a:srgbClr val="0000FF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436" name="TextBox 80">
            <a:extLst>
              <a:ext uri="{FF2B5EF4-FFF2-40B4-BE49-F238E27FC236}">
                <a16:creationId xmlns:a16="http://schemas.microsoft.com/office/drawing/2014/main" id="{34E164CF-461C-F875-2D7A-6B5CBD4A8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7014" y="3916422"/>
            <a:ext cx="714375" cy="30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/>
              <a:t>28,B</a:t>
            </a:r>
            <a:endParaRPr lang="zh-CN" altLang="en-US" sz="1400" i="0" dirty="0"/>
          </a:p>
        </p:txBody>
      </p:sp>
      <p:sp>
        <p:nvSpPr>
          <p:cNvPr id="15437" name="椭圆 15436">
            <a:extLst>
              <a:ext uri="{FF2B5EF4-FFF2-40B4-BE49-F238E27FC236}">
                <a16:creationId xmlns:a16="http://schemas.microsoft.com/office/drawing/2014/main" id="{9A6350F1-C7AD-9FF0-245D-CA70B7FC0162}"/>
              </a:ext>
            </a:extLst>
          </p:cNvPr>
          <p:cNvSpPr/>
          <p:nvPr/>
        </p:nvSpPr>
        <p:spPr bwMode="auto">
          <a:xfrm>
            <a:off x="1145783" y="3823461"/>
            <a:ext cx="330671" cy="4007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438" name="Rectangle 205">
            <a:extLst>
              <a:ext uri="{FF2B5EF4-FFF2-40B4-BE49-F238E27FC236}">
                <a16:creationId xmlns:a16="http://schemas.microsoft.com/office/drawing/2014/main" id="{61827E73-4208-4DCD-8E9B-77F02328E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587" y="6266904"/>
            <a:ext cx="232595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800" b="1" i="0" dirty="0">
                <a:solidFill>
                  <a:srgbClr val="080808"/>
                </a:solidFill>
                <a:latin typeface="宋体" pitchFamily="2" charset="-122"/>
              </a:rPr>
              <a:t>（</a:t>
            </a:r>
            <a:r>
              <a:rPr lang="en-US" altLang="zh-CN" i="0" dirty="0">
                <a:solidFill>
                  <a:srgbClr val="080808"/>
                </a:solidFill>
                <a:latin typeface="宋体" pitchFamily="2" charset="-122"/>
              </a:rPr>
              <a:t>5</a:t>
            </a:r>
            <a:r>
              <a:rPr lang="zh-CN" altLang="en-US" sz="1800" b="1" i="0" dirty="0">
                <a:solidFill>
                  <a:srgbClr val="080808"/>
                </a:solidFill>
                <a:latin typeface="宋体" pitchFamily="2" charset="-122"/>
              </a:rPr>
              <a:t>）选</a:t>
            </a:r>
            <a:r>
              <a:rPr lang="en-US" altLang="zh-CN" i="0" dirty="0">
                <a:solidFill>
                  <a:srgbClr val="080808"/>
                </a:solidFill>
                <a:latin typeface="宋体" pitchFamily="2" charset="-122"/>
              </a:rPr>
              <a:t>E</a:t>
            </a:r>
            <a:r>
              <a:rPr lang="zh-CN" altLang="en-US" sz="1800" b="1" i="0" dirty="0">
                <a:solidFill>
                  <a:srgbClr val="080808"/>
                </a:solidFill>
                <a:latin typeface="宋体" pitchFamily="2" charset="-122"/>
              </a:rPr>
              <a:t>点，更新路径</a:t>
            </a:r>
            <a:endParaRPr lang="en-US" altLang="zh-CN" sz="1800" b="1" i="0" dirty="0">
              <a:solidFill>
                <a:srgbClr val="080808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grpSp>
        <p:nvGrpSpPr>
          <p:cNvPr id="15439" name="组合 15438">
            <a:extLst>
              <a:ext uri="{FF2B5EF4-FFF2-40B4-BE49-F238E27FC236}">
                <a16:creationId xmlns:a16="http://schemas.microsoft.com/office/drawing/2014/main" id="{AF00A5D5-0329-1201-9869-6B4418A05480}"/>
              </a:ext>
            </a:extLst>
          </p:cNvPr>
          <p:cNvGrpSpPr/>
          <p:nvPr/>
        </p:nvGrpSpPr>
        <p:grpSpPr>
          <a:xfrm>
            <a:off x="4857462" y="4025767"/>
            <a:ext cx="2500313" cy="2214224"/>
            <a:chOff x="1133704" y="4117526"/>
            <a:chExt cx="2500313" cy="2214224"/>
          </a:xfrm>
        </p:grpSpPr>
        <p:sp>
          <p:nvSpPr>
            <p:cNvPr id="15440" name="未知">
              <a:extLst>
                <a:ext uri="{FF2B5EF4-FFF2-40B4-BE49-F238E27FC236}">
                  <a16:creationId xmlns:a16="http://schemas.microsoft.com/office/drawing/2014/main" id="{5FA5CD75-CD25-6778-7BAB-ADDF6356B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520" y="4265142"/>
              <a:ext cx="282573" cy="301535"/>
            </a:xfrm>
            <a:custGeom>
              <a:avLst/>
              <a:gdLst>
                <a:gd name="T0" fmla="*/ 3468480 w 216"/>
                <a:gd name="T1" fmla="*/ 559741153 h 227"/>
                <a:gd name="T2" fmla="*/ 19279409 w 216"/>
                <a:gd name="T3" fmla="*/ 431963359 h 227"/>
                <a:gd name="T4" fmla="*/ 51371873 w 216"/>
                <a:gd name="T5" fmla="*/ 326584817 h 227"/>
                <a:gd name="T6" fmla="*/ 93100459 w 216"/>
                <a:gd name="T7" fmla="*/ 227932445 h 227"/>
                <a:gd name="T8" fmla="*/ 151879687 w 216"/>
                <a:gd name="T9" fmla="*/ 139722493 h 227"/>
                <a:gd name="T10" fmla="*/ 218040878 w 216"/>
                <a:gd name="T11" fmla="*/ 75813534 h 227"/>
                <a:gd name="T12" fmla="*/ 293737899 w 216"/>
                <a:gd name="T13" fmla="*/ 33107939 h 227"/>
                <a:gd name="T14" fmla="*/ 379467856 w 216"/>
                <a:gd name="T15" fmla="*/ 10147193 h 227"/>
                <a:gd name="T16" fmla="*/ 464985030 w 216"/>
                <a:gd name="T17" fmla="*/ 10147193 h 227"/>
                <a:gd name="T18" fmla="*/ 546365163 w 216"/>
                <a:gd name="T19" fmla="*/ 33107939 h 227"/>
                <a:gd name="T20" fmla="*/ 622739560 w 216"/>
                <a:gd name="T21" fmla="*/ 75813534 h 227"/>
                <a:gd name="T22" fmla="*/ 692368182 w 216"/>
                <a:gd name="T23" fmla="*/ 139722493 h 227"/>
                <a:gd name="T24" fmla="*/ 745936538 w 216"/>
                <a:gd name="T25" fmla="*/ 227932445 h 227"/>
                <a:gd name="T26" fmla="*/ 789344504 w 216"/>
                <a:gd name="T27" fmla="*/ 326584817 h 227"/>
                <a:gd name="T28" fmla="*/ 828864612 w 216"/>
                <a:gd name="T29" fmla="*/ 431963359 h 227"/>
                <a:gd name="T30" fmla="*/ 844450245 w 216"/>
                <a:gd name="T31" fmla="*/ 559741153 h 227"/>
                <a:gd name="T32" fmla="*/ 844450245 w 216"/>
                <a:gd name="T33" fmla="*/ 618956149 h 227"/>
                <a:gd name="T34" fmla="*/ 832344154 w 216"/>
                <a:gd name="T35" fmla="*/ 744022768 h 227"/>
                <a:gd name="T36" fmla="*/ 814086300 w 216"/>
                <a:gd name="T37" fmla="*/ 857787430 h 227"/>
                <a:gd name="T38" fmla="*/ 769858614 w 216"/>
                <a:gd name="T39" fmla="*/ 958434412 h 227"/>
                <a:gd name="T40" fmla="*/ 722693214 w 216"/>
                <a:gd name="T41" fmla="*/ 1057112630 h 227"/>
                <a:gd name="T42" fmla="*/ 660207783 w 216"/>
                <a:gd name="T43" fmla="*/ 1126388021 h 227"/>
                <a:gd name="T44" fmla="*/ 586522487 w 216"/>
                <a:gd name="T45" fmla="*/ 1185978067 h 227"/>
                <a:gd name="T46" fmla="*/ 504656372 w 216"/>
                <a:gd name="T47" fmla="*/ 1220474701 h 227"/>
                <a:gd name="T48" fmla="*/ 422873988 w 216"/>
                <a:gd name="T49" fmla="*/ 1230410188 h 227"/>
                <a:gd name="T50" fmla="*/ 336070776 w 216"/>
                <a:gd name="T51" fmla="*/ 1220474701 h 227"/>
                <a:gd name="T52" fmla="*/ 258010951 w 216"/>
                <a:gd name="T53" fmla="*/ 1185978067 h 227"/>
                <a:gd name="T54" fmla="*/ 184191063 w 216"/>
                <a:gd name="T55" fmla="*/ 1126388021 h 227"/>
                <a:gd name="T56" fmla="*/ 125236776 w 216"/>
                <a:gd name="T57" fmla="*/ 1057112630 h 227"/>
                <a:gd name="T58" fmla="*/ 73721376 w 216"/>
                <a:gd name="T59" fmla="*/ 958434412 h 227"/>
                <a:gd name="T60" fmla="*/ 30328991 w 216"/>
                <a:gd name="T61" fmla="*/ 857787430 h 227"/>
                <a:gd name="T62" fmla="*/ 7145711 w 216"/>
                <a:gd name="T63" fmla="*/ 744022768 h 227"/>
                <a:gd name="T64" fmla="*/ 0 w 216"/>
                <a:gd name="T65" fmla="*/ 618956149 h 22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7"/>
                <a:gd name="T101" fmla="*/ 216 w 216"/>
                <a:gd name="T102" fmla="*/ 227 h 22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7">
                  <a:moveTo>
                    <a:pt x="0" y="114"/>
                  </a:moveTo>
                  <a:lnTo>
                    <a:pt x="1" y="103"/>
                  </a:lnTo>
                  <a:lnTo>
                    <a:pt x="2" y="91"/>
                  </a:lnTo>
                  <a:lnTo>
                    <a:pt x="5" y="80"/>
                  </a:lnTo>
                  <a:lnTo>
                    <a:pt x="8" y="69"/>
                  </a:lnTo>
                  <a:lnTo>
                    <a:pt x="13" y="60"/>
                  </a:lnTo>
                  <a:lnTo>
                    <a:pt x="19" y="50"/>
                  </a:lnTo>
                  <a:lnTo>
                    <a:pt x="24" y="42"/>
                  </a:lnTo>
                  <a:lnTo>
                    <a:pt x="32" y="34"/>
                  </a:lnTo>
                  <a:lnTo>
                    <a:pt x="39" y="26"/>
                  </a:lnTo>
                  <a:lnTo>
                    <a:pt x="47" y="19"/>
                  </a:lnTo>
                  <a:lnTo>
                    <a:pt x="56" y="14"/>
                  </a:lnTo>
                  <a:lnTo>
                    <a:pt x="66" y="10"/>
                  </a:lnTo>
                  <a:lnTo>
                    <a:pt x="75" y="6"/>
                  </a:lnTo>
                  <a:lnTo>
                    <a:pt x="86" y="3"/>
                  </a:lnTo>
                  <a:lnTo>
                    <a:pt x="97" y="2"/>
                  </a:lnTo>
                  <a:lnTo>
                    <a:pt x="108" y="0"/>
                  </a:lnTo>
                  <a:lnTo>
                    <a:pt x="119" y="2"/>
                  </a:lnTo>
                  <a:lnTo>
                    <a:pt x="129" y="3"/>
                  </a:lnTo>
                  <a:lnTo>
                    <a:pt x="140" y="6"/>
                  </a:lnTo>
                  <a:lnTo>
                    <a:pt x="150" y="10"/>
                  </a:lnTo>
                  <a:lnTo>
                    <a:pt x="159" y="14"/>
                  </a:lnTo>
                  <a:lnTo>
                    <a:pt x="169" y="19"/>
                  </a:lnTo>
                  <a:lnTo>
                    <a:pt x="177" y="26"/>
                  </a:lnTo>
                  <a:lnTo>
                    <a:pt x="185" y="34"/>
                  </a:lnTo>
                  <a:lnTo>
                    <a:pt x="191" y="42"/>
                  </a:lnTo>
                  <a:lnTo>
                    <a:pt x="197" y="50"/>
                  </a:lnTo>
                  <a:lnTo>
                    <a:pt x="202" y="60"/>
                  </a:lnTo>
                  <a:lnTo>
                    <a:pt x="208" y="69"/>
                  </a:lnTo>
                  <a:lnTo>
                    <a:pt x="212" y="80"/>
                  </a:lnTo>
                  <a:lnTo>
                    <a:pt x="213" y="91"/>
                  </a:lnTo>
                  <a:lnTo>
                    <a:pt x="216" y="103"/>
                  </a:lnTo>
                  <a:lnTo>
                    <a:pt x="216" y="114"/>
                  </a:lnTo>
                  <a:lnTo>
                    <a:pt x="216" y="126"/>
                  </a:lnTo>
                  <a:lnTo>
                    <a:pt x="213" y="137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8"/>
                  </a:lnTo>
                  <a:lnTo>
                    <a:pt x="197" y="177"/>
                  </a:lnTo>
                  <a:lnTo>
                    <a:pt x="191" y="187"/>
                  </a:lnTo>
                  <a:lnTo>
                    <a:pt x="185" y="195"/>
                  </a:lnTo>
                  <a:lnTo>
                    <a:pt x="177" y="202"/>
                  </a:lnTo>
                  <a:lnTo>
                    <a:pt x="169" y="208"/>
                  </a:lnTo>
                  <a:lnTo>
                    <a:pt x="159" y="214"/>
                  </a:lnTo>
                  <a:lnTo>
                    <a:pt x="150" y="219"/>
                  </a:lnTo>
                  <a:lnTo>
                    <a:pt x="140" y="222"/>
                  </a:lnTo>
                  <a:lnTo>
                    <a:pt x="129" y="225"/>
                  </a:lnTo>
                  <a:lnTo>
                    <a:pt x="119" y="227"/>
                  </a:lnTo>
                  <a:lnTo>
                    <a:pt x="108" y="227"/>
                  </a:lnTo>
                  <a:lnTo>
                    <a:pt x="97" y="227"/>
                  </a:lnTo>
                  <a:lnTo>
                    <a:pt x="86" y="225"/>
                  </a:lnTo>
                  <a:lnTo>
                    <a:pt x="75" y="222"/>
                  </a:lnTo>
                  <a:lnTo>
                    <a:pt x="66" y="219"/>
                  </a:lnTo>
                  <a:lnTo>
                    <a:pt x="56" y="214"/>
                  </a:lnTo>
                  <a:lnTo>
                    <a:pt x="47" y="208"/>
                  </a:lnTo>
                  <a:lnTo>
                    <a:pt x="39" y="202"/>
                  </a:lnTo>
                  <a:lnTo>
                    <a:pt x="32" y="195"/>
                  </a:lnTo>
                  <a:lnTo>
                    <a:pt x="24" y="187"/>
                  </a:lnTo>
                  <a:lnTo>
                    <a:pt x="19" y="177"/>
                  </a:lnTo>
                  <a:lnTo>
                    <a:pt x="13" y="168"/>
                  </a:lnTo>
                  <a:lnTo>
                    <a:pt x="8" y="158"/>
                  </a:lnTo>
                  <a:lnTo>
                    <a:pt x="5" y="148"/>
                  </a:lnTo>
                  <a:lnTo>
                    <a:pt x="2" y="137"/>
                  </a:lnTo>
                  <a:lnTo>
                    <a:pt x="1" y="126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1" name="未知">
              <a:extLst>
                <a:ext uri="{FF2B5EF4-FFF2-40B4-BE49-F238E27FC236}">
                  <a16:creationId xmlns:a16="http://schemas.microsoft.com/office/drawing/2014/main" id="{DD3D9D98-7B62-D996-AF08-0BB00F1B9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520" y="5693465"/>
              <a:ext cx="282573" cy="301535"/>
            </a:xfrm>
            <a:custGeom>
              <a:avLst/>
              <a:gdLst>
                <a:gd name="T0" fmla="*/ 3468480 w 216"/>
                <a:gd name="T1" fmla="*/ 605799974 h 226"/>
                <a:gd name="T2" fmla="*/ 19279409 w 216"/>
                <a:gd name="T3" fmla="*/ 470234226 h 226"/>
                <a:gd name="T4" fmla="*/ 51371873 w 216"/>
                <a:gd name="T5" fmla="*/ 351636369 h 226"/>
                <a:gd name="T6" fmla="*/ 93100459 w 216"/>
                <a:gd name="T7" fmla="*/ 243453492 h 226"/>
                <a:gd name="T8" fmla="*/ 151879687 w 216"/>
                <a:gd name="T9" fmla="*/ 149345652 h 226"/>
                <a:gd name="T10" fmla="*/ 218040878 w 216"/>
                <a:gd name="T11" fmla="*/ 76838499 h 226"/>
                <a:gd name="T12" fmla="*/ 293737899 w 216"/>
                <a:gd name="T13" fmla="*/ 30747017 h 226"/>
                <a:gd name="T14" fmla="*/ 379467856 w 216"/>
                <a:gd name="T15" fmla="*/ 5246112 h 226"/>
                <a:gd name="T16" fmla="*/ 464985030 w 216"/>
                <a:gd name="T17" fmla="*/ 5246112 h 226"/>
                <a:gd name="T18" fmla="*/ 546365163 w 216"/>
                <a:gd name="T19" fmla="*/ 30747017 h 226"/>
                <a:gd name="T20" fmla="*/ 622739560 w 216"/>
                <a:gd name="T21" fmla="*/ 76838499 h 226"/>
                <a:gd name="T22" fmla="*/ 692368182 w 216"/>
                <a:gd name="T23" fmla="*/ 149345652 h 226"/>
                <a:gd name="T24" fmla="*/ 745936538 w 216"/>
                <a:gd name="T25" fmla="*/ 243453492 h 226"/>
                <a:gd name="T26" fmla="*/ 789344504 w 216"/>
                <a:gd name="T27" fmla="*/ 351636369 h 226"/>
                <a:gd name="T28" fmla="*/ 828864612 w 216"/>
                <a:gd name="T29" fmla="*/ 470234226 h 226"/>
                <a:gd name="T30" fmla="*/ 844450245 w 216"/>
                <a:gd name="T31" fmla="*/ 605799974 h 226"/>
                <a:gd name="T32" fmla="*/ 844450245 w 216"/>
                <a:gd name="T33" fmla="*/ 673247391 h 226"/>
                <a:gd name="T34" fmla="*/ 837258897 w 216"/>
                <a:gd name="T35" fmla="*/ 809121661 h 226"/>
                <a:gd name="T36" fmla="*/ 814086300 w 216"/>
                <a:gd name="T37" fmla="*/ 939556915 h 226"/>
                <a:gd name="T38" fmla="*/ 769858614 w 216"/>
                <a:gd name="T39" fmla="*/ 1047187779 h 226"/>
                <a:gd name="T40" fmla="*/ 722693214 w 216"/>
                <a:gd name="T41" fmla="*/ 1154717196 h 226"/>
                <a:gd name="T42" fmla="*/ 660207783 w 216"/>
                <a:gd name="T43" fmla="*/ 1235532183 h 226"/>
                <a:gd name="T44" fmla="*/ 586522487 w 216"/>
                <a:gd name="T45" fmla="*/ 1296425926 h 226"/>
                <a:gd name="T46" fmla="*/ 504656372 w 216"/>
                <a:gd name="T47" fmla="*/ 1332984545 h 226"/>
                <a:gd name="T48" fmla="*/ 422873988 w 216"/>
                <a:gd name="T49" fmla="*/ 1343980891 h 226"/>
                <a:gd name="T50" fmla="*/ 336070776 w 216"/>
                <a:gd name="T51" fmla="*/ 1332984545 h 226"/>
                <a:gd name="T52" fmla="*/ 258010951 w 216"/>
                <a:gd name="T53" fmla="*/ 1296425926 h 226"/>
                <a:gd name="T54" fmla="*/ 184191063 w 216"/>
                <a:gd name="T55" fmla="*/ 1235532183 h 226"/>
                <a:gd name="T56" fmla="*/ 125236776 w 216"/>
                <a:gd name="T57" fmla="*/ 1154717196 h 226"/>
                <a:gd name="T58" fmla="*/ 73721376 w 216"/>
                <a:gd name="T59" fmla="*/ 1047187779 h 226"/>
                <a:gd name="T60" fmla="*/ 30328991 w 216"/>
                <a:gd name="T61" fmla="*/ 939556915 h 226"/>
                <a:gd name="T62" fmla="*/ 7145711 w 216"/>
                <a:gd name="T63" fmla="*/ 809121661 h 226"/>
                <a:gd name="T64" fmla="*/ 0 w 216"/>
                <a:gd name="T65" fmla="*/ 673247391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6"/>
                <a:gd name="T101" fmla="*/ 216 w 216"/>
                <a:gd name="T102" fmla="*/ 226 h 2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6">
                  <a:moveTo>
                    <a:pt x="0" y="113"/>
                  </a:moveTo>
                  <a:lnTo>
                    <a:pt x="1" y="102"/>
                  </a:lnTo>
                  <a:lnTo>
                    <a:pt x="2" y="90"/>
                  </a:lnTo>
                  <a:lnTo>
                    <a:pt x="5" y="79"/>
                  </a:lnTo>
                  <a:lnTo>
                    <a:pt x="8" y="68"/>
                  </a:lnTo>
                  <a:lnTo>
                    <a:pt x="13" y="59"/>
                  </a:lnTo>
                  <a:lnTo>
                    <a:pt x="19" y="50"/>
                  </a:lnTo>
                  <a:lnTo>
                    <a:pt x="24" y="41"/>
                  </a:lnTo>
                  <a:lnTo>
                    <a:pt x="32" y="33"/>
                  </a:lnTo>
                  <a:lnTo>
                    <a:pt x="39" y="25"/>
                  </a:lnTo>
                  <a:lnTo>
                    <a:pt x="47" y="18"/>
                  </a:lnTo>
                  <a:lnTo>
                    <a:pt x="56" y="13"/>
                  </a:lnTo>
                  <a:lnTo>
                    <a:pt x="66" y="9"/>
                  </a:lnTo>
                  <a:lnTo>
                    <a:pt x="75" y="5"/>
                  </a:lnTo>
                  <a:lnTo>
                    <a:pt x="86" y="2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2"/>
                  </a:lnTo>
                  <a:lnTo>
                    <a:pt x="140" y="5"/>
                  </a:lnTo>
                  <a:lnTo>
                    <a:pt x="150" y="9"/>
                  </a:lnTo>
                  <a:lnTo>
                    <a:pt x="159" y="13"/>
                  </a:lnTo>
                  <a:lnTo>
                    <a:pt x="169" y="18"/>
                  </a:lnTo>
                  <a:lnTo>
                    <a:pt x="177" y="25"/>
                  </a:lnTo>
                  <a:lnTo>
                    <a:pt x="185" y="33"/>
                  </a:lnTo>
                  <a:lnTo>
                    <a:pt x="191" y="41"/>
                  </a:lnTo>
                  <a:lnTo>
                    <a:pt x="197" y="50"/>
                  </a:lnTo>
                  <a:lnTo>
                    <a:pt x="202" y="59"/>
                  </a:lnTo>
                  <a:lnTo>
                    <a:pt x="208" y="68"/>
                  </a:lnTo>
                  <a:lnTo>
                    <a:pt x="212" y="79"/>
                  </a:lnTo>
                  <a:lnTo>
                    <a:pt x="214" y="90"/>
                  </a:lnTo>
                  <a:lnTo>
                    <a:pt x="216" y="102"/>
                  </a:lnTo>
                  <a:lnTo>
                    <a:pt x="216" y="113"/>
                  </a:lnTo>
                  <a:lnTo>
                    <a:pt x="216" y="125"/>
                  </a:lnTo>
                  <a:lnTo>
                    <a:pt x="214" y="136"/>
                  </a:lnTo>
                  <a:lnTo>
                    <a:pt x="212" y="147"/>
                  </a:lnTo>
                  <a:lnTo>
                    <a:pt x="208" y="158"/>
                  </a:lnTo>
                  <a:lnTo>
                    <a:pt x="202" y="167"/>
                  </a:lnTo>
                  <a:lnTo>
                    <a:pt x="197" y="176"/>
                  </a:lnTo>
                  <a:lnTo>
                    <a:pt x="191" y="186"/>
                  </a:lnTo>
                  <a:lnTo>
                    <a:pt x="185" y="194"/>
                  </a:lnTo>
                  <a:lnTo>
                    <a:pt x="177" y="201"/>
                  </a:lnTo>
                  <a:lnTo>
                    <a:pt x="169" y="208"/>
                  </a:lnTo>
                  <a:lnTo>
                    <a:pt x="159" y="213"/>
                  </a:lnTo>
                  <a:lnTo>
                    <a:pt x="150" y="218"/>
                  </a:lnTo>
                  <a:lnTo>
                    <a:pt x="140" y="221"/>
                  </a:lnTo>
                  <a:lnTo>
                    <a:pt x="129" y="224"/>
                  </a:lnTo>
                  <a:lnTo>
                    <a:pt x="119" y="226"/>
                  </a:lnTo>
                  <a:lnTo>
                    <a:pt x="108" y="226"/>
                  </a:lnTo>
                  <a:lnTo>
                    <a:pt x="97" y="226"/>
                  </a:lnTo>
                  <a:lnTo>
                    <a:pt x="86" y="224"/>
                  </a:lnTo>
                  <a:lnTo>
                    <a:pt x="75" y="221"/>
                  </a:lnTo>
                  <a:lnTo>
                    <a:pt x="66" y="218"/>
                  </a:lnTo>
                  <a:lnTo>
                    <a:pt x="56" y="213"/>
                  </a:lnTo>
                  <a:lnTo>
                    <a:pt x="47" y="208"/>
                  </a:lnTo>
                  <a:lnTo>
                    <a:pt x="39" y="201"/>
                  </a:lnTo>
                  <a:lnTo>
                    <a:pt x="32" y="194"/>
                  </a:lnTo>
                  <a:lnTo>
                    <a:pt x="24" y="186"/>
                  </a:lnTo>
                  <a:lnTo>
                    <a:pt x="19" y="176"/>
                  </a:lnTo>
                  <a:lnTo>
                    <a:pt x="13" y="167"/>
                  </a:lnTo>
                  <a:lnTo>
                    <a:pt x="8" y="158"/>
                  </a:lnTo>
                  <a:lnTo>
                    <a:pt x="5" y="147"/>
                  </a:lnTo>
                  <a:lnTo>
                    <a:pt x="2" y="136"/>
                  </a:lnTo>
                  <a:lnTo>
                    <a:pt x="1" y="125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2" name="未知">
              <a:extLst>
                <a:ext uri="{FF2B5EF4-FFF2-40B4-BE49-F238E27FC236}">
                  <a16:creationId xmlns:a16="http://schemas.microsoft.com/office/drawing/2014/main" id="{72FA29FF-6899-FDBB-A0EC-7FB7095A79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520" y="5693465"/>
              <a:ext cx="282573" cy="301535"/>
            </a:xfrm>
            <a:custGeom>
              <a:avLst/>
              <a:gdLst>
                <a:gd name="T0" fmla="*/ 3468480 w 216"/>
                <a:gd name="T1" fmla="*/ 605799974 h 226"/>
                <a:gd name="T2" fmla="*/ 19279409 w 216"/>
                <a:gd name="T3" fmla="*/ 470234226 h 226"/>
                <a:gd name="T4" fmla="*/ 51371873 w 216"/>
                <a:gd name="T5" fmla="*/ 351636369 h 226"/>
                <a:gd name="T6" fmla="*/ 93100459 w 216"/>
                <a:gd name="T7" fmla="*/ 243453492 h 226"/>
                <a:gd name="T8" fmla="*/ 151879687 w 216"/>
                <a:gd name="T9" fmla="*/ 149345652 h 226"/>
                <a:gd name="T10" fmla="*/ 218040878 w 216"/>
                <a:gd name="T11" fmla="*/ 76838499 h 226"/>
                <a:gd name="T12" fmla="*/ 293737899 w 216"/>
                <a:gd name="T13" fmla="*/ 30747017 h 226"/>
                <a:gd name="T14" fmla="*/ 379467856 w 216"/>
                <a:gd name="T15" fmla="*/ 5246112 h 226"/>
                <a:gd name="T16" fmla="*/ 464985030 w 216"/>
                <a:gd name="T17" fmla="*/ 5246112 h 226"/>
                <a:gd name="T18" fmla="*/ 546365163 w 216"/>
                <a:gd name="T19" fmla="*/ 30747017 h 226"/>
                <a:gd name="T20" fmla="*/ 622739560 w 216"/>
                <a:gd name="T21" fmla="*/ 76838499 h 226"/>
                <a:gd name="T22" fmla="*/ 692368182 w 216"/>
                <a:gd name="T23" fmla="*/ 149345652 h 226"/>
                <a:gd name="T24" fmla="*/ 745936538 w 216"/>
                <a:gd name="T25" fmla="*/ 243453492 h 226"/>
                <a:gd name="T26" fmla="*/ 789344504 w 216"/>
                <a:gd name="T27" fmla="*/ 351636369 h 226"/>
                <a:gd name="T28" fmla="*/ 828864612 w 216"/>
                <a:gd name="T29" fmla="*/ 470234226 h 226"/>
                <a:gd name="T30" fmla="*/ 844450245 w 216"/>
                <a:gd name="T31" fmla="*/ 605799974 h 226"/>
                <a:gd name="T32" fmla="*/ 844450245 w 216"/>
                <a:gd name="T33" fmla="*/ 673247391 h 226"/>
                <a:gd name="T34" fmla="*/ 837258897 w 216"/>
                <a:gd name="T35" fmla="*/ 809121661 h 226"/>
                <a:gd name="T36" fmla="*/ 814086300 w 216"/>
                <a:gd name="T37" fmla="*/ 939556915 h 226"/>
                <a:gd name="T38" fmla="*/ 769858614 w 216"/>
                <a:gd name="T39" fmla="*/ 1047187779 h 226"/>
                <a:gd name="T40" fmla="*/ 722693214 w 216"/>
                <a:gd name="T41" fmla="*/ 1154717196 h 226"/>
                <a:gd name="T42" fmla="*/ 660207783 w 216"/>
                <a:gd name="T43" fmla="*/ 1235532183 h 226"/>
                <a:gd name="T44" fmla="*/ 586522487 w 216"/>
                <a:gd name="T45" fmla="*/ 1296425926 h 226"/>
                <a:gd name="T46" fmla="*/ 504656372 w 216"/>
                <a:gd name="T47" fmla="*/ 1332984545 h 226"/>
                <a:gd name="T48" fmla="*/ 422873988 w 216"/>
                <a:gd name="T49" fmla="*/ 1343980891 h 226"/>
                <a:gd name="T50" fmla="*/ 336070776 w 216"/>
                <a:gd name="T51" fmla="*/ 1332984545 h 226"/>
                <a:gd name="T52" fmla="*/ 258010951 w 216"/>
                <a:gd name="T53" fmla="*/ 1296425926 h 226"/>
                <a:gd name="T54" fmla="*/ 184191063 w 216"/>
                <a:gd name="T55" fmla="*/ 1235532183 h 226"/>
                <a:gd name="T56" fmla="*/ 125236776 w 216"/>
                <a:gd name="T57" fmla="*/ 1154717196 h 226"/>
                <a:gd name="T58" fmla="*/ 73721376 w 216"/>
                <a:gd name="T59" fmla="*/ 1047187779 h 226"/>
                <a:gd name="T60" fmla="*/ 30328991 w 216"/>
                <a:gd name="T61" fmla="*/ 939556915 h 226"/>
                <a:gd name="T62" fmla="*/ 7145711 w 216"/>
                <a:gd name="T63" fmla="*/ 809121661 h 226"/>
                <a:gd name="T64" fmla="*/ 0 w 216"/>
                <a:gd name="T65" fmla="*/ 673247391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6"/>
                <a:gd name="T101" fmla="*/ 216 w 216"/>
                <a:gd name="T102" fmla="*/ 226 h 2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6">
                  <a:moveTo>
                    <a:pt x="0" y="113"/>
                  </a:moveTo>
                  <a:lnTo>
                    <a:pt x="1" y="102"/>
                  </a:lnTo>
                  <a:lnTo>
                    <a:pt x="2" y="90"/>
                  </a:lnTo>
                  <a:lnTo>
                    <a:pt x="5" y="79"/>
                  </a:lnTo>
                  <a:lnTo>
                    <a:pt x="8" y="68"/>
                  </a:lnTo>
                  <a:lnTo>
                    <a:pt x="13" y="59"/>
                  </a:lnTo>
                  <a:lnTo>
                    <a:pt x="19" y="50"/>
                  </a:lnTo>
                  <a:lnTo>
                    <a:pt x="24" y="41"/>
                  </a:lnTo>
                  <a:lnTo>
                    <a:pt x="32" y="33"/>
                  </a:lnTo>
                  <a:lnTo>
                    <a:pt x="39" y="25"/>
                  </a:lnTo>
                  <a:lnTo>
                    <a:pt x="47" y="18"/>
                  </a:lnTo>
                  <a:lnTo>
                    <a:pt x="56" y="13"/>
                  </a:lnTo>
                  <a:lnTo>
                    <a:pt x="66" y="9"/>
                  </a:lnTo>
                  <a:lnTo>
                    <a:pt x="75" y="5"/>
                  </a:lnTo>
                  <a:lnTo>
                    <a:pt x="86" y="2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2"/>
                  </a:lnTo>
                  <a:lnTo>
                    <a:pt x="140" y="5"/>
                  </a:lnTo>
                  <a:lnTo>
                    <a:pt x="150" y="9"/>
                  </a:lnTo>
                  <a:lnTo>
                    <a:pt x="159" y="13"/>
                  </a:lnTo>
                  <a:lnTo>
                    <a:pt x="169" y="18"/>
                  </a:lnTo>
                  <a:lnTo>
                    <a:pt x="177" y="25"/>
                  </a:lnTo>
                  <a:lnTo>
                    <a:pt x="185" y="33"/>
                  </a:lnTo>
                  <a:lnTo>
                    <a:pt x="191" y="41"/>
                  </a:lnTo>
                  <a:lnTo>
                    <a:pt x="197" y="50"/>
                  </a:lnTo>
                  <a:lnTo>
                    <a:pt x="202" y="59"/>
                  </a:lnTo>
                  <a:lnTo>
                    <a:pt x="208" y="68"/>
                  </a:lnTo>
                  <a:lnTo>
                    <a:pt x="212" y="79"/>
                  </a:lnTo>
                  <a:lnTo>
                    <a:pt x="214" y="90"/>
                  </a:lnTo>
                  <a:lnTo>
                    <a:pt x="216" y="102"/>
                  </a:lnTo>
                  <a:lnTo>
                    <a:pt x="216" y="113"/>
                  </a:lnTo>
                  <a:lnTo>
                    <a:pt x="216" y="125"/>
                  </a:lnTo>
                  <a:lnTo>
                    <a:pt x="214" y="136"/>
                  </a:lnTo>
                  <a:lnTo>
                    <a:pt x="212" y="147"/>
                  </a:lnTo>
                  <a:lnTo>
                    <a:pt x="208" y="158"/>
                  </a:lnTo>
                  <a:lnTo>
                    <a:pt x="202" y="167"/>
                  </a:lnTo>
                  <a:lnTo>
                    <a:pt x="197" y="176"/>
                  </a:lnTo>
                  <a:lnTo>
                    <a:pt x="191" y="186"/>
                  </a:lnTo>
                  <a:lnTo>
                    <a:pt x="185" y="194"/>
                  </a:lnTo>
                  <a:lnTo>
                    <a:pt x="177" y="201"/>
                  </a:lnTo>
                  <a:lnTo>
                    <a:pt x="169" y="208"/>
                  </a:lnTo>
                  <a:lnTo>
                    <a:pt x="159" y="213"/>
                  </a:lnTo>
                  <a:lnTo>
                    <a:pt x="150" y="218"/>
                  </a:lnTo>
                  <a:lnTo>
                    <a:pt x="140" y="221"/>
                  </a:lnTo>
                  <a:lnTo>
                    <a:pt x="129" y="224"/>
                  </a:lnTo>
                  <a:lnTo>
                    <a:pt x="119" y="226"/>
                  </a:lnTo>
                  <a:lnTo>
                    <a:pt x="108" y="226"/>
                  </a:lnTo>
                  <a:lnTo>
                    <a:pt x="97" y="226"/>
                  </a:lnTo>
                  <a:lnTo>
                    <a:pt x="86" y="224"/>
                  </a:lnTo>
                  <a:lnTo>
                    <a:pt x="75" y="221"/>
                  </a:lnTo>
                  <a:lnTo>
                    <a:pt x="66" y="218"/>
                  </a:lnTo>
                  <a:lnTo>
                    <a:pt x="56" y="213"/>
                  </a:lnTo>
                  <a:lnTo>
                    <a:pt x="47" y="208"/>
                  </a:lnTo>
                  <a:lnTo>
                    <a:pt x="39" y="201"/>
                  </a:lnTo>
                  <a:lnTo>
                    <a:pt x="32" y="194"/>
                  </a:lnTo>
                  <a:lnTo>
                    <a:pt x="24" y="186"/>
                  </a:lnTo>
                  <a:lnTo>
                    <a:pt x="19" y="176"/>
                  </a:lnTo>
                  <a:lnTo>
                    <a:pt x="13" y="167"/>
                  </a:lnTo>
                  <a:lnTo>
                    <a:pt x="8" y="158"/>
                  </a:lnTo>
                  <a:lnTo>
                    <a:pt x="5" y="147"/>
                  </a:lnTo>
                  <a:lnTo>
                    <a:pt x="2" y="136"/>
                  </a:lnTo>
                  <a:lnTo>
                    <a:pt x="1" y="125"/>
                  </a:lnTo>
                  <a:lnTo>
                    <a:pt x="0" y="11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3" name="Rectangle 179">
              <a:extLst>
                <a:ext uri="{FF2B5EF4-FFF2-40B4-BE49-F238E27FC236}">
                  <a16:creationId xmlns:a16="http://schemas.microsoft.com/office/drawing/2014/main" id="{573D9656-3987-5E7F-46FC-104F5B047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3120" y="5753772"/>
              <a:ext cx="63500" cy="154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sz="1000" b="1">
                  <a:solidFill>
                    <a:srgbClr val="FF0000"/>
                  </a:solidFill>
                  <a:latin typeface="宋体" pitchFamily="2" charset="-122"/>
                </a:rPr>
                <a:t>F</a:t>
              </a:r>
              <a:endParaRPr lang="en-US" altLang="zh-CN" sz="1000" b="1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endParaRPr>
            </a:p>
          </p:txBody>
        </p:sp>
        <p:sp>
          <p:nvSpPr>
            <p:cNvPr id="15444" name="未知">
              <a:extLst>
                <a:ext uri="{FF2B5EF4-FFF2-40B4-BE49-F238E27FC236}">
                  <a16:creationId xmlns:a16="http://schemas.microsoft.com/office/drawing/2014/main" id="{3BC04822-91CA-B2D9-1DBA-47EF210E0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397" y="4974860"/>
              <a:ext cx="280668" cy="298361"/>
            </a:xfrm>
            <a:custGeom>
              <a:avLst/>
              <a:gdLst>
                <a:gd name="T0" fmla="*/ 3132436 w 216"/>
                <a:gd name="T1" fmla="*/ 446341159 h 227"/>
                <a:gd name="T2" fmla="*/ 16248397 w 216"/>
                <a:gd name="T3" fmla="*/ 348105442 h 227"/>
                <a:gd name="T4" fmla="*/ 44718601 w 216"/>
                <a:gd name="T5" fmla="*/ 260095379 h 227"/>
                <a:gd name="T6" fmla="*/ 81008170 w 216"/>
                <a:gd name="T7" fmla="*/ 182291127 h 227"/>
                <a:gd name="T8" fmla="*/ 133056879 w 216"/>
                <a:gd name="T9" fmla="*/ 113371133 h 227"/>
                <a:gd name="T10" fmla="*/ 190341245 w 216"/>
                <a:gd name="T11" fmla="*/ 60672045 h 227"/>
                <a:gd name="T12" fmla="*/ 253391593 w 216"/>
                <a:gd name="T13" fmla="*/ 25570180 h 227"/>
                <a:gd name="T14" fmla="*/ 328077895 w 216"/>
                <a:gd name="T15" fmla="*/ 3971138 h 227"/>
                <a:gd name="T16" fmla="*/ 404053641 w 216"/>
                <a:gd name="T17" fmla="*/ 3971138 h 227"/>
                <a:gd name="T18" fmla="*/ 473614015 w 216"/>
                <a:gd name="T19" fmla="*/ 25570180 h 227"/>
                <a:gd name="T20" fmla="*/ 538647947 w 216"/>
                <a:gd name="T21" fmla="*/ 60672045 h 227"/>
                <a:gd name="T22" fmla="*/ 599974025 w 216"/>
                <a:gd name="T23" fmla="*/ 113371133 h 227"/>
                <a:gd name="T24" fmla="*/ 651021663 w 216"/>
                <a:gd name="T25" fmla="*/ 182291127 h 227"/>
                <a:gd name="T26" fmla="*/ 684280176 w 216"/>
                <a:gd name="T27" fmla="*/ 260095379 h 227"/>
                <a:gd name="T28" fmla="*/ 719059846 w 216"/>
                <a:gd name="T29" fmla="*/ 348105442 h 227"/>
                <a:gd name="T30" fmla="*/ 732218540 w 216"/>
                <a:gd name="T31" fmla="*/ 446341159 h 227"/>
                <a:gd name="T32" fmla="*/ 732218540 w 216"/>
                <a:gd name="T33" fmla="*/ 494825899 h 227"/>
                <a:gd name="T34" fmla="*/ 725469299 w 216"/>
                <a:gd name="T35" fmla="*/ 591068594 h 227"/>
                <a:gd name="T36" fmla="*/ 706123720 w 216"/>
                <a:gd name="T37" fmla="*/ 685652195 h 227"/>
                <a:gd name="T38" fmla="*/ 668021454 w 216"/>
                <a:gd name="T39" fmla="*/ 767322354 h 227"/>
                <a:gd name="T40" fmla="*/ 628521798 w 216"/>
                <a:gd name="T41" fmla="*/ 846470598 h 227"/>
                <a:gd name="T42" fmla="*/ 573427077 w 216"/>
                <a:gd name="T43" fmla="*/ 903181730 h 227"/>
                <a:gd name="T44" fmla="*/ 508488705 w 216"/>
                <a:gd name="T45" fmla="*/ 949607487 h 227"/>
                <a:gd name="T46" fmla="*/ 437297754 w 216"/>
                <a:gd name="T47" fmla="*/ 972957092 h 227"/>
                <a:gd name="T48" fmla="*/ 366134183 w 216"/>
                <a:gd name="T49" fmla="*/ 985307325 h 227"/>
                <a:gd name="T50" fmla="*/ 291664425 w 216"/>
                <a:gd name="T51" fmla="*/ 972957092 h 227"/>
                <a:gd name="T52" fmla="*/ 223644091 w 216"/>
                <a:gd name="T53" fmla="*/ 949607487 h 227"/>
                <a:gd name="T54" fmla="*/ 158792020 w 216"/>
                <a:gd name="T55" fmla="*/ 903181730 h 227"/>
                <a:gd name="T56" fmla="*/ 107753531 w 216"/>
                <a:gd name="T57" fmla="*/ 846470598 h 227"/>
                <a:gd name="T58" fmla="*/ 65023271 w 216"/>
                <a:gd name="T59" fmla="*/ 767322354 h 227"/>
                <a:gd name="T60" fmla="*/ 26840323 w 216"/>
                <a:gd name="T61" fmla="*/ 685652195 h 227"/>
                <a:gd name="T62" fmla="*/ 6409892 w 216"/>
                <a:gd name="T63" fmla="*/ 591068594 h 227"/>
                <a:gd name="T64" fmla="*/ 0 w 216"/>
                <a:gd name="T65" fmla="*/ 494825899 h 22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7"/>
                <a:gd name="T101" fmla="*/ 216 w 216"/>
                <a:gd name="T102" fmla="*/ 227 h 22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7">
                  <a:moveTo>
                    <a:pt x="0" y="114"/>
                  </a:moveTo>
                  <a:lnTo>
                    <a:pt x="1" y="103"/>
                  </a:lnTo>
                  <a:lnTo>
                    <a:pt x="2" y="91"/>
                  </a:lnTo>
                  <a:lnTo>
                    <a:pt x="5" y="80"/>
                  </a:lnTo>
                  <a:lnTo>
                    <a:pt x="8" y="69"/>
                  </a:lnTo>
                  <a:lnTo>
                    <a:pt x="13" y="60"/>
                  </a:lnTo>
                  <a:lnTo>
                    <a:pt x="19" y="50"/>
                  </a:lnTo>
                  <a:lnTo>
                    <a:pt x="24" y="42"/>
                  </a:lnTo>
                  <a:lnTo>
                    <a:pt x="32" y="34"/>
                  </a:lnTo>
                  <a:lnTo>
                    <a:pt x="39" y="26"/>
                  </a:lnTo>
                  <a:lnTo>
                    <a:pt x="47" y="19"/>
                  </a:lnTo>
                  <a:lnTo>
                    <a:pt x="56" y="14"/>
                  </a:lnTo>
                  <a:lnTo>
                    <a:pt x="66" y="10"/>
                  </a:lnTo>
                  <a:lnTo>
                    <a:pt x="75" y="6"/>
                  </a:lnTo>
                  <a:lnTo>
                    <a:pt x="86" y="3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3"/>
                  </a:lnTo>
                  <a:lnTo>
                    <a:pt x="140" y="6"/>
                  </a:lnTo>
                  <a:lnTo>
                    <a:pt x="150" y="10"/>
                  </a:lnTo>
                  <a:lnTo>
                    <a:pt x="159" y="14"/>
                  </a:lnTo>
                  <a:lnTo>
                    <a:pt x="169" y="19"/>
                  </a:lnTo>
                  <a:lnTo>
                    <a:pt x="177" y="26"/>
                  </a:lnTo>
                  <a:lnTo>
                    <a:pt x="185" y="34"/>
                  </a:lnTo>
                  <a:lnTo>
                    <a:pt x="192" y="42"/>
                  </a:lnTo>
                  <a:lnTo>
                    <a:pt x="197" y="50"/>
                  </a:lnTo>
                  <a:lnTo>
                    <a:pt x="202" y="60"/>
                  </a:lnTo>
                  <a:lnTo>
                    <a:pt x="208" y="69"/>
                  </a:lnTo>
                  <a:lnTo>
                    <a:pt x="212" y="80"/>
                  </a:lnTo>
                  <a:lnTo>
                    <a:pt x="214" y="91"/>
                  </a:lnTo>
                  <a:lnTo>
                    <a:pt x="216" y="103"/>
                  </a:lnTo>
                  <a:lnTo>
                    <a:pt x="216" y="114"/>
                  </a:lnTo>
                  <a:lnTo>
                    <a:pt x="216" y="126"/>
                  </a:lnTo>
                  <a:lnTo>
                    <a:pt x="214" y="136"/>
                  </a:lnTo>
                  <a:lnTo>
                    <a:pt x="212" y="147"/>
                  </a:lnTo>
                  <a:lnTo>
                    <a:pt x="208" y="158"/>
                  </a:lnTo>
                  <a:lnTo>
                    <a:pt x="202" y="168"/>
                  </a:lnTo>
                  <a:lnTo>
                    <a:pt x="197" y="177"/>
                  </a:lnTo>
                  <a:lnTo>
                    <a:pt x="192" y="186"/>
                  </a:lnTo>
                  <a:lnTo>
                    <a:pt x="185" y="195"/>
                  </a:lnTo>
                  <a:lnTo>
                    <a:pt x="177" y="201"/>
                  </a:lnTo>
                  <a:lnTo>
                    <a:pt x="169" y="208"/>
                  </a:lnTo>
                  <a:lnTo>
                    <a:pt x="159" y="213"/>
                  </a:lnTo>
                  <a:lnTo>
                    <a:pt x="150" y="219"/>
                  </a:lnTo>
                  <a:lnTo>
                    <a:pt x="140" y="222"/>
                  </a:lnTo>
                  <a:lnTo>
                    <a:pt x="129" y="224"/>
                  </a:lnTo>
                  <a:lnTo>
                    <a:pt x="119" y="227"/>
                  </a:lnTo>
                  <a:lnTo>
                    <a:pt x="108" y="227"/>
                  </a:lnTo>
                  <a:lnTo>
                    <a:pt x="97" y="227"/>
                  </a:lnTo>
                  <a:lnTo>
                    <a:pt x="86" y="224"/>
                  </a:lnTo>
                  <a:lnTo>
                    <a:pt x="75" y="222"/>
                  </a:lnTo>
                  <a:lnTo>
                    <a:pt x="66" y="219"/>
                  </a:lnTo>
                  <a:lnTo>
                    <a:pt x="56" y="213"/>
                  </a:lnTo>
                  <a:lnTo>
                    <a:pt x="47" y="208"/>
                  </a:lnTo>
                  <a:lnTo>
                    <a:pt x="39" y="201"/>
                  </a:lnTo>
                  <a:lnTo>
                    <a:pt x="32" y="195"/>
                  </a:lnTo>
                  <a:lnTo>
                    <a:pt x="24" y="186"/>
                  </a:lnTo>
                  <a:lnTo>
                    <a:pt x="19" y="177"/>
                  </a:lnTo>
                  <a:lnTo>
                    <a:pt x="13" y="168"/>
                  </a:lnTo>
                  <a:lnTo>
                    <a:pt x="8" y="158"/>
                  </a:lnTo>
                  <a:lnTo>
                    <a:pt x="5" y="147"/>
                  </a:lnTo>
                  <a:lnTo>
                    <a:pt x="2" y="136"/>
                  </a:lnTo>
                  <a:lnTo>
                    <a:pt x="1" y="126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5" name="未知">
              <a:extLst>
                <a:ext uri="{FF2B5EF4-FFF2-40B4-BE49-F238E27FC236}">
                  <a16:creationId xmlns:a16="http://schemas.microsoft.com/office/drawing/2014/main" id="{C61B1FEE-A1C0-2E1F-CF0B-F641C60B9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397" y="4974860"/>
              <a:ext cx="280668" cy="298361"/>
            </a:xfrm>
            <a:custGeom>
              <a:avLst/>
              <a:gdLst>
                <a:gd name="T0" fmla="*/ 3132436 w 216"/>
                <a:gd name="T1" fmla="*/ 446341159 h 227"/>
                <a:gd name="T2" fmla="*/ 16248397 w 216"/>
                <a:gd name="T3" fmla="*/ 348105442 h 227"/>
                <a:gd name="T4" fmla="*/ 44718601 w 216"/>
                <a:gd name="T5" fmla="*/ 260095379 h 227"/>
                <a:gd name="T6" fmla="*/ 81008170 w 216"/>
                <a:gd name="T7" fmla="*/ 182291127 h 227"/>
                <a:gd name="T8" fmla="*/ 133056879 w 216"/>
                <a:gd name="T9" fmla="*/ 113371133 h 227"/>
                <a:gd name="T10" fmla="*/ 190341245 w 216"/>
                <a:gd name="T11" fmla="*/ 60672045 h 227"/>
                <a:gd name="T12" fmla="*/ 253391593 w 216"/>
                <a:gd name="T13" fmla="*/ 25570180 h 227"/>
                <a:gd name="T14" fmla="*/ 328077895 w 216"/>
                <a:gd name="T15" fmla="*/ 3971138 h 227"/>
                <a:gd name="T16" fmla="*/ 404053641 w 216"/>
                <a:gd name="T17" fmla="*/ 3971138 h 227"/>
                <a:gd name="T18" fmla="*/ 473614015 w 216"/>
                <a:gd name="T19" fmla="*/ 25570180 h 227"/>
                <a:gd name="T20" fmla="*/ 538647947 w 216"/>
                <a:gd name="T21" fmla="*/ 60672045 h 227"/>
                <a:gd name="T22" fmla="*/ 599974025 w 216"/>
                <a:gd name="T23" fmla="*/ 113371133 h 227"/>
                <a:gd name="T24" fmla="*/ 651021663 w 216"/>
                <a:gd name="T25" fmla="*/ 182291127 h 227"/>
                <a:gd name="T26" fmla="*/ 684280176 w 216"/>
                <a:gd name="T27" fmla="*/ 260095379 h 227"/>
                <a:gd name="T28" fmla="*/ 719059846 w 216"/>
                <a:gd name="T29" fmla="*/ 348105442 h 227"/>
                <a:gd name="T30" fmla="*/ 732218540 w 216"/>
                <a:gd name="T31" fmla="*/ 446341159 h 227"/>
                <a:gd name="T32" fmla="*/ 732218540 w 216"/>
                <a:gd name="T33" fmla="*/ 494825899 h 227"/>
                <a:gd name="T34" fmla="*/ 725469299 w 216"/>
                <a:gd name="T35" fmla="*/ 591068594 h 227"/>
                <a:gd name="T36" fmla="*/ 706123720 w 216"/>
                <a:gd name="T37" fmla="*/ 685652195 h 227"/>
                <a:gd name="T38" fmla="*/ 668021454 w 216"/>
                <a:gd name="T39" fmla="*/ 767322354 h 227"/>
                <a:gd name="T40" fmla="*/ 628521798 w 216"/>
                <a:gd name="T41" fmla="*/ 846470598 h 227"/>
                <a:gd name="T42" fmla="*/ 573427077 w 216"/>
                <a:gd name="T43" fmla="*/ 903181730 h 227"/>
                <a:gd name="T44" fmla="*/ 508488705 w 216"/>
                <a:gd name="T45" fmla="*/ 949607487 h 227"/>
                <a:gd name="T46" fmla="*/ 437297754 w 216"/>
                <a:gd name="T47" fmla="*/ 972957092 h 227"/>
                <a:gd name="T48" fmla="*/ 366134183 w 216"/>
                <a:gd name="T49" fmla="*/ 985307325 h 227"/>
                <a:gd name="T50" fmla="*/ 291664425 w 216"/>
                <a:gd name="T51" fmla="*/ 972957092 h 227"/>
                <a:gd name="T52" fmla="*/ 223644091 w 216"/>
                <a:gd name="T53" fmla="*/ 949607487 h 227"/>
                <a:gd name="T54" fmla="*/ 158792020 w 216"/>
                <a:gd name="T55" fmla="*/ 903181730 h 227"/>
                <a:gd name="T56" fmla="*/ 107753531 w 216"/>
                <a:gd name="T57" fmla="*/ 846470598 h 227"/>
                <a:gd name="T58" fmla="*/ 65023271 w 216"/>
                <a:gd name="T59" fmla="*/ 767322354 h 227"/>
                <a:gd name="T60" fmla="*/ 26840323 w 216"/>
                <a:gd name="T61" fmla="*/ 685652195 h 227"/>
                <a:gd name="T62" fmla="*/ 6409892 w 216"/>
                <a:gd name="T63" fmla="*/ 591068594 h 227"/>
                <a:gd name="T64" fmla="*/ 0 w 216"/>
                <a:gd name="T65" fmla="*/ 494825899 h 22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7"/>
                <a:gd name="T101" fmla="*/ 216 w 216"/>
                <a:gd name="T102" fmla="*/ 227 h 22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7">
                  <a:moveTo>
                    <a:pt x="0" y="114"/>
                  </a:moveTo>
                  <a:lnTo>
                    <a:pt x="1" y="103"/>
                  </a:lnTo>
                  <a:lnTo>
                    <a:pt x="2" y="91"/>
                  </a:lnTo>
                  <a:lnTo>
                    <a:pt x="5" y="80"/>
                  </a:lnTo>
                  <a:lnTo>
                    <a:pt x="8" y="69"/>
                  </a:lnTo>
                  <a:lnTo>
                    <a:pt x="13" y="60"/>
                  </a:lnTo>
                  <a:lnTo>
                    <a:pt x="19" y="50"/>
                  </a:lnTo>
                  <a:lnTo>
                    <a:pt x="24" y="42"/>
                  </a:lnTo>
                  <a:lnTo>
                    <a:pt x="32" y="34"/>
                  </a:lnTo>
                  <a:lnTo>
                    <a:pt x="39" y="26"/>
                  </a:lnTo>
                  <a:lnTo>
                    <a:pt x="47" y="19"/>
                  </a:lnTo>
                  <a:lnTo>
                    <a:pt x="56" y="14"/>
                  </a:lnTo>
                  <a:lnTo>
                    <a:pt x="66" y="10"/>
                  </a:lnTo>
                  <a:lnTo>
                    <a:pt x="75" y="6"/>
                  </a:lnTo>
                  <a:lnTo>
                    <a:pt x="86" y="3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3"/>
                  </a:lnTo>
                  <a:lnTo>
                    <a:pt x="140" y="6"/>
                  </a:lnTo>
                  <a:lnTo>
                    <a:pt x="150" y="10"/>
                  </a:lnTo>
                  <a:lnTo>
                    <a:pt x="159" y="14"/>
                  </a:lnTo>
                  <a:lnTo>
                    <a:pt x="169" y="19"/>
                  </a:lnTo>
                  <a:lnTo>
                    <a:pt x="177" y="26"/>
                  </a:lnTo>
                  <a:lnTo>
                    <a:pt x="185" y="34"/>
                  </a:lnTo>
                  <a:lnTo>
                    <a:pt x="192" y="42"/>
                  </a:lnTo>
                  <a:lnTo>
                    <a:pt x="197" y="50"/>
                  </a:lnTo>
                  <a:lnTo>
                    <a:pt x="202" y="60"/>
                  </a:lnTo>
                  <a:lnTo>
                    <a:pt x="208" y="69"/>
                  </a:lnTo>
                  <a:lnTo>
                    <a:pt x="212" y="80"/>
                  </a:lnTo>
                  <a:lnTo>
                    <a:pt x="214" y="91"/>
                  </a:lnTo>
                  <a:lnTo>
                    <a:pt x="216" y="103"/>
                  </a:lnTo>
                  <a:lnTo>
                    <a:pt x="216" y="114"/>
                  </a:lnTo>
                  <a:lnTo>
                    <a:pt x="216" y="126"/>
                  </a:lnTo>
                  <a:lnTo>
                    <a:pt x="214" y="136"/>
                  </a:lnTo>
                  <a:lnTo>
                    <a:pt x="212" y="147"/>
                  </a:lnTo>
                  <a:lnTo>
                    <a:pt x="208" y="158"/>
                  </a:lnTo>
                  <a:lnTo>
                    <a:pt x="202" y="168"/>
                  </a:lnTo>
                  <a:lnTo>
                    <a:pt x="197" y="177"/>
                  </a:lnTo>
                  <a:lnTo>
                    <a:pt x="192" y="186"/>
                  </a:lnTo>
                  <a:lnTo>
                    <a:pt x="185" y="195"/>
                  </a:lnTo>
                  <a:lnTo>
                    <a:pt x="177" y="201"/>
                  </a:lnTo>
                  <a:lnTo>
                    <a:pt x="169" y="208"/>
                  </a:lnTo>
                  <a:lnTo>
                    <a:pt x="159" y="213"/>
                  </a:lnTo>
                  <a:lnTo>
                    <a:pt x="150" y="219"/>
                  </a:lnTo>
                  <a:lnTo>
                    <a:pt x="140" y="222"/>
                  </a:lnTo>
                  <a:lnTo>
                    <a:pt x="129" y="224"/>
                  </a:lnTo>
                  <a:lnTo>
                    <a:pt x="119" y="227"/>
                  </a:lnTo>
                  <a:lnTo>
                    <a:pt x="108" y="227"/>
                  </a:lnTo>
                  <a:lnTo>
                    <a:pt x="97" y="227"/>
                  </a:lnTo>
                  <a:lnTo>
                    <a:pt x="86" y="224"/>
                  </a:lnTo>
                  <a:lnTo>
                    <a:pt x="75" y="222"/>
                  </a:lnTo>
                  <a:lnTo>
                    <a:pt x="66" y="219"/>
                  </a:lnTo>
                  <a:lnTo>
                    <a:pt x="56" y="213"/>
                  </a:lnTo>
                  <a:lnTo>
                    <a:pt x="47" y="208"/>
                  </a:lnTo>
                  <a:lnTo>
                    <a:pt x="39" y="201"/>
                  </a:lnTo>
                  <a:lnTo>
                    <a:pt x="32" y="195"/>
                  </a:lnTo>
                  <a:lnTo>
                    <a:pt x="24" y="186"/>
                  </a:lnTo>
                  <a:lnTo>
                    <a:pt x="19" y="177"/>
                  </a:lnTo>
                  <a:lnTo>
                    <a:pt x="13" y="168"/>
                  </a:lnTo>
                  <a:lnTo>
                    <a:pt x="8" y="158"/>
                  </a:lnTo>
                  <a:lnTo>
                    <a:pt x="5" y="147"/>
                  </a:lnTo>
                  <a:lnTo>
                    <a:pt x="2" y="136"/>
                  </a:lnTo>
                  <a:lnTo>
                    <a:pt x="1" y="126"/>
                  </a:lnTo>
                  <a:lnTo>
                    <a:pt x="0" y="11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6" name="Rectangle 182">
              <a:extLst>
                <a:ext uri="{FF2B5EF4-FFF2-40B4-BE49-F238E27FC236}">
                  <a16:creationId xmlns:a16="http://schemas.microsoft.com/office/drawing/2014/main" id="{D6C92562-BCD8-0D6E-93B9-BD02451C4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996" y="5033262"/>
              <a:ext cx="64120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sz="1000" b="1" dirty="0">
                  <a:solidFill>
                    <a:srgbClr val="FF0000"/>
                  </a:solidFill>
                  <a:latin typeface="宋体" pitchFamily="2" charset="-122"/>
                </a:rPr>
                <a:t>D</a:t>
              </a:r>
              <a:endParaRPr lang="en-US" altLang="zh-CN" sz="1000" b="1" dirty="0">
                <a:solidFill>
                  <a:srgbClr val="FF0000"/>
                </a:solidFill>
                <a:ea typeface="楷体_GB2312" pitchFamily="1" charset="-122"/>
              </a:endParaRPr>
            </a:p>
          </p:txBody>
        </p:sp>
        <p:sp>
          <p:nvSpPr>
            <p:cNvPr id="15447" name="未知">
              <a:extLst>
                <a:ext uri="{FF2B5EF4-FFF2-40B4-BE49-F238E27FC236}">
                  <a16:creationId xmlns:a16="http://schemas.microsoft.com/office/drawing/2014/main" id="{F7014E2B-2DF4-5052-9AC0-D6EA73827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941" y="4265142"/>
              <a:ext cx="280668" cy="301535"/>
            </a:xfrm>
            <a:custGeom>
              <a:avLst/>
              <a:gdLst>
                <a:gd name="T0" fmla="*/ 3132436 w 216"/>
                <a:gd name="T1" fmla="*/ 559741153 h 227"/>
                <a:gd name="T2" fmla="*/ 16248397 w 216"/>
                <a:gd name="T3" fmla="*/ 431963359 h 227"/>
                <a:gd name="T4" fmla="*/ 44718601 w 216"/>
                <a:gd name="T5" fmla="*/ 326584817 h 227"/>
                <a:gd name="T6" fmla="*/ 81008170 w 216"/>
                <a:gd name="T7" fmla="*/ 227932445 h 227"/>
                <a:gd name="T8" fmla="*/ 133056879 w 216"/>
                <a:gd name="T9" fmla="*/ 139722493 h 227"/>
                <a:gd name="T10" fmla="*/ 193570726 w 216"/>
                <a:gd name="T11" fmla="*/ 75813534 h 227"/>
                <a:gd name="T12" fmla="*/ 253391593 w 216"/>
                <a:gd name="T13" fmla="*/ 33107939 h 227"/>
                <a:gd name="T14" fmla="*/ 328077895 w 216"/>
                <a:gd name="T15" fmla="*/ 10147193 h 227"/>
                <a:gd name="T16" fmla="*/ 404053641 w 216"/>
                <a:gd name="T17" fmla="*/ 10147193 h 227"/>
                <a:gd name="T18" fmla="*/ 473614015 w 216"/>
                <a:gd name="T19" fmla="*/ 33107939 h 227"/>
                <a:gd name="T20" fmla="*/ 538647947 w 216"/>
                <a:gd name="T21" fmla="*/ 75813534 h 227"/>
                <a:gd name="T22" fmla="*/ 599974025 w 216"/>
                <a:gd name="T23" fmla="*/ 139722493 h 227"/>
                <a:gd name="T24" fmla="*/ 651021663 w 216"/>
                <a:gd name="T25" fmla="*/ 227932445 h 227"/>
                <a:gd name="T26" fmla="*/ 684280176 w 216"/>
                <a:gd name="T27" fmla="*/ 326584817 h 227"/>
                <a:gd name="T28" fmla="*/ 719059846 w 216"/>
                <a:gd name="T29" fmla="*/ 431963359 h 227"/>
                <a:gd name="T30" fmla="*/ 732218540 w 216"/>
                <a:gd name="T31" fmla="*/ 559741153 h 227"/>
                <a:gd name="T32" fmla="*/ 732218540 w 216"/>
                <a:gd name="T33" fmla="*/ 618956149 h 227"/>
                <a:gd name="T34" fmla="*/ 722192024 w 216"/>
                <a:gd name="T35" fmla="*/ 744022768 h 227"/>
                <a:gd name="T36" fmla="*/ 706123720 w 216"/>
                <a:gd name="T37" fmla="*/ 857787430 h 227"/>
                <a:gd name="T38" fmla="*/ 668021454 w 216"/>
                <a:gd name="T39" fmla="*/ 958434412 h 227"/>
                <a:gd name="T40" fmla="*/ 628521798 w 216"/>
                <a:gd name="T41" fmla="*/ 1057112630 h 227"/>
                <a:gd name="T42" fmla="*/ 573427077 w 216"/>
                <a:gd name="T43" fmla="*/ 1126388021 h 227"/>
                <a:gd name="T44" fmla="*/ 508488705 w 216"/>
                <a:gd name="T45" fmla="*/ 1185978067 h 227"/>
                <a:gd name="T46" fmla="*/ 437297754 w 216"/>
                <a:gd name="T47" fmla="*/ 1220474701 h 227"/>
                <a:gd name="T48" fmla="*/ 366134183 w 216"/>
                <a:gd name="T49" fmla="*/ 1230410188 h 227"/>
                <a:gd name="T50" fmla="*/ 291664425 w 216"/>
                <a:gd name="T51" fmla="*/ 1220474701 h 227"/>
                <a:gd name="T52" fmla="*/ 223644091 w 216"/>
                <a:gd name="T53" fmla="*/ 1185978067 h 227"/>
                <a:gd name="T54" fmla="*/ 158792020 w 216"/>
                <a:gd name="T55" fmla="*/ 1126388021 h 227"/>
                <a:gd name="T56" fmla="*/ 107753531 w 216"/>
                <a:gd name="T57" fmla="*/ 1057112630 h 227"/>
                <a:gd name="T58" fmla="*/ 65023271 w 216"/>
                <a:gd name="T59" fmla="*/ 958434412 h 227"/>
                <a:gd name="T60" fmla="*/ 26840323 w 216"/>
                <a:gd name="T61" fmla="*/ 857787430 h 227"/>
                <a:gd name="T62" fmla="*/ 9836524 w 216"/>
                <a:gd name="T63" fmla="*/ 744022768 h 227"/>
                <a:gd name="T64" fmla="*/ 0 w 216"/>
                <a:gd name="T65" fmla="*/ 618956149 h 22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7"/>
                <a:gd name="T101" fmla="*/ 216 w 216"/>
                <a:gd name="T102" fmla="*/ 227 h 22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7">
                  <a:moveTo>
                    <a:pt x="0" y="114"/>
                  </a:moveTo>
                  <a:lnTo>
                    <a:pt x="1" y="103"/>
                  </a:lnTo>
                  <a:lnTo>
                    <a:pt x="3" y="91"/>
                  </a:lnTo>
                  <a:lnTo>
                    <a:pt x="5" y="80"/>
                  </a:lnTo>
                  <a:lnTo>
                    <a:pt x="8" y="69"/>
                  </a:lnTo>
                  <a:lnTo>
                    <a:pt x="13" y="60"/>
                  </a:lnTo>
                  <a:lnTo>
                    <a:pt x="19" y="50"/>
                  </a:lnTo>
                  <a:lnTo>
                    <a:pt x="24" y="42"/>
                  </a:lnTo>
                  <a:lnTo>
                    <a:pt x="32" y="34"/>
                  </a:lnTo>
                  <a:lnTo>
                    <a:pt x="39" y="26"/>
                  </a:lnTo>
                  <a:lnTo>
                    <a:pt x="47" y="19"/>
                  </a:lnTo>
                  <a:lnTo>
                    <a:pt x="57" y="14"/>
                  </a:lnTo>
                  <a:lnTo>
                    <a:pt x="66" y="10"/>
                  </a:lnTo>
                  <a:lnTo>
                    <a:pt x="75" y="6"/>
                  </a:lnTo>
                  <a:lnTo>
                    <a:pt x="86" y="3"/>
                  </a:lnTo>
                  <a:lnTo>
                    <a:pt x="97" y="2"/>
                  </a:lnTo>
                  <a:lnTo>
                    <a:pt x="108" y="0"/>
                  </a:lnTo>
                  <a:lnTo>
                    <a:pt x="119" y="2"/>
                  </a:lnTo>
                  <a:lnTo>
                    <a:pt x="129" y="3"/>
                  </a:lnTo>
                  <a:lnTo>
                    <a:pt x="140" y="6"/>
                  </a:lnTo>
                  <a:lnTo>
                    <a:pt x="150" y="10"/>
                  </a:lnTo>
                  <a:lnTo>
                    <a:pt x="159" y="14"/>
                  </a:lnTo>
                  <a:lnTo>
                    <a:pt x="169" y="19"/>
                  </a:lnTo>
                  <a:lnTo>
                    <a:pt x="177" y="26"/>
                  </a:lnTo>
                  <a:lnTo>
                    <a:pt x="185" y="34"/>
                  </a:lnTo>
                  <a:lnTo>
                    <a:pt x="192" y="42"/>
                  </a:lnTo>
                  <a:lnTo>
                    <a:pt x="197" y="50"/>
                  </a:lnTo>
                  <a:lnTo>
                    <a:pt x="202" y="60"/>
                  </a:lnTo>
                  <a:lnTo>
                    <a:pt x="208" y="69"/>
                  </a:lnTo>
                  <a:lnTo>
                    <a:pt x="212" y="80"/>
                  </a:lnTo>
                  <a:lnTo>
                    <a:pt x="213" y="91"/>
                  </a:lnTo>
                  <a:lnTo>
                    <a:pt x="216" y="103"/>
                  </a:lnTo>
                  <a:lnTo>
                    <a:pt x="216" y="114"/>
                  </a:lnTo>
                  <a:lnTo>
                    <a:pt x="216" y="126"/>
                  </a:lnTo>
                  <a:lnTo>
                    <a:pt x="213" y="137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8"/>
                  </a:lnTo>
                  <a:lnTo>
                    <a:pt x="197" y="177"/>
                  </a:lnTo>
                  <a:lnTo>
                    <a:pt x="192" y="187"/>
                  </a:lnTo>
                  <a:lnTo>
                    <a:pt x="185" y="195"/>
                  </a:lnTo>
                  <a:lnTo>
                    <a:pt x="177" y="202"/>
                  </a:lnTo>
                  <a:lnTo>
                    <a:pt x="169" y="208"/>
                  </a:lnTo>
                  <a:lnTo>
                    <a:pt x="159" y="214"/>
                  </a:lnTo>
                  <a:lnTo>
                    <a:pt x="150" y="219"/>
                  </a:lnTo>
                  <a:lnTo>
                    <a:pt x="140" y="222"/>
                  </a:lnTo>
                  <a:lnTo>
                    <a:pt x="129" y="225"/>
                  </a:lnTo>
                  <a:lnTo>
                    <a:pt x="119" y="227"/>
                  </a:lnTo>
                  <a:lnTo>
                    <a:pt x="108" y="227"/>
                  </a:lnTo>
                  <a:lnTo>
                    <a:pt x="97" y="227"/>
                  </a:lnTo>
                  <a:lnTo>
                    <a:pt x="86" y="225"/>
                  </a:lnTo>
                  <a:lnTo>
                    <a:pt x="75" y="222"/>
                  </a:lnTo>
                  <a:lnTo>
                    <a:pt x="66" y="219"/>
                  </a:lnTo>
                  <a:lnTo>
                    <a:pt x="57" y="214"/>
                  </a:lnTo>
                  <a:lnTo>
                    <a:pt x="47" y="208"/>
                  </a:lnTo>
                  <a:lnTo>
                    <a:pt x="39" y="202"/>
                  </a:lnTo>
                  <a:lnTo>
                    <a:pt x="32" y="195"/>
                  </a:lnTo>
                  <a:lnTo>
                    <a:pt x="24" y="187"/>
                  </a:lnTo>
                  <a:lnTo>
                    <a:pt x="19" y="177"/>
                  </a:lnTo>
                  <a:lnTo>
                    <a:pt x="13" y="168"/>
                  </a:lnTo>
                  <a:lnTo>
                    <a:pt x="8" y="158"/>
                  </a:lnTo>
                  <a:lnTo>
                    <a:pt x="5" y="148"/>
                  </a:lnTo>
                  <a:lnTo>
                    <a:pt x="3" y="137"/>
                  </a:lnTo>
                  <a:lnTo>
                    <a:pt x="1" y="126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8" name="未知">
              <a:extLst>
                <a:ext uri="{FF2B5EF4-FFF2-40B4-BE49-F238E27FC236}">
                  <a16:creationId xmlns:a16="http://schemas.microsoft.com/office/drawing/2014/main" id="{610732AB-085C-4E66-8866-4F7EBE058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941" y="4265142"/>
              <a:ext cx="280668" cy="301535"/>
            </a:xfrm>
            <a:custGeom>
              <a:avLst/>
              <a:gdLst>
                <a:gd name="T0" fmla="*/ 3132436 w 216"/>
                <a:gd name="T1" fmla="*/ 559741153 h 227"/>
                <a:gd name="T2" fmla="*/ 16248397 w 216"/>
                <a:gd name="T3" fmla="*/ 431963359 h 227"/>
                <a:gd name="T4" fmla="*/ 44718601 w 216"/>
                <a:gd name="T5" fmla="*/ 326584817 h 227"/>
                <a:gd name="T6" fmla="*/ 81008170 w 216"/>
                <a:gd name="T7" fmla="*/ 227932445 h 227"/>
                <a:gd name="T8" fmla="*/ 133056879 w 216"/>
                <a:gd name="T9" fmla="*/ 139722493 h 227"/>
                <a:gd name="T10" fmla="*/ 193570726 w 216"/>
                <a:gd name="T11" fmla="*/ 75813534 h 227"/>
                <a:gd name="T12" fmla="*/ 253391593 w 216"/>
                <a:gd name="T13" fmla="*/ 33107939 h 227"/>
                <a:gd name="T14" fmla="*/ 328077895 w 216"/>
                <a:gd name="T15" fmla="*/ 10147193 h 227"/>
                <a:gd name="T16" fmla="*/ 404053641 w 216"/>
                <a:gd name="T17" fmla="*/ 10147193 h 227"/>
                <a:gd name="T18" fmla="*/ 473614015 w 216"/>
                <a:gd name="T19" fmla="*/ 33107939 h 227"/>
                <a:gd name="T20" fmla="*/ 538647947 w 216"/>
                <a:gd name="T21" fmla="*/ 75813534 h 227"/>
                <a:gd name="T22" fmla="*/ 599974025 w 216"/>
                <a:gd name="T23" fmla="*/ 139722493 h 227"/>
                <a:gd name="T24" fmla="*/ 651021663 w 216"/>
                <a:gd name="T25" fmla="*/ 227932445 h 227"/>
                <a:gd name="T26" fmla="*/ 684280176 w 216"/>
                <a:gd name="T27" fmla="*/ 326584817 h 227"/>
                <a:gd name="T28" fmla="*/ 719059846 w 216"/>
                <a:gd name="T29" fmla="*/ 431963359 h 227"/>
                <a:gd name="T30" fmla="*/ 732218540 w 216"/>
                <a:gd name="T31" fmla="*/ 559741153 h 227"/>
                <a:gd name="T32" fmla="*/ 732218540 w 216"/>
                <a:gd name="T33" fmla="*/ 618956149 h 227"/>
                <a:gd name="T34" fmla="*/ 722192024 w 216"/>
                <a:gd name="T35" fmla="*/ 744022768 h 227"/>
                <a:gd name="T36" fmla="*/ 706123720 w 216"/>
                <a:gd name="T37" fmla="*/ 857787430 h 227"/>
                <a:gd name="T38" fmla="*/ 668021454 w 216"/>
                <a:gd name="T39" fmla="*/ 958434412 h 227"/>
                <a:gd name="T40" fmla="*/ 628521798 w 216"/>
                <a:gd name="T41" fmla="*/ 1057112630 h 227"/>
                <a:gd name="T42" fmla="*/ 573427077 w 216"/>
                <a:gd name="T43" fmla="*/ 1126388021 h 227"/>
                <a:gd name="T44" fmla="*/ 508488705 w 216"/>
                <a:gd name="T45" fmla="*/ 1185978067 h 227"/>
                <a:gd name="T46" fmla="*/ 437297754 w 216"/>
                <a:gd name="T47" fmla="*/ 1220474701 h 227"/>
                <a:gd name="T48" fmla="*/ 366134183 w 216"/>
                <a:gd name="T49" fmla="*/ 1230410188 h 227"/>
                <a:gd name="T50" fmla="*/ 291664425 w 216"/>
                <a:gd name="T51" fmla="*/ 1220474701 h 227"/>
                <a:gd name="T52" fmla="*/ 223644091 w 216"/>
                <a:gd name="T53" fmla="*/ 1185978067 h 227"/>
                <a:gd name="T54" fmla="*/ 158792020 w 216"/>
                <a:gd name="T55" fmla="*/ 1126388021 h 227"/>
                <a:gd name="T56" fmla="*/ 107753531 w 216"/>
                <a:gd name="T57" fmla="*/ 1057112630 h 227"/>
                <a:gd name="T58" fmla="*/ 65023271 w 216"/>
                <a:gd name="T59" fmla="*/ 958434412 h 227"/>
                <a:gd name="T60" fmla="*/ 26840323 w 216"/>
                <a:gd name="T61" fmla="*/ 857787430 h 227"/>
                <a:gd name="T62" fmla="*/ 9836524 w 216"/>
                <a:gd name="T63" fmla="*/ 744022768 h 227"/>
                <a:gd name="T64" fmla="*/ 0 w 216"/>
                <a:gd name="T65" fmla="*/ 618956149 h 22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7"/>
                <a:gd name="T101" fmla="*/ 216 w 216"/>
                <a:gd name="T102" fmla="*/ 227 h 22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7">
                  <a:moveTo>
                    <a:pt x="0" y="114"/>
                  </a:moveTo>
                  <a:lnTo>
                    <a:pt x="1" y="103"/>
                  </a:lnTo>
                  <a:lnTo>
                    <a:pt x="3" y="91"/>
                  </a:lnTo>
                  <a:lnTo>
                    <a:pt x="5" y="80"/>
                  </a:lnTo>
                  <a:lnTo>
                    <a:pt x="8" y="69"/>
                  </a:lnTo>
                  <a:lnTo>
                    <a:pt x="13" y="60"/>
                  </a:lnTo>
                  <a:lnTo>
                    <a:pt x="19" y="50"/>
                  </a:lnTo>
                  <a:lnTo>
                    <a:pt x="24" y="42"/>
                  </a:lnTo>
                  <a:lnTo>
                    <a:pt x="32" y="34"/>
                  </a:lnTo>
                  <a:lnTo>
                    <a:pt x="39" y="26"/>
                  </a:lnTo>
                  <a:lnTo>
                    <a:pt x="47" y="19"/>
                  </a:lnTo>
                  <a:lnTo>
                    <a:pt x="57" y="14"/>
                  </a:lnTo>
                  <a:lnTo>
                    <a:pt x="66" y="10"/>
                  </a:lnTo>
                  <a:lnTo>
                    <a:pt x="75" y="6"/>
                  </a:lnTo>
                  <a:lnTo>
                    <a:pt x="86" y="3"/>
                  </a:lnTo>
                  <a:lnTo>
                    <a:pt x="97" y="2"/>
                  </a:lnTo>
                  <a:lnTo>
                    <a:pt x="108" y="0"/>
                  </a:lnTo>
                  <a:lnTo>
                    <a:pt x="119" y="2"/>
                  </a:lnTo>
                  <a:lnTo>
                    <a:pt x="129" y="3"/>
                  </a:lnTo>
                  <a:lnTo>
                    <a:pt x="140" y="6"/>
                  </a:lnTo>
                  <a:lnTo>
                    <a:pt x="150" y="10"/>
                  </a:lnTo>
                  <a:lnTo>
                    <a:pt x="159" y="14"/>
                  </a:lnTo>
                  <a:lnTo>
                    <a:pt x="169" y="19"/>
                  </a:lnTo>
                  <a:lnTo>
                    <a:pt x="177" y="26"/>
                  </a:lnTo>
                  <a:lnTo>
                    <a:pt x="185" y="34"/>
                  </a:lnTo>
                  <a:lnTo>
                    <a:pt x="192" y="42"/>
                  </a:lnTo>
                  <a:lnTo>
                    <a:pt x="197" y="50"/>
                  </a:lnTo>
                  <a:lnTo>
                    <a:pt x="202" y="60"/>
                  </a:lnTo>
                  <a:lnTo>
                    <a:pt x="208" y="69"/>
                  </a:lnTo>
                  <a:lnTo>
                    <a:pt x="212" y="80"/>
                  </a:lnTo>
                  <a:lnTo>
                    <a:pt x="213" y="91"/>
                  </a:lnTo>
                  <a:lnTo>
                    <a:pt x="216" y="103"/>
                  </a:lnTo>
                  <a:lnTo>
                    <a:pt x="216" y="114"/>
                  </a:lnTo>
                  <a:lnTo>
                    <a:pt x="216" y="126"/>
                  </a:lnTo>
                  <a:lnTo>
                    <a:pt x="213" y="137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8"/>
                  </a:lnTo>
                  <a:lnTo>
                    <a:pt x="197" y="177"/>
                  </a:lnTo>
                  <a:lnTo>
                    <a:pt x="192" y="187"/>
                  </a:lnTo>
                  <a:lnTo>
                    <a:pt x="185" y="195"/>
                  </a:lnTo>
                  <a:lnTo>
                    <a:pt x="177" y="202"/>
                  </a:lnTo>
                  <a:lnTo>
                    <a:pt x="169" y="208"/>
                  </a:lnTo>
                  <a:lnTo>
                    <a:pt x="159" y="214"/>
                  </a:lnTo>
                  <a:lnTo>
                    <a:pt x="150" y="219"/>
                  </a:lnTo>
                  <a:lnTo>
                    <a:pt x="140" y="222"/>
                  </a:lnTo>
                  <a:lnTo>
                    <a:pt x="129" y="225"/>
                  </a:lnTo>
                  <a:lnTo>
                    <a:pt x="119" y="227"/>
                  </a:lnTo>
                  <a:lnTo>
                    <a:pt x="108" y="227"/>
                  </a:lnTo>
                  <a:lnTo>
                    <a:pt x="97" y="227"/>
                  </a:lnTo>
                  <a:lnTo>
                    <a:pt x="86" y="225"/>
                  </a:lnTo>
                  <a:lnTo>
                    <a:pt x="75" y="222"/>
                  </a:lnTo>
                  <a:lnTo>
                    <a:pt x="66" y="219"/>
                  </a:lnTo>
                  <a:lnTo>
                    <a:pt x="57" y="214"/>
                  </a:lnTo>
                  <a:lnTo>
                    <a:pt x="47" y="208"/>
                  </a:lnTo>
                  <a:lnTo>
                    <a:pt x="39" y="202"/>
                  </a:lnTo>
                  <a:lnTo>
                    <a:pt x="32" y="195"/>
                  </a:lnTo>
                  <a:lnTo>
                    <a:pt x="24" y="187"/>
                  </a:lnTo>
                  <a:lnTo>
                    <a:pt x="19" y="177"/>
                  </a:lnTo>
                  <a:lnTo>
                    <a:pt x="13" y="168"/>
                  </a:lnTo>
                  <a:lnTo>
                    <a:pt x="8" y="158"/>
                  </a:lnTo>
                  <a:lnTo>
                    <a:pt x="5" y="148"/>
                  </a:lnTo>
                  <a:lnTo>
                    <a:pt x="3" y="137"/>
                  </a:lnTo>
                  <a:lnTo>
                    <a:pt x="1" y="126"/>
                  </a:lnTo>
                  <a:lnTo>
                    <a:pt x="0" y="11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9" name="Rectangle 185">
              <a:extLst>
                <a:ext uri="{FF2B5EF4-FFF2-40B4-BE49-F238E27FC236}">
                  <a16:creationId xmlns:a16="http://schemas.microsoft.com/office/drawing/2014/main" id="{EC70AB62-6DC3-096B-51CB-8BBF1646C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0" y="4325449"/>
              <a:ext cx="64135" cy="153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sz="1000" b="1">
                  <a:solidFill>
                    <a:srgbClr val="FF0000"/>
                  </a:solidFill>
                  <a:latin typeface="宋体" pitchFamily="2" charset="-122"/>
                </a:rPr>
                <a:t>B</a:t>
              </a:r>
              <a:endParaRPr lang="en-US" altLang="zh-CN" sz="1000" b="1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endParaRPr>
            </a:p>
          </p:txBody>
        </p:sp>
        <p:sp>
          <p:nvSpPr>
            <p:cNvPr id="15450" name="未知">
              <a:extLst>
                <a:ext uri="{FF2B5EF4-FFF2-40B4-BE49-F238E27FC236}">
                  <a16:creationId xmlns:a16="http://schemas.microsoft.com/office/drawing/2014/main" id="{26EDA05C-5308-CE49-BAC0-2220C041D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941" y="5693465"/>
              <a:ext cx="280668" cy="301535"/>
            </a:xfrm>
            <a:custGeom>
              <a:avLst/>
              <a:gdLst>
                <a:gd name="T0" fmla="*/ 3132436 w 216"/>
                <a:gd name="T1" fmla="*/ 605799974 h 226"/>
                <a:gd name="T2" fmla="*/ 16248397 w 216"/>
                <a:gd name="T3" fmla="*/ 470234226 h 226"/>
                <a:gd name="T4" fmla="*/ 44718601 w 216"/>
                <a:gd name="T5" fmla="*/ 351636369 h 226"/>
                <a:gd name="T6" fmla="*/ 81008170 w 216"/>
                <a:gd name="T7" fmla="*/ 243453492 h 226"/>
                <a:gd name="T8" fmla="*/ 133056879 w 216"/>
                <a:gd name="T9" fmla="*/ 149345652 h 226"/>
                <a:gd name="T10" fmla="*/ 193570726 w 216"/>
                <a:gd name="T11" fmla="*/ 76838499 h 226"/>
                <a:gd name="T12" fmla="*/ 253391593 w 216"/>
                <a:gd name="T13" fmla="*/ 30747017 h 226"/>
                <a:gd name="T14" fmla="*/ 328077895 w 216"/>
                <a:gd name="T15" fmla="*/ 5246112 h 226"/>
                <a:gd name="T16" fmla="*/ 404053641 w 216"/>
                <a:gd name="T17" fmla="*/ 5246112 h 226"/>
                <a:gd name="T18" fmla="*/ 473614015 w 216"/>
                <a:gd name="T19" fmla="*/ 30747017 h 226"/>
                <a:gd name="T20" fmla="*/ 538647947 w 216"/>
                <a:gd name="T21" fmla="*/ 76838499 h 226"/>
                <a:gd name="T22" fmla="*/ 599974025 w 216"/>
                <a:gd name="T23" fmla="*/ 149345652 h 226"/>
                <a:gd name="T24" fmla="*/ 651021663 w 216"/>
                <a:gd name="T25" fmla="*/ 243453492 h 226"/>
                <a:gd name="T26" fmla="*/ 684280176 w 216"/>
                <a:gd name="T27" fmla="*/ 351636369 h 226"/>
                <a:gd name="T28" fmla="*/ 719059846 w 216"/>
                <a:gd name="T29" fmla="*/ 470234226 h 226"/>
                <a:gd name="T30" fmla="*/ 732218540 w 216"/>
                <a:gd name="T31" fmla="*/ 605799974 h 226"/>
                <a:gd name="T32" fmla="*/ 732218540 w 216"/>
                <a:gd name="T33" fmla="*/ 673247391 h 226"/>
                <a:gd name="T34" fmla="*/ 728896509 w 216"/>
                <a:gd name="T35" fmla="*/ 809121661 h 226"/>
                <a:gd name="T36" fmla="*/ 706123720 w 216"/>
                <a:gd name="T37" fmla="*/ 939556915 h 226"/>
                <a:gd name="T38" fmla="*/ 668021454 w 216"/>
                <a:gd name="T39" fmla="*/ 1047187779 h 226"/>
                <a:gd name="T40" fmla="*/ 628521798 w 216"/>
                <a:gd name="T41" fmla="*/ 1154717196 h 226"/>
                <a:gd name="T42" fmla="*/ 573427077 w 216"/>
                <a:gd name="T43" fmla="*/ 1235532183 h 226"/>
                <a:gd name="T44" fmla="*/ 508488705 w 216"/>
                <a:gd name="T45" fmla="*/ 1296425926 h 226"/>
                <a:gd name="T46" fmla="*/ 437297754 w 216"/>
                <a:gd name="T47" fmla="*/ 1332984545 h 226"/>
                <a:gd name="T48" fmla="*/ 366134183 w 216"/>
                <a:gd name="T49" fmla="*/ 1343980891 h 226"/>
                <a:gd name="T50" fmla="*/ 291664425 w 216"/>
                <a:gd name="T51" fmla="*/ 1332984545 h 226"/>
                <a:gd name="T52" fmla="*/ 223644091 w 216"/>
                <a:gd name="T53" fmla="*/ 1296425926 h 226"/>
                <a:gd name="T54" fmla="*/ 158792020 w 216"/>
                <a:gd name="T55" fmla="*/ 1235532183 h 226"/>
                <a:gd name="T56" fmla="*/ 107753531 w 216"/>
                <a:gd name="T57" fmla="*/ 1154717196 h 226"/>
                <a:gd name="T58" fmla="*/ 65023271 w 216"/>
                <a:gd name="T59" fmla="*/ 1047187779 h 226"/>
                <a:gd name="T60" fmla="*/ 26840323 w 216"/>
                <a:gd name="T61" fmla="*/ 939556915 h 226"/>
                <a:gd name="T62" fmla="*/ 9836524 w 216"/>
                <a:gd name="T63" fmla="*/ 809121661 h 226"/>
                <a:gd name="T64" fmla="*/ 0 w 216"/>
                <a:gd name="T65" fmla="*/ 673247391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6"/>
                <a:gd name="T101" fmla="*/ 216 w 216"/>
                <a:gd name="T102" fmla="*/ 226 h 2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6">
                  <a:moveTo>
                    <a:pt x="0" y="113"/>
                  </a:moveTo>
                  <a:lnTo>
                    <a:pt x="1" y="102"/>
                  </a:lnTo>
                  <a:lnTo>
                    <a:pt x="3" y="90"/>
                  </a:lnTo>
                  <a:lnTo>
                    <a:pt x="5" y="79"/>
                  </a:lnTo>
                  <a:lnTo>
                    <a:pt x="8" y="68"/>
                  </a:lnTo>
                  <a:lnTo>
                    <a:pt x="13" y="59"/>
                  </a:lnTo>
                  <a:lnTo>
                    <a:pt x="19" y="50"/>
                  </a:lnTo>
                  <a:lnTo>
                    <a:pt x="24" y="41"/>
                  </a:lnTo>
                  <a:lnTo>
                    <a:pt x="32" y="33"/>
                  </a:lnTo>
                  <a:lnTo>
                    <a:pt x="39" y="25"/>
                  </a:lnTo>
                  <a:lnTo>
                    <a:pt x="47" y="18"/>
                  </a:lnTo>
                  <a:lnTo>
                    <a:pt x="57" y="13"/>
                  </a:lnTo>
                  <a:lnTo>
                    <a:pt x="66" y="9"/>
                  </a:lnTo>
                  <a:lnTo>
                    <a:pt x="75" y="5"/>
                  </a:lnTo>
                  <a:lnTo>
                    <a:pt x="86" y="2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2"/>
                  </a:lnTo>
                  <a:lnTo>
                    <a:pt x="140" y="5"/>
                  </a:lnTo>
                  <a:lnTo>
                    <a:pt x="150" y="9"/>
                  </a:lnTo>
                  <a:lnTo>
                    <a:pt x="159" y="13"/>
                  </a:lnTo>
                  <a:lnTo>
                    <a:pt x="169" y="18"/>
                  </a:lnTo>
                  <a:lnTo>
                    <a:pt x="177" y="25"/>
                  </a:lnTo>
                  <a:lnTo>
                    <a:pt x="185" y="33"/>
                  </a:lnTo>
                  <a:lnTo>
                    <a:pt x="192" y="41"/>
                  </a:lnTo>
                  <a:lnTo>
                    <a:pt x="197" y="50"/>
                  </a:lnTo>
                  <a:lnTo>
                    <a:pt x="202" y="59"/>
                  </a:lnTo>
                  <a:lnTo>
                    <a:pt x="208" y="68"/>
                  </a:lnTo>
                  <a:lnTo>
                    <a:pt x="212" y="79"/>
                  </a:lnTo>
                  <a:lnTo>
                    <a:pt x="215" y="90"/>
                  </a:lnTo>
                  <a:lnTo>
                    <a:pt x="216" y="102"/>
                  </a:lnTo>
                  <a:lnTo>
                    <a:pt x="216" y="113"/>
                  </a:lnTo>
                  <a:lnTo>
                    <a:pt x="216" y="125"/>
                  </a:lnTo>
                  <a:lnTo>
                    <a:pt x="215" y="136"/>
                  </a:lnTo>
                  <a:lnTo>
                    <a:pt x="212" y="147"/>
                  </a:lnTo>
                  <a:lnTo>
                    <a:pt x="208" y="158"/>
                  </a:lnTo>
                  <a:lnTo>
                    <a:pt x="202" y="167"/>
                  </a:lnTo>
                  <a:lnTo>
                    <a:pt x="197" y="176"/>
                  </a:lnTo>
                  <a:lnTo>
                    <a:pt x="192" y="186"/>
                  </a:lnTo>
                  <a:lnTo>
                    <a:pt x="185" y="194"/>
                  </a:lnTo>
                  <a:lnTo>
                    <a:pt x="177" y="201"/>
                  </a:lnTo>
                  <a:lnTo>
                    <a:pt x="169" y="208"/>
                  </a:lnTo>
                  <a:lnTo>
                    <a:pt x="159" y="213"/>
                  </a:lnTo>
                  <a:lnTo>
                    <a:pt x="150" y="218"/>
                  </a:lnTo>
                  <a:lnTo>
                    <a:pt x="140" y="221"/>
                  </a:lnTo>
                  <a:lnTo>
                    <a:pt x="129" y="224"/>
                  </a:lnTo>
                  <a:lnTo>
                    <a:pt x="119" y="226"/>
                  </a:lnTo>
                  <a:lnTo>
                    <a:pt x="108" y="226"/>
                  </a:lnTo>
                  <a:lnTo>
                    <a:pt x="97" y="226"/>
                  </a:lnTo>
                  <a:lnTo>
                    <a:pt x="86" y="224"/>
                  </a:lnTo>
                  <a:lnTo>
                    <a:pt x="75" y="221"/>
                  </a:lnTo>
                  <a:lnTo>
                    <a:pt x="66" y="218"/>
                  </a:lnTo>
                  <a:lnTo>
                    <a:pt x="57" y="213"/>
                  </a:lnTo>
                  <a:lnTo>
                    <a:pt x="47" y="208"/>
                  </a:lnTo>
                  <a:lnTo>
                    <a:pt x="39" y="201"/>
                  </a:lnTo>
                  <a:lnTo>
                    <a:pt x="32" y="194"/>
                  </a:lnTo>
                  <a:lnTo>
                    <a:pt x="24" y="186"/>
                  </a:lnTo>
                  <a:lnTo>
                    <a:pt x="19" y="176"/>
                  </a:lnTo>
                  <a:lnTo>
                    <a:pt x="13" y="167"/>
                  </a:lnTo>
                  <a:lnTo>
                    <a:pt x="8" y="158"/>
                  </a:lnTo>
                  <a:lnTo>
                    <a:pt x="5" y="147"/>
                  </a:lnTo>
                  <a:lnTo>
                    <a:pt x="3" y="136"/>
                  </a:lnTo>
                  <a:lnTo>
                    <a:pt x="1" y="125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1" name="未知">
              <a:extLst>
                <a:ext uri="{FF2B5EF4-FFF2-40B4-BE49-F238E27FC236}">
                  <a16:creationId xmlns:a16="http://schemas.microsoft.com/office/drawing/2014/main" id="{3B01143A-D655-D88E-D52E-56FAE8F02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941" y="5693465"/>
              <a:ext cx="280668" cy="301535"/>
            </a:xfrm>
            <a:custGeom>
              <a:avLst/>
              <a:gdLst>
                <a:gd name="T0" fmla="*/ 3132436 w 216"/>
                <a:gd name="T1" fmla="*/ 605799974 h 226"/>
                <a:gd name="T2" fmla="*/ 16248397 w 216"/>
                <a:gd name="T3" fmla="*/ 470234226 h 226"/>
                <a:gd name="T4" fmla="*/ 44718601 w 216"/>
                <a:gd name="T5" fmla="*/ 351636369 h 226"/>
                <a:gd name="T6" fmla="*/ 81008170 w 216"/>
                <a:gd name="T7" fmla="*/ 243453492 h 226"/>
                <a:gd name="T8" fmla="*/ 133056879 w 216"/>
                <a:gd name="T9" fmla="*/ 149345652 h 226"/>
                <a:gd name="T10" fmla="*/ 193570726 w 216"/>
                <a:gd name="T11" fmla="*/ 76838499 h 226"/>
                <a:gd name="T12" fmla="*/ 253391593 w 216"/>
                <a:gd name="T13" fmla="*/ 30747017 h 226"/>
                <a:gd name="T14" fmla="*/ 328077895 w 216"/>
                <a:gd name="T15" fmla="*/ 5246112 h 226"/>
                <a:gd name="T16" fmla="*/ 404053641 w 216"/>
                <a:gd name="T17" fmla="*/ 5246112 h 226"/>
                <a:gd name="T18" fmla="*/ 473614015 w 216"/>
                <a:gd name="T19" fmla="*/ 30747017 h 226"/>
                <a:gd name="T20" fmla="*/ 538647947 w 216"/>
                <a:gd name="T21" fmla="*/ 76838499 h 226"/>
                <a:gd name="T22" fmla="*/ 599974025 w 216"/>
                <a:gd name="T23" fmla="*/ 149345652 h 226"/>
                <a:gd name="T24" fmla="*/ 651021663 w 216"/>
                <a:gd name="T25" fmla="*/ 243453492 h 226"/>
                <a:gd name="T26" fmla="*/ 684280176 w 216"/>
                <a:gd name="T27" fmla="*/ 351636369 h 226"/>
                <a:gd name="T28" fmla="*/ 719059846 w 216"/>
                <a:gd name="T29" fmla="*/ 470234226 h 226"/>
                <a:gd name="T30" fmla="*/ 732218540 w 216"/>
                <a:gd name="T31" fmla="*/ 605799974 h 226"/>
                <a:gd name="T32" fmla="*/ 732218540 w 216"/>
                <a:gd name="T33" fmla="*/ 673247391 h 226"/>
                <a:gd name="T34" fmla="*/ 728896509 w 216"/>
                <a:gd name="T35" fmla="*/ 809121661 h 226"/>
                <a:gd name="T36" fmla="*/ 706123720 w 216"/>
                <a:gd name="T37" fmla="*/ 939556915 h 226"/>
                <a:gd name="T38" fmla="*/ 668021454 w 216"/>
                <a:gd name="T39" fmla="*/ 1047187779 h 226"/>
                <a:gd name="T40" fmla="*/ 628521798 w 216"/>
                <a:gd name="T41" fmla="*/ 1154717196 h 226"/>
                <a:gd name="T42" fmla="*/ 573427077 w 216"/>
                <a:gd name="T43" fmla="*/ 1235532183 h 226"/>
                <a:gd name="T44" fmla="*/ 508488705 w 216"/>
                <a:gd name="T45" fmla="*/ 1296425926 h 226"/>
                <a:gd name="T46" fmla="*/ 437297754 w 216"/>
                <a:gd name="T47" fmla="*/ 1332984545 h 226"/>
                <a:gd name="T48" fmla="*/ 366134183 w 216"/>
                <a:gd name="T49" fmla="*/ 1343980891 h 226"/>
                <a:gd name="T50" fmla="*/ 291664425 w 216"/>
                <a:gd name="T51" fmla="*/ 1332984545 h 226"/>
                <a:gd name="T52" fmla="*/ 223644091 w 216"/>
                <a:gd name="T53" fmla="*/ 1296425926 h 226"/>
                <a:gd name="T54" fmla="*/ 158792020 w 216"/>
                <a:gd name="T55" fmla="*/ 1235532183 h 226"/>
                <a:gd name="T56" fmla="*/ 107753531 w 216"/>
                <a:gd name="T57" fmla="*/ 1154717196 h 226"/>
                <a:gd name="T58" fmla="*/ 65023271 w 216"/>
                <a:gd name="T59" fmla="*/ 1047187779 h 226"/>
                <a:gd name="T60" fmla="*/ 26840323 w 216"/>
                <a:gd name="T61" fmla="*/ 939556915 h 226"/>
                <a:gd name="T62" fmla="*/ 9836524 w 216"/>
                <a:gd name="T63" fmla="*/ 809121661 h 226"/>
                <a:gd name="T64" fmla="*/ 0 w 216"/>
                <a:gd name="T65" fmla="*/ 673247391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6"/>
                <a:gd name="T101" fmla="*/ 216 w 216"/>
                <a:gd name="T102" fmla="*/ 226 h 2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6">
                  <a:moveTo>
                    <a:pt x="0" y="113"/>
                  </a:moveTo>
                  <a:lnTo>
                    <a:pt x="1" y="102"/>
                  </a:lnTo>
                  <a:lnTo>
                    <a:pt x="3" y="90"/>
                  </a:lnTo>
                  <a:lnTo>
                    <a:pt x="5" y="79"/>
                  </a:lnTo>
                  <a:lnTo>
                    <a:pt x="8" y="68"/>
                  </a:lnTo>
                  <a:lnTo>
                    <a:pt x="13" y="59"/>
                  </a:lnTo>
                  <a:lnTo>
                    <a:pt x="19" y="50"/>
                  </a:lnTo>
                  <a:lnTo>
                    <a:pt x="24" y="41"/>
                  </a:lnTo>
                  <a:lnTo>
                    <a:pt x="32" y="33"/>
                  </a:lnTo>
                  <a:lnTo>
                    <a:pt x="39" y="25"/>
                  </a:lnTo>
                  <a:lnTo>
                    <a:pt x="47" y="18"/>
                  </a:lnTo>
                  <a:lnTo>
                    <a:pt x="57" y="13"/>
                  </a:lnTo>
                  <a:lnTo>
                    <a:pt x="66" y="9"/>
                  </a:lnTo>
                  <a:lnTo>
                    <a:pt x="75" y="5"/>
                  </a:lnTo>
                  <a:lnTo>
                    <a:pt x="86" y="2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2"/>
                  </a:lnTo>
                  <a:lnTo>
                    <a:pt x="140" y="5"/>
                  </a:lnTo>
                  <a:lnTo>
                    <a:pt x="150" y="9"/>
                  </a:lnTo>
                  <a:lnTo>
                    <a:pt x="159" y="13"/>
                  </a:lnTo>
                  <a:lnTo>
                    <a:pt x="169" y="18"/>
                  </a:lnTo>
                  <a:lnTo>
                    <a:pt x="177" y="25"/>
                  </a:lnTo>
                  <a:lnTo>
                    <a:pt x="185" y="33"/>
                  </a:lnTo>
                  <a:lnTo>
                    <a:pt x="192" y="41"/>
                  </a:lnTo>
                  <a:lnTo>
                    <a:pt x="197" y="50"/>
                  </a:lnTo>
                  <a:lnTo>
                    <a:pt x="202" y="59"/>
                  </a:lnTo>
                  <a:lnTo>
                    <a:pt x="208" y="68"/>
                  </a:lnTo>
                  <a:lnTo>
                    <a:pt x="212" y="79"/>
                  </a:lnTo>
                  <a:lnTo>
                    <a:pt x="215" y="90"/>
                  </a:lnTo>
                  <a:lnTo>
                    <a:pt x="216" y="102"/>
                  </a:lnTo>
                  <a:lnTo>
                    <a:pt x="216" y="113"/>
                  </a:lnTo>
                  <a:lnTo>
                    <a:pt x="216" y="125"/>
                  </a:lnTo>
                  <a:lnTo>
                    <a:pt x="215" y="136"/>
                  </a:lnTo>
                  <a:lnTo>
                    <a:pt x="212" y="147"/>
                  </a:lnTo>
                  <a:lnTo>
                    <a:pt x="208" y="158"/>
                  </a:lnTo>
                  <a:lnTo>
                    <a:pt x="202" y="167"/>
                  </a:lnTo>
                  <a:lnTo>
                    <a:pt x="197" y="176"/>
                  </a:lnTo>
                  <a:lnTo>
                    <a:pt x="192" y="186"/>
                  </a:lnTo>
                  <a:lnTo>
                    <a:pt x="185" y="194"/>
                  </a:lnTo>
                  <a:lnTo>
                    <a:pt x="177" y="201"/>
                  </a:lnTo>
                  <a:lnTo>
                    <a:pt x="169" y="208"/>
                  </a:lnTo>
                  <a:lnTo>
                    <a:pt x="159" y="213"/>
                  </a:lnTo>
                  <a:lnTo>
                    <a:pt x="150" y="218"/>
                  </a:lnTo>
                  <a:lnTo>
                    <a:pt x="140" y="221"/>
                  </a:lnTo>
                  <a:lnTo>
                    <a:pt x="129" y="224"/>
                  </a:lnTo>
                  <a:lnTo>
                    <a:pt x="119" y="226"/>
                  </a:lnTo>
                  <a:lnTo>
                    <a:pt x="108" y="226"/>
                  </a:lnTo>
                  <a:lnTo>
                    <a:pt x="97" y="226"/>
                  </a:lnTo>
                  <a:lnTo>
                    <a:pt x="86" y="224"/>
                  </a:lnTo>
                  <a:lnTo>
                    <a:pt x="75" y="221"/>
                  </a:lnTo>
                  <a:lnTo>
                    <a:pt x="66" y="218"/>
                  </a:lnTo>
                  <a:lnTo>
                    <a:pt x="57" y="213"/>
                  </a:lnTo>
                  <a:lnTo>
                    <a:pt x="47" y="208"/>
                  </a:lnTo>
                  <a:lnTo>
                    <a:pt x="39" y="201"/>
                  </a:lnTo>
                  <a:lnTo>
                    <a:pt x="32" y="194"/>
                  </a:lnTo>
                  <a:lnTo>
                    <a:pt x="24" y="186"/>
                  </a:lnTo>
                  <a:lnTo>
                    <a:pt x="19" y="176"/>
                  </a:lnTo>
                  <a:lnTo>
                    <a:pt x="13" y="167"/>
                  </a:lnTo>
                  <a:lnTo>
                    <a:pt x="8" y="158"/>
                  </a:lnTo>
                  <a:lnTo>
                    <a:pt x="5" y="147"/>
                  </a:lnTo>
                  <a:lnTo>
                    <a:pt x="3" y="136"/>
                  </a:lnTo>
                  <a:lnTo>
                    <a:pt x="1" y="125"/>
                  </a:lnTo>
                  <a:lnTo>
                    <a:pt x="0" y="11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" name="Rectangle 188">
              <a:extLst>
                <a:ext uri="{FF2B5EF4-FFF2-40B4-BE49-F238E27FC236}">
                  <a16:creationId xmlns:a16="http://schemas.microsoft.com/office/drawing/2014/main" id="{8B9B563C-0E4A-0462-5C57-DC04C1393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0" y="5753772"/>
              <a:ext cx="63500" cy="154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sz="1000" b="1">
                  <a:solidFill>
                    <a:srgbClr val="FF0000"/>
                  </a:solidFill>
                  <a:latin typeface="宋体" pitchFamily="2" charset="-122"/>
                </a:rPr>
                <a:t>C</a:t>
              </a:r>
              <a:endParaRPr lang="en-US" altLang="zh-CN" sz="1000" b="1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endParaRPr>
            </a:p>
          </p:txBody>
        </p:sp>
        <p:sp>
          <p:nvSpPr>
            <p:cNvPr id="15453" name="未知">
              <a:extLst>
                <a:ext uri="{FF2B5EF4-FFF2-40B4-BE49-F238E27FC236}">
                  <a16:creationId xmlns:a16="http://schemas.microsoft.com/office/drawing/2014/main" id="{29B647BC-8C84-D029-11A4-A373C1D5F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7787" y="4981208"/>
              <a:ext cx="280668" cy="299630"/>
            </a:xfrm>
            <a:custGeom>
              <a:avLst/>
              <a:gdLst>
                <a:gd name="T0" fmla="*/ 3132436 w 216"/>
                <a:gd name="T1" fmla="*/ 530921433 h 226"/>
                <a:gd name="T2" fmla="*/ 16248397 w 216"/>
                <a:gd name="T3" fmla="*/ 412030994 h 226"/>
                <a:gd name="T4" fmla="*/ 44718601 w 216"/>
                <a:gd name="T5" fmla="*/ 306955967 h 226"/>
                <a:gd name="T6" fmla="*/ 81008170 w 216"/>
                <a:gd name="T7" fmla="*/ 214744967 h 226"/>
                <a:gd name="T8" fmla="*/ 133056879 w 216"/>
                <a:gd name="T9" fmla="*/ 130247567 h 226"/>
                <a:gd name="T10" fmla="*/ 190341245 w 216"/>
                <a:gd name="T11" fmla="*/ 66805270 h 226"/>
                <a:gd name="T12" fmla="*/ 253391593 w 216"/>
                <a:gd name="T13" fmla="*/ 25142567 h 226"/>
                <a:gd name="T14" fmla="*/ 328077895 w 216"/>
                <a:gd name="T15" fmla="*/ 4719390 h 226"/>
                <a:gd name="T16" fmla="*/ 404053641 w 216"/>
                <a:gd name="T17" fmla="*/ 4719390 h 226"/>
                <a:gd name="T18" fmla="*/ 473614015 w 216"/>
                <a:gd name="T19" fmla="*/ 25142567 h 226"/>
                <a:gd name="T20" fmla="*/ 538647947 w 216"/>
                <a:gd name="T21" fmla="*/ 66805270 h 226"/>
                <a:gd name="T22" fmla="*/ 599974025 w 216"/>
                <a:gd name="T23" fmla="*/ 130247567 h 226"/>
                <a:gd name="T24" fmla="*/ 647868110 w 216"/>
                <a:gd name="T25" fmla="*/ 214744967 h 226"/>
                <a:gd name="T26" fmla="*/ 684280176 w 216"/>
                <a:gd name="T27" fmla="*/ 306955967 h 226"/>
                <a:gd name="T28" fmla="*/ 719059846 w 216"/>
                <a:gd name="T29" fmla="*/ 412030994 h 226"/>
                <a:gd name="T30" fmla="*/ 732218540 w 216"/>
                <a:gd name="T31" fmla="*/ 530921433 h 226"/>
                <a:gd name="T32" fmla="*/ 732218540 w 216"/>
                <a:gd name="T33" fmla="*/ 588560306 h 226"/>
                <a:gd name="T34" fmla="*/ 725469299 w 216"/>
                <a:gd name="T35" fmla="*/ 707635123 h 226"/>
                <a:gd name="T36" fmla="*/ 706123720 w 216"/>
                <a:gd name="T37" fmla="*/ 817938906 h 226"/>
                <a:gd name="T38" fmla="*/ 668021454 w 216"/>
                <a:gd name="T39" fmla="*/ 917805539 h 226"/>
                <a:gd name="T40" fmla="*/ 628521798 w 216"/>
                <a:gd name="T41" fmla="*/ 1009756555 h 226"/>
                <a:gd name="T42" fmla="*/ 570381366 w 216"/>
                <a:gd name="T43" fmla="*/ 1076707342 h 226"/>
                <a:gd name="T44" fmla="*/ 508488705 w 216"/>
                <a:gd name="T45" fmla="*/ 1133989214 h 226"/>
                <a:gd name="T46" fmla="*/ 437297754 w 216"/>
                <a:gd name="T47" fmla="*/ 1165977676 h 226"/>
                <a:gd name="T48" fmla="*/ 366134183 w 216"/>
                <a:gd name="T49" fmla="*/ 1176707096 h 226"/>
                <a:gd name="T50" fmla="*/ 291664425 w 216"/>
                <a:gd name="T51" fmla="*/ 1165977676 h 226"/>
                <a:gd name="T52" fmla="*/ 223644091 w 216"/>
                <a:gd name="T53" fmla="*/ 1133989214 h 226"/>
                <a:gd name="T54" fmla="*/ 158792020 w 216"/>
                <a:gd name="T55" fmla="*/ 1076707342 h 226"/>
                <a:gd name="T56" fmla="*/ 107753531 w 216"/>
                <a:gd name="T57" fmla="*/ 1009756555 h 226"/>
                <a:gd name="T58" fmla="*/ 65023271 w 216"/>
                <a:gd name="T59" fmla="*/ 917805539 h 226"/>
                <a:gd name="T60" fmla="*/ 26840323 w 216"/>
                <a:gd name="T61" fmla="*/ 817938906 h 226"/>
                <a:gd name="T62" fmla="*/ 6409892 w 216"/>
                <a:gd name="T63" fmla="*/ 707635123 h 226"/>
                <a:gd name="T64" fmla="*/ 0 w 216"/>
                <a:gd name="T65" fmla="*/ 588560306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6"/>
                <a:gd name="T101" fmla="*/ 216 w 216"/>
                <a:gd name="T102" fmla="*/ 226 h 2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6">
                  <a:moveTo>
                    <a:pt x="0" y="113"/>
                  </a:moveTo>
                  <a:lnTo>
                    <a:pt x="1" y="102"/>
                  </a:lnTo>
                  <a:lnTo>
                    <a:pt x="2" y="90"/>
                  </a:lnTo>
                  <a:lnTo>
                    <a:pt x="5" y="79"/>
                  </a:lnTo>
                  <a:lnTo>
                    <a:pt x="8" y="68"/>
                  </a:lnTo>
                  <a:lnTo>
                    <a:pt x="13" y="59"/>
                  </a:lnTo>
                  <a:lnTo>
                    <a:pt x="19" y="49"/>
                  </a:lnTo>
                  <a:lnTo>
                    <a:pt x="24" y="41"/>
                  </a:lnTo>
                  <a:lnTo>
                    <a:pt x="32" y="33"/>
                  </a:lnTo>
                  <a:lnTo>
                    <a:pt x="39" y="25"/>
                  </a:lnTo>
                  <a:lnTo>
                    <a:pt x="47" y="18"/>
                  </a:lnTo>
                  <a:lnTo>
                    <a:pt x="56" y="13"/>
                  </a:lnTo>
                  <a:lnTo>
                    <a:pt x="66" y="9"/>
                  </a:lnTo>
                  <a:lnTo>
                    <a:pt x="75" y="5"/>
                  </a:lnTo>
                  <a:lnTo>
                    <a:pt x="86" y="2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2"/>
                  </a:lnTo>
                  <a:lnTo>
                    <a:pt x="140" y="5"/>
                  </a:lnTo>
                  <a:lnTo>
                    <a:pt x="150" y="9"/>
                  </a:lnTo>
                  <a:lnTo>
                    <a:pt x="159" y="13"/>
                  </a:lnTo>
                  <a:lnTo>
                    <a:pt x="168" y="18"/>
                  </a:lnTo>
                  <a:lnTo>
                    <a:pt x="177" y="25"/>
                  </a:lnTo>
                  <a:lnTo>
                    <a:pt x="185" y="33"/>
                  </a:lnTo>
                  <a:lnTo>
                    <a:pt x="191" y="41"/>
                  </a:lnTo>
                  <a:lnTo>
                    <a:pt x="197" y="49"/>
                  </a:lnTo>
                  <a:lnTo>
                    <a:pt x="202" y="59"/>
                  </a:lnTo>
                  <a:lnTo>
                    <a:pt x="208" y="68"/>
                  </a:lnTo>
                  <a:lnTo>
                    <a:pt x="212" y="79"/>
                  </a:lnTo>
                  <a:lnTo>
                    <a:pt x="214" y="90"/>
                  </a:lnTo>
                  <a:lnTo>
                    <a:pt x="216" y="102"/>
                  </a:lnTo>
                  <a:lnTo>
                    <a:pt x="216" y="113"/>
                  </a:lnTo>
                  <a:lnTo>
                    <a:pt x="216" y="125"/>
                  </a:lnTo>
                  <a:lnTo>
                    <a:pt x="214" y="136"/>
                  </a:lnTo>
                  <a:lnTo>
                    <a:pt x="212" y="147"/>
                  </a:lnTo>
                  <a:lnTo>
                    <a:pt x="208" y="157"/>
                  </a:lnTo>
                  <a:lnTo>
                    <a:pt x="202" y="167"/>
                  </a:lnTo>
                  <a:lnTo>
                    <a:pt x="197" y="176"/>
                  </a:lnTo>
                  <a:lnTo>
                    <a:pt x="191" y="186"/>
                  </a:lnTo>
                  <a:lnTo>
                    <a:pt x="185" y="194"/>
                  </a:lnTo>
                  <a:lnTo>
                    <a:pt x="177" y="201"/>
                  </a:lnTo>
                  <a:lnTo>
                    <a:pt x="168" y="207"/>
                  </a:lnTo>
                  <a:lnTo>
                    <a:pt x="159" y="213"/>
                  </a:lnTo>
                  <a:lnTo>
                    <a:pt x="150" y="218"/>
                  </a:lnTo>
                  <a:lnTo>
                    <a:pt x="140" y="221"/>
                  </a:lnTo>
                  <a:lnTo>
                    <a:pt x="129" y="224"/>
                  </a:lnTo>
                  <a:lnTo>
                    <a:pt x="119" y="226"/>
                  </a:lnTo>
                  <a:lnTo>
                    <a:pt x="108" y="226"/>
                  </a:lnTo>
                  <a:lnTo>
                    <a:pt x="97" y="226"/>
                  </a:lnTo>
                  <a:lnTo>
                    <a:pt x="86" y="224"/>
                  </a:lnTo>
                  <a:lnTo>
                    <a:pt x="75" y="221"/>
                  </a:lnTo>
                  <a:lnTo>
                    <a:pt x="66" y="218"/>
                  </a:lnTo>
                  <a:lnTo>
                    <a:pt x="56" y="213"/>
                  </a:lnTo>
                  <a:lnTo>
                    <a:pt x="47" y="207"/>
                  </a:lnTo>
                  <a:lnTo>
                    <a:pt x="39" y="201"/>
                  </a:lnTo>
                  <a:lnTo>
                    <a:pt x="32" y="194"/>
                  </a:lnTo>
                  <a:lnTo>
                    <a:pt x="24" y="186"/>
                  </a:lnTo>
                  <a:lnTo>
                    <a:pt x="19" y="176"/>
                  </a:lnTo>
                  <a:lnTo>
                    <a:pt x="13" y="167"/>
                  </a:lnTo>
                  <a:lnTo>
                    <a:pt x="8" y="157"/>
                  </a:lnTo>
                  <a:lnTo>
                    <a:pt x="5" y="147"/>
                  </a:lnTo>
                  <a:lnTo>
                    <a:pt x="2" y="136"/>
                  </a:lnTo>
                  <a:lnTo>
                    <a:pt x="1" y="125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4" name="未知">
              <a:extLst>
                <a:ext uri="{FF2B5EF4-FFF2-40B4-BE49-F238E27FC236}">
                  <a16:creationId xmlns:a16="http://schemas.microsoft.com/office/drawing/2014/main" id="{97AA90E5-EAA8-9422-2A27-A473B1C58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7787" y="4981208"/>
              <a:ext cx="280668" cy="299630"/>
            </a:xfrm>
            <a:custGeom>
              <a:avLst/>
              <a:gdLst>
                <a:gd name="T0" fmla="*/ 3132436 w 216"/>
                <a:gd name="T1" fmla="*/ 530921433 h 226"/>
                <a:gd name="T2" fmla="*/ 16248397 w 216"/>
                <a:gd name="T3" fmla="*/ 412030994 h 226"/>
                <a:gd name="T4" fmla="*/ 44718601 w 216"/>
                <a:gd name="T5" fmla="*/ 306955967 h 226"/>
                <a:gd name="T6" fmla="*/ 81008170 w 216"/>
                <a:gd name="T7" fmla="*/ 214744967 h 226"/>
                <a:gd name="T8" fmla="*/ 133056879 w 216"/>
                <a:gd name="T9" fmla="*/ 130247567 h 226"/>
                <a:gd name="T10" fmla="*/ 190341245 w 216"/>
                <a:gd name="T11" fmla="*/ 66805270 h 226"/>
                <a:gd name="T12" fmla="*/ 253391593 w 216"/>
                <a:gd name="T13" fmla="*/ 25142567 h 226"/>
                <a:gd name="T14" fmla="*/ 328077895 w 216"/>
                <a:gd name="T15" fmla="*/ 4719390 h 226"/>
                <a:gd name="T16" fmla="*/ 404053641 w 216"/>
                <a:gd name="T17" fmla="*/ 4719390 h 226"/>
                <a:gd name="T18" fmla="*/ 473614015 w 216"/>
                <a:gd name="T19" fmla="*/ 25142567 h 226"/>
                <a:gd name="T20" fmla="*/ 538647947 w 216"/>
                <a:gd name="T21" fmla="*/ 66805270 h 226"/>
                <a:gd name="T22" fmla="*/ 599974025 w 216"/>
                <a:gd name="T23" fmla="*/ 130247567 h 226"/>
                <a:gd name="T24" fmla="*/ 647868110 w 216"/>
                <a:gd name="T25" fmla="*/ 214744967 h 226"/>
                <a:gd name="T26" fmla="*/ 684280176 w 216"/>
                <a:gd name="T27" fmla="*/ 306955967 h 226"/>
                <a:gd name="T28" fmla="*/ 719059846 w 216"/>
                <a:gd name="T29" fmla="*/ 412030994 h 226"/>
                <a:gd name="T30" fmla="*/ 732218540 w 216"/>
                <a:gd name="T31" fmla="*/ 530921433 h 226"/>
                <a:gd name="T32" fmla="*/ 732218540 w 216"/>
                <a:gd name="T33" fmla="*/ 588560306 h 226"/>
                <a:gd name="T34" fmla="*/ 725469299 w 216"/>
                <a:gd name="T35" fmla="*/ 707635123 h 226"/>
                <a:gd name="T36" fmla="*/ 706123720 w 216"/>
                <a:gd name="T37" fmla="*/ 817938906 h 226"/>
                <a:gd name="T38" fmla="*/ 668021454 w 216"/>
                <a:gd name="T39" fmla="*/ 917805539 h 226"/>
                <a:gd name="T40" fmla="*/ 628521798 w 216"/>
                <a:gd name="T41" fmla="*/ 1009756555 h 226"/>
                <a:gd name="T42" fmla="*/ 570381366 w 216"/>
                <a:gd name="T43" fmla="*/ 1076707342 h 226"/>
                <a:gd name="T44" fmla="*/ 508488705 w 216"/>
                <a:gd name="T45" fmla="*/ 1133989214 h 226"/>
                <a:gd name="T46" fmla="*/ 437297754 w 216"/>
                <a:gd name="T47" fmla="*/ 1165977676 h 226"/>
                <a:gd name="T48" fmla="*/ 366134183 w 216"/>
                <a:gd name="T49" fmla="*/ 1176707096 h 226"/>
                <a:gd name="T50" fmla="*/ 291664425 w 216"/>
                <a:gd name="T51" fmla="*/ 1165977676 h 226"/>
                <a:gd name="T52" fmla="*/ 223644091 w 216"/>
                <a:gd name="T53" fmla="*/ 1133989214 h 226"/>
                <a:gd name="T54" fmla="*/ 158792020 w 216"/>
                <a:gd name="T55" fmla="*/ 1076707342 h 226"/>
                <a:gd name="T56" fmla="*/ 107753531 w 216"/>
                <a:gd name="T57" fmla="*/ 1009756555 h 226"/>
                <a:gd name="T58" fmla="*/ 65023271 w 216"/>
                <a:gd name="T59" fmla="*/ 917805539 h 226"/>
                <a:gd name="T60" fmla="*/ 26840323 w 216"/>
                <a:gd name="T61" fmla="*/ 817938906 h 226"/>
                <a:gd name="T62" fmla="*/ 6409892 w 216"/>
                <a:gd name="T63" fmla="*/ 707635123 h 226"/>
                <a:gd name="T64" fmla="*/ 0 w 216"/>
                <a:gd name="T65" fmla="*/ 588560306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16"/>
                <a:gd name="T100" fmla="*/ 0 h 226"/>
                <a:gd name="T101" fmla="*/ 216 w 216"/>
                <a:gd name="T102" fmla="*/ 226 h 2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16" h="226">
                  <a:moveTo>
                    <a:pt x="0" y="113"/>
                  </a:moveTo>
                  <a:lnTo>
                    <a:pt x="1" y="102"/>
                  </a:lnTo>
                  <a:lnTo>
                    <a:pt x="2" y="90"/>
                  </a:lnTo>
                  <a:lnTo>
                    <a:pt x="5" y="79"/>
                  </a:lnTo>
                  <a:lnTo>
                    <a:pt x="8" y="68"/>
                  </a:lnTo>
                  <a:lnTo>
                    <a:pt x="13" y="59"/>
                  </a:lnTo>
                  <a:lnTo>
                    <a:pt x="19" y="49"/>
                  </a:lnTo>
                  <a:lnTo>
                    <a:pt x="24" y="41"/>
                  </a:lnTo>
                  <a:lnTo>
                    <a:pt x="32" y="33"/>
                  </a:lnTo>
                  <a:lnTo>
                    <a:pt x="39" y="25"/>
                  </a:lnTo>
                  <a:lnTo>
                    <a:pt x="47" y="18"/>
                  </a:lnTo>
                  <a:lnTo>
                    <a:pt x="56" y="13"/>
                  </a:lnTo>
                  <a:lnTo>
                    <a:pt x="66" y="9"/>
                  </a:lnTo>
                  <a:lnTo>
                    <a:pt x="75" y="5"/>
                  </a:lnTo>
                  <a:lnTo>
                    <a:pt x="86" y="2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19" y="1"/>
                  </a:lnTo>
                  <a:lnTo>
                    <a:pt x="129" y="2"/>
                  </a:lnTo>
                  <a:lnTo>
                    <a:pt x="140" y="5"/>
                  </a:lnTo>
                  <a:lnTo>
                    <a:pt x="150" y="9"/>
                  </a:lnTo>
                  <a:lnTo>
                    <a:pt x="159" y="13"/>
                  </a:lnTo>
                  <a:lnTo>
                    <a:pt x="168" y="18"/>
                  </a:lnTo>
                  <a:lnTo>
                    <a:pt x="177" y="25"/>
                  </a:lnTo>
                  <a:lnTo>
                    <a:pt x="185" y="33"/>
                  </a:lnTo>
                  <a:lnTo>
                    <a:pt x="191" y="41"/>
                  </a:lnTo>
                  <a:lnTo>
                    <a:pt x="197" y="49"/>
                  </a:lnTo>
                  <a:lnTo>
                    <a:pt x="202" y="59"/>
                  </a:lnTo>
                  <a:lnTo>
                    <a:pt x="208" y="68"/>
                  </a:lnTo>
                  <a:lnTo>
                    <a:pt x="212" y="79"/>
                  </a:lnTo>
                  <a:lnTo>
                    <a:pt x="214" y="90"/>
                  </a:lnTo>
                  <a:lnTo>
                    <a:pt x="216" y="102"/>
                  </a:lnTo>
                  <a:lnTo>
                    <a:pt x="216" y="113"/>
                  </a:lnTo>
                  <a:lnTo>
                    <a:pt x="216" y="125"/>
                  </a:lnTo>
                  <a:lnTo>
                    <a:pt x="214" y="136"/>
                  </a:lnTo>
                  <a:lnTo>
                    <a:pt x="212" y="147"/>
                  </a:lnTo>
                  <a:lnTo>
                    <a:pt x="208" y="157"/>
                  </a:lnTo>
                  <a:lnTo>
                    <a:pt x="202" y="167"/>
                  </a:lnTo>
                  <a:lnTo>
                    <a:pt x="197" y="176"/>
                  </a:lnTo>
                  <a:lnTo>
                    <a:pt x="191" y="186"/>
                  </a:lnTo>
                  <a:lnTo>
                    <a:pt x="185" y="194"/>
                  </a:lnTo>
                  <a:lnTo>
                    <a:pt x="177" y="201"/>
                  </a:lnTo>
                  <a:lnTo>
                    <a:pt x="168" y="207"/>
                  </a:lnTo>
                  <a:lnTo>
                    <a:pt x="159" y="213"/>
                  </a:lnTo>
                  <a:lnTo>
                    <a:pt x="150" y="218"/>
                  </a:lnTo>
                  <a:lnTo>
                    <a:pt x="140" y="221"/>
                  </a:lnTo>
                  <a:lnTo>
                    <a:pt x="129" y="224"/>
                  </a:lnTo>
                  <a:lnTo>
                    <a:pt x="119" y="226"/>
                  </a:lnTo>
                  <a:lnTo>
                    <a:pt x="108" y="226"/>
                  </a:lnTo>
                  <a:lnTo>
                    <a:pt x="97" y="226"/>
                  </a:lnTo>
                  <a:lnTo>
                    <a:pt x="86" y="224"/>
                  </a:lnTo>
                  <a:lnTo>
                    <a:pt x="75" y="221"/>
                  </a:lnTo>
                  <a:lnTo>
                    <a:pt x="66" y="218"/>
                  </a:lnTo>
                  <a:lnTo>
                    <a:pt x="56" y="213"/>
                  </a:lnTo>
                  <a:lnTo>
                    <a:pt x="47" y="207"/>
                  </a:lnTo>
                  <a:lnTo>
                    <a:pt x="39" y="201"/>
                  </a:lnTo>
                  <a:lnTo>
                    <a:pt x="32" y="194"/>
                  </a:lnTo>
                  <a:lnTo>
                    <a:pt x="24" y="186"/>
                  </a:lnTo>
                  <a:lnTo>
                    <a:pt x="19" y="176"/>
                  </a:lnTo>
                  <a:lnTo>
                    <a:pt x="13" y="167"/>
                  </a:lnTo>
                  <a:lnTo>
                    <a:pt x="8" y="157"/>
                  </a:lnTo>
                  <a:lnTo>
                    <a:pt x="5" y="147"/>
                  </a:lnTo>
                  <a:lnTo>
                    <a:pt x="2" y="136"/>
                  </a:lnTo>
                  <a:lnTo>
                    <a:pt x="1" y="125"/>
                  </a:lnTo>
                  <a:lnTo>
                    <a:pt x="0" y="11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5" name="Rectangle 191">
              <a:extLst>
                <a:ext uri="{FF2B5EF4-FFF2-40B4-BE49-F238E27FC236}">
                  <a16:creationId xmlns:a16="http://schemas.microsoft.com/office/drawing/2014/main" id="{18D78C45-A76C-50C6-A870-DB741F903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6211" y="5041515"/>
              <a:ext cx="64135" cy="153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sz="1000" b="1">
                  <a:solidFill>
                    <a:srgbClr val="FF0000"/>
                  </a:solidFill>
                  <a:latin typeface="宋体" pitchFamily="2" charset="-122"/>
                </a:rPr>
                <a:t>A</a:t>
              </a:r>
              <a:endParaRPr lang="en-US" altLang="zh-CN" sz="1000" b="1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endParaRPr>
            </a:p>
          </p:txBody>
        </p:sp>
        <p:sp>
          <p:nvSpPr>
            <p:cNvPr id="15456" name="未知">
              <a:extLst>
                <a:ext uri="{FF2B5EF4-FFF2-40B4-BE49-F238E27FC236}">
                  <a16:creationId xmlns:a16="http://schemas.microsoft.com/office/drawing/2014/main" id="{52844A67-0FF4-B2E6-54F4-5FB91CC13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942" y="5245923"/>
              <a:ext cx="146049" cy="168225"/>
            </a:xfrm>
            <a:custGeom>
              <a:avLst/>
              <a:gdLst>
                <a:gd name="T0" fmla="*/ 0 w 112"/>
                <a:gd name="T1" fmla="*/ 507152128 h 125"/>
                <a:gd name="T2" fmla="*/ 408854017 w 112"/>
                <a:gd name="T3" fmla="*/ 0 h 125"/>
                <a:gd name="T4" fmla="*/ 236696596 w 112"/>
                <a:gd name="T5" fmla="*/ 891168653 h 125"/>
                <a:gd name="T6" fmla="*/ 0 w 112"/>
                <a:gd name="T7" fmla="*/ 507152128 h 1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125"/>
                <a:gd name="T14" fmla="*/ 112 w 112"/>
                <a:gd name="T15" fmla="*/ 125 h 1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125">
                  <a:moveTo>
                    <a:pt x="0" y="71"/>
                  </a:moveTo>
                  <a:lnTo>
                    <a:pt x="112" y="0"/>
                  </a:lnTo>
                  <a:lnTo>
                    <a:pt x="65" y="125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5457" name="Line 195">
              <a:extLst>
                <a:ext uri="{FF2B5EF4-FFF2-40B4-BE49-F238E27FC236}">
                  <a16:creationId xmlns:a16="http://schemas.microsoft.com/office/drawing/2014/main" id="{C4F998C7-4B97-7FD7-9A98-6B6C844E4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5223" y="5844549"/>
              <a:ext cx="974718" cy="31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8" name="未知">
              <a:extLst>
                <a:ext uri="{FF2B5EF4-FFF2-40B4-BE49-F238E27FC236}">
                  <a16:creationId xmlns:a16="http://schemas.microsoft.com/office/drawing/2014/main" id="{40330ABE-DE58-169C-B1EB-FF12DB91F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094" y="5788686"/>
              <a:ext cx="167004" cy="111092"/>
            </a:xfrm>
            <a:custGeom>
              <a:avLst/>
              <a:gdLst>
                <a:gd name="T0" fmla="*/ 553941714 w 127"/>
                <a:gd name="T1" fmla="*/ 415350985 h 84"/>
                <a:gd name="T2" fmla="*/ 0 w 127"/>
                <a:gd name="T3" fmla="*/ 208294135 h 84"/>
                <a:gd name="T4" fmla="*/ 553941714 w 127"/>
                <a:gd name="T5" fmla="*/ 0 h 84"/>
                <a:gd name="T6" fmla="*/ 553941714 w 127"/>
                <a:gd name="T7" fmla="*/ 415350985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7"/>
                <a:gd name="T13" fmla="*/ 0 h 84"/>
                <a:gd name="T14" fmla="*/ 127 w 127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7" h="84">
                  <a:moveTo>
                    <a:pt x="127" y="84"/>
                  </a:moveTo>
                  <a:lnTo>
                    <a:pt x="0" y="42"/>
                  </a:lnTo>
                  <a:lnTo>
                    <a:pt x="127" y="0"/>
                  </a:lnTo>
                  <a:lnTo>
                    <a:pt x="127" y="84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9" name="Line 197">
              <a:extLst>
                <a:ext uri="{FF2B5EF4-FFF2-40B4-BE49-F238E27FC236}">
                  <a16:creationId xmlns:a16="http://schemas.microsoft.com/office/drawing/2014/main" id="{ED4EE5B8-EA93-5D3D-98D3-5B5640D228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45059" y="5244654"/>
              <a:ext cx="297178" cy="36628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0" name="未知">
              <a:extLst>
                <a:ext uri="{FF2B5EF4-FFF2-40B4-BE49-F238E27FC236}">
                  <a16:creationId xmlns:a16="http://schemas.microsoft.com/office/drawing/2014/main" id="{ECD4CDA3-71CD-8E3A-26D7-FE1F4391D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714" y="5563329"/>
              <a:ext cx="146049" cy="165051"/>
            </a:xfrm>
            <a:custGeom>
              <a:avLst/>
              <a:gdLst>
                <a:gd name="T0" fmla="*/ 408854017 w 112"/>
                <a:gd name="T1" fmla="*/ 304952872 h 124"/>
                <a:gd name="T2" fmla="*/ 0 w 112"/>
                <a:gd name="T3" fmla="*/ 701513112 h 124"/>
                <a:gd name="T4" fmla="*/ 172549918 w 112"/>
                <a:gd name="T5" fmla="*/ 0 h 124"/>
                <a:gd name="T6" fmla="*/ 408854017 w 112"/>
                <a:gd name="T7" fmla="*/ 304952872 h 1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124"/>
                <a:gd name="T14" fmla="*/ 112 w 112"/>
                <a:gd name="T15" fmla="*/ 124 h 1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124">
                  <a:moveTo>
                    <a:pt x="112" y="54"/>
                  </a:moveTo>
                  <a:lnTo>
                    <a:pt x="0" y="124"/>
                  </a:lnTo>
                  <a:lnTo>
                    <a:pt x="47" y="0"/>
                  </a:lnTo>
                  <a:lnTo>
                    <a:pt x="112" y="54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5461" name="Rectangle 199">
              <a:extLst>
                <a:ext uri="{FF2B5EF4-FFF2-40B4-BE49-F238E27FC236}">
                  <a16:creationId xmlns:a16="http://schemas.microsoft.com/office/drawing/2014/main" id="{915D5CC6-79B2-054D-F00C-2D8B252A8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1587" y="5463663"/>
              <a:ext cx="64120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zh-CN" altLang="en-US" sz="1000" b="1" dirty="0">
                  <a:solidFill>
                    <a:srgbClr val="FF0000"/>
                  </a:solidFill>
                  <a:latin typeface="宋体" pitchFamily="2" charset="-122"/>
                </a:rPr>
                <a:t>5</a:t>
              </a:r>
              <a:endParaRPr lang="zh-CN" altLang="en-US" sz="1000" b="1" dirty="0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endParaRPr>
            </a:p>
          </p:txBody>
        </p:sp>
        <p:sp>
          <p:nvSpPr>
            <p:cNvPr id="15462" name="Rectangle 201">
              <a:extLst>
                <a:ext uri="{FF2B5EF4-FFF2-40B4-BE49-F238E27FC236}">
                  <a16:creationId xmlns:a16="http://schemas.microsoft.com/office/drawing/2014/main" id="{ACDBA5DF-F99F-0FF1-5B65-08065513D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793" y="5504926"/>
              <a:ext cx="128240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zh-CN" altLang="en-US" sz="1000" b="1" dirty="0">
                  <a:solidFill>
                    <a:srgbClr val="FF0000"/>
                  </a:solidFill>
                  <a:latin typeface="宋体" pitchFamily="2" charset="-122"/>
                </a:rPr>
                <a:t>10</a:t>
              </a:r>
              <a:endParaRPr lang="zh-CN" altLang="en-US" sz="1000" b="1" dirty="0">
                <a:solidFill>
                  <a:srgbClr val="FF0000"/>
                </a:solidFill>
                <a:ea typeface="楷体_GB2312" pitchFamily="1" charset="-122"/>
              </a:endParaRPr>
            </a:p>
          </p:txBody>
        </p:sp>
        <p:sp>
          <p:nvSpPr>
            <p:cNvPr id="15463" name="Rectangle 202">
              <a:extLst>
                <a:ext uri="{FF2B5EF4-FFF2-40B4-BE49-F238E27FC236}">
                  <a16:creationId xmlns:a16="http://schemas.microsoft.com/office/drawing/2014/main" id="{A17BB47B-CC6D-6ECA-090C-E681E359B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7344" y="5847723"/>
              <a:ext cx="64120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zh-CN" altLang="en-US" sz="1000" b="1" dirty="0">
                  <a:solidFill>
                    <a:srgbClr val="FF0000"/>
                  </a:solidFill>
                  <a:latin typeface="宋体" pitchFamily="2" charset="-122"/>
                </a:rPr>
                <a:t>7</a:t>
              </a:r>
              <a:endParaRPr lang="zh-CN" altLang="en-US" sz="1000" b="1" dirty="0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endParaRPr>
            </a:p>
          </p:txBody>
        </p:sp>
        <p:sp>
          <p:nvSpPr>
            <p:cNvPr id="15464" name="未知">
              <a:extLst>
                <a:ext uri="{FF2B5EF4-FFF2-40B4-BE49-F238E27FC236}">
                  <a16:creationId xmlns:a16="http://schemas.microsoft.com/office/drawing/2014/main" id="{FFF5C761-5A5D-851A-5C1A-C0913CD76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535" y="4550807"/>
              <a:ext cx="107949" cy="166955"/>
            </a:xfrm>
            <a:custGeom>
              <a:avLst/>
              <a:gdLst>
                <a:gd name="T0" fmla="*/ 0 w 84"/>
                <a:gd name="T1" fmla="*/ 553941714 h 127"/>
                <a:gd name="T2" fmla="*/ 112864617 w 84"/>
                <a:gd name="T3" fmla="*/ 0 h 127"/>
                <a:gd name="T4" fmla="*/ 225867066 w 84"/>
                <a:gd name="T5" fmla="*/ 553941714 h 127"/>
                <a:gd name="T6" fmla="*/ 0 w 84"/>
                <a:gd name="T7" fmla="*/ 553941714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4"/>
                <a:gd name="T13" fmla="*/ 0 h 127"/>
                <a:gd name="T14" fmla="*/ 84 w 84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4" h="127">
                  <a:moveTo>
                    <a:pt x="0" y="127"/>
                  </a:moveTo>
                  <a:lnTo>
                    <a:pt x="42" y="0"/>
                  </a:lnTo>
                  <a:lnTo>
                    <a:pt x="84" y="127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5" name="Rectangle 204">
              <a:extLst>
                <a:ext uri="{FF2B5EF4-FFF2-40B4-BE49-F238E27FC236}">
                  <a16:creationId xmlns:a16="http://schemas.microsoft.com/office/drawing/2014/main" id="{6256D4F1-3CB0-5C5D-0884-9992A199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7711" y="5095474"/>
              <a:ext cx="128240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zh-CN" altLang="en-US" sz="1000" b="1" dirty="0">
                  <a:solidFill>
                    <a:srgbClr val="FF0000"/>
                  </a:solidFill>
                  <a:latin typeface="宋体" pitchFamily="2" charset="-122"/>
                </a:rPr>
                <a:t>15</a:t>
              </a:r>
              <a:endParaRPr lang="zh-CN" altLang="en-US" sz="1000" b="1" dirty="0">
                <a:solidFill>
                  <a:srgbClr val="FF0000"/>
                </a:solidFill>
                <a:latin typeface="Times New Roman" pitchFamily="18" charset="0"/>
                <a:ea typeface="楷体_GB2312" pitchFamily="1" charset="-122"/>
              </a:endParaRPr>
            </a:p>
          </p:txBody>
        </p:sp>
        <p:sp>
          <p:nvSpPr>
            <p:cNvPr id="15466" name="Line 206">
              <a:extLst>
                <a:ext uri="{FF2B5EF4-FFF2-40B4-BE49-F238E27FC236}">
                  <a16:creationId xmlns:a16="http://schemas.microsoft.com/office/drawing/2014/main" id="{D5BDA67B-ED8A-6919-19BF-729A8AFA07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8050" y="4703161"/>
              <a:ext cx="3175" cy="97443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" name="未知">
              <a:extLst>
                <a:ext uri="{FF2B5EF4-FFF2-40B4-BE49-F238E27FC236}">
                  <a16:creationId xmlns:a16="http://schemas.microsoft.com/office/drawing/2014/main" id="{221E35D6-64F8-AAB7-F9F7-0F0F4AEF47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62344" y="5388756"/>
              <a:ext cx="273048" cy="344702"/>
            </a:xfrm>
            <a:custGeom>
              <a:avLst/>
              <a:gdLst>
                <a:gd name="T0" fmla="*/ 5953032 w 211"/>
                <a:gd name="T1" fmla="*/ 1445828445 h 259"/>
                <a:gd name="T2" fmla="*/ 8868717 w 211"/>
                <a:gd name="T3" fmla="*/ 1460980307 h 259"/>
                <a:gd name="T4" fmla="*/ 0 w 211"/>
                <a:gd name="T5" fmla="*/ 1460980307 h 259"/>
                <a:gd name="T6" fmla="*/ 0 w 211"/>
                <a:gd name="T7" fmla="*/ 1445828445 h 259"/>
                <a:gd name="T8" fmla="*/ 68662054 w 211"/>
                <a:gd name="T9" fmla="*/ 1303037125 h 259"/>
                <a:gd name="T10" fmla="*/ 75061770 w 211"/>
                <a:gd name="T11" fmla="*/ 1313470935 h 259"/>
                <a:gd name="T12" fmla="*/ 68662054 w 211"/>
                <a:gd name="T13" fmla="*/ 1327545409 h 259"/>
                <a:gd name="T14" fmla="*/ 62766974 w 211"/>
                <a:gd name="T15" fmla="*/ 1307889323 h 259"/>
                <a:gd name="T16" fmla="*/ 131341246 w 211"/>
                <a:gd name="T17" fmla="*/ 1162757631 h 259"/>
                <a:gd name="T18" fmla="*/ 134153466 w 211"/>
                <a:gd name="T19" fmla="*/ 1158100215 h 259"/>
                <a:gd name="T20" fmla="*/ 139927409 w 211"/>
                <a:gd name="T21" fmla="*/ 1173310140 h 259"/>
                <a:gd name="T22" fmla="*/ 134153466 w 211"/>
                <a:gd name="T23" fmla="*/ 1178890215 h 259"/>
                <a:gd name="T24" fmla="*/ 131341246 w 211"/>
                <a:gd name="T25" fmla="*/ 1162757631 h 259"/>
                <a:gd name="T26" fmla="*/ 192610008 w 211"/>
                <a:gd name="T27" fmla="*/ 1020766301 h 259"/>
                <a:gd name="T28" fmla="*/ 201425304 w 211"/>
                <a:gd name="T29" fmla="*/ 1020766301 h 259"/>
                <a:gd name="T30" fmla="*/ 198424380 w 211"/>
                <a:gd name="T31" fmla="*/ 1038636200 h 259"/>
                <a:gd name="T32" fmla="*/ 192610008 w 211"/>
                <a:gd name="T33" fmla="*/ 1020766301 h 259"/>
                <a:gd name="T34" fmla="*/ 257716732 w 211"/>
                <a:gd name="T35" fmla="*/ 874483533 h 259"/>
                <a:gd name="T36" fmla="*/ 270560754 w 211"/>
                <a:gd name="T37" fmla="*/ 874483533 h 259"/>
                <a:gd name="T38" fmla="*/ 264275526 w 211"/>
                <a:gd name="T39" fmla="*/ 890778885 h 259"/>
                <a:gd name="T40" fmla="*/ 257716732 w 211"/>
                <a:gd name="T41" fmla="*/ 886183564 h 259"/>
                <a:gd name="T42" fmla="*/ 257716732 w 211"/>
                <a:gd name="T43" fmla="*/ 874483533 h 259"/>
                <a:gd name="T44" fmla="*/ 326842780 w 211"/>
                <a:gd name="T45" fmla="*/ 721396205 h 259"/>
                <a:gd name="T46" fmla="*/ 332582899 w 211"/>
                <a:gd name="T47" fmla="*/ 726977363 h 259"/>
                <a:gd name="T48" fmla="*/ 326842780 w 211"/>
                <a:gd name="T49" fmla="*/ 746050552 h 259"/>
                <a:gd name="T50" fmla="*/ 323414592 w 211"/>
                <a:gd name="T51" fmla="*/ 726977363 h 259"/>
                <a:gd name="T52" fmla="*/ 386708425 w 211"/>
                <a:gd name="T53" fmla="*/ 586500093 h 259"/>
                <a:gd name="T54" fmla="*/ 398474534 w 211"/>
                <a:gd name="T55" fmla="*/ 586500093 h 259"/>
                <a:gd name="T56" fmla="*/ 395514124 w 211"/>
                <a:gd name="T57" fmla="*/ 591408802 h 259"/>
                <a:gd name="T58" fmla="*/ 386708425 w 211"/>
                <a:gd name="T59" fmla="*/ 591408802 h 259"/>
                <a:gd name="T60" fmla="*/ 450236342 w 211"/>
                <a:gd name="T61" fmla="*/ 441651029 h 259"/>
                <a:gd name="T62" fmla="*/ 457568260 w 211"/>
                <a:gd name="T63" fmla="*/ 433984433 h 259"/>
                <a:gd name="T64" fmla="*/ 464668993 w 211"/>
                <a:gd name="T65" fmla="*/ 451797909 h 259"/>
                <a:gd name="T66" fmla="*/ 454756290 w 211"/>
                <a:gd name="T67" fmla="*/ 456856880 h 259"/>
                <a:gd name="T68" fmla="*/ 450236342 w 211"/>
                <a:gd name="T69" fmla="*/ 441651029 h 259"/>
                <a:gd name="T70" fmla="*/ 522038239 w 211"/>
                <a:gd name="T71" fmla="*/ 287672479 h 259"/>
                <a:gd name="T72" fmla="*/ 525204715 w 211"/>
                <a:gd name="T73" fmla="*/ 298827280 h 259"/>
                <a:gd name="T74" fmla="*/ 522038239 w 211"/>
                <a:gd name="T75" fmla="*/ 309263411 h 259"/>
                <a:gd name="T76" fmla="*/ 515985203 w 211"/>
                <a:gd name="T77" fmla="*/ 298827280 h 259"/>
                <a:gd name="T78" fmla="*/ 578318724 w 211"/>
                <a:gd name="T79" fmla="*/ 154238672 h 259"/>
                <a:gd name="T80" fmla="*/ 588231410 w 211"/>
                <a:gd name="T81" fmla="*/ 147512458 h 259"/>
                <a:gd name="T82" fmla="*/ 588231410 w 211"/>
                <a:gd name="T83" fmla="*/ 159212544 h 259"/>
                <a:gd name="T84" fmla="*/ 578318724 w 211"/>
                <a:gd name="T85" fmla="*/ 169733758 h 259"/>
                <a:gd name="T86" fmla="*/ 578318724 w 211"/>
                <a:gd name="T87" fmla="*/ 154238672 h 259"/>
                <a:gd name="T88" fmla="*/ 647324688 w 211"/>
                <a:gd name="T89" fmla="*/ 0 h 259"/>
                <a:gd name="T90" fmla="*/ 656181278 w 211"/>
                <a:gd name="T91" fmla="*/ 16737596 h 259"/>
                <a:gd name="T92" fmla="*/ 647324688 w 211"/>
                <a:gd name="T93" fmla="*/ 21878801 h 259"/>
                <a:gd name="T94" fmla="*/ 644231341 w 211"/>
                <a:gd name="T95" fmla="*/ 4977639 h 259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11"/>
                <a:gd name="T145" fmla="*/ 0 h 259"/>
                <a:gd name="T146" fmla="*/ 211 w 211"/>
                <a:gd name="T147" fmla="*/ 259 h 259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11" h="259">
                  <a:moveTo>
                    <a:pt x="0" y="256"/>
                  </a:moveTo>
                  <a:lnTo>
                    <a:pt x="0" y="256"/>
                  </a:lnTo>
                  <a:lnTo>
                    <a:pt x="2" y="256"/>
                  </a:lnTo>
                  <a:lnTo>
                    <a:pt x="3" y="256"/>
                  </a:lnTo>
                  <a:lnTo>
                    <a:pt x="3" y="258"/>
                  </a:lnTo>
                  <a:lnTo>
                    <a:pt x="3" y="259"/>
                  </a:lnTo>
                  <a:lnTo>
                    <a:pt x="2" y="259"/>
                  </a:lnTo>
                  <a:lnTo>
                    <a:pt x="0" y="259"/>
                  </a:lnTo>
                  <a:lnTo>
                    <a:pt x="0" y="258"/>
                  </a:lnTo>
                  <a:lnTo>
                    <a:pt x="0" y="256"/>
                  </a:lnTo>
                  <a:close/>
                  <a:moveTo>
                    <a:pt x="20" y="231"/>
                  </a:moveTo>
                  <a:lnTo>
                    <a:pt x="20" y="231"/>
                  </a:lnTo>
                  <a:lnTo>
                    <a:pt x="22" y="231"/>
                  </a:lnTo>
                  <a:lnTo>
                    <a:pt x="23" y="231"/>
                  </a:lnTo>
                  <a:lnTo>
                    <a:pt x="24" y="232"/>
                  </a:lnTo>
                  <a:lnTo>
                    <a:pt x="24" y="233"/>
                  </a:lnTo>
                  <a:lnTo>
                    <a:pt x="23" y="235"/>
                  </a:lnTo>
                  <a:lnTo>
                    <a:pt x="22" y="235"/>
                  </a:lnTo>
                  <a:lnTo>
                    <a:pt x="22" y="233"/>
                  </a:lnTo>
                  <a:lnTo>
                    <a:pt x="20" y="232"/>
                  </a:lnTo>
                  <a:lnTo>
                    <a:pt x="20" y="231"/>
                  </a:lnTo>
                  <a:close/>
                  <a:moveTo>
                    <a:pt x="42" y="206"/>
                  </a:moveTo>
                  <a:lnTo>
                    <a:pt x="42" y="206"/>
                  </a:lnTo>
                  <a:lnTo>
                    <a:pt x="43" y="205"/>
                  </a:lnTo>
                  <a:lnTo>
                    <a:pt x="45" y="205"/>
                  </a:lnTo>
                  <a:lnTo>
                    <a:pt x="45" y="206"/>
                  </a:lnTo>
                  <a:lnTo>
                    <a:pt x="45" y="208"/>
                  </a:lnTo>
                  <a:lnTo>
                    <a:pt x="43" y="209"/>
                  </a:lnTo>
                  <a:lnTo>
                    <a:pt x="42" y="208"/>
                  </a:lnTo>
                  <a:lnTo>
                    <a:pt x="41" y="208"/>
                  </a:lnTo>
                  <a:lnTo>
                    <a:pt x="42" y="206"/>
                  </a:lnTo>
                  <a:close/>
                  <a:moveTo>
                    <a:pt x="62" y="181"/>
                  </a:moveTo>
                  <a:lnTo>
                    <a:pt x="62" y="181"/>
                  </a:lnTo>
                  <a:lnTo>
                    <a:pt x="64" y="179"/>
                  </a:lnTo>
                  <a:lnTo>
                    <a:pt x="65" y="179"/>
                  </a:lnTo>
                  <a:lnTo>
                    <a:pt x="65" y="181"/>
                  </a:lnTo>
                  <a:lnTo>
                    <a:pt x="65" y="182"/>
                  </a:lnTo>
                  <a:lnTo>
                    <a:pt x="64" y="184"/>
                  </a:lnTo>
                  <a:lnTo>
                    <a:pt x="62" y="182"/>
                  </a:lnTo>
                  <a:lnTo>
                    <a:pt x="62" y="181"/>
                  </a:lnTo>
                  <a:close/>
                  <a:moveTo>
                    <a:pt x="83" y="155"/>
                  </a:moveTo>
                  <a:lnTo>
                    <a:pt x="83" y="155"/>
                  </a:lnTo>
                  <a:lnTo>
                    <a:pt x="84" y="154"/>
                  </a:lnTo>
                  <a:lnTo>
                    <a:pt x="85" y="154"/>
                  </a:lnTo>
                  <a:lnTo>
                    <a:pt x="87" y="155"/>
                  </a:lnTo>
                  <a:lnTo>
                    <a:pt x="87" y="157"/>
                  </a:lnTo>
                  <a:lnTo>
                    <a:pt x="85" y="158"/>
                  </a:lnTo>
                  <a:lnTo>
                    <a:pt x="84" y="158"/>
                  </a:lnTo>
                  <a:lnTo>
                    <a:pt x="84" y="157"/>
                  </a:lnTo>
                  <a:lnTo>
                    <a:pt x="83" y="157"/>
                  </a:lnTo>
                  <a:lnTo>
                    <a:pt x="83" y="155"/>
                  </a:lnTo>
                  <a:close/>
                  <a:moveTo>
                    <a:pt x="104" y="129"/>
                  </a:moveTo>
                  <a:lnTo>
                    <a:pt x="104" y="129"/>
                  </a:lnTo>
                  <a:lnTo>
                    <a:pt x="105" y="128"/>
                  </a:lnTo>
                  <a:lnTo>
                    <a:pt x="107" y="128"/>
                  </a:lnTo>
                  <a:lnTo>
                    <a:pt x="107" y="129"/>
                  </a:lnTo>
                  <a:lnTo>
                    <a:pt x="107" y="131"/>
                  </a:lnTo>
                  <a:lnTo>
                    <a:pt x="105" y="132"/>
                  </a:lnTo>
                  <a:lnTo>
                    <a:pt x="104" y="132"/>
                  </a:lnTo>
                  <a:lnTo>
                    <a:pt x="103" y="131"/>
                  </a:lnTo>
                  <a:lnTo>
                    <a:pt x="104" y="129"/>
                  </a:lnTo>
                  <a:close/>
                  <a:moveTo>
                    <a:pt x="124" y="104"/>
                  </a:moveTo>
                  <a:lnTo>
                    <a:pt x="124" y="104"/>
                  </a:lnTo>
                  <a:lnTo>
                    <a:pt x="126" y="102"/>
                  </a:lnTo>
                  <a:lnTo>
                    <a:pt x="127" y="102"/>
                  </a:lnTo>
                  <a:lnTo>
                    <a:pt x="128" y="104"/>
                  </a:lnTo>
                  <a:lnTo>
                    <a:pt x="128" y="105"/>
                  </a:lnTo>
                  <a:lnTo>
                    <a:pt x="127" y="105"/>
                  </a:lnTo>
                  <a:lnTo>
                    <a:pt x="126" y="107"/>
                  </a:lnTo>
                  <a:lnTo>
                    <a:pt x="124" y="107"/>
                  </a:lnTo>
                  <a:lnTo>
                    <a:pt x="124" y="105"/>
                  </a:lnTo>
                  <a:lnTo>
                    <a:pt x="124" y="104"/>
                  </a:lnTo>
                  <a:close/>
                  <a:moveTo>
                    <a:pt x="145" y="78"/>
                  </a:moveTo>
                  <a:lnTo>
                    <a:pt x="145" y="78"/>
                  </a:lnTo>
                  <a:lnTo>
                    <a:pt x="146" y="77"/>
                  </a:lnTo>
                  <a:lnTo>
                    <a:pt x="147" y="77"/>
                  </a:lnTo>
                  <a:lnTo>
                    <a:pt x="149" y="78"/>
                  </a:lnTo>
                  <a:lnTo>
                    <a:pt x="149" y="80"/>
                  </a:lnTo>
                  <a:lnTo>
                    <a:pt x="147" y="81"/>
                  </a:lnTo>
                  <a:lnTo>
                    <a:pt x="146" y="81"/>
                  </a:lnTo>
                  <a:lnTo>
                    <a:pt x="145" y="80"/>
                  </a:lnTo>
                  <a:lnTo>
                    <a:pt x="145" y="78"/>
                  </a:lnTo>
                  <a:close/>
                  <a:moveTo>
                    <a:pt x="166" y="53"/>
                  </a:moveTo>
                  <a:lnTo>
                    <a:pt x="166" y="53"/>
                  </a:lnTo>
                  <a:lnTo>
                    <a:pt x="168" y="51"/>
                  </a:lnTo>
                  <a:lnTo>
                    <a:pt x="169" y="51"/>
                  </a:lnTo>
                  <a:lnTo>
                    <a:pt x="169" y="53"/>
                  </a:lnTo>
                  <a:lnTo>
                    <a:pt x="169" y="54"/>
                  </a:lnTo>
                  <a:lnTo>
                    <a:pt x="168" y="55"/>
                  </a:lnTo>
                  <a:lnTo>
                    <a:pt x="166" y="55"/>
                  </a:lnTo>
                  <a:lnTo>
                    <a:pt x="166" y="54"/>
                  </a:lnTo>
                  <a:lnTo>
                    <a:pt x="166" y="53"/>
                  </a:lnTo>
                  <a:close/>
                  <a:moveTo>
                    <a:pt x="186" y="27"/>
                  </a:moveTo>
                  <a:lnTo>
                    <a:pt x="186" y="27"/>
                  </a:lnTo>
                  <a:lnTo>
                    <a:pt x="188" y="26"/>
                  </a:lnTo>
                  <a:lnTo>
                    <a:pt x="189" y="26"/>
                  </a:lnTo>
                  <a:lnTo>
                    <a:pt x="191" y="27"/>
                  </a:lnTo>
                  <a:lnTo>
                    <a:pt x="191" y="28"/>
                  </a:lnTo>
                  <a:lnTo>
                    <a:pt x="189" y="28"/>
                  </a:lnTo>
                  <a:lnTo>
                    <a:pt x="188" y="30"/>
                  </a:lnTo>
                  <a:lnTo>
                    <a:pt x="186" y="30"/>
                  </a:lnTo>
                  <a:lnTo>
                    <a:pt x="186" y="28"/>
                  </a:lnTo>
                  <a:lnTo>
                    <a:pt x="186" y="27"/>
                  </a:lnTo>
                  <a:close/>
                  <a:moveTo>
                    <a:pt x="207" y="1"/>
                  </a:moveTo>
                  <a:lnTo>
                    <a:pt x="207" y="1"/>
                  </a:lnTo>
                  <a:lnTo>
                    <a:pt x="208" y="0"/>
                  </a:lnTo>
                  <a:lnTo>
                    <a:pt x="209" y="0"/>
                  </a:lnTo>
                  <a:lnTo>
                    <a:pt x="211" y="1"/>
                  </a:lnTo>
                  <a:lnTo>
                    <a:pt x="211" y="3"/>
                  </a:lnTo>
                  <a:lnTo>
                    <a:pt x="209" y="4"/>
                  </a:lnTo>
                  <a:lnTo>
                    <a:pt x="208" y="4"/>
                  </a:lnTo>
                  <a:lnTo>
                    <a:pt x="207" y="3"/>
                  </a:lnTo>
                  <a:lnTo>
                    <a:pt x="207" y="1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8" name="TextBox 76">
              <a:extLst>
                <a:ext uri="{FF2B5EF4-FFF2-40B4-BE49-F238E27FC236}">
                  <a16:creationId xmlns:a16="http://schemas.microsoft.com/office/drawing/2014/main" id="{808FAB6D-1A91-8302-B209-635FBD20E7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454" y="6024022"/>
              <a:ext cx="714375" cy="307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i="0" dirty="0">
                  <a:solidFill>
                    <a:srgbClr val="FF0000"/>
                  </a:solidFill>
                </a:rPr>
                <a:t>5,A</a:t>
              </a:r>
              <a:endParaRPr lang="zh-CN" altLang="en-US" sz="1400" i="0" dirty="0">
                <a:solidFill>
                  <a:srgbClr val="FF0000"/>
                </a:solidFill>
              </a:endParaRPr>
            </a:p>
          </p:txBody>
        </p:sp>
        <p:sp>
          <p:nvSpPr>
            <p:cNvPr id="15469" name="TextBox 77">
              <a:extLst>
                <a:ext uri="{FF2B5EF4-FFF2-40B4-BE49-F238E27FC236}">
                  <a16:creationId xmlns:a16="http://schemas.microsoft.com/office/drawing/2014/main" id="{07870929-7B0A-3BBA-95C9-484FF51A4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704" y="6024022"/>
              <a:ext cx="714375" cy="307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i="0" dirty="0">
                  <a:solidFill>
                    <a:srgbClr val="FF0000"/>
                  </a:solidFill>
                </a:rPr>
                <a:t>12,C</a:t>
              </a:r>
              <a:endParaRPr lang="zh-CN" altLang="en-US" sz="1400" i="0" dirty="0">
                <a:solidFill>
                  <a:srgbClr val="FF0000"/>
                </a:solidFill>
              </a:endParaRPr>
            </a:p>
          </p:txBody>
        </p:sp>
        <p:sp>
          <p:nvSpPr>
            <p:cNvPr id="15470" name="TextBox 78">
              <a:extLst>
                <a:ext uri="{FF2B5EF4-FFF2-40B4-BE49-F238E27FC236}">
                  <a16:creationId xmlns:a16="http://schemas.microsoft.com/office/drawing/2014/main" id="{271EDBF5-3AE3-BCA0-5A3F-7013CE702F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767" y="4688939"/>
              <a:ext cx="714375" cy="307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i="0" dirty="0">
                  <a:solidFill>
                    <a:srgbClr val="FF0000"/>
                  </a:solidFill>
                </a:rPr>
                <a:t>22,F</a:t>
              </a:r>
              <a:endParaRPr lang="zh-CN" altLang="en-US" sz="1400" i="0" dirty="0">
                <a:solidFill>
                  <a:srgbClr val="FF0000"/>
                </a:solidFill>
              </a:endParaRPr>
            </a:p>
          </p:txBody>
        </p:sp>
        <p:sp>
          <p:nvSpPr>
            <p:cNvPr id="15471" name="TextBox 79">
              <a:extLst>
                <a:ext uri="{FF2B5EF4-FFF2-40B4-BE49-F238E27FC236}">
                  <a16:creationId xmlns:a16="http://schemas.microsoft.com/office/drawing/2014/main" id="{0706FA76-3A97-37FD-57AD-1E732E8BAE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9642" y="4117526"/>
              <a:ext cx="71437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i="0" dirty="0">
                  <a:solidFill>
                    <a:srgbClr val="FF0000"/>
                  </a:solidFill>
                </a:rPr>
                <a:t>20,C</a:t>
              </a:r>
              <a:endParaRPr lang="zh-CN" altLang="en-US" sz="1400" i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15472" name="未知">
            <a:extLst>
              <a:ext uri="{FF2B5EF4-FFF2-40B4-BE49-F238E27FC236}">
                <a16:creationId xmlns:a16="http://schemas.microsoft.com/office/drawing/2014/main" id="{9635E7FE-EAE7-5A0A-5CFB-3BE1FDF02C33}"/>
              </a:ext>
            </a:extLst>
          </p:cNvPr>
          <p:cNvSpPr>
            <a:spLocks/>
          </p:cNvSpPr>
          <p:nvPr/>
        </p:nvSpPr>
        <p:spPr bwMode="auto">
          <a:xfrm>
            <a:off x="4990754" y="4115826"/>
            <a:ext cx="280668" cy="301535"/>
          </a:xfrm>
          <a:custGeom>
            <a:avLst/>
            <a:gdLst>
              <a:gd name="T0" fmla="*/ 3132436 w 216"/>
              <a:gd name="T1" fmla="*/ 605799974 h 226"/>
              <a:gd name="T2" fmla="*/ 16248397 w 216"/>
              <a:gd name="T3" fmla="*/ 470234226 h 226"/>
              <a:gd name="T4" fmla="*/ 44718601 w 216"/>
              <a:gd name="T5" fmla="*/ 351636369 h 226"/>
              <a:gd name="T6" fmla="*/ 81008170 w 216"/>
              <a:gd name="T7" fmla="*/ 243453492 h 226"/>
              <a:gd name="T8" fmla="*/ 133056879 w 216"/>
              <a:gd name="T9" fmla="*/ 149345652 h 226"/>
              <a:gd name="T10" fmla="*/ 193570726 w 216"/>
              <a:gd name="T11" fmla="*/ 76838499 h 226"/>
              <a:gd name="T12" fmla="*/ 253391593 w 216"/>
              <a:gd name="T13" fmla="*/ 30747017 h 226"/>
              <a:gd name="T14" fmla="*/ 328077895 w 216"/>
              <a:gd name="T15" fmla="*/ 5246112 h 226"/>
              <a:gd name="T16" fmla="*/ 404053641 w 216"/>
              <a:gd name="T17" fmla="*/ 5246112 h 226"/>
              <a:gd name="T18" fmla="*/ 473614015 w 216"/>
              <a:gd name="T19" fmla="*/ 30747017 h 226"/>
              <a:gd name="T20" fmla="*/ 538647947 w 216"/>
              <a:gd name="T21" fmla="*/ 76838499 h 226"/>
              <a:gd name="T22" fmla="*/ 599974025 w 216"/>
              <a:gd name="T23" fmla="*/ 149345652 h 226"/>
              <a:gd name="T24" fmla="*/ 651021663 w 216"/>
              <a:gd name="T25" fmla="*/ 243453492 h 226"/>
              <a:gd name="T26" fmla="*/ 684280176 w 216"/>
              <a:gd name="T27" fmla="*/ 351636369 h 226"/>
              <a:gd name="T28" fmla="*/ 719059846 w 216"/>
              <a:gd name="T29" fmla="*/ 470234226 h 226"/>
              <a:gd name="T30" fmla="*/ 732218540 w 216"/>
              <a:gd name="T31" fmla="*/ 605799974 h 226"/>
              <a:gd name="T32" fmla="*/ 732218540 w 216"/>
              <a:gd name="T33" fmla="*/ 673247391 h 226"/>
              <a:gd name="T34" fmla="*/ 728896509 w 216"/>
              <a:gd name="T35" fmla="*/ 809121661 h 226"/>
              <a:gd name="T36" fmla="*/ 706123720 w 216"/>
              <a:gd name="T37" fmla="*/ 939556915 h 226"/>
              <a:gd name="T38" fmla="*/ 668021454 w 216"/>
              <a:gd name="T39" fmla="*/ 1047187779 h 226"/>
              <a:gd name="T40" fmla="*/ 628521798 w 216"/>
              <a:gd name="T41" fmla="*/ 1154717196 h 226"/>
              <a:gd name="T42" fmla="*/ 573427077 w 216"/>
              <a:gd name="T43" fmla="*/ 1235532183 h 226"/>
              <a:gd name="T44" fmla="*/ 508488705 w 216"/>
              <a:gd name="T45" fmla="*/ 1296425926 h 226"/>
              <a:gd name="T46" fmla="*/ 437297754 w 216"/>
              <a:gd name="T47" fmla="*/ 1332984545 h 226"/>
              <a:gd name="T48" fmla="*/ 366134183 w 216"/>
              <a:gd name="T49" fmla="*/ 1343980891 h 226"/>
              <a:gd name="T50" fmla="*/ 291664425 w 216"/>
              <a:gd name="T51" fmla="*/ 1332984545 h 226"/>
              <a:gd name="T52" fmla="*/ 223644091 w 216"/>
              <a:gd name="T53" fmla="*/ 1296425926 h 226"/>
              <a:gd name="T54" fmla="*/ 158792020 w 216"/>
              <a:gd name="T55" fmla="*/ 1235532183 h 226"/>
              <a:gd name="T56" fmla="*/ 107753531 w 216"/>
              <a:gd name="T57" fmla="*/ 1154717196 h 226"/>
              <a:gd name="T58" fmla="*/ 65023271 w 216"/>
              <a:gd name="T59" fmla="*/ 1047187779 h 226"/>
              <a:gd name="T60" fmla="*/ 26840323 w 216"/>
              <a:gd name="T61" fmla="*/ 939556915 h 226"/>
              <a:gd name="T62" fmla="*/ 9836524 w 216"/>
              <a:gd name="T63" fmla="*/ 809121661 h 226"/>
              <a:gd name="T64" fmla="*/ 0 w 216"/>
              <a:gd name="T65" fmla="*/ 673247391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3" y="90"/>
                </a:lnTo>
                <a:lnTo>
                  <a:pt x="5" y="79"/>
                </a:lnTo>
                <a:lnTo>
                  <a:pt x="8" y="68"/>
                </a:lnTo>
                <a:lnTo>
                  <a:pt x="13" y="59"/>
                </a:lnTo>
                <a:lnTo>
                  <a:pt x="19" y="50"/>
                </a:lnTo>
                <a:lnTo>
                  <a:pt x="24" y="41"/>
                </a:lnTo>
                <a:lnTo>
                  <a:pt x="32" y="33"/>
                </a:lnTo>
                <a:lnTo>
                  <a:pt x="39" y="25"/>
                </a:lnTo>
                <a:lnTo>
                  <a:pt x="47" y="18"/>
                </a:lnTo>
                <a:lnTo>
                  <a:pt x="57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2"/>
                </a:lnTo>
                <a:lnTo>
                  <a:pt x="140" y="5"/>
                </a:lnTo>
                <a:lnTo>
                  <a:pt x="150" y="9"/>
                </a:lnTo>
                <a:lnTo>
                  <a:pt x="159" y="13"/>
                </a:lnTo>
                <a:lnTo>
                  <a:pt x="169" y="18"/>
                </a:lnTo>
                <a:lnTo>
                  <a:pt x="177" y="25"/>
                </a:lnTo>
                <a:lnTo>
                  <a:pt x="185" y="33"/>
                </a:lnTo>
                <a:lnTo>
                  <a:pt x="192" y="41"/>
                </a:lnTo>
                <a:lnTo>
                  <a:pt x="197" y="50"/>
                </a:lnTo>
                <a:lnTo>
                  <a:pt x="202" y="59"/>
                </a:lnTo>
                <a:lnTo>
                  <a:pt x="208" y="68"/>
                </a:lnTo>
                <a:lnTo>
                  <a:pt x="212" y="79"/>
                </a:lnTo>
                <a:lnTo>
                  <a:pt x="215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2" y="167"/>
                </a:lnTo>
                <a:lnTo>
                  <a:pt x="197" y="176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59" y="213"/>
                </a:lnTo>
                <a:lnTo>
                  <a:pt x="150" y="218"/>
                </a:lnTo>
                <a:lnTo>
                  <a:pt x="140" y="221"/>
                </a:lnTo>
                <a:lnTo>
                  <a:pt x="129" y="224"/>
                </a:lnTo>
                <a:lnTo>
                  <a:pt x="119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4"/>
                </a:lnTo>
                <a:lnTo>
                  <a:pt x="75" y="221"/>
                </a:lnTo>
                <a:lnTo>
                  <a:pt x="66" y="218"/>
                </a:lnTo>
                <a:lnTo>
                  <a:pt x="57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9" y="176"/>
                </a:lnTo>
                <a:lnTo>
                  <a:pt x="13" y="167"/>
                </a:lnTo>
                <a:lnTo>
                  <a:pt x="8" y="158"/>
                </a:lnTo>
                <a:lnTo>
                  <a:pt x="5" y="147"/>
                </a:lnTo>
                <a:lnTo>
                  <a:pt x="3" y="136"/>
                </a:lnTo>
                <a:lnTo>
                  <a:pt x="1" y="125"/>
                </a:lnTo>
                <a:lnTo>
                  <a:pt x="0" y="11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73" name="Rectangle 188">
            <a:extLst>
              <a:ext uri="{FF2B5EF4-FFF2-40B4-BE49-F238E27FC236}">
                <a16:creationId xmlns:a16="http://schemas.microsoft.com/office/drawing/2014/main" id="{28B1FAD9-2B8F-D5A5-4BF2-2C8E967F4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2353" y="4099132"/>
            <a:ext cx="13625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1600" dirty="0">
                <a:solidFill>
                  <a:srgbClr val="FF0000"/>
                </a:solidFill>
                <a:ea typeface="楷体_GB2312" pitchFamily="1" charset="-122"/>
              </a:rPr>
              <a:t>E</a:t>
            </a:r>
            <a:endParaRPr lang="en-US" altLang="zh-CN" sz="1600" b="1" dirty="0">
              <a:solidFill>
                <a:srgbClr val="FF0000"/>
              </a:solidFill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5474" name="未知">
            <a:extLst>
              <a:ext uri="{FF2B5EF4-FFF2-40B4-BE49-F238E27FC236}">
                <a16:creationId xmlns:a16="http://schemas.microsoft.com/office/drawing/2014/main" id="{49D2E0B0-25DB-A4D4-0F2F-E8F69A933E75}"/>
              </a:ext>
            </a:extLst>
          </p:cNvPr>
          <p:cNvSpPr>
            <a:spLocks/>
          </p:cNvSpPr>
          <p:nvPr/>
        </p:nvSpPr>
        <p:spPr bwMode="auto">
          <a:xfrm>
            <a:off x="4983769" y="4110341"/>
            <a:ext cx="280668" cy="301535"/>
          </a:xfrm>
          <a:custGeom>
            <a:avLst/>
            <a:gdLst>
              <a:gd name="T0" fmla="*/ 3132436 w 216"/>
              <a:gd name="T1" fmla="*/ 605799974 h 226"/>
              <a:gd name="T2" fmla="*/ 16248397 w 216"/>
              <a:gd name="T3" fmla="*/ 470234226 h 226"/>
              <a:gd name="T4" fmla="*/ 44718601 w 216"/>
              <a:gd name="T5" fmla="*/ 351636369 h 226"/>
              <a:gd name="T6" fmla="*/ 81008170 w 216"/>
              <a:gd name="T7" fmla="*/ 243453492 h 226"/>
              <a:gd name="T8" fmla="*/ 133056879 w 216"/>
              <a:gd name="T9" fmla="*/ 149345652 h 226"/>
              <a:gd name="T10" fmla="*/ 193570726 w 216"/>
              <a:gd name="T11" fmla="*/ 76838499 h 226"/>
              <a:gd name="T12" fmla="*/ 253391593 w 216"/>
              <a:gd name="T13" fmla="*/ 30747017 h 226"/>
              <a:gd name="T14" fmla="*/ 328077895 w 216"/>
              <a:gd name="T15" fmla="*/ 5246112 h 226"/>
              <a:gd name="T16" fmla="*/ 404053641 w 216"/>
              <a:gd name="T17" fmla="*/ 5246112 h 226"/>
              <a:gd name="T18" fmla="*/ 473614015 w 216"/>
              <a:gd name="T19" fmla="*/ 30747017 h 226"/>
              <a:gd name="T20" fmla="*/ 538647947 w 216"/>
              <a:gd name="T21" fmla="*/ 76838499 h 226"/>
              <a:gd name="T22" fmla="*/ 599974025 w 216"/>
              <a:gd name="T23" fmla="*/ 149345652 h 226"/>
              <a:gd name="T24" fmla="*/ 651021663 w 216"/>
              <a:gd name="T25" fmla="*/ 243453492 h 226"/>
              <a:gd name="T26" fmla="*/ 684280176 w 216"/>
              <a:gd name="T27" fmla="*/ 351636369 h 226"/>
              <a:gd name="T28" fmla="*/ 719059846 w 216"/>
              <a:gd name="T29" fmla="*/ 470234226 h 226"/>
              <a:gd name="T30" fmla="*/ 732218540 w 216"/>
              <a:gd name="T31" fmla="*/ 605799974 h 226"/>
              <a:gd name="T32" fmla="*/ 732218540 w 216"/>
              <a:gd name="T33" fmla="*/ 673247391 h 226"/>
              <a:gd name="T34" fmla="*/ 728896509 w 216"/>
              <a:gd name="T35" fmla="*/ 809121661 h 226"/>
              <a:gd name="T36" fmla="*/ 706123720 w 216"/>
              <a:gd name="T37" fmla="*/ 939556915 h 226"/>
              <a:gd name="T38" fmla="*/ 668021454 w 216"/>
              <a:gd name="T39" fmla="*/ 1047187779 h 226"/>
              <a:gd name="T40" fmla="*/ 628521798 w 216"/>
              <a:gd name="T41" fmla="*/ 1154717196 h 226"/>
              <a:gd name="T42" fmla="*/ 573427077 w 216"/>
              <a:gd name="T43" fmla="*/ 1235532183 h 226"/>
              <a:gd name="T44" fmla="*/ 508488705 w 216"/>
              <a:gd name="T45" fmla="*/ 1296425926 h 226"/>
              <a:gd name="T46" fmla="*/ 437297754 w 216"/>
              <a:gd name="T47" fmla="*/ 1332984545 h 226"/>
              <a:gd name="T48" fmla="*/ 366134183 w 216"/>
              <a:gd name="T49" fmla="*/ 1343980891 h 226"/>
              <a:gd name="T50" fmla="*/ 291664425 w 216"/>
              <a:gd name="T51" fmla="*/ 1332984545 h 226"/>
              <a:gd name="T52" fmla="*/ 223644091 w 216"/>
              <a:gd name="T53" fmla="*/ 1296425926 h 226"/>
              <a:gd name="T54" fmla="*/ 158792020 w 216"/>
              <a:gd name="T55" fmla="*/ 1235532183 h 226"/>
              <a:gd name="T56" fmla="*/ 107753531 w 216"/>
              <a:gd name="T57" fmla="*/ 1154717196 h 226"/>
              <a:gd name="T58" fmla="*/ 65023271 w 216"/>
              <a:gd name="T59" fmla="*/ 1047187779 h 226"/>
              <a:gd name="T60" fmla="*/ 26840323 w 216"/>
              <a:gd name="T61" fmla="*/ 939556915 h 226"/>
              <a:gd name="T62" fmla="*/ 9836524 w 216"/>
              <a:gd name="T63" fmla="*/ 809121661 h 226"/>
              <a:gd name="T64" fmla="*/ 0 w 216"/>
              <a:gd name="T65" fmla="*/ 673247391 h 22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16"/>
              <a:gd name="T100" fmla="*/ 0 h 226"/>
              <a:gd name="T101" fmla="*/ 216 w 216"/>
              <a:gd name="T102" fmla="*/ 226 h 22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16" h="226">
                <a:moveTo>
                  <a:pt x="0" y="113"/>
                </a:moveTo>
                <a:lnTo>
                  <a:pt x="1" y="102"/>
                </a:lnTo>
                <a:lnTo>
                  <a:pt x="3" y="90"/>
                </a:lnTo>
                <a:lnTo>
                  <a:pt x="5" y="79"/>
                </a:lnTo>
                <a:lnTo>
                  <a:pt x="8" y="68"/>
                </a:lnTo>
                <a:lnTo>
                  <a:pt x="13" y="59"/>
                </a:lnTo>
                <a:lnTo>
                  <a:pt x="19" y="50"/>
                </a:lnTo>
                <a:lnTo>
                  <a:pt x="24" y="41"/>
                </a:lnTo>
                <a:lnTo>
                  <a:pt x="32" y="33"/>
                </a:lnTo>
                <a:lnTo>
                  <a:pt x="39" y="25"/>
                </a:lnTo>
                <a:lnTo>
                  <a:pt x="47" y="18"/>
                </a:lnTo>
                <a:lnTo>
                  <a:pt x="57" y="13"/>
                </a:lnTo>
                <a:lnTo>
                  <a:pt x="66" y="9"/>
                </a:lnTo>
                <a:lnTo>
                  <a:pt x="75" y="5"/>
                </a:lnTo>
                <a:lnTo>
                  <a:pt x="86" y="2"/>
                </a:lnTo>
                <a:lnTo>
                  <a:pt x="97" y="1"/>
                </a:lnTo>
                <a:lnTo>
                  <a:pt x="108" y="0"/>
                </a:lnTo>
                <a:lnTo>
                  <a:pt x="119" y="1"/>
                </a:lnTo>
                <a:lnTo>
                  <a:pt x="129" y="2"/>
                </a:lnTo>
                <a:lnTo>
                  <a:pt x="140" y="5"/>
                </a:lnTo>
                <a:lnTo>
                  <a:pt x="150" y="9"/>
                </a:lnTo>
                <a:lnTo>
                  <a:pt x="159" y="13"/>
                </a:lnTo>
                <a:lnTo>
                  <a:pt x="169" y="18"/>
                </a:lnTo>
                <a:lnTo>
                  <a:pt x="177" y="25"/>
                </a:lnTo>
                <a:lnTo>
                  <a:pt x="185" y="33"/>
                </a:lnTo>
                <a:lnTo>
                  <a:pt x="192" y="41"/>
                </a:lnTo>
                <a:lnTo>
                  <a:pt x="197" y="50"/>
                </a:lnTo>
                <a:lnTo>
                  <a:pt x="202" y="59"/>
                </a:lnTo>
                <a:lnTo>
                  <a:pt x="208" y="68"/>
                </a:lnTo>
                <a:lnTo>
                  <a:pt x="212" y="79"/>
                </a:lnTo>
                <a:lnTo>
                  <a:pt x="215" y="90"/>
                </a:lnTo>
                <a:lnTo>
                  <a:pt x="216" y="102"/>
                </a:lnTo>
                <a:lnTo>
                  <a:pt x="216" y="113"/>
                </a:lnTo>
                <a:lnTo>
                  <a:pt x="216" y="125"/>
                </a:lnTo>
                <a:lnTo>
                  <a:pt x="215" y="136"/>
                </a:lnTo>
                <a:lnTo>
                  <a:pt x="212" y="147"/>
                </a:lnTo>
                <a:lnTo>
                  <a:pt x="208" y="158"/>
                </a:lnTo>
                <a:lnTo>
                  <a:pt x="202" y="167"/>
                </a:lnTo>
                <a:lnTo>
                  <a:pt x="197" y="176"/>
                </a:lnTo>
                <a:lnTo>
                  <a:pt x="192" y="186"/>
                </a:lnTo>
                <a:lnTo>
                  <a:pt x="185" y="194"/>
                </a:lnTo>
                <a:lnTo>
                  <a:pt x="177" y="201"/>
                </a:lnTo>
                <a:lnTo>
                  <a:pt x="169" y="208"/>
                </a:lnTo>
                <a:lnTo>
                  <a:pt x="159" y="213"/>
                </a:lnTo>
                <a:lnTo>
                  <a:pt x="150" y="218"/>
                </a:lnTo>
                <a:lnTo>
                  <a:pt x="140" y="221"/>
                </a:lnTo>
                <a:lnTo>
                  <a:pt x="129" y="224"/>
                </a:lnTo>
                <a:lnTo>
                  <a:pt x="119" y="226"/>
                </a:lnTo>
                <a:lnTo>
                  <a:pt x="108" y="226"/>
                </a:lnTo>
                <a:lnTo>
                  <a:pt x="97" y="226"/>
                </a:lnTo>
                <a:lnTo>
                  <a:pt x="86" y="224"/>
                </a:lnTo>
                <a:lnTo>
                  <a:pt x="75" y="221"/>
                </a:lnTo>
                <a:lnTo>
                  <a:pt x="66" y="218"/>
                </a:lnTo>
                <a:lnTo>
                  <a:pt x="57" y="213"/>
                </a:lnTo>
                <a:lnTo>
                  <a:pt x="47" y="208"/>
                </a:lnTo>
                <a:lnTo>
                  <a:pt x="39" y="201"/>
                </a:lnTo>
                <a:lnTo>
                  <a:pt x="32" y="194"/>
                </a:lnTo>
                <a:lnTo>
                  <a:pt x="24" y="186"/>
                </a:lnTo>
                <a:lnTo>
                  <a:pt x="19" y="176"/>
                </a:lnTo>
                <a:lnTo>
                  <a:pt x="13" y="167"/>
                </a:lnTo>
                <a:lnTo>
                  <a:pt x="8" y="158"/>
                </a:lnTo>
                <a:lnTo>
                  <a:pt x="5" y="147"/>
                </a:lnTo>
                <a:lnTo>
                  <a:pt x="3" y="136"/>
                </a:lnTo>
                <a:lnTo>
                  <a:pt x="1" y="125"/>
                </a:lnTo>
                <a:lnTo>
                  <a:pt x="0" y="113"/>
                </a:lnTo>
              </a:path>
            </a:pathLst>
          </a:cu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76" name="未知">
            <a:extLst>
              <a:ext uri="{FF2B5EF4-FFF2-40B4-BE49-F238E27FC236}">
                <a16:creationId xmlns:a16="http://schemas.microsoft.com/office/drawing/2014/main" id="{5AE40037-E602-23E3-FC6D-391C8A736E1B}"/>
              </a:ext>
            </a:extLst>
          </p:cNvPr>
          <p:cNvSpPr>
            <a:spLocks/>
          </p:cNvSpPr>
          <p:nvPr/>
        </p:nvSpPr>
        <p:spPr bwMode="auto">
          <a:xfrm>
            <a:off x="5271422" y="4234233"/>
            <a:ext cx="165099" cy="111120"/>
          </a:xfrm>
          <a:custGeom>
            <a:avLst/>
            <a:gdLst>
              <a:gd name="T0" fmla="*/ 434492828 w 127"/>
              <a:gd name="T1" fmla="*/ 527471135 h 83"/>
              <a:gd name="T2" fmla="*/ 0 w 127"/>
              <a:gd name="T3" fmla="*/ 268626438 h 83"/>
              <a:gd name="T4" fmla="*/ 434492828 w 127"/>
              <a:gd name="T5" fmla="*/ 0 h 83"/>
              <a:gd name="T6" fmla="*/ 434492828 w 127"/>
              <a:gd name="T7" fmla="*/ 527471135 h 83"/>
              <a:gd name="T8" fmla="*/ 0 60000 65536"/>
              <a:gd name="T9" fmla="*/ 0 60000 65536"/>
              <a:gd name="T10" fmla="*/ 0 60000 65536"/>
              <a:gd name="T11" fmla="*/ 0 60000 65536"/>
              <a:gd name="T12" fmla="*/ 0 w 127"/>
              <a:gd name="T13" fmla="*/ 0 h 83"/>
              <a:gd name="T14" fmla="*/ 127 w 127"/>
              <a:gd name="T15" fmla="*/ 83 h 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7" h="83">
                <a:moveTo>
                  <a:pt x="127" y="83"/>
                </a:moveTo>
                <a:lnTo>
                  <a:pt x="0" y="42"/>
                </a:lnTo>
                <a:lnTo>
                  <a:pt x="127" y="0"/>
                </a:lnTo>
                <a:lnTo>
                  <a:pt x="127" y="83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477" name="Rectangle 164">
            <a:extLst>
              <a:ext uri="{FF2B5EF4-FFF2-40B4-BE49-F238E27FC236}">
                <a16:creationId xmlns:a16="http://schemas.microsoft.com/office/drawing/2014/main" id="{4A08A409-6DC9-6B8C-9254-01D8E6480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7486" y="4047449"/>
            <a:ext cx="635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1000" b="1">
                <a:solidFill>
                  <a:srgbClr val="FF0000"/>
                </a:solidFill>
                <a:latin typeface="宋体" pitchFamily="2" charset="-122"/>
              </a:rPr>
              <a:t>8</a:t>
            </a:r>
            <a:endParaRPr lang="zh-CN" altLang="en-US" sz="1000" b="1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15478" name="TextBox 80">
            <a:extLst>
              <a:ext uri="{FF2B5EF4-FFF2-40B4-BE49-F238E27FC236}">
                <a16:creationId xmlns:a16="http://schemas.microsoft.com/office/drawing/2014/main" id="{257A6922-9BD5-D360-CA33-C5053579C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6431" y="4136564"/>
            <a:ext cx="714375" cy="30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i="0" dirty="0">
                <a:solidFill>
                  <a:srgbClr val="FF0000"/>
                </a:solidFill>
              </a:rPr>
              <a:t>28,B</a:t>
            </a:r>
            <a:endParaRPr lang="zh-CN" altLang="en-US" sz="1400" i="0" dirty="0">
              <a:solidFill>
                <a:srgbClr val="FF0000"/>
              </a:solidFill>
            </a:endParaRPr>
          </a:p>
        </p:txBody>
      </p:sp>
      <p:sp>
        <p:nvSpPr>
          <p:cNvPr id="15480" name="Line 195">
            <a:extLst>
              <a:ext uri="{FF2B5EF4-FFF2-40B4-BE49-F238E27FC236}">
                <a16:creationId xmlns:a16="http://schemas.microsoft.com/office/drawing/2014/main" id="{E4611A63-F76C-F028-AD80-1C494C659C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21338" y="4265142"/>
            <a:ext cx="974718" cy="317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5" grpId="0" animBg="1"/>
      <p:bldP spid="15401" grpId="0"/>
      <p:bldP spid="15407" grpId="0" animBg="1"/>
      <p:bldP spid="15370" grpId="0"/>
      <p:bldP spid="15372" grpId="0"/>
      <p:bldP spid="15374" grpId="0"/>
      <p:bldP spid="15375" grpId="0" animBg="1"/>
      <p:bldP spid="15376" grpId="0" animBg="1"/>
      <p:bldP spid="5" grpId="0" animBg="1"/>
      <p:bldP spid="6" grpId="0" animBg="1"/>
      <p:bldP spid="15416" grpId="0"/>
      <p:bldP spid="15431" grpId="0"/>
      <p:bldP spid="15432" grpId="0" animBg="1"/>
      <p:bldP spid="15433" grpId="0" animBg="1"/>
      <p:bldP spid="15434" grpId="0" animBg="1"/>
      <p:bldP spid="15435" grpId="0"/>
      <p:bldP spid="15436" grpId="0"/>
      <p:bldP spid="15437" grpId="0" animBg="1"/>
      <p:bldP spid="15438" grpId="0"/>
      <p:bldP spid="15472" grpId="0" animBg="1"/>
      <p:bldP spid="15473" grpId="0"/>
      <p:bldP spid="15474" grpId="0" animBg="1"/>
      <p:bldP spid="15476" grpId="0" animBg="1"/>
      <p:bldP spid="15477" grpId="0"/>
      <p:bldP spid="15478" grpId="0"/>
      <p:bldP spid="1548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933575" y="1819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46" name="Rectangle 134"/>
          <p:cNvSpPr>
            <a:spLocks noChangeArrowheads="1"/>
          </p:cNvSpPr>
          <p:nvPr/>
        </p:nvSpPr>
        <p:spPr bwMode="auto">
          <a:xfrm>
            <a:off x="1790707" y="257175"/>
            <a:ext cx="642463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迪杰斯特拉算法实现</a:t>
            </a:r>
          </a:p>
        </p:txBody>
      </p:sp>
      <p:sp>
        <p:nvSpPr>
          <p:cNvPr id="47" name="AutoShape 3">
            <a:extLst>
              <a:ext uri="{FF2B5EF4-FFF2-40B4-BE49-F238E27FC236}">
                <a16:creationId xmlns:a16="http://schemas.microsoft.com/office/drawing/2014/main" id="{4DAF5AA5-B577-43B2-90A5-F0C707A26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16" y="1844005"/>
            <a:ext cx="1371600" cy="1600200"/>
          </a:xfrm>
          <a:prstGeom prst="roundRect">
            <a:avLst>
              <a:gd name="adj" fmla="val 16667"/>
            </a:avLst>
          </a:prstGeom>
          <a:noFill/>
          <a:ln w="12700" cap="sq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buFont typeface="Arial" pitchFamily="34" charset="0"/>
              <a:buNone/>
            </a:pPr>
            <a:endParaRPr lang="zh-CN" altLang="en-US" i="0"/>
          </a:p>
        </p:txBody>
      </p:sp>
      <p:sp>
        <p:nvSpPr>
          <p:cNvPr id="48" name="Oval 4">
            <a:extLst>
              <a:ext uri="{FF2B5EF4-FFF2-40B4-BE49-F238E27FC236}">
                <a16:creationId xmlns:a16="http://schemas.microsoft.com/office/drawing/2014/main" id="{8520F814-3E5F-4DD4-AEE5-324411F39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16" y="1691605"/>
            <a:ext cx="1524000" cy="1981200"/>
          </a:xfrm>
          <a:prstGeom prst="ellipse">
            <a:avLst/>
          </a:prstGeom>
          <a:noFill/>
          <a:ln w="12700" cap="sq">
            <a:solidFill>
              <a:srgbClr val="000082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buFont typeface="Arial" pitchFamily="34" charset="0"/>
              <a:buNone/>
            </a:pPr>
            <a:endParaRPr lang="zh-CN" altLang="en-US" i="0"/>
          </a:p>
        </p:txBody>
      </p:sp>
      <p:sp>
        <p:nvSpPr>
          <p:cNvPr id="49" name="Oval 5">
            <a:extLst>
              <a:ext uri="{FF2B5EF4-FFF2-40B4-BE49-F238E27FC236}">
                <a16:creationId xmlns:a16="http://schemas.microsoft.com/office/drawing/2014/main" id="{DE16497F-A801-4ADE-9294-F222FD9D8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16" y="1996405"/>
            <a:ext cx="304800" cy="304800"/>
          </a:xfrm>
          <a:prstGeom prst="ellipse">
            <a:avLst/>
          </a:prstGeom>
          <a:solidFill>
            <a:srgbClr val="FFFF99"/>
          </a:solidFill>
          <a:ln w="12700" cap="sq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buFont typeface="Arial" pitchFamily="34" charset="0"/>
              <a:buNone/>
            </a:pPr>
            <a:endParaRPr lang="zh-CN" altLang="en-US" i="0"/>
          </a:p>
        </p:txBody>
      </p:sp>
      <p:sp>
        <p:nvSpPr>
          <p:cNvPr id="50" name="Oval 6">
            <a:extLst>
              <a:ext uri="{FF2B5EF4-FFF2-40B4-BE49-F238E27FC236}">
                <a16:creationId xmlns:a16="http://schemas.microsoft.com/office/drawing/2014/main" id="{27119F1A-3B9D-47AA-A4A7-95BB299A8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16" y="2453605"/>
            <a:ext cx="304800" cy="304800"/>
          </a:xfrm>
          <a:prstGeom prst="ellipse">
            <a:avLst/>
          </a:prstGeom>
          <a:solidFill>
            <a:srgbClr val="FFFF99"/>
          </a:solidFill>
          <a:ln w="12700" cap="sq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buFont typeface="Arial" pitchFamily="34" charset="0"/>
              <a:buNone/>
            </a:pPr>
            <a:endParaRPr lang="zh-CN" altLang="en-US" i="0"/>
          </a:p>
        </p:txBody>
      </p:sp>
      <p:sp>
        <p:nvSpPr>
          <p:cNvPr id="51" name="Oval 8">
            <a:extLst>
              <a:ext uri="{FF2B5EF4-FFF2-40B4-BE49-F238E27FC236}">
                <a16:creationId xmlns:a16="http://schemas.microsoft.com/office/drawing/2014/main" id="{49FC6857-312D-42B6-A6EF-BD58492B4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16" y="1844005"/>
            <a:ext cx="304800" cy="304800"/>
          </a:xfrm>
          <a:prstGeom prst="ellipse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buFont typeface="Arial" pitchFamily="34" charset="0"/>
              <a:buNone/>
            </a:pPr>
            <a:endParaRPr lang="zh-CN" altLang="en-US" i="0"/>
          </a:p>
        </p:txBody>
      </p:sp>
      <p:sp>
        <p:nvSpPr>
          <p:cNvPr id="52" name="Oval 9">
            <a:extLst>
              <a:ext uri="{FF2B5EF4-FFF2-40B4-BE49-F238E27FC236}">
                <a16:creationId xmlns:a16="http://schemas.microsoft.com/office/drawing/2014/main" id="{074F87FB-BC62-4BBB-BDB8-A600470A3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16" y="2225005"/>
            <a:ext cx="304800" cy="304800"/>
          </a:xfrm>
          <a:prstGeom prst="ellipse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buFont typeface="Arial" pitchFamily="34" charset="0"/>
              <a:buNone/>
            </a:pPr>
            <a:endParaRPr lang="zh-CN" altLang="en-US" i="0"/>
          </a:p>
        </p:txBody>
      </p:sp>
      <p:sp>
        <p:nvSpPr>
          <p:cNvPr id="53" name="Oval 10">
            <a:extLst>
              <a:ext uri="{FF2B5EF4-FFF2-40B4-BE49-F238E27FC236}">
                <a16:creationId xmlns:a16="http://schemas.microsoft.com/office/drawing/2014/main" id="{4E5862EE-3E13-4CB0-BAC9-10FB0E298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16" y="3215605"/>
            <a:ext cx="304800" cy="304800"/>
          </a:xfrm>
          <a:prstGeom prst="ellipse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buFont typeface="Arial" pitchFamily="34" charset="0"/>
              <a:buNone/>
            </a:pPr>
            <a:endParaRPr lang="zh-CN" altLang="en-US" i="0"/>
          </a:p>
        </p:txBody>
      </p:sp>
      <p:sp>
        <p:nvSpPr>
          <p:cNvPr id="54" name="Oval 12">
            <a:extLst>
              <a:ext uri="{FF2B5EF4-FFF2-40B4-BE49-F238E27FC236}">
                <a16:creationId xmlns:a16="http://schemas.microsoft.com/office/drawing/2014/main" id="{4D377E89-B910-4BF5-8747-E88A6C4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16" y="2758405"/>
            <a:ext cx="304800" cy="304800"/>
          </a:xfrm>
          <a:prstGeom prst="ellipse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buFont typeface="Arial" pitchFamily="34" charset="0"/>
              <a:buNone/>
            </a:pPr>
            <a:endParaRPr lang="zh-CN" altLang="en-US" i="0"/>
          </a:p>
        </p:txBody>
      </p:sp>
      <p:sp>
        <p:nvSpPr>
          <p:cNvPr id="55" name="Line 13">
            <a:extLst>
              <a:ext uri="{FF2B5EF4-FFF2-40B4-BE49-F238E27FC236}">
                <a16:creationId xmlns:a16="http://schemas.microsoft.com/office/drawing/2014/main" id="{A1C24749-1A36-4B4E-91B4-C284FBEDC4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16" y="1996405"/>
            <a:ext cx="2209800" cy="1524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57" name="Line 17">
            <a:extLst>
              <a:ext uri="{FF2B5EF4-FFF2-40B4-BE49-F238E27FC236}">
                <a16:creationId xmlns:a16="http://schemas.microsoft.com/office/drawing/2014/main" id="{E5B7A3E5-B553-4175-8848-F09624AD3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16" y="2148805"/>
            <a:ext cx="2743200" cy="2286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59" name="Text Box 21">
            <a:extLst>
              <a:ext uri="{FF2B5EF4-FFF2-40B4-BE49-F238E27FC236}">
                <a16:creationId xmlns:a16="http://schemas.microsoft.com/office/drawing/2014/main" id="{6A0F6C3E-E143-4A70-882A-D9BF5FBC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379" y="1340768"/>
            <a:ext cx="3513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i="0"/>
              <a:t>U</a:t>
            </a:r>
          </a:p>
        </p:txBody>
      </p:sp>
      <p:sp>
        <p:nvSpPr>
          <p:cNvPr id="60" name="Text Box 22">
            <a:extLst>
              <a:ext uri="{FF2B5EF4-FFF2-40B4-BE49-F238E27FC236}">
                <a16:creationId xmlns:a16="http://schemas.microsoft.com/office/drawing/2014/main" id="{A12366E5-E990-48EE-983D-B4A7F2BBB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666" y="1359812"/>
            <a:ext cx="595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i="0" dirty="0"/>
              <a:t>U-V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875C955-575C-42C7-8DFD-679C0AB47FCF}"/>
              </a:ext>
            </a:extLst>
          </p:cNvPr>
          <p:cNvCxnSpPr>
            <a:stCxn id="57" idx="0"/>
            <a:endCxn id="54" idx="2"/>
          </p:cNvCxnSpPr>
          <p:nvPr/>
        </p:nvCxnSpPr>
        <p:spPr bwMode="auto">
          <a:xfrm>
            <a:off x="3581416" y="2148805"/>
            <a:ext cx="2743200" cy="762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FADC030-DB8E-4B80-8572-51FBA3689155}"/>
              </a:ext>
            </a:extLst>
          </p:cNvPr>
          <p:cNvCxnSpPr>
            <a:cxnSpLocks/>
            <a:stCxn id="49" idx="5"/>
            <a:endCxn id="53" idx="2"/>
          </p:cNvCxnSpPr>
          <p:nvPr/>
        </p:nvCxnSpPr>
        <p:spPr bwMode="auto">
          <a:xfrm>
            <a:off x="3536779" y="2256568"/>
            <a:ext cx="2406837" cy="111143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A1657C3B-F127-4FC5-AE1D-68B5472956A0}"/>
              </a:ext>
            </a:extLst>
          </p:cNvPr>
          <p:cNvSpPr txBox="1"/>
          <p:nvPr/>
        </p:nvSpPr>
        <p:spPr>
          <a:xfrm>
            <a:off x="467544" y="4077072"/>
            <a:ext cx="9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latin typeface="+mn-ea"/>
                <a:ea typeface="+mn-ea"/>
              </a:rPr>
              <a:t>顶点是否加入</a:t>
            </a:r>
            <a:r>
              <a:rPr lang="en-US" altLang="zh-CN" sz="2800" b="0" i="0" dirty="0">
                <a:latin typeface="+mn-ea"/>
                <a:ea typeface="+mn-ea"/>
              </a:rPr>
              <a:t>U</a:t>
            </a:r>
            <a:r>
              <a:rPr lang="zh-CN" altLang="en-US" sz="2800" b="0" i="0" dirty="0">
                <a:latin typeface="+mn-ea"/>
                <a:ea typeface="+mn-ea"/>
              </a:rPr>
              <a:t>集合中，即求得最短路径？</a:t>
            </a:r>
            <a:r>
              <a:rPr lang="en-US" altLang="zh-CN" sz="2800" b="0" i="0" dirty="0">
                <a:latin typeface="+mn-ea"/>
                <a:ea typeface="+mn-ea"/>
              </a:rPr>
              <a:t>final</a:t>
            </a:r>
            <a:r>
              <a:rPr lang="zh-CN" altLang="en-US" sz="2800" b="0" i="0" dirty="0">
                <a:latin typeface="+mn-ea"/>
                <a:ea typeface="+mn-ea"/>
              </a:rPr>
              <a:t>数组</a:t>
            </a:r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BD19F14-01DE-40BA-973F-FF040F5E4C78}"/>
              </a:ext>
            </a:extLst>
          </p:cNvPr>
          <p:cNvSpPr txBox="1"/>
          <p:nvPr/>
        </p:nvSpPr>
        <p:spPr>
          <a:xfrm>
            <a:off x="467544" y="4653136"/>
            <a:ext cx="7992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latin typeface="+mn-ea"/>
                <a:ea typeface="+mn-ea"/>
              </a:rPr>
              <a:t>各顶点到源点的距离？</a:t>
            </a:r>
            <a:r>
              <a:rPr lang="en-US" altLang="zh-CN" sz="2800" b="0" i="0" dirty="0">
                <a:latin typeface="+mn-ea"/>
                <a:ea typeface="+mn-ea"/>
              </a:rPr>
              <a:t>D</a:t>
            </a:r>
            <a:r>
              <a:rPr lang="zh-CN" altLang="en-US" sz="2800" b="0" i="0" dirty="0">
                <a:latin typeface="+mn-ea"/>
                <a:ea typeface="+mn-ea"/>
              </a:rPr>
              <a:t>数组，不断更新</a:t>
            </a:r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EA3BD71-2913-4302-BE8C-CDC29792261E}"/>
              </a:ext>
            </a:extLst>
          </p:cNvPr>
          <p:cNvSpPr txBox="1"/>
          <p:nvPr/>
        </p:nvSpPr>
        <p:spPr>
          <a:xfrm>
            <a:off x="475720" y="5309359"/>
            <a:ext cx="81369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latin typeface="+mn-ea"/>
                <a:ea typeface="+mn-ea"/>
              </a:rPr>
              <a:t>选</a:t>
            </a:r>
            <a:r>
              <a:rPr lang="en-US" altLang="zh-CN" sz="2800" b="0" i="0" dirty="0">
                <a:latin typeface="+mn-ea"/>
                <a:ea typeface="+mn-ea"/>
              </a:rPr>
              <a:t>D</a:t>
            </a:r>
            <a:r>
              <a:rPr lang="zh-CN" altLang="en-US" sz="2800" b="0" i="0" dirty="0">
                <a:latin typeface="+mn-ea"/>
                <a:ea typeface="+mn-ea"/>
              </a:rPr>
              <a:t>值最小，</a:t>
            </a:r>
            <a:r>
              <a:rPr lang="en-US" altLang="zh-CN" sz="2800" b="0" i="0" dirty="0">
                <a:latin typeface="+mn-ea"/>
                <a:ea typeface="+mn-ea"/>
              </a:rPr>
              <a:t>final</a:t>
            </a:r>
            <a:r>
              <a:rPr lang="zh-CN" altLang="en-US" sz="2800" b="0" i="0" dirty="0">
                <a:latin typeface="+mn-ea"/>
                <a:ea typeface="+mn-ea"/>
              </a:rPr>
              <a:t>为</a:t>
            </a:r>
            <a:r>
              <a:rPr lang="en-US" altLang="zh-CN" sz="2800" b="0" i="0" dirty="0">
                <a:latin typeface="+mn-ea"/>
                <a:ea typeface="+mn-ea"/>
              </a:rPr>
              <a:t>false</a:t>
            </a:r>
            <a:r>
              <a:rPr lang="zh-CN" altLang="en-US" sz="2800" b="0" i="0" dirty="0">
                <a:latin typeface="+mn-ea"/>
                <a:ea typeface="+mn-ea"/>
              </a:rPr>
              <a:t>的点，路径上的上一个顶点？</a:t>
            </a:r>
            <a:r>
              <a:rPr lang="en-US" altLang="zh-CN" sz="2800" b="0" i="0" dirty="0">
                <a:latin typeface="+mn-ea"/>
                <a:ea typeface="+mn-ea"/>
              </a:rPr>
              <a:t>path</a:t>
            </a:r>
            <a:r>
              <a:rPr lang="zh-CN" altLang="en-US" sz="2800" b="0" i="0" dirty="0">
                <a:latin typeface="+mn-ea"/>
                <a:ea typeface="+mn-ea"/>
              </a:rPr>
              <a:t>数组</a:t>
            </a:r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8" name="对话气泡: 椭圆形 7">
            <a:extLst>
              <a:ext uri="{FF2B5EF4-FFF2-40B4-BE49-F238E27FC236}">
                <a16:creationId xmlns:a16="http://schemas.microsoft.com/office/drawing/2014/main" id="{EE261CC3-3BB7-4FFE-ACFC-45117965089A}"/>
              </a:ext>
            </a:extLst>
          </p:cNvPr>
          <p:cNvSpPr/>
          <p:nvPr/>
        </p:nvSpPr>
        <p:spPr bwMode="auto">
          <a:xfrm>
            <a:off x="4067944" y="922082"/>
            <a:ext cx="1086407" cy="605909"/>
          </a:xfrm>
          <a:prstGeom prst="wedgeEllipseCallout">
            <a:avLst>
              <a:gd name="adj1" fmla="val -88633"/>
              <a:gd name="adj2" fmla="val 146949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源点</a:t>
            </a:r>
          </a:p>
        </p:txBody>
      </p:sp>
      <p:sp>
        <p:nvSpPr>
          <p:cNvPr id="69" name="对话气泡: 椭圆形 68">
            <a:extLst>
              <a:ext uri="{FF2B5EF4-FFF2-40B4-BE49-F238E27FC236}">
                <a16:creationId xmlns:a16="http://schemas.microsoft.com/office/drawing/2014/main" id="{EA2757DD-2632-4069-9E44-5E7584CDD3DE}"/>
              </a:ext>
            </a:extLst>
          </p:cNvPr>
          <p:cNvSpPr/>
          <p:nvPr/>
        </p:nvSpPr>
        <p:spPr bwMode="auto">
          <a:xfrm>
            <a:off x="5476612" y="842357"/>
            <a:ext cx="1086407" cy="605909"/>
          </a:xfrm>
          <a:prstGeom prst="wedgeEllipseCallout">
            <a:avLst>
              <a:gd name="adj1" fmla="val -88633"/>
              <a:gd name="adj2" fmla="val 146949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距离</a:t>
            </a:r>
          </a:p>
        </p:txBody>
      </p:sp>
    </p:spTree>
    <p:extLst>
      <p:ext uri="{BB962C8B-B14F-4D97-AF65-F5344CB8AC3E}">
        <p14:creationId xmlns:p14="http://schemas.microsoft.com/office/powerpoint/2010/main" val="16874723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/>
      <p:bldP spid="67" grpId="0"/>
      <p:bldP spid="8" grpId="0" animBg="1"/>
      <p:bldP spid="6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 typeface="Arial" pitchFamily="34" charset="0"/>
              <a:buNone/>
            </a:pPr>
            <a:fld id="{A3EC216F-C20B-4ED7-9772-398DC68D6525}" type="slidenum">
              <a:rPr lang="zh-CN" altLang="en-US"/>
              <a:pPr algn="r" eaLnBrk="1" hangingPunct="1">
                <a:spcBef>
                  <a:spcPct val="50000"/>
                </a:spcBef>
                <a:buFont typeface="Arial" pitchFamily="34" charset="0"/>
                <a:buNone/>
              </a:pPr>
              <a:t>12</a:t>
            </a:fld>
            <a:endParaRPr lang="en-US" altLang="zh-CN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18436" y="1340768"/>
            <a:ext cx="8334372" cy="40386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黑体" pitchFamily="49" charset="-122"/>
                <a:ea typeface="黑体" pitchFamily="49" charset="-122"/>
              </a:rPr>
              <a:t>在</a:t>
            </a:r>
            <a:r>
              <a:rPr lang="en-US" altLang="zh-CN" dirty="0" err="1">
                <a:latin typeface="黑体" pitchFamily="49" charset="-122"/>
                <a:ea typeface="黑体" pitchFamily="49" charset="-122"/>
              </a:rPr>
              <a:t>Dijkstra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算法中，引进了一个辅助向量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D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黑体" pitchFamily="49" charset="-122"/>
                <a:ea typeface="黑体" pitchFamily="49" charset="-122"/>
              </a:rPr>
              <a:t>每个分量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D[</a:t>
            </a:r>
            <a:r>
              <a:rPr lang="en-US" altLang="zh-CN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]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表示当前所找到的从源点到每个终点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v</a:t>
            </a:r>
            <a:r>
              <a:rPr lang="en-US" altLang="zh-CN" baseline="-25000" dirty="0">
                <a:latin typeface="黑体" pitchFamily="49" charset="-122"/>
                <a:ea typeface="黑体" pitchFamily="49" charset="-122"/>
              </a:rPr>
              <a:t>i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的最短路径长度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黑体" pitchFamily="49" charset="-122"/>
                <a:ea typeface="黑体" pitchFamily="49" charset="-122"/>
              </a:rPr>
              <a:t>D[</a:t>
            </a:r>
            <a:r>
              <a:rPr lang="en-US" altLang="zh-CN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]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初值为始点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v</a:t>
            </a:r>
            <a:r>
              <a:rPr lang="en-US" altLang="zh-CN" baseline="-25000" dirty="0">
                <a:latin typeface="黑体" pitchFamily="49" charset="-122"/>
                <a:ea typeface="黑体" pitchFamily="49" charset="-122"/>
              </a:rPr>
              <a:t>0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到各终点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v</a:t>
            </a:r>
            <a:r>
              <a:rPr lang="en-US" altLang="zh-CN" baseline="-25000" dirty="0">
                <a:latin typeface="黑体" pitchFamily="49" charset="-122"/>
                <a:ea typeface="黑体" pitchFamily="49" charset="-122"/>
              </a:rPr>
              <a:t>i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的直接距离，即若从始点到某终点有(出)弧，则为弧上的权值，否则为∞</a:t>
            </a:r>
          </a:p>
        </p:txBody>
      </p:sp>
      <p:sp>
        <p:nvSpPr>
          <p:cNvPr id="2" name="Rectangle 134">
            <a:extLst>
              <a:ext uri="{FF2B5EF4-FFF2-40B4-BE49-F238E27FC236}">
                <a16:creationId xmlns:a16="http://schemas.microsoft.com/office/drawing/2014/main" id="{5E3D8159-637E-C853-6F0F-A2429646E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7" y="257175"/>
            <a:ext cx="642463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迪杰斯特拉算法实现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 typeface="Arial" pitchFamily="34" charset="0"/>
              <a:buNone/>
            </a:pPr>
            <a:fld id="{9A511F8C-3190-4362-A638-03E98CBADD79}" type="slidenum">
              <a:rPr lang="zh-CN" altLang="en-US"/>
              <a:pPr algn="r" eaLnBrk="1" hangingPunct="1">
                <a:spcBef>
                  <a:spcPct val="50000"/>
                </a:spcBef>
                <a:buFont typeface="Arial" pitchFamily="34" charset="0"/>
                <a:buNone/>
              </a:pPr>
              <a:t>13</a:t>
            </a:fld>
            <a:endParaRPr lang="en-US" altLang="zh-CN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39552" y="1352550"/>
            <a:ext cx="8763000" cy="4038600"/>
          </a:xfrm>
        </p:spPr>
        <p:txBody>
          <a:bodyPr/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如何得出从开始点到各个顶点的最短路径？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  （经过哪些顶点）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 设置另一个辅助向量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path[]，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用来存放得到的从源点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v0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到其余各顶点的最短路径上到达目标顶点的前一顶点下标。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Rectangle 134">
            <a:extLst>
              <a:ext uri="{FF2B5EF4-FFF2-40B4-BE49-F238E27FC236}">
                <a16:creationId xmlns:a16="http://schemas.microsoft.com/office/drawing/2014/main" id="{38FA104C-ED17-C73C-B8A6-BE26CFC4A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7" y="257175"/>
            <a:ext cx="642463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迪杰斯特拉算法实现</a:t>
            </a:r>
          </a:p>
        </p:txBody>
      </p:sp>
      <p:pic>
        <p:nvPicPr>
          <p:cNvPr id="5" name="Picture 209">
            <a:extLst>
              <a:ext uri="{FF2B5EF4-FFF2-40B4-BE49-F238E27FC236}">
                <a16:creationId xmlns:a16="http://schemas.microsoft.com/office/drawing/2014/main" id="{1085C9BB-6DC6-58FE-1CBB-3EC5418A4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504" y="4043362"/>
            <a:ext cx="279082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B9EC592-07F7-8CC3-0237-21AD7A18C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333036"/>
              </p:ext>
            </p:extLst>
          </p:nvPr>
        </p:nvGraphicFramePr>
        <p:xfrm>
          <a:off x="3047112" y="3941946"/>
          <a:ext cx="6096888" cy="15945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70984">
                  <a:extLst>
                    <a:ext uri="{9D8B030D-6E8A-4147-A177-3AD203B41FA5}">
                      <a16:colId xmlns:a16="http://schemas.microsoft.com/office/drawing/2014/main" val="2141871443"/>
                    </a:ext>
                  </a:extLst>
                </a:gridCol>
                <a:gridCol w="870984">
                  <a:extLst>
                    <a:ext uri="{9D8B030D-6E8A-4147-A177-3AD203B41FA5}">
                      <a16:colId xmlns:a16="http://schemas.microsoft.com/office/drawing/2014/main" val="3900683558"/>
                    </a:ext>
                  </a:extLst>
                </a:gridCol>
                <a:gridCol w="870984">
                  <a:extLst>
                    <a:ext uri="{9D8B030D-6E8A-4147-A177-3AD203B41FA5}">
                      <a16:colId xmlns:a16="http://schemas.microsoft.com/office/drawing/2014/main" val="123956536"/>
                    </a:ext>
                  </a:extLst>
                </a:gridCol>
                <a:gridCol w="870984">
                  <a:extLst>
                    <a:ext uri="{9D8B030D-6E8A-4147-A177-3AD203B41FA5}">
                      <a16:colId xmlns:a16="http://schemas.microsoft.com/office/drawing/2014/main" val="2807611534"/>
                    </a:ext>
                  </a:extLst>
                </a:gridCol>
                <a:gridCol w="870984">
                  <a:extLst>
                    <a:ext uri="{9D8B030D-6E8A-4147-A177-3AD203B41FA5}">
                      <a16:colId xmlns:a16="http://schemas.microsoft.com/office/drawing/2014/main" val="1328988363"/>
                    </a:ext>
                  </a:extLst>
                </a:gridCol>
                <a:gridCol w="870984">
                  <a:extLst>
                    <a:ext uri="{9D8B030D-6E8A-4147-A177-3AD203B41FA5}">
                      <a16:colId xmlns:a16="http://schemas.microsoft.com/office/drawing/2014/main" val="2026776509"/>
                    </a:ext>
                  </a:extLst>
                </a:gridCol>
                <a:gridCol w="870984">
                  <a:extLst>
                    <a:ext uri="{9D8B030D-6E8A-4147-A177-3AD203B41FA5}">
                      <a16:colId xmlns:a16="http://schemas.microsoft.com/office/drawing/2014/main" val="3621040896"/>
                    </a:ext>
                  </a:extLst>
                </a:gridCol>
              </a:tblGrid>
              <a:tr h="311854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4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5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161810"/>
                  </a:ext>
                </a:extLst>
              </a:tr>
              <a:tr h="5686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+mn-ea"/>
                          <a:ea typeface="+mn-ea"/>
                        </a:rPr>
                        <a:t>vexs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A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B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C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D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E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F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799488"/>
                  </a:ext>
                </a:extLst>
              </a:tr>
              <a:tr h="5686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path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-1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5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62728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9BD329EE-DC8C-8404-DF39-1A9227957ACB}"/>
              </a:ext>
            </a:extLst>
          </p:cNvPr>
          <p:cNvSpPr txBox="1"/>
          <p:nvPr/>
        </p:nvSpPr>
        <p:spPr>
          <a:xfrm>
            <a:off x="3047112" y="5877272"/>
            <a:ext cx="2790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0" i="0" dirty="0">
                <a:latin typeface="+mn-ea"/>
                <a:ea typeface="+mn-ea"/>
              </a:rPr>
              <a:t>F: B-&gt;C-&gt;A, </a:t>
            </a:r>
            <a:r>
              <a:rPr lang="zh-CN" altLang="en-US" sz="2800" b="0" i="0" dirty="0">
                <a:latin typeface="+mn-ea"/>
                <a:ea typeface="+mn-ea"/>
              </a:rPr>
              <a:t>栈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 typeface="Arial" pitchFamily="34" charset="0"/>
              <a:buNone/>
            </a:pPr>
            <a:fld id="{A3EC216F-C20B-4ED7-9772-398DC68D6525}" type="slidenum">
              <a:rPr lang="zh-CN" altLang="en-US"/>
              <a:pPr algn="r" eaLnBrk="1" hangingPunct="1">
                <a:spcBef>
                  <a:spcPct val="50000"/>
                </a:spcBef>
                <a:buFont typeface="Arial" pitchFamily="34" charset="0"/>
                <a:buNone/>
              </a:pPr>
              <a:t>14</a:t>
            </a:fld>
            <a:endParaRPr lang="en-US" altLang="zh-CN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471518" y="214290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普利姆、迪杰斯特拉算法实现</a:t>
            </a: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6B0D14B7-7619-48AB-8415-0B71D457F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383625"/>
              </p:ext>
            </p:extLst>
          </p:nvPr>
        </p:nvGraphicFramePr>
        <p:xfrm>
          <a:off x="107504" y="1329737"/>
          <a:ext cx="9036496" cy="55490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4776">
                  <a:extLst>
                    <a:ext uri="{9D8B030D-6E8A-4147-A177-3AD203B41FA5}">
                      <a16:colId xmlns:a16="http://schemas.microsoft.com/office/drawing/2014/main" val="2305584300"/>
                    </a:ext>
                  </a:extLst>
                </a:gridCol>
                <a:gridCol w="3735728">
                  <a:extLst>
                    <a:ext uri="{9D8B030D-6E8A-4147-A177-3AD203B41FA5}">
                      <a16:colId xmlns:a16="http://schemas.microsoft.com/office/drawing/2014/main" val="1810702762"/>
                    </a:ext>
                  </a:extLst>
                </a:gridCol>
                <a:gridCol w="3725992">
                  <a:extLst>
                    <a:ext uri="{9D8B030D-6E8A-4147-A177-3AD203B41FA5}">
                      <a16:colId xmlns:a16="http://schemas.microsoft.com/office/drawing/2014/main" val="3059099949"/>
                    </a:ext>
                  </a:extLst>
                </a:gridCol>
              </a:tblGrid>
              <a:tr h="519832"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普利姆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迪杰斯特拉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158701"/>
                  </a:ext>
                </a:extLst>
              </a:tr>
              <a:tr h="95366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/>
                        <a:t>辅助空间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/>
                        <a:t>dis</a:t>
                      </a:r>
                      <a:r>
                        <a:rPr lang="zh-CN" altLang="en-US" sz="2400" dirty="0"/>
                        <a:t>：存储边权值；</a:t>
                      </a:r>
                      <a:endParaRPr lang="en-US" altLang="zh-CN" sz="2400" dirty="0"/>
                    </a:p>
                    <a:p>
                      <a:pPr algn="l"/>
                      <a:r>
                        <a:rPr lang="en-US" altLang="zh-CN" sz="2400" dirty="0"/>
                        <a:t>visited:</a:t>
                      </a:r>
                      <a:r>
                        <a:rPr lang="zh-CN" altLang="en-US" sz="2400" dirty="0"/>
                        <a:t>是否加入树；</a:t>
                      </a:r>
                      <a:endParaRPr lang="en-US" altLang="zh-CN" sz="2400" dirty="0"/>
                    </a:p>
                    <a:p>
                      <a:pPr algn="l"/>
                      <a:r>
                        <a:rPr lang="en-US" altLang="zh-CN" sz="2400" dirty="0"/>
                        <a:t>adj: </a:t>
                      </a:r>
                      <a:r>
                        <a:rPr lang="zh-CN" altLang="en-US" sz="2400" dirty="0"/>
                        <a:t>边的另一邻接点。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/>
                        <a:t>D</a:t>
                      </a:r>
                      <a:r>
                        <a:rPr lang="zh-CN" altLang="en-US" sz="2400" dirty="0"/>
                        <a:t>：存储距离</a:t>
                      </a:r>
                      <a:endParaRPr lang="en-US" altLang="zh-CN" sz="2400" dirty="0"/>
                    </a:p>
                    <a:p>
                      <a:pPr algn="l"/>
                      <a:r>
                        <a:rPr lang="en-US" altLang="zh-CN" sz="2400" dirty="0"/>
                        <a:t>final:</a:t>
                      </a:r>
                      <a:r>
                        <a:rPr lang="zh-CN" altLang="en-US" sz="2400" dirty="0"/>
                        <a:t>是否求得最短路径；</a:t>
                      </a:r>
                      <a:endParaRPr lang="en-US" altLang="zh-CN" sz="2400" dirty="0"/>
                    </a:p>
                    <a:p>
                      <a:pPr algn="l"/>
                      <a:r>
                        <a:rPr lang="en-US" altLang="zh-CN" sz="2400" dirty="0"/>
                        <a:t>path: </a:t>
                      </a:r>
                      <a:r>
                        <a:rPr lang="zh-CN" altLang="en-US" sz="2400" dirty="0"/>
                        <a:t>路径上的上一个点。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32162"/>
                  </a:ext>
                </a:extLst>
              </a:tr>
              <a:tr h="95366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/>
                        <a:t>过程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/>
                        <a:t>初始化；权值或</a:t>
                      </a:r>
                      <a:r>
                        <a:rPr lang="en-US" altLang="zh-CN" sz="2400" dirty="0"/>
                        <a:t>0x3f3f3f3f</a:t>
                      </a:r>
                    </a:p>
                    <a:p>
                      <a:pPr algn="l"/>
                      <a:r>
                        <a:rPr lang="zh-CN" altLang="en-US" sz="2400" dirty="0"/>
                        <a:t>循环</a:t>
                      </a:r>
                      <a:r>
                        <a:rPr lang="en-US" altLang="zh-CN" sz="2400" dirty="0"/>
                        <a:t>n-1</a:t>
                      </a:r>
                      <a:r>
                        <a:rPr lang="zh-CN" altLang="en-US" sz="2400" dirty="0"/>
                        <a:t>趟：</a:t>
                      </a:r>
                      <a:endParaRPr lang="en-US" altLang="zh-CN" sz="2400" dirty="0"/>
                    </a:p>
                    <a:p>
                      <a:pPr algn="l"/>
                      <a:r>
                        <a:rPr lang="en-US" altLang="zh-CN" sz="2400" dirty="0"/>
                        <a:t>     </a:t>
                      </a:r>
                      <a:r>
                        <a:rPr lang="zh-CN" altLang="en-US" sz="2400" dirty="0"/>
                        <a:t>选</a:t>
                      </a:r>
                      <a:r>
                        <a:rPr lang="en-US" altLang="zh-CN" sz="2400" dirty="0"/>
                        <a:t>visited</a:t>
                      </a:r>
                      <a:r>
                        <a:rPr lang="zh-CN" altLang="en-US" sz="2400" dirty="0"/>
                        <a:t>为</a:t>
                      </a:r>
                      <a:r>
                        <a:rPr lang="en-US" altLang="zh-CN" sz="2400" dirty="0"/>
                        <a:t>0</a:t>
                      </a:r>
                      <a:r>
                        <a:rPr lang="zh-CN" altLang="en-US" sz="2400" dirty="0"/>
                        <a:t>且</a:t>
                      </a:r>
                      <a:r>
                        <a:rPr lang="en-US" altLang="zh-CN" sz="2400" dirty="0"/>
                        <a:t>dis</a:t>
                      </a:r>
                      <a:r>
                        <a:rPr lang="zh-CN" altLang="en-US" sz="2400" dirty="0"/>
                        <a:t>值最小的点，更新该点</a:t>
                      </a:r>
                      <a:r>
                        <a:rPr lang="en-US" altLang="zh-CN" sz="2400" dirty="0"/>
                        <a:t>visited</a:t>
                      </a:r>
                      <a:r>
                        <a:rPr lang="zh-CN" altLang="en-US" sz="2400" dirty="0"/>
                        <a:t>；</a:t>
                      </a:r>
                      <a:endParaRPr lang="en-US" altLang="zh-CN" sz="2400" dirty="0"/>
                    </a:p>
                    <a:p>
                      <a:pPr algn="l"/>
                      <a:r>
                        <a:rPr lang="en-US" altLang="zh-CN" sz="2400" dirty="0"/>
                        <a:t>     </a:t>
                      </a:r>
                      <a:r>
                        <a:rPr lang="zh-CN" altLang="en-US" sz="2400" dirty="0"/>
                        <a:t>更新</a:t>
                      </a:r>
                      <a:r>
                        <a:rPr lang="en-US" altLang="zh-CN" sz="2400" dirty="0"/>
                        <a:t>dis</a:t>
                      </a:r>
                      <a:r>
                        <a:rPr lang="zh-CN" altLang="en-US" sz="2400" dirty="0"/>
                        <a:t>值、</a:t>
                      </a:r>
                      <a:r>
                        <a:rPr lang="en-US" altLang="zh-CN" sz="2400" dirty="0"/>
                        <a:t>adj</a:t>
                      </a:r>
                      <a:r>
                        <a:rPr lang="zh-CN" altLang="en-US" sz="2400" dirty="0"/>
                        <a:t>。</a:t>
                      </a:r>
                      <a:endParaRPr lang="en-US" altLang="zh-CN" sz="2400" dirty="0"/>
                    </a:p>
                    <a:p>
                      <a:pPr algn="l"/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/>
                        <a:t>初始化</a:t>
                      </a:r>
                      <a:r>
                        <a:rPr lang="en-US" altLang="zh-CN" sz="2400" dirty="0"/>
                        <a:t>:</a:t>
                      </a:r>
                      <a:r>
                        <a:rPr lang="zh-CN" altLang="en-US" sz="2400" dirty="0"/>
                        <a:t>权值或</a:t>
                      </a:r>
                      <a:r>
                        <a:rPr lang="en-US" altLang="zh-CN" sz="2400" dirty="0"/>
                        <a:t>0x3f3f3f3f</a:t>
                      </a:r>
                    </a:p>
                    <a:p>
                      <a:pPr algn="l"/>
                      <a:r>
                        <a:rPr lang="zh-CN" altLang="en-US" sz="2400" dirty="0"/>
                        <a:t>循环最多</a:t>
                      </a:r>
                      <a:r>
                        <a:rPr lang="en-US" altLang="zh-CN" sz="2400" dirty="0"/>
                        <a:t>n-1</a:t>
                      </a:r>
                      <a:r>
                        <a:rPr lang="zh-CN" altLang="en-US" sz="2400" dirty="0"/>
                        <a:t>趟：</a:t>
                      </a:r>
                      <a:endParaRPr lang="en-US" altLang="zh-CN" sz="2400" dirty="0"/>
                    </a:p>
                    <a:p>
                      <a:pPr algn="l"/>
                      <a:r>
                        <a:rPr lang="en-US" altLang="zh-CN" sz="2400" dirty="0"/>
                        <a:t>     </a:t>
                      </a:r>
                      <a:r>
                        <a:rPr lang="zh-CN" altLang="en-US" sz="2400" dirty="0"/>
                        <a:t>选</a:t>
                      </a:r>
                      <a:r>
                        <a:rPr lang="en-US" altLang="zh-CN" sz="2400" dirty="0"/>
                        <a:t>final</a:t>
                      </a:r>
                      <a:r>
                        <a:rPr lang="zh-CN" altLang="en-US" sz="2400" dirty="0"/>
                        <a:t>为</a:t>
                      </a:r>
                      <a:r>
                        <a:rPr lang="en-US" altLang="zh-CN" sz="2400" dirty="0"/>
                        <a:t>0</a:t>
                      </a:r>
                      <a:r>
                        <a:rPr lang="zh-CN" altLang="en-US" sz="2400" dirty="0"/>
                        <a:t>且</a:t>
                      </a:r>
                      <a:r>
                        <a:rPr lang="en-US" altLang="zh-CN" sz="2400" dirty="0"/>
                        <a:t>D</a:t>
                      </a:r>
                      <a:r>
                        <a:rPr lang="zh-CN" altLang="en-US" sz="2400" dirty="0"/>
                        <a:t>值最小</a:t>
                      </a:r>
                      <a:r>
                        <a:rPr lang="en-US" altLang="zh-CN" sz="2400" dirty="0"/>
                        <a:t>     </a:t>
                      </a:r>
                      <a:r>
                        <a:rPr lang="zh-CN" altLang="en-US" sz="2400" dirty="0"/>
                        <a:t>的点，更新该点</a:t>
                      </a:r>
                      <a:r>
                        <a:rPr lang="en-US" altLang="zh-CN" sz="2400" dirty="0"/>
                        <a:t>final</a:t>
                      </a:r>
                      <a:r>
                        <a:rPr lang="zh-CN" altLang="en-US" sz="2400" dirty="0"/>
                        <a:t>值；</a:t>
                      </a:r>
                      <a:endParaRPr lang="en-US" altLang="zh-CN" sz="2400" dirty="0"/>
                    </a:p>
                    <a:p>
                      <a:pPr algn="l"/>
                      <a:r>
                        <a:rPr lang="en-US" altLang="zh-CN" sz="2400" dirty="0"/>
                        <a:t>     </a:t>
                      </a:r>
                      <a:r>
                        <a:rPr lang="zh-CN" altLang="en-US" sz="2400" dirty="0"/>
                        <a:t>更新</a:t>
                      </a:r>
                      <a:r>
                        <a:rPr lang="en-US" altLang="zh-CN" sz="2400" dirty="0"/>
                        <a:t>D</a:t>
                      </a:r>
                      <a:r>
                        <a:rPr lang="zh-CN" altLang="en-US" sz="2400" dirty="0"/>
                        <a:t>值、</a:t>
                      </a:r>
                      <a:r>
                        <a:rPr lang="en-US" altLang="zh-CN" sz="2400" dirty="0"/>
                        <a:t>path</a:t>
                      </a:r>
                      <a:r>
                        <a:rPr lang="zh-CN" altLang="en-US" sz="2400" dirty="0"/>
                        <a:t>。</a:t>
                      </a:r>
                      <a:endParaRPr lang="en-US" altLang="zh-CN" sz="2400" dirty="0"/>
                    </a:p>
                    <a:p>
                      <a:pPr algn="l"/>
                      <a:r>
                        <a:rPr lang="en-US" altLang="zh-CN" sz="2400" dirty="0"/>
                        <a:t>     </a:t>
                      </a:r>
                      <a:r>
                        <a:rPr lang="zh-CN" altLang="en-US" sz="2400" dirty="0"/>
                        <a:t>若</a:t>
                      </a:r>
                      <a:r>
                        <a:rPr lang="en-US" altLang="zh-CN" sz="2400" dirty="0"/>
                        <a:t>D</a:t>
                      </a:r>
                      <a:r>
                        <a:rPr lang="zh-CN" altLang="en-US" sz="2400" dirty="0"/>
                        <a:t>值为无穷大，剩余点无最短路径。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435328"/>
                  </a:ext>
                </a:extLst>
              </a:tr>
              <a:tr h="95366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/>
                        <a:t>更新，假设选出</a:t>
                      </a:r>
                      <a:r>
                        <a:rPr lang="en-US" altLang="zh-CN" sz="2400" dirty="0" err="1"/>
                        <a:t>i</a:t>
                      </a:r>
                      <a:r>
                        <a:rPr lang="zh-CN" altLang="en-US" sz="2400" dirty="0"/>
                        <a:t>顶点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/>
                        <a:t> </a:t>
                      </a:r>
                      <a:r>
                        <a:rPr lang="zh-CN" altLang="en-US" sz="2400" dirty="0"/>
                        <a:t>若</a:t>
                      </a:r>
                      <a:r>
                        <a:rPr lang="en-US" altLang="zh-CN" sz="2400" dirty="0" err="1"/>
                        <a:t>w</a:t>
                      </a:r>
                      <a:r>
                        <a:rPr lang="en-US" altLang="zh-CN" sz="2400" baseline="-25000" dirty="0" err="1"/>
                        <a:t>ij</a:t>
                      </a:r>
                      <a:r>
                        <a:rPr lang="en-US" altLang="zh-CN" sz="2400" baseline="0" dirty="0"/>
                        <a:t>&lt;dis[j]</a:t>
                      </a:r>
                      <a:r>
                        <a:rPr lang="zh-CN" altLang="en-US" sz="2400" baseline="0" dirty="0"/>
                        <a:t>且</a:t>
                      </a:r>
                      <a:r>
                        <a:rPr lang="en-US" altLang="zh-CN" sz="2400" baseline="0" dirty="0"/>
                        <a:t>visited[j]=0,  </a:t>
                      </a:r>
                    </a:p>
                    <a:p>
                      <a:pPr algn="l"/>
                      <a:r>
                        <a:rPr lang="en-US" altLang="zh-CN" sz="2400" baseline="0" dirty="0"/>
                        <a:t> </a:t>
                      </a:r>
                      <a:r>
                        <a:rPr lang="zh-CN" altLang="en-US" sz="2400" baseline="0" dirty="0"/>
                        <a:t>则</a:t>
                      </a:r>
                      <a:r>
                        <a:rPr lang="en-US" altLang="zh-CN" sz="2400" baseline="0" dirty="0"/>
                        <a:t>dis[j] = </a:t>
                      </a:r>
                      <a:r>
                        <a:rPr lang="en-US" altLang="zh-CN" sz="2400" baseline="0" dirty="0" err="1"/>
                        <a:t>w</a:t>
                      </a:r>
                      <a:r>
                        <a:rPr lang="en-US" altLang="zh-CN" sz="2400" baseline="-25000" dirty="0" err="1"/>
                        <a:t>ij</a:t>
                      </a:r>
                      <a:r>
                        <a:rPr lang="zh-CN" altLang="en-US" sz="2400" baseline="0" dirty="0"/>
                        <a:t>，</a:t>
                      </a:r>
                      <a:r>
                        <a:rPr lang="en-US" altLang="zh-CN" sz="2400" baseline="0" dirty="0"/>
                        <a:t>adj[j] = </a:t>
                      </a:r>
                      <a:r>
                        <a:rPr lang="en-US" altLang="zh-CN" sz="2400" baseline="0" dirty="0" err="1"/>
                        <a:t>i</a:t>
                      </a:r>
                      <a:r>
                        <a:rPr lang="zh-CN" altLang="en-US" sz="2400" baseline="0" dirty="0"/>
                        <a:t>。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/>
                        <a:t>若</a:t>
                      </a:r>
                      <a:r>
                        <a:rPr lang="en-US" altLang="zh-CN" sz="2400" dirty="0"/>
                        <a:t>D[</a:t>
                      </a:r>
                      <a:r>
                        <a:rPr lang="en-US" altLang="zh-CN" sz="2400" dirty="0" err="1"/>
                        <a:t>i</a:t>
                      </a:r>
                      <a:r>
                        <a:rPr lang="en-US" altLang="zh-CN" sz="2400" dirty="0"/>
                        <a:t>]+</a:t>
                      </a:r>
                      <a:r>
                        <a:rPr lang="en-US" altLang="zh-CN" sz="2400" dirty="0" err="1"/>
                        <a:t>w</a:t>
                      </a:r>
                      <a:r>
                        <a:rPr lang="en-US" altLang="zh-CN" sz="2400" baseline="-25000" dirty="0" err="1"/>
                        <a:t>ij</a:t>
                      </a:r>
                      <a:r>
                        <a:rPr lang="en-US" altLang="zh-CN" sz="2400" baseline="0" dirty="0"/>
                        <a:t>&lt;D[j]</a:t>
                      </a:r>
                      <a:r>
                        <a:rPr lang="zh-CN" altLang="en-US" sz="2400" baseline="0" dirty="0"/>
                        <a:t>，则</a:t>
                      </a:r>
                      <a:r>
                        <a:rPr lang="en-US" altLang="zh-CN" sz="2400" baseline="0" dirty="0"/>
                        <a:t>D[j]=D[</a:t>
                      </a:r>
                      <a:r>
                        <a:rPr lang="en-US" altLang="zh-CN" sz="2400" baseline="0" dirty="0" err="1"/>
                        <a:t>i</a:t>
                      </a:r>
                      <a:r>
                        <a:rPr lang="en-US" altLang="zh-CN" sz="2400" baseline="0" dirty="0"/>
                        <a:t>]+</a:t>
                      </a:r>
                      <a:r>
                        <a:rPr lang="en-US" altLang="zh-CN" sz="2400" baseline="0" dirty="0" err="1"/>
                        <a:t>w</a:t>
                      </a:r>
                      <a:r>
                        <a:rPr lang="en-US" altLang="zh-CN" sz="2400" baseline="-25000" dirty="0" err="1"/>
                        <a:t>ij</a:t>
                      </a:r>
                      <a:r>
                        <a:rPr lang="en-US" altLang="zh-CN" sz="2400" baseline="0" dirty="0"/>
                        <a:t>,  path[j]=</a:t>
                      </a:r>
                      <a:r>
                        <a:rPr lang="en-US" altLang="zh-CN" sz="2400" baseline="0" dirty="0" err="1"/>
                        <a:t>i</a:t>
                      </a:r>
                      <a:r>
                        <a:rPr lang="en-US" altLang="zh-CN" sz="2400" baseline="0" dirty="0"/>
                        <a:t>;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733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44504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1071546"/>
            <a:ext cx="8518525" cy="685800"/>
          </a:xfrm>
        </p:spPr>
        <p:txBody>
          <a:bodyPr/>
          <a:lstStyle/>
          <a:p>
            <a:pPr algn="l" eaLnBrk="1" hangingPunct="1"/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 对下图求从V</a:t>
            </a:r>
            <a:r>
              <a:rPr lang="zh-CN" altLang="en-US" sz="2800" baseline="-250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0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出发到各顶点的最短路径。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611188" y="117475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练习</a:t>
            </a:r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3132138" y="2060575"/>
          <a:ext cx="4006850" cy="354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r:id="rId3" imgW="4025900" imgH="3556000" progId="Visio.Drawing.11">
                  <p:embed/>
                </p:oleObj>
              </mc:Choice>
              <mc:Fallback>
                <p:oleObj r:id="rId3" imgW="4025900" imgH="3556000" progId="Visio.Drawing.11">
                  <p:embed/>
                  <p:pic>
                    <p:nvPicPr>
                      <p:cNvPr id="256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060575"/>
                        <a:ext cx="4006850" cy="35448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145246" y="5517232"/>
            <a:ext cx="9036050" cy="100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0000"/>
              </a:lnSpc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2800" dirty="0">
                <a:solidFill>
                  <a:srgbClr val="D60629"/>
                </a:solidFill>
                <a:latin typeface="Arial" pitchFamily="34" charset="0"/>
              </a:rPr>
              <a:t>    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求解过程见下表。其中每一列代表一个选择D、修改D的过程。 单元格内的第一行是final、第二行是D值、第三行是path值。</a:t>
            </a:r>
          </a:p>
        </p:txBody>
      </p:sp>
    </p:spTree>
    <p:extLst>
      <p:ext uri="{BB962C8B-B14F-4D97-AF65-F5344CB8AC3E}">
        <p14:creationId xmlns:p14="http://schemas.microsoft.com/office/powerpoint/2010/main" val="348300825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6" name="Group 2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2637083970"/>
              </p:ext>
            </p:extLst>
          </p:nvPr>
        </p:nvGraphicFramePr>
        <p:xfrm>
          <a:off x="36512" y="44450"/>
          <a:ext cx="5831633" cy="6665111"/>
        </p:xfrm>
        <a:graphic>
          <a:graphicData uri="http://schemas.openxmlformats.org/drawingml/2006/table">
            <a:tbl>
              <a:tblPr/>
              <a:tblGrid>
                <a:gridCol w="1644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345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终点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从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到各终点的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值和最短路径的求解过程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62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7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3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83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2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j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67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E383C2A8-40D8-49B6-826F-1356706F8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1124744"/>
            <a:ext cx="2808312" cy="280831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77ABF6B-8F9A-41E1-9F41-04480283119A}"/>
              </a:ext>
            </a:extLst>
          </p:cNvPr>
          <p:cNvSpPr txBox="1"/>
          <p:nvPr/>
        </p:nvSpPr>
        <p:spPr>
          <a:xfrm>
            <a:off x="1907704" y="4581128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100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{v</a:t>
            </a:r>
            <a:r>
              <a:rPr kumimoji="0" lang="en-US" altLang="zh-CN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,v</a:t>
            </a:r>
            <a:r>
              <a:rPr kumimoji="0" lang="en-US" altLang="zh-CN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5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}</a:t>
            </a:r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9EC76D-5DA0-42EF-BDF1-CC685DD39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1916832"/>
            <a:ext cx="1012024" cy="101812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9A293A4-C790-41E3-82CC-6DCC583E65AE}"/>
              </a:ext>
            </a:extLst>
          </p:cNvPr>
          <p:cNvSpPr txBox="1"/>
          <p:nvPr/>
        </p:nvSpPr>
        <p:spPr>
          <a:xfrm>
            <a:off x="1907704" y="1196752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∞</a:t>
            </a:r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95C637-5578-48FC-8F44-D7A372D4E3E9}"/>
              </a:ext>
            </a:extLst>
          </p:cNvPr>
          <p:cNvSpPr txBox="1"/>
          <p:nvPr/>
        </p:nvSpPr>
        <p:spPr>
          <a:xfrm>
            <a:off x="1875313" y="2902599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∞</a:t>
            </a:r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B61CC8-003C-41E3-842C-9109D77D138D}"/>
              </a:ext>
            </a:extLst>
          </p:cNvPr>
          <p:cNvSpPr txBox="1"/>
          <p:nvPr/>
        </p:nvSpPr>
        <p:spPr>
          <a:xfrm>
            <a:off x="1907704" y="3750131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30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{v</a:t>
            </a:r>
            <a:r>
              <a:rPr kumimoji="0" lang="en-US" altLang="zh-CN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,v</a:t>
            </a:r>
            <a:r>
              <a:rPr kumimoji="0" lang="en-US" altLang="zh-CN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4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}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1C1CEE-39C5-473E-900B-CEF7B32220A7}"/>
              </a:ext>
            </a:extLst>
          </p:cNvPr>
          <p:cNvSpPr txBox="1"/>
          <p:nvPr/>
        </p:nvSpPr>
        <p:spPr>
          <a:xfrm>
            <a:off x="1907704" y="5517232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80000"/>
              </a:lnSpc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</a:rPr>
              <a:t>v</a:t>
            </a:r>
            <a:r>
              <a:rPr kumimoji="0" lang="en-US" altLang="zh-CN" sz="2000" b="1" i="0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</a:rPr>
              <a:t>2</a:t>
            </a:r>
            <a:endParaRPr lang="zh-CN" altLang="en-US" sz="2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DAB750-79D7-4134-9330-641029292F94}"/>
              </a:ext>
            </a:extLst>
          </p:cNvPr>
          <p:cNvSpPr txBox="1"/>
          <p:nvPr/>
        </p:nvSpPr>
        <p:spPr>
          <a:xfrm>
            <a:off x="1875313" y="5960893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80000"/>
              </a:lnSpc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{v</a:t>
            </a:r>
            <a:r>
              <a:rPr kumimoji="0" lang="en-US" altLang="zh-CN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,v</a:t>
            </a:r>
            <a:r>
              <a:rPr kumimoji="0" lang="en-US" altLang="zh-CN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2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783435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6" name="Group 2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651702512"/>
              </p:ext>
            </p:extLst>
          </p:nvPr>
        </p:nvGraphicFramePr>
        <p:xfrm>
          <a:off x="36512" y="44450"/>
          <a:ext cx="5975648" cy="6665111"/>
        </p:xfrm>
        <a:graphic>
          <a:graphicData uri="http://schemas.openxmlformats.org/drawingml/2006/table">
            <a:tbl>
              <a:tblPr/>
              <a:tblGrid>
                <a:gridCol w="1685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5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3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345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终点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从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到各终点的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值和最短路径的求解过程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62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7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3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83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2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j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67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E383C2A8-40D8-49B6-826F-1356706F8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1124744"/>
            <a:ext cx="2988154" cy="280831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B666482-86DF-42DB-ADA3-4D6DA4670169}"/>
              </a:ext>
            </a:extLst>
          </p:cNvPr>
          <p:cNvSpPr txBox="1"/>
          <p:nvPr/>
        </p:nvSpPr>
        <p:spPr>
          <a:xfrm>
            <a:off x="3563888" y="5949280"/>
            <a:ext cx="1296144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2000" b="0" i="0" dirty="0">
                <a:latin typeface="Arial" pitchFamily="34" charset="0"/>
              </a:rPr>
              <a:t>{v</a:t>
            </a:r>
            <a:r>
              <a:rPr lang="en-US" altLang="zh-CN" sz="2000" b="0" i="0" baseline="-25000" dirty="0">
                <a:latin typeface="Arial" pitchFamily="34" charset="0"/>
              </a:rPr>
              <a:t>0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2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4</a:t>
            </a:r>
            <a:r>
              <a:rPr lang="en-US" altLang="zh-CN" sz="2000" b="0" i="0" dirty="0">
                <a:latin typeface="Arial" pitchFamily="34" charset="0"/>
              </a:rPr>
              <a:t>}</a:t>
            </a:r>
            <a:endParaRPr lang="en-US" altLang="zh-CN" sz="2000" i="0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BB322F-E462-4D32-9B06-17AFBF027E58}"/>
              </a:ext>
            </a:extLst>
          </p:cNvPr>
          <p:cNvSpPr txBox="1"/>
          <p:nvPr/>
        </p:nvSpPr>
        <p:spPr>
          <a:xfrm>
            <a:off x="3707904" y="1188041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∞</a:t>
            </a: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A4C41D-B659-45F6-B505-32B3B8469899}"/>
              </a:ext>
            </a:extLst>
          </p:cNvPr>
          <p:cNvSpPr txBox="1"/>
          <p:nvPr/>
        </p:nvSpPr>
        <p:spPr>
          <a:xfrm>
            <a:off x="3707904" y="1988840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1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149214-3EAA-4F4A-9AE9-89A7EAD53C8C}"/>
              </a:ext>
            </a:extLst>
          </p:cNvPr>
          <p:cNvSpPr txBox="1"/>
          <p:nvPr/>
        </p:nvSpPr>
        <p:spPr>
          <a:xfrm>
            <a:off x="3779912" y="3750131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30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{v</a:t>
            </a:r>
            <a:r>
              <a:rPr kumimoji="0" lang="en-US" altLang="zh-CN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,v</a:t>
            </a:r>
            <a:r>
              <a:rPr kumimoji="0" lang="en-US" altLang="zh-CN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4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}</a:t>
            </a:r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07304E-1443-440D-8F88-1ACEF664B0F1}"/>
              </a:ext>
            </a:extLst>
          </p:cNvPr>
          <p:cNvSpPr txBox="1"/>
          <p:nvPr/>
        </p:nvSpPr>
        <p:spPr>
          <a:xfrm>
            <a:off x="3779912" y="4581128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100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{v</a:t>
            </a:r>
            <a:r>
              <a:rPr kumimoji="0" lang="en-US" altLang="zh-CN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,v</a:t>
            </a:r>
            <a:r>
              <a:rPr kumimoji="0" lang="en-US" altLang="zh-CN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5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}</a:t>
            </a:r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12F76F-5E0C-423F-BF45-664A89A4EA3D}"/>
              </a:ext>
            </a:extLst>
          </p:cNvPr>
          <p:cNvSpPr txBox="1"/>
          <p:nvPr/>
        </p:nvSpPr>
        <p:spPr>
          <a:xfrm>
            <a:off x="3635896" y="2886035"/>
            <a:ext cx="1296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0</a:t>
            </a:r>
          </a:p>
          <a:p>
            <a:pPr lvl="0"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60</a:t>
            </a:r>
          </a:p>
          <a:p>
            <a:pPr lvl="0"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{v</a:t>
            </a:r>
            <a:r>
              <a:rPr lang="en-US" altLang="zh-CN" sz="2000" b="0" i="0" baseline="-25000" dirty="0">
                <a:latin typeface="Arial" pitchFamily="34" charset="0"/>
              </a:rPr>
              <a:t>0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2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3</a:t>
            </a:r>
            <a:r>
              <a:rPr lang="en-US" altLang="zh-CN" sz="2000" b="0" i="0" dirty="0">
                <a:latin typeface="Arial" pitchFamily="34" charset="0"/>
              </a:rPr>
              <a:t>}</a:t>
            </a:r>
            <a:endParaRPr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016D49-E779-447C-A5DC-CF2DB97654FD}"/>
              </a:ext>
            </a:extLst>
          </p:cNvPr>
          <p:cNvSpPr txBox="1"/>
          <p:nvPr/>
        </p:nvSpPr>
        <p:spPr>
          <a:xfrm>
            <a:off x="3635896" y="5373216"/>
            <a:ext cx="1296144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2000" i="0" dirty="0">
                <a:solidFill>
                  <a:srgbClr val="FF0000"/>
                </a:solidFill>
                <a:latin typeface="Arial" pitchFamily="34" charset="0"/>
              </a:rPr>
              <a:t>v</a:t>
            </a:r>
            <a:r>
              <a:rPr lang="en-US" altLang="zh-CN" sz="2000" i="0" baseline="-25000" dirty="0">
                <a:solidFill>
                  <a:srgbClr val="FF0000"/>
                </a:solidFill>
                <a:latin typeface="Arial" pitchFamily="34" charset="0"/>
              </a:rPr>
              <a:t>4</a:t>
            </a:r>
            <a:endParaRPr lang="en-US" altLang="zh-CN" sz="2000" i="0" dirty="0">
              <a:solidFill>
                <a:srgbClr val="FF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040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6" name="Group 2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583267883"/>
              </p:ext>
            </p:extLst>
          </p:nvPr>
        </p:nvGraphicFramePr>
        <p:xfrm>
          <a:off x="36512" y="44450"/>
          <a:ext cx="4839887" cy="6627523"/>
        </p:xfrm>
        <a:graphic>
          <a:graphicData uri="http://schemas.openxmlformats.org/drawingml/2006/table">
            <a:tbl>
              <a:tblPr/>
              <a:tblGrid>
                <a:gridCol w="1543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3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345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终点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从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到各终点的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值和最短路径的求解过程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62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7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3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83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2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j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67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E383C2A8-40D8-49B6-826F-1356706F8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438" y="1124744"/>
            <a:ext cx="3304884" cy="280831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8632226-596B-4E04-B79E-8095BB3015D8}"/>
              </a:ext>
            </a:extLst>
          </p:cNvPr>
          <p:cNvSpPr txBox="1"/>
          <p:nvPr/>
        </p:nvSpPr>
        <p:spPr>
          <a:xfrm>
            <a:off x="3562112" y="3724318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1</a:t>
            </a:r>
            <a:endParaRPr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8105A2-05BE-4005-B187-AE8440F5E531}"/>
              </a:ext>
            </a:extLst>
          </p:cNvPr>
          <p:cNvSpPr txBox="1"/>
          <p:nvPr/>
        </p:nvSpPr>
        <p:spPr>
          <a:xfrm>
            <a:off x="3590816" y="1120267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∞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A00B64-8EFA-4A1A-BF56-39ECB3C42949}"/>
              </a:ext>
            </a:extLst>
          </p:cNvPr>
          <p:cNvSpPr txBox="1"/>
          <p:nvPr/>
        </p:nvSpPr>
        <p:spPr>
          <a:xfrm>
            <a:off x="3419872" y="2808763"/>
            <a:ext cx="1296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0</a:t>
            </a:r>
          </a:p>
          <a:p>
            <a:pPr lvl="0"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50</a:t>
            </a:r>
          </a:p>
          <a:p>
            <a:pPr lvl="0"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{v</a:t>
            </a:r>
            <a:r>
              <a:rPr lang="en-US" altLang="zh-CN" sz="2000" b="0" i="0" baseline="-25000" dirty="0">
                <a:latin typeface="Arial" pitchFamily="34" charset="0"/>
              </a:rPr>
              <a:t>0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4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3</a:t>
            </a:r>
            <a:r>
              <a:rPr lang="en-US" altLang="zh-CN" sz="2000" b="0" i="0" dirty="0">
                <a:latin typeface="Arial" pitchFamily="34" charset="0"/>
              </a:rPr>
              <a:t>}</a:t>
            </a:r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714847-B002-4B17-8EE6-4B7E94E28991}"/>
              </a:ext>
            </a:extLst>
          </p:cNvPr>
          <p:cNvSpPr txBox="1"/>
          <p:nvPr/>
        </p:nvSpPr>
        <p:spPr>
          <a:xfrm>
            <a:off x="3439791" y="4561990"/>
            <a:ext cx="1296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0</a:t>
            </a:r>
          </a:p>
          <a:p>
            <a:pPr lvl="0"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90</a:t>
            </a:r>
          </a:p>
          <a:p>
            <a:pPr lvl="0"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{v</a:t>
            </a:r>
            <a:r>
              <a:rPr lang="en-US" altLang="zh-CN" sz="2000" b="0" i="0" baseline="-25000" dirty="0">
                <a:latin typeface="Arial" pitchFamily="34" charset="0"/>
              </a:rPr>
              <a:t>0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4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5</a:t>
            </a:r>
            <a:r>
              <a:rPr lang="en-US" altLang="zh-CN" sz="2000" b="0" i="0" dirty="0">
                <a:latin typeface="Arial" pitchFamily="34" charset="0"/>
              </a:rPr>
              <a:t>}</a:t>
            </a:r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F7051E-A043-49A9-BE02-3EF4FA62934D}"/>
              </a:ext>
            </a:extLst>
          </p:cNvPr>
          <p:cNvSpPr txBox="1"/>
          <p:nvPr/>
        </p:nvSpPr>
        <p:spPr>
          <a:xfrm>
            <a:off x="3455279" y="5370694"/>
            <a:ext cx="1296144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2000" i="0" dirty="0">
                <a:solidFill>
                  <a:srgbClr val="FF0000"/>
                </a:solidFill>
                <a:latin typeface="Arial" pitchFamily="34" charset="0"/>
              </a:rPr>
              <a:t>v</a:t>
            </a:r>
            <a:r>
              <a:rPr lang="en-US" altLang="zh-CN" sz="2000" i="0" baseline="-25000" dirty="0">
                <a:solidFill>
                  <a:srgbClr val="FF0000"/>
                </a:solidFill>
                <a:latin typeface="Arial" pitchFamily="34" charset="0"/>
              </a:rPr>
              <a:t>3</a:t>
            </a:r>
            <a:endParaRPr lang="en-US" altLang="zh-CN" sz="2000" i="0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719922-2BEA-49DC-B635-69BBDF91E4FC}"/>
              </a:ext>
            </a:extLst>
          </p:cNvPr>
          <p:cNvSpPr txBox="1"/>
          <p:nvPr/>
        </p:nvSpPr>
        <p:spPr>
          <a:xfrm>
            <a:off x="3037580" y="5947647"/>
            <a:ext cx="2131542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2000" b="0" i="0" dirty="0">
                <a:latin typeface="Arial" pitchFamily="34" charset="0"/>
              </a:rPr>
              <a:t>{v</a:t>
            </a:r>
            <a:r>
              <a:rPr lang="en-US" altLang="zh-CN" sz="2000" b="0" i="0" baseline="-25000" dirty="0">
                <a:latin typeface="Arial" pitchFamily="34" charset="0"/>
              </a:rPr>
              <a:t>0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2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4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3</a:t>
            </a:r>
            <a:r>
              <a:rPr lang="en-US" altLang="zh-CN" sz="2000" b="0" i="0" dirty="0">
                <a:latin typeface="Arial" pitchFamily="34" charset="0"/>
              </a:rPr>
              <a:t>}</a:t>
            </a:r>
            <a:endParaRPr lang="en-US" altLang="zh-CN" sz="2000" i="0" dirty="0">
              <a:solidFill>
                <a:srgbClr val="FF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6986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6" name="Group 2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564022870"/>
              </p:ext>
            </p:extLst>
          </p:nvPr>
        </p:nvGraphicFramePr>
        <p:xfrm>
          <a:off x="36512" y="44450"/>
          <a:ext cx="5759624" cy="6604897"/>
        </p:xfrm>
        <a:graphic>
          <a:graphicData uri="http://schemas.openxmlformats.org/drawingml/2006/table">
            <a:tbl>
              <a:tblPr/>
              <a:tblGrid>
                <a:gridCol w="1296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89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终点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从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到各终点的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值和最短路径的求解过程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3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4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8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1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j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80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E92EA957-8E51-466F-8175-4B07CEBBB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1124744"/>
            <a:ext cx="3038590" cy="280831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2C8913A-C407-4342-9905-F0BFD6AFCE47}"/>
              </a:ext>
            </a:extLst>
          </p:cNvPr>
          <p:cNvSpPr txBox="1"/>
          <p:nvPr/>
        </p:nvSpPr>
        <p:spPr>
          <a:xfrm>
            <a:off x="3851920" y="2852936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1</a:t>
            </a: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F8A97C-B316-402B-A365-D0AB40E6DF50}"/>
              </a:ext>
            </a:extLst>
          </p:cNvPr>
          <p:cNvSpPr txBox="1"/>
          <p:nvPr/>
        </p:nvSpPr>
        <p:spPr>
          <a:xfrm>
            <a:off x="3851920" y="1188041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∞</a:t>
            </a:r>
            <a:endParaRPr lang="zh-CN" altLang="en-US" sz="2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C4B51C5-84B0-4949-9B94-245CC1C4B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168" y="4509120"/>
            <a:ext cx="1572904" cy="101812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AFFB069-FD53-4D43-BB6E-D7C3A7185220}"/>
              </a:ext>
            </a:extLst>
          </p:cNvPr>
          <p:cNvSpPr txBox="1"/>
          <p:nvPr/>
        </p:nvSpPr>
        <p:spPr>
          <a:xfrm>
            <a:off x="3707904" y="5373216"/>
            <a:ext cx="1368152" cy="406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2000" b="0" i="0" dirty="0">
                <a:solidFill>
                  <a:srgbClr val="FF0000"/>
                </a:solidFill>
                <a:latin typeface="Arial" pitchFamily="34" charset="0"/>
              </a:rPr>
              <a:t>v</a:t>
            </a:r>
            <a:r>
              <a:rPr lang="en-US" altLang="zh-CN" sz="2000" b="0" i="0" baseline="-25000" dirty="0">
                <a:solidFill>
                  <a:srgbClr val="FF0000"/>
                </a:solidFill>
                <a:latin typeface="Arial" pitchFamily="34" charset="0"/>
              </a:rPr>
              <a:t>5</a:t>
            </a:r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335919-60A3-448A-A9C7-7C290E4D2D75}"/>
              </a:ext>
            </a:extLst>
          </p:cNvPr>
          <p:cNvSpPr txBox="1"/>
          <p:nvPr/>
        </p:nvSpPr>
        <p:spPr>
          <a:xfrm>
            <a:off x="3347864" y="5903311"/>
            <a:ext cx="2088232" cy="406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2000" b="0" i="0" dirty="0">
                <a:latin typeface="Arial" pitchFamily="34" charset="0"/>
              </a:rPr>
              <a:t>{v</a:t>
            </a:r>
            <a:r>
              <a:rPr lang="en-US" altLang="zh-CN" sz="2000" b="0" i="0" baseline="-25000" dirty="0">
                <a:latin typeface="Arial" pitchFamily="34" charset="0"/>
              </a:rPr>
              <a:t>0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2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4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3</a:t>
            </a:r>
            <a:r>
              <a:rPr lang="en-US" altLang="zh-CN" sz="2000" b="0" i="0" dirty="0">
                <a:latin typeface="Arial" pitchFamily="34" charset="0"/>
              </a:rPr>
              <a:t>,v</a:t>
            </a:r>
            <a:r>
              <a:rPr lang="en-US" altLang="zh-CN" sz="2000" b="0" i="0" baseline="-25000" dirty="0">
                <a:latin typeface="Arial" pitchFamily="34" charset="0"/>
              </a:rPr>
              <a:t>5</a:t>
            </a:r>
            <a:r>
              <a:rPr lang="en-US" altLang="zh-CN" sz="2000" b="0" i="0" dirty="0">
                <a:latin typeface="Arial" pitchFamily="34" charset="0"/>
              </a:rPr>
              <a:t>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339616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6" name="Group 2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796962514"/>
              </p:ext>
            </p:extLst>
          </p:nvPr>
        </p:nvGraphicFramePr>
        <p:xfrm>
          <a:off x="36512" y="44450"/>
          <a:ext cx="5543600" cy="6604897"/>
        </p:xfrm>
        <a:graphic>
          <a:graphicData uri="http://schemas.openxmlformats.org/drawingml/2006/table">
            <a:tbl>
              <a:tblPr/>
              <a:tblGrid>
                <a:gridCol w="1248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9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89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终点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从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到各终点的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值和最短路径的求解过程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3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4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8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1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j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80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E92EA957-8E51-466F-8175-4B07CEBBB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1124744"/>
            <a:ext cx="2750558" cy="280831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C6BD05B-1688-4BE8-A94F-DBB65106BC27}"/>
              </a:ext>
            </a:extLst>
          </p:cNvPr>
          <p:cNvSpPr txBox="1"/>
          <p:nvPr/>
        </p:nvSpPr>
        <p:spPr>
          <a:xfrm>
            <a:off x="3851920" y="1157843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0</a:t>
            </a:r>
          </a:p>
          <a:p>
            <a:pPr lvl="0"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∞</a:t>
            </a:r>
          </a:p>
          <a:p>
            <a:pPr lvl="0" algn="ctr" eaLnBrk="1" hangingPunct="1">
              <a:lnSpc>
                <a:spcPct val="80000"/>
              </a:lnSpc>
            </a:pPr>
            <a:r>
              <a:rPr lang="zh-CN" altLang="en-US" sz="2000" b="0" i="0" dirty="0">
                <a:latin typeface="Arial" pitchFamily="34" charset="0"/>
              </a:rPr>
              <a:t>无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6C46438-EAC4-E5BC-6D43-DD96A0809EAD}"/>
              </a:ext>
            </a:extLst>
          </p:cNvPr>
          <p:cNvSpPr txBox="1"/>
          <p:nvPr/>
        </p:nvSpPr>
        <p:spPr>
          <a:xfrm>
            <a:off x="3785013" y="4539982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1</a:t>
            </a: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D314CE-2EFE-448B-AFBC-F072CAEA2F37}"/>
              </a:ext>
            </a:extLst>
          </p:cNvPr>
          <p:cNvSpPr txBox="1"/>
          <p:nvPr/>
        </p:nvSpPr>
        <p:spPr>
          <a:xfrm>
            <a:off x="3785013" y="5425387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en-US" altLang="zh-CN" sz="2000" b="0" i="0" dirty="0">
                <a:latin typeface="Arial" pitchFamily="34" charset="0"/>
              </a:rPr>
              <a:t>v</a:t>
            </a:r>
            <a:r>
              <a:rPr lang="en-US" altLang="zh-CN" sz="2000" b="0" i="0" baseline="-25000" dirty="0">
                <a:latin typeface="Arial" pitchFamily="34" charset="0"/>
              </a:rPr>
              <a:t>1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943634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6" name="Group 2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2595759658"/>
              </p:ext>
            </p:extLst>
          </p:nvPr>
        </p:nvGraphicFramePr>
        <p:xfrm>
          <a:off x="36513" y="44450"/>
          <a:ext cx="9072562" cy="6769102"/>
        </p:xfrm>
        <a:graphic>
          <a:graphicData uri="http://schemas.openxmlformats.org/drawingml/2006/table">
            <a:tbl>
              <a:tblPr/>
              <a:tblGrid>
                <a:gridCol w="1512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7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99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终点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从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到各终点的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值和最短路径的求解过程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∞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5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7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7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j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52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{v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对话气泡: 椭圆形 2">
            <a:extLst>
              <a:ext uri="{FF2B5EF4-FFF2-40B4-BE49-F238E27FC236}">
                <a16:creationId xmlns:a16="http://schemas.microsoft.com/office/drawing/2014/main" id="{74D2CC1B-E3BC-40B4-878E-895F6C237256}"/>
              </a:ext>
            </a:extLst>
          </p:cNvPr>
          <p:cNvSpPr/>
          <p:nvPr/>
        </p:nvSpPr>
        <p:spPr bwMode="auto">
          <a:xfrm>
            <a:off x="5123697" y="548680"/>
            <a:ext cx="4032447" cy="1817727"/>
          </a:xfrm>
          <a:prstGeom prst="wedgeEllipseCallout">
            <a:avLst>
              <a:gd name="adj1" fmla="val -19871"/>
              <a:gd name="adj2" fmla="val 43309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此表格即为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迪算法计算过程。表格后面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给出结论（略）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48501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B2BEB-71AE-FFE2-5CAC-E70690C0D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01A7341-5E07-B27E-4E8B-837618D7A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268760"/>
            <a:ext cx="903605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(1) 初始：final[0]=1(U={V</a:t>
            </a:r>
            <a:r>
              <a:rPr lang="zh-CN" altLang="en-US" sz="2800" b="0" i="0" baseline="-25000" dirty="0">
                <a:latin typeface="黑体" pitchFamily="49" charset="-122"/>
                <a:ea typeface="黑体" pitchFamily="49" charset="-122"/>
                <a:sym typeface="Arial" pitchFamily="34" charset="0"/>
              </a:rPr>
              <a:t>0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})   final[i]=0(T=V-U) </a:t>
            </a:r>
          </a:p>
          <a:p>
            <a:pPr marL="342900" indent="-342900"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    D[i]=∞。</a:t>
            </a:r>
            <a:endParaRPr lang="en-US" altLang="zh-CN" sz="2800" b="0" i="0" dirty="0">
              <a:latin typeface="黑体" pitchFamily="49" charset="-122"/>
              <a:ea typeface="黑体" pitchFamily="49" charset="-122"/>
              <a:sym typeface="Arial" pitchFamily="34" charset="0"/>
            </a:endParaRPr>
          </a:p>
          <a:p>
            <a:pPr marL="342900" indent="-342900"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en-US" altLang="zh-CN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    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修改从v0出发的邻接点vi的D值和path</a:t>
            </a:r>
          </a:p>
          <a:p>
            <a:pPr marL="342900" indent="-342900"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          D[i]= c</a:t>
            </a:r>
            <a:r>
              <a:rPr lang="zh-CN" altLang="en-US" sz="2800" b="0" i="0" baseline="-25000" dirty="0">
                <a:latin typeface="黑体" pitchFamily="49" charset="-122"/>
                <a:ea typeface="黑体" pitchFamily="49" charset="-122"/>
                <a:sym typeface="Arial" pitchFamily="34" charset="0"/>
              </a:rPr>
              <a:t>0i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  path[i]=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{0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};</a:t>
            </a:r>
            <a:endParaRPr lang="en-US" altLang="zh-CN" sz="2800" b="0" i="0" dirty="0">
              <a:latin typeface="黑体" pitchFamily="49" charset="-122"/>
              <a:ea typeface="黑体" pitchFamily="49" charset="-122"/>
              <a:sym typeface="Arial" pitchFamily="34" charset="0"/>
            </a:endParaRPr>
          </a:p>
          <a:p>
            <a:pPr marL="342900" indent="-342900"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endParaRPr lang="zh-CN" altLang="en-US" sz="2800" b="0" i="0" dirty="0">
              <a:latin typeface="黑体" pitchFamily="49" charset="-122"/>
              <a:ea typeface="黑体" pitchFamily="49" charset="-122"/>
              <a:sym typeface="Arial" pitchFamily="34" charset="0"/>
            </a:endParaRPr>
          </a:p>
          <a:p>
            <a:pPr marL="342900" indent="-342900"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(2) 求最短路径，令：D[j] = min{D[i]|final[i]=0}</a:t>
            </a:r>
            <a:endParaRPr lang="en-US" altLang="zh-CN" sz="2800" b="0" i="0" dirty="0">
              <a:latin typeface="黑体" pitchFamily="49" charset="-122"/>
              <a:ea typeface="黑体" pitchFamily="49" charset="-122"/>
              <a:sym typeface="Arial" pitchFamily="34" charset="0"/>
            </a:endParaRPr>
          </a:p>
          <a:p>
            <a:pPr marL="342900" indent="-342900"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endParaRPr lang="zh-CN" altLang="en-US" sz="2800" b="0" i="0" dirty="0">
              <a:latin typeface="黑体" pitchFamily="49" charset="-122"/>
              <a:ea typeface="黑体" pitchFamily="49" charset="-122"/>
              <a:sym typeface="Arial" pitchFamily="34" charset="0"/>
            </a:endParaRPr>
          </a:p>
          <a:p>
            <a:pPr marL="342900" indent="-342900"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(3) </a:t>
            </a:r>
            <a:r>
              <a:rPr lang="zh-CN" altLang="en-US" sz="28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用栈输出</a:t>
            </a:r>
            <a:r>
              <a:rPr lang="en-US" altLang="zh-CN" sz="28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v</a:t>
            </a:r>
            <a:r>
              <a:rPr lang="zh-CN" altLang="en-US" sz="2800" b="0" i="0" baseline="-250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j</a:t>
            </a:r>
            <a:r>
              <a:rPr lang="zh-CN" altLang="en-US" sz="28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的路径: </a:t>
            </a:r>
            <a:r>
              <a:rPr lang="en-US" altLang="zh-CN" sz="28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0—…—</a:t>
            </a:r>
            <a:r>
              <a:rPr lang="zh-CN" altLang="en-US" sz="28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path[</a:t>
            </a:r>
            <a:r>
              <a:rPr lang="en-US" altLang="zh-CN" sz="28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path[j]</a:t>
            </a:r>
            <a:r>
              <a:rPr lang="zh-CN" altLang="en-US" sz="28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]</a:t>
            </a:r>
            <a:r>
              <a:rPr lang="en-US" altLang="zh-CN" sz="28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—</a:t>
            </a:r>
          </a:p>
          <a:p>
            <a:pPr marL="342900" indent="-342900"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en-US" altLang="zh-CN" sz="28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    path[j]—j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, 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修改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final[j] = 1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（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U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 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=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 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U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 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+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 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{j})</a:t>
            </a:r>
            <a:endParaRPr lang="zh-CN" altLang="en-US" sz="2800" b="0" i="0" dirty="0">
              <a:solidFill>
                <a:srgbClr val="FF0000"/>
              </a:solidFill>
              <a:latin typeface="黑体" pitchFamily="49" charset="-122"/>
              <a:ea typeface="黑体" pitchFamily="49" charset="-122"/>
              <a:sym typeface="Arial" pitchFamily="34" charset="0"/>
            </a:endParaRPr>
          </a:p>
        </p:txBody>
      </p:sp>
      <p:sp>
        <p:nvSpPr>
          <p:cNvPr id="4" name="Rectangle 134">
            <a:extLst>
              <a:ext uri="{FF2B5EF4-FFF2-40B4-BE49-F238E27FC236}">
                <a16:creationId xmlns:a16="http://schemas.microsoft.com/office/drawing/2014/main" id="{E215AB94-9823-C51F-3AED-0A38666CF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04" y="214290"/>
            <a:ext cx="642463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迪杰斯特拉算法描述</a:t>
            </a:r>
          </a:p>
        </p:txBody>
      </p:sp>
    </p:spTree>
    <p:extLst>
      <p:ext uri="{BB962C8B-B14F-4D97-AF65-F5344CB8AC3E}">
        <p14:creationId xmlns:p14="http://schemas.microsoft.com/office/powerpoint/2010/main" val="28550392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265894" y="1237114"/>
            <a:ext cx="903605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280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 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  <a:sym typeface="Arial" pitchFamily="34" charset="0"/>
              </a:rPr>
              <a:t>(4) </a:t>
            </a:r>
            <a:r>
              <a:rPr lang="zh-CN" altLang="en-US" sz="2800" b="0" i="0" dirty="0">
                <a:latin typeface="+mn-ea"/>
                <a:ea typeface="+mn-ea"/>
                <a:sym typeface="Arial" pitchFamily="34" charset="0"/>
              </a:rPr>
              <a:t>更新v</a:t>
            </a:r>
            <a:r>
              <a:rPr lang="zh-CN" altLang="en-US" sz="2800" b="0" i="0" baseline="-25000" dirty="0">
                <a:latin typeface="+mn-ea"/>
                <a:ea typeface="+mn-ea"/>
                <a:sym typeface="Arial" pitchFamily="34" charset="0"/>
              </a:rPr>
              <a:t>j</a:t>
            </a:r>
            <a:r>
              <a:rPr lang="zh-CN" altLang="en-US" sz="2800" b="0" i="0" dirty="0">
                <a:latin typeface="+mn-ea"/>
                <a:ea typeface="+mn-ea"/>
                <a:sym typeface="Arial" pitchFamily="34" charset="0"/>
              </a:rPr>
              <a:t>的邻接点v</a:t>
            </a:r>
            <a:r>
              <a:rPr lang="zh-CN" altLang="en-US" sz="2800" b="0" i="0" baseline="-25000" dirty="0">
                <a:latin typeface="+mn-ea"/>
                <a:ea typeface="+mn-ea"/>
                <a:sym typeface="Arial" pitchFamily="34" charset="0"/>
              </a:rPr>
              <a:t>k</a:t>
            </a:r>
            <a:r>
              <a:rPr lang="zh-CN" altLang="en-US" sz="2800" b="0" i="0" dirty="0">
                <a:latin typeface="+mn-ea"/>
                <a:ea typeface="+mn-ea"/>
                <a:sym typeface="Arial" pitchFamily="34" charset="0"/>
              </a:rPr>
              <a:t>的D值和path。</a:t>
            </a:r>
          </a:p>
          <a:p>
            <a:pPr marL="342900" indent="-342900"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2800" b="0" i="0" dirty="0">
                <a:latin typeface="+mn-ea"/>
                <a:ea typeface="+mn-ea"/>
                <a:sym typeface="Arial" pitchFamily="34" charset="0"/>
              </a:rPr>
              <a:t>     若final(k)=0且D[j]+c</a:t>
            </a:r>
            <a:r>
              <a:rPr lang="zh-CN" altLang="en-US" sz="2800" b="0" i="0" baseline="-25000" dirty="0">
                <a:latin typeface="+mn-ea"/>
                <a:ea typeface="+mn-ea"/>
                <a:sym typeface="Arial" pitchFamily="34" charset="0"/>
              </a:rPr>
              <a:t>jk</a:t>
            </a:r>
            <a:r>
              <a:rPr lang="zh-CN" altLang="en-US" sz="2800" b="0" i="0" dirty="0">
                <a:latin typeface="+mn-ea"/>
                <a:ea typeface="+mn-ea"/>
                <a:sym typeface="Arial" pitchFamily="34" charset="0"/>
              </a:rPr>
              <a:t>&lt;D[k],则</a:t>
            </a:r>
          </a:p>
          <a:p>
            <a:pPr marL="342900" indent="-342900"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2800" b="0" i="0" dirty="0">
                <a:latin typeface="+mn-ea"/>
                <a:ea typeface="+mn-ea"/>
                <a:sym typeface="Arial" pitchFamily="34" charset="0"/>
              </a:rPr>
              <a:t>             D[k] = D[j]+c</a:t>
            </a:r>
            <a:r>
              <a:rPr lang="zh-CN" altLang="en-US" sz="2800" b="0" i="0" baseline="-25000" dirty="0">
                <a:latin typeface="+mn-ea"/>
                <a:ea typeface="+mn-ea"/>
                <a:sym typeface="Arial" pitchFamily="34" charset="0"/>
              </a:rPr>
              <a:t>jk</a:t>
            </a:r>
          </a:p>
          <a:p>
            <a:pPr marL="342900" indent="-342900"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2800" b="0" i="0" dirty="0">
                <a:latin typeface="+mn-ea"/>
                <a:ea typeface="+mn-ea"/>
                <a:sym typeface="Arial" pitchFamily="34" charset="0"/>
              </a:rPr>
              <a:t>             path[k] = </a:t>
            </a:r>
            <a:r>
              <a:rPr lang="en-US" altLang="zh-CN" sz="2800" b="0" i="0" dirty="0">
                <a:latin typeface="+mn-ea"/>
                <a:ea typeface="+mn-ea"/>
                <a:sym typeface="Arial" pitchFamily="34" charset="0"/>
              </a:rPr>
              <a:t>j</a:t>
            </a:r>
            <a:endParaRPr lang="zh-CN" altLang="en-US" sz="2800" b="0" i="0" dirty="0"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21507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481794" y="3289627"/>
            <a:ext cx="8820150" cy="5762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dirty="0"/>
              <a:t> </a:t>
            </a:r>
            <a:r>
              <a:rPr lang="en-US" altLang="zh-CN" sz="2800" dirty="0">
                <a:latin typeface="+mn-ea"/>
              </a:rPr>
              <a:t>(5) </a:t>
            </a:r>
            <a:r>
              <a:rPr lang="zh-CN" altLang="en-US" sz="2800" dirty="0">
                <a:latin typeface="+mn-ea"/>
              </a:rPr>
              <a:t>重复（</a:t>
            </a:r>
            <a:r>
              <a:rPr lang="en-US" altLang="zh-CN" sz="2800" dirty="0">
                <a:latin typeface="+mn-ea"/>
              </a:rPr>
              <a:t>2</a:t>
            </a:r>
            <a:r>
              <a:rPr lang="zh-CN" altLang="en-US" sz="2800" dirty="0">
                <a:latin typeface="+mn-ea"/>
              </a:rPr>
              <a:t>）直到</a:t>
            </a:r>
            <a:r>
              <a:rPr lang="en-US" altLang="zh-CN" sz="2800" dirty="0">
                <a:latin typeface="+mn-ea"/>
              </a:rPr>
              <a:t>U=V</a:t>
            </a:r>
            <a:r>
              <a:rPr lang="zh-CN" altLang="en-US" sz="2800" dirty="0">
                <a:latin typeface="+mn-ea"/>
              </a:rPr>
              <a:t>或无最小值。</a:t>
            </a:r>
          </a:p>
        </p:txBody>
      </p:sp>
      <p:sp>
        <p:nvSpPr>
          <p:cNvPr id="4" name="Rectangle 134">
            <a:extLst>
              <a:ext uri="{FF2B5EF4-FFF2-40B4-BE49-F238E27FC236}">
                <a16:creationId xmlns:a16="http://schemas.microsoft.com/office/drawing/2014/main" id="{FEC1FFA9-93B0-420F-9180-FABF7781F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04" y="214290"/>
            <a:ext cx="642463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迪杰斯特拉算法描述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271385-B1C2-2B63-8112-EBDB700B3C6A}"/>
              </a:ext>
            </a:extLst>
          </p:cNvPr>
          <p:cNvSpPr txBox="1"/>
          <p:nvPr/>
        </p:nvSpPr>
        <p:spPr>
          <a:xfrm>
            <a:off x="755576" y="4653136"/>
            <a:ext cx="78488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初始令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D[0] = 0(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起点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v0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的最短距离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0), </a:t>
            </a:r>
          </a:p>
          <a:p>
            <a:pPr algn="l"/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（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1)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的初始化可合并在循环中，第一次选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v0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点。</a:t>
            </a:r>
          </a:p>
        </p:txBody>
      </p:sp>
    </p:spTree>
    <p:extLst>
      <p:ext uri="{BB962C8B-B14F-4D97-AF65-F5344CB8AC3E}">
        <p14:creationId xmlns:p14="http://schemas.microsoft.com/office/powerpoint/2010/main" val="36724021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B835F-457C-ECD5-C6AC-652B07287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34">
            <a:extLst>
              <a:ext uri="{FF2B5EF4-FFF2-40B4-BE49-F238E27FC236}">
                <a16:creationId xmlns:a16="http://schemas.microsoft.com/office/drawing/2014/main" id="{53321C98-01D0-9D3A-8767-280D9DD47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04" y="214290"/>
            <a:ext cx="642463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18A7B1-864D-62B1-BFAA-13735FDA796E}"/>
              </a:ext>
            </a:extLst>
          </p:cNvPr>
          <p:cNvSpPr txBox="1"/>
          <p:nvPr/>
        </p:nvSpPr>
        <p:spPr>
          <a:xfrm>
            <a:off x="539552" y="1340768"/>
            <a:ext cx="820891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求从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v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到各顶点的最短路径</a:t>
            </a:r>
            <a:endParaRPr lang="zh-CN" altLang="en-US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void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latin typeface="+mn-ea"/>
                <a:ea typeface="+mn-ea"/>
              </a:rPr>
              <a:t>Dijkstra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</a:t>
            </a:r>
            <a:r>
              <a:rPr lang="en-US" altLang="zh-CN" sz="2000" b="0" i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MGraph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&amp;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g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v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)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{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D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final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path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数组定义</a:t>
            </a: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v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] = </a:t>
            </a:r>
            <a:r>
              <a:rPr lang="en-US" altLang="zh-CN" sz="2000" b="0" i="0" dirty="0">
                <a:solidFill>
                  <a:srgbClr val="098658"/>
                </a:solidFill>
                <a:effectLst/>
                <a:latin typeface="+mn-ea"/>
                <a:ea typeface="+mn-ea"/>
              </a:rPr>
              <a:t>0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</a:p>
          <a:p>
            <a:b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</a:b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AF00DB"/>
                </a:solidFill>
                <a:effectLst/>
                <a:latin typeface="+mn-ea"/>
                <a:ea typeface="+mn-ea"/>
              </a:rPr>
              <a:t>for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(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i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= </a:t>
            </a:r>
            <a:r>
              <a:rPr lang="en-US" altLang="zh-CN" sz="2000" b="0" i="0" dirty="0">
                <a:solidFill>
                  <a:srgbClr val="098658"/>
                </a:solidFill>
                <a:effectLst/>
                <a:latin typeface="+mn-ea"/>
                <a:ea typeface="+mn-ea"/>
              </a:rPr>
              <a:t>0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 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i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&lt; 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g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vexnum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 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i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++)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{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j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=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latin typeface="+mn-ea"/>
                <a:ea typeface="+mn-ea"/>
              </a:rPr>
              <a:t>select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g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vexnum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final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);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 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所有顶点中选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final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为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0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且  </a:t>
            </a:r>
            <a:endParaRPr lang="en-US" altLang="zh-CN" sz="2000" b="0" i="0" dirty="0">
              <a:solidFill>
                <a:srgbClr val="008000"/>
              </a:solidFill>
              <a:effectLst/>
              <a:latin typeface="+mn-ea"/>
              <a:ea typeface="+mn-ea"/>
            </a:endParaRPr>
          </a:p>
          <a:p>
            <a:r>
              <a:rPr lang="en-US" altLang="zh-CN" sz="2000" b="0" i="0" dirty="0">
                <a:solidFill>
                  <a:srgbClr val="008000"/>
                </a:solidFill>
                <a:latin typeface="+mn-ea"/>
                <a:ea typeface="+mn-ea"/>
              </a:rPr>
              <a:t>                                      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// D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值最小的顶点</a:t>
            </a:r>
            <a:endParaRPr lang="zh-CN" altLang="en-US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</a:t>
            </a:r>
            <a:r>
              <a:rPr lang="en-US" altLang="zh-CN" sz="2000" b="0" i="0" dirty="0">
                <a:solidFill>
                  <a:srgbClr val="AF00DB"/>
                </a:solidFill>
                <a:effectLst/>
                <a:latin typeface="+mn-ea"/>
                <a:ea typeface="+mn-ea"/>
              </a:rPr>
              <a:t>if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(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j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] == </a:t>
            </a:r>
            <a:r>
              <a:rPr lang="en-US" altLang="zh-CN" sz="2000" b="0" i="0" dirty="0">
                <a:solidFill>
                  <a:srgbClr val="098658"/>
                </a:solidFill>
                <a:effectLst/>
                <a:latin typeface="+mn-ea"/>
                <a:ea typeface="+mn-ea"/>
              </a:rPr>
              <a:t>0x3f3f3f3f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)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    </a:t>
            </a:r>
            <a:r>
              <a:rPr lang="en-US" altLang="zh-CN" sz="2000" b="0" i="0" dirty="0">
                <a:solidFill>
                  <a:srgbClr val="AF00DB"/>
                </a:solidFill>
                <a:effectLst/>
                <a:latin typeface="+mn-ea"/>
                <a:ea typeface="+mn-ea"/>
              </a:rPr>
              <a:t>break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 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剩余顶点无路径</a:t>
            </a:r>
            <a:endParaRPr lang="zh-CN" altLang="en-US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</a:t>
            </a:r>
            <a:r>
              <a:rPr lang="en-US" altLang="zh-CN" sz="2000" b="0" i="0" dirty="0">
                <a:solidFill>
                  <a:srgbClr val="AF00DB"/>
                </a:solidFill>
                <a:effectLst/>
                <a:latin typeface="+mn-ea"/>
                <a:ea typeface="+mn-ea"/>
              </a:rPr>
              <a:t>if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(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j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!=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v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)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   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用栈输出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v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到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j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的最短路径和路径值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j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])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149319534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34"/>
          <p:cNvSpPr>
            <a:spLocks noChangeArrowheads="1"/>
          </p:cNvSpPr>
          <p:nvPr/>
        </p:nvSpPr>
        <p:spPr bwMode="auto">
          <a:xfrm>
            <a:off x="1571604" y="214290"/>
            <a:ext cx="642463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05B9BA-C790-AC4F-6CED-469469C2F667}"/>
              </a:ext>
            </a:extLst>
          </p:cNvPr>
          <p:cNvSpPr txBox="1"/>
          <p:nvPr/>
        </p:nvSpPr>
        <p:spPr>
          <a:xfrm>
            <a:off x="539552" y="1340768"/>
            <a:ext cx="820891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final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j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] =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true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 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更新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j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的状态值</a:t>
            </a:r>
            <a:endParaRPr lang="zh-CN" altLang="en-US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        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更新经过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j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，从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v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到各顶点的最短路径值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D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和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path</a:t>
            </a:r>
            <a:endParaRPr lang="en-US" altLang="zh-CN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</a:t>
            </a:r>
            <a:r>
              <a:rPr lang="en-US" altLang="zh-CN" sz="2000" b="0" i="0" dirty="0">
                <a:solidFill>
                  <a:srgbClr val="AF00DB"/>
                </a:solidFill>
                <a:effectLst/>
                <a:latin typeface="+mn-ea"/>
                <a:ea typeface="+mn-ea"/>
              </a:rPr>
              <a:t>for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(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= </a:t>
            </a:r>
            <a:r>
              <a:rPr lang="en-US" altLang="zh-CN" sz="2000" b="0" i="0" dirty="0">
                <a:solidFill>
                  <a:srgbClr val="098658"/>
                </a:solidFill>
                <a:effectLst/>
                <a:latin typeface="+mn-ea"/>
                <a:ea typeface="+mn-ea"/>
              </a:rPr>
              <a:t>0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&lt; 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g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vexnum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++)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    </a:t>
            </a:r>
            <a:r>
              <a:rPr lang="en-US" altLang="zh-CN" sz="2000" b="0" i="0" dirty="0">
                <a:solidFill>
                  <a:srgbClr val="AF00DB"/>
                </a:solidFill>
                <a:effectLst/>
                <a:latin typeface="+mn-ea"/>
                <a:ea typeface="+mn-ea"/>
              </a:rPr>
              <a:t>if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(!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final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] &amp;&amp;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] &gt;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j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] + 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g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edges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j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][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])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    {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       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更新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] 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latin typeface="+mn-ea"/>
                <a:ea typeface="+mn-ea"/>
              </a:rPr>
              <a:t>            </a:t>
            </a:r>
            <a:r>
              <a:rPr lang="zh-CN" altLang="en-US" sz="2000" b="0" i="0" dirty="0">
                <a:solidFill>
                  <a:srgbClr val="000000"/>
                </a:solidFill>
                <a:latin typeface="+mn-ea"/>
                <a:ea typeface="+mn-ea"/>
              </a:rPr>
              <a:t>更新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path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] = j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    }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}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}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fld id="{188C0613-4CB4-4541-90DD-8A58DB29F10A}" type="slidenum">
              <a:rPr lang="zh-CN" altLang="en-US"/>
              <a:pPr algn="r" eaLnBrk="1" hangingPunct="1">
                <a:spcBef>
                  <a:spcPct val="50000"/>
                </a:spcBef>
              </a:pPr>
              <a:t>26</a:t>
            </a:fld>
            <a:endParaRPr lang="en-US" altLang="zh-CN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11560" y="1409700"/>
            <a:ext cx="7072362" cy="4038600"/>
          </a:xfrm>
        </p:spPr>
        <p:txBody>
          <a:bodyPr/>
          <a:lstStyle/>
          <a:p>
            <a:pPr mar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顶点数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n,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边数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e,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邻接矩阵存储。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  <a:p>
            <a:pPr mar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初始化：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O(n)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循环最多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n-1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次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  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选最小：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O(n)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  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更新：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O(n)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故时间复杂度为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O(n</a:t>
            </a:r>
            <a:r>
              <a:rPr lang="en-US" altLang="zh-CN" sz="2800" baseline="30000" dirty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）。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            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   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Rectangle 134">
            <a:extLst>
              <a:ext uri="{FF2B5EF4-FFF2-40B4-BE49-F238E27FC236}">
                <a16:creationId xmlns:a16="http://schemas.microsoft.com/office/drawing/2014/main" id="{DAA02DC1-C042-2F80-E774-E53120F43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04" y="214290"/>
            <a:ext cx="642463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迪杰斯特拉算法时间分析</a:t>
            </a:r>
          </a:p>
        </p:txBody>
      </p:sp>
    </p:spTree>
    <p:extLst>
      <p:ext uri="{BB962C8B-B14F-4D97-AF65-F5344CB8AC3E}">
        <p14:creationId xmlns:p14="http://schemas.microsoft.com/office/powerpoint/2010/main" val="1613959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fld id="{188C0613-4CB4-4541-90DD-8A58DB29F10A}" type="slidenum">
              <a:rPr lang="zh-CN" altLang="en-US"/>
              <a:pPr algn="r" eaLnBrk="1" hangingPunct="1">
                <a:spcBef>
                  <a:spcPct val="50000"/>
                </a:spcBef>
              </a:pPr>
              <a:t>27</a:t>
            </a:fld>
            <a:endParaRPr lang="en-US" altLang="zh-CN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11560" y="1409700"/>
            <a:ext cx="7072362" cy="4038600"/>
          </a:xfrm>
        </p:spPr>
        <p:txBody>
          <a:bodyPr/>
          <a:lstStyle/>
          <a:p>
            <a:pPr mar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顶点数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n,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边数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e,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邻接表存储。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  <a:p>
            <a:pPr mar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初始化：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O(e)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循环最多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n-1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次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  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选最小：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O(n)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  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更新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:</a:t>
            </a:r>
            <a:r>
              <a:rPr lang="en-US" altLang="zh-CN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n-1</a:t>
            </a:r>
            <a:r>
              <a:rPr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次循环</a:t>
            </a:r>
            <a:r>
              <a:rPr lang="zh-CN" altLang="en-US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共</a:t>
            </a:r>
            <a:r>
              <a:rPr lang="en-US" altLang="zh-CN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(e)</a:t>
            </a:r>
            <a:endParaRPr lang="en-US" altLang="zh-CN" sz="28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故时间复杂度为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O(n</a:t>
            </a:r>
            <a:r>
              <a:rPr lang="en-US" altLang="zh-CN" sz="2800" baseline="30000" dirty="0">
                <a:latin typeface="黑体" pitchFamily="49" charset="-122"/>
                <a:ea typeface="黑体" pitchFamily="49" charset="-122"/>
              </a:rPr>
              <a:t>2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+e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）。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            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   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Rectangle 134">
            <a:extLst>
              <a:ext uri="{FF2B5EF4-FFF2-40B4-BE49-F238E27FC236}">
                <a16:creationId xmlns:a16="http://schemas.microsoft.com/office/drawing/2014/main" id="{DAA02DC1-C042-2F80-E774-E53120F43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04" y="214290"/>
            <a:ext cx="642463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迪杰斯特拉算法时间分析</a:t>
            </a:r>
          </a:p>
        </p:txBody>
      </p:sp>
    </p:spTree>
    <p:extLst>
      <p:ext uri="{BB962C8B-B14F-4D97-AF65-F5344CB8AC3E}">
        <p14:creationId xmlns:p14="http://schemas.microsoft.com/office/powerpoint/2010/main" val="39683742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fld id="{05F217D8-A2AF-46A6-9CFE-54D799D116E8}" type="slidenum">
              <a:rPr lang="zh-CN" altLang="en-US"/>
              <a:pPr algn="r" eaLnBrk="1" hangingPunct="1">
                <a:spcBef>
                  <a:spcPct val="50000"/>
                </a:spcBef>
              </a:pPr>
              <a:t>28</a:t>
            </a:fld>
            <a:endParaRPr lang="en-US" altLang="zh-CN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6200" y="1486754"/>
            <a:ext cx="8763000" cy="1395413"/>
          </a:xfrm>
        </p:spPr>
        <p:txBody>
          <a:bodyPr/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	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设图的顶点数为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n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。图的可达矩阵定义：一个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n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*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n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的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矩阵，第</a:t>
            </a:r>
            <a:r>
              <a:rPr lang="en-US" altLang="zh-CN" sz="280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个顶点到第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j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个顶点有路径，即</a:t>
            </a:r>
            <a:r>
              <a:rPr lang="en-US" altLang="zh-CN" sz="280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可达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j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，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则矩阵的第</a:t>
            </a:r>
            <a:r>
              <a:rPr lang="en-US" altLang="zh-CN" sz="280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行第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j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列元素为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1;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否则为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0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 bwMode="auto">
          <a:xfrm>
            <a:off x="0" y="3246070"/>
            <a:ext cx="8763000" cy="1911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800" b="1" kern="0" dirty="0">
                <a:latin typeface="黑体" pitchFamily="49" charset="-122"/>
                <a:ea typeface="黑体" pitchFamily="49" charset="-122"/>
              </a:rPr>
              <a:t>	 </a:t>
            </a:r>
            <a:r>
              <a:rPr lang="zh-CN" altLang="en-US" sz="2800" b="0" i="0" kern="0" dirty="0">
                <a:latin typeface="黑体" pitchFamily="49" charset="-122"/>
                <a:ea typeface="黑体" pitchFamily="49" charset="-122"/>
              </a:rPr>
              <a:t>问题归为求顶点对间的最短路径，方法：</a:t>
            </a:r>
            <a:endParaRPr lang="en-US" altLang="zh-CN" sz="2800" b="0" i="0" kern="0" dirty="0">
              <a:latin typeface="黑体" pitchFamily="49" charset="-122"/>
              <a:ea typeface="黑体" pitchFamily="49" charset="-122"/>
            </a:endParaRPr>
          </a:p>
          <a:p>
            <a:pPr marL="342900" indent="-342900"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800" b="0" i="0" kern="0" dirty="0">
                <a:latin typeface="黑体" pitchFamily="49" charset="-122"/>
                <a:ea typeface="黑体" pitchFamily="49" charset="-122"/>
              </a:rPr>
              <a:t>   (1) </a:t>
            </a:r>
            <a:r>
              <a:rPr lang="zh-CN" altLang="en-US" sz="2800" b="0" i="0" kern="0" dirty="0">
                <a:latin typeface="黑体" pitchFamily="49" charset="-122"/>
                <a:ea typeface="黑体" pitchFamily="49" charset="-122"/>
              </a:rPr>
              <a:t>调用</a:t>
            </a:r>
            <a:r>
              <a:rPr lang="en-US" altLang="zh-CN" sz="2800" b="0" i="0" kern="0" dirty="0">
                <a:latin typeface="黑体" pitchFamily="49" charset="-122"/>
                <a:ea typeface="黑体" pitchFamily="49" charset="-122"/>
              </a:rPr>
              <a:t>n</a:t>
            </a:r>
            <a:r>
              <a:rPr lang="zh-CN" altLang="en-US" sz="2800" b="0" i="0" kern="0" dirty="0">
                <a:latin typeface="黑体" pitchFamily="49" charset="-122"/>
                <a:ea typeface="黑体" pitchFamily="49" charset="-122"/>
              </a:rPr>
              <a:t>次</a:t>
            </a:r>
            <a:r>
              <a:rPr lang="en-US" altLang="zh-CN" sz="2800" b="0" i="0" kern="0" dirty="0">
                <a:latin typeface="黑体" pitchFamily="49" charset="-122"/>
                <a:ea typeface="黑体" pitchFamily="49" charset="-122"/>
              </a:rPr>
              <a:t>Dijkstra</a:t>
            </a:r>
            <a:r>
              <a:rPr lang="zh-CN" altLang="en-US" sz="2800" b="0" i="0" kern="0" dirty="0">
                <a:latin typeface="黑体" pitchFamily="49" charset="-122"/>
                <a:ea typeface="黑体" pitchFamily="49" charset="-122"/>
              </a:rPr>
              <a:t>算法，从每个顶点出发。 时</a:t>
            </a:r>
            <a:endParaRPr lang="en-US" altLang="zh-CN" sz="2800" b="0" i="0" kern="0" dirty="0">
              <a:latin typeface="黑体" pitchFamily="49" charset="-122"/>
              <a:ea typeface="黑体" pitchFamily="49" charset="-122"/>
            </a:endParaRPr>
          </a:p>
          <a:p>
            <a:pPr marL="342900" indent="-342900"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zh-CN" altLang="en-US" sz="2800" b="0" i="0" kern="0" dirty="0">
                <a:latin typeface="黑体" pitchFamily="49" charset="-122"/>
                <a:ea typeface="黑体" pitchFamily="49" charset="-122"/>
              </a:rPr>
              <a:t>       间复杂度</a:t>
            </a:r>
            <a:r>
              <a:rPr lang="en-US" altLang="zh-CN" sz="2800" b="0" i="0" kern="0" dirty="0">
                <a:latin typeface="黑体" pitchFamily="49" charset="-122"/>
                <a:ea typeface="黑体" pitchFamily="49" charset="-122"/>
              </a:rPr>
              <a:t>O(n</a:t>
            </a:r>
            <a:r>
              <a:rPr lang="en-US" altLang="zh-CN" sz="2800" b="0" i="0" kern="0" baseline="30000" dirty="0">
                <a:latin typeface="黑体" pitchFamily="49" charset="-122"/>
                <a:ea typeface="黑体" pitchFamily="49" charset="-122"/>
              </a:rPr>
              <a:t>3</a:t>
            </a:r>
            <a:r>
              <a:rPr lang="en-US" altLang="zh-CN" sz="2800" b="0" i="0" kern="0" dirty="0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2800" b="0" i="0" kern="0" dirty="0">
                <a:latin typeface="黑体" pitchFamily="49" charset="-122"/>
                <a:ea typeface="黑体" pitchFamily="49" charset="-122"/>
              </a:rPr>
              <a:t>，实现复杂。</a:t>
            </a:r>
            <a:endParaRPr lang="en-US" altLang="zh-CN" sz="2800" b="0" i="0" kern="0" dirty="0">
              <a:latin typeface="黑体" pitchFamily="49" charset="-122"/>
              <a:ea typeface="黑体" pitchFamily="49" charset="-122"/>
            </a:endParaRPr>
          </a:p>
          <a:p>
            <a:pPr marL="342900" indent="-342900"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800" b="0" i="0" kern="0" dirty="0">
                <a:latin typeface="黑体" pitchFamily="49" charset="-122"/>
                <a:ea typeface="黑体" pitchFamily="49" charset="-122"/>
              </a:rPr>
              <a:t>   (2) Floyd</a:t>
            </a:r>
            <a:r>
              <a:rPr lang="zh-CN" altLang="en-US" sz="2800" b="0" i="0" kern="0" dirty="0">
                <a:latin typeface="黑体" pitchFamily="49" charset="-122"/>
                <a:ea typeface="黑体" pitchFamily="49" charset="-122"/>
              </a:rPr>
              <a:t>算法。时间复杂度</a:t>
            </a:r>
            <a:r>
              <a:rPr lang="en-US" altLang="zh-CN" sz="2800" b="0" i="0" kern="0" dirty="0">
                <a:latin typeface="黑体" pitchFamily="49" charset="-122"/>
                <a:ea typeface="黑体" pitchFamily="49" charset="-122"/>
              </a:rPr>
              <a:t>O(n</a:t>
            </a:r>
            <a:r>
              <a:rPr lang="en-US" altLang="zh-CN" sz="2800" b="0" i="0" kern="0" baseline="30000" dirty="0">
                <a:latin typeface="黑体" pitchFamily="49" charset="-122"/>
                <a:ea typeface="黑体" pitchFamily="49" charset="-122"/>
              </a:rPr>
              <a:t>3</a:t>
            </a:r>
            <a:r>
              <a:rPr lang="en-US" altLang="zh-CN" sz="2800" b="0" i="0" kern="0" dirty="0">
                <a:latin typeface="黑体" pitchFamily="49" charset="-122"/>
                <a:ea typeface="黑体" pitchFamily="49" charset="-122"/>
              </a:rPr>
              <a:t>),</a:t>
            </a:r>
            <a:r>
              <a:rPr lang="zh-CN" altLang="en-US" sz="2800" b="0" i="0" kern="0" dirty="0">
                <a:latin typeface="黑体" pitchFamily="49" charset="-122"/>
                <a:ea typeface="黑体" pitchFamily="49" charset="-122"/>
              </a:rPr>
              <a:t>实现简单。</a:t>
            </a:r>
            <a:endParaRPr lang="en-US" altLang="zh-CN" sz="2800" b="0" i="0" kern="0" dirty="0">
              <a:latin typeface="黑体" pitchFamily="49" charset="-122"/>
              <a:ea typeface="黑体" pitchFamily="49" charset="-122"/>
            </a:endParaRPr>
          </a:p>
          <a:p>
            <a:pPr marL="342900" indent="-342900"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800" kern="0" dirty="0">
                <a:latin typeface="黑体" pitchFamily="49" charset="-122"/>
                <a:ea typeface="黑体" pitchFamily="49" charset="-122"/>
              </a:rPr>
              <a:t>   </a:t>
            </a:r>
          </a:p>
          <a:p>
            <a:pPr marL="342900" indent="-342900" ea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endParaRPr lang="zh-CN" altLang="en-US" sz="3200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81000" y="198673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三、</a:t>
            </a:r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Floyd</a:t>
            </a: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算法</a:t>
            </a:r>
          </a:p>
        </p:txBody>
      </p:sp>
    </p:spTree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fld id="{8036945F-8F01-4570-9F26-6169BC60FD96}" type="slidenum">
              <a:rPr lang="zh-CN" altLang="en-US"/>
              <a:pPr algn="r" eaLnBrk="1" hangingPunct="1">
                <a:spcBef>
                  <a:spcPct val="50000"/>
                </a:spcBef>
              </a:pPr>
              <a:t>29</a:t>
            </a:fld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6200" y="2000241"/>
            <a:ext cx="8763000" cy="2857518"/>
          </a:xfrm>
        </p:spPr>
        <p:txBody>
          <a:bodyPr/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	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D</a:t>
            </a:r>
            <a:r>
              <a:rPr lang="en-US" altLang="zh-CN" sz="2800" baseline="30000" dirty="0">
                <a:latin typeface="黑体" pitchFamily="49" charset="-122"/>
                <a:ea typeface="黑体" pitchFamily="49" charset="-122"/>
              </a:rPr>
              <a:t>-1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][j] = </a:t>
            </a:r>
            <a:r>
              <a:rPr lang="en-US" altLang="zh-CN" sz="2800" dirty="0" err="1">
                <a:latin typeface="黑体" pitchFamily="49" charset="-122"/>
                <a:ea typeface="黑体" pitchFamily="49" charset="-122"/>
              </a:rPr>
              <a:t>AdjMatrix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][j];  (∞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或权值）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D</a:t>
            </a:r>
            <a:r>
              <a:rPr lang="en-US" altLang="zh-CN" sz="2800" baseline="30000" dirty="0">
                <a:latin typeface="黑体" pitchFamily="49" charset="-122"/>
                <a:ea typeface="黑体" pitchFamily="49" charset="-122"/>
              </a:rPr>
              <a:t>k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][j] = min{D</a:t>
            </a:r>
            <a:r>
              <a:rPr lang="en-US" altLang="zh-CN" sz="2800" baseline="30000" dirty="0">
                <a:latin typeface="黑体" pitchFamily="49" charset="-122"/>
                <a:ea typeface="黑体" pitchFamily="49" charset="-122"/>
              </a:rPr>
              <a:t>k-1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][j],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                   D</a:t>
            </a:r>
            <a:r>
              <a:rPr lang="zh-CN" altLang="en-US" sz="2800" baseline="300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2800" baseline="30000" dirty="0">
                <a:latin typeface="黑体" pitchFamily="49" charset="-122"/>
                <a:ea typeface="黑体" pitchFamily="49" charset="-122"/>
              </a:rPr>
              <a:t>k-1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][k]+D</a:t>
            </a:r>
            <a:r>
              <a:rPr lang="en-US" altLang="zh-CN" sz="2800" baseline="30000" dirty="0">
                <a:latin typeface="黑体" pitchFamily="49" charset="-122"/>
                <a:ea typeface="黑体" pitchFamily="49" charset="-122"/>
              </a:rPr>
              <a:t>k-1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[k][j]},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          0≤k&lt;n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             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4583" name="矩形 1"/>
          <p:cNvSpPr>
            <a:spLocks noChangeArrowheads="1"/>
          </p:cNvSpPr>
          <p:nvPr/>
        </p:nvSpPr>
        <p:spPr bwMode="auto">
          <a:xfrm>
            <a:off x="611483" y="1262707"/>
            <a:ext cx="28937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Floyd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</a:rPr>
              <a:t>算法原理：</a:t>
            </a:r>
            <a:endParaRPr lang="zh-CN" altLang="en-US" sz="2800" b="0" i="0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95244" y="188640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三、</a:t>
            </a:r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Floyd</a:t>
            </a: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算法</a:t>
            </a:r>
          </a:p>
        </p:txBody>
      </p:sp>
    </p:spTree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fld id="{8036945F-8F01-4570-9F26-6169BC60FD96}" type="slidenum">
              <a:rPr lang="zh-CN" altLang="en-US"/>
              <a:pPr algn="r" eaLnBrk="1" hangingPunct="1">
                <a:spcBef>
                  <a:spcPct val="50000"/>
                </a:spcBef>
              </a:pPr>
              <a:t>30</a:t>
            </a:fld>
            <a:endParaRPr lang="en-US" altLang="zh-CN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81000" y="193303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Floyd</a:t>
            </a: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算法实现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F4EA650-BB5D-441E-ACEA-855A2E94C72F}"/>
              </a:ext>
            </a:extLst>
          </p:cNvPr>
          <p:cNvSpPr txBox="1"/>
          <p:nvPr/>
        </p:nvSpPr>
        <p:spPr>
          <a:xfrm>
            <a:off x="576505" y="1490338"/>
            <a:ext cx="7668344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D</a:t>
            </a:r>
            <a:r>
              <a:rPr lang="en-US" altLang="zh-CN" sz="2800" b="0" i="0" baseline="30000" dirty="0">
                <a:latin typeface="黑体" pitchFamily="49" charset="-122"/>
                <a:ea typeface="黑体" pitchFamily="49" charset="-122"/>
              </a:rPr>
              <a:t>-1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0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][j] = </a:t>
            </a:r>
            <a:r>
              <a:rPr lang="en-US" altLang="zh-CN" sz="2800" b="0" i="0" dirty="0" err="1">
                <a:latin typeface="黑体" pitchFamily="49" charset="-122"/>
                <a:ea typeface="黑体" pitchFamily="49" charset="-122"/>
              </a:rPr>
              <a:t>AdjMatrix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0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][j];  (∞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</a:rPr>
              <a:t>或权值）</a:t>
            </a:r>
            <a:endParaRPr lang="en-US" altLang="zh-CN" sz="2800" b="0" i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48252905-27CE-4305-BD38-07C34F303463}"/>
              </a:ext>
            </a:extLst>
          </p:cNvPr>
          <p:cNvSpPr txBox="1"/>
          <p:nvPr/>
        </p:nvSpPr>
        <p:spPr>
          <a:xfrm>
            <a:off x="441" y="2451547"/>
            <a:ext cx="9361040" cy="3668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for(k=0; k&lt;n; k++) //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</a:rPr>
              <a:t>通过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k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</a:rPr>
              <a:t>点</a:t>
            </a:r>
            <a:endParaRPr lang="en-US" altLang="zh-CN" sz="2800" b="0" i="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	for(</a:t>
            </a:r>
            <a:r>
              <a:rPr lang="en-US" altLang="zh-CN" sz="2800" b="0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=0; </a:t>
            </a:r>
            <a:r>
              <a:rPr lang="en-US" altLang="zh-CN" sz="2800" b="0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&lt;n; </a:t>
            </a:r>
            <a:r>
              <a:rPr lang="en-US" altLang="zh-CN" sz="2800" b="0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++)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	  for(j=0; j&lt;n; </a:t>
            </a:r>
            <a:r>
              <a:rPr lang="en-US" altLang="zh-CN" sz="2800" b="0" i="0" dirty="0" err="1">
                <a:latin typeface="黑体" pitchFamily="49" charset="-122"/>
                <a:ea typeface="黑体" pitchFamily="49" charset="-122"/>
              </a:rPr>
              <a:t>j++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           if(D[</a:t>
            </a:r>
            <a:r>
              <a:rPr lang="en-US" altLang="zh-CN" sz="2800" b="0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][j] &gt; D[</a:t>
            </a:r>
            <a:r>
              <a:rPr lang="en-US" altLang="zh-CN" sz="2800" b="0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][k]+D[k][j])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           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               D[</a:t>
            </a:r>
            <a:r>
              <a:rPr lang="en-US" altLang="zh-CN" sz="2800" b="0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][j] = D[</a:t>
            </a:r>
            <a:r>
              <a:rPr lang="en-US" altLang="zh-CN" sz="2800" b="0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][k]+D[k][j];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               path[</a:t>
            </a:r>
            <a:r>
              <a:rPr lang="en-US" altLang="zh-CN" sz="2800" b="0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][j] = path[</a:t>
            </a:r>
            <a:r>
              <a:rPr lang="en-US" altLang="zh-CN" sz="2800" b="0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][k]+path[k][j];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0" i="0" dirty="0">
                <a:latin typeface="黑体" pitchFamily="49" charset="-122"/>
                <a:ea typeface="黑体" pitchFamily="49" charset="-122"/>
              </a:rPr>
              <a:t>            }</a:t>
            </a:r>
          </a:p>
        </p:txBody>
      </p:sp>
      <p:sp>
        <p:nvSpPr>
          <p:cNvPr id="24614" name="思想气泡: 云 24613">
            <a:extLst>
              <a:ext uri="{FF2B5EF4-FFF2-40B4-BE49-F238E27FC236}">
                <a16:creationId xmlns:a16="http://schemas.microsoft.com/office/drawing/2014/main" id="{350F8E17-3BE4-41BB-83F7-3D65F10089D1}"/>
              </a:ext>
            </a:extLst>
          </p:cNvPr>
          <p:cNvSpPr/>
          <p:nvPr/>
        </p:nvSpPr>
        <p:spPr bwMode="auto">
          <a:xfrm>
            <a:off x="5940152" y="1869985"/>
            <a:ext cx="3024336" cy="1452384"/>
          </a:xfrm>
          <a:prstGeom prst="cloudCallout">
            <a:avLst>
              <a:gd name="adj1" fmla="val -7117"/>
              <a:gd name="adj2" fmla="val 180414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i="0" dirty="0"/>
              <a:t>注意去掉重复顶点</a:t>
            </a:r>
            <a:r>
              <a:rPr lang="en-US" altLang="zh-CN" sz="2800" i="0" dirty="0"/>
              <a:t>k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78405"/>
      </p:ext>
    </p:extLst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fld id="{8036945F-8F01-4570-9F26-6169BC60FD96}" type="slidenum">
              <a:rPr lang="zh-CN" altLang="en-US"/>
              <a:pPr algn="r" eaLnBrk="1" hangingPunct="1">
                <a:spcBef>
                  <a:spcPct val="50000"/>
                </a:spcBef>
              </a:pPr>
              <a:t>31</a:t>
            </a:fld>
            <a:endParaRPr lang="en-US" altLang="zh-CN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500034" y="159229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Floyd</a:t>
            </a: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算法实例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08" name="文本框 24607">
                <a:extLst>
                  <a:ext uri="{FF2B5EF4-FFF2-40B4-BE49-F238E27FC236}">
                    <a16:creationId xmlns:a16="http://schemas.microsoft.com/office/drawing/2014/main" id="{BF9D2CB3-ACF7-42DF-A8A3-211D2A17BFC8}"/>
                  </a:ext>
                </a:extLst>
              </p:cNvPr>
              <p:cNvSpPr txBox="1"/>
              <p:nvPr/>
            </p:nvSpPr>
            <p:spPr>
              <a:xfrm>
                <a:off x="3779912" y="1792587"/>
                <a:ext cx="4968552" cy="123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CN" sz="2800" b="0">
                          <a:latin typeface="Cambria Math" panose="02040503050406030204" pitchFamily="18" charset="0"/>
                          <a:ea typeface="+mn-ea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800" b="0" i="0" baseline="30000" dirty="0">
                          <a:latin typeface="+mn-ea"/>
                          <a:ea typeface="+mn-ea"/>
                        </a:rPr>
                        <m:t>−1</m:t>
                      </m:r>
                      <m:r>
                        <a:rPr lang="en-US" altLang="zh-CN" sz="2800" b="0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b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altLang="zh-CN" sz="2800" b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US" altLang="zh-CN" sz="2800" b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∞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4608" name="文本框 24607">
                <a:extLst>
                  <a:ext uri="{FF2B5EF4-FFF2-40B4-BE49-F238E27FC236}">
                    <a16:creationId xmlns:a16="http://schemas.microsoft.com/office/drawing/2014/main" id="{BF9D2CB3-ACF7-42DF-A8A3-211D2A17B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1792587"/>
                <a:ext cx="4968552" cy="12317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EE23381F-7012-4066-92CD-A734DC305514}"/>
              </a:ext>
            </a:extLst>
          </p:cNvPr>
          <p:cNvGrpSpPr/>
          <p:nvPr/>
        </p:nvGrpSpPr>
        <p:grpSpPr>
          <a:xfrm>
            <a:off x="827584" y="1628800"/>
            <a:ext cx="3454575" cy="2378066"/>
            <a:chOff x="827584" y="2329109"/>
            <a:chExt cx="3454575" cy="2378066"/>
          </a:xfrm>
        </p:grpSpPr>
        <p:sp>
          <p:nvSpPr>
            <p:cNvPr id="3" name="椭圆 2" descr="V">
              <a:extLst>
                <a:ext uri="{FF2B5EF4-FFF2-40B4-BE49-F238E27FC236}">
                  <a16:creationId xmlns:a16="http://schemas.microsoft.com/office/drawing/2014/main" id="{CC27CB3D-352F-4C30-BCCB-2DF710A35928}"/>
                </a:ext>
              </a:extLst>
            </p:cNvPr>
            <p:cNvSpPr/>
            <p:nvPr/>
          </p:nvSpPr>
          <p:spPr bwMode="auto">
            <a:xfrm>
              <a:off x="987851" y="2689150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800" i="0" dirty="0"/>
                <a:t>a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椭圆 8" descr="V">
              <a:extLst>
                <a:ext uri="{FF2B5EF4-FFF2-40B4-BE49-F238E27FC236}">
                  <a16:creationId xmlns:a16="http://schemas.microsoft.com/office/drawing/2014/main" id="{68657903-33DE-4925-BAB4-90A844979C44}"/>
                </a:ext>
              </a:extLst>
            </p:cNvPr>
            <p:cNvSpPr/>
            <p:nvPr/>
          </p:nvSpPr>
          <p:spPr bwMode="auto">
            <a:xfrm>
              <a:off x="3460523" y="2689150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b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椭圆 9" descr="V">
              <a:extLst>
                <a:ext uri="{FF2B5EF4-FFF2-40B4-BE49-F238E27FC236}">
                  <a16:creationId xmlns:a16="http://schemas.microsoft.com/office/drawing/2014/main" id="{CE2BAF37-FAC0-4AB9-AD2E-832687F34352}"/>
                </a:ext>
              </a:extLst>
            </p:cNvPr>
            <p:cNvSpPr/>
            <p:nvPr/>
          </p:nvSpPr>
          <p:spPr bwMode="auto">
            <a:xfrm>
              <a:off x="1915103" y="4101266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C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6" name="连接符: 曲线 5">
              <a:extLst>
                <a:ext uri="{FF2B5EF4-FFF2-40B4-BE49-F238E27FC236}">
                  <a16:creationId xmlns:a16="http://schemas.microsoft.com/office/drawing/2014/main" id="{66279F35-2907-4372-8275-03A72B6674FD}"/>
                </a:ext>
              </a:extLst>
            </p:cNvPr>
            <p:cNvCxnSpPr>
              <a:stCxn id="3" idx="7"/>
              <a:endCxn id="9" idx="1"/>
            </p:cNvCxnSpPr>
            <p:nvPr/>
          </p:nvCxnSpPr>
          <p:spPr bwMode="auto">
            <a:xfrm rot="5400000" flipH="1" flipV="1">
              <a:off x="2587520" y="1796529"/>
              <a:ext cx="12700" cy="1962709"/>
            </a:xfrm>
            <a:prstGeom prst="curvedConnector3">
              <a:avLst>
                <a:gd name="adj1" fmla="val 249868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连接符: 曲线 10">
              <a:extLst>
                <a:ext uri="{FF2B5EF4-FFF2-40B4-BE49-F238E27FC236}">
                  <a16:creationId xmlns:a16="http://schemas.microsoft.com/office/drawing/2014/main" id="{41394B4B-0688-43E7-9697-8C027CDA671A}"/>
                </a:ext>
              </a:extLst>
            </p:cNvPr>
            <p:cNvCxnSpPr>
              <a:stCxn id="9" idx="3"/>
              <a:endCxn id="3" idx="5"/>
            </p:cNvCxnSpPr>
            <p:nvPr/>
          </p:nvCxnSpPr>
          <p:spPr bwMode="auto">
            <a:xfrm rot="5400000">
              <a:off x="2587520" y="2224972"/>
              <a:ext cx="12700" cy="1962709"/>
            </a:xfrm>
            <a:prstGeom prst="curvedConnector3">
              <a:avLst>
                <a:gd name="adj1" fmla="val 249868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连接符: 曲线 34">
              <a:extLst>
                <a:ext uri="{FF2B5EF4-FFF2-40B4-BE49-F238E27FC236}">
                  <a16:creationId xmlns:a16="http://schemas.microsoft.com/office/drawing/2014/main" id="{9D61AA15-7A74-48F4-8521-37CF2DF9545F}"/>
                </a:ext>
              </a:extLst>
            </p:cNvPr>
            <p:cNvCxnSpPr>
              <a:stCxn id="9" idx="4"/>
              <a:endCxn id="10" idx="6"/>
            </p:cNvCxnSpPr>
            <p:nvPr/>
          </p:nvCxnSpPr>
          <p:spPr bwMode="auto">
            <a:xfrm rot="5400000">
              <a:off x="2674129" y="3257229"/>
              <a:ext cx="1109162" cy="1184822"/>
            </a:xfrm>
            <a:prstGeom prst="curved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606" name="文本框 24605">
              <a:extLst>
                <a:ext uri="{FF2B5EF4-FFF2-40B4-BE49-F238E27FC236}">
                  <a16:creationId xmlns:a16="http://schemas.microsoft.com/office/drawing/2014/main" id="{12F93FEA-2ABE-438D-B092-01882B06F6B7}"/>
                </a:ext>
              </a:extLst>
            </p:cNvPr>
            <p:cNvSpPr txBox="1"/>
            <p:nvPr/>
          </p:nvSpPr>
          <p:spPr>
            <a:xfrm>
              <a:off x="2329803" y="2329109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4</a:t>
              </a:r>
              <a:endParaRPr lang="zh-CN" altLang="en-US" sz="2800" i="0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667B5C3F-F448-4E4D-96FB-994F357B4BCE}"/>
                </a:ext>
              </a:extLst>
            </p:cNvPr>
            <p:cNvSpPr txBox="1"/>
            <p:nvPr/>
          </p:nvSpPr>
          <p:spPr>
            <a:xfrm>
              <a:off x="2225480" y="3078662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6</a:t>
              </a:r>
              <a:endParaRPr lang="zh-CN" altLang="en-US" sz="2800" i="0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E167EEB9-6386-4ABD-9774-79B209A7BCA5}"/>
                </a:ext>
              </a:extLst>
            </p:cNvPr>
            <p:cNvSpPr txBox="1"/>
            <p:nvPr/>
          </p:nvSpPr>
          <p:spPr>
            <a:xfrm>
              <a:off x="3460523" y="3561442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2</a:t>
              </a:r>
              <a:endParaRPr lang="zh-CN" altLang="en-US" sz="2800" i="0" dirty="0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193AA48F-FB88-40EB-AAB1-C35D9C7138E5}"/>
                </a:ext>
              </a:extLst>
            </p:cNvPr>
            <p:cNvSpPr txBox="1"/>
            <p:nvPr/>
          </p:nvSpPr>
          <p:spPr>
            <a:xfrm>
              <a:off x="1508167" y="3341390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11</a:t>
              </a:r>
              <a:endParaRPr lang="zh-CN" altLang="en-US" sz="2800" i="0" dirty="0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C210EDE6-8FFD-4CC5-A822-05A0861F5677}"/>
                </a:ext>
              </a:extLst>
            </p:cNvPr>
            <p:cNvSpPr txBox="1"/>
            <p:nvPr/>
          </p:nvSpPr>
          <p:spPr>
            <a:xfrm>
              <a:off x="827584" y="3619420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3</a:t>
              </a:r>
              <a:endParaRPr lang="zh-CN" altLang="en-US" sz="2800" i="0" dirty="0"/>
            </a:p>
          </p:txBody>
        </p:sp>
        <p:cxnSp>
          <p:nvCxnSpPr>
            <p:cNvPr id="24610" name="连接符: 曲线 24609">
              <a:extLst>
                <a:ext uri="{FF2B5EF4-FFF2-40B4-BE49-F238E27FC236}">
                  <a16:creationId xmlns:a16="http://schemas.microsoft.com/office/drawing/2014/main" id="{B15E05FD-F73F-470D-B679-F81BB0FB809E}"/>
                </a:ext>
              </a:extLst>
            </p:cNvPr>
            <p:cNvCxnSpPr>
              <a:endCxn id="10" idx="0"/>
            </p:cNvCxnSpPr>
            <p:nvPr/>
          </p:nvCxnSpPr>
          <p:spPr bwMode="auto">
            <a:xfrm rot="16200000" flipH="1">
              <a:off x="1488830" y="3314395"/>
              <a:ext cx="806208" cy="767534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612" name="连接符: 曲线 24611">
              <a:extLst>
                <a:ext uri="{FF2B5EF4-FFF2-40B4-BE49-F238E27FC236}">
                  <a16:creationId xmlns:a16="http://schemas.microsoft.com/office/drawing/2014/main" id="{186B8D22-144E-4EFB-BCF2-C5D17983124E}"/>
                </a:ext>
              </a:extLst>
            </p:cNvPr>
            <p:cNvCxnSpPr>
              <a:endCxn id="3" idx="4"/>
            </p:cNvCxnSpPr>
            <p:nvPr/>
          </p:nvCxnSpPr>
          <p:spPr bwMode="auto">
            <a:xfrm rot="16200000" flipV="1">
              <a:off x="1207986" y="3435523"/>
              <a:ext cx="847581" cy="566654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2CB862C-0134-4929-931F-D6819DA92BED}"/>
                  </a:ext>
                </a:extLst>
              </p:cNvPr>
              <p:cNvSpPr txBox="1"/>
              <p:nvPr/>
            </p:nvSpPr>
            <p:spPr>
              <a:xfrm>
                <a:off x="3871341" y="3674205"/>
                <a:ext cx="4968552" cy="12404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CN" sz="2800" b="0" i="0">
                          <a:latin typeface="Cambria Math" panose="02040503050406030204" pitchFamily="18" charset="0"/>
                          <a:ea typeface="+mn-ea"/>
                        </a:rPr>
                        <m:t>path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ac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ba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ca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""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0" i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2CB862C-0134-4929-931F-D6819DA92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341" y="3674205"/>
                <a:ext cx="4968552" cy="12404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9140E5EF-B467-4C88-8405-32CD775FE60D}"/>
              </a:ext>
            </a:extLst>
          </p:cNvPr>
          <p:cNvSpPr txBox="1"/>
          <p:nvPr/>
        </p:nvSpPr>
        <p:spPr>
          <a:xfrm>
            <a:off x="718592" y="5292815"/>
            <a:ext cx="8029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latin typeface="+mn-ea"/>
                <a:ea typeface="+mn-ea"/>
              </a:rPr>
              <a:t>path</a:t>
            </a:r>
            <a:r>
              <a:rPr lang="zh-CN" altLang="en-US" sz="2800" b="0" i="0" dirty="0">
                <a:latin typeface="+mn-ea"/>
                <a:ea typeface="+mn-ea"/>
              </a:rPr>
              <a:t>记录两点之间的路径。</a:t>
            </a:r>
            <a:r>
              <a:rPr lang="en-US" altLang="zh-CN" sz="2800" b="0" i="0" dirty="0">
                <a:latin typeface="+mn-ea"/>
                <a:ea typeface="+mn-ea"/>
              </a:rPr>
              <a:t>D</a:t>
            </a:r>
            <a:r>
              <a:rPr lang="en-US" altLang="zh-CN" sz="2800" b="0" i="0" baseline="30000" dirty="0">
                <a:latin typeface="+mn-ea"/>
                <a:ea typeface="+mn-ea"/>
              </a:rPr>
              <a:t>-1</a:t>
            </a:r>
            <a:r>
              <a:rPr lang="zh-CN" altLang="en-US" sz="2800" b="0" i="0" dirty="0">
                <a:latin typeface="+mn-ea"/>
                <a:ea typeface="+mn-ea"/>
              </a:rPr>
              <a:t>即网的邻接矩阵。</a:t>
            </a:r>
          </a:p>
        </p:txBody>
      </p:sp>
    </p:spTree>
    <p:extLst>
      <p:ext uri="{BB962C8B-B14F-4D97-AF65-F5344CB8AC3E}">
        <p14:creationId xmlns:p14="http://schemas.microsoft.com/office/powerpoint/2010/main" val="1552738821"/>
      </p:ext>
    </p:extLst>
  </p:cSld>
  <p:clrMapOvr>
    <a:masterClrMapping/>
  </p:clrMapOvr>
  <p:transition>
    <p:randomBa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fld id="{8036945F-8F01-4570-9F26-6169BC60FD96}" type="slidenum">
              <a:rPr lang="zh-CN" altLang="en-US"/>
              <a:pPr algn="r" eaLnBrk="1" hangingPunct="1">
                <a:spcBef>
                  <a:spcPct val="50000"/>
                </a:spcBef>
              </a:pPr>
              <a:t>32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08" name="文本框 24607">
                <a:extLst>
                  <a:ext uri="{FF2B5EF4-FFF2-40B4-BE49-F238E27FC236}">
                    <a16:creationId xmlns:a16="http://schemas.microsoft.com/office/drawing/2014/main" id="{BF9D2CB3-ACF7-42DF-A8A3-211D2A17BFC8}"/>
                  </a:ext>
                </a:extLst>
              </p:cNvPr>
              <p:cNvSpPr txBox="1"/>
              <p:nvPr/>
            </p:nvSpPr>
            <p:spPr>
              <a:xfrm>
                <a:off x="3851920" y="2206016"/>
                <a:ext cx="5616624" cy="1394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4608" name="文本框 24607">
                <a:extLst>
                  <a:ext uri="{FF2B5EF4-FFF2-40B4-BE49-F238E27FC236}">
                    <a16:creationId xmlns:a16="http://schemas.microsoft.com/office/drawing/2014/main" id="{BF9D2CB3-ACF7-42DF-A8A3-211D2A17B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2206016"/>
                <a:ext cx="5616624" cy="13946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4F6C541F-B29D-42EB-AB90-2136F03177DD}"/>
              </a:ext>
            </a:extLst>
          </p:cNvPr>
          <p:cNvGrpSpPr/>
          <p:nvPr/>
        </p:nvGrpSpPr>
        <p:grpSpPr>
          <a:xfrm>
            <a:off x="199109" y="2274872"/>
            <a:ext cx="3454575" cy="2378066"/>
            <a:chOff x="827584" y="2329109"/>
            <a:chExt cx="3454575" cy="2378066"/>
          </a:xfrm>
        </p:grpSpPr>
        <p:sp>
          <p:nvSpPr>
            <p:cNvPr id="3" name="椭圆 2" descr="V">
              <a:extLst>
                <a:ext uri="{FF2B5EF4-FFF2-40B4-BE49-F238E27FC236}">
                  <a16:creationId xmlns:a16="http://schemas.microsoft.com/office/drawing/2014/main" id="{CC27CB3D-352F-4C30-BCCB-2DF710A35928}"/>
                </a:ext>
              </a:extLst>
            </p:cNvPr>
            <p:cNvSpPr/>
            <p:nvPr/>
          </p:nvSpPr>
          <p:spPr bwMode="auto">
            <a:xfrm>
              <a:off x="987851" y="2689150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800" i="0" dirty="0"/>
                <a:t>a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椭圆 8" descr="V">
              <a:extLst>
                <a:ext uri="{FF2B5EF4-FFF2-40B4-BE49-F238E27FC236}">
                  <a16:creationId xmlns:a16="http://schemas.microsoft.com/office/drawing/2014/main" id="{68657903-33DE-4925-BAB4-90A844979C44}"/>
                </a:ext>
              </a:extLst>
            </p:cNvPr>
            <p:cNvSpPr/>
            <p:nvPr/>
          </p:nvSpPr>
          <p:spPr bwMode="auto">
            <a:xfrm>
              <a:off x="3460523" y="2689150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b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椭圆 9" descr="V">
              <a:extLst>
                <a:ext uri="{FF2B5EF4-FFF2-40B4-BE49-F238E27FC236}">
                  <a16:creationId xmlns:a16="http://schemas.microsoft.com/office/drawing/2014/main" id="{CE2BAF37-FAC0-4AB9-AD2E-832687F34352}"/>
                </a:ext>
              </a:extLst>
            </p:cNvPr>
            <p:cNvSpPr/>
            <p:nvPr/>
          </p:nvSpPr>
          <p:spPr bwMode="auto">
            <a:xfrm>
              <a:off x="1915103" y="4101266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C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6" name="连接符: 曲线 5">
              <a:extLst>
                <a:ext uri="{FF2B5EF4-FFF2-40B4-BE49-F238E27FC236}">
                  <a16:creationId xmlns:a16="http://schemas.microsoft.com/office/drawing/2014/main" id="{66279F35-2907-4372-8275-03A72B6674FD}"/>
                </a:ext>
              </a:extLst>
            </p:cNvPr>
            <p:cNvCxnSpPr>
              <a:stCxn id="3" idx="7"/>
              <a:endCxn id="9" idx="1"/>
            </p:cNvCxnSpPr>
            <p:nvPr/>
          </p:nvCxnSpPr>
          <p:spPr bwMode="auto">
            <a:xfrm rot="5400000" flipH="1" flipV="1">
              <a:off x="2587520" y="1796529"/>
              <a:ext cx="12700" cy="1962709"/>
            </a:xfrm>
            <a:prstGeom prst="curvedConnector3">
              <a:avLst>
                <a:gd name="adj1" fmla="val 249868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连接符: 曲线 10">
              <a:extLst>
                <a:ext uri="{FF2B5EF4-FFF2-40B4-BE49-F238E27FC236}">
                  <a16:creationId xmlns:a16="http://schemas.microsoft.com/office/drawing/2014/main" id="{41394B4B-0688-43E7-9697-8C027CDA671A}"/>
                </a:ext>
              </a:extLst>
            </p:cNvPr>
            <p:cNvCxnSpPr>
              <a:stCxn id="9" idx="3"/>
              <a:endCxn id="3" idx="5"/>
            </p:cNvCxnSpPr>
            <p:nvPr/>
          </p:nvCxnSpPr>
          <p:spPr bwMode="auto">
            <a:xfrm rot="5400000">
              <a:off x="2587520" y="2224972"/>
              <a:ext cx="12700" cy="1962709"/>
            </a:xfrm>
            <a:prstGeom prst="curvedConnector3">
              <a:avLst>
                <a:gd name="adj1" fmla="val 249868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连接符: 曲线 34">
              <a:extLst>
                <a:ext uri="{FF2B5EF4-FFF2-40B4-BE49-F238E27FC236}">
                  <a16:creationId xmlns:a16="http://schemas.microsoft.com/office/drawing/2014/main" id="{9D61AA15-7A74-48F4-8521-37CF2DF9545F}"/>
                </a:ext>
              </a:extLst>
            </p:cNvPr>
            <p:cNvCxnSpPr>
              <a:stCxn id="9" idx="4"/>
              <a:endCxn id="10" idx="6"/>
            </p:cNvCxnSpPr>
            <p:nvPr/>
          </p:nvCxnSpPr>
          <p:spPr bwMode="auto">
            <a:xfrm rot="5400000">
              <a:off x="2674129" y="3257229"/>
              <a:ext cx="1109162" cy="1184822"/>
            </a:xfrm>
            <a:prstGeom prst="curved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606" name="文本框 24605">
              <a:extLst>
                <a:ext uri="{FF2B5EF4-FFF2-40B4-BE49-F238E27FC236}">
                  <a16:creationId xmlns:a16="http://schemas.microsoft.com/office/drawing/2014/main" id="{12F93FEA-2ABE-438D-B092-01882B06F6B7}"/>
                </a:ext>
              </a:extLst>
            </p:cNvPr>
            <p:cNvSpPr txBox="1"/>
            <p:nvPr/>
          </p:nvSpPr>
          <p:spPr>
            <a:xfrm>
              <a:off x="2329803" y="2329109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4</a:t>
              </a:r>
              <a:endParaRPr lang="zh-CN" altLang="en-US" sz="2800" i="0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667B5C3F-F448-4E4D-96FB-994F357B4BCE}"/>
                </a:ext>
              </a:extLst>
            </p:cNvPr>
            <p:cNvSpPr txBox="1"/>
            <p:nvPr/>
          </p:nvSpPr>
          <p:spPr>
            <a:xfrm>
              <a:off x="2225480" y="3078662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6</a:t>
              </a:r>
              <a:endParaRPr lang="zh-CN" altLang="en-US" sz="2800" i="0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E167EEB9-6386-4ABD-9774-79B209A7BCA5}"/>
                </a:ext>
              </a:extLst>
            </p:cNvPr>
            <p:cNvSpPr txBox="1"/>
            <p:nvPr/>
          </p:nvSpPr>
          <p:spPr>
            <a:xfrm>
              <a:off x="3460523" y="3561442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2</a:t>
              </a:r>
              <a:endParaRPr lang="zh-CN" altLang="en-US" sz="2800" i="0" dirty="0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193AA48F-FB88-40EB-AAB1-C35D9C7138E5}"/>
                </a:ext>
              </a:extLst>
            </p:cNvPr>
            <p:cNvSpPr txBox="1"/>
            <p:nvPr/>
          </p:nvSpPr>
          <p:spPr>
            <a:xfrm>
              <a:off x="1508167" y="3341390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11</a:t>
              </a:r>
              <a:endParaRPr lang="zh-CN" altLang="en-US" sz="2800" i="0" dirty="0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C210EDE6-8FFD-4CC5-A822-05A0861F5677}"/>
                </a:ext>
              </a:extLst>
            </p:cNvPr>
            <p:cNvSpPr txBox="1"/>
            <p:nvPr/>
          </p:nvSpPr>
          <p:spPr>
            <a:xfrm>
              <a:off x="827584" y="3619420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3</a:t>
              </a:r>
              <a:endParaRPr lang="zh-CN" altLang="en-US" sz="2800" i="0" dirty="0"/>
            </a:p>
          </p:txBody>
        </p:sp>
        <p:cxnSp>
          <p:nvCxnSpPr>
            <p:cNvPr id="24610" name="连接符: 曲线 24609">
              <a:extLst>
                <a:ext uri="{FF2B5EF4-FFF2-40B4-BE49-F238E27FC236}">
                  <a16:creationId xmlns:a16="http://schemas.microsoft.com/office/drawing/2014/main" id="{B15E05FD-F73F-470D-B679-F81BB0FB809E}"/>
                </a:ext>
              </a:extLst>
            </p:cNvPr>
            <p:cNvCxnSpPr>
              <a:endCxn id="10" idx="0"/>
            </p:cNvCxnSpPr>
            <p:nvPr/>
          </p:nvCxnSpPr>
          <p:spPr bwMode="auto">
            <a:xfrm rot="16200000" flipH="1">
              <a:off x="1488830" y="3314395"/>
              <a:ext cx="806208" cy="767534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612" name="连接符: 曲线 24611">
              <a:extLst>
                <a:ext uri="{FF2B5EF4-FFF2-40B4-BE49-F238E27FC236}">
                  <a16:creationId xmlns:a16="http://schemas.microsoft.com/office/drawing/2014/main" id="{186B8D22-144E-4EFB-BCF2-C5D17983124E}"/>
                </a:ext>
              </a:extLst>
            </p:cNvPr>
            <p:cNvCxnSpPr>
              <a:endCxn id="3" idx="4"/>
            </p:cNvCxnSpPr>
            <p:nvPr/>
          </p:nvCxnSpPr>
          <p:spPr bwMode="auto">
            <a:xfrm rot="16200000" flipV="1">
              <a:off x="1207986" y="3435523"/>
              <a:ext cx="847581" cy="566654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9A2E367-2C0E-4263-8901-310971561606}"/>
                  </a:ext>
                </a:extLst>
              </p:cNvPr>
              <p:cNvSpPr txBox="1"/>
              <p:nvPr/>
            </p:nvSpPr>
            <p:spPr>
              <a:xfrm>
                <a:off x="-766147" y="5397653"/>
                <a:ext cx="4726304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 baseline="3000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9A2E367-2C0E-4263-8901-310971561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6147" y="5397653"/>
                <a:ext cx="4726304" cy="12317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C20C0D4-0E9D-4387-8BC0-5349A4F02FEF}"/>
                  </a:ext>
                </a:extLst>
              </p:cNvPr>
              <p:cNvSpPr txBox="1"/>
              <p:nvPr/>
            </p:nvSpPr>
            <p:spPr>
              <a:xfrm>
                <a:off x="3230816" y="3795346"/>
                <a:ext cx="4968552" cy="1433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CN" sz="3200">
                          <a:latin typeface="Cambria Math" panose="02040503050406030204" pitchFamily="18" charset="0"/>
                        </a:rPr>
                        <m:t>path</m:t>
                      </m:r>
                      <m:r>
                        <a:rPr lang="en-US" altLang="zh-CN" sz="320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𝒂𝒃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𝒂𝒄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𝒃𝒂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𝒃𝒄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𝒄𝒂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""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C20C0D4-0E9D-4387-8BC0-5349A4F02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816" y="3795346"/>
                <a:ext cx="4968552" cy="1433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2264460C-C9CB-416B-8F09-FC2A8DA05E5E}"/>
              </a:ext>
            </a:extLst>
          </p:cNvPr>
          <p:cNvSpPr txBox="1"/>
          <p:nvPr/>
        </p:nvSpPr>
        <p:spPr>
          <a:xfrm>
            <a:off x="411699" y="1301345"/>
            <a:ext cx="7976726" cy="82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zh-CN" altLang="en-US" sz="2800" i="0" dirty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800" i="0" dirty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800" i="0" dirty="0"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2800" i="0" dirty="0">
                <a:latin typeface="黑体" pitchFamily="49" charset="-122"/>
                <a:ea typeface="黑体" pitchFamily="49" charset="-122"/>
              </a:rPr>
              <a:t>k=0, 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D</a:t>
            </a:r>
            <a:r>
              <a:rPr lang="en-US" altLang="zh-CN" sz="2800" b="1" i="0" baseline="30000" dirty="0">
                <a:latin typeface="黑体" pitchFamily="49" charset="-122"/>
                <a:ea typeface="黑体" pitchFamily="49" charset="-122"/>
              </a:rPr>
              <a:t>0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][j] = min{D</a:t>
            </a:r>
            <a:r>
              <a:rPr lang="en-US" altLang="zh-CN" sz="2800" b="1" i="0" baseline="30000" dirty="0">
                <a:latin typeface="黑体" pitchFamily="49" charset="-122"/>
                <a:ea typeface="黑体" pitchFamily="49" charset="-122"/>
              </a:rPr>
              <a:t>-1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][j],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                       D</a:t>
            </a:r>
            <a:r>
              <a:rPr lang="en-US" altLang="zh-CN" sz="2800" b="1" i="0" baseline="30000" dirty="0">
                <a:latin typeface="黑体" pitchFamily="49" charset="-122"/>
                <a:ea typeface="黑体" pitchFamily="49" charset="-122"/>
              </a:rPr>
              <a:t>-1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][0]+D</a:t>
            </a:r>
            <a:r>
              <a:rPr lang="en-US" altLang="zh-CN" sz="2800" b="1" i="0" baseline="30000" dirty="0">
                <a:latin typeface="黑体" pitchFamily="49" charset="-122"/>
                <a:ea typeface="黑体" pitchFamily="49" charset="-122"/>
              </a:rPr>
              <a:t>-1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[0][j]},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C38BCBC5-6F5B-4B68-AFEE-47383FF4DFE8}"/>
              </a:ext>
            </a:extLst>
          </p:cNvPr>
          <p:cNvSpPr/>
          <p:nvPr/>
        </p:nvSpPr>
        <p:spPr bwMode="auto">
          <a:xfrm>
            <a:off x="6632768" y="2184264"/>
            <a:ext cx="2151856" cy="503007"/>
          </a:xfrm>
          <a:prstGeom prst="ellipse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DC72D92-84BE-44F6-9B1B-71FA115C2E0A}"/>
                  </a:ext>
                </a:extLst>
              </p:cNvPr>
              <p:cNvSpPr txBox="1"/>
              <p:nvPr/>
            </p:nvSpPr>
            <p:spPr>
              <a:xfrm>
                <a:off x="3419872" y="5296599"/>
                <a:ext cx="4968552" cy="1433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CN" sz="3200">
                          <a:latin typeface="Cambria Math" panose="02040503050406030204" pitchFamily="18" charset="0"/>
                        </a:rPr>
                        <m:t>path</m:t>
                      </m:r>
                      <m:r>
                        <a:rPr lang="en-US" altLang="zh-CN" sz="320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𝒂𝒃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𝒂𝒄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DC72D92-84BE-44F6-9B1B-71FA115C2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5296599"/>
                <a:ext cx="4968552" cy="14338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椭圆 29">
            <a:extLst>
              <a:ext uri="{FF2B5EF4-FFF2-40B4-BE49-F238E27FC236}">
                <a16:creationId xmlns:a16="http://schemas.microsoft.com/office/drawing/2014/main" id="{8B57A258-AD7C-4DE6-BC37-15D1F3C15247}"/>
              </a:ext>
            </a:extLst>
          </p:cNvPr>
          <p:cNvSpPr/>
          <p:nvPr/>
        </p:nvSpPr>
        <p:spPr bwMode="auto">
          <a:xfrm>
            <a:off x="4052096" y="2274872"/>
            <a:ext cx="444688" cy="42889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6ED01B95-2203-43E4-B60E-ACAD865BD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34" y="159229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Floyd</a:t>
            </a: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算法实例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A2F436-8E31-A082-3743-A1C48BB0248B}"/>
              </a:ext>
            </a:extLst>
          </p:cNvPr>
          <p:cNvSpPr txBox="1"/>
          <p:nvPr/>
        </p:nvSpPr>
        <p:spPr>
          <a:xfrm>
            <a:off x="199109" y="4790207"/>
            <a:ext cx="1924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N" sz="2800" i="0" dirty="0">
                <a:latin typeface="+mn-ea"/>
                <a:ea typeface="+mn-ea"/>
              </a:rPr>
              <a:t>i=0</a:t>
            </a:r>
            <a:r>
              <a:rPr lang="en-US" sz="2800" i="0" dirty="0">
                <a:latin typeface="+mn-ea"/>
                <a:ea typeface="+mn-ea"/>
              </a:rPr>
              <a:t>,第</a:t>
            </a:r>
            <a:r>
              <a:rPr lang="en-US" altLang="zh-CN" sz="2800" i="0" dirty="0">
                <a:latin typeface="+mn-ea"/>
                <a:ea typeface="+mn-ea"/>
              </a:rPr>
              <a:t>0</a:t>
            </a:r>
            <a:r>
              <a:rPr lang="zh-CN" altLang="en-US" sz="2800" i="0" dirty="0">
                <a:latin typeface="+mn-ea"/>
                <a:ea typeface="+mn-ea"/>
              </a:rPr>
              <a:t>行</a:t>
            </a:r>
            <a:endParaRPr lang="en-CN" sz="2800" i="0" dirty="0">
              <a:latin typeface="+mn-ea"/>
              <a:ea typeface="+mn-ea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0ADA9E-D532-DC0F-F09B-54216C3EA933}"/>
              </a:ext>
            </a:extLst>
          </p:cNvPr>
          <p:cNvCxnSpPr/>
          <p:nvPr/>
        </p:nvCxnSpPr>
        <p:spPr bwMode="auto">
          <a:xfrm>
            <a:off x="4572000" y="2126186"/>
            <a:ext cx="338437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230239123"/>
      </p:ext>
    </p:extLst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 animBg="1"/>
      <p:bldP spid="29" grpId="0"/>
      <p:bldP spid="3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fld id="{8036945F-8F01-4570-9F26-6169BC60FD96}" type="slidenum">
              <a:rPr lang="zh-CN" altLang="en-US"/>
              <a:pPr algn="r" eaLnBrk="1" hangingPunct="1">
                <a:spcBef>
                  <a:spcPct val="50000"/>
                </a:spcBef>
              </a:pPr>
              <a:t>33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08" name="文本框 24607">
                <a:extLst>
                  <a:ext uri="{FF2B5EF4-FFF2-40B4-BE49-F238E27FC236}">
                    <a16:creationId xmlns:a16="http://schemas.microsoft.com/office/drawing/2014/main" id="{BF9D2CB3-ACF7-42DF-A8A3-211D2A17BFC8}"/>
                  </a:ext>
                </a:extLst>
              </p:cNvPr>
              <p:cNvSpPr txBox="1"/>
              <p:nvPr/>
            </p:nvSpPr>
            <p:spPr>
              <a:xfrm>
                <a:off x="3851920" y="2206016"/>
                <a:ext cx="5616624" cy="1394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4608" name="文本框 24607">
                <a:extLst>
                  <a:ext uri="{FF2B5EF4-FFF2-40B4-BE49-F238E27FC236}">
                    <a16:creationId xmlns:a16="http://schemas.microsoft.com/office/drawing/2014/main" id="{BF9D2CB3-ACF7-42DF-A8A3-211D2A17B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2206016"/>
                <a:ext cx="5616624" cy="13946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4F6C541F-B29D-42EB-AB90-2136F03177DD}"/>
              </a:ext>
            </a:extLst>
          </p:cNvPr>
          <p:cNvGrpSpPr/>
          <p:nvPr/>
        </p:nvGrpSpPr>
        <p:grpSpPr>
          <a:xfrm>
            <a:off x="199109" y="2274872"/>
            <a:ext cx="3454575" cy="2378066"/>
            <a:chOff x="827584" y="2329109"/>
            <a:chExt cx="3454575" cy="2378066"/>
          </a:xfrm>
        </p:grpSpPr>
        <p:sp>
          <p:nvSpPr>
            <p:cNvPr id="3" name="椭圆 2" descr="V">
              <a:extLst>
                <a:ext uri="{FF2B5EF4-FFF2-40B4-BE49-F238E27FC236}">
                  <a16:creationId xmlns:a16="http://schemas.microsoft.com/office/drawing/2014/main" id="{CC27CB3D-352F-4C30-BCCB-2DF710A35928}"/>
                </a:ext>
              </a:extLst>
            </p:cNvPr>
            <p:cNvSpPr/>
            <p:nvPr/>
          </p:nvSpPr>
          <p:spPr bwMode="auto">
            <a:xfrm>
              <a:off x="987851" y="2689150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800" i="0" dirty="0"/>
                <a:t>a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椭圆 8" descr="V">
              <a:extLst>
                <a:ext uri="{FF2B5EF4-FFF2-40B4-BE49-F238E27FC236}">
                  <a16:creationId xmlns:a16="http://schemas.microsoft.com/office/drawing/2014/main" id="{68657903-33DE-4925-BAB4-90A844979C44}"/>
                </a:ext>
              </a:extLst>
            </p:cNvPr>
            <p:cNvSpPr/>
            <p:nvPr/>
          </p:nvSpPr>
          <p:spPr bwMode="auto">
            <a:xfrm>
              <a:off x="3460523" y="2689150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b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椭圆 9" descr="V">
              <a:extLst>
                <a:ext uri="{FF2B5EF4-FFF2-40B4-BE49-F238E27FC236}">
                  <a16:creationId xmlns:a16="http://schemas.microsoft.com/office/drawing/2014/main" id="{CE2BAF37-FAC0-4AB9-AD2E-832687F34352}"/>
                </a:ext>
              </a:extLst>
            </p:cNvPr>
            <p:cNvSpPr/>
            <p:nvPr/>
          </p:nvSpPr>
          <p:spPr bwMode="auto">
            <a:xfrm>
              <a:off x="1915103" y="4101266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C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6" name="连接符: 曲线 5">
              <a:extLst>
                <a:ext uri="{FF2B5EF4-FFF2-40B4-BE49-F238E27FC236}">
                  <a16:creationId xmlns:a16="http://schemas.microsoft.com/office/drawing/2014/main" id="{66279F35-2907-4372-8275-03A72B6674FD}"/>
                </a:ext>
              </a:extLst>
            </p:cNvPr>
            <p:cNvCxnSpPr>
              <a:stCxn id="3" idx="7"/>
              <a:endCxn id="9" idx="1"/>
            </p:cNvCxnSpPr>
            <p:nvPr/>
          </p:nvCxnSpPr>
          <p:spPr bwMode="auto">
            <a:xfrm rot="5400000" flipH="1" flipV="1">
              <a:off x="2587520" y="1796529"/>
              <a:ext cx="12700" cy="1962709"/>
            </a:xfrm>
            <a:prstGeom prst="curvedConnector3">
              <a:avLst>
                <a:gd name="adj1" fmla="val 249868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连接符: 曲线 10">
              <a:extLst>
                <a:ext uri="{FF2B5EF4-FFF2-40B4-BE49-F238E27FC236}">
                  <a16:creationId xmlns:a16="http://schemas.microsoft.com/office/drawing/2014/main" id="{41394B4B-0688-43E7-9697-8C027CDA671A}"/>
                </a:ext>
              </a:extLst>
            </p:cNvPr>
            <p:cNvCxnSpPr>
              <a:stCxn id="9" idx="3"/>
              <a:endCxn id="3" idx="5"/>
            </p:cNvCxnSpPr>
            <p:nvPr/>
          </p:nvCxnSpPr>
          <p:spPr bwMode="auto">
            <a:xfrm rot="5400000">
              <a:off x="2587520" y="2224972"/>
              <a:ext cx="12700" cy="1962709"/>
            </a:xfrm>
            <a:prstGeom prst="curvedConnector3">
              <a:avLst>
                <a:gd name="adj1" fmla="val 249868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连接符: 曲线 34">
              <a:extLst>
                <a:ext uri="{FF2B5EF4-FFF2-40B4-BE49-F238E27FC236}">
                  <a16:creationId xmlns:a16="http://schemas.microsoft.com/office/drawing/2014/main" id="{9D61AA15-7A74-48F4-8521-37CF2DF9545F}"/>
                </a:ext>
              </a:extLst>
            </p:cNvPr>
            <p:cNvCxnSpPr>
              <a:stCxn id="9" idx="4"/>
              <a:endCxn id="10" idx="6"/>
            </p:cNvCxnSpPr>
            <p:nvPr/>
          </p:nvCxnSpPr>
          <p:spPr bwMode="auto">
            <a:xfrm rot="5400000">
              <a:off x="2674129" y="3257229"/>
              <a:ext cx="1109162" cy="1184822"/>
            </a:xfrm>
            <a:prstGeom prst="curved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606" name="文本框 24605">
              <a:extLst>
                <a:ext uri="{FF2B5EF4-FFF2-40B4-BE49-F238E27FC236}">
                  <a16:creationId xmlns:a16="http://schemas.microsoft.com/office/drawing/2014/main" id="{12F93FEA-2ABE-438D-B092-01882B06F6B7}"/>
                </a:ext>
              </a:extLst>
            </p:cNvPr>
            <p:cNvSpPr txBox="1"/>
            <p:nvPr/>
          </p:nvSpPr>
          <p:spPr>
            <a:xfrm>
              <a:off x="2329803" y="2329109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4</a:t>
              </a:r>
              <a:endParaRPr lang="zh-CN" altLang="en-US" sz="2800" i="0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667B5C3F-F448-4E4D-96FB-994F357B4BCE}"/>
                </a:ext>
              </a:extLst>
            </p:cNvPr>
            <p:cNvSpPr txBox="1"/>
            <p:nvPr/>
          </p:nvSpPr>
          <p:spPr>
            <a:xfrm>
              <a:off x="2225480" y="3078662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6</a:t>
              </a:r>
              <a:endParaRPr lang="zh-CN" altLang="en-US" sz="2800" i="0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E167EEB9-6386-4ABD-9774-79B209A7BCA5}"/>
                </a:ext>
              </a:extLst>
            </p:cNvPr>
            <p:cNvSpPr txBox="1"/>
            <p:nvPr/>
          </p:nvSpPr>
          <p:spPr>
            <a:xfrm>
              <a:off x="3460523" y="3561442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2</a:t>
              </a:r>
              <a:endParaRPr lang="zh-CN" altLang="en-US" sz="2800" i="0" dirty="0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193AA48F-FB88-40EB-AAB1-C35D9C7138E5}"/>
                </a:ext>
              </a:extLst>
            </p:cNvPr>
            <p:cNvSpPr txBox="1"/>
            <p:nvPr/>
          </p:nvSpPr>
          <p:spPr>
            <a:xfrm>
              <a:off x="1508167" y="3341390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11</a:t>
              </a:r>
              <a:endParaRPr lang="zh-CN" altLang="en-US" sz="2800" i="0" dirty="0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C210EDE6-8FFD-4CC5-A822-05A0861F5677}"/>
                </a:ext>
              </a:extLst>
            </p:cNvPr>
            <p:cNvSpPr txBox="1"/>
            <p:nvPr/>
          </p:nvSpPr>
          <p:spPr>
            <a:xfrm>
              <a:off x="827584" y="3619420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3</a:t>
              </a:r>
              <a:endParaRPr lang="zh-CN" altLang="en-US" sz="2800" i="0" dirty="0"/>
            </a:p>
          </p:txBody>
        </p:sp>
        <p:cxnSp>
          <p:nvCxnSpPr>
            <p:cNvPr id="24610" name="连接符: 曲线 24609">
              <a:extLst>
                <a:ext uri="{FF2B5EF4-FFF2-40B4-BE49-F238E27FC236}">
                  <a16:creationId xmlns:a16="http://schemas.microsoft.com/office/drawing/2014/main" id="{B15E05FD-F73F-470D-B679-F81BB0FB809E}"/>
                </a:ext>
              </a:extLst>
            </p:cNvPr>
            <p:cNvCxnSpPr>
              <a:endCxn id="10" idx="0"/>
            </p:cNvCxnSpPr>
            <p:nvPr/>
          </p:nvCxnSpPr>
          <p:spPr bwMode="auto">
            <a:xfrm rot="16200000" flipH="1">
              <a:off x="1488830" y="3314395"/>
              <a:ext cx="806208" cy="767534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612" name="连接符: 曲线 24611">
              <a:extLst>
                <a:ext uri="{FF2B5EF4-FFF2-40B4-BE49-F238E27FC236}">
                  <a16:creationId xmlns:a16="http://schemas.microsoft.com/office/drawing/2014/main" id="{186B8D22-144E-4EFB-BCF2-C5D17983124E}"/>
                </a:ext>
              </a:extLst>
            </p:cNvPr>
            <p:cNvCxnSpPr>
              <a:endCxn id="3" idx="4"/>
            </p:cNvCxnSpPr>
            <p:nvPr/>
          </p:nvCxnSpPr>
          <p:spPr bwMode="auto">
            <a:xfrm rot="16200000" flipV="1">
              <a:off x="1207986" y="3435523"/>
              <a:ext cx="847581" cy="566654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9A2E367-2C0E-4263-8901-310971561606}"/>
                  </a:ext>
                </a:extLst>
              </p:cNvPr>
              <p:cNvSpPr txBox="1"/>
              <p:nvPr/>
            </p:nvSpPr>
            <p:spPr>
              <a:xfrm>
                <a:off x="-766147" y="5397653"/>
                <a:ext cx="4726304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 baseline="3000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9A2E367-2C0E-4263-8901-310971561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6147" y="5397653"/>
                <a:ext cx="4726304" cy="12317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C20C0D4-0E9D-4387-8BC0-5349A4F02FEF}"/>
                  </a:ext>
                </a:extLst>
              </p:cNvPr>
              <p:cNvSpPr txBox="1"/>
              <p:nvPr/>
            </p:nvSpPr>
            <p:spPr>
              <a:xfrm>
                <a:off x="3230816" y="3795346"/>
                <a:ext cx="4968552" cy="1433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CN" sz="3200">
                          <a:latin typeface="Cambria Math" panose="02040503050406030204" pitchFamily="18" charset="0"/>
                        </a:rPr>
                        <m:t>path</m:t>
                      </m:r>
                      <m:r>
                        <a:rPr lang="en-US" altLang="zh-CN" sz="320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𝒂𝒃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𝒂𝒄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𝒃𝒂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𝒃𝒄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𝒄𝒂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""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C20C0D4-0E9D-4387-8BC0-5349A4F02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816" y="3795346"/>
                <a:ext cx="4968552" cy="1433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2264460C-C9CB-416B-8F09-FC2A8DA05E5E}"/>
              </a:ext>
            </a:extLst>
          </p:cNvPr>
          <p:cNvSpPr txBox="1"/>
          <p:nvPr/>
        </p:nvSpPr>
        <p:spPr>
          <a:xfrm>
            <a:off x="411698" y="1301345"/>
            <a:ext cx="8383559" cy="82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zh-CN" altLang="en-US" sz="2800" i="0" dirty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800" i="0" dirty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800" i="0" dirty="0"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2800" i="0" dirty="0">
                <a:latin typeface="黑体" pitchFamily="49" charset="-122"/>
                <a:ea typeface="黑体" pitchFamily="49" charset="-122"/>
              </a:rPr>
              <a:t>k=0, 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D</a:t>
            </a:r>
            <a:r>
              <a:rPr lang="en-US" altLang="zh-CN" sz="2800" b="1" i="0" baseline="30000" dirty="0">
                <a:latin typeface="黑体" pitchFamily="49" charset="-122"/>
                <a:ea typeface="黑体" pitchFamily="49" charset="-122"/>
              </a:rPr>
              <a:t>0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][j] = min{D</a:t>
            </a:r>
            <a:r>
              <a:rPr lang="en-US" altLang="zh-CN" sz="2800" b="1" i="0" baseline="30000" dirty="0">
                <a:latin typeface="黑体" pitchFamily="49" charset="-122"/>
                <a:ea typeface="黑体" pitchFamily="49" charset="-122"/>
              </a:rPr>
              <a:t>-1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][j],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                       D</a:t>
            </a:r>
            <a:r>
              <a:rPr lang="en-US" altLang="zh-CN" sz="2800" b="1" i="0" baseline="30000" dirty="0">
                <a:latin typeface="黑体" pitchFamily="49" charset="-122"/>
                <a:ea typeface="黑体" pitchFamily="49" charset="-122"/>
              </a:rPr>
              <a:t>-1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][0]+D</a:t>
            </a:r>
            <a:r>
              <a:rPr lang="en-US" altLang="zh-CN" sz="2800" b="1" i="0" baseline="30000" dirty="0">
                <a:latin typeface="黑体" pitchFamily="49" charset="-122"/>
                <a:ea typeface="黑体" pitchFamily="49" charset="-122"/>
              </a:rPr>
              <a:t>-1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[0][j]},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C38BCBC5-6F5B-4B68-AFEE-47383FF4DFE8}"/>
              </a:ext>
            </a:extLst>
          </p:cNvPr>
          <p:cNvSpPr/>
          <p:nvPr/>
        </p:nvSpPr>
        <p:spPr bwMode="auto">
          <a:xfrm>
            <a:off x="6632768" y="2184264"/>
            <a:ext cx="2151856" cy="503007"/>
          </a:xfrm>
          <a:prstGeom prst="ellipse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DC72D92-84BE-44F6-9B1B-71FA115C2E0A}"/>
                  </a:ext>
                </a:extLst>
              </p:cNvPr>
              <p:cNvSpPr txBox="1"/>
              <p:nvPr/>
            </p:nvSpPr>
            <p:spPr>
              <a:xfrm>
                <a:off x="3419872" y="5296599"/>
                <a:ext cx="4968552" cy="1433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CN" sz="3200">
                          <a:latin typeface="Cambria Math" panose="02040503050406030204" pitchFamily="18" charset="0"/>
                        </a:rPr>
                        <m:t>path</m:t>
                      </m:r>
                      <m:r>
                        <a:rPr lang="en-US" altLang="zh-CN" sz="320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𝒂𝒃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𝒂𝒄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𝒃𝒂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𝒃𝒂𝒃</m:t>
                                </m:r>
                              </m:e>
                              <m:e>
                                <m: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  <m:t>𝒃𝒄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DC72D92-84BE-44F6-9B1B-71FA115C2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5296599"/>
                <a:ext cx="4968552" cy="14338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椭圆 29">
            <a:extLst>
              <a:ext uri="{FF2B5EF4-FFF2-40B4-BE49-F238E27FC236}">
                <a16:creationId xmlns:a16="http://schemas.microsoft.com/office/drawing/2014/main" id="{8B57A258-AD7C-4DE6-BC37-15D1F3C15247}"/>
              </a:ext>
            </a:extLst>
          </p:cNvPr>
          <p:cNvSpPr/>
          <p:nvPr/>
        </p:nvSpPr>
        <p:spPr bwMode="auto">
          <a:xfrm>
            <a:off x="4052096" y="2712071"/>
            <a:ext cx="444688" cy="42889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6ED01B95-2203-43E4-B60E-ACAD865BD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34" y="159229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Floyd</a:t>
            </a: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算法实例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8B897E-EB00-6744-AD19-2FFFD2122D34}"/>
              </a:ext>
            </a:extLst>
          </p:cNvPr>
          <p:cNvSpPr txBox="1"/>
          <p:nvPr/>
        </p:nvSpPr>
        <p:spPr>
          <a:xfrm>
            <a:off x="324996" y="4733317"/>
            <a:ext cx="2197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N" sz="2800" i="0" dirty="0">
                <a:latin typeface="+mn-ea"/>
                <a:ea typeface="+mn-ea"/>
              </a:rPr>
              <a:t>i=1,第</a:t>
            </a:r>
            <a:r>
              <a:rPr lang="en-US" altLang="zh-CN" sz="2800" i="0" dirty="0">
                <a:latin typeface="+mn-ea"/>
                <a:ea typeface="+mn-ea"/>
              </a:rPr>
              <a:t>1</a:t>
            </a:r>
            <a:r>
              <a:rPr lang="en-CN" sz="2800" i="0" dirty="0">
                <a:latin typeface="+mn-ea"/>
                <a:ea typeface="+mn-ea"/>
              </a:rPr>
              <a:t>行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9D3A70-CE5A-FBC1-C94D-70BB846AE35E}"/>
              </a:ext>
            </a:extLst>
          </p:cNvPr>
          <p:cNvCxnSpPr/>
          <p:nvPr/>
        </p:nvCxnSpPr>
        <p:spPr bwMode="auto">
          <a:xfrm>
            <a:off x="4572000" y="2126186"/>
            <a:ext cx="338437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89716885"/>
      </p:ext>
    </p:extLst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 animBg="1"/>
      <p:bldP spid="29" grpId="0"/>
      <p:bldP spid="3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fld id="{8036945F-8F01-4570-9F26-6169BC60FD96}" type="slidenum">
              <a:rPr lang="zh-CN" altLang="en-US"/>
              <a:pPr algn="r" eaLnBrk="1" hangingPunct="1">
                <a:spcBef>
                  <a:spcPct val="50000"/>
                </a:spcBef>
              </a:pPr>
              <a:t>34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08" name="文本框 24607">
                <a:extLst>
                  <a:ext uri="{FF2B5EF4-FFF2-40B4-BE49-F238E27FC236}">
                    <a16:creationId xmlns:a16="http://schemas.microsoft.com/office/drawing/2014/main" id="{BF9D2CB3-ACF7-42DF-A8A3-211D2A17BFC8}"/>
                  </a:ext>
                </a:extLst>
              </p:cNvPr>
              <p:cNvSpPr txBox="1"/>
              <p:nvPr/>
            </p:nvSpPr>
            <p:spPr>
              <a:xfrm>
                <a:off x="4221502" y="2220351"/>
                <a:ext cx="5616624" cy="123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∞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b="0" i="0" dirty="0">
                    <a:latin typeface="+mn-ea"/>
                    <a:ea typeface="+mn-ea"/>
                  </a:rPr>
                  <a:t>+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∞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800" b="0" i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4608" name="文本框 24607">
                <a:extLst>
                  <a:ext uri="{FF2B5EF4-FFF2-40B4-BE49-F238E27FC236}">
                    <a16:creationId xmlns:a16="http://schemas.microsoft.com/office/drawing/2014/main" id="{BF9D2CB3-ACF7-42DF-A8A3-211D2A17B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502" y="2220351"/>
                <a:ext cx="5616624" cy="1231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4F6C541F-B29D-42EB-AB90-2136F03177DD}"/>
              </a:ext>
            </a:extLst>
          </p:cNvPr>
          <p:cNvGrpSpPr/>
          <p:nvPr/>
        </p:nvGrpSpPr>
        <p:grpSpPr>
          <a:xfrm>
            <a:off x="199109" y="2274872"/>
            <a:ext cx="3454575" cy="2378066"/>
            <a:chOff x="827584" y="2329109"/>
            <a:chExt cx="3454575" cy="2378066"/>
          </a:xfrm>
        </p:grpSpPr>
        <p:sp>
          <p:nvSpPr>
            <p:cNvPr id="3" name="椭圆 2" descr="V">
              <a:extLst>
                <a:ext uri="{FF2B5EF4-FFF2-40B4-BE49-F238E27FC236}">
                  <a16:creationId xmlns:a16="http://schemas.microsoft.com/office/drawing/2014/main" id="{CC27CB3D-352F-4C30-BCCB-2DF710A35928}"/>
                </a:ext>
              </a:extLst>
            </p:cNvPr>
            <p:cNvSpPr/>
            <p:nvPr/>
          </p:nvSpPr>
          <p:spPr bwMode="auto">
            <a:xfrm>
              <a:off x="987851" y="2689150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800" i="0" dirty="0"/>
                <a:t>a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椭圆 8" descr="V">
              <a:extLst>
                <a:ext uri="{FF2B5EF4-FFF2-40B4-BE49-F238E27FC236}">
                  <a16:creationId xmlns:a16="http://schemas.microsoft.com/office/drawing/2014/main" id="{68657903-33DE-4925-BAB4-90A844979C44}"/>
                </a:ext>
              </a:extLst>
            </p:cNvPr>
            <p:cNvSpPr/>
            <p:nvPr/>
          </p:nvSpPr>
          <p:spPr bwMode="auto">
            <a:xfrm>
              <a:off x="3460523" y="2689150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b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椭圆 9" descr="V">
              <a:extLst>
                <a:ext uri="{FF2B5EF4-FFF2-40B4-BE49-F238E27FC236}">
                  <a16:creationId xmlns:a16="http://schemas.microsoft.com/office/drawing/2014/main" id="{CE2BAF37-FAC0-4AB9-AD2E-832687F34352}"/>
                </a:ext>
              </a:extLst>
            </p:cNvPr>
            <p:cNvSpPr/>
            <p:nvPr/>
          </p:nvSpPr>
          <p:spPr bwMode="auto">
            <a:xfrm>
              <a:off x="1915103" y="4101266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C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6" name="连接符: 曲线 5">
              <a:extLst>
                <a:ext uri="{FF2B5EF4-FFF2-40B4-BE49-F238E27FC236}">
                  <a16:creationId xmlns:a16="http://schemas.microsoft.com/office/drawing/2014/main" id="{66279F35-2907-4372-8275-03A72B6674FD}"/>
                </a:ext>
              </a:extLst>
            </p:cNvPr>
            <p:cNvCxnSpPr>
              <a:stCxn id="3" idx="7"/>
              <a:endCxn id="9" idx="1"/>
            </p:cNvCxnSpPr>
            <p:nvPr/>
          </p:nvCxnSpPr>
          <p:spPr bwMode="auto">
            <a:xfrm rot="5400000" flipH="1" flipV="1">
              <a:off x="2587520" y="1796529"/>
              <a:ext cx="12700" cy="1962709"/>
            </a:xfrm>
            <a:prstGeom prst="curvedConnector3">
              <a:avLst>
                <a:gd name="adj1" fmla="val 249868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连接符: 曲线 10">
              <a:extLst>
                <a:ext uri="{FF2B5EF4-FFF2-40B4-BE49-F238E27FC236}">
                  <a16:creationId xmlns:a16="http://schemas.microsoft.com/office/drawing/2014/main" id="{41394B4B-0688-43E7-9697-8C027CDA671A}"/>
                </a:ext>
              </a:extLst>
            </p:cNvPr>
            <p:cNvCxnSpPr>
              <a:stCxn id="9" idx="3"/>
              <a:endCxn id="3" idx="5"/>
            </p:cNvCxnSpPr>
            <p:nvPr/>
          </p:nvCxnSpPr>
          <p:spPr bwMode="auto">
            <a:xfrm rot="5400000">
              <a:off x="2587520" y="2224972"/>
              <a:ext cx="12700" cy="1962709"/>
            </a:xfrm>
            <a:prstGeom prst="curvedConnector3">
              <a:avLst>
                <a:gd name="adj1" fmla="val 249868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连接符: 曲线 34">
              <a:extLst>
                <a:ext uri="{FF2B5EF4-FFF2-40B4-BE49-F238E27FC236}">
                  <a16:creationId xmlns:a16="http://schemas.microsoft.com/office/drawing/2014/main" id="{9D61AA15-7A74-48F4-8521-37CF2DF9545F}"/>
                </a:ext>
              </a:extLst>
            </p:cNvPr>
            <p:cNvCxnSpPr>
              <a:stCxn id="9" idx="4"/>
              <a:endCxn id="10" idx="6"/>
            </p:cNvCxnSpPr>
            <p:nvPr/>
          </p:nvCxnSpPr>
          <p:spPr bwMode="auto">
            <a:xfrm rot="5400000">
              <a:off x="2674129" y="3257229"/>
              <a:ext cx="1109162" cy="1184822"/>
            </a:xfrm>
            <a:prstGeom prst="curved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606" name="文本框 24605">
              <a:extLst>
                <a:ext uri="{FF2B5EF4-FFF2-40B4-BE49-F238E27FC236}">
                  <a16:creationId xmlns:a16="http://schemas.microsoft.com/office/drawing/2014/main" id="{12F93FEA-2ABE-438D-B092-01882B06F6B7}"/>
                </a:ext>
              </a:extLst>
            </p:cNvPr>
            <p:cNvSpPr txBox="1"/>
            <p:nvPr/>
          </p:nvSpPr>
          <p:spPr>
            <a:xfrm>
              <a:off x="2329803" y="2329109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4</a:t>
              </a:r>
              <a:endParaRPr lang="zh-CN" altLang="en-US" sz="2800" i="0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667B5C3F-F448-4E4D-96FB-994F357B4BCE}"/>
                </a:ext>
              </a:extLst>
            </p:cNvPr>
            <p:cNvSpPr txBox="1"/>
            <p:nvPr/>
          </p:nvSpPr>
          <p:spPr>
            <a:xfrm>
              <a:off x="2225480" y="3078662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6</a:t>
              </a:r>
              <a:endParaRPr lang="zh-CN" altLang="en-US" sz="2800" i="0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E167EEB9-6386-4ABD-9774-79B209A7BCA5}"/>
                </a:ext>
              </a:extLst>
            </p:cNvPr>
            <p:cNvSpPr txBox="1"/>
            <p:nvPr/>
          </p:nvSpPr>
          <p:spPr>
            <a:xfrm>
              <a:off x="3460523" y="3561442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2</a:t>
              </a:r>
              <a:endParaRPr lang="zh-CN" altLang="en-US" sz="2800" i="0" dirty="0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193AA48F-FB88-40EB-AAB1-C35D9C7138E5}"/>
                </a:ext>
              </a:extLst>
            </p:cNvPr>
            <p:cNvSpPr txBox="1"/>
            <p:nvPr/>
          </p:nvSpPr>
          <p:spPr>
            <a:xfrm>
              <a:off x="1508167" y="3341390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11</a:t>
              </a:r>
              <a:endParaRPr lang="zh-CN" altLang="en-US" sz="2800" i="0" dirty="0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C210EDE6-8FFD-4CC5-A822-05A0861F5677}"/>
                </a:ext>
              </a:extLst>
            </p:cNvPr>
            <p:cNvSpPr txBox="1"/>
            <p:nvPr/>
          </p:nvSpPr>
          <p:spPr>
            <a:xfrm>
              <a:off x="827584" y="3619420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3</a:t>
              </a:r>
              <a:endParaRPr lang="zh-CN" altLang="en-US" sz="2800" i="0" dirty="0"/>
            </a:p>
          </p:txBody>
        </p:sp>
        <p:cxnSp>
          <p:nvCxnSpPr>
            <p:cNvPr id="24610" name="连接符: 曲线 24609">
              <a:extLst>
                <a:ext uri="{FF2B5EF4-FFF2-40B4-BE49-F238E27FC236}">
                  <a16:creationId xmlns:a16="http://schemas.microsoft.com/office/drawing/2014/main" id="{B15E05FD-F73F-470D-B679-F81BB0FB809E}"/>
                </a:ext>
              </a:extLst>
            </p:cNvPr>
            <p:cNvCxnSpPr>
              <a:endCxn id="10" idx="0"/>
            </p:cNvCxnSpPr>
            <p:nvPr/>
          </p:nvCxnSpPr>
          <p:spPr bwMode="auto">
            <a:xfrm rot="16200000" flipH="1">
              <a:off x="1488830" y="3314395"/>
              <a:ext cx="806208" cy="767534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612" name="连接符: 曲线 24611">
              <a:extLst>
                <a:ext uri="{FF2B5EF4-FFF2-40B4-BE49-F238E27FC236}">
                  <a16:creationId xmlns:a16="http://schemas.microsoft.com/office/drawing/2014/main" id="{186B8D22-144E-4EFB-BCF2-C5D17983124E}"/>
                </a:ext>
              </a:extLst>
            </p:cNvPr>
            <p:cNvCxnSpPr>
              <a:endCxn id="3" idx="4"/>
            </p:cNvCxnSpPr>
            <p:nvPr/>
          </p:nvCxnSpPr>
          <p:spPr bwMode="auto">
            <a:xfrm rot="16200000" flipV="1">
              <a:off x="1207986" y="3435523"/>
              <a:ext cx="847581" cy="566654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9A2E367-2C0E-4263-8901-310971561606}"/>
                  </a:ext>
                </a:extLst>
              </p:cNvPr>
              <p:cNvSpPr txBox="1"/>
              <p:nvPr/>
            </p:nvSpPr>
            <p:spPr>
              <a:xfrm>
                <a:off x="-766147" y="5397653"/>
                <a:ext cx="4726304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m:rPr>
                          <m:sty m:val="p"/>
                        </m:rPr>
                        <a:rPr lang="en-US" altLang="zh-CN" sz="2800" b="0" i="0">
                          <a:latin typeface="Cambria Math" panose="02040503050406030204" pitchFamily="18" charset="0"/>
                          <a:ea typeface="+mn-ea"/>
                        </a:rPr>
                        <m:t>D</m:t>
                      </m:r>
                      <m:r>
                        <a:rPr lang="en-US" altLang="zh-CN" sz="2800" b="0" i="0" baseline="30000" smtClean="0">
                          <a:latin typeface="Cambria Math" panose="02040503050406030204" pitchFamily="18" charset="0"/>
                          <a:ea typeface="+mn-ea"/>
                        </a:rPr>
                        <m:t>0</m:t>
                      </m:r>
                      <m:r>
                        <a:rPr lang="en-US" altLang="zh-CN" sz="2800" b="0" i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b="0" i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0" i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9A2E367-2C0E-4263-8901-310971561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6147" y="5397653"/>
                <a:ext cx="4726304" cy="12317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C20C0D4-0E9D-4387-8BC0-5349A4F02FEF}"/>
                  </a:ext>
                </a:extLst>
              </p:cNvPr>
              <p:cNvSpPr txBox="1"/>
              <p:nvPr/>
            </p:nvSpPr>
            <p:spPr>
              <a:xfrm>
                <a:off x="3409424" y="3646664"/>
                <a:ext cx="4968552" cy="12404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+mn-ea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CN" sz="2800" b="0" i="0">
                          <a:latin typeface="Cambria Math" panose="02040503050406030204" pitchFamily="18" charset="0"/>
                          <a:ea typeface="+mn-ea"/>
                        </a:rPr>
                        <m:t>path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ac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ba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ca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""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0" i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C20C0D4-0E9D-4387-8BC0-5349A4F02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424" y="3646664"/>
                <a:ext cx="4968552" cy="12404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2264460C-C9CB-416B-8F09-FC2A8DA05E5E}"/>
              </a:ext>
            </a:extLst>
          </p:cNvPr>
          <p:cNvSpPr txBox="1"/>
          <p:nvPr/>
        </p:nvSpPr>
        <p:spPr>
          <a:xfrm>
            <a:off x="411698" y="1301345"/>
            <a:ext cx="8383559" cy="82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zh-CN" altLang="en-US" sz="2800" i="0" dirty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800" i="0" dirty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800" i="0" dirty="0"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2800" i="0" dirty="0">
                <a:latin typeface="黑体" pitchFamily="49" charset="-122"/>
                <a:ea typeface="黑体" pitchFamily="49" charset="-122"/>
              </a:rPr>
              <a:t>k=0, 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D</a:t>
            </a:r>
            <a:r>
              <a:rPr lang="en-US" altLang="zh-CN" sz="2800" b="1" i="0" baseline="30000" dirty="0">
                <a:latin typeface="黑体" pitchFamily="49" charset="-122"/>
                <a:ea typeface="黑体" pitchFamily="49" charset="-122"/>
              </a:rPr>
              <a:t>0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][j] = min{D</a:t>
            </a:r>
            <a:r>
              <a:rPr lang="en-US" altLang="zh-CN" sz="2800" b="1" i="0" baseline="30000" dirty="0">
                <a:latin typeface="黑体" pitchFamily="49" charset="-122"/>
                <a:ea typeface="黑体" pitchFamily="49" charset="-122"/>
              </a:rPr>
              <a:t>-1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][j],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                       D</a:t>
            </a:r>
            <a:r>
              <a:rPr lang="en-US" altLang="zh-CN" sz="2800" b="1" i="0" baseline="30000" dirty="0">
                <a:latin typeface="黑体" pitchFamily="49" charset="-122"/>
                <a:ea typeface="黑体" pitchFamily="49" charset="-122"/>
              </a:rPr>
              <a:t>-1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][0]+D</a:t>
            </a:r>
            <a:r>
              <a:rPr lang="en-US" altLang="zh-CN" sz="2800" b="1" i="0" baseline="30000" dirty="0">
                <a:latin typeface="黑体" pitchFamily="49" charset="-122"/>
                <a:ea typeface="黑体" pitchFamily="49" charset="-122"/>
              </a:rPr>
              <a:t>-1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[0][j]},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C38BCBC5-6F5B-4B68-AFEE-47383FF4DFE8}"/>
              </a:ext>
            </a:extLst>
          </p:cNvPr>
          <p:cNvSpPr/>
          <p:nvPr/>
        </p:nvSpPr>
        <p:spPr bwMode="auto">
          <a:xfrm>
            <a:off x="6632768" y="2184264"/>
            <a:ext cx="2151856" cy="503007"/>
          </a:xfrm>
          <a:prstGeom prst="ellipse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DC72D92-84BE-44F6-9B1B-71FA115C2E0A}"/>
                  </a:ext>
                </a:extLst>
              </p:cNvPr>
              <p:cNvSpPr txBox="1"/>
              <p:nvPr/>
            </p:nvSpPr>
            <p:spPr>
              <a:xfrm>
                <a:off x="3419872" y="5296599"/>
                <a:ext cx="4968552" cy="1240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+mn-ea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CN" sz="2800" b="0" i="0">
                          <a:latin typeface="Cambria Math" panose="02040503050406030204" pitchFamily="18" charset="0"/>
                          <a:ea typeface="+mn-ea"/>
                        </a:rPr>
                        <m:t>path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ac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ca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cab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cac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0" i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DC72D92-84BE-44F6-9B1B-71FA115C2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5296599"/>
                <a:ext cx="4968552" cy="12405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椭圆 29">
            <a:extLst>
              <a:ext uri="{FF2B5EF4-FFF2-40B4-BE49-F238E27FC236}">
                <a16:creationId xmlns:a16="http://schemas.microsoft.com/office/drawing/2014/main" id="{8B57A258-AD7C-4DE6-BC37-15D1F3C15247}"/>
              </a:ext>
            </a:extLst>
          </p:cNvPr>
          <p:cNvSpPr/>
          <p:nvPr/>
        </p:nvSpPr>
        <p:spPr bwMode="auto">
          <a:xfrm>
            <a:off x="4422944" y="3026372"/>
            <a:ext cx="444688" cy="42889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6ED01B95-2203-43E4-B60E-ACAD865BD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34" y="159229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Floyd</a:t>
            </a: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算法实例</a:t>
            </a:r>
          </a:p>
        </p:txBody>
      </p:sp>
      <p:sp>
        <p:nvSpPr>
          <p:cNvPr id="25" name="对话气泡: 圆角矩形 24">
            <a:extLst>
              <a:ext uri="{FF2B5EF4-FFF2-40B4-BE49-F238E27FC236}">
                <a16:creationId xmlns:a16="http://schemas.microsoft.com/office/drawing/2014/main" id="{F2818A5F-6483-45A5-A5D7-F36C7BB73DE8}"/>
              </a:ext>
            </a:extLst>
          </p:cNvPr>
          <p:cNvSpPr/>
          <p:nvPr/>
        </p:nvSpPr>
        <p:spPr bwMode="auto">
          <a:xfrm>
            <a:off x="5084709" y="49872"/>
            <a:ext cx="3855942" cy="1430179"/>
          </a:xfrm>
          <a:prstGeom prst="wedgeRoundRectCallout">
            <a:avLst>
              <a:gd name="adj1" fmla="val -67975"/>
              <a:gd name="adj2" fmla="val 141497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为何第一列，第一行？各顶点到</a:t>
            </a:r>
            <a:r>
              <a:rPr lang="en-US" altLang="zh-CN" sz="2800" b="0" i="0" dirty="0">
                <a:latin typeface="+mn-ea"/>
                <a:ea typeface="+mn-ea"/>
              </a:rPr>
              <a:t>a(</a:t>
            </a:r>
            <a:r>
              <a:rPr lang="zh-CN" altLang="en-US" sz="2800" b="0" i="0" dirty="0">
                <a:latin typeface="+mn-ea"/>
                <a:ea typeface="+mn-ea"/>
              </a:rPr>
              <a:t>第一列</a:t>
            </a:r>
            <a:r>
              <a:rPr lang="en-US" altLang="zh-CN" sz="2800" b="0" i="0" dirty="0">
                <a:latin typeface="+mn-ea"/>
                <a:ea typeface="+mn-ea"/>
              </a:rPr>
              <a:t>), a</a:t>
            </a:r>
            <a:r>
              <a:rPr lang="zh-CN" altLang="en-US" sz="2800" b="0" i="0" dirty="0">
                <a:latin typeface="+mn-ea"/>
                <a:ea typeface="+mn-ea"/>
              </a:rPr>
              <a:t>到各顶点</a:t>
            </a:r>
            <a:r>
              <a:rPr lang="en-US" altLang="zh-CN" sz="2800" b="0" i="0" dirty="0">
                <a:latin typeface="+mn-ea"/>
                <a:ea typeface="+mn-ea"/>
              </a:rPr>
              <a:t>(</a:t>
            </a:r>
            <a:r>
              <a:rPr lang="zh-CN" altLang="en-US" sz="2800" b="0" i="0" dirty="0">
                <a:latin typeface="+mn-ea"/>
                <a:ea typeface="+mn-ea"/>
              </a:rPr>
              <a:t>第一行）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C5F59D-05D8-16FB-1507-2162E8DBC5AD}"/>
              </a:ext>
            </a:extLst>
          </p:cNvPr>
          <p:cNvCxnSpPr/>
          <p:nvPr/>
        </p:nvCxnSpPr>
        <p:spPr bwMode="auto">
          <a:xfrm>
            <a:off x="4572000" y="2126186"/>
            <a:ext cx="338437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ED8ECEC-5B51-7A9C-3E50-80C8D9E35C8B}"/>
              </a:ext>
            </a:extLst>
          </p:cNvPr>
          <p:cNvSpPr txBox="1"/>
          <p:nvPr/>
        </p:nvSpPr>
        <p:spPr>
          <a:xfrm>
            <a:off x="324996" y="4733317"/>
            <a:ext cx="2197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N" sz="2800" i="0" dirty="0">
                <a:latin typeface="+mn-ea"/>
                <a:ea typeface="+mn-ea"/>
              </a:rPr>
              <a:t>i=</a:t>
            </a:r>
            <a:r>
              <a:rPr lang="en-US" altLang="zh-CN" sz="2800" i="0" dirty="0">
                <a:latin typeface="+mn-ea"/>
                <a:ea typeface="+mn-ea"/>
              </a:rPr>
              <a:t>2</a:t>
            </a:r>
            <a:r>
              <a:rPr lang="en-CN" sz="2800" i="0" dirty="0">
                <a:latin typeface="+mn-ea"/>
                <a:ea typeface="+mn-ea"/>
              </a:rPr>
              <a:t>,第</a:t>
            </a:r>
            <a:r>
              <a:rPr lang="en-US" altLang="zh-CN" sz="2800" i="0" dirty="0">
                <a:latin typeface="+mn-ea"/>
                <a:ea typeface="+mn-ea"/>
              </a:rPr>
              <a:t>2</a:t>
            </a:r>
            <a:r>
              <a:rPr lang="en-CN" sz="2800" i="0" dirty="0">
                <a:latin typeface="+mn-ea"/>
                <a:ea typeface="+mn-ea"/>
              </a:rPr>
              <a:t>行</a:t>
            </a:r>
          </a:p>
        </p:txBody>
      </p:sp>
    </p:spTree>
    <p:extLst>
      <p:ext uri="{BB962C8B-B14F-4D97-AF65-F5344CB8AC3E}">
        <p14:creationId xmlns:p14="http://schemas.microsoft.com/office/powerpoint/2010/main" val="1980518402"/>
      </p:ext>
    </p:extLst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 animBg="1"/>
      <p:bldP spid="29" grpId="0"/>
      <p:bldP spid="30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fld id="{8036945F-8F01-4570-9F26-6169BC60FD96}" type="slidenum">
              <a:rPr lang="zh-CN" altLang="en-US"/>
              <a:pPr algn="r" eaLnBrk="1" hangingPunct="1">
                <a:spcBef>
                  <a:spcPct val="50000"/>
                </a:spcBef>
              </a:pPr>
              <a:t>35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08" name="文本框 24607">
                <a:extLst>
                  <a:ext uri="{FF2B5EF4-FFF2-40B4-BE49-F238E27FC236}">
                    <a16:creationId xmlns:a16="http://schemas.microsoft.com/office/drawing/2014/main" id="{BF9D2CB3-ACF7-42DF-A8A3-211D2A17BFC8}"/>
                  </a:ext>
                </a:extLst>
              </p:cNvPr>
              <p:cNvSpPr txBox="1"/>
              <p:nvPr/>
            </p:nvSpPr>
            <p:spPr>
              <a:xfrm>
                <a:off x="3851920" y="2206016"/>
                <a:ext cx="5616624" cy="123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b="0" i="0" dirty="0">
                    <a:latin typeface="+mn-ea"/>
                    <a:ea typeface="+mn-ea"/>
                  </a:rPr>
                  <a:t>+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800" b="0" i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4608" name="文本框 24607">
                <a:extLst>
                  <a:ext uri="{FF2B5EF4-FFF2-40B4-BE49-F238E27FC236}">
                    <a16:creationId xmlns:a16="http://schemas.microsoft.com/office/drawing/2014/main" id="{BF9D2CB3-ACF7-42DF-A8A3-211D2A17B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2206016"/>
                <a:ext cx="5616624" cy="1231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4F6C541F-B29D-42EB-AB90-2136F03177DD}"/>
              </a:ext>
            </a:extLst>
          </p:cNvPr>
          <p:cNvGrpSpPr/>
          <p:nvPr/>
        </p:nvGrpSpPr>
        <p:grpSpPr>
          <a:xfrm>
            <a:off x="199109" y="2274872"/>
            <a:ext cx="3454575" cy="2378066"/>
            <a:chOff x="827584" y="2329109"/>
            <a:chExt cx="3454575" cy="2378066"/>
          </a:xfrm>
        </p:grpSpPr>
        <p:sp>
          <p:nvSpPr>
            <p:cNvPr id="3" name="椭圆 2" descr="V">
              <a:extLst>
                <a:ext uri="{FF2B5EF4-FFF2-40B4-BE49-F238E27FC236}">
                  <a16:creationId xmlns:a16="http://schemas.microsoft.com/office/drawing/2014/main" id="{CC27CB3D-352F-4C30-BCCB-2DF710A35928}"/>
                </a:ext>
              </a:extLst>
            </p:cNvPr>
            <p:cNvSpPr/>
            <p:nvPr/>
          </p:nvSpPr>
          <p:spPr bwMode="auto">
            <a:xfrm>
              <a:off x="987851" y="2689150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800" i="0" dirty="0"/>
                <a:t>a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椭圆 8" descr="V">
              <a:extLst>
                <a:ext uri="{FF2B5EF4-FFF2-40B4-BE49-F238E27FC236}">
                  <a16:creationId xmlns:a16="http://schemas.microsoft.com/office/drawing/2014/main" id="{68657903-33DE-4925-BAB4-90A844979C44}"/>
                </a:ext>
              </a:extLst>
            </p:cNvPr>
            <p:cNvSpPr/>
            <p:nvPr/>
          </p:nvSpPr>
          <p:spPr bwMode="auto">
            <a:xfrm>
              <a:off x="3460523" y="2689150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b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椭圆 9" descr="V">
              <a:extLst>
                <a:ext uri="{FF2B5EF4-FFF2-40B4-BE49-F238E27FC236}">
                  <a16:creationId xmlns:a16="http://schemas.microsoft.com/office/drawing/2014/main" id="{CE2BAF37-FAC0-4AB9-AD2E-832687F34352}"/>
                </a:ext>
              </a:extLst>
            </p:cNvPr>
            <p:cNvSpPr/>
            <p:nvPr/>
          </p:nvSpPr>
          <p:spPr bwMode="auto">
            <a:xfrm>
              <a:off x="1915103" y="4101266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C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6" name="连接符: 曲线 5">
              <a:extLst>
                <a:ext uri="{FF2B5EF4-FFF2-40B4-BE49-F238E27FC236}">
                  <a16:creationId xmlns:a16="http://schemas.microsoft.com/office/drawing/2014/main" id="{66279F35-2907-4372-8275-03A72B6674FD}"/>
                </a:ext>
              </a:extLst>
            </p:cNvPr>
            <p:cNvCxnSpPr>
              <a:stCxn id="3" idx="7"/>
              <a:endCxn id="9" idx="1"/>
            </p:cNvCxnSpPr>
            <p:nvPr/>
          </p:nvCxnSpPr>
          <p:spPr bwMode="auto">
            <a:xfrm rot="5400000" flipH="1" flipV="1">
              <a:off x="2587520" y="1796529"/>
              <a:ext cx="12700" cy="1962709"/>
            </a:xfrm>
            <a:prstGeom prst="curvedConnector3">
              <a:avLst>
                <a:gd name="adj1" fmla="val 249868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连接符: 曲线 10">
              <a:extLst>
                <a:ext uri="{FF2B5EF4-FFF2-40B4-BE49-F238E27FC236}">
                  <a16:creationId xmlns:a16="http://schemas.microsoft.com/office/drawing/2014/main" id="{41394B4B-0688-43E7-9697-8C027CDA671A}"/>
                </a:ext>
              </a:extLst>
            </p:cNvPr>
            <p:cNvCxnSpPr>
              <a:stCxn id="9" idx="3"/>
              <a:endCxn id="3" idx="5"/>
            </p:cNvCxnSpPr>
            <p:nvPr/>
          </p:nvCxnSpPr>
          <p:spPr bwMode="auto">
            <a:xfrm rot="5400000">
              <a:off x="2587520" y="2224972"/>
              <a:ext cx="12700" cy="1962709"/>
            </a:xfrm>
            <a:prstGeom prst="curvedConnector3">
              <a:avLst>
                <a:gd name="adj1" fmla="val 249868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连接符: 曲线 34">
              <a:extLst>
                <a:ext uri="{FF2B5EF4-FFF2-40B4-BE49-F238E27FC236}">
                  <a16:creationId xmlns:a16="http://schemas.microsoft.com/office/drawing/2014/main" id="{9D61AA15-7A74-48F4-8521-37CF2DF9545F}"/>
                </a:ext>
              </a:extLst>
            </p:cNvPr>
            <p:cNvCxnSpPr>
              <a:stCxn id="9" idx="4"/>
              <a:endCxn id="10" idx="6"/>
            </p:cNvCxnSpPr>
            <p:nvPr/>
          </p:nvCxnSpPr>
          <p:spPr bwMode="auto">
            <a:xfrm rot="5400000">
              <a:off x="2674129" y="3257229"/>
              <a:ext cx="1109162" cy="1184822"/>
            </a:xfrm>
            <a:prstGeom prst="curved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606" name="文本框 24605">
              <a:extLst>
                <a:ext uri="{FF2B5EF4-FFF2-40B4-BE49-F238E27FC236}">
                  <a16:creationId xmlns:a16="http://schemas.microsoft.com/office/drawing/2014/main" id="{12F93FEA-2ABE-438D-B092-01882B06F6B7}"/>
                </a:ext>
              </a:extLst>
            </p:cNvPr>
            <p:cNvSpPr txBox="1"/>
            <p:nvPr/>
          </p:nvSpPr>
          <p:spPr>
            <a:xfrm>
              <a:off x="2329803" y="2329109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4</a:t>
              </a:r>
              <a:endParaRPr lang="zh-CN" altLang="en-US" sz="2800" i="0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667B5C3F-F448-4E4D-96FB-994F357B4BCE}"/>
                </a:ext>
              </a:extLst>
            </p:cNvPr>
            <p:cNvSpPr txBox="1"/>
            <p:nvPr/>
          </p:nvSpPr>
          <p:spPr>
            <a:xfrm>
              <a:off x="2225480" y="3078662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6</a:t>
              </a:r>
              <a:endParaRPr lang="zh-CN" altLang="en-US" sz="2800" i="0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E167EEB9-6386-4ABD-9774-79B209A7BCA5}"/>
                </a:ext>
              </a:extLst>
            </p:cNvPr>
            <p:cNvSpPr txBox="1"/>
            <p:nvPr/>
          </p:nvSpPr>
          <p:spPr>
            <a:xfrm>
              <a:off x="3460523" y="3561442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2</a:t>
              </a:r>
              <a:endParaRPr lang="zh-CN" altLang="en-US" sz="2800" i="0" dirty="0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193AA48F-FB88-40EB-AAB1-C35D9C7138E5}"/>
                </a:ext>
              </a:extLst>
            </p:cNvPr>
            <p:cNvSpPr txBox="1"/>
            <p:nvPr/>
          </p:nvSpPr>
          <p:spPr>
            <a:xfrm>
              <a:off x="1508167" y="3341390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11</a:t>
              </a:r>
              <a:endParaRPr lang="zh-CN" altLang="en-US" sz="2800" i="0" dirty="0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C210EDE6-8FFD-4CC5-A822-05A0861F5677}"/>
                </a:ext>
              </a:extLst>
            </p:cNvPr>
            <p:cNvSpPr txBox="1"/>
            <p:nvPr/>
          </p:nvSpPr>
          <p:spPr>
            <a:xfrm>
              <a:off x="827584" y="3619420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3</a:t>
              </a:r>
              <a:endParaRPr lang="zh-CN" altLang="en-US" sz="2800" i="0" dirty="0"/>
            </a:p>
          </p:txBody>
        </p:sp>
        <p:cxnSp>
          <p:nvCxnSpPr>
            <p:cNvPr id="24610" name="连接符: 曲线 24609">
              <a:extLst>
                <a:ext uri="{FF2B5EF4-FFF2-40B4-BE49-F238E27FC236}">
                  <a16:creationId xmlns:a16="http://schemas.microsoft.com/office/drawing/2014/main" id="{B15E05FD-F73F-470D-B679-F81BB0FB809E}"/>
                </a:ext>
              </a:extLst>
            </p:cNvPr>
            <p:cNvCxnSpPr>
              <a:endCxn id="10" idx="0"/>
            </p:cNvCxnSpPr>
            <p:nvPr/>
          </p:nvCxnSpPr>
          <p:spPr bwMode="auto">
            <a:xfrm rot="16200000" flipH="1">
              <a:off x="1488830" y="3314395"/>
              <a:ext cx="806208" cy="767534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612" name="连接符: 曲线 24611">
              <a:extLst>
                <a:ext uri="{FF2B5EF4-FFF2-40B4-BE49-F238E27FC236}">
                  <a16:creationId xmlns:a16="http://schemas.microsoft.com/office/drawing/2014/main" id="{186B8D22-144E-4EFB-BCF2-C5D17983124E}"/>
                </a:ext>
              </a:extLst>
            </p:cNvPr>
            <p:cNvCxnSpPr>
              <a:endCxn id="3" idx="4"/>
            </p:cNvCxnSpPr>
            <p:nvPr/>
          </p:nvCxnSpPr>
          <p:spPr bwMode="auto">
            <a:xfrm rot="16200000" flipV="1">
              <a:off x="1207986" y="3435523"/>
              <a:ext cx="847581" cy="566654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9A2E367-2C0E-4263-8901-310971561606}"/>
                  </a:ext>
                </a:extLst>
              </p:cNvPr>
              <p:cNvSpPr txBox="1"/>
              <p:nvPr/>
            </p:nvSpPr>
            <p:spPr>
              <a:xfrm>
                <a:off x="-830953" y="5250882"/>
                <a:ext cx="4726304" cy="1268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m:rPr>
                          <m:sty m:val="p"/>
                        </m:rPr>
                        <a:rPr lang="en-US" altLang="zh-CN" sz="2800" b="0" i="0">
                          <a:latin typeface="Cambria Math" panose="02040503050406030204" pitchFamily="18" charset="0"/>
                          <a:ea typeface="+mn-ea"/>
                        </a:rPr>
                        <m:t>D</m:t>
                      </m:r>
                      <m:r>
                        <a:rPr lang="en-US" altLang="zh-CN" sz="2800" b="0" i="0" baseline="30000" smtClean="0">
                          <a:latin typeface="Cambria Math" panose="02040503050406030204" pitchFamily="18" charset="0"/>
                          <a:ea typeface="+mn-ea"/>
                        </a:rPr>
                        <m:t>1</m:t>
                      </m:r>
                      <m:r>
                        <a:rPr lang="en-US" altLang="zh-CN" sz="2800" b="0" i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</m:t>
                                </m:r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altLang="zh-CN" sz="2800" b="0" i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</m:t>
                                </m:r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0" i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9A2E367-2C0E-4263-8901-310971561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0953" y="5250882"/>
                <a:ext cx="4726304" cy="12689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C20C0D4-0E9D-4387-8BC0-5349A4F02FEF}"/>
                  </a:ext>
                </a:extLst>
              </p:cNvPr>
              <p:cNvSpPr txBox="1"/>
              <p:nvPr/>
            </p:nvSpPr>
            <p:spPr>
              <a:xfrm>
                <a:off x="3242866" y="3584895"/>
                <a:ext cx="4968552" cy="1240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CN" sz="2800" b="0" i="0">
                          <a:latin typeface="Cambria Math" panose="02040503050406030204" pitchFamily="18" charset="0"/>
                          <a:ea typeface="+mn-ea"/>
                        </a:rPr>
                        <m:t>path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""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ac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ca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cab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cac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0" i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C20C0D4-0E9D-4387-8BC0-5349A4F02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866" y="3584895"/>
                <a:ext cx="4968552" cy="12407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2264460C-C9CB-416B-8F09-FC2A8DA05E5E}"/>
              </a:ext>
            </a:extLst>
          </p:cNvPr>
          <p:cNvSpPr txBox="1"/>
          <p:nvPr/>
        </p:nvSpPr>
        <p:spPr>
          <a:xfrm>
            <a:off x="411698" y="1301345"/>
            <a:ext cx="8383559" cy="82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zh-CN" altLang="en-US" sz="2800" i="0" dirty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800" i="0" dirty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800" i="0" dirty="0"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2800" i="0" dirty="0">
                <a:latin typeface="黑体" pitchFamily="49" charset="-122"/>
                <a:ea typeface="黑体" pitchFamily="49" charset="-122"/>
              </a:rPr>
              <a:t>k=1, 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D</a:t>
            </a:r>
            <a:r>
              <a:rPr lang="en-US" altLang="zh-CN" sz="2800" b="1" i="0" baseline="30000" dirty="0">
                <a:latin typeface="黑体" pitchFamily="49" charset="-122"/>
                <a:ea typeface="黑体" pitchFamily="49" charset="-122"/>
              </a:rPr>
              <a:t>1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][j] = min{D</a:t>
            </a:r>
            <a:r>
              <a:rPr lang="en-US" altLang="zh-CN" sz="2800" i="0" baseline="30000" dirty="0">
                <a:latin typeface="黑体" pitchFamily="49" charset="-122"/>
                <a:ea typeface="黑体" pitchFamily="49" charset="-122"/>
              </a:rPr>
              <a:t>0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][j],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                       D</a:t>
            </a:r>
            <a:r>
              <a:rPr lang="en-US" altLang="zh-CN" sz="2800" i="0" baseline="30000" dirty="0">
                <a:latin typeface="黑体" pitchFamily="49" charset="-122"/>
                <a:ea typeface="黑体" pitchFamily="49" charset="-122"/>
              </a:rPr>
              <a:t>0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][1]+D</a:t>
            </a:r>
            <a:r>
              <a:rPr lang="en-US" altLang="zh-CN" sz="2800" i="0" baseline="30000" dirty="0">
                <a:latin typeface="黑体" pitchFamily="49" charset="-122"/>
                <a:ea typeface="黑体" pitchFamily="49" charset="-122"/>
              </a:rPr>
              <a:t>0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[1][j]},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C38BCBC5-6F5B-4B68-AFEE-47383FF4DFE8}"/>
              </a:ext>
            </a:extLst>
          </p:cNvPr>
          <p:cNvSpPr/>
          <p:nvPr/>
        </p:nvSpPr>
        <p:spPr bwMode="auto">
          <a:xfrm>
            <a:off x="6366744" y="2573161"/>
            <a:ext cx="2151856" cy="503007"/>
          </a:xfrm>
          <a:prstGeom prst="ellipse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DC72D92-84BE-44F6-9B1B-71FA115C2E0A}"/>
                  </a:ext>
                </a:extLst>
              </p:cNvPr>
              <p:cNvSpPr txBox="1"/>
              <p:nvPr/>
            </p:nvSpPr>
            <p:spPr>
              <a:xfrm>
                <a:off x="3268922" y="5170697"/>
                <a:ext cx="5275157" cy="1240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sz="2800" b="0" i="0">
                          <a:latin typeface="Cambria Math" panose="02040503050406030204" pitchFamily="18" charset="0"/>
                          <a:ea typeface="+mn-ea"/>
                        </a:rPr>
                        <m:t>path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abc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ca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cab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cabc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0" i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DC72D92-84BE-44F6-9B1B-71FA115C2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22" y="5170697"/>
                <a:ext cx="5275157" cy="12405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椭圆 3">
            <a:extLst>
              <a:ext uri="{FF2B5EF4-FFF2-40B4-BE49-F238E27FC236}">
                <a16:creationId xmlns:a16="http://schemas.microsoft.com/office/drawing/2014/main" id="{CFBFAB57-D4EE-485A-A75E-2FD0450B61DD}"/>
              </a:ext>
            </a:extLst>
          </p:cNvPr>
          <p:cNvSpPr/>
          <p:nvPr/>
        </p:nvSpPr>
        <p:spPr bwMode="auto">
          <a:xfrm>
            <a:off x="4716016" y="2636912"/>
            <a:ext cx="444688" cy="42889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F02CBF85-DCCB-4DDA-942E-6619B4B1A6E3}"/>
              </a:ext>
            </a:extLst>
          </p:cNvPr>
          <p:cNvSpPr/>
          <p:nvPr/>
        </p:nvSpPr>
        <p:spPr bwMode="auto">
          <a:xfrm>
            <a:off x="4716016" y="2224970"/>
            <a:ext cx="444688" cy="42889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421E4D6A-3A57-474D-B9F0-77C5B1C4BF4E}"/>
              </a:ext>
            </a:extLst>
          </p:cNvPr>
          <p:cNvSpPr/>
          <p:nvPr/>
        </p:nvSpPr>
        <p:spPr bwMode="auto">
          <a:xfrm>
            <a:off x="4716016" y="3106858"/>
            <a:ext cx="444688" cy="42889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0" name="Text Box 4">
            <a:extLst>
              <a:ext uri="{FF2B5EF4-FFF2-40B4-BE49-F238E27FC236}">
                <a16:creationId xmlns:a16="http://schemas.microsoft.com/office/drawing/2014/main" id="{86D1D1FD-18B9-4DF1-B183-6C4E19AEF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34" y="159229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Floyd</a:t>
            </a: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算法实例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ABBD0A-66A4-4148-9D18-A0FC6AC67765}"/>
              </a:ext>
            </a:extLst>
          </p:cNvPr>
          <p:cNvCxnSpPr/>
          <p:nvPr/>
        </p:nvCxnSpPr>
        <p:spPr bwMode="auto">
          <a:xfrm>
            <a:off x="4572000" y="2126186"/>
            <a:ext cx="338437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63815889"/>
      </p:ext>
    </p:extLst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 animBg="1"/>
      <p:bldP spid="29" grpId="0"/>
      <p:bldP spid="4" grpId="0" animBg="1"/>
      <p:bldP spid="26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fld id="{8036945F-8F01-4570-9F26-6169BC60FD96}" type="slidenum">
              <a:rPr lang="zh-CN" altLang="en-US"/>
              <a:pPr algn="r" eaLnBrk="1" hangingPunct="1">
                <a:spcBef>
                  <a:spcPct val="50000"/>
                </a:spcBef>
              </a:pPr>
              <a:t>36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08" name="文本框 24607">
                <a:extLst>
                  <a:ext uri="{FF2B5EF4-FFF2-40B4-BE49-F238E27FC236}">
                    <a16:creationId xmlns:a16="http://schemas.microsoft.com/office/drawing/2014/main" id="{BF9D2CB3-ACF7-42DF-A8A3-211D2A17BFC8}"/>
                  </a:ext>
                </a:extLst>
              </p:cNvPr>
              <p:cNvSpPr txBox="1"/>
              <p:nvPr/>
            </p:nvSpPr>
            <p:spPr>
              <a:xfrm>
                <a:off x="3851920" y="2206016"/>
                <a:ext cx="5616624" cy="123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</m:t>
                              </m:r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b="0" i="0" dirty="0">
                    <a:latin typeface="+mn-ea"/>
                    <a:ea typeface="+mn-ea"/>
                  </a:rPr>
                  <a:t>+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</m:t>
                              </m:r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>
                                  <a:latin typeface="Cambria Math" panose="02040503050406030204" pitchFamily="18" charset="0"/>
                                  <a:ea typeface="+mn-ea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800" b="0" i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4608" name="文本框 24607">
                <a:extLst>
                  <a:ext uri="{FF2B5EF4-FFF2-40B4-BE49-F238E27FC236}">
                    <a16:creationId xmlns:a16="http://schemas.microsoft.com/office/drawing/2014/main" id="{BF9D2CB3-ACF7-42DF-A8A3-211D2A17B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2206016"/>
                <a:ext cx="5616624" cy="1231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4F6C541F-B29D-42EB-AB90-2136F03177DD}"/>
              </a:ext>
            </a:extLst>
          </p:cNvPr>
          <p:cNvGrpSpPr/>
          <p:nvPr/>
        </p:nvGrpSpPr>
        <p:grpSpPr>
          <a:xfrm>
            <a:off x="199109" y="2274872"/>
            <a:ext cx="3454575" cy="2378066"/>
            <a:chOff x="827584" y="2329109"/>
            <a:chExt cx="3454575" cy="2378066"/>
          </a:xfrm>
        </p:grpSpPr>
        <p:sp>
          <p:nvSpPr>
            <p:cNvPr id="3" name="椭圆 2" descr="V">
              <a:extLst>
                <a:ext uri="{FF2B5EF4-FFF2-40B4-BE49-F238E27FC236}">
                  <a16:creationId xmlns:a16="http://schemas.microsoft.com/office/drawing/2014/main" id="{CC27CB3D-352F-4C30-BCCB-2DF710A35928}"/>
                </a:ext>
              </a:extLst>
            </p:cNvPr>
            <p:cNvSpPr/>
            <p:nvPr/>
          </p:nvSpPr>
          <p:spPr bwMode="auto">
            <a:xfrm>
              <a:off x="987851" y="2689150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800" i="0" dirty="0"/>
                <a:t>a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椭圆 8" descr="V">
              <a:extLst>
                <a:ext uri="{FF2B5EF4-FFF2-40B4-BE49-F238E27FC236}">
                  <a16:creationId xmlns:a16="http://schemas.microsoft.com/office/drawing/2014/main" id="{68657903-33DE-4925-BAB4-90A844979C44}"/>
                </a:ext>
              </a:extLst>
            </p:cNvPr>
            <p:cNvSpPr/>
            <p:nvPr/>
          </p:nvSpPr>
          <p:spPr bwMode="auto">
            <a:xfrm>
              <a:off x="3460523" y="2689150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b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椭圆 9" descr="V">
              <a:extLst>
                <a:ext uri="{FF2B5EF4-FFF2-40B4-BE49-F238E27FC236}">
                  <a16:creationId xmlns:a16="http://schemas.microsoft.com/office/drawing/2014/main" id="{CE2BAF37-FAC0-4AB9-AD2E-832687F34352}"/>
                </a:ext>
              </a:extLst>
            </p:cNvPr>
            <p:cNvSpPr/>
            <p:nvPr/>
          </p:nvSpPr>
          <p:spPr bwMode="auto">
            <a:xfrm>
              <a:off x="1915103" y="4101266"/>
              <a:ext cx="721196" cy="60590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C</a:t>
              </a:r>
              <a:endParaRPr kumimoji="0" lang="zh-CN" altLang="en-US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6" name="连接符: 曲线 5">
              <a:extLst>
                <a:ext uri="{FF2B5EF4-FFF2-40B4-BE49-F238E27FC236}">
                  <a16:creationId xmlns:a16="http://schemas.microsoft.com/office/drawing/2014/main" id="{66279F35-2907-4372-8275-03A72B6674FD}"/>
                </a:ext>
              </a:extLst>
            </p:cNvPr>
            <p:cNvCxnSpPr>
              <a:stCxn id="3" idx="7"/>
              <a:endCxn id="9" idx="1"/>
            </p:cNvCxnSpPr>
            <p:nvPr/>
          </p:nvCxnSpPr>
          <p:spPr bwMode="auto">
            <a:xfrm rot="5400000" flipH="1" flipV="1">
              <a:off x="2587520" y="1796529"/>
              <a:ext cx="12700" cy="1962709"/>
            </a:xfrm>
            <a:prstGeom prst="curvedConnector3">
              <a:avLst>
                <a:gd name="adj1" fmla="val 249868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连接符: 曲线 10">
              <a:extLst>
                <a:ext uri="{FF2B5EF4-FFF2-40B4-BE49-F238E27FC236}">
                  <a16:creationId xmlns:a16="http://schemas.microsoft.com/office/drawing/2014/main" id="{41394B4B-0688-43E7-9697-8C027CDA671A}"/>
                </a:ext>
              </a:extLst>
            </p:cNvPr>
            <p:cNvCxnSpPr>
              <a:stCxn id="9" idx="3"/>
              <a:endCxn id="3" idx="5"/>
            </p:cNvCxnSpPr>
            <p:nvPr/>
          </p:nvCxnSpPr>
          <p:spPr bwMode="auto">
            <a:xfrm rot="5400000">
              <a:off x="2587520" y="2224972"/>
              <a:ext cx="12700" cy="1962709"/>
            </a:xfrm>
            <a:prstGeom prst="curvedConnector3">
              <a:avLst>
                <a:gd name="adj1" fmla="val 249868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连接符: 曲线 34">
              <a:extLst>
                <a:ext uri="{FF2B5EF4-FFF2-40B4-BE49-F238E27FC236}">
                  <a16:creationId xmlns:a16="http://schemas.microsoft.com/office/drawing/2014/main" id="{9D61AA15-7A74-48F4-8521-37CF2DF9545F}"/>
                </a:ext>
              </a:extLst>
            </p:cNvPr>
            <p:cNvCxnSpPr>
              <a:stCxn id="9" idx="4"/>
              <a:endCxn id="10" idx="6"/>
            </p:cNvCxnSpPr>
            <p:nvPr/>
          </p:nvCxnSpPr>
          <p:spPr bwMode="auto">
            <a:xfrm rot="5400000">
              <a:off x="2674129" y="3257229"/>
              <a:ext cx="1109162" cy="1184822"/>
            </a:xfrm>
            <a:prstGeom prst="curved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606" name="文本框 24605">
              <a:extLst>
                <a:ext uri="{FF2B5EF4-FFF2-40B4-BE49-F238E27FC236}">
                  <a16:creationId xmlns:a16="http://schemas.microsoft.com/office/drawing/2014/main" id="{12F93FEA-2ABE-438D-B092-01882B06F6B7}"/>
                </a:ext>
              </a:extLst>
            </p:cNvPr>
            <p:cNvSpPr txBox="1"/>
            <p:nvPr/>
          </p:nvSpPr>
          <p:spPr>
            <a:xfrm>
              <a:off x="2329803" y="2329109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4</a:t>
              </a:r>
              <a:endParaRPr lang="zh-CN" altLang="en-US" sz="2800" i="0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667B5C3F-F448-4E4D-96FB-994F357B4BCE}"/>
                </a:ext>
              </a:extLst>
            </p:cNvPr>
            <p:cNvSpPr txBox="1"/>
            <p:nvPr/>
          </p:nvSpPr>
          <p:spPr>
            <a:xfrm>
              <a:off x="2225480" y="3078662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6</a:t>
              </a:r>
              <a:endParaRPr lang="zh-CN" altLang="en-US" sz="2800" i="0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E167EEB9-6386-4ABD-9774-79B209A7BCA5}"/>
                </a:ext>
              </a:extLst>
            </p:cNvPr>
            <p:cNvSpPr txBox="1"/>
            <p:nvPr/>
          </p:nvSpPr>
          <p:spPr>
            <a:xfrm>
              <a:off x="3460523" y="3561442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2</a:t>
              </a:r>
              <a:endParaRPr lang="zh-CN" altLang="en-US" sz="2800" i="0" dirty="0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193AA48F-FB88-40EB-AAB1-C35D9C7138E5}"/>
                </a:ext>
              </a:extLst>
            </p:cNvPr>
            <p:cNvSpPr txBox="1"/>
            <p:nvPr/>
          </p:nvSpPr>
          <p:spPr>
            <a:xfrm>
              <a:off x="1508167" y="3341390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11</a:t>
              </a:r>
              <a:endParaRPr lang="zh-CN" altLang="en-US" sz="2800" i="0" dirty="0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C210EDE6-8FFD-4CC5-A822-05A0861F5677}"/>
                </a:ext>
              </a:extLst>
            </p:cNvPr>
            <p:cNvSpPr txBox="1"/>
            <p:nvPr/>
          </p:nvSpPr>
          <p:spPr>
            <a:xfrm>
              <a:off x="827584" y="3619420"/>
              <a:ext cx="821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i="0" dirty="0"/>
                <a:t>3</a:t>
              </a:r>
              <a:endParaRPr lang="zh-CN" altLang="en-US" sz="2800" i="0" dirty="0"/>
            </a:p>
          </p:txBody>
        </p:sp>
        <p:cxnSp>
          <p:nvCxnSpPr>
            <p:cNvPr id="24610" name="连接符: 曲线 24609">
              <a:extLst>
                <a:ext uri="{FF2B5EF4-FFF2-40B4-BE49-F238E27FC236}">
                  <a16:creationId xmlns:a16="http://schemas.microsoft.com/office/drawing/2014/main" id="{B15E05FD-F73F-470D-B679-F81BB0FB809E}"/>
                </a:ext>
              </a:extLst>
            </p:cNvPr>
            <p:cNvCxnSpPr>
              <a:endCxn id="10" idx="0"/>
            </p:cNvCxnSpPr>
            <p:nvPr/>
          </p:nvCxnSpPr>
          <p:spPr bwMode="auto">
            <a:xfrm rot="16200000" flipH="1">
              <a:off x="1488830" y="3314395"/>
              <a:ext cx="806208" cy="767534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612" name="连接符: 曲线 24611">
              <a:extLst>
                <a:ext uri="{FF2B5EF4-FFF2-40B4-BE49-F238E27FC236}">
                  <a16:creationId xmlns:a16="http://schemas.microsoft.com/office/drawing/2014/main" id="{186B8D22-144E-4EFB-BCF2-C5D17983124E}"/>
                </a:ext>
              </a:extLst>
            </p:cNvPr>
            <p:cNvCxnSpPr>
              <a:endCxn id="3" idx="4"/>
            </p:cNvCxnSpPr>
            <p:nvPr/>
          </p:nvCxnSpPr>
          <p:spPr bwMode="auto">
            <a:xfrm rot="16200000" flipV="1">
              <a:off x="1207986" y="3435523"/>
              <a:ext cx="847581" cy="566654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9A2E367-2C0E-4263-8901-310971561606}"/>
                  </a:ext>
                </a:extLst>
              </p:cNvPr>
              <p:cNvSpPr txBox="1"/>
              <p:nvPr/>
            </p:nvSpPr>
            <p:spPr>
              <a:xfrm>
                <a:off x="-715926" y="5286479"/>
                <a:ext cx="4726304" cy="1268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m:rPr>
                          <m:sty m:val="p"/>
                        </m:rPr>
                        <a:rPr lang="en-US" altLang="zh-CN" sz="28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D</m:t>
                      </m:r>
                      <m:r>
                        <a:rPr lang="en-US" altLang="zh-CN" sz="2800" b="0" i="0" baseline="30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2</m:t>
                      </m:r>
                      <m:r>
                        <a:rPr lang="en-US" altLang="zh-CN" sz="28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0" i="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9A2E367-2C0E-4263-8901-310971561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5926" y="5286479"/>
                <a:ext cx="4726304" cy="12689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C20C0D4-0E9D-4387-8BC0-5349A4F02FEF}"/>
                  </a:ext>
                </a:extLst>
              </p:cNvPr>
              <p:cNvSpPr txBox="1"/>
              <p:nvPr/>
            </p:nvSpPr>
            <p:spPr>
              <a:xfrm>
                <a:off x="3003883" y="3697150"/>
                <a:ext cx="5805680" cy="1240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CN" sz="2800" b="0" i="0">
                          <a:latin typeface="Cambria Math" panose="02040503050406030204" pitchFamily="18" charset="0"/>
                          <a:ea typeface="+mn-ea"/>
                        </a:rPr>
                        <m:t>path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abc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bc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ca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cab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cabc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0" i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C20C0D4-0E9D-4387-8BC0-5349A4F02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883" y="3697150"/>
                <a:ext cx="5805680" cy="12407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2264460C-C9CB-416B-8F09-FC2A8DA05E5E}"/>
              </a:ext>
            </a:extLst>
          </p:cNvPr>
          <p:cNvSpPr txBox="1"/>
          <p:nvPr/>
        </p:nvSpPr>
        <p:spPr>
          <a:xfrm>
            <a:off x="411698" y="1301345"/>
            <a:ext cx="8383559" cy="82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zh-CN" altLang="en-US" sz="2800" i="0" dirty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800" i="0" dirty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800" i="0" dirty="0"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2800" i="0" dirty="0">
                <a:latin typeface="黑体" pitchFamily="49" charset="-122"/>
                <a:ea typeface="黑体" pitchFamily="49" charset="-122"/>
              </a:rPr>
              <a:t>k=2, 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D</a:t>
            </a:r>
            <a:r>
              <a:rPr lang="en-US" altLang="zh-CN" sz="2800" b="1" i="0" baseline="30000" dirty="0">
                <a:latin typeface="黑体" pitchFamily="49" charset="-122"/>
                <a:ea typeface="黑体" pitchFamily="49" charset="-122"/>
              </a:rPr>
              <a:t>2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][j] = min{D</a:t>
            </a:r>
            <a:r>
              <a:rPr lang="en-US" altLang="zh-CN" sz="2800" i="0" baseline="30000" dirty="0">
                <a:latin typeface="黑体" pitchFamily="49" charset="-122"/>
                <a:ea typeface="黑体" pitchFamily="49" charset="-122"/>
              </a:rPr>
              <a:t>1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][j],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                       D</a:t>
            </a:r>
            <a:r>
              <a:rPr lang="en-US" altLang="zh-CN" sz="2800" i="0" baseline="30000" dirty="0">
                <a:latin typeface="黑体" pitchFamily="49" charset="-122"/>
                <a:ea typeface="黑体" pitchFamily="49" charset="-122"/>
              </a:rPr>
              <a:t>1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</a:t>
            </a:r>
            <a:r>
              <a:rPr lang="en-US" altLang="zh-CN" sz="2800" b="1" i="0" dirty="0" err="1"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][2]+D</a:t>
            </a:r>
            <a:r>
              <a:rPr lang="en-US" altLang="zh-CN" sz="2800" i="0" baseline="30000" dirty="0">
                <a:latin typeface="黑体" pitchFamily="49" charset="-122"/>
                <a:ea typeface="黑体" pitchFamily="49" charset="-122"/>
              </a:rPr>
              <a:t>1</a:t>
            </a:r>
            <a:r>
              <a:rPr lang="en-US" altLang="zh-CN" sz="2800" b="1" i="0" dirty="0">
                <a:latin typeface="黑体" pitchFamily="49" charset="-122"/>
                <a:ea typeface="黑体" pitchFamily="49" charset="-122"/>
              </a:rPr>
              <a:t>[2][j]},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C38BCBC5-6F5B-4B68-AFEE-47383FF4DFE8}"/>
              </a:ext>
            </a:extLst>
          </p:cNvPr>
          <p:cNvSpPr/>
          <p:nvPr/>
        </p:nvSpPr>
        <p:spPr bwMode="auto">
          <a:xfrm>
            <a:off x="6238763" y="2973205"/>
            <a:ext cx="2151856" cy="503007"/>
          </a:xfrm>
          <a:prstGeom prst="ellipse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DC72D92-84BE-44F6-9B1B-71FA115C2E0A}"/>
                  </a:ext>
                </a:extLst>
              </p:cNvPr>
              <p:cNvSpPr txBox="1"/>
              <p:nvPr/>
            </p:nvSpPr>
            <p:spPr>
              <a:xfrm>
                <a:off x="3343861" y="5262408"/>
                <a:ext cx="5616624" cy="1240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sz="28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path</m:t>
                      </m:r>
                      <m:r>
                        <a:rPr lang="en-US" altLang="zh-C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bca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abc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bca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bcab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bc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ca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cab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cbc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0" i="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DC72D92-84BE-44F6-9B1B-71FA115C2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861" y="5262408"/>
                <a:ext cx="5616624" cy="12405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椭圆 3">
            <a:extLst>
              <a:ext uri="{FF2B5EF4-FFF2-40B4-BE49-F238E27FC236}">
                <a16:creationId xmlns:a16="http://schemas.microsoft.com/office/drawing/2014/main" id="{CFBFAB57-D4EE-485A-A75E-2FD0450B61DD}"/>
              </a:ext>
            </a:extLst>
          </p:cNvPr>
          <p:cNvSpPr/>
          <p:nvPr/>
        </p:nvSpPr>
        <p:spPr bwMode="auto">
          <a:xfrm>
            <a:off x="5436096" y="2672820"/>
            <a:ext cx="444688" cy="42889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F02CBF85-DCCB-4DDA-942E-6619B4B1A6E3}"/>
              </a:ext>
            </a:extLst>
          </p:cNvPr>
          <p:cNvSpPr/>
          <p:nvPr/>
        </p:nvSpPr>
        <p:spPr bwMode="auto">
          <a:xfrm>
            <a:off x="5436096" y="2243005"/>
            <a:ext cx="444688" cy="42889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421E4D6A-3A57-474D-B9F0-77C5B1C4BF4E}"/>
              </a:ext>
            </a:extLst>
          </p:cNvPr>
          <p:cNvSpPr/>
          <p:nvPr/>
        </p:nvSpPr>
        <p:spPr bwMode="auto">
          <a:xfrm>
            <a:off x="5432701" y="3085765"/>
            <a:ext cx="444688" cy="42889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0" name="Text Box 4">
            <a:extLst>
              <a:ext uri="{FF2B5EF4-FFF2-40B4-BE49-F238E27FC236}">
                <a16:creationId xmlns:a16="http://schemas.microsoft.com/office/drawing/2014/main" id="{E8C68653-E6A7-417B-8C77-3EA8FC354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34" y="159229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Floyd</a:t>
            </a: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算法实例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75B34D-42DB-F493-F5BF-15AABD113D59}"/>
              </a:ext>
            </a:extLst>
          </p:cNvPr>
          <p:cNvCxnSpPr/>
          <p:nvPr/>
        </p:nvCxnSpPr>
        <p:spPr bwMode="auto">
          <a:xfrm>
            <a:off x="4546575" y="2123769"/>
            <a:ext cx="338437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55124807"/>
      </p:ext>
    </p:extLst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 animBg="1"/>
      <p:bldP spid="29" grpId="0"/>
      <p:bldP spid="4" grpId="0" animBg="1"/>
      <p:bldP spid="26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fld id="{188C0613-4CB4-4541-90DD-8A58DB29F10A}" type="slidenum">
              <a:rPr lang="zh-CN" altLang="en-US"/>
              <a:pPr algn="r" eaLnBrk="1" hangingPunct="1">
                <a:spcBef>
                  <a:spcPct val="50000"/>
                </a:spcBef>
              </a:pPr>
              <a:t>37</a:t>
            </a:fld>
            <a:endParaRPr lang="en-US" altLang="zh-CN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500034" y="159229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Floyd</a:t>
            </a: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算法时间复杂度分析</a:t>
            </a: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16883" y="1340768"/>
            <a:ext cx="8501090" cy="4107532"/>
          </a:xfrm>
        </p:spPr>
        <p:txBody>
          <a:bodyPr/>
          <a:lstStyle/>
          <a:p>
            <a:pPr mar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顶点数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n,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边数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e,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邻接矩阵存储。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zh-CN" altLang="en-US" dirty="0">
                <a:latin typeface="黑体" pitchFamily="49" charset="-122"/>
                <a:ea typeface="黑体" pitchFamily="49" charset="-122"/>
              </a:rPr>
              <a:t>   经过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k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点，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k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n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次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  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对矩阵中每个点计算，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O(n</a:t>
            </a:r>
            <a:r>
              <a:rPr lang="en-US" altLang="zh-CN" sz="2800" baseline="30000" dirty="0">
                <a:latin typeface="黑体" pitchFamily="49" charset="-122"/>
                <a:ea typeface="黑体" pitchFamily="49" charset="-122"/>
              </a:rPr>
              <a:t>2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   故时间复杂度为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O(n</a:t>
            </a:r>
            <a:r>
              <a:rPr lang="en-US" altLang="zh-CN" baseline="30000" dirty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）。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pPr mar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zh-CN" altLang="en-US" dirty="0">
                <a:latin typeface="黑体" pitchFamily="49" charset="-122"/>
                <a:ea typeface="黑体" pitchFamily="49" charset="-122"/>
              </a:rPr>
              <a:t>与迪杰斯特拉算法计算顶点对时间复杂度相同，代码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  <a:p>
            <a:pPr marL="0" indent="0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zh-CN" altLang="en-US" dirty="0">
                <a:latin typeface="黑体" pitchFamily="49" charset="-122"/>
                <a:ea typeface="黑体" pitchFamily="49" charset="-122"/>
              </a:rPr>
              <a:t>实现简单。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            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   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87579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628976" y="205681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迪杰斯特拉算法练习</a:t>
            </a:r>
          </a:p>
        </p:txBody>
      </p:sp>
      <p:sp>
        <p:nvSpPr>
          <p:cNvPr id="27651" name="矩形 6"/>
          <p:cNvSpPr>
            <a:spLocks noChangeArrowheads="1"/>
          </p:cNvSpPr>
          <p:nvPr/>
        </p:nvSpPr>
        <p:spPr bwMode="auto">
          <a:xfrm>
            <a:off x="515242" y="1268760"/>
            <a:ext cx="8377238" cy="2576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800" b="0" i="0" dirty="0">
                <a:latin typeface="+mn-ea"/>
                <a:ea typeface="+mn-ea"/>
              </a:rPr>
              <a:t>有向网</a:t>
            </a:r>
            <a:r>
              <a:rPr lang="en-US" altLang="zh-CN" sz="2800" b="0" i="0" dirty="0">
                <a:latin typeface="+mn-ea"/>
                <a:ea typeface="+mn-ea"/>
              </a:rPr>
              <a:t>N={V,E}</a:t>
            </a:r>
            <a:r>
              <a:rPr lang="zh-CN" altLang="zh-CN" sz="2800" b="0" i="0" dirty="0">
                <a:latin typeface="+mn-ea"/>
                <a:ea typeface="+mn-ea"/>
              </a:rPr>
              <a:t>，</a:t>
            </a:r>
            <a:r>
              <a:rPr lang="en-US" altLang="zh-CN" sz="2800" b="0" i="0" dirty="0">
                <a:latin typeface="+mn-ea"/>
                <a:ea typeface="+mn-ea"/>
              </a:rPr>
              <a:t>V={0,1,2,3,4}</a:t>
            </a:r>
            <a:r>
              <a:rPr lang="zh-CN" altLang="zh-CN" sz="2800" b="0" i="0" dirty="0">
                <a:latin typeface="+mn-ea"/>
                <a:ea typeface="+mn-ea"/>
              </a:rPr>
              <a:t>，</a:t>
            </a:r>
            <a:r>
              <a:rPr lang="en-US" altLang="zh-CN" sz="2800" b="0" i="0" dirty="0">
                <a:latin typeface="+mn-ea"/>
                <a:ea typeface="+mn-ea"/>
              </a:rPr>
              <a:t>E={&lt;0,1,1&gt;</a:t>
            </a:r>
            <a:r>
              <a:rPr lang="zh-CN" altLang="zh-CN" sz="2800" b="0" i="0" dirty="0">
                <a:latin typeface="+mn-ea"/>
                <a:ea typeface="+mn-ea"/>
              </a:rPr>
              <a:t>，</a:t>
            </a:r>
            <a:r>
              <a:rPr lang="en-US" altLang="zh-CN" sz="2800" b="0" i="0" dirty="0">
                <a:latin typeface="+mn-ea"/>
                <a:ea typeface="+mn-ea"/>
              </a:rPr>
              <a:t>&lt;0,3,3&gt;</a:t>
            </a:r>
            <a:r>
              <a:rPr lang="zh-CN" altLang="zh-CN" sz="2800" b="0" i="0" dirty="0">
                <a:latin typeface="+mn-ea"/>
                <a:ea typeface="+mn-ea"/>
              </a:rPr>
              <a:t>，</a:t>
            </a:r>
            <a:r>
              <a:rPr lang="en-US" altLang="zh-CN" sz="2800" b="0" i="0" dirty="0">
                <a:latin typeface="+mn-ea"/>
                <a:ea typeface="+mn-ea"/>
              </a:rPr>
              <a:t>&lt;0,4,10&gt;</a:t>
            </a:r>
            <a:r>
              <a:rPr lang="zh-CN" altLang="zh-CN" sz="2800" b="0" i="0" dirty="0">
                <a:latin typeface="+mn-ea"/>
                <a:ea typeface="+mn-ea"/>
              </a:rPr>
              <a:t>，</a:t>
            </a:r>
            <a:r>
              <a:rPr lang="en-US" altLang="zh-CN" sz="2800" b="0" i="0" dirty="0">
                <a:latin typeface="+mn-ea"/>
                <a:ea typeface="+mn-ea"/>
              </a:rPr>
              <a:t>&lt;1,2,5&gt;</a:t>
            </a:r>
            <a:r>
              <a:rPr lang="zh-CN" altLang="zh-CN" sz="2800" b="0" i="0" dirty="0">
                <a:latin typeface="+mn-ea"/>
                <a:ea typeface="+mn-ea"/>
              </a:rPr>
              <a:t>，</a:t>
            </a:r>
            <a:r>
              <a:rPr lang="en-US" altLang="zh-CN" sz="2800" b="0" i="0" dirty="0">
                <a:latin typeface="+mn-ea"/>
                <a:ea typeface="+mn-ea"/>
              </a:rPr>
              <a:t>&lt;2,4,1&gt;</a:t>
            </a:r>
            <a:r>
              <a:rPr lang="zh-CN" altLang="zh-CN" sz="2800" b="0" i="0" dirty="0">
                <a:latin typeface="+mn-ea"/>
                <a:ea typeface="+mn-ea"/>
              </a:rPr>
              <a:t>，</a:t>
            </a:r>
            <a:r>
              <a:rPr lang="en-US" altLang="zh-CN" sz="2800" b="0" i="0" dirty="0">
                <a:latin typeface="+mn-ea"/>
                <a:ea typeface="+mn-ea"/>
              </a:rPr>
              <a:t>&lt;3,2,2&gt;</a:t>
            </a:r>
            <a:r>
              <a:rPr lang="zh-CN" altLang="zh-CN" sz="2800" b="0" i="0" dirty="0">
                <a:latin typeface="+mn-ea"/>
                <a:ea typeface="+mn-ea"/>
              </a:rPr>
              <a:t>，</a:t>
            </a:r>
            <a:r>
              <a:rPr lang="en-US" altLang="zh-CN" sz="2800" b="0" i="0" dirty="0">
                <a:latin typeface="+mn-ea"/>
                <a:ea typeface="+mn-ea"/>
              </a:rPr>
              <a:t>&lt;3,4,6&gt;}</a:t>
            </a:r>
            <a:r>
              <a:rPr lang="zh-CN" altLang="zh-CN" sz="2800" b="0" i="0" dirty="0">
                <a:latin typeface="+mn-ea"/>
                <a:ea typeface="+mn-ea"/>
              </a:rPr>
              <a:t>，</a:t>
            </a:r>
            <a:r>
              <a:rPr lang="en-US" altLang="zh-CN" sz="2800" b="0" i="0" dirty="0">
                <a:latin typeface="+mn-ea"/>
                <a:ea typeface="+mn-ea"/>
              </a:rPr>
              <a:t>E</a:t>
            </a:r>
            <a:r>
              <a:rPr lang="zh-CN" altLang="zh-CN" sz="2800" b="0" i="0" dirty="0">
                <a:latin typeface="+mn-ea"/>
                <a:ea typeface="+mn-ea"/>
              </a:rPr>
              <a:t>中每个元组的第三个元素表示权。</a:t>
            </a:r>
          </a:p>
          <a:p>
            <a:pPr algn="just">
              <a:lnSpc>
                <a:spcPct val="150000"/>
              </a:lnSpc>
            </a:pPr>
            <a:r>
              <a:rPr lang="en-US" altLang="zh-CN" sz="2800" b="0" i="0" dirty="0">
                <a:latin typeface="+mn-ea"/>
                <a:ea typeface="+mn-ea"/>
              </a:rPr>
              <a:t>1</a:t>
            </a:r>
            <a:r>
              <a:rPr lang="zh-CN" altLang="zh-CN" sz="2800" b="0" i="0" dirty="0">
                <a:latin typeface="+mn-ea"/>
                <a:ea typeface="+mn-ea"/>
              </a:rPr>
              <a:t>、画出该网。</a:t>
            </a: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F05EB839-3AA7-1EF5-62BC-BD62686796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4551" y="3932227"/>
            <a:ext cx="768350" cy="476250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  <a:headEnd type="triangle" w="med" len="med"/>
            <a:tailEnd/>
          </a:ln>
        </p:spPr>
        <p:txBody>
          <a:bodyPr wrap="none" lIns="0" rIns="0" anchor="ctr"/>
          <a:lstStyle/>
          <a:p>
            <a:endParaRPr lang="zh-CN" alt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A2E48DD7-1255-6E27-C4E6-BBCCB6B35B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2514" y="4587865"/>
            <a:ext cx="295275" cy="714375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 type="triangle" w="med" len="med"/>
          </a:ln>
        </p:spPr>
        <p:txBody>
          <a:bodyPr wrap="none" lIns="0" rIns="0" anchor="ctr"/>
          <a:lstStyle/>
          <a:p>
            <a:endParaRPr lang="zh-CN" alt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1C88A21B-8FEA-72FF-783F-0B320F847B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1251" y="3873490"/>
            <a:ext cx="827088" cy="47625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lIns="0" rIns="0" anchor="ctr"/>
          <a:lstStyle/>
          <a:p>
            <a:endParaRPr lang="zh-CN" alt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8FD95CC3-3A4E-B087-A683-28E3BBD8D09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95814" y="3932227"/>
            <a:ext cx="473075" cy="1309688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med"/>
            <a:tailEnd/>
          </a:ln>
        </p:spPr>
        <p:txBody>
          <a:bodyPr wrap="none" lIns="0" rIns="0" anchor="ctr"/>
          <a:lstStyle/>
          <a:p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469824CF-7509-3AC5-2AE6-BFC407017E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64001" y="5421302"/>
            <a:ext cx="885825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lIns="0" rIns="0" anchor="ctr"/>
          <a:lstStyle/>
          <a:p>
            <a:endParaRPr lang="zh-CN" alt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4BB41A95-BBDD-02DD-510D-3D85496B46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64001" y="4646602"/>
            <a:ext cx="1417638" cy="7143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med"/>
            <a:tailEnd/>
          </a:ln>
        </p:spPr>
        <p:txBody>
          <a:bodyPr wrap="none" lIns="0" rIns="0" anchor="ctr"/>
          <a:lstStyle/>
          <a:p>
            <a:endParaRPr lang="zh-CN" alt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2ECB0A7-0513-F31A-A15A-12913662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976" y="4289415"/>
            <a:ext cx="354013" cy="336550"/>
          </a:xfrm>
          <a:prstGeom prst="ellipse">
            <a:avLst/>
          </a:prstGeom>
          <a:gradFill rotWithShape="0">
            <a:gsLst>
              <a:gs pos="0">
                <a:srgbClr val="FF6600"/>
              </a:gs>
              <a:gs pos="100000">
                <a:srgbClr val="762F00"/>
              </a:gs>
            </a:gsLst>
            <a:lin ang="2700000" scaled="1"/>
          </a:gradFill>
          <a:ln w="9525">
            <a:noFill/>
            <a:round/>
            <a:headEnd/>
            <a:tailEnd/>
          </a:ln>
        </p:spPr>
        <p:txBody>
          <a:bodyPr wrap="none" lIns="0" rIns="0" anchor="ctr"/>
          <a:lstStyle/>
          <a:p>
            <a:pPr algn="ctr" eaLnBrk="1" hangingPunct="1">
              <a:buFont typeface="Arial" pitchFamily="34" charset="0"/>
              <a:buNone/>
            </a:pPr>
            <a:r>
              <a:rPr lang="en-US" altLang="zh-CN" sz="2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A046B4E-50A2-EDDB-FC47-00418D555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826" y="5262552"/>
            <a:ext cx="355600" cy="336550"/>
          </a:xfrm>
          <a:prstGeom prst="ellipse">
            <a:avLst/>
          </a:prstGeom>
          <a:gradFill rotWithShape="0">
            <a:gsLst>
              <a:gs pos="0">
                <a:srgbClr val="FF6600"/>
              </a:gs>
              <a:gs pos="100000">
                <a:srgbClr val="762F00"/>
              </a:gs>
            </a:gsLst>
            <a:lin ang="2700000" scaled="1"/>
          </a:gradFill>
          <a:ln w="9525">
            <a:noFill/>
            <a:round/>
            <a:headEnd/>
            <a:tailEnd/>
          </a:ln>
        </p:spPr>
        <p:txBody>
          <a:bodyPr wrap="none" lIns="0" rIns="0" anchor="ctr"/>
          <a:lstStyle/>
          <a:p>
            <a:pPr algn="ctr" eaLnBrk="1" hangingPunct="1">
              <a:buFont typeface="Arial" pitchFamily="34" charset="0"/>
              <a:buNone/>
            </a:pPr>
            <a:r>
              <a:rPr lang="en-US" altLang="zh-CN" sz="2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3CF22A-7F6D-2814-831A-72FD4F91E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8726" y="5262552"/>
            <a:ext cx="355600" cy="336550"/>
          </a:xfrm>
          <a:prstGeom prst="ellipse">
            <a:avLst/>
          </a:prstGeom>
          <a:gradFill rotWithShape="0">
            <a:gsLst>
              <a:gs pos="0">
                <a:srgbClr val="FF6600"/>
              </a:gs>
              <a:gs pos="100000">
                <a:srgbClr val="762F00"/>
              </a:gs>
            </a:gsLst>
            <a:lin ang="2700000" scaled="1"/>
          </a:gradFill>
          <a:ln w="9525">
            <a:noFill/>
            <a:round/>
            <a:headEnd/>
            <a:tailEnd/>
          </a:ln>
        </p:spPr>
        <p:txBody>
          <a:bodyPr wrap="none" lIns="0" rIns="0" anchor="ctr"/>
          <a:lstStyle/>
          <a:p>
            <a:pPr algn="ctr" eaLnBrk="1" hangingPunct="1">
              <a:buFont typeface="Arial" pitchFamily="34" charset="0"/>
              <a:buNone/>
            </a:pPr>
            <a:r>
              <a:rPr lang="en-US" altLang="zh-CN" sz="2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3C0BA84-6994-2B90-1284-C9DDBA32C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164" y="4349740"/>
            <a:ext cx="354013" cy="333375"/>
          </a:xfrm>
          <a:prstGeom prst="ellipse">
            <a:avLst/>
          </a:prstGeom>
          <a:gradFill rotWithShape="0">
            <a:gsLst>
              <a:gs pos="0">
                <a:srgbClr val="FF6600"/>
              </a:gs>
              <a:gs pos="100000">
                <a:srgbClr val="762F00"/>
              </a:gs>
            </a:gsLst>
            <a:lin ang="2700000" scaled="1"/>
          </a:gradFill>
          <a:ln w="9525">
            <a:noFill/>
            <a:round/>
            <a:headEnd/>
            <a:tailEnd/>
          </a:ln>
        </p:spPr>
        <p:txBody>
          <a:bodyPr wrap="none" lIns="0" rIns="0" anchor="ctr"/>
          <a:lstStyle/>
          <a:p>
            <a:pPr algn="ctr" eaLnBrk="1" hangingPunct="1">
              <a:buFont typeface="Arial" pitchFamily="34" charset="0"/>
              <a:buNone/>
            </a:pPr>
            <a:r>
              <a:rPr lang="en-US" altLang="zh-CN" sz="2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83A0B9-49CD-508B-AF8F-6F228B675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276" y="3694102"/>
            <a:ext cx="355600" cy="334963"/>
          </a:xfrm>
          <a:prstGeom prst="ellipse">
            <a:avLst/>
          </a:prstGeom>
          <a:gradFill rotWithShape="0">
            <a:gsLst>
              <a:gs pos="0">
                <a:srgbClr val="FF6600"/>
              </a:gs>
              <a:gs pos="100000">
                <a:srgbClr val="762F00"/>
              </a:gs>
            </a:gsLst>
            <a:lin ang="2700000" scaled="1"/>
          </a:gradFill>
          <a:ln w="9525">
            <a:noFill/>
            <a:round/>
            <a:headEnd/>
            <a:tailEnd/>
          </a:ln>
        </p:spPr>
        <p:txBody>
          <a:bodyPr wrap="none" lIns="0" rIns="0" anchor="ctr"/>
          <a:lstStyle/>
          <a:p>
            <a:pPr algn="ctr" eaLnBrk="1" hangingPunct="1">
              <a:buFont typeface="Arial" pitchFamily="34" charset="0"/>
              <a:buNone/>
            </a:pPr>
            <a:r>
              <a:rPr lang="en-US" altLang="zh-CN" sz="2000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4" name="Text Box 20">
            <a:extLst>
              <a:ext uri="{FF2B5EF4-FFF2-40B4-BE49-F238E27FC236}">
                <a16:creationId xmlns:a16="http://schemas.microsoft.com/office/drawing/2014/main" id="{9AF18EFD-42B8-EC70-D73D-A5CCF0466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5226" y="3703627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en-US" altLang="zh-CN" sz="2000" dirty="0">
                <a:solidFill>
                  <a:schemeClr val="hlink"/>
                </a:solidFill>
              </a:rPr>
              <a:t>1</a:t>
            </a:r>
            <a:endParaRPr lang="zh-CN" altLang="en-US" sz="2000" dirty="0">
              <a:solidFill>
                <a:schemeClr val="hlink"/>
              </a:solidFill>
            </a:endParaRPr>
          </a:p>
        </p:txBody>
      </p:sp>
      <p:sp>
        <p:nvSpPr>
          <p:cNvPr id="5" name="Text Box 21">
            <a:extLst>
              <a:ext uri="{FF2B5EF4-FFF2-40B4-BE49-F238E27FC236}">
                <a16:creationId xmlns:a16="http://schemas.microsoft.com/office/drawing/2014/main" id="{298FCF85-8A3F-DD1A-933C-4861E9E8A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976" y="4741852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zh-CN" altLang="en-US" sz="2000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6" name="Text Box 22">
            <a:extLst>
              <a:ext uri="{FF2B5EF4-FFF2-40B4-BE49-F238E27FC236}">
                <a16:creationId xmlns:a16="http://schemas.microsoft.com/office/drawing/2014/main" id="{CB356AA3-ED9F-966E-C424-EAA78B416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3464" y="3703627"/>
            <a:ext cx="700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zh-CN" altLang="en-US" sz="2000" dirty="0">
                <a:solidFill>
                  <a:schemeClr val="hlink"/>
                </a:solidFill>
              </a:rPr>
              <a:t>1</a:t>
            </a:r>
            <a:r>
              <a:rPr lang="en-US" altLang="zh-CN" sz="2000" dirty="0">
                <a:solidFill>
                  <a:schemeClr val="hlink"/>
                </a:solidFill>
              </a:rPr>
              <a:t>0</a:t>
            </a:r>
            <a:endParaRPr lang="zh-CN" altLang="en-US" sz="2000" dirty="0">
              <a:solidFill>
                <a:schemeClr val="hlink"/>
              </a:solidFill>
            </a:endParaRPr>
          </a:p>
        </p:txBody>
      </p:sp>
      <p:sp>
        <p:nvSpPr>
          <p:cNvPr id="7" name="Text Box 23">
            <a:extLst>
              <a:ext uri="{FF2B5EF4-FFF2-40B4-BE49-F238E27FC236}">
                <a16:creationId xmlns:a16="http://schemas.microsoft.com/office/drawing/2014/main" id="{29C68728-D9B9-ED35-8D69-82E9A2FD1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001" y="4741852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zh-CN" altLang="en-US" sz="20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8" name="Text Box 24">
            <a:extLst>
              <a:ext uri="{FF2B5EF4-FFF2-40B4-BE49-F238E27FC236}">
                <a16:creationId xmlns:a16="http://schemas.microsoft.com/office/drawing/2014/main" id="{453E3C42-8DBB-F55F-84E6-DDC3EA2C3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5314" y="422274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en-US" altLang="zh-CN" sz="2000" dirty="0">
                <a:solidFill>
                  <a:schemeClr val="hlink"/>
                </a:solidFill>
              </a:rPr>
              <a:t>3</a:t>
            </a:r>
            <a:endParaRPr lang="zh-CN" altLang="en-US" sz="2000" dirty="0">
              <a:solidFill>
                <a:schemeClr val="hlink"/>
              </a:solidFill>
            </a:endParaRPr>
          </a:p>
        </p:txBody>
      </p:sp>
      <p:sp>
        <p:nvSpPr>
          <p:cNvPr id="9" name="Text Box 25">
            <a:extLst>
              <a:ext uri="{FF2B5EF4-FFF2-40B4-BE49-F238E27FC236}">
                <a16:creationId xmlns:a16="http://schemas.microsoft.com/office/drawing/2014/main" id="{EF9365F8-1A4F-F1FE-32EA-CE7444874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626" y="5011727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zh-CN" altLang="en-US" sz="2000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4542BC24-1A31-8554-94A9-63F362E8CA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353" y="4687083"/>
            <a:ext cx="251508" cy="59894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med"/>
            <a:tailEnd/>
          </a:ln>
        </p:spPr>
        <p:txBody>
          <a:bodyPr wrap="none" lIns="0" rIns="0" anchor="ctr"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24EEABF4-578D-48F7-5C54-2B5022D32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851" y="4855244"/>
            <a:ext cx="700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en-US" altLang="zh-CN" sz="2000" dirty="0">
                <a:solidFill>
                  <a:schemeClr val="hlink"/>
                </a:solidFill>
              </a:rPr>
              <a:t>6</a:t>
            </a:r>
            <a:endParaRPr lang="zh-CN" altLang="en-US" sz="2000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8724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4" grpId="0"/>
      <p:bldP spid="5" grpId="0"/>
      <p:bldP spid="6" grpId="0"/>
      <p:bldP spid="7" grpId="0"/>
      <p:bldP spid="8" grpId="0"/>
      <p:bldP spid="9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611560" y="260648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迪杰斯特拉算法练习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FFBC687-D740-04F8-62AE-BB8910EB128C}"/>
              </a:ext>
            </a:extLst>
          </p:cNvPr>
          <p:cNvGrpSpPr/>
          <p:nvPr/>
        </p:nvGrpSpPr>
        <p:grpSpPr>
          <a:xfrm>
            <a:off x="971600" y="2476500"/>
            <a:ext cx="2493963" cy="1905000"/>
            <a:chOff x="4355976" y="3694102"/>
            <a:chExt cx="2493963" cy="1905000"/>
          </a:xfrm>
        </p:grpSpPr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F05EB839-3AA7-1EF5-62BC-BD62686796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54551" y="3932227"/>
              <a:ext cx="768350" cy="47625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A2E48DD7-1255-6E27-C4E6-BBCCB6B35B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2514" y="4587865"/>
              <a:ext cx="295275" cy="714375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1C88A21B-8FEA-72FF-783F-0B320F847B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1251" y="3873490"/>
              <a:ext cx="827088" cy="47625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8FD95CC3-3A4E-B087-A683-28E3BBD8D0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95814" y="3932227"/>
              <a:ext cx="473075" cy="1309688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469824CF-7509-3AC5-2AE6-BFC407017E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64001" y="5421302"/>
              <a:ext cx="885825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4BB41A95-BBDD-02DD-510D-3D85496B46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64001" y="4646602"/>
              <a:ext cx="1417638" cy="714375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2ECB0A7-0513-F31A-A15A-129136620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976" y="4289415"/>
              <a:ext cx="354013" cy="33655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20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A046B4E-50A2-EDDB-FC47-00418D555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9826" y="5262552"/>
              <a:ext cx="355600" cy="33655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200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F3CF22A-7F6D-2814-831A-72FD4F91E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726" y="5262552"/>
              <a:ext cx="355600" cy="33655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200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3C0BA84-6994-2B90-1284-C9DDBA32C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4164" y="4349740"/>
              <a:ext cx="354013" cy="333375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200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83A0B9-49CD-508B-AF8F-6F228B675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276" y="3694102"/>
              <a:ext cx="355600" cy="334963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20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" name="Text Box 20">
              <a:extLst>
                <a:ext uri="{FF2B5EF4-FFF2-40B4-BE49-F238E27FC236}">
                  <a16:creationId xmlns:a16="http://schemas.microsoft.com/office/drawing/2014/main" id="{9AF18EFD-42B8-EC70-D73D-A5CCF0466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5226" y="3703627"/>
              <a:ext cx="438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en-US" altLang="zh-CN" sz="2000" dirty="0">
                  <a:solidFill>
                    <a:schemeClr val="hlink"/>
                  </a:solidFill>
                </a:rPr>
                <a:t>1</a:t>
              </a:r>
              <a:endParaRPr lang="zh-CN" altLang="en-US" sz="2000" dirty="0">
                <a:solidFill>
                  <a:schemeClr val="hlink"/>
                </a:solidFill>
              </a:endParaRPr>
            </a:p>
          </p:txBody>
        </p:sp>
        <p:sp>
          <p:nvSpPr>
            <p:cNvPr id="5" name="Text Box 21">
              <a:extLst>
                <a:ext uri="{FF2B5EF4-FFF2-40B4-BE49-F238E27FC236}">
                  <a16:creationId xmlns:a16="http://schemas.microsoft.com/office/drawing/2014/main" id="{298FCF85-8A3F-DD1A-933C-4861E9E8A6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5976" y="4741852"/>
              <a:ext cx="438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zh-CN" altLang="en-US" sz="2000">
                  <a:solidFill>
                    <a:schemeClr val="hlink"/>
                  </a:solidFill>
                </a:rPr>
                <a:t>5</a:t>
              </a:r>
            </a:p>
          </p:txBody>
        </p:sp>
        <p:sp>
          <p:nvSpPr>
            <p:cNvPr id="6" name="Text Box 22">
              <a:extLst>
                <a:ext uri="{FF2B5EF4-FFF2-40B4-BE49-F238E27FC236}">
                  <a16:creationId xmlns:a16="http://schemas.microsoft.com/office/drawing/2014/main" id="{CB356AA3-ED9F-966E-C424-EAA78B416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3464" y="3703627"/>
              <a:ext cx="700088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zh-CN" altLang="en-US" sz="2000" dirty="0">
                  <a:solidFill>
                    <a:schemeClr val="hlink"/>
                  </a:solidFill>
                </a:rPr>
                <a:t>1</a:t>
              </a:r>
              <a:r>
                <a:rPr lang="en-US" altLang="zh-CN" sz="2000" dirty="0">
                  <a:solidFill>
                    <a:schemeClr val="hlink"/>
                  </a:solidFill>
                </a:rPr>
                <a:t>0</a:t>
              </a:r>
              <a:endParaRPr lang="zh-CN" altLang="en-US" sz="2000" dirty="0">
                <a:solidFill>
                  <a:schemeClr val="hlink"/>
                </a:solidFill>
              </a:endParaRPr>
            </a:p>
          </p:txBody>
        </p:sp>
        <p:sp>
          <p:nvSpPr>
            <p:cNvPr id="7" name="Text Box 23">
              <a:extLst>
                <a:ext uri="{FF2B5EF4-FFF2-40B4-BE49-F238E27FC236}">
                  <a16:creationId xmlns:a16="http://schemas.microsoft.com/office/drawing/2014/main" id="{29C68728-D9B9-ED35-8D69-82E9A2FD1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8001" y="4741852"/>
              <a:ext cx="438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zh-CN" altLang="en-US" sz="20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8" name="Text Box 24">
              <a:extLst>
                <a:ext uri="{FF2B5EF4-FFF2-40B4-BE49-F238E27FC236}">
                  <a16:creationId xmlns:a16="http://schemas.microsoft.com/office/drawing/2014/main" id="{453E3C42-8DBB-F55F-84E6-DDC3EA2C3F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5314" y="4222740"/>
              <a:ext cx="438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en-US" altLang="zh-CN" sz="2000" dirty="0">
                  <a:solidFill>
                    <a:schemeClr val="hlink"/>
                  </a:solidFill>
                </a:rPr>
                <a:t>3</a:t>
              </a:r>
              <a:endParaRPr lang="zh-CN" altLang="en-US" sz="2000" dirty="0">
                <a:solidFill>
                  <a:schemeClr val="hlink"/>
                </a:solidFill>
              </a:endParaRPr>
            </a:p>
          </p:txBody>
        </p:sp>
        <p:sp>
          <p:nvSpPr>
            <p:cNvPr id="9" name="Text Box 25">
              <a:extLst>
                <a:ext uri="{FF2B5EF4-FFF2-40B4-BE49-F238E27FC236}">
                  <a16:creationId xmlns:a16="http://schemas.microsoft.com/office/drawing/2014/main" id="{EF9365F8-1A4F-F1FE-32EA-CE7444874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2626" y="5011727"/>
              <a:ext cx="438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zh-CN" altLang="en-US" sz="2000" dirty="0">
                  <a:solidFill>
                    <a:schemeClr val="hlink"/>
                  </a:solidFill>
                </a:rPr>
                <a:t>2</a:t>
              </a:r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4542BC24-1A31-8554-94A9-63F362E8CA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8353" y="4687083"/>
              <a:ext cx="251508" cy="598947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24EEABF4-578D-48F7-5C54-2B5022D32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9851" y="4855244"/>
              <a:ext cx="700088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en-US" altLang="zh-CN" sz="2000" dirty="0">
                  <a:solidFill>
                    <a:schemeClr val="hlink"/>
                  </a:solidFill>
                </a:rPr>
                <a:t>6</a:t>
              </a:r>
              <a:endParaRPr lang="zh-CN" altLang="en-US" sz="2000" dirty="0">
                <a:solidFill>
                  <a:schemeClr val="hlink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E787E90-F003-8E0C-AB32-64C0FAC8E078}"/>
              </a:ext>
            </a:extLst>
          </p:cNvPr>
          <p:cNvSpPr txBox="1"/>
          <p:nvPr/>
        </p:nvSpPr>
        <p:spPr>
          <a:xfrm>
            <a:off x="611560" y="1268760"/>
            <a:ext cx="7992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0" i="0" dirty="0">
                <a:latin typeface="+mn-ea"/>
                <a:ea typeface="+mn-ea"/>
              </a:rPr>
              <a:t>2</a:t>
            </a:r>
            <a:r>
              <a:rPr lang="zh-CN" altLang="en-US" sz="2800" b="0" i="0" dirty="0">
                <a:latin typeface="+mn-ea"/>
                <a:ea typeface="+mn-ea"/>
              </a:rPr>
              <a:t>、写出该网的邻接矩阵。</a:t>
            </a:r>
            <a:endParaRPr lang="en-CN" sz="2800" b="0" i="0" dirty="0">
              <a:latin typeface="+mn-ea"/>
              <a:ea typeface="+mn-ea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B375C8E-8420-7359-B894-5BCFBD8FCF35}"/>
              </a:ext>
            </a:extLst>
          </p:cNvPr>
          <p:cNvGrpSpPr/>
          <p:nvPr/>
        </p:nvGrpSpPr>
        <p:grpSpPr>
          <a:xfrm>
            <a:off x="4881151" y="2359680"/>
            <a:ext cx="3723297" cy="2377712"/>
            <a:chOff x="4881151" y="2359680"/>
            <a:chExt cx="3723297" cy="2377712"/>
          </a:xfrm>
        </p:grpSpPr>
        <p:sp>
          <p:nvSpPr>
            <p:cNvPr id="33" name="Left Bracket 32">
              <a:extLst>
                <a:ext uri="{FF2B5EF4-FFF2-40B4-BE49-F238E27FC236}">
                  <a16:creationId xmlns:a16="http://schemas.microsoft.com/office/drawing/2014/main" id="{6E4BCDBA-7489-A77C-E073-D5A75CAF49D7}"/>
                </a:ext>
              </a:extLst>
            </p:cNvPr>
            <p:cNvSpPr/>
            <p:nvPr/>
          </p:nvSpPr>
          <p:spPr bwMode="auto">
            <a:xfrm>
              <a:off x="4881151" y="2447108"/>
              <a:ext cx="144016" cy="2276168"/>
            </a:xfrm>
            <a:prstGeom prst="leftBracke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N" sz="18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4" name="文本框 6">
              <a:extLst>
                <a:ext uri="{FF2B5EF4-FFF2-40B4-BE49-F238E27FC236}">
                  <a16:creationId xmlns:a16="http://schemas.microsoft.com/office/drawing/2014/main" id="{EA75E78D-FCB7-24C3-10CF-74499FABE23D}"/>
                </a:ext>
              </a:extLst>
            </p:cNvPr>
            <p:cNvSpPr txBox="1"/>
            <p:nvPr/>
          </p:nvSpPr>
          <p:spPr>
            <a:xfrm>
              <a:off x="5139396" y="2359680"/>
              <a:ext cx="30540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0" i="0" dirty="0">
                  <a:latin typeface="+mn-ea"/>
                  <a:ea typeface="+mn-ea"/>
                </a:rPr>
                <a:t>∞</a:t>
              </a:r>
              <a:r>
                <a:rPr lang="en-US" altLang="zh-CN" sz="2800" b="0" i="0" dirty="0">
                  <a:latin typeface="+mn-ea"/>
                  <a:ea typeface="+mn-ea"/>
                </a:rPr>
                <a:t>  1 </a:t>
              </a:r>
              <a:r>
                <a:rPr lang="zh-CN" altLang="en-US" sz="2800" b="0" i="0" dirty="0">
                  <a:latin typeface="+mn-ea"/>
                  <a:ea typeface="+mn-ea"/>
                </a:rPr>
                <a:t> </a:t>
              </a:r>
              <a:r>
                <a:rPr lang="zh-CN" altLang="en-US" sz="2800" b="0" i="0" dirty="0">
                  <a:latin typeface="+mn-ea"/>
                </a:rPr>
                <a:t>∞</a:t>
              </a:r>
              <a:r>
                <a:rPr lang="en-US" altLang="zh-CN" sz="2800" b="0" i="0" dirty="0">
                  <a:latin typeface="+mn-ea"/>
                  <a:ea typeface="+mn-ea"/>
                </a:rPr>
                <a:t>  3 </a:t>
              </a:r>
              <a:r>
                <a:rPr lang="zh-CN" altLang="en-US" sz="2800" b="0" i="0" dirty="0">
                  <a:latin typeface="+mn-ea"/>
                  <a:ea typeface="+mn-ea"/>
                </a:rPr>
                <a:t> </a:t>
              </a:r>
              <a:r>
                <a:rPr lang="en-US" altLang="zh-CN" sz="2800" b="0" i="0" dirty="0">
                  <a:latin typeface="+mn-ea"/>
                  <a:ea typeface="+mn-ea"/>
                </a:rPr>
                <a:t>10</a:t>
              </a:r>
              <a:endParaRPr lang="zh-CN" altLang="en-US" sz="2800" b="0" i="0" dirty="0">
                <a:latin typeface="+mn-ea"/>
                <a:ea typeface="+mn-ea"/>
              </a:endParaRPr>
            </a:p>
          </p:txBody>
        </p:sp>
        <p:sp>
          <p:nvSpPr>
            <p:cNvPr id="35" name="文本框 6">
              <a:extLst>
                <a:ext uri="{FF2B5EF4-FFF2-40B4-BE49-F238E27FC236}">
                  <a16:creationId xmlns:a16="http://schemas.microsoft.com/office/drawing/2014/main" id="{E33854D6-C1C4-13B0-C40E-D4E67617ED45}"/>
                </a:ext>
              </a:extLst>
            </p:cNvPr>
            <p:cNvSpPr txBox="1"/>
            <p:nvPr/>
          </p:nvSpPr>
          <p:spPr>
            <a:xfrm>
              <a:off x="5107563" y="2819526"/>
              <a:ext cx="30540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0" i="0" dirty="0">
                  <a:latin typeface="+mn-ea"/>
                  <a:ea typeface="+mn-ea"/>
                </a:rPr>
                <a:t>∞</a:t>
              </a:r>
              <a:r>
                <a:rPr lang="en-US" altLang="zh-CN" sz="2800" b="0" i="0" dirty="0">
                  <a:latin typeface="+mn-ea"/>
                  <a:ea typeface="+mn-ea"/>
                </a:rPr>
                <a:t>  </a:t>
              </a:r>
              <a:r>
                <a:rPr lang="zh-CN" altLang="en-US" sz="2800" b="0" i="0" dirty="0">
                  <a:latin typeface="+mn-ea"/>
                </a:rPr>
                <a:t>∞</a:t>
              </a:r>
              <a:r>
                <a:rPr lang="en-US" altLang="zh-CN" sz="2800" b="0" i="0" dirty="0">
                  <a:latin typeface="+mn-ea"/>
                  <a:ea typeface="+mn-ea"/>
                </a:rPr>
                <a:t> </a:t>
              </a:r>
              <a:r>
                <a:rPr lang="zh-CN" altLang="en-US" sz="2800" b="0" i="0" dirty="0">
                  <a:latin typeface="+mn-ea"/>
                  <a:ea typeface="+mn-ea"/>
                </a:rPr>
                <a:t> </a:t>
              </a:r>
              <a:r>
                <a:rPr lang="en-US" altLang="zh-CN" sz="2800" b="0" i="0" dirty="0">
                  <a:latin typeface="+mn-ea"/>
                  <a:ea typeface="+mn-ea"/>
                </a:rPr>
                <a:t>5 </a:t>
              </a:r>
              <a:r>
                <a:rPr lang="zh-CN" altLang="en-US" sz="2800" b="0" i="0" dirty="0">
                  <a:latin typeface="+mn-ea"/>
                  <a:ea typeface="+mn-ea"/>
                </a:rPr>
                <a:t> </a:t>
              </a:r>
              <a:r>
                <a:rPr lang="zh-CN" altLang="en-US" sz="2800" b="0" i="0" dirty="0">
                  <a:latin typeface="+mn-ea"/>
                </a:rPr>
                <a:t>∞ ∞</a:t>
              </a:r>
              <a:endParaRPr lang="zh-CN" altLang="en-US" sz="2800" b="0" i="0" dirty="0">
                <a:latin typeface="+mn-ea"/>
                <a:ea typeface="+mn-ea"/>
              </a:endParaRPr>
            </a:p>
          </p:txBody>
        </p:sp>
        <p:sp>
          <p:nvSpPr>
            <p:cNvPr id="36" name="文本框 6">
              <a:extLst>
                <a:ext uri="{FF2B5EF4-FFF2-40B4-BE49-F238E27FC236}">
                  <a16:creationId xmlns:a16="http://schemas.microsoft.com/office/drawing/2014/main" id="{2C5A1B10-381C-AE48-CAC4-8378271F7E33}"/>
                </a:ext>
              </a:extLst>
            </p:cNvPr>
            <p:cNvSpPr txBox="1"/>
            <p:nvPr/>
          </p:nvSpPr>
          <p:spPr>
            <a:xfrm>
              <a:off x="5136447" y="3323582"/>
              <a:ext cx="30540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0" i="0" dirty="0">
                  <a:latin typeface="+mn-ea"/>
                  <a:ea typeface="+mn-ea"/>
                </a:rPr>
                <a:t>∞</a:t>
              </a:r>
              <a:r>
                <a:rPr lang="en-US" altLang="zh-CN" sz="2800" b="0" i="0" dirty="0">
                  <a:latin typeface="+mn-ea"/>
                  <a:ea typeface="+mn-ea"/>
                </a:rPr>
                <a:t>  </a:t>
              </a:r>
              <a:r>
                <a:rPr lang="zh-CN" altLang="en-US" sz="2800" b="0" i="0" dirty="0">
                  <a:latin typeface="+mn-ea"/>
                </a:rPr>
                <a:t>∞</a:t>
              </a:r>
              <a:r>
                <a:rPr lang="en-US" altLang="zh-CN" sz="2800" b="0" i="0" dirty="0">
                  <a:latin typeface="+mn-ea"/>
                  <a:ea typeface="+mn-ea"/>
                </a:rPr>
                <a:t> </a:t>
              </a:r>
              <a:r>
                <a:rPr lang="zh-CN" altLang="en-US" sz="2800" b="0" i="0" dirty="0">
                  <a:latin typeface="+mn-ea"/>
                </a:rPr>
                <a:t>∞  ∞  </a:t>
              </a:r>
              <a:r>
                <a:rPr lang="en-US" altLang="zh-CN" sz="2800" b="0" i="0" dirty="0">
                  <a:latin typeface="+mn-ea"/>
                </a:rPr>
                <a:t>1</a:t>
              </a:r>
              <a:endParaRPr lang="zh-CN" altLang="en-US" sz="2800" b="0" i="0" dirty="0">
                <a:latin typeface="+mn-ea"/>
                <a:ea typeface="+mn-ea"/>
              </a:endParaRPr>
            </a:p>
          </p:txBody>
        </p:sp>
        <p:sp>
          <p:nvSpPr>
            <p:cNvPr id="37" name="文本框 6">
              <a:extLst>
                <a:ext uri="{FF2B5EF4-FFF2-40B4-BE49-F238E27FC236}">
                  <a16:creationId xmlns:a16="http://schemas.microsoft.com/office/drawing/2014/main" id="{F739186D-1215-60D2-193C-80E49DFD220F}"/>
                </a:ext>
              </a:extLst>
            </p:cNvPr>
            <p:cNvSpPr txBox="1"/>
            <p:nvPr/>
          </p:nvSpPr>
          <p:spPr>
            <a:xfrm>
              <a:off x="5154936" y="3755630"/>
              <a:ext cx="30540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0" i="0" dirty="0">
                  <a:latin typeface="+mn-ea"/>
                  <a:ea typeface="+mn-ea"/>
                </a:rPr>
                <a:t>∞</a:t>
              </a:r>
              <a:r>
                <a:rPr lang="en-US" altLang="zh-CN" sz="2800" b="0" i="0" dirty="0">
                  <a:latin typeface="+mn-ea"/>
                  <a:ea typeface="+mn-ea"/>
                </a:rPr>
                <a:t>  </a:t>
              </a:r>
              <a:r>
                <a:rPr lang="zh-CN" altLang="en-US" sz="2800" b="0" i="0" dirty="0">
                  <a:latin typeface="+mn-ea"/>
                </a:rPr>
                <a:t>∞</a:t>
              </a:r>
              <a:r>
                <a:rPr lang="en-US" altLang="zh-CN" sz="2800" b="0" i="0" dirty="0">
                  <a:latin typeface="+mn-ea"/>
                  <a:ea typeface="+mn-ea"/>
                </a:rPr>
                <a:t> </a:t>
              </a:r>
              <a:r>
                <a:rPr lang="zh-CN" altLang="en-US" sz="2800" b="0" i="0" dirty="0">
                  <a:latin typeface="+mn-ea"/>
                  <a:ea typeface="+mn-ea"/>
                </a:rPr>
                <a:t> </a:t>
              </a:r>
              <a:r>
                <a:rPr lang="en-US" altLang="zh-CN" sz="2800" b="0" i="0" dirty="0">
                  <a:latin typeface="+mn-ea"/>
                </a:rPr>
                <a:t>2</a:t>
              </a:r>
              <a:r>
                <a:rPr lang="zh-CN" altLang="en-US" sz="2800" b="0" i="0" dirty="0">
                  <a:latin typeface="+mn-ea"/>
                </a:rPr>
                <a:t>  ∞  </a:t>
              </a:r>
              <a:r>
                <a:rPr lang="en-US" altLang="zh-CN" sz="2800" b="0" i="0" dirty="0">
                  <a:latin typeface="+mn-ea"/>
                </a:rPr>
                <a:t>6</a:t>
              </a:r>
              <a:endParaRPr lang="zh-CN" altLang="en-US" sz="2800" b="0" i="0" dirty="0">
                <a:latin typeface="+mn-ea"/>
                <a:ea typeface="+mn-ea"/>
              </a:endParaRPr>
            </a:p>
          </p:txBody>
        </p:sp>
        <p:sp>
          <p:nvSpPr>
            <p:cNvPr id="38" name="文本框 6">
              <a:extLst>
                <a:ext uri="{FF2B5EF4-FFF2-40B4-BE49-F238E27FC236}">
                  <a16:creationId xmlns:a16="http://schemas.microsoft.com/office/drawing/2014/main" id="{79D74E98-8229-201E-D118-78DEF15BF2CB}"/>
                </a:ext>
              </a:extLst>
            </p:cNvPr>
            <p:cNvSpPr txBox="1"/>
            <p:nvPr/>
          </p:nvSpPr>
          <p:spPr>
            <a:xfrm>
              <a:off x="5118225" y="4214172"/>
              <a:ext cx="34862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0" i="0" dirty="0">
                  <a:latin typeface="+mn-ea"/>
                  <a:ea typeface="+mn-ea"/>
                </a:rPr>
                <a:t>∞</a:t>
              </a:r>
              <a:r>
                <a:rPr lang="en-US" altLang="zh-CN" sz="2800" b="0" i="0" dirty="0">
                  <a:latin typeface="+mn-ea"/>
                  <a:ea typeface="+mn-ea"/>
                </a:rPr>
                <a:t>  </a:t>
              </a:r>
              <a:r>
                <a:rPr lang="zh-CN" altLang="en-US" sz="2800" b="0" i="0" dirty="0">
                  <a:latin typeface="+mn-ea"/>
                </a:rPr>
                <a:t>∞</a:t>
              </a:r>
              <a:r>
                <a:rPr lang="en-US" altLang="zh-CN" sz="2800" b="0" i="0" dirty="0">
                  <a:latin typeface="+mn-ea"/>
                  <a:ea typeface="+mn-ea"/>
                </a:rPr>
                <a:t> </a:t>
              </a:r>
              <a:r>
                <a:rPr lang="zh-CN" altLang="en-US" sz="2800" b="0" i="0" dirty="0">
                  <a:latin typeface="+mn-ea"/>
                  <a:ea typeface="+mn-ea"/>
                </a:rPr>
                <a:t> </a:t>
              </a:r>
              <a:r>
                <a:rPr lang="zh-CN" altLang="en-US" sz="2800" b="0" i="0" dirty="0">
                  <a:latin typeface="+mn-ea"/>
                </a:rPr>
                <a:t>∞ ∞  ∞</a:t>
              </a:r>
              <a:endParaRPr lang="zh-CN" altLang="en-US" sz="2800" b="0" i="0" dirty="0">
                <a:latin typeface="+mn-ea"/>
                <a:ea typeface="+mn-ea"/>
              </a:endParaRPr>
            </a:p>
          </p:txBody>
        </p:sp>
        <p:sp>
          <p:nvSpPr>
            <p:cNvPr id="39" name="Right Bracket 38">
              <a:extLst>
                <a:ext uri="{FF2B5EF4-FFF2-40B4-BE49-F238E27FC236}">
                  <a16:creationId xmlns:a16="http://schemas.microsoft.com/office/drawing/2014/main" id="{34EDA40F-FBD9-D0E0-715E-612C68E864F3}"/>
                </a:ext>
              </a:extLst>
            </p:cNvPr>
            <p:cNvSpPr/>
            <p:nvPr/>
          </p:nvSpPr>
          <p:spPr bwMode="auto">
            <a:xfrm>
              <a:off x="8161590" y="2447108"/>
              <a:ext cx="288032" cy="2276168"/>
            </a:xfrm>
            <a:prstGeom prst="rightBracke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N" sz="18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054285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596200" y="233675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迪杰斯特拉算法练习</a:t>
            </a:r>
          </a:p>
        </p:txBody>
      </p:sp>
      <p:sp>
        <p:nvSpPr>
          <p:cNvPr id="27651" name="矩形 6"/>
          <p:cNvSpPr>
            <a:spLocks noChangeArrowheads="1"/>
          </p:cNvSpPr>
          <p:nvPr/>
        </p:nvSpPr>
        <p:spPr bwMode="auto">
          <a:xfrm>
            <a:off x="515242" y="1268760"/>
            <a:ext cx="8377238" cy="136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0" i="0" dirty="0">
                <a:latin typeface="+mn-ea"/>
                <a:ea typeface="+mn-ea"/>
              </a:rPr>
              <a:t>3</a:t>
            </a:r>
            <a:r>
              <a:rPr lang="zh-CN" altLang="zh-CN" sz="2800" b="0" i="0" dirty="0">
                <a:latin typeface="+mn-ea"/>
                <a:ea typeface="+mn-ea"/>
              </a:rPr>
              <a:t>、用</a:t>
            </a:r>
            <a:r>
              <a:rPr lang="en-US" altLang="zh-CN" sz="2800" b="0" i="0" dirty="0" err="1">
                <a:latin typeface="+mn-ea"/>
                <a:ea typeface="+mn-ea"/>
              </a:rPr>
              <a:t>Dijkstra</a:t>
            </a:r>
            <a:r>
              <a:rPr lang="zh-CN" altLang="zh-CN" sz="2800" b="0" i="0" dirty="0">
                <a:latin typeface="+mn-ea"/>
                <a:ea typeface="+mn-ea"/>
              </a:rPr>
              <a:t>算法求最短路径，写出顶点</a:t>
            </a:r>
            <a:r>
              <a:rPr lang="en-US" altLang="zh-CN" sz="2800" b="0" i="0" dirty="0">
                <a:latin typeface="+mn-ea"/>
                <a:ea typeface="+mn-ea"/>
              </a:rPr>
              <a:t>0</a:t>
            </a:r>
            <a:r>
              <a:rPr lang="zh-CN" altLang="zh-CN" sz="2800" b="0" i="0" dirty="0">
                <a:latin typeface="+mn-ea"/>
                <a:ea typeface="+mn-ea"/>
              </a:rPr>
              <a:t>到其它各顶点的最短路径长度、路径及产生过程</a:t>
            </a:r>
            <a:r>
              <a:rPr lang="zh-CN" altLang="zh-CN" sz="3200" b="0" i="0" dirty="0"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2">
            <a:extLst>
              <a:ext uri="{FF2B5EF4-FFF2-40B4-BE49-F238E27FC236}">
                <a16:creationId xmlns:a16="http://schemas.microsoft.com/office/drawing/2014/main" id="{809B3E74-3917-4609-8D65-96E20ABF47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8952396"/>
              </p:ext>
            </p:extLst>
          </p:nvPr>
        </p:nvGraphicFramePr>
        <p:xfrm>
          <a:off x="586089" y="1270680"/>
          <a:ext cx="7920879" cy="5032637"/>
        </p:xfrm>
        <a:graphic>
          <a:graphicData uri="http://schemas.openxmlformats.org/drawingml/2006/table">
            <a:tbl>
              <a:tblPr/>
              <a:tblGrid>
                <a:gridCol w="618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0305">
                  <a:extLst>
                    <a:ext uri="{9D8B030D-6E8A-4147-A177-3AD203B41FA5}">
                      <a16:colId xmlns:a16="http://schemas.microsoft.com/office/drawing/2014/main" val="2859952020"/>
                    </a:ext>
                  </a:extLst>
                </a:gridCol>
                <a:gridCol w="1724103">
                  <a:extLst>
                    <a:ext uri="{9D8B030D-6E8A-4147-A177-3AD203B41FA5}">
                      <a16:colId xmlns:a16="http://schemas.microsoft.com/office/drawing/2014/main" val="1286720104"/>
                    </a:ext>
                  </a:extLst>
                </a:gridCol>
                <a:gridCol w="1724103">
                  <a:extLst>
                    <a:ext uri="{9D8B030D-6E8A-4147-A177-3AD203B41FA5}">
                      <a16:colId xmlns:a16="http://schemas.microsoft.com/office/drawing/2014/main" val="2151420275"/>
                    </a:ext>
                  </a:extLst>
                </a:gridCol>
              </a:tblGrid>
              <a:tr h="59789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终点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从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到各终点的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值和最短路径的求解过程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19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3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3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26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j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06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U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-1068389" y="270555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迪杰斯特拉算法练习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E251A72-4BAE-D909-0D30-E40A7A33E660}"/>
              </a:ext>
            </a:extLst>
          </p:cNvPr>
          <p:cNvGrpSpPr/>
          <p:nvPr/>
        </p:nvGrpSpPr>
        <p:grpSpPr>
          <a:xfrm>
            <a:off x="6650037" y="3810"/>
            <a:ext cx="2493963" cy="1905000"/>
            <a:chOff x="4355976" y="3694102"/>
            <a:chExt cx="2493963" cy="1905000"/>
          </a:xfrm>
        </p:grpSpPr>
        <p:sp>
          <p:nvSpPr>
            <p:cNvPr id="31" name="Line 9">
              <a:extLst>
                <a:ext uri="{FF2B5EF4-FFF2-40B4-BE49-F238E27FC236}">
                  <a16:creationId xmlns:a16="http://schemas.microsoft.com/office/drawing/2014/main" id="{E84588DB-09D6-414A-28DE-DACC5E27D7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54551" y="3932227"/>
              <a:ext cx="768350" cy="47625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2" name="Line 10">
              <a:extLst>
                <a:ext uri="{FF2B5EF4-FFF2-40B4-BE49-F238E27FC236}">
                  <a16:creationId xmlns:a16="http://schemas.microsoft.com/office/drawing/2014/main" id="{BA9D842A-D67B-2A01-133C-162AA9183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2514" y="4587865"/>
              <a:ext cx="295275" cy="714375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3" name="Line 11">
              <a:extLst>
                <a:ext uri="{FF2B5EF4-FFF2-40B4-BE49-F238E27FC236}">
                  <a16:creationId xmlns:a16="http://schemas.microsoft.com/office/drawing/2014/main" id="{DBBA7E24-8C69-6A3F-BB26-63714638A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1251" y="3873490"/>
              <a:ext cx="827088" cy="47625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4" name="Line 12">
              <a:extLst>
                <a:ext uri="{FF2B5EF4-FFF2-40B4-BE49-F238E27FC236}">
                  <a16:creationId xmlns:a16="http://schemas.microsoft.com/office/drawing/2014/main" id="{832A5181-B969-9112-FAA5-CFC2300365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95814" y="3932227"/>
              <a:ext cx="473075" cy="1309688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5" name="Line 13">
              <a:extLst>
                <a:ext uri="{FF2B5EF4-FFF2-40B4-BE49-F238E27FC236}">
                  <a16:creationId xmlns:a16="http://schemas.microsoft.com/office/drawing/2014/main" id="{FC06D6B1-9B9E-A09C-B91E-154DE447B2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64001" y="5421302"/>
              <a:ext cx="885825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6" name="Line 14">
              <a:extLst>
                <a:ext uri="{FF2B5EF4-FFF2-40B4-BE49-F238E27FC236}">
                  <a16:creationId xmlns:a16="http://schemas.microsoft.com/office/drawing/2014/main" id="{9510C9A3-586A-5F9B-715B-68E2AF7848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64001" y="4646602"/>
              <a:ext cx="1417638" cy="714375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7B838FE-25B4-6F92-90EC-A0DA76480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976" y="4289415"/>
              <a:ext cx="354013" cy="33655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20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9E9CC7F-757F-095E-3A33-23694922A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9826" y="5262552"/>
              <a:ext cx="355600" cy="33655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200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F17C5F2-803A-0A5F-40BF-D15CF9FD5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726" y="5262552"/>
              <a:ext cx="355600" cy="33655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200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0CB24B0-1B2B-03EF-1F67-DEB3AFAED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4164" y="4349740"/>
              <a:ext cx="354013" cy="333375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200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0682DF7-F538-8455-C506-6B58F5AC6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276" y="3694102"/>
              <a:ext cx="355600" cy="334963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20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2" name="Text Box 20">
              <a:extLst>
                <a:ext uri="{FF2B5EF4-FFF2-40B4-BE49-F238E27FC236}">
                  <a16:creationId xmlns:a16="http://schemas.microsoft.com/office/drawing/2014/main" id="{AA3516F8-8113-0AB9-E7AA-3ECEC98D8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5226" y="3703627"/>
              <a:ext cx="438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en-US" altLang="zh-CN" sz="2000" dirty="0">
                  <a:solidFill>
                    <a:schemeClr val="hlink"/>
                  </a:solidFill>
                </a:rPr>
                <a:t>1</a:t>
              </a:r>
              <a:endParaRPr lang="zh-CN" altLang="en-US" sz="2000" dirty="0">
                <a:solidFill>
                  <a:schemeClr val="hlink"/>
                </a:solidFill>
              </a:endParaRPr>
            </a:p>
          </p:txBody>
        </p:sp>
        <p:sp>
          <p:nvSpPr>
            <p:cNvPr id="43" name="Text Box 21">
              <a:extLst>
                <a:ext uri="{FF2B5EF4-FFF2-40B4-BE49-F238E27FC236}">
                  <a16:creationId xmlns:a16="http://schemas.microsoft.com/office/drawing/2014/main" id="{ED633E71-2082-3F39-5646-F41407233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5976" y="4741852"/>
              <a:ext cx="438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zh-CN" altLang="en-US" sz="2000">
                  <a:solidFill>
                    <a:schemeClr val="hlink"/>
                  </a:solidFill>
                </a:rPr>
                <a:t>5</a:t>
              </a:r>
            </a:p>
          </p:txBody>
        </p:sp>
        <p:sp>
          <p:nvSpPr>
            <p:cNvPr id="44" name="Text Box 22">
              <a:extLst>
                <a:ext uri="{FF2B5EF4-FFF2-40B4-BE49-F238E27FC236}">
                  <a16:creationId xmlns:a16="http://schemas.microsoft.com/office/drawing/2014/main" id="{83DC5D4A-2185-7AE6-1322-1B895CAD0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3464" y="3703627"/>
              <a:ext cx="700088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zh-CN" altLang="en-US" sz="2000" dirty="0">
                  <a:solidFill>
                    <a:schemeClr val="hlink"/>
                  </a:solidFill>
                </a:rPr>
                <a:t>1</a:t>
              </a:r>
              <a:r>
                <a:rPr lang="en-US" altLang="zh-CN" sz="2000" dirty="0">
                  <a:solidFill>
                    <a:schemeClr val="hlink"/>
                  </a:solidFill>
                </a:rPr>
                <a:t>0</a:t>
              </a:r>
              <a:endParaRPr lang="zh-CN" altLang="en-US" sz="2000" dirty="0">
                <a:solidFill>
                  <a:schemeClr val="hlink"/>
                </a:solidFill>
              </a:endParaRPr>
            </a:p>
          </p:txBody>
        </p:sp>
        <p:sp>
          <p:nvSpPr>
            <p:cNvPr id="45" name="Text Box 23">
              <a:extLst>
                <a:ext uri="{FF2B5EF4-FFF2-40B4-BE49-F238E27FC236}">
                  <a16:creationId xmlns:a16="http://schemas.microsoft.com/office/drawing/2014/main" id="{58BDFE42-5D46-8CD6-B05E-2C64D5639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8001" y="4741852"/>
              <a:ext cx="438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zh-CN" altLang="en-US" sz="20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46" name="Text Box 24">
              <a:extLst>
                <a:ext uri="{FF2B5EF4-FFF2-40B4-BE49-F238E27FC236}">
                  <a16:creationId xmlns:a16="http://schemas.microsoft.com/office/drawing/2014/main" id="{4DD4D623-23A4-2ED1-262E-A3A46305F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5314" y="4222740"/>
              <a:ext cx="438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en-US" altLang="zh-CN" sz="2000" dirty="0">
                  <a:solidFill>
                    <a:schemeClr val="hlink"/>
                  </a:solidFill>
                </a:rPr>
                <a:t>3</a:t>
              </a:r>
              <a:endParaRPr lang="zh-CN" altLang="en-US" sz="2000" dirty="0">
                <a:solidFill>
                  <a:schemeClr val="hlink"/>
                </a:solidFill>
              </a:endParaRPr>
            </a:p>
          </p:txBody>
        </p:sp>
        <p:sp>
          <p:nvSpPr>
            <p:cNvPr id="47" name="Text Box 25">
              <a:extLst>
                <a:ext uri="{FF2B5EF4-FFF2-40B4-BE49-F238E27FC236}">
                  <a16:creationId xmlns:a16="http://schemas.microsoft.com/office/drawing/2014/main" id="{50B32B25-1E03-545F-DE92-F29CB7621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2626" y="5011727"/>
              <a:ext cx="438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zh-CN" altLang="en-US" sz="2000" dirty="0">
                  <a:solidFill>
                    <a:schemeClr val="hlink"/>
                  </a:solidFill>
                </a:rPr>
                <a:t>2</a:t>
              </a:r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9F312E00-C79D-EC61-87A5-C4D5FABAF8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8353" y="4687083"/>
              <a:ext cx="251508" cy="598947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49" name="Text Box 22">
              <a:extLst>
                <a:ext uri="{FF2B5EF4-FFF2-40B4-BE49-F238E27FC236}">
                  <a16:creationId xmlns:a16="http://schemas.microsoft.com/office/drawing/2014/main" id="{E97FFA30-62E8-D311-9A24-4C112CED8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9851" y="4855244"/>
              <a:ext cx="700088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en-US" altLang="zh-CN" sz="2000" dirty="0">
                  <a:solidFill>
                    <a:schemeClr val="hlink"/>
                  </a:solidFill>
                </a:rPr>
                <a:t>6</a:t>
              </a:r>
              <a:endParaRPr lang="zh-CN" altLang="en-US" sz="2000" dirty="0">
                <a:solidFill>
                  <a:schemeClr val="hlink"/>
                </a:solidFill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FBF1E47-5595-ACCC-DF65-63D261F5BB2D}"/>
              </a:ext>
            </a:extLst>
          </p:cNvPr>
          <p:cNvSpPr txBox="1"/>
          <p:nvPr/>
        </p:nvSpPr>
        <p:spPr>
          <a:xfrm>
            <a:off x="1403648" y="2276872"/>
            <a:ext cx="92586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1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{0,1}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FB354A-0954-C515-3910-CF010A2AA96C}"/>
              </a:ext>
            </a:extLst>
          </p:cNvPr>
          <p:cNvSpPr txBox="1"/>
          <p:nvPr/>
        </p:nvSpPr>
        <p:spPr>
          <a:xfrm>
            <a:off x="1583668" y="3080606"/>
            <a:ext cx="56582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9993C5-5F22-44FF-9EE4-E0E6ED21080A}"/>
              </a:ext>
            </a:extLst>
          </p:cNvPr>
          <p:cNvSpPr txBox="1"/>
          <p:nvPr/>
        </p:nvSpPr>
        <p:spPr>
          <a:xfrm>
            <a:off x="1485900" y="3753854"/>
            <a:ext cx="66358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3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{0,3}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BEB47F9-C0F9-CE18-EF16-07721958E60E}"/>
              </a:ext>
            </a:extLst>
          </p:cNvPr>
          <p:cNvSpPr txBox="1"/>
          <p:nvPr/>
        </p:nvSpPr>
        <p:spPr>
          <a:xfrm>
            <a:off x="1485900" y="4473706"/>
            <a:ext cx="66358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10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{0,4}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5BB757-CB93-47A3-0A8D-03C196068393}"/>
              </a:ext>
            </a:extLst>
          </p:cNvPr>
          <p:cNvSpPr txBox="1"/>
          <p:nvPr/>
        </p:nvSpPr>
        <p:spPr>
          <a:xfrm>
            <a:off x="2684137" y="2498471"/>
            <a:ext cx="92586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908296-9C14-39FF-3CD5-747C6FF955F1}"/>
              </a:ext>
            </a:extLst>
          </p:cNvPr>
          <p:cNvSpPr txBox="1"/>
          <p:nvPr/>
        </p:nvSpPr>
        <p:spPr>
          <a:xfrm>
            <a:off x="2684137" y="2969806"/>
            <a:ext cx="92586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b="0" i="0" dirty="0">
                <a:latin typeface="Arial" pitchFamily="34" charset="0"/>
              </a:rPr>
              <a:t>6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{0,1,2}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EF99D7-28EF-6AFB-4153-F6886E642E06}"/>
              </a:ext>
            </a:extLst>
          </p:cNvPr>
          <p:cNvSpPr txBox="1"/>
          <p:nvPr/>
        </p:nvSpPr>
        <p:spPr>
          <a:xfrm>
            <a:off x="2815273" y="3753854"/>
            <a:ext cx="66358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3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{0,3}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B50B9BB-207C-4161-279C-84884F19E583}"/>
              </a:ext>
            </a:extLst>
          </p:cNvPr>
          <p:cNvSpPr txBox="1"/>
          <p:nvPr/>
        </p:nvSpPr>
        <p:spPr>
          <a:xfrm>
            <a:off x="2815273" y="4511485"/>
            <a:ext cx="66358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10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{0,4}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5007C1-14CA-81C8-D493-D292E7491BC5}"/>
              </a:ext>
            </a:extLst>
          </p:cNvPr>
          <p:cNvSpPr txBox="1"/>
          <p:nvPr/>
        </p:nvSpPr>
        <p:spPr>
          <a:xfrm>
            <a:off x="1354764" y="5287532"/>
            <a:ext cx="92586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1</a:t>
            </a:r>
          </a:p>
        </p:txBody>
      </p:sp>
      <p:sp>
        <p:nvSpPr>
          <p:cNvPr id="27648" name="TextBox 27647">
            <a:extLst>
              <a:ext uri="{FF2B5EF4-FFF2-40B4-BE49-F238E27FC236}">
                <a16:creationId xmlns:a16="http://schemas.microsoft.com/office/drawing/2014/main" id="{74252CF0-B025-6D06-5BA7-3C5FC024B8E1}"/>
              </a:ext>
            </a:extLst>
          </p:cNvPr>
          <p:cNvSpPr txBox="1"/>
          <p:nvPr/>
        </p:nvSpPr>
        <p:spPr>
          <a:xfrm>
            <a:off x="1313719" y="5713794"/>
            <a:ext cx="1105718" cy="373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{0,1}</a:t>
            </a:r>
          </a:p>
        </p:txBody>
      </p:sp>
      <p:sp>
        <p:nvSpPr>
          <p:cNvPr id="27651" name="TextBox 27650">
            <a:extLst>
              <a:ext uri="{FF2B5EF4-FFF2-40B4-BE49-F238E27FC236}">
                <a16:creationId xmlns:a16="http://schemas.microsoft.com/office/drawing/2014/main" id="{50001796-33DE-EE18-6F1A-22D9A565D6B4}"/>
              </a:ext>
            </a:extLst>
          </p:cNvPr>
          <p:cNvSpPr txBox="1"/>
          <p:nvPr/>
        </p:nvSpPr>
        <p:spPr>
          <a:xfrm>
            <a:off x="2884157" y="5257812"/>
            <a:ext cx="565820" cy="373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3</a:t>
            </a:r>
          </a:p>
        </p:txBody>
      </p:sp>
      <p:sp>
        <p:nvSpPr>
          <p:cNvPr id="27652" name="TextBox 27651">
            <a:extLst>
              <a:ext uri="{FF2B5EF4-FFF2-40B4-BE49-F238E27FC236}">
                <a16:creationId xmlns:a16="http://schemas.microsoft.com/office/drawing/2014/main" id="{15540E12-ED9B-4AAD-F9AA-CEEA5293F612}"/>
              </a:ext>
            </a:extLst>
          </p:cNvPr>
          <p:cNvSpPr txBox="1"/>
          <p:nvPr/>
        </p:nvSpPr>
        <p:spPr>
          <a:xfrm>
            <a:off x="2504279" y="5700821"/>
            <a:ext cx="1105718" cy="373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{0,1,3}</a:t>
            </a:r>
          </a:p>
        </p:txBody>
      </p:sp>
      <p:sp>
        <p:nvSpPr>
          <p:cNvPr id="27653" name="TextBox 27652">
            <a:extLst>
              <a:ext uri="{FF2B5EF4-FFF2-40B4-BE49-F238E27FC236}">
                <a16:creationId xmlns:a16="http://schemas.microsoft.com/office/drawing/2014/main" id="{5F8505D7-5D28-54F6-C319-EC2972B88531}"/>
              </a:ext>
            </a:extLst>
          </p:cNvPr>
          <p:cNvSpPr txBox="1"/>
          <p:nvPr/>
        </p:nvSpPr>
        <p:spPr>
          <a:xfrm>
            <a:off x="3995936" y="3975453"/>
            <a:ext cx="92586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1</a:t>
            </a:r>
          </a:p>
        </p:txBody>
      </p:sp>
      <p:sp>
        <p:nvSpPr>
          <p:cNvPr id="27654" name="TextBox 27653">
            <a:extLst>
              <a:ext uri="{FF2B5EF4-FFF2-40B4-BE49-F238E27FC236}">
                <a16:creationId xmlns:a16="http://schemas.microsoft.com/office/drawing/2014/main" id="{494EB358-3EE4-AE5C-D513-4E50A0A25759}"/>
              </a:ext>
            </a:extLst>
          </p:cNvPr>
          <p:cNvSpPr txBox="1"/>
          <p:nvPr/>
        </p:nvSpPr>
        <p:spPr>
          <a:xfrm>
            <a:off x="3995936" y="2984704"/>
            <a:ext cx="92586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b="0" i="0" dirty="0">
                <a:latin typeface="Arial" pitchFamily="34" charset="0"/>
              </a:rPr>
              <a:t>5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{0,3,2}</a:t>
            </a:r>
          </a:p>
        </p:txBody>
      </p:sp>
      <p:sp>
        <p:nvSpPr>
          <p:cNvPr id="27655" name="TextBox 27654">
            <a:extLst>
              <a:ext uri="{FF2B5EF4-FFF2-40B4-BE49-F238E27FC236}">
                <a16:creationId xmlns:a16="http://schemas.microsoft.com/office/drawing/2014/main" id="{9713EE1D-B160-822E-93D8-A085B1B538FA}"/>
              </a:ext>
            </a:extLst>
          </p:cNvPr>
          <p:cNvSpPr txBox="1"/>
          <p:nvPr/>
        </p:nvSpPr>
        <p:spPr>
          <a:xfrm>
            <a:off x="4003853" y="4449671"/>
            <a:ext cx="92586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b="0" i="0" dirty="0">
                <a:latin typeface="Arial" pitchFamily="34" charset="0"/>
              </a:rPr>
              <a:t>9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{0,3,4}</a:t>
            </a:r>
          </a:p>
        </p:txBody>
      </p:sp>
      <p:sp>
        <p:nvSpPr>
          <p:cNvPr id="27656" name="TextBox 27655">
            <a:extLst>
              <a:ext uri="{FF2B5EF4-FFF2-40B4-BE49-F238E27FC236}">
                <a16:creationId xmlns:a16="http://schemas.microsoft.com/office/drawing/2014/main" id="{95E2BB20-7BE5-6FEB-52C4-7A6E406EC4C8}"/>
              </a:ext>
            </a:extLst>
          </p:cNvPr>
          <p:cNvSpPr txBox="1"/>
          <p:nvPr/>
        </p:nvSpPr>
        <p:spPr>
          <a:xfrm>
            <a:off x="4148787" y="5228092"/>
            <a:ext cx="565820" cy="373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b="0" i="0" dirty="0">
                <a:latin typeface="Arial" pitchFamily="34" charset="0"/>
              </a:rPr>
              <a:t>2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7657" name="TextBox 27656">
            <a:extLst>
              <a:ext uri="{FF2B5EF4-FFF2-40B4-BE49-F238E27FC236}">
                <a16:creationId xmlns:a16="http://schemas.microsoft.com/office/drawing/2014/main" id="{3E73B784-A83C-EBB1-DDBA-BD501B323B95}"/>
              </a:ext>
            </a:extLst>
          </p:cNvPr>
          <p:cNvSpPr txBox="1"/>
          <p:nvPr/>
        </p:nvSpPr>
        <p:spPr>
          <a:xfrm>
            <a:off x="3875155" y="5700821"/>
            <a:ext cx="1105718" cy="373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{0,1,3,2}</a:t>
            </a:r>
          </a:p>
        </p:txBody>
      </p:sp>
      <p:sp>
        <p:nvSpPr>
          <p:cNvPr id="27658" name="TextBox 27657">
            <a:extLst>
              <a:ext uri="{FF2B5EF4-FFF2-40B4-BE49-F238E27FC236}">
                <a16:creationId xmlns:a16="http://schemas.microsoft.com/office/drawing/2014/main" id="{B0C51051-B445-C32C-17A5-6E1A48750D49}"/>
              </a:ext>
            </a:extLst>
          </p:cNvPr>
          <p:cNvSpPr txBox="1"/>
          <p:nvPr/>
        </p:nvSpPr>
        <p:spPr>
          <a:xfrm>
            <a:off x="5506292" y="3191405"/>
            <a:ext cx="92586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1</a:t>
            </a:r>
          </a:p>
        </p:txBody>
      </p:sp>
      <p:sp>
        <p:nvSpPr>
          <p:cNvPr id="27659" name="TextBox 27658">
            <a:extLst>
              <a:ext uri="{FF2B5EF4-FFF2-40B4-BE49-F238E27FC236}">
                <a16:creationId xmlns:a16="http://schemas.microsoft.com/office/drawing/2014/main" id="{6F6F186B-7303-BB10-494D-9AC7A0222833}"/>
              </a:ext>
            </a:extLst>
          </p:cNvPr>
          <p:cNvSpPr txBox="1"/>
          <p:nvPr/>
        </p:nvSpPr>
        <p:spPr>
          <a:xfrm>
            <a:off x="5454704" y="4500682"/>
            <a:ext cx="977447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0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b="0" i="0" dirty="0">
                <a:latin typeface="Arial" pitchFamily="34" charset="0"/>
              </a:rPr>
              <a:t>6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{0,3,2,4}</a:t>
            </a:r>
          </a:p>
        </p:txBody>
      </p:sp>
      <p:sp>
        <p:nvSpPr>
          <p:cNvPr id="27660" name="TextBox 27659">
            <a:extLst>
              <a:ext uri="{FF2B5EF4-FFF2-40B4-BE49-F238E27FC236}">
                <a16:creationId xmlns:a16="http://schemas.microsoft.com/office/drawing/2014/main" id="{6FC24954-16D3-8C31-71B8-25531E8EFB83}"/>
              </a:ext>
            </a:extLst>
          </p:cNvPr>
          <p:cNvSpPr txBox="1"/>
          <p:nvPr/>
        </p:nvSpPr>
        <p:spPr>
          <a:xfrm>
            <a:off x="5629681" y="5258584"/>
            <a:ext cx="565820" cy="373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b="0" i="0" dirty="0">
                <a:latin typeface="Arial" pitchFamily="34" charset="0"/>
              </a:rPr>
              <a:t>4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7661" name="TextBox 27660">
            <a:extLst>
              <a:ext uri="{FF2B5EF4-FFF2-40B4-BE49-F238E27FC236}">
                <a16:creationId xmlns:a16="http://schemas.microsoft.com/office/drawing/2014/main" id="{3667D620-B26B-05EA-B272-1F33F5AE8066}"/>
              </a:ext>
            </a:extLst>
          </p:cNvPr>
          <p:cNvSpPr txBox="1"/>
          <p:nvPr/>
        </p:nvSpPr>
        <p:spPr>
          <a:xfrm>
            <a:off x="5326433" y="5682358"/>
            <a:ext cx="1323604" cy="373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{0,1,3,2,4}</a:t>
            </a:r>
          </a:p>
        </p:txBody>
      </p:sp>
      <p:sp>
        <p:nvSpPr>
          <p:cNvPr id="27662" name="TextBox 27661">
            <a:extLst>
              <a:ext uri="{FF2B5EF4-FFF2-40B4-BE49-F238E27FC236}">
                <a16:creationId xmlns:a16="http://schemas.microsoft.com/office/drawing/2014/main" id="{A9A57BAB-1323-6BC5-09B3-B934AFED59FB}"/>
              </a:ext>
            </a:extLst>
          </p:cNvPr>
          <p:cNvSpPr txBox="1"/>
          <p:nvPr/>
        </p:nvSpPr>
        <p:spPr>
          <a:xfrm>
            <a:off x="7352630" y="4641550"/>
            <a:ext cx="565820" cy="373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b="0" i="0" dirty="0">
                <a:latin typeface="Arial" pitchFamily="34" charset="0"/>
              </a:rPr>
              <a:t>1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59606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3" grpId="0"/>
      <p:bldP spid="55" grpId="0"/>
      <p:bldP spid="57" grpId="0"/>
      <p:bldP spid="58" grpId="0"/>
      <p:bldP spid="59" grpId="0"/>
      <p:bldP spid="60" grpId="0"/>
      <p:bldP spid="61" grpId="0"/>
      <p:bldP spid="62" grpId="0"/>
      <p:bldP spid="27648" grpId="0"/>
      <p:bldP spid="27651" grpId="0"/>
      <p:bldP spid="27652" grpId="0"/>
      <p:bldP spid="27653" grpId="0"/>
      <p:bldP spid="27654" grpId="0"/>
      <p:bldP spid="27655" grpId="0"/>
      <p:bldP spid="27656" grpId="0"/>
      <p:bldP spid="27657" grpId="0"/>
      <p:bldP spid="27658" grpId="0"/>
      <p:bldP spid="27659" grpId="0"/>
      <p:bldP spid="27660" grpId="0"/>
      <p:bldP spid="27661" grpId="0"/>
      <p:bldP spid="2766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393628" y="275061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迪杰斯特拉算法练习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DC6E8-7542-DCF3-8EB6-879D9B56D14C}"/>
              </a:ext>
            </a:extLst>
          </p:cNvPr>
          <p:cNvSpPr txBox="1"/>
          <p:nvPr/>
        </p:nvSpPr>
        <p:spPr>
          <a:xfrm>
            <a:off x="683568" y="1340768"/>
            <a:ext cx="6696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N" sz="2800" b="0" i="0" dirty="0">
                <a:latin typeface="+mn-ea"/>
                <a:ea typeface="+mn-ea"/>
              </a:rPr>
              <a:t>0到</a:t>
            </a:r>
            <a:r>
              <a:rPr lang="en-US" altLang="zh-CN" sz="2800" b="0" i="0" dirty="0">
                <a:latin typeface="+mn-ea"/>
                <a:ea typeface="+mn-ea"/>
              </a:rPr>
              <a:t>1</a:t>
            </a:r>
            <a:r>
              <a:rPr lang="zh-CN" altLang="en-US" sz="2800" b="0" i="0" dirty="0">
                <a:latin typeface="+mn-ea"/>
                <a:ea typeface="+mn-ea"/>
              </a:rPr>
              <a:t>的最短路径长度</a:t>
            </a:r>
            <a:r>
              <a:rPr lang="en-US" altLang="zh-CN" sz="2800" b="0" i="0" dirty="0">
                <a:latin typeface="+mn-ea"/>
                <a:ea typeface="+mn-ea"/>
              </a:rPr>
              <a:t>1</a:t>
            </a:r>
            <a:r>
              <a:rPr lang="zh-CN" altLang="en-US" sz="2800" b="0" i="0" dirty="0">
                <a:latin typeface="+mn-ea"/>
                <a:ea typeface="+mn-ea"/>
              </a:rPr>
              <a:t>，路径</a:t>
            </a:r>
            <a:r>
              <a:rPr lang="en-US" altLang="zh-CN" sz="2800" b="0" i="0" dirty="0">
                <a:latin typeface="+mn-ea"/>
                <a:ea typeface="+mn-ea"/>
              </a:rPr>
              <a:t>0-&gt;1</a:t>
            </a:r>
            <a:endParaRPr lang="en-CN" sz="2800" b="0" i="0" dirty="0"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E00F4-E40A-74D7-2DEE-03491AF8B808}"/>
              </a:ext>
            </a:extLst>
          </p:cNvPr>
          <p:cNvSpPr txBox="1"/>
          <p:nvPr/>
        </p:nvSpPr>
        <p:spPr>
          <a:xfrm>
            <a:off x="683568" y="1906085"/>
            <a:ext cx="6696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N" sz="2800" b="0" i="0" dirty="0">
                <a:latin typeface="+mn-ea"/>
                <a:ea typeface="+mn-ea"/>
              </a:rPr>
              <a:t>0到</a:t>
            </a:r>
            <a:r>
              <a:rPr lang="en-US" sz="2800" b="0" i="0" dirty="0">
                <a:latin typeface="+mn-ea"/>
                <a:ea typeface="+mn-ea"/>
              </a:rPr>
              <a:t>2</a:t>
            </a:r>
            <a:r>
              <a:rPr lang="zh-CN" altLang="en-US" sz="2800" b="0" i="0" dirty="0">
                <a:latin typeface="+mn-ea"/>
                <a:ea typeface="+mn-ea"/>
              </a:rPr>
              <a:t>的最短路径长度</a:t>
            </a:r>
            <a:r>
              <a:rPr lang="en-US" altLang="zh-CN" sz="2800" b="0" i="0" dirty="0">
                <a:latin typeface="+mn-ea"/>
                <a:ea typeface="+mn-ea"/>
              </a:rPr>
              <a:t>5</a:t>
            </a:r>
            <a:r>
              <a:rPr lang="zh-CN" altLang="en-US" sz="2800" b="0" i="0" dirty="0">
                <a:latin typeface="+mn-ea"/>
                <a:ea typeface="+mn-ea"/>
              </a:rPr>
              <a:t>，路径</a:t>
            </a:r>
            <a:r>
              <a:rPr lang="en-US" altLang="zh-CN" sz="2800" b="0" i="0" dirty="0">
                <a:latin typeface="+mn-ea"/>
                <a:ea typeface="+mn-ea"/>
              </a:rPr>
              <a:t>0-&gt;3-&gt;2</a:t>
            </a:r>
            <a:endParaRPr lang="en-CN" sz="2800" b="0" i="0" dirty="0"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FC3F7-D6BB-2D6F-6A31-31B698B8791B}"/>
              </a:ext>
            </a:extLst>
          </p:cNvPr>
          <p:cNvSpPr txBox="1"/>
          <p:nvPr/>
        </p:nvSpPr>
        <p:spPr>
          <a:xfrm>
            <a:off x="683568" y="2471402"/>
            <a:ext cx="6696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N" sz="2800" b="0" i="0" dirty="0">
                <a:latin typeface="+mn-ea"/>
                <a:ea typeface="+mn-ea"/>
              </a:rPr>
              <a:t>0到</a:t>
            </a:r>
            <a:r>
              <a:rPr lang="en-US" sz="2800" b="0" i="0" dirty="0">
                <a:latin typeface="+mn-ea"/>
                <a:ea typeface="+mn-ea"/>
              </a:rPr>
              <a:t>3</a:t>
            </a:r>
            <a:r>
              <a:rPr lang="zh-CN" altLang="en-US" sz="2800" b="0" i="0" dirty="0">
                <a:latin typeface="+mn-ea"/>
                <a:ea typeface="+mn-ea"/>
              </a:rPr>
              <a:t>的最短路径长度</a:t>
            </a:r>
            <a:r>
              <a:rPr lang="en-US" altLang="zh-CN" sz="2800" b="0" i="0" dirty="0">
                <a:latin typeface="+mn-ea"/>
                <a:ea typeface="+mn-ea"/>
              </a:rPr>
              <a:t>3</a:t>
            </a:r>
            <a:r>
              <a:rPr lang="zh-CN" altLang="en-US" sz="2800" b="0" i="0" dirty="0">
                <a:latin typeface="+mn-ea"/>
                <a:ea typeface="+mn-ea"/>
              </a:rPr>
              <a:t>，路径</a:t>
            </a:r>
            <a:r>
              <a:rPr lang="en-US" altLang="zh-CN" sz="2800" b="0" i="0" dirty="0">
                <a:latin typeface="+mn-ea"/>
                <a:ea typeface="+mn-ea"/>
              </a:rPr>
              <a:t>0-&gt;3</a:t>
            </a:r>
            <a:endParaRPr lang="en-CN" sz="2800" b="0" i="0" dirty="0"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F6B5B-6C37-5E63-081E-DA589F8A25D1}"/>
              </a:ext>
            </a:extLst>
          </p:cNvPr>
          <p:cNvSpPr txBox="1"/>
          <p:nvPr/>
        </p:nvSpPr>
        <p:spPr>
          <a:xfrm>
            <a:off x="671776" y="3036719"/>
            <a:ext cx="6696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N" sz="2800" b="0" i="0" dirty="0">
                <a:latin typeface="+mn-ea"/>
                <a:ea typeface="+mn-ea"/>
              </a:rPr>
              <a:t>0到</a:t>
            </a:r>
            <a:r>
              <a:rPr lang="en-US" sz="2800" b="0" i="0" dirty="0">
                <a:latin typeface="+mn-ea"/>
                <a:ea typeface="+mn-ea"/>
              </a:rPr>
              <a:t>4</a:t>
            </a:r>
            <a:r>
              <a:rPr lang="zh-CN" altLang="en-US" sz="2800" b="0" i="0" dirty="0">
                <a:latin typeface="+mn-ea"/>
                <a:ea typeface="+mn-ea"/>
              </a:rPr>
              <a:t>的最短路径长度</a:t>
            </a:r>
            <a:r>
              <a:rPr lang="en-US" altLang="zh-CN" sz="2800" b="0" i="0" dirty="0">
                <a:latin typeface="+mn-ea"/>
                <a:ea typeface="+mn-ea"/>
              </a:rPr>
              <a:t>6</a:t>
            </a:r>
            <a:r>
              <a:rPr lang="zh-CN" altLang="en-US" sz="2800" b="0" i="0" dirty="0">
                <a:latin typeface="+mn-ea"/>
                <a:ea typeface="+mn-ea"/>
              </a:rPr>
              <a:t>，路径</a:t>
            </a:r>
            <a:r>
              <a:rPr lang="en-US" altLang="zh-CN" sz="2800" b="0" i="0" dirty="0">
                <a:latin typeface="+mn-ea"/>
                <a:ea typeface="+mn-ea"/>
              </a:rPr>
              <a:t>0-&gt;3-&gt;2-&gt;4</a:t>
            </a:r>
            <a:endParaRPr lang="en-CN" sz="2800" b="0" i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99893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71472" y="1285860"/>
            <a:ext cx="8458200" cy="47244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计划、施工过程、生产流程、程序流程等都是“工程”。除了很小的工程外，一般都把工程分为若干个叫做“活动”的子工程。完成了这些活动，整个工程就可以完成了。</a:t>
            </a:r>
          </a:p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计算机专业学生的学习就是一个工程，每一门课程的学习就是整个工程的一些活动。其中有些课程要求先修课程，有些则不要求。这样在有的课程之间有领先关系，有的课程可以并行地学习。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500034" y="214290"/>
            <a:ext cx="845820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第六节　有向无环图及其应用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685800" y="1412776"/>
            <a:ext cx="8273419" cy="4427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en-US" altLang="zh-CN" sz="3200" b="0" i="0" dirty="0">
                <a:solidFill>
                  <a:srgbClr val="000066"/>
                </a:solidFill>
                <a:latin typeface="+mn-ea"/>
                <a:ea typeface="+mn-ea"/>
              </a:rPr>
              <a:t>    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1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       </a:t>
            </a:r>
            <a:r>
              <a:rPr lang="zh-CN" altLang="en-US" sz="2800" b="0" i="0" dirty="0">
                <a:solidFill>
                  <a:srgbClr val="000066"/>
                </a:solidFill>
                <a:latin typeface="+mn-ea"/>
                <a:ea typeface="+mn-ea"/>
              </a:rPr>
              <a:t>高等数学</a:t>
            </a:r>
          </a:p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zh-CN" altLang="en-US" sz="2800" b="0" i="0" dirty="0">
                <a:solidFill>
                  <a:srgbClr val="000066"/>
                </a:solidFill>
                <a:latin typeface="+mn-ea"/>
                <a:ea typeface="+mn-ea"/>
              </a:rPr>
              <a:t>    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2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       </a:t>
            </a:r>
            <a:r>
              <a:rPr lang="zh-CN" altLang="en-US" sz="2800" b="0" i="0" dirty="0">
                <a:solidFill>
                  <a:srgbClr val="000066"/>
                </a:solidFill>
                <a:latin typeface="+mn-ea"/>
                <a:ea typeface="+mn-ea"/>
              </a:rPr>
              <a:t>程序设计基础</a:t>
            </a:r>
          </a:p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zh-CN" altLang="en-US" sz="2800" b="0" i="0" dirty="0">
                <a:solidFill>
                  <a:srgbClr val="000066"/>
                </a:solidFill>
                <a:latin typeface="+mn-ea"/>
                <a:ea typeface="+mn-ea"/>
              </a:rPr>
              <a:t>    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3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        </a:t>
            </a:r>
            <a:r>
              <a:rPr lang="zh-CN" altLang="en-US" sz="2800" b="0" i="0" dirty="0">
                <a:solidFill>
                  <a:srgbClr val="000066"/>
                </a:solidFill>
                <a:latin typeface="+mn-ea"/>
                <a:ea typeface="+mn-ea"/>
              </a:rPr>
              <a:t>离散数学         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1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,  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2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</a:t>
            </a:r>
          </a:p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4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        </a:t>
            </a:r>
            <a:r>
              <a:rPr lang="zh-CN" altLang="en-US" sz="2800" b="0" i="0" dirty="0">
                <a:solidFill>
                  <a:srgbClr val="000066"/>
                </a:solidFill>
                <a:latin typeface="+mn-ea"/>
                <a:ea typeface="+mn-ea"/>
              </a:rPr>
              <a:t>数据结构         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3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,  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2</a:t>
            </a:r>
            <a:endParaRPr lang="en-US" altLang="zh-CN" sz="2800" b="0" i="0" dirty="0">
              <a:solidFill>
                <a:srgbClr val="000066"/>
              </a:solidFill>
              <a:latin typeface="+mn-ea"/>
              <a:ea typeface="+mn-ea"/>
            </a:endParaRPr>
          </a:p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5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    </a:t>
            </a:r>
            <a:r>
              <a:rPr lang="zh-CN" altLang="en-US" sz="2800" b="0" i="0" dirty="0">
                <a:solidFill>
                  <a:srgbClr val="000066"/>
                </a:solidFill>
                <a:latin typeface="+mn-ea"/>
                <a:ea typeface="+mn-ea"/>
              </a:rPr>
              <a:t>高级语言程序设计        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2</a:t>
            </a:r>
            <a:endParaRPr lang="en-US" altLang="zh-CN" sz="2800" b="0" i="0" dirty="0">
              <a:solidFill>
                <a:srgbClr val="000066"/>
              </a:solidFill>
              <a:latin typeface="+mn-ea"/>
              <a:ea typeface="+mn-ea"/>
            </a:endParaRPr>
          </a:p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6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         </a:t>
            </a:r>
            <a:r>
              <a:rPr lang="zh-CN" altLang="en-US" sz="2800" b="0" i="0" dirty="0">
                <a:solidFill>
                  <a:srgbClr val="000066"/>
                </a:solidFill>
                <a:latin typeface="+mn-ea"/>
                <a:ea typeface="+mn-ea"/>
              </a:rPr>
              <a:t>编译方法        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5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,  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4</a:t>
            </a:r>
            <a:endParaRPr lang="en-US" altLang="zh-CN" sz="2800" b="0" i="0" dirty="0">
              <a:solidFill>
                <a:srgbClr val="000066"/>
              </a:solidFill>
              <a:latin typeface="+mn-ea"/>
              <a:ea typeface="+mn-ea"/>
            </a:endParaRPr>
          </a:p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7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         </a:t>
            </a:r>
            <a:r>
              <a:rPr lang="zh-CN" altLang="en-US" sz="2800" b="0" i="0" dirty="0">
                <a:solidFill>
                  <a:srgbClr val="000066"/>
                </a:solidFill>
                <a:latin typeface="+mn-ea"/>
                <a:ea typeface="+mn-ea"/>
              </a:rPr>
              <a:t>操作系统        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4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,  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9</a:t>
            </a:r>
            <a:endParaRPr lang="en-US" altLang="zh-CN" sz="2800" b="0" i="0" dirty="0">
              <a:solidFill>
                <a:srgbClr val="000066"/>
              </a:solidFill>
              <a:latin typeface="+mn-ea"/>
              <a:ea typeface="+mn-ea"/>
            </a:endParaRPr>
          </a:p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8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           </a:t>
            </a:r>
            <a:r>
              <a:rPr lang="zh-CN" altLang="en-US" sz="2800" b="0" i="0" dirty="0">
                <a:solidFill>
                  <a:srgbClr val="000066"/>
                </a:solidFill>
                <a:latin typeface="+mn-ea"/>
                <a:ea typeface="+mn-ea"/>
              </a:rPr>
              <a:t>物理             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1</a:t>
            </a:r>
            <a:endParaRPr lang="en-US" altLang="zh-CN" sz="2800" b="0" i="0" dirty="0">
              <a:solidFill>
                <a:srgbClr val="000066"/>
              </a:solidFill>
              <a:latin typeface="+mn-ea"/>
              <a:ea typeface="+mn-ea"/>
            </a:endParaRPr>
          </a:p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9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           </a:t>
            </a:r>
            <a:r>
              <a:rPr lang="zh-CN" altLang="en-US" sz="2800" b="0" i="0" dirty="0">
                <a:solidFill>
                  <a:srgbClr val="000066"/>
                </a:solidFill>
                <a:latin typeface="+mn-ea"/>
                <a:ea typeface="+mn-ea"/>
              </a:rPr>
              <a:t>计算机原理           </a:t>
            </a:r>
            <a:r>
              <a:rPr lang="en-US" altLang="zh-CN" sz="2800" b="0" i="0" dirty="0">
                <a:solidFill>
                  <a:srgbClr val="000066"/>
                </a:solidFill>
                <a:latin typeface="+mn-ea"/>
                <a:ea typeface="+mn-ea"/>
              </a:rPr>
              <a:t>C</a:t>
            </a:r>
            <a:r>
              <a:rPr lang="en-US" altLang="zh-CN" sz="2800" b="0" i="0" baseline="-25000" dirty="0">
                <a:solidFill>
                  <a:srgbClr val="000066"/>
                </a:solidFill>
                <a:latin typeface="+mn-ea"/>
                <a:ea typeface="+mn-ea"/>
              </a:rPr>
              <a:t>8</a:t>
            </a:r>
            <a:r>
              <a:rPr lang="en-US" altLang="zh-CN" sz="3200" b="0" i="0" dirty="0">
                <a:solidFill>
                  <a:srgbClr val="000066"/>
                </a:solidFill>
                <a:latin typeface="+mn-ea"/>
                <a:ea typeface="+mn-ea"/>
              </a:rPr>
              <a:t>     </a:t>
            </a:r>
          </a:p>
        </p:txBody>
      </p:sp>
      <p:sp>
        <p:nvSpPr>
          <p:cNvPr id="29699" name="Line 3"/>
          <p:cNvSpPr>
            <a:spLocks noChangeShapeType="1"/>
          </p:cNvSpPr>
          <p:nvPr/>
        </p:nvSpPr>
        <p:spPr bwMode="auto">
          <a:xfrm>
            <a:off x="3733800" y="1143000"/>
            <a:ext cx="1676400" cy="0"/>
          </a:xfrm>
          <a:prstGeom prst="line">
            <a:avLst/>
          </a:prstGeom>
          <a:noFill/>
          <a:ln w="57150" cmpd="thinThick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>
            <a:off x="914400" y="1143000"/>
            <a:ext cx="1676400" cy="0"/>
          </a:xfrm>
          <a:prstGeom prst="line">
            <a:avLst/>
          </a:prstGeom>
          <a:noFill/>
          <a:ln w="57150" cmpd="thinThick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>
            <a:off x="6705600" y="1143000"/>
            <a:ext cx="1676400" cy="0"/>
          </a:xfrm>
          <a:prstGeom prst="line">
            <a:avLst/>
          </a:prstGeom>
          <a:noFill/>
          <a:ln w="57150" cmpd="thinThick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685800" y="457200"/>
            <a:ext cx="80327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3200" b="1" i="0" dirty="0">
                <a:solidFill>
                  <a:srgbClr val="008000"/>
                </a:solidFill>
                <a:latin typeface="Times New Roman" pitchFamily="18" charset="0"/>
                <a:ea typeface="隶书" pitchFamily="49" charset="-122"/>
              </a:rPr>
              <a:t>  课程代号           课程名称             先修课程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2714612" y="5500702"/>
            <a:ext cx="38924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32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学生课程学习工程图</a:t>
            </a:r>
            <a:endParaRPr lang="zh-CN" altLang="en-US" sz="320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66800" y="1357298"/>
            <a:ext cx="6781800" cy="3962400"/>
            <a:chOff x="1066800" y="990600"/>
            <a:chExt cx="6781800" cy="3962400"/>
          </a:xfrm>
        </p:grpSpPr>
        <p:sp>
          <p:nvSpPr>
            <p:cNvPr id="30722" name="Line 2"/>
            <p:cNvSpPr>
              <a:spLocks noChangeShapeType="1"/>
            </p:cNvSpPr>
            <p:nvPr/>
          </p:nvSpPr>
          <p:spPr bwMode="auto">
            <a:xfrm>
              <a:off x="5867400" y="3124200"/>
              <a:ext cx="1371600" cy="762000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23" name="Line 3"/>
            <p:cNvSpPr>
              <a:spLocks noChangeShapeType="1"/>
            </p:cNvSpPr>
            <p:nvPr/>
          </p:nvSpPr>
          <p:spPr bwMode="auto">
            <a:xfrm>
              <a:off x="1447800" y="3810000"/>
              <a:ext cx="2971800" cy="83820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24" name="Line 4"/>
            <p:cNvSpPr>
              <a:spLocks noChangeShapeType="1"/>
            </p:cNvSpPr>
            <p:nvPr/>
          </p:nvSpPr>
          <p:spPr bwMode="auto">
            <a:xfrm flipV="1">
              <a:off x="1600200" y="2590800"/>
              <a:ext cx="1676400" cy="99060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25" name="Line 5"/>
            <p:cNvSpPr>
              <a:spLocks noChangeShapeType="1"/>
            </p:cNvSpPr>
            <p:nvPr/>
          </p:nvSpPr>
          <p:spPr bwMode="auto">
            <a:xfrm>
              <a:off x="1524000" y="2057400"/>
              <a:ext cx="1752600" cy="30480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26" name="Line 6"/>
            <p:cNvSpPr>
              <a:spLocks noChangeShapeType="1"/>
            </p:cNvSpPr>
            <p:nvPr/>
          </p:nvSpPr>
          <p:spPr bwMode="auto">
            <a:xfrm flipV="1">
              <a:off x="1524000" y="1295400"/>
              <a:ext cx="1600200" cy="6858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36" name="Oval 8"/>
            <p:cNvSpPr>
              <a:spLocks noChangeArrowheads="1"/>
            </p:cNvSpPr>
            <p:nvPr/>
          </p:nvSpPr>
          <p:spPr bwMode="auto">
            <a:xfrm>
              <a:off x="3048000" y="990600"/>
              <a:ext cx="533400" cy="5334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800" b="1">
                  <a:latin typeface="Times New Roman" charset="0"/>
                </a:rPr>
                <a:t>C</a:t>
              </a:r>
              <a:r>
                <a:rPr lang="en-US" altLang="zh-CN" sz="2400" b="1">
                  <a:latin typeface="Times New Roman" charset="0"/>
                </a:rPr>
                <a:t>8</a:t>
              </a:r>
              <a:endParaRPr lang="en-US" altLang="zh-CN" sz="2400">
                <a:latin typeface="Times New Roman" charset="0"/>
              </a:endParaRPr>
            </a:p>
          </p:txBody>
        </p:sp>
        <p:sp>
          <p:nvSpPr>
            <p:cNvPr id="99337" name="Oval 9"/>
            <p:cNvSpPr>
              <a:spLocks noChangeArrowheads="1"/>
            </p:cNvSpPr>
            <p:nvPr/>
          </p:nvSpPr>
          <p:spPr bwMode="auto">
            <a:xfrm>
              <a:off x="3276600" y="2209800"/>
              <a:ext cx="533400" cy="5334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800" b="1">
                  <a:latin typeface="Times New Roman" charset="0"/>
                </a:rPr>
                <a:t>C</a:t>
              </a:r>
              <a:r>
                <a:rPr lang="en-US" altLang="zh-CN" sz="2400" b="1">
                  <a:latin typeface="Times New Roman" charset="0"/>
                </a:rPr>
                <a:t>3</a:t>
              </a:r>
              <a:endParaRPr lang="en-US" altLang="zh-CN" sz="2400">
                <a:latin typeface="Times New Roman" charset="0"/>
              </a:endParaRPr>
            </a:p>
          </p:txBody>
        </p:sp>
        <p:sp>
          <p:nvSpPr>
            <p:cNvPr id="99338" name="Oval 10"/>
            <p:cNvSpPr>
              <a:spLocks noChangeArrowheads="1"/>
            </p:cNvSpPr>
            <p:nvPr/>
          </p:nvSpPr>
          <p:spPr bwMode="auto">
            <a:xfrm>
              <a:off x="4419600" y="4419600"/>
              <a:ext cx="533400" cy="5334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800" b="1">
                  <a:latin typeface="Times New Roman" charset="0"/>
                </a:rPr>
                <a:t>C</a:t>
              </a:r>
              <a:r>
                <a:rPr lang="en-US" altLang="zh-CN" sz="2400" b="1">
                  <a:latin typeface="Times New Roman" charset="0"/>
                </a:rPr>
                <a:t>5</a:t>
              </a:r>
              <a:endParaRPr lang="en-US" altLang="zh-CN" sz="2400">
                <a:latin typeface="Times New Roman" charset="0"/>
              </a:endParaRPr>
            </a:p>
          </p:txBody>
        </p:sp>
        <p:sp>
          <p:nvSpPr>
            <p:cNvPr id="99339" name="Oval 11"/>
            <p:cNvSpPr>
              <a:spLocks noChangeArrowheads="1"/>
            </p:cNvSpPr>
            <p:nvPr/>
          </p:nvSpPr>
          <p:spPr bwMode="auto">
            <a:xfrm>
              <a:off x="5410200" y="2743200"/>
              <a:ext cx="533400" cy="5334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800" b="1">
                  <a:latin typeface="Times New Roman" charset="0"/>
                </a:rPr>
                <a:t>C</a:t>
              </a:r>
              <a:r>
                <a:rPr lang="en-US" altLang="zh-CN" sz="2400" b="1">
                  <a:latin typeface="Times New Roman" charset="0"/>
                </a:rPr>
                <a:t>4</a:t>
              </a:r>
              <a:endParaRPr lang="en-US" altLang="zh-CN" sz="2400">
                <a:latin typeface="Times New Roman" charset="0"/>
              </a:endParaRPr>
            </a:p>
          </p:txBody>
        </p:sp>
        <p:sp>
          <p:nvSpPr>
            <p:cNvPr id="99340" name="Oval 12"/>
            <p:cNvSpPr>
              <a:spLocks noChangeArrowheads="1"/>
            </p:cNvSpPr>
            <p:nvPr/>
          </p:nvSpPr>
          <p:spPr bwMode="auto">
            <a:xfrm>
              <a:off x="5181600" y="990600"/>
              <a:ext cx="533400" cy="5334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800" b="1">
                  <a:latin typeface="Times New Roman" charset="0"/>
                </a:rPr>
                <a:t>C</a:t>
              </a:r>
              <a:r>
                <a:rPr lang="en-US" altLang="zh-CN" sz="2400" b="1">
                  <a:latin typeface="Times New Roman" charset="0"/>
                </a:rPr>
                <a:t>9</a:t>
              </a:r>
              <a:endParaRPr lang="en-US" altLang="zh-CN" sz="2400">
                <a:latin typeface="Times New Roman" charset="0"/>
              </a:endParaRPr>
            </a:p>
          </p:txBody>
        </p:sp>
        <p:sp>
          <p:nvSpPr>
            <p:cNvPr id="99341" name="Oval 13"/>
            <p:cNvSpPr>
              <a:spLocks noChangeArrowheads="1"/>
            </p:cNvSpPr>
            <p:nvPr/>
          </p:nvSpPr>
          <p:spPr bwMode="auto">
            <a:xfrm>
              <a:off x="7162800" y="3733800"/>
              <a:ext cx="533400" cy="5334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800" b="1">
                  <a:latin typeface="Times New Roman" charset="0"/>
                </a:rPr>
                <a:t>C</a:t>
              </a:r>
              <a:r>
                <a:rPr lang="en-US" altLang="zh-CN" sz="2400" b="1">
                  <a:latin typeface="Times New Roman" charset="0"/>
                </a:rPr>
                <a:t>6</a:t>
              </a:r>
              <a:endParaRPr lang="en-US" altLang="zh-CN" sz="2400">
                <a:latin typeface="Times New Roman" charset="0"/>
              </a:endParaRPr>
            </a:p>
          </p:txBody>
        </p:sp>
        <p:sp>
          <p:nvSpPr>
            <p:cNvPr id="99342" name="Oval 14"/>
            <p:cNvSpPr>
              <a:spLocks noChangeArrowheads="1"/>
            </p:cNvSpPr>
            <p:nvPr/>
          </p:nvSpPr>
          <p:spPr bwMode="auto">
            <a:xfrm>
              <a:off x="7315200" y="1828800"/>
              <a:ext cx="533400" cy="5334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800" b="1">
                  <a:latin typeface="Times New Roman" charset="0"/>
                </a:rPr>
                <a:t>C</a:t>
              </a:r>
              <a:r>
                <a:rPr lang="en-US" altLang="zh-CN" sz="2400" b="1">
                  <a:latin typeface="Times New Roman" charset="0"/>
                </a:rPr>
                <a:t>7</a:t>
              </a:r>
              <a:endParaRPr lang="en-US" altLang="zh-CN" sz="2400">
                <a:latin typeface="Times New Roman" charset="0"/>
              </a:endParaRPr>
            </a:p>
          </p:txBody>
        </p:sp>
        <p:sp>
          <p:nvSpPr>
            <p:cNvPr id="99343" name="Oval 15"/>
            <p:cNvSpPr>
              <a:spLocks noChangeArrowheads="1"/>
            </p:cNvSpPr>
            <p:nvPr/>
          </p:nvSpPr>
          <p:spPr bwMode="auto">
            <a:xfrm>
              <a:off x="1066800" y="1752600"/>
              <a:ext cx="533400" cy="5334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800" b="1">
                  <a:latin typeface="Times New Roman" charset="0"/>
                </a:rPr>
                <a:t>C</a:t>
              </a:r>
              <a:r>
                <a:rPr lang="en-US" altLang="zh-CN" sz="2400" b="1">
                  <a:latin typeface="Times New Roman" charset="0"/>
                </a:rPr>
                <a:t>1</a:t>
              </a:r>
              <a:endParaRPr lang="en-US" altLang="zh-CN" sz="2400">
                <a:latin typeface="Times New Roman" charset="0"/>
              </a:endParaRPr>
            </a:p>
          </p:txBody>
        </p:sp>
        <p:sp>
          <p:nvSpPr>
            <p:cNvPr id="99344" name="Oval 16"/>
            <p:cNvSpPr>
              <a:spLocks noChangeArrowheads="1"/>
            </p:cNvSpPr>
            <p:nvPr/>
          </p:nvSpPr>
          <p:spPr bwMode="auto">
            <a:xfrm>
              <a:off x="1066800" y="3429000"/>
              <a:ext cx="533400" cy="5334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800" b="1">
                  <a:latin typeface="Times New Roman" charset="0"/>
                </a:rPr>
                <a:t>C</a:t>
              </a:r>
              <a:r>
                <a:rPr lang="en-US" altLang="zh-CN" sz="2400" b="1">
                  <a:latin typeface="Times New Roman" charset="0"/>
                </a:rPr>
                <a:t>2</a:t>
              </a:r>
              <a:endParaRPr lang="en-US" altLang="zh-CN" sz="2400">
                <a:latin typeface="Times New Roman" charset="0"/>
              </a:endParaRPr>
            </a:p>
          </p:txBody>
        </p:sp>
        <p:sp>
          <p:nvSpPr>
            <p:cNvPr id="30737" name="Line 17"/>
            <p:cNvSpPr>
              <a:spLocks noChangeShapeType="1"/>
            </p:cNvSpPr>
            <p:nvPr/>
          </p:nvSpPr>
          <p:spPr bwMode="auto">
            <a:xfrm>
              <a:off x="3581400" y="1219200"/>
              <a:ext cx="16002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8" name="Line 18"/>
            <p:cNvSpPr>
              <a:spLocks noChangeShapeType="1"/>
            </p:cNvSpPr>
            <p:nvPr/>
          </p:nvSpPr>
          <p:spPr bwMode="auto">
            <a:xfrm>
              <a:off x="3810000" y="2514600"/>
              <a:ext cx="1676400" cy="38100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9" name="Line 19"/>
            <p:cNvSpPr>
              <a:spLocks noChangeShapeType="1"/>
            </p:cNvSpPr>
            <p:nvPr/>
          </p:nvSpPr>
          <p:spPr bwMode="auto">
            <a:xfrm flipV="1">
              <a:off x="1600200" y="3124200"/>
              <a:ext cx="3810000" cy="60960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0" name="Line 20"/>
            <p:cNvSpPr>
              <a:spLocks noChangeShapeType="1"/>
            </p:cNvSpPr>
            <p:nvPr/>
          </p:nvSpPr>
          <p:spPr bwMode="auto">
            <a:xfrm>
              <a:off x="5715000" y="1295400"/>
              <a:ext cx="1676400" cy="68580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1" name="Line 21"/>
            <p:cNvSpPr>
              <a:spLocks noChangeShapeType="1"/>
            </p:cNvSpPr>
            <p:nvPr/>
          </p:nvSpPr>
          <p:spPr bwMode="auto">
            <a:xfrm flipV="1">
              <a:off x="5943600" y="2209800"/>
              <a:ext cx="1447800" cy="76200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2" name="Line 22"/>
            <p:cNvSpPr>
              <a:spLocks noChangeShapeType="1"/>
            </p:cNvSpPr>
            <p:nvPr/>
          </p:nvSpPr>
          <p:spPr bwMode="auto">
            <a:xfrm flipV="1">
              <a:off x="4953000" y="4114800"/>
              <a:ext cx="2286000" cy="60960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500034" y="214290"/>
            <a:ext cx="845820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第六节　有向无环图及其应用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71472" y="1071546"/>
            <a:ext cx="6929486" cy="685800"/>
          </a:xfrm>
        </p:spPr>
        <p:txBody>
          <a:bodyPr/>
          <a:lstStyle/>
          <a:p>
            <a:pPr algn="l" eaLnBrk="1" hangingPunct="1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一、</a:t>
            </a:r>
            <a:r>
              <a:rPr lang="en-US" altLang="zh-CN" sz="3200" dirty="0">
                <a:latin typeface="黑体" pitchFamily="49" charset="-122"/>
                <a:ea typeface="黑体" pitchFamily="49" charset="-122"/>
              </a:rPr>
              <a:t>AOV-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网</a:t>
            </a:r>
            <a:endParaRPr lang="en-US" altLang="zh-CN" sz="32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42910" y="1890730"/>
            <a:ext cx="8358246" cy="40386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黑体" pitchFamily="49" charset="-122"/>
                <a:ea typeface="黑体" pitchFamily="49" charset="-122"/>
                <a:sym typeface="Symbol" pitchFamily="18" charset="2"/>
              </a:rPr>
              <a:t>如果用有向图的顶点表示活动，用弧表示活动间的优先关系，则称该有向图为顶点表示活动的网</a:t>
            </a:r>
            <a:r>
              <a:rPr lang="en-US" altLang="zh-CN" dirty="0">
                <a:latin typeface="黑体" pitchFamily="49" charset="-122"/>
                <a:ea typeface="黑体" pitchFamily="49" charset="-122"/>
                <a:sym typeface="Symbol" pitchFamily="18" charset="2"/>
              </a:rPr>
              <a:t>AOV(Activity On Vertex Network)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黑体" pitchFamily="49" charset="-122"/>
                <a:ea typeface="黑体" pitchFamily="49" charset="-122"/>
                <a:sym typeface="Symbol" pitchFamily="18" charset="2"/>
              </a:rPr>
              <a:t>AOV</a:t>
            </a:r>
            <a:r>
              <a:rPr lang="zh-CN" altLang="en-US" dirty="0">
                <a:latin typeface="黑体" pitchFamily="49" charset="-122"/>
                <a:ea typeface="黑体" pitchFamily="49" charset="-122"/>
                <a:sym typeface="Symbol" pitchFamily="18" charset="2"/>
              </a:rPr>
              <a:t>的应用包括流程图、工程安排等。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黑体" pitchFamily="49" charset="-122"/>
                <a:ea typeface="黑体" pitchFamily="49" charset="-122"/>
                <a:sym typeface="Symbol" pitchFamily="18" charset="2"/>
              </a:rPr>
              <a:t>对</a:t>
            </a:r>
            <a:r>
              <a:rPr lang="en-US" altLang="zh-CN" dirty="0">
                <a:latin typeface="黑体" pitchFamily="49" charset="-122"/>
                <a:ea typeface="黑体" pitchFamily="49" charset="-122"/>
                <a:sym typeface="Symbol" pitchFamily="18" charset="2"/>
              </a:rPr>
              <a:t>AOV</a:t>
            </a:r>
            <a:r>
              <a:rPr lang="zh-CN" altLang="en-US" dirty="0">
                <a:latin typeface="黑体" pitchFamily="49" charset="-122"/>
                <a:ea typeface="黑体" pitchFamily="49" charset="-122"/>
                <a:sym typeface="Symbol" pitchFamily="18" charset="2"/>
              </a:rPr>
              <a:t>网，应判定图中不存在环，因为存在环意味着某项活动应以自己为先决条件。</a:t>
            </a:r>
          </a:p>
          <a:p>
            <a:pPr eaLnBrk="1" hangingPunct="1">
              <a:spcBef>
                <a:spcPct val="50000"/>
              </a:spcBef>
            </a:pPr>
            <a:endParaRPr lang="zh-CN" altLang="en-US" b="1" dirty="0">
              <a:latin typeface="黑体" pitchFamily="49" charset="-122"/>
              <a:ea typeface="黑体" pitchFamily="49" charset="-122"/>
              <a:sym typeface="Symbol" pitchFamily="18" charset="2"/>
            </a:endParaRP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8534400" y="6392863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 typeface="Arial" pitchFamily="34" charset="0"/>
              <a:buNone/>
            </a:pPr>
            <a:fld id="{9884A423-8A82-4501-91A4-694EC551DA14}" type="slidenum">
              <a:rPr lang="zh-CN" altLang="en-US"/>
              <a:pPr algn="r" eaLnBrk="1" hangingPunct="1">
                <a:spcBef>
                  <a:spcPct val="50000"/>
                </a:spcBef>
                <a:buFont typeface="Arial" pitchFamily="34" charset="0"/>
                <a:buNone/>
              </a:pPr>
              <a:t>46</a:t>
            </a:fld>
            <a:endParaRPr lang="en-US" altLang="zh-CN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00034" y="214290"/>
            <a:ext cx="845820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第六节　有向无环图及其应用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95346" y="1331905"/>
            <a:ext cx="8262934" cy="1000132"/>
          </a:xfrm>
          <a:ln w="38100"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黑体" pitchFamily="49" charset="-122"/>
                <a:ea typeface="黑体" pitchFamily="49" charset="-122"/>
              </a:rPr>
              <a:t>有向无环图(</a:t>
            </a:r>
            <a:r>
              <a:rPr lang="en-US" altLang="zh-CN" dirty="0" err="1">
                <a:latin typeface="黑体" pitchFamily="49" charset="-122"/>
                <a:ea typeface="黑体" pitchFamily="49" charset="-122"/>
              </a:rPr>
              <a:t>DAG:Directed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dirty="0" err="1">
                <a:latin typeface="黑体" pitchFamily="49" charset="-122"/>
                <a:ea typeface="黑体" pitchFamily="49" charset="-122"/>
              </a:rPr>
              <a:t>Acycline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 Graph)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是图中无环的有向图。</a:t>
            </a:r>
            <a:endParaRPr lang="zh-CN" altLang="en-US" dirty="0">
              <a:solidFill>
                <a:srgbClr val="FF0000"/>
              </a:solidFill>
              <a:latin typeface="黑体" pitchFamily="49" charset="-122"/>
              <a:ea typeface="黑体" pitchFamily="49" charset="-122"/>
              <a:sym typeface="Symbol" pitchFamily="18" charset="2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539924" y="2978348"/>
            <a:ext cx="2819400" cy="2286000"/>
            <a:chOff x="0" y="0"/>
            <a:chExt cx="1776" cy="1440"/>
          </a:xfrm>
        </p:grpSpPr>
        <p:sp>
          <p:nvSpPr>
            <p:cNvPr id="32790" name="Line 7"/>
            <p:cNvSpPr>
              <a:spLocks noChangeShapeType="1"/>
            </p:cNvSpPr>
            <p:nvPr/>
          </p:nvSpPr>
          <p:spPr bwMode="auto">
            <a:xfrm>
              <a:off x="1008" y="144"/>
              <a:ext cx="576" cy="384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 i="0"/>
            </a:p>
          </p:txBody>
        </p:sp>
        <p:sp>
          <p:nvSpPr>
            <p:cNvPr id="32791" name="Line 8"/>
            <p:cNvSpPr>
              <a:spLocks noChangeShapeType="1"/>
            </p:cNvSpPr>
            <p:nvPr/>
          </p:nvSpPr>
          <p:spPr bwMode="auto">
            <a:xfrm>
              <a:off x="178" y="675"/>
              <a:ext cx="222" cy="54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 i="0"/>
            </a:p>
          </p:txBody>
        </p:sp>
        <p:sp>
          <p:nvSpPr>
            <p:cNvPr id="32792" name="Line 9"/>
            <p:cNvSpPr>
              <a:spLocks noChangeShapeType="1"/>
            </p:cNvSpPr>
            <p:nvPr/>
          </p:nvSpPr>
          <p:spPr bwMode="auto">
            <a:xfrm flipH="1">
              <a:off x="222" y="135"/>
              <a:ext cx="622" cy="36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 i="0"/>
            </a:p>
          </p:txBody>
        </p:sp>
        <p:sp>
          <p:nvSpPr>
            <p:cNvPr id="32793" name="Line 10"/>
            <p:cNvSpPr>
              <a:spLocks noChangeShapeType="1"/>
            </p:cNvSpPr>
            <p:nvPr/>
          </p:nvSpPr>
          <p:spPr bwMode="auto">
            <a:xfrm flipH="1" flipV="1">
              <a:off x="932" y="180"/>
              <a:ext cx="356" cy="99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 i="0"/>
            </a:p>
          </p:txBody>
        </p:sp>
        <p:sp>
          <p:nvSpPr>
            <p:cNvPr id="32794" name="Line 11"/>
            <p:cNvSpPr>
              <a:spLocks noChangeShapeType="1"/>
            </p:cNvSpPr>
            <p:nvPr/>
          </p:nvSpPr>
          <p:spPr bwMode="auto">
            <a:xfrm flipH="1">
              <a:off x="533" y="1305"/>
              <a:ext cx="666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 i="0"/>
            </a:p>
          </p:txBody>
        </p:sp>
        <p:sp>
          <p:nvSpPr>
            <p:cNvPr id="32795" name="Line 12"/>
            <p:cNvSpPr>
              <a:spLocks noChangeShapeType="1"/>
            </p:cNvSpPr>
            <p:nvPr/>
          </p:nvSpPr>
          <p:spPr bwMode="auto">
            <a:xfrm flipH="1">
              <a:off x="533" y="720"/>
              <a:ext cx="1065" cy="54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 i="0"/>
            </a:p>
          </p:txBody>
        </p:sp>
        <p:sp>
          <p:nvSpPr>
            <p:cNvPr id="32796" name="Oval 13"/>
            <p:cNvSpPr>
              <a:spLocks noChangeArrowheads="1"/>
            </p:cNvSpPr>
            <p:nvPr/>
          </p:nvSpPr>
          <p:spPr bwMode="auto">
            <a:xfrm>
              <a:off x="0" y="450"/>
              <a:ext cx="266" cy="254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i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2797" name="Oval 14"/>
            <p:cNvSpPr>
              <a:spLocks noChangeArrowheads="1"/>
            </p:cNvSpPr>
            <p:nvPr/>
          </p:nvSpPr>
          <p:spPr bwMode="auto">
            <a:xfrm>
              <a:off x="1199" y="1186"/>
              <a:ext cx="266" cy="254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i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2798" name="Oval 15"/>
            <p:cNvSpPr>
              <a:spLocks noChangeArrowheads="1"/>
            </p:cNvSpPr>
            <p:nvPr/>
          </p:nvSpPr>
          <p:spPr bwMode="auto">
            <a:xfrm>
              <a:off x="311" y="1186"/>
              <a:ext cx="266" cy="254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i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2799" name="Oval 16"/>
            <p:cNvSpPr>
              <a:spLocks noChangeArrowheads="1"/>
            </p:cNvSpPr>
            <p:nvPr/>
          </p:nvSpPr>
          <p:spPr bwMode="auto">
            <a:xfrm>
              <a:off x="1510" y="495"/>
              <a:ext cx="266" cy="253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i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2800" name="Oval 17"/>
            <p:cNvSpPr>
              <a:spLocks noChangeArrowheads="1"/>
            </p:cNvSpPr>
            <p:nvPr/>
          </p:nvSpPr>
          <p:spPr bwMode="auto">
            <a:xfrm>
              <a:off x="755" y="0"/>
              <a:ext cx="266" cy="253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i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996131" y="2933699"/>
            <a:ext cx="2819400" cy="2286000"/>
            <a:chOff x="0" y="0"/>
            <a:chExt cx="1920" cy="1536"/>
          </a:xfrm>
        </p:grpSpPr>
        <p:sp>
          <p:nvSpPr>
            <p:cNvPr id="32779" name="Line 19"/>
            <p:cNvSpPr>
              <a:spLocks noChangeShapeType="1"/>
            </p:cNvSpPr>
            <p:nvPr/>
          </p:nvSpPr>
          <p:spPr bwMode="auto">
            <a:xfrm flipH="1" flipV="1">
              <a:off x="1056" y="192"/>
              <a:ext cx="624" cy="384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 i="0"/>
            </a:p>
          </p:txBody>
        </p:sp>
        <p:sp>
          <p:nvSpPr>
            <p:cNvPr id="32780" name="Line 20"/>
            <p:cNvSpPr>
              <a:spLocks noChangeShapeType="1"/>
            </p:cNvSpPr>
            <p:nvPr/>
          </p:nvSpPr>
          <p:spPr bwMode="auto">
            <a:xfrm>
              <a:off x="192" y="720"/>
              <a:ext cx="240" cy="57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 i="0"/>
            </a:p>
          </p:txBody>
        </p:sp>
        <p:sp>
          <p:nvSpPr>
            <p:cNvPr id="32781" name="Line 21"/>
            <p:cNvSpPr>
              <a:spLocks noChangeShapeType="1"/>
            </p:cNvSpPr>
            <p:nvPr/>
          </p:nvSpPr>
          <p:spPr bwMode="auto">
            <a:xfrm flipH="1">
              <a:off x="240" y="144"/>
              <a:ext cx="672" cy="384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 i="0"/>
            </a:p>
          </p:txBody>
        </p:sp>
        <p:sp>
          <p:nvSpPr>
            <p:cNvPr id="32782" name="Line 22"/>
            <p:cNvSpPr>
              <a:spLocks noChangeShapeType="1"/>
            </p:cNvSpPr>
            <p:nvPr/>
          </p:nvSpPr>
          <p:spPr bwMode="auto">
            <a:xfrm flipH="1" flipV="1">
              <a:off x="1008" y="192"/>
              <a:ext cx="386" cy="105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 i="0"/>
            </a:p>
          </p:txBody>
        </p:sp>
        <p:sp>
          <p:nvSpPr>
            <p:cNvPr id="32783" name="Line 23"/>
            <p:cNvSpPr>
              <a:spLocks noChangeShapeType="1"/>
            </p:cNvSpPr>
            <p:nvPr/>
          </p:nvSpPr>
          <p:spPr bwMode="auto">
            <a:xfrm flipH="1">
              <a:off x="576" y="1392"/>
              <a:ext cx="720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 i="0"/>
            </a:p>
          </p:txBody>
        </p:sp>
        <p:sp>
          <p:nvSpPr>
            <p:cNvPr id="32784" name="Line 24"/>
            <p:cNvSpPr>
              <a:spLocks noChangeShapeType="1"/>
            </p:cNvSpPr>
            <p:nvPr/>
          </p:nvSpPr>
          <p:spPr bwMode="auto">
            <a:xfrm flipH="1">
              <a:off x="576" y="768"/>
              <a:ext cx="1150" cy="57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 i="0"/>
            </a:p>
          </p:txBody>
        </p:sp>
        <p:sp>
          <p:nvSpPr>
            <p:cNvPr id="32785" name="Oval 25"/>
            <p:cNvSpPr>
              <a:spLocks noChangeArrowheads="1"/>
            </p:cNvSpPr>
            <p:nvPr/>
          </p:nvSpPr>
          <p:spPr bwMode="auto">
            <a:xfrm>
              <a:off x="0" y="480"/>
              <a:ext cx="288" cy="271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i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2786" name="Oval 26"/>
            <p:cNvSpPr>
              <a:spLocks noChangeArrowheads="1"/>
            </p:cNvSpPr>
            <p:nvPr/>
          </p:nvSpPr>
          <p:spPr bwMode="auto">
            <a:xfrm>
              <a:off x="1296" y="1265"/>
              <a:ext cx="288" cy="271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i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2787" name="Oval 27"/>
            <p:cNvSpPr>
              <a:spLocks noChangeArrowheads="1"/>
            </p:cNvSpPr>
            <p:nvPr/>
          </p:nvSpPr>
          <p:spPr bwMode="auto">
            <a:xfrm>
              <a:off x="336" y="1265"/>
              <a:ext cx="288" cy="271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i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2788" name="Oval 28"/>
            <p:cNvSpPr>
              <a:spLocks noChangeArrowheads="1"/>
            </p:cNvSpPr>
            <p:nvPr/>
          </p:nvSpPr>
          <p:spPr bwMode="auto">
            <a:xfrm>
              <a:off x="1632" y="528"/>
              <a:ext cx="288" cy="27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i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2789" name="Oval 29"/>
            <p:cNvSpPr>
              <a:spLocks noChangeArrowheads="1"/>
            </p:cNvSpPr>
            <p:nvPr/>
          </p:nvSpPr>
          <p:spPr bwMode="auto">
            <a:xfrm>
              <a:off x="816" y="0"/>
              <a:ext cx="288" cy="27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i="0">
                  <a:solidFill>
                    <a:schemeClr val="bg1"/>
                  </a:solidFill>
                </a:rPr>
                <a:t>0</a:t>
              </a:r>
            </a:p>
          </p:txBody>
        </p:sp>
      </p:grpSp>
      <p:sp>
        <p:nvSpPr>
          <p:cNvPr id="32776" name="Text Box 30"/>
          <p:cNvSpPr txBox="1">
            <a:spLocks noChangeArrowheads="1"/>
          </p:cNvSpPr>
          <p:nvPr/>
        </p:nvSpPr>
        <p:spPr bwMode="auto">
          <a:xfrm>
            <a:off x="1529531" y="5372099"/>
            <a:ext cx="1752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DAG</a:t>
            </a:r>
          </a:p>
        </p:txBody>
      </p:sp>
      <p:sp>
        <p:nvSpPr>
          <p:cNvPr id="32777" name="Text Box 31"/>
          <p:cNvSpPr txBox="1">
            <a:spLocks noChangeArrowheads="1"/>
          </p:cNvSpPr>
          <p:nvPr/>
        </p:nvSpPr>
        <p:spPr bwMode="auto">
          <a:xfrm>
            <a:off x="5997124" y="5340548"/>
            <a:ext cx="1905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非</a:t>
            </a:r>
            <a:r>
              <a:rPr lang="en-US" altLang="zh-CN" sz="2800" b="0" i="0" dirty="0">
                <a:latin typeface="+mn-ea"/>
                <a:ea typeface="+mn-ea"/>
              </a:rPr>
              <a:t>DAG</a:t>
            </a:r>
          </a:p>
        </p:txBody>
      </p:sp>
      <p:sp>
        <p:nvSpPr>
          <p:cNvPr id="32778" name="Text Box 32"/>
          <p:cNvSpPr txBox="1">
            <a:spLocks noChangeArrowheads="1"/>
          </p:cNvSpPr>
          <p:nvPr/>
        </p:nvSpPr>
        <p:spPr bwMode="auto">
          <a:xfrm>
            <a:off x="8534400" y="6392863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 typeface="Arial" pitchFamily="34" charset="0"/>
              <a:buNone/>
            </a:pPr>
            <a:fld id="{697B45DA-0412-49A1-BE5D-2D12CE4CB63D}" type="slidenum">
              <a:rPr lang="zh-CN" altLang="en-US"/>
              <a:pPr algn="r" eaLnBrk="1" hangingPunct="1">
                <a:spcBef>
                  <a:spcPct val="50000"/>
                </a:spcBef>
                <a:buFont typeface="Arial" pitchFamily="34" charset="0"/>
                <a:buNone/>
              </a:pPr>
              <a:t>47</a:t>
            </a:fld>
            <a:endParaRPr lang="en-US" altLang="zh-CN"/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497713" y="226944"/>
            <a:ext cx="845820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二、有向无环图</a:t>
            </a:r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(DAG)</a:t>
            </a:r>
            <a:endParaRPr lang="zh-CN" altLang="en-US" sz="4400" i="0" dirty="0">
              <a:solidFill>
                <a:schemeClr val="tx2"/>
              </a:solidFill>
              <a:latin typeface="Tahoma" panose="020B0604030504040204" pitchFamily="34" charset="0"/>
              <a:ea typeface="隶书" pitchFamily="49" charset="-122"/>
            </a:endParaRPr>
          </a:p>
        </p:txBody>
      </p:sp>
      <p:sp>
        <p:nvSpPr>
          <p:cNvPr id="7" name="Text Box 31">
            <a:extLst>
              <a:ext uri="{FF2B5EF4-FFF2-40B4-BE49-F238E27FC236}">
                <a16:creationId xmlns:a16="http://schemas.microsoft.com/office/drawing/2014/main" id="{86EB2A13-4A9B-97D2-BFCE-F0B41A397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609" y="5944293"/>
            <a:ext cx="2536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01240</a:t>
            </a:r>
            <a:r>
              <a:rPr lang="zh-CN" altLang="en-US" sz="2800" b="0" i="0" dirty="0">
                <a:latin typeface="+mn-ea"/>
                <a:ea typeface="+mn-ea"/>
              </a:rPr>
              <a:t>构成环</a:t>
            </a:r>
            <a:endParaRPr lang="en-US" altLang="zh-CN" sz="2800" b="0" i="0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6" grpId="0"/>
      <p:bldP spid="32777" grpId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2"/>
          <p:cNvSpPr txBox="1">
            <a:spLocks noChangeArrowheads="1"/>
          </p:cNvSpPr>
          <p:nvPr/>
        </p:nvSpPr>
        <p:spPr bwMode="auto">
          <a:xfrm>
            <a:off x="590522" y="1214422"/>
            <a:ext cx="8458200" cy="645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buFont typeface="Arial" pitchFamily="34" charset="0"/>
              <a:buNone/>
            </a:pPr>
            <a:r>
              <a:rPr lang="en-US" altLang="zh-CN" sz="3200" i="0" dirty="0">
                <a:latin typeface="Times New Roman" pitchFamily="18" charset="0"/>
                <a:ea typeface="楷体_GB2312" pitchFamily="1" charset="-122"/>
              </a:rPr>
              <a:t> </a:t>
            </a:r>
            <a:r>
              <a:rPr lang="zh-CN" altLang="en-US" sz="28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问题：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</a:rPr>
              <a:t> 如何</a:t>
            </a:r>
            <a:r>
              <a:rPr lang="zh-CN" altLang="en-US" sz="2800" b="0" i="0" dirty="0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检查有向图中是否有回路呢？</a:t>
            </a:r>
            <a:endParaRPr lang="zh-CN" altLang="en-US" sz="2800" b="0" i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4453" name="Text Box 5"/>
          <p:cNvSpPr txBox="1">
            <a:spLocks noChangeArrowheads="1"/>
          </p:cNvSpPr>
          <p:nvPr/>
        </p:nvSpPr>
        <p:spPr bwMode="auto">
          <a:xfrm>
            <a:off x="571472" y="1962135"/>
            <a:ext cx="8458200" cy="1238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buFont typeface="Arial" pitchFamily="34" charset="0"/>
              <a:buNone/>
            </a:pPr>
            <a:r>
              <a:rPr lang="en-US" altLang="zh-CN" sz="3200" i="0" dirty="0">
                <a:latin typeface="Times New Roman" pitchFamily="18" charset="0"/>
                <a:ea typeface="楷体_GB2312" pitchFamily="1" charset="-122"/>
              </a:rPr>
              <a:t> </a:t>
            </a:r>
            <a:r>
              <a:rPr lang="zh-CN" altLang="en-US" sz="2800" b="0" i="0" dirty="0">
                <a:latin typeface="+mn-ea"/>
                <a:ea typeface="+mn-ea"/>
              </a:rPr>
              <a:t>解决方法：</a:t>
            </a:r>
            <a:r>
              <a:rPr lang="zh-CN" altLang="en-US" sz="2800" b="0" i="0" dirty="0">
                <a:solidFill>
                  <a:srgbClr val="000099"/>
                </a:solidFill>
                <a:latin typeface="+mn-ea"/>
                <a:ea typeface="+mn-ea"/>
                <a:sym typeface="Arial" pitchFamily="34" charset="0"/>
              </a:rPr>
              <a:t>深度优先搜索</a:t>
            </a:r>
            <a:r>
              <a:rPr lang="en-US" altLang="zh-CN" sz="2800" b="0" i="0" dirty="0">
                <a:solidFill>
                  <a:srgbClr val="000099"/>
                </a:solidFill>
                <a:latin typeface="+mn-ea"/>
                <a:ea typeface="+mn-ea"/>
                <a:sym typeface="Arial" pitchFamily="34" charset="0"/>
              </a:rPr>
              <a:t>, </a:t>
            </a:r>
            <a:r>
              <a:rPr lang="en-US" altLang="zh-CN" sz="2800" b="0" i="0" dirty="0" err="1">
                <a:solidFill>
                  <a:srgbClr val="000099"/>
                </a:solidFill>
                <a:latin typeface="+mn-ea"/>
                <a:ea typeface="+mn-ea"/>
                <a:sym typeface="Arial" pitchFamily="34" charset="0"/>
              </a:rPr>
              <a:t>tarjan</a:t>
            </a:r>
            <a:r>
              <a:rPr lang="zh-CN" altLang="en-US" sz="2800" b="0" i="0" dirty="0">
                <a:solidFill>
                  <a:srgbClr val="000099"/>
                </a:solidFill>
                <a:latin typeface="+mn-ea"/>
                <a:ea typeface="+mn-ea"/>
                <a:sym typeface="Arial" pitchFamily="34" charset="0"/>
              </a:rPr>
              <a:t>缩点，</a:t>
            </a:r>
            <a:endParaRPr lang="en-US" altLang="zh-CN" sz="2800" b="0" i="0" dirty="0">
              <a:solidFill>
                <a:srgbClr val="000099"/>
              </a:solidFill>
              <a:latin typeface="+mn-ea"/>
              <a:ea typeface="+mn-ea"/>
              <a:sym typeface="Arial" pitchFamily="34" charset="0"/>
            </a:endParaRPr>
          </a:p>
          <a:p>
            <a:pPr eaLnBrk="1" hangingPunct="1">
              <a:lnSpc>
                <a:spcPct val="125000"/>
              </a:lnSpc>
              <a:buFont typeface="Arial" pitchFamily="34" charset="0"/>
              <a:buNone/>
            </a:pPr>
            <a:r>
              <a:rPr lang="en-US" altLang="zh-CN" sz="3200" i="0" dirty="0">
                <a:solidFill>
                  <a:srgbClr val="000099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           </a:t>
            </a:r>
            <a:endParaRPr lang="zh-CN" altLang="en-US" sz="3200" i="0" dirty="0">
              <a:solidFill>
                <a:srgbClr val="000099"/>
              </a:solidFill>
              <a:latin typeface="黑体" pitchFamily="49" charset="-122"/>
              <a:ea typeface="黑体" pitchFamily="49" charset="-122"/>
              <a:sym typeface="Arial" pitchFamily="34" charset="0"/>
            </a:endParaRPr>
          </a:p>
        </p:txBody>
      </p:sp>
      <p:sp>
        <p:nvSpPr>
          <p:cNvPr id="104454" name="Text Box 6"/>
          <p:cNvSpPr txBox="1">
            <a:spLocks noChangeArrowheads="1"/>
          </p:cNvSpPr>
          <p:nvPr/>
        </p:nvSpPr>
        <p:spPr bwMode="auto">
          <a:xfrm>
            <a:off x="609975" y="3251116"/>
            <a:ext cx="7429552" cy="556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  <a:buFont typeface="Arial" pitchFamily="34" charset="0"/>
              <a:buNone/>
            </a:pPr>
            <a:r>
              <a:rPr lang="zh-CN" altLang="en-US" sz="2800" b="0" i="0" dirty="0">
                <a:solidFill>
                  <a:srgbClr val="000099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拓扑排序(本节)</a:t>
            </a:r>
            <a:r>
              <a:rPr lang="zh-CN" altLang="en-US" sz="2800" b="0" dirty="0">
                <a:solidFill>
                  <a:srgbClr val="000099"/>
                </a:solidFill>
                <a:latin typeface="黑体" pitchFamily="49" charset="-122"/>
                <a:ea typeface="黑体" pitchFamily="49" charset="-122"/>
                <a:sym typeface="Arial" pitchFamily="34" charset="0"/>
              </a:rPr>
              <a:t> 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00034" y="214290"/>
            <a:ext cx="845820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有向无环图</a:t>
            </a:r>
            <a:r>
              <a:rPr lang="en-US" altLang="zh-CN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(DAG)</a:t>
            </a:r>
            <a:endParaRPr lang="zh-CN" altLang="en-US" sz="4400" i="0" dirty="0">
              <a:solidFill>
                <a:schemeClr val="tx2"/>
              </a:solidFill>
              <a:latin typeface="Tahoma" panose="020B0604030504040204" pitchFamily="34" charset="0"/>
              <a:ea typeface="隶书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0" grpId="0" autoUpdateAnimBg="0"/>
      <p:bldP spid="104453" grpId="0" autoUpdateAnimBg="0"/>
      <p:bldP spid="104454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74708" y="4857760"/>
            <a:ext cx="7926382" cy="180022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黑体" pitchFamily="49" charset="-122"/>
                <a:ea typeface="黑体" pitchFamily="49" charset="-122"/>
              </a:rPr>
              <a:t>从某个顶点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v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出发，进行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DFS，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如果存在一条从顶点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u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到</a:t>
            </a:r>
            <a:r>
              <a:rPr lang="en-US" altLang="zh-CN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v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的回边，则有向图中存在环。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黑体" pitchFamily="49" charset="-122"/>
                <a:ea typeface="黑体" pitchFamily="49" charset="-122"/>
                <a:sym typeface="Symbol" pitchFamily="18" charset="2"/>
              </a:rPr>
              <a:t>DFS: 0,1,2,</a:t>
            </a:r>
            <a:r>
              <a:rPr lang="en-US" altLang="zh-CN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4</a:t>
            </a:r>
            <a:r>
              <a:rPr lang="en-US" altLang="zh-CN" dirty="0">
                <a:latin typeface="黑体" pitchFamily="49" charset="-122"/>
                <a:ea typeface="黑体" pitchFamily="49" charset="-122"/>
                <a:sym typeface="Symbol" pitchFamily="18" charset="2"/>
              </a:rPr>
              <a:t>,3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348038" y="2205038"/>
            <a:ext cx="2819400" cy="2286000"/>
            <a:chOff x="0" y="0"/>
            <a:chExt cx="1776" cy="1440"/>
          </a:xfrm>
        </p:grpSpPr>
        <p:sp>
          <p:nvSpPr>
            <p:cNvPr id="35846" name="Line 4"/>
            <p:cNvSpPr>
              <a:spLocks noChangeShapeType="1"/>
            </p:cNvSpPr>
            <p:nvPr/>
          </p:nvSpPr>
          <p:spPr bwMode="auto">
            <a:xfrm>
              <a:off x="1008" y="144"/>
              <a:ext cx="576" cy="384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5847" name="Line 5"/>
            <p:cNvSpPr>
              <a:spLocks noChangeShapeType="1"/>
            </p:cNvSpPr>
            <p:nvPr/>
          </p:nvSpPr>
          <p:spPr bwMode="auto">
            <a:xfrm>
              <a:off x="178" y="675"/>
              <a:ext cx="222" cy="54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5848" name="Line 6"/>
            <p:cNvSpPr>
              <a:spLocks noChangeShapeType="1"/>
            </p:cNvSpPr>
            <p:nvPr/>
          </p:nvSpPr>
          <p:spPr bwMode="auto">
            <a:xfrm flipH="1">
              <a:off x="222" y="135"/>
              <a:ext cx="622" cy="36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5849" name="Line 7"/>
            <p:cNvSpPr>
              <a:spLocks noChangeShapeType="1"/>
            </p:cNvSpPr>
            <p:nvPr/>
          </p:nvSpPr>
          <p:spPr bwMode="auto">
            <a:xfrm flipH="1" flipV="1">
              <a:off x="932" y="180"/>
              <a:ext cx="356" cy="99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5850" name="Line 8"/>
            <p:cNvSpPr>
              <a:spLocks noChangeShapeType="1"/>
            </p:cNvSpPr>
            <p:nvPr/>
          </p:nvSpPr>
          <p:spPr bwMode="auto">
            <a:xfrm flipH="1">
              <a:off x="533" y="1305"/>
              <a:ext cx="666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5851" name="Line 9"/>
            <p:cNvSpPr>
              <a:spLocks noChangeShapeType="1"/>
            </p:cNvSpPr>
            <p:nvPr/>
          </p:nvSpPr>
          <p:spPr bwMode="auto">
            <a:xfrm flipH="1">
              <a:off x="533" y="720"/>
              <a:ext cx="1065" cy="54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5852" name="Oval 10"/>
            <p:cNvSpPr>
              <a:spLocks noChangeArrowheads="1"/>
            </p:cNvSpPr>
            <p:nvPr/>
          </p:nvSpPr>
          <p:spPr bwMode="auto">
            <a:xfrm>
              <a:off x="0" y="450"/>
              <a:ext cx="266" cy="254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5853" name="Oval 11"/>
            <p:cNvSpPr>
              <a:spLocks noChangeArrowheads="1"/>
            </p:cNvSpPr>
            <p:nvPr/>
          </p:nvSpPr>
          <p:spPr bwMode="auto">
            <a:xfrm>
              <a:off x="1199" y="1186"/>
              <a:ext cx="266" cy="254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5854" name="Oval 12"/>
            <p:cNvSpPr>
              <a:spLocks noChangeArrowheads="1"/>
            </p:cNvSpPr>
            <p:nvPr/>
          </p:nvSpPr>
          <p:spPr bwMode="auto">
            <a:xfrm>
              <a:off x="311" y="1186"/>
              <a:ext cx="266" cy="254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5855" name="Oval 13"/>
            <p:cNvSpPr>
              <a:spLocks noChangeArrowheads="1"/>
            </p:cNvSpPr>
            <p:nvPr/>
          </p:nvSpPr>
          <p:spPr bwMode="auto">
            <a:xfrm>
              <a:off x="1510" y="495"/>
              <a:ext cx="266" cy="253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5856" name="Oval 14"/>
            <p:cNvSpPr>
              <a:spLocks noChangeArrowheads="1"/>
            </p:cNvSpPr>
            <p:nvPr/>
          </p:nvSpPr>
          <p:spPr bwMode="auto">
            <a:xfrm>
              <a:off x="755" y="0"/>
              <a:ext cx="266" cy="253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chemeClr val="bg1"/>
                  </a:solidFill>
                </a:rPr>
                <a:t>0</a:t>
              </a:r>
            </a:p>
          </p:txBody>
        </p:sp>
      </p:grpSp>
      <p:sp>
        <p:nvSpPr>
          <p:cNvPr id="35844" name="Rectangle 15"/>
          <p:cNvSpPr>
            <a:spLocks noGrp="1" noChangeArrowheads="1"/>
          </p:cNvSpPr>
          <p:nvPr/>
        </p:nvSpPr>
        <p:spPr bwMode="auto">
          <a:xfrm>
            <a:off x="642910" y="1285860"/>
            <a:ext cx="8208962" cy="636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0" i="0" dirty="0">
                <a:latin typeface="黑体" pitchFamily="49" charset="-122"/>
                <a:ea typeface="黑体" pitchFamily="49" charset="-122"/>
              </a:rPr>
              <a:t>用深度优先搜索(DFS)判定下图是否DAG图。</a:t>
            </a:r>
            <a:endParaRPr lang="zh-CN" altLang="en-US" sz="2800" b="0" i="0" dirty="0">
              <a:latin typeface="黑体" pitchFamily="49" charset="-122"/>
              <a:ea typeface="黑体" pitchFamily="49" charset="-122"/>
              <a:sym typeface="Arial" pitchFamily="34" charset="0"/>
            </a:endParaRPr>
          </a:p>
        </p:txBody>
      </p:sp>
      <p:sp>
        <p:nvSpPr>
          <p:cNvPr id="35845" name="Rectangle 16"/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练习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5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239041" y="226528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三、拓扑排序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60" y="1289769"/>
            <a:ext cx="8405354" cy="40386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拓扑排序</a:t>
            </a:r>
            <a:r>
              <a:rPr lang="zh-CN" altLang="en-US" dirty="0">
                <a:solidFill>
                  <a:srgbClr val="333333"/>
                </a:solidFill>
                <a:latin typeface="+mn-ea"/>
              </a:rPr>
              <a:t>是将有向图的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ea"/>
              </a:rPr>
              <a:t>G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中所有顶点排成一个线性</a:t>
            </a:r>
            <a:endParaRPr lang="en-US" altLang="zh-CN" b="0" i="0" dirty="0">
              <a:solidFill>
                <a:srgbClr val="333333"/>
              </a:solidFill>
              <a:effectLst/>
              <a:latin typeface="+mn-ea"/>
            </a:endParaRP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序列，使顶点满足前驱后继关系。即对图中任意</a:t>
            </a:r>
            <a:endParaRPr lang="en-US" altLang="zh-CN" b="0" i="0" dirty="0">
              <a:solidFill>
                <a:srgbClr val="333333"/>
              </a:solidFill>
              <a:effectLst/>
              <a:latin typeface="+mn-ea"/>
            </a:endParaRP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一对顶点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ea"/>
              </a:rPr>
              <a:t>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ea"/>
              </a:rPr>
              <a:t>v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，若边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ea"/>
              </a:rPr>
              <a:t>&lt;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+mn-ea"/>
              </a:rPr>
              <a:t>u,v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ea"/>
              </a:rPr>
              <a:t>&gt;∈E(G)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，则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ea"/>
              </a:rPr>
              <a:t>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在线性序列中</a:t>
            </a:r>
            <a:endParaRPr lang="en-US" altLang="zh-CN" b="0" i="0" dirty="0">
              <a:solidFill>
                <a:srgbClr val="333333"/>
              </a:solidFill>
              <a:effectLst/>
              <a:latin typeface="+mn-ea"/>
            </a:endParaRP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出现在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ea"/>
              </a:rPr>
              <a:t>v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之前。</a:t>
            </a:r>
            <a:endParaRPr lang="zh-CN" altLang="en-US" dirty="0">
              <a:latin typeface="+mn-ea"/>
              <a:sym typeface="Symbol" pitchFamily="18" charset="2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508104" y="3861048"/>
            <a:ext cx="2819400" cy="2286000"/>
            <a:chOff x="0" y="0"/>
            <a:chExt cx="1920" cy="1536"/>
          </a:xfrm>
        </p:grpSpPr>
        <p:sp>
          <p:nvSpPr>
            <p:cNvPr id="36872" name="Line 8"/>
            <p:cNvSpPr>
              <a:spLocks noChangeShapeType="1"/>
            </p:cNvSpPr>
            <p:nvPr/>
          </p:nvSpPr>
          <p:spPr bwMode="auto">
            <a:xfrm flipH="1" flipV="1">
              <a:off x="1056" y="192"/>
              <a:ext cx="624" cy="384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6873" name="Line 9"/>
            <p:cNvSpPr>
              <a:spLocks noChangeShapeType="1"/>
            </p:cNvSpPr>
            <p:nvPr/>
          </p:nvSpPr>
          <p:spPr bwMode="auto">
            <a:xfrm>
              <a:off x="192" y="720"/>
              <a:ext cx="240" cy="57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6874" name="Line 10"/>
            <p:cNvSpPr>
              <a:spLocks noChangeShapeType="1"/>
            </p:cNvSpPr>
            <p:nvPr/>
          </p:nvSpPr>
          <p:spPr bwMode="auto">
            <a:xfrm flipH="1">
              <a:off x="240" y="144"/>
              <a:ext cx="672" cy="384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6875" name="Line 11"/>
            <p:cNvSpPr>
              <a:spLocks noChangeShapeType="1"/>
            </p:cNvSpPr>
            <p:nvPr/>
          </p:nvSpPr>
          <p:spPr bwMode="auto">
            <a:xfrm flipH="1" flipV="1">
              <a:off x="1008" y="192"/>
              <a:ext cx="386" cy="105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6876" name="Line 12"/>
            <p:cNvSpPr>
              <a:spLocks noChangeShapeType="1"/>
            </p:cNvSpPr>
            <p:nvPr/>
          </p:nvSpPr>
          <p:spPr bwMode="auto">
            <a:xfrm flipH="1">
              <a:off x="576" y="1392"/>
              <a:ext cx="720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6877" name="Line 13"/>
            <p:cNvSpPr>
              <a:spLocks noChangeShapeType="1"/>
            </p:cNvSpPr>
            <p:nvPr/>
          </p:nvSpPr>
          <p:spPr bwMode="auto">
            <a:xfrm flipH="1">
              <a:off x="576" y="768"/>
              <a:ext cx="1150" cy="57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36878" name="Oval 14"/>
            <p:cNvSpPr>
              <a:spLocks noChangeArrowheads="1"/>
            </p:cNvSpPr>
            <p:nvPr/>
          </p:nvSpPr>
          <p:spPr bwMode="auto">
            <a:xfrm>
              <a:off x="0" y="480"/>
              <a:ext cx="288" cy="271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6879" name="Oval 15"/>
            <p:cNvSpPr>
              <a:spLocks noChangeArrowheads="1"/>
            </p:cNvSpPr>
            <p:nvPr/>
          </p:nvSpPr>
          <p:spPr bwMode="auto">
            <a:xfrm>
              <a:off x="1296" y="1265"/>
              <a:ext cx="288" cy="271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6880" name="Oval 16"/>
            <p:cNvSpPr>
              <a:spLocks noChangeArrowheads="1"/>
            </p:cNvSpPr>
            <p:nvPr/>
          </p:nvSpPr>
          <p:spPr bwMode="auto">
            <a:xfrm>
              <a:off x="336" y="1265"/>
              <a:ext cx="288" cy="271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6881" name="Oval 17"/>
            <p:cNvSpPr>
              <a:spLocks noChangeArrowheads="1"/>
            </p:cNvSpPr>
            <p:nvPr/>
          </p:nvSpPr>
          <p:spPr bwMode="auto">
            <a:xfrm>
              <a:off x="1632" y="528"/>
              <a:ext cx="288" cy="27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6882" name="Oval 18"/>
            <p:cNvSpPr>
              <a:spLocks noChangeArrowheads="1"/>
            </p:cNvSpPr>
            <p:nvPr/>
          </p:nvSpPr>
          <p:spPr bwMode="auto">
            <a:xfrm>
              <a:off x="816" y="0"/>
              <a:ext cx="288" cy="27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chemeClr val="bg1"/>
                  </a:solidFill>
                </a:rPr>
                <a:t>0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7E5182C-50AC-345C-3F9F-7B46B7393427}"/>
              </a:ext>
            </a:extLst>
          </p:cNvPr>
          <p:cNvSpPr txBox="1"/>
          <p:nvPr/>
        </p:nvSpPr>
        <p:spPr>
          <a:xfrm>
            <a:off x="786250" y="4646861"/>
            <a:ext cx="38760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N" sz="2800" b="0" i="0" dirty="0">
                <a:latin typeface="+mn-ea"/>
                <a:ea typeface="+mn-ea"/>
              </a:rPr>
              <a:t>右图的线性序列之一</a:t>
            </a:r>
            <a:r>
              <a:rPr lang="zh-CN" altLang="en-US" sz="2800" b="0" i="0" dirty="0">
                <a:latin typeface="+mn-ea"/>
                <a:ea typeface="+mn-ea"/>
              </a:rPr>
              <a:t>：</a:t>
            </a:r>
            <a:r>
              <a:rPr lang="en-US" altLang="zh-CN" sz="2800" b="0" i="0" dirty="0">
                <a:latin typeface="+mn-ea"/>
                <a:ea typeface="+mn-ea"/>
              </a:rPr>
              <a:t>0</a:t>
            </a:r>
            <a:r>
              <a:rPr lang="zh-CN" altLang="en-US" sz="2800" b="0" i="0" dirty="0">
                <a:latin typeface="+mn-ea"/>
                <a:ea typeface="+mn-ea"/>
              </a:rPr>
              <a:t>，</a:t>
            </a:r>
            <a:r>
              <a:rPr lang="en-US" altLang="zh-CN" sz="2800" b="0" i="0" dirty="0">
                <a:latin typeface="+mn-ea"/>
                <a:ea typeface="+mn-ea"/>
              </a:rPr>
              <a:t>1</a:t>
            </a:r>
            <a:r>
              <a:rPr lang="zh-CN" altLang="en-US" sz="2800" b="0" i="0" dirty="0">
                <a:latin typeface="+mn-ea"/>
                <a:ea typeface="+mn-ea"/>
              </a:rPr>
              <a:t>，</a:t>
            </a:r>
            <a:r>
              <a:rPr lang="en-US" altLang="zh-CN" sz="2800" b="0" i="0" dirty="0">
                <a:latin typeface="+mn-ea"/>
                <a:ea typeface="+mn-ea"/>
              </a:rPr>
              <a:t>3</a:t>
            </a:r>
            <a:r>
              <a:rPr lang="zh-CN" altLang="en-US" sz="2800" b="0" i="0" dirty="0">
                <a:latin typeface="+mn-ea"/>
                <a:ea typeface="+mn-ea"/>
              </a:rPr>
              <a:t>，</a:t>
            </a:r>
            <a:r>
              <a:rPr lang="en-US" altLang="zh-CN" sz="2800" b="0" i="0" dirty="0">
                <a:latin typeface="+mn-ea"/>
                <a:ea typeface="+mn-ea"/>
              </a:rPr>
              <a:t>2</a:t>
            </a:r>
            <a:r>
              <a:rPr lang="zh-CN" altLang="en-US" sz="2800" b="0" i="0" dirty="0">
                <a:latin typeface="+mn-ea"/>
                <a:ea typeface="+mn-ea"/>
              </a:rPr>
              <a:t>，</a:t>
            </a:r>
            <a:r>
              <a:rPr lang="en-US" altLang="zh-CN" sz="2800" b="0" i="0" dirty="0">
                <a:latin typeface="+mn-ea"/>
                <a:ea typeface="+mn-ea"/>
              </a:rPr>
              <a:t>4</a:t>
            </a:r>
            <a:endParaRPr lang="en-CN" sz="2800" b="0" i="0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28500" y="1268760"/>
            <a:ext cx="87630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800" dirty="0">
                <a:latin typeface="黑体" pitchFamily="49" charset="-122"/>
                <a:ea typeface="黑体" pitchFamily="49" charset="-122"/>
                <a:sym typeface="Symbol" pitchFamily="18" charset="2"/>
              </a:rPr>
              <a:t>⑴</a:t>
            </a:r>
            <a:r>
              <a:rPr lang="zh-CN" altLang="en-US" dirty="0">
                <a:latin typeface="黑体" pitchFamily="49" charset="-122"/>
                <a:ea typeface="黑体" pitchFamily="49" charset="-122"/>
                <a:sym typeface="Symbol" pitchFamily="18" charset="2"/>
              </a:rPr>
              <a:t> </a:t>
            </a:r>
            <a:r>
              <a:rPr lang="zh-CN" altLang="en-US" sz="2800" dirty="0">
                <a:latin typeface="+mn-ea"/>
                <a:sym typeface="Symbol" pitchFamily="18" charset="2"/>
              </a:rPr>
              <a:t>在有向图中选一个没有前驱的顶点且输出之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800" dirty="0">
                <a:latin typeface="+mn-ea"/>
                <a:sym typeface="Symbol" pitchFamily="18" charset="2"/>
              </a:rPr>
              <a:t>⑵ 从图中删除该顶点和所有以它为尾的弧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800" dirty="0">
                <a:latin typeface="+mn-ea"/>
                <a:sym typeface="Symbol" pitchFamily="18" charset="2"/>
              </a:rPr>
              <a:t>　 重复⑴⑵两步，直到所有顶点输出为止或</a:t>
            </a:r>
            <a:r>
              <a:rPr lang="zh-CN" altLang="en-US" sz="2800" dirty="0">
                <a:solidFill>
                  <a:srgbClr val="3333FF"/>
                </a:solidFill>
                <a:latin typeface="+mn-ea"/>
                <a:sym typeface="Symbol" pitchFamily="18" charset="2"/>
              </a:rPr>
              <a:t>跳出循环。</a:t>
            </a:r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8534400" y="6392863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 typeface="Arial" pitchFamily="34" charset="0"/>
              <a:buNone/>
            </a:pPr>
            <a:fld id="{FEDA9D1D-349F-4BED-8954-8B11CA879EA4}" type="slidenum">
              <a:rPr lang="zh-CN" altLang="en-US"/>
              <a:pPr algn="r" eaLnBrk="1" hangingPunct="1">
                <a:spcBef>
                  <a:spcPct val="50000"/>
                </a:spcBef>
                <a:buFont typeface="Arial" pitchFamily="34" charset="0"/>
                <a:buNone/>
              </a:pPr>
              <a:t>51</a:t>
            </a:fld>
            <a:endParaRPr lang="en-US" altLang="zh-CN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28500" y="154345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拓扑排序算法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04870" y="1484784"/>
            <a:ext cx="1905000" cy="1920875"/>
            <a:chOff x="0" y="0"/>
            <a:chExt cx="3000" cy="3024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0" y="0"/>
              <a:ext cx="3000" cy="2400"/>
              <a:chOff x="0" y="0"/>
              <a:chExt cx="1776" cy="1440"/>
            </a:xfrm>
          </p:grpSpPr>
          <p:sp>
            <p:nvSpPr>
              <p:cNvPr id="40996" name="Line 7"/>
              <p:cNvSpPr>
                <a:spLocks noChangeShapeType="1"/>
              </p:cNvSpPr>
              <p:nvPr/>
            </p:nvSpPr>
            <p:spPr bwMode="auto">
              <a:xfrm flipH="1" flipV="1">
                <a:off x="977" y="180"/>
                <a:ext cx="577" cy="36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 type="triangle" w="med" len="med"/>
                <a:tailEnd/>
              </a:ln>
            </p:spPr>
            <p:txBody>
              <a:bodyPr wrap="none" lIns="0" rIns="0" anchor="ctr"/>
              <a:lstStyle/>
              <a:p>
                <a:endParaRPr lang="zh-CN" altLang="en-US" i="0"/>
              </a:p>
            </p:txBody>
          </p:sp>
          <p:sp>
            <p:nvSpPr>
              <p:cNvPr id="40997" name="Line 8"/>
              <p:cNvSpPr>
                <a:spLocks noChangeShapeType="1"/>
              </p:cNvSpPr>
              <p:nvPr/>
            </p:nvSpPr>
            <p:spPr bwMode="auto">
              <a:xfrm>
                <a:off x="178" y="675"/>
                <a:ext cx="222" cy="54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med"/>
              </a:ln>
            </p:spPr>
            <p:txBody>
              <a:bodyPr wrap="none" lIns="0" rIns="0" anchor="ctr"/>
              <a:lstStyle/>
              <a:p>
                <a:endParaRPr lang="zh-CN" altLang="en-US" i="0"/>
              </a:p>
            </p:txBody>
          </p:sp>
          <p:sp>
            <p:nvSpPr>
              <p:cNvPr id="40998" name="Line 9"/>
              <p:cNvSpPr>
                <a:spLocks noChangeShapeType="1"/>
              </p:cNvSpPr>
              <p:nvPr/>
            </p:nvSpPr>
            <p:spPr bwMode="auto">
              <a:xfrm flipH="1">
                <a:off x="222" y="135"/>
                <a:ext cx="622" cy="36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med"/>
              </a:ln>
            </p:spPr>
            <p:txBody>
              <a:bodyPr wrap="none" lIns="0" rIns="0" anchor="ctr"/>
              <a:lstStyle/>
              <a:p>
                <a:endParaRPr lang="zh-CN" altLang="en-US" i="0"/>
              </a:p>
            </p:txBody>
          </p:sp>
          <p:sp>
            <p:nvSpPr>
              <p:cNvPr id="40999" name="Line 10"/>
              <p:cNvSpPr>
                <a:spLocks noChangeShapeType="1"/>
              </p:cNvSpPr>
              <p:nvPr/>
            </p:nvSpPr>
            <p:spPr bwMode="auto">
              <a:xfrm flipH="1" flipV="1">
                <a:off x="932" y="180"/>
                <a:ext cx="355" cy="99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 type="triangle" w="med" len="med"/>
                <a:tailEnd/>
              </a:ln>
            </p:spPr>
            <p:txBody>
              <a:bodyPr wrap="none" lIns="0" rIns="0" anchor="ctr"/>
              <a:lstStyle/>
              <a:p>
                <a:endParaRPr lang="zh-CN" altLang="en-US" i="0"/>
              </a:p>
            </p:txBody>
          </p:sp>
          <p:sp>
            <p:nvSpPr>
              <p:cNvPr id="41000" name="Line 11"/>
              <p:cNvSpPr>
                <a:spLocks noChangeShapeType="1"/>
              </p:cNvSpPr>
              <p:nvPr/>
            </p:nvSpPr>
            <p:spPr bwMode="auto">
              <a:xfrm flipH="1">
                <a:off x="533" y="1305"/>
                <a:ext cx="666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med"/>
              </a:ln>
            </p:spPr>
            <p:txBody>
              <a:bodyPr wrap="none" lIns="0" rIns="0" anchor="ctr"/>
              <a:lstStyle/>
              <a:p>
                <a:endParaRPr lang="zh-CN" altLang="en-US" i="0"/>
              </a:p>
            </p:txBody>
          </p:sp>
          <p:sp>
            <p:nvSpPr>
              <p:cNvPr id="41001" name="Line 12"/>
              <p:cNvSpPr>
                <a:spLocks noChangeShapeType="1"/>
              </p:cNvSpPr>
              <p:nvPr/>
            </p:nvSpPr>
            <p:spPr bwMode="auto">
              <a:xfrm flipH="1">
                <a:off x="533" y="720"/>
                <a:ext cx="1066" cy="54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 type="triangle" w="med" len="med"/>
                <a:tailEnd/>
              </a:ln>
            </p:spPr>
            <p:txBody>
              <a:bodyPr wrap="none" lIns="0" rIns="0" anchor="ctr"/>
              <a:lstStyle/>
              <a:p>
                <a:endParaRPr lang="zh-CN" altLang="en-US" i="0"/>
              </a:p>
            </p:txBody>
          </p:sp>
          <p:sp>
            <p:nvSpPr>
              <p:cNvPr id="41002" name="Oval 13"/>
              <p:cNvSpPr>
                <a:spLocks noChangeArrowheads="1"/>
              </p:cNvSpPr>
              <p:nvPr/>
            </p:nvSpPr>
            <p:spPr bwMode="auto">
              <a:xfrm>
                <a:off x="0" y="450"/>
                <a:ext cx="266" cy="253"/>
              </a:xfrm>
              <a:prstGeom prst="ellipse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762F0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0" rIns="0"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 sz="2000" i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41003" name="Oval 14"/>
              <p:cNvSpPr>
                <a:spLocks noChangeArrowheads="1"/>
              </p:cNvSpPr>
              <p:nvPr/>
            </p:nvSpPr>
            <p:spPr bwMode="auto">
              <a:xfrm>
                <a:off x="1199" y="1186"/>
                <a:ext cx="266" cy="252"/>
              </a:xfrm>
              <a:prstGeom prst="ellipse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762F0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0" rIns="0"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 sz="2000" i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41004" name="Oval 15"/>
              <p:cNvSpPr>
                <a:spLocks noChangeArrowheads="1"/>
              </p:cNvSpPr>
              <p:nvPr/>
            </p:nvSpPr>
            <p:spPr bwMode="auto">
              <a:xfrm>
                <a:off x="311" y="1186"/>
                <a:ext cx="266" cy="252"/>
              </a:xfrm>
              <a:prstGeom prst="ellipse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762F0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0" rIns="0"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 sz="2000" i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41005" name="Oval 16"/>
              <p:cNvSpPr>
                <a:spLocks noChangeArrowheads="1"/>
              </p:cNvSpPr>
              <p:nvPr/>
            </p:nvSpPr>
            <p:spPr bwMode="auto">
              <a:xfrm>
                <a:off x="1510" y="495"/>
                <a:ext cx="266" cy="253"/>
              </a:xfrm>
              <a:prstGeom prst="ellipse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762F0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0" rIns="0"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 sz="2000" i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41006" name="Oval 17"/>
              <p:cNvSpPr>
                <a:spLocks noChangeArrowheads="1"/>
              </p:cNvSpPr>
              <p:nvPr/>
            </p:nvSpPr>
            <p:spPr bwMode="auto">
              <a:xfrm>
                <a:off x="755" y="0"/>
                <a:ext cx="266" cy="253"/>
              </a:xfrm>
              <a:prstGeom prst="ellipse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762F0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0" rIns="0"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 sz="2000" i="0">
                    <a:solidFill>
                      <a:schemeClr val="bg1"/>
                    </a:solidFill>
                  </a:rPr>
                  <a:t>0</a:t>
                </a:r>
              </a:p>
            </p:txBody>
          </p:sp>
        </p:grpSp>
        <p:sp>
          <p:nvSpPr>
            <p:cNvPr id="40995" name="Text Box 18"/>
            <p:cNvSpPr txBox="1">
              <a:spLocks noChangeArrowheads="1"/>
            </p:cNvSpPr>
            <p:nvPr/>
          </p:nvSpPr>
          <p:spPr bwMode="auto">
            <a:xfrm>
              <a:off x="120" y="2399"/>
              <a:ext cx="2880" cy="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zh-CN" altLang="en-US" sz="2000" i="0"/>
                <a:t>原图</a:t>
              </a:r>
            </a:p>
          </p:txBody>
        </p: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3576670" y="2018184"/>
            <a:ext cx="1905000" cy="1444625"/>
            <a:chOff x="0" y="0"/>
            <a:chExt cx="3000" cy="2274"/>
          </a:xfrm>
        </p:grpSpPr>
        <p:grpSp>
          <p:nvGrpSpPr>
            <p:cNvPr id="5" name="Group 20"/>
            <p:cNvGrpSpPr>
              <a:grpSpLocks/>
            </p:cNvGrpSpPr>
            <p:nvPr/>
          </p:nvGrpSpPr>
          <p:grpSpPr bwMode="auto">
            <a:xfrm>
              <a:off x="0" y="0"/>
              <a:ext cx="3000" cy="1650"/>
              <a:chOff x="0" y="0"/>
              <a:chExt cx="1200" cy="660"/>
            </a:xfrm>
          </p:grpSpPr>
          <p:sp>
            <p:nvSpPr>
              <p:cNvPr id="40987" name="Line 21"/>
              <p:cNvSpPr>
                <a:spLocks noChangeShapeType="1"/>
              </p:cNvSpPr>
              <p:nvPr/>
            </p:nvSpPr>
            <p:spPr bwMode="auto">
              <a:xfrm>
                <a:off x="120" y="150"/>
                <a:ext cx="150" cy="36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med"/>
              </a:ln>
            </p:spPr>
            <p:txBody>
              <a:bodyPr wrap="none" lIns="0" rIns="0" anchor="ctr"/>
              <a:lstStyle/>
              <a:p>
                <a:endParaRPr lang="zh-CN" altLang="en-US" i="0"/>
              </a:p>
            </p:txBody>
          </p:sp>
          <p:sp>
            <p:nvSpPr>
              <p:cNvPr id="40988" name="Line 22"/>
              <p:cNvSpPr>
                <a:spLocks noChangeShapeType="1"/>
              </p:cNvSpPr>
              <p:nvPr/>
            </p:nvSpPr>
            <p:spPr bwMode="auto">
              <a:xfrm flipH="1">
                <a:off x="360" y="570"/>
                <a:ext cx="450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med"/>
              </a:ln>
            </p:spPr>
            <p:txBody>
              <a:bodyPr wrap="none" lIns="0" rIns="0" anchor="ctr"/>
              <a:lstStyle/>
              <a:p>
                <a:endParaRPr lang="zh-CN" altLang="en-US" i="0"/>
              </a:p>
            </p:txBody>
          </p:sp>
          <p:sp>
            <p:nvSpPr>
              <p:cNvPr id="40989" name="Line 23"/>
              <p:cNvSpPr>
                <a:spLocks noChangeShapeType="1"/>
              </p:cNvSpPr>
              <p:nvPr/>
            </p:nvSpPr>
            <p:spPr bwMode="auto">
              <a:xfrm flipH="1">
                <a:off x="360" y="180"/>
                <a:ext cx="720" cy="36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 type="triangle" w="med" len="med"/>
                <a:tailEnd/>
              </a:ln>
            </p:spPr>
            <p:txBody>
              <a:bodyPr wrap="none" lIns="0" rIns="0" anchor="ctr"/>
              <a:lstStyle/>
              <a:p>
                <a:endParaRPr lang="zh-CN" altLang="en-US" i="0"/>
              </a:p>
            </p:txBody>
          </p:sp>
          <p:sp>
            <p:nvSpPr>
              <p:cNvPr id="40990" name="Oval 2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80" cy="169"/>
              </a:xfrm>
              <a:prstGeom prst="ellipse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762F0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0" rIns="0"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 sz="2000" i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40991" name="Oval 25"/>
              <p:cNvSpPr>
                <a:spLocks noChangeArrowheads="1"/>
              </p:cNvSpPr>
              <p:nvPr/>
            </p:nvSpPr>
            <p:spPr bwMode="auto">
              <a:xfrm>
                <a:off x="810" y="491"/>
                <a:ext cx="180" cy="169"/>
              </a:xfrm>
              <a:prstGeom prst="ellipse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762F0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0" rIns="0"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 sz="2000" i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40992" name="Oval 26"/>
              <p:cNvSpPr>
                <a:spLocks noChangeArrowheads="1"/>
              </p:cNvSpPr>
              <p:nvPr/>
            </p:nvSpPr>
            <p:spPr bwMode="auto">
              <a:xfrm>
                <a:off x="210" y="491"/>
                <a:ext cx="180" cy="169"/>
              </a:xfrm>
              <a:prstGeom prst="ellipse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762F0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0" rIns="0"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 sz="2000" i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40993" name="Oval 27"/>
              <p:cNvSpPr>
                <a:spLocks noChangeArrowheads="1"/>
              </p:cNvSpPr>
              <p:nvPr/>
            </p:nvSpPr>
            <p:spPr bwMode="auto">
              <a:xfrm>
                <a:off x="1020" y="30"/>
                <a:ext cx="180" cy="169"/>
              </a:xfrm>
              <a:prstGeom prst="ellipse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762F0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0" rIns="0"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 sz="2000" i="0">
                    <a:solidFill>
                      <a:schemeClr val="bg1"/>
                    </a:solidFill>
                  </a:rPr>
                  <a:t>4</a:t>
                </a:r>
              </a:p>
            </p:txBody>
          </p:sp>
        </p:grpSp>
        <p:sp>
          <p:nvSpPr>
            <p:cNvPr id="40986" name="Text Box 28"/>
            <p:cNvSpPr txBox="1">
              <a:spLocks noChangeArrowheads="1"/>
            </p:cNvSpPr>
            <p:nvPr/>
          </p:nvSpPr>
          <p:spPr bwMode="auto">
            <a:xfrm>
              <a:off x="0" y="1649"/>
              <a:ext cx="2880" cy="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zh-CN" altLang="en-US" sz="2000" i="0"/>
                <a:t>输出0之后</a:t>
              </a:r>
            </a:p>
          </p:txBody>
        </p: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6700870" y="2084859"/>
            <a:ext cx="1828800" cy="1397000"/>
            <a:chOff x="0" y="0"/>
            <a:chExt cx="2880" cy="2199"/>
          </a:xfrm>
        </p:grpSpPr>
        <p:grpSp>
          <p:nvGrpSpPr>
            <p:cNvPr id="7" name="Group 30"/>
            <p:cNvGrpSpPr>
              <a:grpSpLocks/>
            </p:cNvGrpSpPr>
            <p:nvPr/>
          </p:nvGrpSpPr>
          <p:grpSpPr bwMode="auto">
            <a:xfrm>
              <a:off x="285" y="0"/>
              <a:ext cx="2475" cy="1575"/>
              <a:chOff x="0" y="0"/>
              <a:chExt cx="990" cy="630"/>
            </a:xfrm>
          </p:grpSpPr>
          <p:sp>
            <p:nvSpPr>
              <p:cNvPr id="40980" name="Line 31"/>
              <p:cNvSpPr>
                <a:spLocks noChangeShapeType="1"/>
              </p:cNvSpPr>
              <p:nvPr/>
            </p:nvSpPr>
            <p:spPr bwMode="auto">
              <a:xfrm flipH="1">
                <a:off x="150" y="540"/>
                <a:ext cx="450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med"/>
              </a:ln>
            </p:spPr>
            <p:txBody>
              <a:bodyPr wrap="none" lIns="0" rIns="0" anchor="ctr"/>
              <a:lstStyle/>
              <a:p>
                <a:endParaRPr lang="zh-CN" altLang="en-US" i="0"/>
              </a:p>
            </p:txBody>
          </p:sp>
          <p:sp>
            <p:nvSpPr>
              <p:cNvPr id="40981" name="Line 32"/>
              <p:cNvSpPr>
                <a:spLocks noChangeShapeType="1"/>
              </p:cNvSpPr>
              <p:nvPr/>
            </p:nvSpPr>
            <p:spPr bwMode="auto">
              <a:xfrm flipH="1">
                <a:off x="150" y="150"/>
                <a:ext cx="720" cy="36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 type="triangle" w="med" len="med"/>
                <a:tailEnd/>
              </a:ln>
            </p:spPr>
            <p:txBody>
              <a:bodyPr wrap="none" lIns="0" rIns="0" anchor="ctr"/>
              <a:lstStyle/>
              <a:p>
                <a:endParaRPr lang="zh-CN" altLang="en-US" i="0"/>
              </a:p>
            </p:txBody>
          </p:sp>
          <p:sp>
            <p:nvSpPr>
              <p:cNvPr id="40982" name="Oval 33"/>
              <p:cNvSpPr>
                <a:spLocks noChangeArrowheads="1"/>
              </p:cNvSpPr>
              <p:nvPr/>
            </p:nvSpPr>
            <p:spPr bwMode="auto">
              <a:xfrm>
                <a:off x="600" y="461"/>
                <a:ext cx="180" cy="169"/>
              </a:xfrm>
              <a:prstGeom prst="ellipse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762F0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0" rIns="0"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 sz="2000" i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40983" name="Oval 34"/>
              <p:cNvSpPr>
                <a:spLocks noChangeArrowheads="1"/>
              </p:cNvSpPr>
              <p:nvPr/>
            </p:nvSpPr>
            <p:spPr bwMode="auto">
              <a:xfrm>
                <a:off x="0" y="461"/>
                <a:ext cx="180" cy="169"/>
              </a:xfrm>
              <a:prstGeom prst="ellipse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762F0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0" rIns="0"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 sz="2000" i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40984" name="Oval 35"/>
              <p:cNvSpPr>
                <a:spLocks noChangeArrowheads="1"/>
              </p:cNvSpPr>
              <p:nvPr/>
            </p:nvSpPr>
            <p:spPr bwMode="auto">
              <a:xfrm>
                <a:off x="810" y="0"/>
                <a:ext cx="180" cy="169"/>
              </a:xfrm>
              <a:prstGeom prst="ellipse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762F0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0" rIns="0"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 sz="2000" i="0">
                    <a:solidFill>
                      <a:schemeClr val="bg1"/>
                    </a:solidFill>
                  </a:rPr>
                  <a:t>4</a:t>
                </a:r>
              </a:p>
            </p:txBody>
          </p:sp>
        </p:grpSp>
        <p:sp>
          <p:nvSpPr>
            <p:cNvPr id="40979" name="Text Box 36"/>
            <p:cNvSpPr txBox="1">
              <a:spLocks noChangeArrowheads="1"/>
            </p:cNvSpPr>
            <p:nvPr/>
          </p:nvSpPr>
          <p:spPr bwMode="auto">
            <a:xfrm>
              <a:off x="0" y="1574"/>
              <a:ext cx="2880" cy="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zh-CN" altLang="en-US" sz="2000" i="0"/>
                <a:t>输出0,1之后</a:t>
              </a:r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681070" y="3989859"/>
            <a:ext cx="1828800" cy="1397000"/>
            <a:chOff x="0" y="0"/>
            <a:chExt cx="2880" cy="2199"/>
          </a:xfrm>
        </p:grpSpPr>
        <p:grpSp>
          <p:nvGrpSpPr>
            <p:cNvPr id="9" name="Group 38"/>
            <p:cNvGrpSpPr>
              <a:grpSpLocks/>
            </p:cNvGrpSpPr>
            <p:nvPr/>
          </p:nvGrpSpPr>
          <p:grpSpPr bwMode="auto">
            <a:xfrm>
              <a:off x="285" y="0"/>
              <a:ext cx="2475" cy="1575"/>
              <a:chOff x="0" y="0"/>
              <a:chExt cx="990" cy="630"/>
            </a:xfrm>
          </p:grpSpPr>
          <p:sp>
            <p:nvSpPr>
              <p:cNvPr id="40975" name="Line 39"/>
              <p:cNvSpPr>
                <a:spLocks noChangeShapeType="1"/>
              </p:cNvSpPr>
              <p:nvPr/>
            </p:nvSpPr>
            <p:spPr bwMode="auto">
              <a:xfrm flipH="1">
                <a:off x="150" y="150"/>
                <a:ext cx="720" cy="36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 type="triangle" w="med" len="med"/>
                <a:tailEnd/>
              </a:ln>
            </p:spPr>
            <p:txBody>
              <a:bodyPr wrap="none" lIns="0" rIns="0" anchor="ctr"/>
              <a:lstStyle/>
              <a:p>
                <a:endParaRPr lang="zh-CN" altLang="en-US" i="0"/>
              </a:p>
            </p:txBody>
          </p:sp>
          <p:sp>
            <p:nvSpPr>
              <p:cNvPr id="40976" name="Oval 40"/>
              <p:cNvSpPr>
                <a:spLocks noChangeArrowheads="1"/>
              </p:cNvSpPr>
              <p:nvPr/>
            </p:nvSpPr>
            <p:spPr bwMode="auto">
              <a:xfrm>
                <a:off x="0" y="461"/>
                <a:ext cx="180" cy="169"/>
              </a:xfrm>
              <a:prstGeom prst="ellipse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762F0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0" rIns="0"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 sz="2000" i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40977" name="Oval 41"/>
              <p:cNvSpPr>
                <a:spLocks noChangeArrowheads="1"/>
              </p:cNvSpPr>
              <p:nvPr/>
            </p:nvSpPr>
            <p:spPr bwMode="auto">
              <a:xfrm>
                <a:off x="810" y="0"/>
                <a:ext cx="180" cy="169"/>
              </a:xfrm>
              <a:prstGeom prst="ellipse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762F00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0" rIns="0"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 sz="2000" i="0">
                    <a:solidFill>
                      <a:schemeClr val="bg1"/>
                    </a:solidFill>
                  </a:rPr>
                  <a:t>4</a:t>
                </a:r>
              </a:p>
            </p:txBody>
          </p:sp>
        </p:grpSp>
        <p:sp>
          <p:nvSpPr>
            <p:cNvPr id="40974" name="Text Box 42"/>
            <p:cNvSpPr txBox="1">
              <a:spLocks noChangeArrowheads="1"/>
            </p:cNvSpPr>
            <p:nvPr/>
          </p:nvSpPr>
          <p:spPr bwMode="auto">
            <a:xfrm>
              <a:off x="0" y="1574"/>
              <a:ext cx="2880" cy="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zh-CN" altLang="en-US" sz="2000" i="0"/>
                <a:t>输出0,1,3之后</a:t>
              </a:r>
            </a:p>
          </p:txBody>
        </p:sp>
      </p:grpSp>
      <p:sp>
        <p:nvSpPr>
          <p:cNvPr id="110635" name="Text Box 43"/>
          <p:cNvSpPr txBox="1">
            <a:spLocks noChangeArrowheads="1"/>
          </p:cNvSpPr>
          <p:nvPr/>
        </p:nvSpPr>
        <p:spPr bwMode="auto">
          <a:xfrm>
            <a:off x="5938885" y="4459248"/>
            <a:ext cx="307654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zh-CN" altLang="en-US" sz="2800" b="0" i="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最后输出</a:t>
            </a:r>
            <a:r>
              <a:rPr lang="en-US" altLang="zh-CN" sz="2800" b="0" i="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0" i="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，拓扑排序结果：0,1,3,2,4</a:t>
            </a:r>
          </a:p>
        </p:txBody>
      </p:sp>
      <p:grpSp>
        <p:nvGrpSpPr>
          <p:cNvPr id="10" name="Group 44"/>
          <p:cNvGrpSpPr>
            <a:grpSpLocks/>
          </p:cNvGrpSpPr>
          <p:nvPr/>
        </p:nvGrpSpPr>
        <p:grpSpPr bwMode="auto">
          <a:xfrm>
            <a:off x="3729070" y="3999384"/>
            <a:ext cx="1981200" cy="1549400"/>
            <a:chOff x="0" y="0"/>
            <a:chExt cx="3120" cy="2439"/>
          </a:xfrm>
        </p:grpSpPr>
        <p:sp>
          <p:nvSpPr>
            <p:cNvPr id="40971" name="Oval 45"/>
            <p:cNvSpPr>
              <a:spLocks noChangeArrowheads="1"/>
            </p:cNvSpPr>
            <p:nvPr/>
          </p:nvSpPr>
          <p:spPr bwMode="auto">
            <a:xfrm>
              <a:off x="2025" y="0"/>
              <a:ext cx="450" cy="422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0" rIns="0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2000" i="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40972" name="Text Box 46"/>
            <p:cNvSpPr txBox="1">
              <a:spLocks noChangeArrowheads="1"/>
            </p:cNvSpPr>
            <p:nvPr/>
          </p:nvSpPr>
          <p:spPr bwMode="auto">
            <a:xfrm>
              <a:off x="0" y="1814"/>
              <a:ext cx="3120" cy="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itchFamily="34" charset="0"/>
                <a:buNone/>
              </a:pPr>
              <a:r>
                <a:rPr lang="zh-CN" altLang="en-US" sz="2000" i="0" dirty="0"/>
                <a:t>输出0,1,3,2之后</a:t>
              </a:r>
            </a:p>
          </p:txBody>
        </p:sp>
      </p:grpSp>
      <p:sp>
        <p:nvSpPr>
          <p:cNvPr id="47" name="Text Box 3"/>
          <p:cNvSpPr txBox="1">
            <a:spLocks noChangeArrowheads="1"/>
          </p:cNvSpPr>
          <p:nvPr/>
        </p:nvSpPr>
        <p:spPr bwMode="auto">
          <a:xfrm>
            <a:off x="542956" y="285728"/>
            <a:ext cx="8458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拓扑排序举例</a:t>
            </a:r>
          </a:p>
        </p:txBody>
      </p:sp>
      <p:sp>
        <p:nvSpPr>
          <p:cNvPr id="46" name="思想气泡: 云 45">
            <a:extLst>
              <a:ext uri="{FF2B5EF4-FFF2-40B4-BE49-F238E27FC236}">
                <a16:creationId xmlns:a16="http://schemas.microsoft.com/office/drawing/2014/main" id="{801C527B-F80F-4ED4-B634-D19C9190A9AD}"/>
              </a:ext>
            </a:extLst>
          </p:cNvPr>
          <p:cNvSpPr/>
          <p:nvPr/>
        </p:nvSpPr>
        <p:spPr bwMode="auto">
          <a:xfrm>
            <a:off x="5207841" y="-36679"/>
            <a:ext cx="3635895" cy="2108299"/>
          </a:xfrm>
          <a:prstGeom prst="cloudCallout">
            <a:avLst>
              <a:gd name="adj1" fmla="val -7117"/>
              <a:gd name="adj2" fmla="val 180414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0" i="0" dirty="0">
                <a:latin typeface="+mn-ea"/>
                <a:ea typeface="+mn-ea"/>
              </a:rPr>
              <a:t>拓扑排序结果不唯一，</a:t>
            </a:r>
            <a:r>
              <a:rPr lang="en-US" altLang="zh-CN" sz="2800" b="0" i="0" dirty="0">
                <a:latin typeface="+mn-ea"/>
                <a:ea typeface="+mn-ea"/>
              </a:rPr>
              <a:t>0</a:t>
            </a:r>
            <a:r>
              <a:rPr lang="zh-CN" altLang="en-US" sz="2800" b="0" i="0" dirty="0"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latin typeface="+mn-ea"/>
                <a:ea typeface="+mn-ea"/>
              </a:rPr>
              <a:t>3</a:t>
            </a:r>
            <a:r>
              <a:rPr lang="zh-CN" altLang="en-US" sz="2800" b="0" i="0" dirty="0"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latin typeface="+mn-ea"/>
                <a:ea typeface="+mn-ea"/>
              </a:rPr>
              <a:t>1</a:t>
            </a:r>
            <a:r>
              <a:rPr lang="zh-CN" altLang="en-US" sz="2800" b="0" i="0" dirty="0"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latin typeface="+mn-ea"/>
                <a:ea typeface="+mn-ea"/>
              </a:rPr>
              <a:t>2</a:t>
            </a:r>
            <a:r>
              <a:rPr lang="zh-CN" altLang="en-US" sz="2800" b="0" i="0" dirty="0"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latin typeface="+mn-ea"/>
                <a:ea typeface="+mn-ea"/>
              </a:rPr>
              <a:t>4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35" grpId="0" bldLvl="0" autoUpdateAnimBg="0"/>
      <p:bldP spid="4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01650" y="1244621"/>
            <a:ext cx="8642350" cy="5256213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sym typeface="Symbol" pitchFamily="18" charset="2"/>
              </a:rPr>
              <a:t>拓扑排序可检测</a:t>
            </a:r>
            <a:r>
              <a:rPr lang="en-US" altLang="zh-CN" dirty="0">
                <a:latin typeface="+mn-ea"/>
                <a:sym typeface="Symbol" pitchFamily="18" charset="2"/>
              </a:rPr>
              <a:t>AOV</a:t>
            </a:r>
            <a:r>
              <a:rPr lang="zh-CN" altLang="en-US" dirty="0">
                <a:latin typeface="+mn-ea"/>
                <a:sym typeface="Symbol" pitchFamily="18" charset="2"/>
              </a:rPr>
              <a:t>网是否存在环。</a:t>
            </a:r>
          </a:p>
          <a:p>
            <a:pPr eaLnBrk="1" hangingPunct="1">
              <a:lnSpc>
                <a:spcPct val="11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sym typeface="Symbol" pitchFamily="18" charset="2"/>
              </a:rPr>
              <a:t>如果通过拓扑排序能将</a:t>
            </a:r>
            <a:r>
              <a:rPr lang="en-US" altLang="zh-CN" dirty="0">
                <a:latin typeface="+mn-ea"/>
                <a:sym typeface="Symbol" pitchFamily="18" charset="2"/>
              </a:rPr>
              <a:t>AOV</a:t>
            </a:r>
            <a:r>
              <a:rPr lang="zh-CN" altLang="en-US" dirty="0">
                <a:latin typeface="+mn-ea"/>
                <a:sym typeface="Symbol" pitchFamily="18" charset="2"/>
              </a:rPr>
              <a:t>网络的所有顶点都排入一个拓扑有序的序列中</a:t>
            </a:r>
            <a:r>
              <a:rPr lang="en-US" altLang="zh-CN" dirty="0">
                <a:latin typeface="+mn-ea"/>
                <a:sym typeface="Symbol" pitchFamily="18" charset="2"/>
              </a:rPr>
              <a:t>, </a:t>
            </a:r>
            <a:r>
              <a:rPr lang="zh-CN" altLang="en-US" dirty="0">
                <a:latin typeface="+mn-ea"/>
                <a:sym typeface="Symbol" pitchFamily="18" charset="2"/>
              </a:rPr>
              <a:t>则该网络中必定不存在有向环。</a:t>
            </a:r>
          </a:p>
          <a:p>
            <a:pPr eaLnBrk="1" hangingPunct="1">
              <a:lnSpc>
                <a:spcPct val="11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sym typeface="Symbol" pitchFamily="18" charset="2"/>
              </a:rPr>
              <a:t>反之存在环。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sz="4400" b="1" kern="1200" dirty="0">
                <a:latin typeface="Tahoma" panose="020B0604030504040204" pitchFamily="34" charset="0"/>
                <a:ea typeface="隶书" pitchFamily="49" charset="-122"/>
                <a:cs typeface="+mn-cs"/>
                <a:sym typeface="Arial" pitchFamily="34" charset="0"/>
              </a:rPr>
              <a:t>拓扑排序与</a:t>
            </a:r>
            <a:r>
              <a:rPr lang="en-US" altLang="zh-CN" sz="4400" b="1" kern="1200" dirty="0">
                <a:latin typeface="Tahoma" panose="020B0604030504040204" pitchFamily="34" charset="0"/>
                <a:ea typeface="隶书" pitchFamily="49" charset="-122"/>
                <a:cs typeface="+mn-cs"/>
                <a:sym typeface="Arial" pitchFamily="34" charset="0"/>
              </a:rPr>
              <a:t>AOV</a:t>
            </a:r>
            <a:r>
              <a:rPr lang="zh-CN" altLang="en-US" sz="4400" b="1" kern="1200" dirty="0">
                <a:latin typeface="Tahoma" panose="020B0604030504040204" pitchFamily="34" charset="0"/>
                <a:ea typeface="隶书" pitchFamily="49" charset="-122"/>
                <a:cs typeface="+mn-cs"/>
                <a:sym typeface="Arial" pitchFamily="34" charset="0"/>
              </a:rPr>
              <a:t>网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987675" y="2205038"/>
            <a:ext cx="3048000" cy="1587500"/>
            <a:chOff x="0" y="0"/>
            <a:chExt cx="4800" cy="2500"/>
          </a:xfrm>
        </p:grpSpPr>
        <p:sp>
          <p:nvSpPr>
            <p:cNvPr id="43014" name="Oval 3"/>
            <p:cNvSpPr>
              <a:spLocks noChangeArrowheads="1"/>
            </p:cNvSpPr>
            <p:nvPr/>
          </p:nvSpPr>
          <p:spPr bwMode="auto">
            <a:xfrm>
              <a:off x="2040" y="0"/>
              <a:ext cx="720" cy="720"/>
            </a:xfrm>
            <a:prstGeom prst="ellipse">
              <a:avLst/>
            </a:prstGeom>
            <a:noFill/>
            <a:ln w="12700" cap="sq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3200" b="1" i="0">
                  <a:solidFill>
                    <a:srgbClr val="000099"/>
                  </a:solidFill>
                  <a:latin typeface="Times New Roman" pitchFamily="18" charset="0"/>
                </a:rPr>
                <a:t>B</a:t>
              </a:r>
              <a:endParaRPr lang="en-US" altLang="zh-CN" sz="3200" i="0">
                <a:latin typeface="Times New Roman" pitchFamily="18" charset="0"/>
              </a:endParaRPr>
            </a:p>
          </p:txBody>
        </p:sp>
        <p:sp>
          <p:nvSpPr>
            <p:cNvPr id="43015" name="Oval 4"/>
            <p:cNvSpPr>
              <a:spLocks noChangeArrowheads="1"/>
            </p:cNvSpPr>
            <p:nvPr/>
          </p:nvSpPr>
          <p:spPr bwMode="auto">
            <a:xfrm>
              <a:off x="4080" y="940"/>
              <a:ext cx="720" cy="720"/>
            </a:xfrm>
            <a:prstGeom prst="ellipse">
              <a:avLst/>
            </a:prstGeom>
            <a:noFill/>
            <a:ln w="12700" cap="sq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3200" b="1" i="0">
                  <a:solidFill>
                    <a:srgbClr val="000099"/>
                  </a:solidFill>
                  <a:latin typeface="Times New Roman" pitchFamily="18" charset="0"/>
                </a:rPr>
                <a:t>D</a:t>
              </a:r>
              <a:endParaRPr lang="en-US" altLang="zh-CN" sz="3200" i="0">
                <a:latin typeface="Times New Roman" pitchFamily="18" charset="0"/>
              </a:endParaRPr>
            </a:p>
          </p:txBody>
        </p:sp>
        <p:sp>
          <p:nvSpPr>
            <p:cNvPr id="43016" name="Oval 5"/>
            <p:cNvSpPr>
              <a:spLocks noChangeArrowheads="1"/>
            </p:cNvSpPr>
            <p:nvPr/>
          </p:nvSpPr>
          <p:spPr bwMode="auto">
            <a:xfrm>
              <a:off x="0" y="940"/>
              <a:ext cx="720" cy="720"/>
            </a:xfrm>
            <a:prstGeom prst="ellipse">
              <a:avLst/>
            </a:prstGeom>
            <a:noFill/>
            <a:ln w="12700" cap="sq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3200" b="1" i="0">
                  <a:solidFill>
                    <a:srgbClr val="000099"/>
                  </a:solidFill>
                  <a:latin typeface="Times New Roman" pitchFamily="18" charset="0"/>
                </a:rPr>
                <a:t>A</a:t>
              </a:r>
              <a:endParaRPr lang="en-US" altLang="zh-CN" sz="3200" i="0">
                <a:latin typeface="Times New Roman" pitchFamily="18" charset="0"/>
              </a:endParaRPr>
            </a:p>
          </p:txBody>
        </p:sp>
        <p:sp>
          <p:nvSpPr>
            <p:cNvPr id="43017" name="Oval 6"/>
            <p:cNvSpPr>
              <a:spLocks noChangeArrowheads="1"/>
            </p:cNvSpPr>
            <p:nvPr/>
          </p:nvSpPr>
          <p:spPr bwMode="auto">
            <a:xfrm>
              <a:off x="2040" y="1780"/>
              <a:ext cx="720" cy="720"/>
            </a:xfrm>
            <a:prstGeom prst="ellipse">
              <a:avLst/>
            </a:prstGeom>
            <a:noFill/>
            <a:ln w="12700" cap="sq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sz="3200" b="1" i="0">
                  <a:solidFill>
                    <a:srgbClr val="000099"/>
                  </a:solidFill>
                  <a:latin typeface="Times New Roman" pitchFamily="18" charset="0"/>
                </a:rPr>
                <a:t>C</a:t>
              </a:r>
              <a:endParaRPr lang="en-US" altLang="zh-CN" sz="3200" i="0">
                <a:latin typeface="Times New Roman" pitchFamily="18" charset="0"/>
              </a:endParaRPr>
            </a:p>
          </p:txBody>
        </p:sp>
        <p:sp>
          <p:nvSpPr>
            <p:cNvPr id="43018" name="Line 7"/>
            <p:cNvSpPr>
              <a:spLocks noChangeShapeType="1"/>
            </p:cNvSpPr>
            <p:nvPr/>
          </p:nvSpPr>
          <p:spPr bwMode="auto">
            <a:xfrm flipV="1">
              <a:off x="720" y="340"/>
              <a:ext cx="1320" cy="72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43019" name="Line 8"/>
            <p:cNvSpPr>
              <a:spLocks noChangeShapeType="1"/>
            </p:cNvSpPr>
            <p:nvPr/>
          </p:nvSpPr>
          <p:spPr bwMode="auto">
            <a:xfrm>
              <a:off x="600" y="1540"/>
              <a:ext cx="1440" cy="60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43020" name="Line 9"/>
            <p:cNvSpPr>
              <a:spLocks noChangeShapeType="1"/>
            </p:cNvSpPr>
            <p:nvPr/>
          </p:nvSpPr>
          <p:spPr bwMode="auto">
            <a:xfrm>
              <a:off x="2760" y="460"/>
              <a:ext cx="1440" cy="60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43021" name="Line 10"/>
            <p:cNvSpPr>
              <a:spLocks noChangeShapeType="1"/>
            </p:cNvSpPr>
            <p:nvPr/>
          </p:nvSpPr>
          <p:spPr bwMode="auto">
            <a:xfrm flipV="1">
              <a:off x="2760" y="1540"/>
              <a:ext cx="1440" cy="60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i="0"/>
            </a:p>
          </p:txBody>
        </p:sp>
      </p:grpSp>
      <p:sp>
        <p:nvSpPr>
          <p:cNvPr id="112651" name="Text Box 11"/>
          <p:cNvSpPr txBox="1">
            <a:spLocks noChangeArrowheads="1"/>
          </p:cNvSpPr>
          <p:nvPr/>
        </p:nvSpPr>
        <p:spPr bwMode="auto">
          <a:xfrm>
            <a:off x="285720" y="4316070"/>
            <a:ext cx="8229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zh-CN" altLang="en-US" sz="4000" dirty="0">
                <a:latin typeface="Times New Roman" pitchFamily="18" charset="0"/>
              </a:rPr>
              <a:t>   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A B C D    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或    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A C B D</a:t>
            </a:r>
          </a:p>
        </p:txBody>
      </p:sp>
      <p:sp>
        <p:nvSpPr>
          <p:cNvPr id="43012" name="Rectangle 12"/>
          <p:cNvSpPr>
            <a:spLocks noGrp="1" noChangeArrowheads="1"/>
          </p:cNvSpPr>
          <p:nvPr/>
        </p:nvSpPr>
        <p:spPr bwMode="auto">
          <a:xfrm>
            <a:off x="285720" y="1285860"/>
            <a:ext cx="8208962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</a:rPr>
              <a:t>写出下图的拓扑排序序列。</a:t>
            </a:r>
            <a:endParaRPr lang="zh-CN" altLang="en-US" sz="2800" b="0" i="0" dirty="0">
              <a:latin typeface="黑体" pitchFamily="49" charset="-122"/>
              <a:ea typeface="黑体" pitchFamily="49" charset="-122"/>
              <a:sym typeface="Arial" pitchFamily="34" charset="0"/>
            </a:endParaRPr>
          </a:p>
        </p:txBody>
      </p:sp>
      <p:sp>
        <p:nvSpPr>
          <p:cNvPr id="43013" name="Rectangle 13"/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  <a:sym typeface="Arial" pitchFamily="34" charset="0"/>
              </a:rPr>
              <a:t>练习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1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555875" y="1990725"/>
            <a:ext cx="3602038" cy="2232025"/>
            <a:chOff x="0" y="0"/>
            <a:chExt cx="4800" cy="2400"/>
          </a:xfrm>
        </p:grpSpPr>
        <p:sp>
          <p:nvSpPr>
            <p:cNvPr id="44038" name="Oval 3"/>
            <p:cNvSpPr>
              <a:spLocks noChangeArrowheads="1"/>
            </p:cNvSpPr>
            <p:nvPr/>
          </p:nvSpPr>
          <p:spPr bwMode="auto">
            <a:xfrm>
              <a:off x="2039" y="0"/>
              <a:ext cx="721" cy="720"/>
            </a:xfrm>
            <a:prstGeom prst="ellipse">
              <a:avLst/>
            </a:prstGeom>
            <a:solidFill>
              <a:srgbClr val="CCFFCC">
                <a:alpha val="50195"/>
              </a:srgbClr>
            </a:solidFill>
            <a:ln w="12700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b="1" i="0">
                  <a:solidFill>
                    <a:srgbClr val="000099"/>
                  </a:solidFill>
                  <a:latin typeface="Times New Roman" pitchFamily="18" charset="0"/>
                </a:rPr>
                <a:t>B</a:t>
              </a:r>
              <a:endParaRPr lang="en-US" altLang="zh-CN" i="0">
                <a:latin typeface="Times New Roman" pitchFamily="18" charset="0"/>
              </a:endParaRPr>
            </a:p>
          </p:txBody>
        </p:sp>
        <p:sp>
          <p:nvSpPr>
            <p:cNvPr id="44039" name="Oval 4"/>
            <p:cNvSpPr>
              <a:spLocks noChangeArrowheads="1"/>
            </p:cNvSpPr>
            <p:nvPr/>
          </p:nvSpPr>
          <p:spPr bwMode="auto">
            <a:xfrm>
              <a:off x="4081" y="840"/>
              <a:ext cx="719" cy="720"/>
            </a:xfrm>
            <a:prstGeom prst="ellipse">
              <a:avLst/>
            </a:prstGeom>
            <a:solidFill>
              <a:srgbClr val="CCFFCC">
                <a:alpha val="50195"/>
              </a:srgbClr>
            </a:solidFill>
            <a:ln w="12700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b="1" i="0">
                  <a:solidFill>
                    <a:srgbClr val="000099"/>
                  </a:solidFill>
                  <a:latin typeface="Times New Roman" pitchFamily="18" charset="0"/>
                </a:rPr>
                <a:t>D</a:t>
              </a:r>
              <a:endParaRPr lang="en-US" altLang="zh-CN" i="0">
                <a:latin typeface="Times New Roman" pitchFamily="18" charset="0"/>
              </a:endParaRPr>
            </a:p>
          </p:txBody>
        </p:sp>
        <p:sp>
          <p:nvSpPr>
            <p:cNvPr id="44040" name="Oval 5"/>
            <p:cNvSpPr>
              <a:spLocks noChangeArrowheads="1"/>
            </p:cNvSpPr>
            <p:nvPr/>
          </p:nvSpPr>
          <p:spPr bwMode="auto">
            <a:xfrm>
              <a:off x="0" y="840"/>
              <a:ext cx="719" cy="720"/>
            </a:xfrm>
            <a:prstGeom prst="ellipse">
              <a:avLst/>
            </a:prstGeom>
            <a:solidFill>
              <a:srgbClr val="CCFFCC">
                <a:alpha val="50195"/>
              </a:srgbClr>
            </a:solidFill>
            <a:ln w="12700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b="1" i="0">
                  <a:solidFill>
                    <a:srgbClr val="000099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4041" name="Oval 6"/>
            <p:cNvSpPr>
              <a:spLocks noChangeArrowheads="1"/>
            </p:cNvSpPr>
            <p:nvPr/>
          </p:nvSpPr>
          <p:spPr bwMode="auto">
            <a:xfrm>
              <a:off x="2039" y="1680"/>
              <a:ext cx="721" cy="720"/>
            </a:xfrm>
            <a:prstGeom prst="ellipse">
              <a:avLst/>
            </a:prstGeom>
            <a:solidFill>
              <a:srgbClr val="CCFFCC">
                <a:alpha val="50195"/>
              </a:srgbClr>
            </a:solidFill>
            <a:ln w="12700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en-US" altLang="zh-CN" b="1" i="0">
                  <a:solidFill>
                    <a:srgbClr val="000099"/>
                  </a:solidFill>
                  <a:latin typeface="Times New Roman" pitchFamily="18" charset="0"/>
                </a:rPr>
                <a:t>C</a:t>
              </a:r>
              <a:endParaRPr lang="en-US" altLang="zh-CN" i="0">
                <a:latin typeface="Times New Roman" pitchFamily="18" charset="0"/>
              </a:endParaRPr>
            </a:p>
          </p:txBody>
        </p:sp>
        <p:sp>
          <p:nvSpPr>
            <p:cNvPr id="44042" name="Line 7"/>
            <p:cNvSpPr>
              <a:spLocks noChangeShapeType="1"/>
            </p:cNvSpPr>
            <p:nvPr/>
          </p:nvSpPr>
          <p:spPr bwMode="auto">
            <a:xfrm flipV="1">
              <a:off x="719" y="480"/>
              <a:ext cx="1320" cy="480"/>
            </a:xfrm>
            <a:prstGeom prst="line">
              <a:avLst/>
            </a:prstGeom>
            <a:noFill/>
            <a:ln w="28575" cap="sq">
              <a:solidFill>
                <a:schemeClr val="tx2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44043" name="Line 8"/>
            <p:cNvSpPr>
              <a:spLocks noChangeShapeType="1"/>
            </p:cNvSpPr>
            <p:nvPr/>
          </p:nvSpPr>
          <p:spPr bwMode="auto">
            <a:xfrm>
              <a:off x="601" y="1441"/>
              <a:ext cx="1439" cy="599"/>
            </a:xfrm>
            <a:prstGeom prst="line">
              <a:avLst/>
            </a:prstGeom>
            <a:noFill/>
            <a:ln w="28575" cap="sq">
              <a:solidFill>
                <a:schemeClr val="tx2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44044" name="Line 9"/>
            <p:cNvSpPr>
              <a:spLocks noChangeShapeType="1"/>
            </p:cNvSpPr>
            <p:nvPr/>
          </p:nvSpPr>
          <p:spPr bwMode="auto">
            <a:xfrm flipV="1">
              <a:off x="2761" y="1441"/>
              <a:ext cx="1439" cy="599"/>
            </a:xfrm>
            <a:prstGeom prst="line">
              <a:avLst/>
            </a:prstGeom>
            <a:noFill/>
            <a:ln w="28575" cap="sq">
              <a:solidFill>
                <a:schemeClr val="tx2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44045" name="Line 10"/>
            <p:cNvSpPr>
              <a:spLocks noChangeShapeType="1"/>
            </p:cNvSpPr>
            <p:nvPr/>
          </p:nvSpPr>
          <p:spPr bwMode="auto">
            <a:xfrm flipH="1" flipV="1">
              <a:off x="2761" y="360"/>
              <a:ext cx="1439" cy="720"/>
            </a:xfrm>
            <a:prstGeom prst="line">
              <a:avLst/>
            </a:prstGeom>
            <a:noFill/>
            <a:ln w="28575" cap="sq">
              <a:solidFill>
                <a:schemeClr val="tx2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44046" name="Line 11"/>
            <p:cNvSpPr>
              <a:spLocks noChangeShapeType="1"/>
            </p:cNvSpPr>
            <p:nvPr/>
          </p:nvSpPr>
          <p:spPr bwMode="auto">
            <a:xfrm>
              <a:off x="2401" y="720"/>
              <a:ext cx="0" cy="959"/>
            </a:xfrm>
            <a:prstGeom prst="line">
              <a:avLst/>
            </a:prstGeom>
            <a:noFill/>
            <a:ln w="28575" cap="sq">
              <a:solidFill>
                <a:schemeClr val="tx2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i="0"/>
            </a:p>
          </p:txBody>
        </p:sp>
      </p:grpSp>
      <p:sp>
        <p:nvSpPr>
          <p:cNvPr id="113676" name="Text Box 12"/>
          <p:cNvSpPr txBox="1">
            <a:spLocks noChangeArrowheads="1"/>
          </p:cNvSpPr>
          <p:nvPr/>
        </p:nvSpPr>
        <p:spPr bwMode="auto">
          <a:xfrm>
            <a:off x="609600" y="4835061"/>
            <a:ext cx="81391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  <a:sym typeface="Arial" pitchFamily="34" charset="0"/>
              </a:rPr>
              <a:t>无拓扑排序序列，因为图中存在环 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  <a:sym typeface="Arial" pitchFamily="34" charset="0"/>
              </a:rPr>
              <a:t>{B, C, D}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  <a:sym typeface="Arial" pitchFamily="34" charset="0"/>
              </a:rPr>
              <a:t>。</a:t>
            </a:r>
            <a:endParaRPr lang="en-US" altLang="zh-CN" sz="2800" b="0" i="0" dirty="0">
              <a:solidFill>
                <a:srgbClr val="FF0000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44036" name="Rectangle 13"/>
          <p:cNvSpPr>
            <a:spLocks noGrp="1" noChangeArrowheads="1"/>
          </p:cNvSpPr>
          <p:nvPr/>
        </p:nvSpPr>
        <p:spPr bwMode="auto">
          <a:xfrm>
            <a:off x="506442" y="1285860"/>
            <a:ext cx="8208962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0" i="0" dirty="0">
                <a:latin typeface="黑体" pitchFamily="49" charset="-122"/>
                <a:ea typeface="黑体" pitchFamily="49" charset="-122"/>
              </a:rPr>
              <a:t>写出下图的拓扑排序序列。</a:t>
            </a:r>
            <a:endParaRPr lang="zh-CN" altLang="en-US" sz="2800" b="0" i="0" dirty="0">
              <a:latin typeface="黑体" pitchFamily="49" charset="-122"/>
              <a:ea typeface="黑体" pitchFamily="49" charset="-122"/>
              <a:sym typeface="Arial" pitchFamily="34" charset="0"/>
            </a:endParaRP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  <a:sym typeface="Arial" pitchFamily="34" charset="0"/>
              </a:rPr>
              <a:t>练习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6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13257" y="5094221"/>
            <a:ext cx="8305800" cy="14112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  <a:buClr>
                <a:srgbClr val="FF7C80"/>
              </a:buClr>
              <a:buSzPct val="50000"/>
              <a:buFont typeface="Wingdings" pitchFamily="2" charset="2"/>
              <a:buNone/>
              <a:defRPr/>
            </a:pPr>
            <a:r>
              <a:rPr lang="zh-CN" altLang="en-US" sz="1800" b="1" dirty="0">
                <a:solidFill>
                  <a:srgbClr val="000066"/>
                </a:solidFill>
                <a:ea typeface="楷体_GB2312" pitchFamily="1" charset="-122"/>
              </a:rPr>
              <a:t>          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1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 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2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 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3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 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4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 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5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 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6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8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 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9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 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7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buClr>
                <a:srgbClr val="FF7C80"/>
              </a:buClr>
              <a:buSzPct val="50000"/>
              <a:buFont typeface="Wingdings" pitchFamily="2" charset="2"/>
              <a:buNone/>
              <a:defRPr/>
            </a:pPr>
            <a:r>
              <a:rPr lang="zh-CN" altLang="en-US" dirty="0">
                <a:solidFill>
                  <a:srgbClr val="000066"/>
                </a:solidFill>
                <a:latin typeface="+mn-ea"/>
              </a:rPr>
              <a:t>或 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1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 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8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 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9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 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2 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5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 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3 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4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 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7</a:t>
            </a:r>
            <a:r>
              <a:rPr lang="en-US" altLang="zh-CN" dirty="0">
                <a:solidFill>
                  <a:srgbClr val="000066"/>
                </a:solidFill>
                <a:latin typeface="+mn-ea"/>
              </a:rPr>
              <a:t> , C</a:t>
            </a:r>
            <a:r>
              <a:rPr lang="en-US" altLang="zh-CN" baseline="-25000" dirty="0">
                <a:solidFill>
                  <a:srgbClr val="000066"/>
                </a:solidFill>
                <a:latin typeface="+mn-ea"/>
              </a:rPr>
              <a:t>6</a:t>
            </a:r>
            <a:endParaRPr lang="zh-CN" altLang="en-US" baseline="-25000" dirty="0">
              <a:effectLst>
                <a:outerShdw blurRad="38100" dist="38100" dir="2700000" algn="tl">
                  <a:srgbClr val="C0C0C0"/>
                </a:outerShdw>
              </a:effectLst>
              <a:latin typeface="+mn-ea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860675" y="2220913"/>
            <a:ext cx="3656013" cy="2508250"/>
            <a:chOff x="0" y="0"/>
            <a:chExt cx="1935" cy="1232"/>
          </a:xfrm>
        </p:grpSpPr>
        <p:sp>
          <p:nvSpPr>
            <p:cNvPr id="45073" name="Line 5"/>
            <p:cNvSpPr>
              <a:spLocks noChangeShapeType="1"/>
            </p:cNvSpPr>
            <p:nvPr/>
          </p:nvSpPr>
          <p:spPr bwMode="auto">
            <a:xfrm>
              <a:off x="1439" y="670"/>
              <a:ext cx="447" cy="267"/>
            </a:xfrm>
            <a:prstGeom prst="line">
              <a:avLst/>
            </a:prstGeom>
            <a:noFill/>
            <a:ln w="34925">
              <a:solidFill>
                <a:srgbClr val="00FF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4" name="Line 6"/>
            <p:cNvSpPr>
              <a:spLocks noChangeShapeType="1"/>
            </p:cNvSpPr>
            <p:nvPr/>
          </p:nvSpPr>
          <p:spPr bwMode="auto">
            <a:xfrm>
              <a:off x="0" y="910"/>
              <a:ext cx="968" cy="295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5" name="Line 7"/>
            <p:cNvSpPr>
              <a:spLocks noChangeShapeType="1"/>
            </p:cNvSpPr>
            <p:nvPr/>
          </p:nvSpPr>
          <p:spPr bwMode="auto">
            <a:xfrm flipV="1">
              <a:off x="50" y="482"/>
              <a:ext cx="544" cy="34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6" name="Line 8"/>
            <p:cNvSpPr>
              <a:spLocks noChangeShapeType="1"/>
            </p:cNvSpPr>
            <p:nvPr/>
          </p:nvSpPr>
          <p:spPr bwMode="auto">
            <a:xfrm>
              <a:off x="25" y="295"/>
              <a:ext cx="570" cy="10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7" name="Line 9"/>
            <p:cNvSpPr>
              <a:spLocks noChangeShapeType="1"/>
            </p:cNvSpPr>
            <p:nvPr/>
          </p:nvSpPr>
          <p:spPr bwMode="auto">
            <a:xfrm flipV="1">
              <a:off x="25" y="27"/>
              <a:ext cx="521" cy="241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8" name="Line 10"/>
            <p:cNvSpPr>
              <a:spLocks noChangeShapeType="1"/>
            </p:cNvSpPr>
            <p:nvPr/>
          </p:nvSpPr>
          <p:spPr bwMode="auto">
            <a:xfrm>
              <a:off x="695" y="0"/>
              <a:ext cx="521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9" name="Line 11"/>
            <p:cNvSpPr>
              <a:spLocks noChangeShapeType="1"/>
            </p:cNvSpPr>
            <p:nvPr/>
          </p:nvSpPr>
          <p:spPr bwMode="auto">
            <a:xfrm>
              <a:off x="769" y="455"/>
              <a:ext cx="546" cy="133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0" name="Line 12"/>
            <p:cNvSpPr>
              <a:spLocks noChangeShapeType="1"/>
            </p:cNvSpPr>
            <p:nvPr/>
          </p:nvSpPr>
          <p:spPr bwMode="auto">
            <a:xfrm flipV="1">
              <a:off x="50" y="670"/>
              <a:ext cx="1238" cy="214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1" name="Line 13"/>
            <p:cNvSpPr>
              <a:spLocks noChangeShapeType="1"/>
            </p:cNvSpPr>
            <p:nvPr/>
          </p:nvSpPr>
          <p:spPr bwMode="auto">
            <a:xfrm>
              <a:off x="1389" y="27"/>
              <a:ext cx="546" cy="241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2" name="Line 14"/>
            <p:cNvSpPr>
              <a:spLocks noChangeShapeType="1"/>
            </p:cNvSpPr>
            <p:nvPr/>
          </p:nvSpPr>
          <p:spPr bwMode="auto">
            <a:xfrm flipV="1">
              <a:off x="1464" y="348"/>
              <a:ext cx="471" cy="26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3" name="Line 15"/>
            <p:cNvSpPr>
              <a:spLocks noChangeShapeType="1"/>
            </p:cNvSpPr>
            <p:nvPr/>
          </p:nvSpPr>
          <p:spPr bwMode="auto">
            <a:xfrm flipV="1">
              <a:off x="1141" y="1018"/>
              <a:ext cx="745" cy="214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2555875" y="1990725"/>
            <a:ext cx="4537075" cy="2952750"/>
            <a:chOff x="0" y="0"/>
            <a:chExt cx="2352" cy="1488"/>
          </a:xfrm>
        </p:grpSpPr>
        <p:sp>
          <p:nvSpPr>
            <p:cNvPr id="112648" name="Oval 17"/>
            <p:cNvSpPr>
              <a:spLocks noChangeArrowheads="1"/>
            </p:cNvSpPr>
            <p:nvPr/>
          </p:nvSpPr>
          <p:spPr bwMode="auto">
            <a:xfrm>
              <a:off x="624" y="0"/>
              <a:ext cx="288" cy="288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000" b="1" i="0" dirty="0">
                  <a:solidFill>
                    <a:schemeClr val="bg1"/>
                  </a:solidFill>
                  <a:latin typeface="Times New Roman" charset="0"/>
                </a:rPr>
                <a:t>C8</a:t>
              </a:r>
              <a:endParaRPr lang="en-US" altLang="zh-CN" sz="2000" i="0" dirty="0">
                <a:solidFill>
                  <a:schemeClr val="bg1"/>
                </a:solidFill>
                <a:latin typeface="Times New Roman" charset="0"/>
              </a:endParaRPr>
            </a:p>
          </p:txBody>
        </p:sp>
        <p:sp>
          <p:nvSpPr>
            <p:cNvPr id="112649" name="Oval 18"/>
            <p:cNvSpPr>
              <a:spLocks noChangeArrowheads="1"/>
            </p:cNvSpPr>
            <p:nvPr/>
          </p:nvSpPr>
          <p:spPr bwMode="auto">
            <a:xfrm>
              <a:off x="720" y="432"/>
              <a:ext cx="288" cy="288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000" b="1" i="0" dirty="0">
                  <a:solidFill>
                    <a:schemeClr val="bg1"/>
                  </a:solidFill>
                  <a:latin typeface="Times New Roman" charset="0"/>
                </a:rPr>
                <a:t>C3</a:t>
              </a:r>
              <a:endParaRPr lang="en-US" altLang="zh-CN" sz="2000" i="0" dirty="0">
                <a:solidFill>
                  <a:schemeClr val="bg1"/>
                </a:solidFill>
                <a:latin typeface="Times New Roman" charset="0"/>
              </a:endParaRPr>
            </a:p>
          </p:txBody>
        </p:sp>
        <p:sp>
          <p:nvSpPr>
            <p:cNvPr id="112650" name="Oval 19"/>
            <p:cNvSpPr>
              <a:spLocks noChangeArrowheads="1"/>
            </p:cNvSpPr>
            <p:nvPr/>
          </p:nvSpPr>
          <p:spPr bwMode="auto">
            <a:xfrm>
              <a:off x="1056" y="1200"/>
              <a:ext cx="288" cy="288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000" b="1" i="0" dirty="0">
                  <a:solidFill>
                    <a:schemeClr val="bg1"/>
                  </a:solidFill>
                  <a:latin typeface="Times New Roman" charset="0"/>
                </a:rPr>
                <a:t>C5</a:t>
              </a:r>
              <a:endParaRPr lang="en-US" altLang="zh-CN" sz="2000" i="0" dirty="0">
                <a:solidFill>
                  <a:schemeClr val="bg1"/>
                </a:solidFill>
                <a:latin typeface="Times New Roman" charset="0"/>
              </a:endParaRPr>
            </a:p>
          </p:txBody>
        </p:sp>
        <p:sp>
          <p:nvSpPr>
            <p:cNvPr id="112651" name="Oval 20"/>
            <p:cNvSpPr>
              <a:spLocks noChangeArrowheads="1"/>
            </p:cNvSpPr>
            <p:nvPr/>
          </p:nvSpPr>
          <p:spPr bwMode="auto">
            <a:xfrm>
              <a:off x="1392" y="624"/>
              <a:ext cx="288" cy="288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000" b="1" i="0" dirty="0">
                  <a:solidFill>
                    <a:schemeClr val="bg1"/>
                  </a:solidFill>
                  <a:latin typeface="Times New Roman" charset="0"/>
                </a:rPr>
                <a:t>C4</a:t>
              </a:r>
              <a:endParaRPr lang="en-US" altLang="zh-CN" sz="2000" i="0" dirty="0">
                <a:solidFill>
                  <a:schemeClr val="bg1"/>
                </a:solidFill>
                <a:latin typeface="Times New Roman" charset="0"/>
              </a:endParaRPr>
            </a:p>
          </p:txBody>
        </p:sp>
        <p:sp>
          <p:nvSpPr>
            <p:cNvPr id="112652" name="Oval 21"/>
            <p:cNvSpPr>
              <a:spLocks noChangeArrowheads="1"/>
            </p:cNvSpPr>
            <p:nvPr/>
          </p:nvSpPr>
          <p:spPr bwMode="auto">
            <a:xfrm>
              <a:off x="1344" y="0"/>
              <a:ext cx="288" cy="288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000" b="1" i="0" dirty="0">
                  <a:solidFill>
                    <a:schemeClr val="bg1"/>
                  </a:solidFill>
                  <a:latin typeface="Times New Roman" charset="0"/>
                </a:rPr>
                <a:t>C9</a:t>
              </a:r>
              <a:endParaRPr lang="en-US" altLang="zh-CN" sz="2000" i="0" dirty="0">
                <a:solidFill>
                  <a:schemeClr val="bg1"/>
                </a:solidFill>
                <a:latin typeface="Times New Roman" charset="0"/>
              </a:endParaRPr>
            </a:p>
          </p:txBody>
        </p:sp>
        <p:sp>
          <p:nvSpPr>
            <p:cNvPr id="112653" name="Oval 22"/>
            <p:cNvSpPr>
              <a:spLocks noChangeArrowheads="1"/>
            </p:cNvSpPr>
            <p:nvPr/>
          </p:nvSpPr>
          <p:spPr bwMode="auto">
            <a:xfrm>
              <a:off x="2016" y="960"/>
              <a:ext cx="288" cy="288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000" b="1" i="0" dirty="0">
                  <a:solidFill>
                    <a:schemeClr val="bg1"/>
                  </a:solidFill>
                  <a:latin typeface="Times New Roman" charset="0"/>
                </a:rPr>
                <a:t>C6</a:t>
              </a:r>
              <a:endParaRPr lang="en-US" altLang="zh-CN" sz="2000" i="0" dirty="0">
                <a:solidFill>
                  <a:schemeClr val="bg1"/>
                </a:solidFill>
                <a:latin typeface="Times New Roman" charset="0"/>
              </a:endParaRPr>
            </a:p>
          </p:txBody>
        </p:sp>
        <p:sp>
          <p:nvSpPr>
            <p:cNvPr id="112654" name="Oval 23"/>
            <p:cNvSpPr>
              <a:spLocks noChangeArrowheads="1"/>
            </p:cNvSpPr>
            <p:nvPr/>
          </p:nvSpPr>
          <p:spPr bwMode="auto">
            <a:xfrm>
              <a:off x="2064" y="336"/>
              <a:ext cx="288" cy="288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000" b="1" i="0" dirty="0">
                  <a:solidFill>
                    <a:schemeClr val="bg1"/>
                  </a:solidFill>
                  <a:latin typeface="Times New Roman" charset="0"/>
                </a:rPr>
                <a:t>C7</a:t>
              </a:r>
              <a:endParaRPr lang="en-US" altLang="zh-CN" sz="2000" i="0" dirty="0">
                <a:solidFill>
                  <a:schemeClr val="bg1"/>
                </a:solidFill>
                <a:latin typeface="Times New Roman" charset="0"/>
              </a:endParaRPr>
            </a:p>
          </p:txBody>
        </p:sp>
        <p:sp>
          <p:nvSpPr>
            <p:cNvPr id="112655" name="Oval 24"/>
            <p:cNvSpPr>
              <a:spLocks noChangeArrowheads="1"/>
            </p:cNvSpPr>
            <p:nvPr/>
          </p:nvSpPr>
          <p:spPr bwMode="auto">
            <a:xfrm>
              <a:off x="0" y="240"/>
              <a:ext cx="288" cy="279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000" b="1" i="0" dirty="0">
                  <a:solidFill>
                    <a:schemeClr val="bg1"/>
                  </a:solidFill>
                  <a:latin typeface="Times New Roman" charset="0"/>
                </a:rPr>
                <a:t>C1</a:t>
              </a:r>
              <a:endParaRPr lang="en-US" altLang="zh-CN" sz="2000" i="0" dirty="0">
                <a:solidFill>
                  <a:schemeClr val="bg1"/>
                </a:solidFill>
                <a:latin typeface="Times New Roman" charset="0"/>
              </a:endParaRPr>
            </a:p>
          </p:txBody>
        </p:sp>
        <p:sp>
          <p:nvSpPr>
            <p:cNvPr id="112656" name="Oval 25"/>
            <p:cNvSpPr>
              <a:spLocks noChangeArrowheads="1"/>
            </p:cNvSpPr>
            <p:nvPr/>
          </p:nvSpPr>
          <p:spPr bwMode="auto">
            <a:xfrm>
              <a:off x="0" y="864"/>
              <a:ext cx="288" cy="288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charset="0"/>
                <a:buNone/>
                <a:defRPr/>
              </a:pPr>
              <a:r>
                <a:rPr lang="en-US" altLang="zh-CN" sz="2000" b="1" i="0" dirty="0">
                  <a:solidFill>
                    <a:schemeClr val="bg1"/>
                  </a:solidFill>
                  <a:latin typeface="Times New Roman" charset="0"/>
                </a:rPr>
                <a:t>C2</a:t>
              </a:r>
              <a:endParaRPr lang="en-US" altLang="zh-CN" sz="2000" i="0" dirty="0">
                <a:solidFill>
                  <a:schemeClr val="bg1"/>
                </a:solidFill>
                <a:latin typeface="Times New Roman" charset="0"/>
              </a:endParaRPr>
            </a:p>
          </p:txBody>
        </p:sp>
      </p:grpSp>
      <p:sp>
        <p:nvSpPr>
          <p:cNvPr id="45062" name="Text Box 26"/>
          <p:cNvSpPr txBox="1">
            <a:spLocks noChangeArrowheads="1"/>
          </p:cNvSpPr>
          <p:nvPr/>
        </p:nvSpPr>
        <p:spPr bwMode="auto">
          <a:xfrm>
            <a:off x="8101013" y="6165850"/>
            <a:ext cx="935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 typeface="Arial" pitchFamily="34" charset="0"/>
              <a:buNone/>
            </a:pPr>
            <a:fld id="{1301E002-84CE-4FE5-B9D2-19F527C47BC0}" type="slidenum">
              <a:rPr lang="zh-CN" altLang="en-US"/>
              <a:pPr algn="r" eaLnBrk="1" hangingPunct="1">
                <a:spcBef>
                  <a:spcPct val="50000"/>
                </a:spcBef>
                <a:buFont typeface="Arial" pitchFamily="34" charset="0"/>
                <a:buNone/>
              </a:pPr>
              <a:t>56</a:t>
            </a:fld>
            <a:endParaRPr lang="en-US" altLang="zh-CN"/>
          </a:p>
        </p:txBody>
      </p:sp>
      <p:sp>
        <p:nvSpPr>
          <p:cNvPr id="45063" name="Rectangle 27"/>
          <p:cNvSpPr>
            <a:spLocks noGrp="1" noChangeArrowheads="1"/>
          </p:cNvSpPr>
          <p:nvPr/>
        </p:nvSpPr>
        <p:spPr bwMode="auto">
          <a:xfrm>
            <a:off x="285720" y="1211251"/>
            <a:ext cx="8208962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0" i="0" dirty="0">
                <a:latin typeface="黑体" pitchFamily="49" charset="-122"/>
                <a:ea typeface="黑体" pitchFamily="49" charset="-122"/>
              </a:rPr>
              <a:t>写出AOV网的拓扑排序序列。</a:t>
            </a:r>
            <a:endParaRPr lang="zh-CN" altLang="en-US" sz="2800" b="0" i="0" dirty="0">
              <a:latin typeface="黑体" pitchFamily="49" charset="-122"/>
              <a:ea typeface="黑体" pitchFamily="49" charset="-122"/>
              <a:sym typeface="Arial" pitchFamily="34" charset="0"/>
            </a:endParaRPr>
          </a:p>
        </p:txBody>
      </p: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  <a:sym typeface="Arial" pitchFamily="34" charset="0"/>
              </a:rPr>
              <a:t>练习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2"/>
          <p:cNvSpPr txBox="1">
            <a:spLocks noChangeArrowheads="1"/>
          </p:cNvSpPr>
          <p:nvPr/>
        </p:nvSpPr>
        <p:spPr bwMode="auto">
          <a:xfrm>
            <a:off x="466758" y="1270000"/>
            <a:ext cx="57679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没有前驱的顶点</a:t>
            </a:r>
            <a:r>
              <a:rPr lang="zh-CN" altLang="en-US" sz="2800" b="0" i="0" dirty="0">
                <a:solidFill>
                  <a:srgbClr val="800000"/>
                </a:solidFill>
                <a:latin typeface="+mn-ea"/>
                <a:ea typeface="+mn-ea"/>
              </a:rPr>
              <a:t> </a:t>
            </a:r>
            <a:r>
              <a:rPr lang="zh-CN" altLang="en-US" sz="2800" b="0" i="0" dirty="0">
                <a:solidFill>
                  <a:srgbClr val="800000"/>
                </a:solidFill>
                <a:latin typeface="+mn-ea"/>
                <a:ea typeface="+mn-ea"/>
                <a:sym typeface="Symbol" pitchFamily="18" charset="2"/>
              </a:rPr>
              <a:t></a:t>
            </a:r>
            <a:r>
              <a:rPr lang="zh-CN" altLang="en-US" sz="2800" b="0" i="0" dirty="0">
                <a:solidFill>
                  <a:srgbClr val="800000"/>
                </a:solidFill>
                <a:latin typeface="+mn-ea"/>
                <a:ea typeface="+mn-ea"/>
              </a:rPr>
              <a:t> 入度为零的顶点</a:t>
            </a:r>
            <a:endParaRPr lang="zh-CN" altLang="en-US" sz="2800" b="0" i="0" dirty="0">
              <a:latin typeface="+mn-ea"/>
              <a:ea typeface="+mn-ea"/>
            </a:endParaRPr>
          </a:p>
        </p:txBody>
      </p:sp>
      <p:sp>
        <p:nvSpPr>
          <p:cNvPr id="116739" name="Text Box 3"/>
          <p:cNvSpPr txBox="1">
            <a:spLocks noChangeArrowheads="1"/>
          </p:cNvSpPr>
          <p:nvPr/>
        </p:nvSpPr>
        <p:spPr bwMode="auto">
          <a:xfrm>
            <a:off x="466758" y="2200275"/>
            <a:ext cx="7742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删除顶点及以它为尾的弧 </a:t>
            </a:r>
            <a:r>
              <a:rPr lang="zh-CN" altLang="en-US" sz="2800" b="0" i="0" dirty="0">
                <a:solidFill>
                  <a:srgbClr val="800000"/>
                </a:solidFill>
                <a:latin typeface="+mn-ea"/>
                <a:ea typeface="+mn-ea"/>
                <a:sym typeface="Symbol" pitchFamily="18" charset="2"/>
              </a:rPr>
              <a:t></a:t>
            </a:r>
            <a:r>
              <a:rPr lang="zh-CN" altLang="en-US" sz="2800" b="0" i="0" dirty="0">
                <a:solidFill>
                  <a:srgbClr val="800000"/>
                </a:solidFill>
                <a:latin typeface="+mn-ea"/>
                <a:ea typeface="+mn-ea"/>
              </a:rPr>
              <a:t> 弧头顶点的入度减</a:t>
            </a:r>
            <a:r>
              <a:rPr lang="en-US" altLang="zh-CN" sz="2800" b="0" i="0" dirty="0">
                <a:solidFill>
                  <a:srgbClr val="800000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466758" y="3068638"/>
            <a:ext cx="8642350" cy="65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如何选择入度为零的顶点？ </a:t>
            </a:r>
            <a:r>
              <a:rPr lang="zh-CN" altLang="en-US" sz="2800" b="0" i="0" dirty="0">
                <a:solidFill>
                  <a:srgbClr val="800000"/>
                </a:solidFill>
                <a:latin typeface="+mn-ea"/>
                <a:ea typeface="+mn-ea"/>
                <a:sym typeface="Symbol" pitchFamily="18" charset="2"/>
              </a:rPr>
              <a:t></a:t>
            </a:r>
            <a:r>
              <a:rPr lang="zh-CN" altLang="en-US" sz="2800" b="0" i="0" dirty="0">
                <a:solidFill>
                  <a:srgbClr val="800000"/>
                </a:solidFill>
                <a:latin typeface="+mn-ea"/>
                <a:ea typeface="+mn-ea"/>
              </a:rPr>
              <a:t> 栈或队列</a:t>
            </a: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467894" y="4293096"/>
            <a:ext cx="5929828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  <a:sym typeface="Arial" pitchFamily="34" charset="0"/>
              </a:rPr>
              <a:t>数组：</a:t>
            </a:r>
            <a:r>
              <a:rPr lang="en-US" altLang="zh-CN" sz="2800" b="0" i="0" dirty="0" err="1">
                <a:latin typeface="+mn-ea"/>
                <a:ea typeface="+mn-ea"/>
                <a:sym typeface="Arial" pitchFamily="34" charset="0"/>
              </a:rPr>
              <a:t>InDegree</a:t>
            </a:r>
            <a:r>
              <a:rPr lang="en-US" altLang="zh-CN" sz="2800" b="0" i="0" dirty="0">
                <a:latin typeface="+mn-ea"/>
                <a:ea typeface="+mn-ea"/>
                <a:sym typeface="Arial" pitchFamily="34" charset="0"/>
              </a:rPr>
              <a:t>[ ],</a:t>
            </a:r>
            <a:r>
              <a:rPr lang="zh-CN" altLang="en-US" sz="2800" b="0" i="0" dirty="0">
                <a:latin typeface="+mn-ea"/>
                <a:ea typeface="+mn-ea"/>
                <a:sym typeface="Arial" pitchFamily="34" charset="0"/>
              </a:rPr>
              <a:t>记录各顶点入度</a:t>
            </a:r>
          </a:p>
          <a:p>
            <a:pPr eaLnBrk="1" hangingPunct="1">
              <a:buFont typeface="Arial" pitchFamily="34" charset="0"/>
              <a:buNone/>
            </a:pPr>
            <a:endParaRPr lang="en-US" altLang="zh-CN" b="0" i="0" dirty="0">
              <a:latin typeface="+mn-ea"/>
              <a:ea typeface="+mn-ea"/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  <a:sym typeface="Arial" pitchFamily="34" charset="0"/>
              </a:rPr>
              <a:t>拓扑排序实现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 autoUpdateAnimBg="0"/>
      <p:bldP spid="116739" grpId="0" autoUpdateAnimBg="0"/>
      <p:bldP spid="116740" grpId="0" autoUpdateAnimBg="0"/>
      <p:bldP spid="4710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615195" y="1340768"/>
            <a:ext cx="9001125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0" i="0" dirty="0">
                <a:solidFill>
                  <a:srgbClr val="0000FF"/>
                </a:solidFill>
                <a:latin typeface="+mn-ea"/>
                <a:ea typeface="+mn-ea"/>
              </a:rPr>
              <a:t>bool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zh-CN" b="0" i="0" dirty="0" err="1">
                <a:solidFill>
                  <a:srgbClr val="795E26"/>
                </a:solidFill>
                <a:latin typeface="+mn-ea"/>
                <a:ea typeface="+mn-ea"/>
              </a:rPr>
              <a:t>TopologicalSort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MGraph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 &amp;</a:t>
            </a:r>
            <a:r>
              <a:rPr lang="en-US" altLang="zh-CN" b="0" i="0" dirty="0">
                <a:solidFill>
                  <a:srgbClr val="001080"/>
                </a:solidFill>
                <a:latin typeface="+mn-ea"/>
                <a:ea typeface="+mn-ea"/>
              </a:rPr>
              <a:t>g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</a:p>
          <a:p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{</a:t>
            </a:r>
          </a:p>
          <a:p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    </a:t>
            </a:r>
            <a:r>
              <a:rPr lang="en-US" altLang="zh-CN" b="0" i="0" dirty="0">
                <a:solidFill>
                  <a:srgbClr val="267F99"/>
                </a:solidFill>
                <a:latin typeface="+mn-ea"/>
                <a:ea typeface="+mn-ea"/>
              </a:rPr>
              <a:t>stack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&lt;</a:t>
            </a:r>
            <a:r>
              <a:rPr lang="en-US" altLang="zh-CN" b="0" i="0" dirty="0">
                <a:solidFill>
                  <a:srgbClr val="0000FF"/>
                </a:solidFill>
                <a:latin typeface="+mn-ea"/>
                <a:ea typeface="+mn-ea"/>
              </a:rPr>
              <a:t>int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&gt;     </a:t>
            </a:r>
            <a:r>
              <a:rPr lang="en-US" altLang="zh-CN" b="0" i="0" dirty="0">
                <a:solidFill>
                  <a:srgbClr val="001080"/>
                </a:solidFill>
                <a:latin typeface="+mn-ea"/>
                <a:ea typeface="+mn-ea"/>
              </a:rPr>
              <a:t>s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;</a:t>
            </a:r>
          </a:p>
          <a:p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    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Indgree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 = </a:t>
            </a:r>
            <a:r>
              <a:rPr lang="en-US" altLang="zh-CN" b="0" i="0" dirty="0" err="1">
                <a:solidFill>
                  <a:srgbClr val="795E26"/>
                </a:solidFill>
                <a:latin typeface="+mn-ea"/>
                <a:ea typeface="+mn-ea"/>
              </a:rPr>
              <a:t>FindeInDegree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zh-CN" b="0" i="0" dirty="0">
                <a:solidFill>
                  <a:srgbClr val="001080"/>
                </a:solidFill>
                <a:latin typeface="+mn-ea"/>
                <a:ea typeface="+mn-ea"/>
              </a:rPr>
              <a:t>g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);</a:t>
            </a:r>
            <a:r>
              <a:rPr lang="en-US" altLang="zh-CN" b="0" i="0" dirty="0">
                <a:solidFill>
                  <a:srgbClr val="008000"/>
                </a:solidFill>
                <a:latin typeface="+mn-ea"/>
                <a:ea typeface="+mn-ea"/>
              </a:rPr>
              <a:t> //</a:t>
            </a:r>
            <a:r>
              <a:rPr lang="zh-CN" altLang="en-US" b="0" i="0" dirty="0">
                <a:solidFill>
                  <a:srgbClr val="008000"/>
                </a:solidFill>
                <a:latin typeface="+mn-ea"/>
                <a:ea typeface="+mn-ea"/>
              </a:rPr>
              <a:t>计算各顶点入度</a:t>
            </a:r>
            <a:endParaRPr lang="zh-CN" altLang="en-US" b="0" i="0" dirty="0">
              <a:solidFill>
                <a:srgbClr val="000000"/>
              </a:solidFill>
              <a:latin typeface="+mn-ea"/>
              <a:ea typeface="+mn-ea"/>
            </a:endParaRPr>
          </a:p>
          <a:p>
            <a:r>
              <a:rPr lang="zh-CN" altLang="en-US" b="0" i="0" dirty="0">
                <a:solidFill>
                  <a:srgbClr val="000000"/>
                </a:solidFill>
                <a:latin typeface="+mn-ea"/>
                <a:ea typeface="+mn-ea"/>
              </a:rPr>
              <a:t>    </a:t>
            </a:r>
            <a:r>
              <a:rPr lang="en-US" altLang="zh-CN" b="0" i="0" dirty="0">
                <a:solidFill>
                  <a:srgbClr val="AF00DB"/>
                </a:solidFill>
                <a:latin typeface="+mn-ea"/>
                <a:ea typeface="+mn-ea"/>
              </a:rPr>
              <a:t>for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zh-CN" b="0" i="0" dirty="0" err="1">
                <a:solidFill>
                  <a:srgbClr val="0000FF"/>
                </a:solidFill>
                <a:latin typeface="+mn-ea"/>
                <a:ea typeface="+mn-ea"/>
              </a:rPr>
              <a:t>size_t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i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=</a:t>
            </a:r>
            <a:r>
              <a:rPr lang="en-US" altLang="zh-CN" b="0" i="0" dirty="0">
                <a:solidFill>
                  <a:srgbClr val="098658"/>
                </a:solidFill>
                <a:latin typeface="+mn-ea"/>
                <a:ea typeface="+mn-ea"/>
              </a:rPr>
              <a:t>0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; 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i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&lt;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vexnum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; 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i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++)</a:t>
            </a:r>
            <a:r>
              <a:rPr lang="en-US" altLang="zh-CN" b="0" i="0" dirty="0">
                <a:solidFill>
                  <a:srgbClr val="008000"/>
                </a:solidFill>
                <a:latin typeface="+mn-ea"/>
                <a:ea typeface="+mn-ea"/>
              </a:rPr>
              <a:t>     //</a:t>
            </a:r>
            <a:r>
              <a:rPr lang="zh-CN" altLang="en-US" b="0" i="0" dirty="0">
                <a:solidFill>
                  <a:srgbClr val="008000"/>
                </a:solidFill>
                <a:latin typeface="+mn-ea"/>
                <a:ea typeface="+mn-ea"/>
              </a:rPr>
              <a:t>入度为</a:t>
            </a:r>
            <a:r>
              <a:rPr lang="en-US" altLang="zh-CN" b="0" i="0" dirty="0">
                <a:solidFill>
                  <a:srgbClr val="008000"/>
                </a:solidFill>
                <a:latin typeface="+mn-ea"/>
                <a:ea typeface="+mn-ea"/>
              </a:rPr>
              <a:t>0</a:t>
            </a:r>
            <a:r>
              <a:rPr lang="zh-CN" altLang="en-US" b="0" i="0" dirty="0">
                <a:solidFill>
                  <a:srgbClr val="008000"/>
                </a:solidFill>
                <a:latin typeface="+mn-ea"/>
                <a:ea typeface="+mn-ea"/>
              </a:rPr>
              <a:t>的顶点入栈</a:t>
            </a:r>
            <a:endParaRPr lang="zh-CN" altLang="en-US" b="0" i="0" dirty="0">
              <a:solidFill>
                <a:srgbClr val="000000"/>
              </a:solidFill>
              <a:latin typeface="+mn-ea"/>
              <a:ea typeface="+mn-ea"/>
            </a:endParaRPr>
          </a:p>
          <a:p>
            <a:r>
              <a:rPr lang="zh-CN" altLang="en-US" b="0" i="0" dirty="0">
                <a:solidFill>
                  <a:srgbClr val="000000"/>
                </a:solidFill>
                <a:latin typeface="+mn-ea"/>
                <a:ea typeface="+mn-ea"/>
              </a:rPr>
              <a:t>         </a:t>
            </a:r>
            <a:r>
              <a:rPr lang="en-US" altLang="zh-CN" b="0" i="0" dirty="0">
                <a:solidFill>
                  <a:srgbClr val="AF00DB"/>
                </a:solidFill>
                <a:latin typeface="+mn-ea"/>
                <a:ea typeface="+mn-ea"/>
              </a:rPr>
              <a:t>if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(!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Indgree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[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i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])   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s</a:t>
            </a:r>
            <a:r>
              <a:rPr lang="en-US" altLang="zh-CN" b="0" i="0" dirty="0" err="1">
                <a:solidFill>
                  <a:srgbClr val="000000"/>
                </a:solidFill>
                <a:latin typeface="+mn-ea"/>
                <a:ea typeface="+mn-ea"/>
              </a:rPr>
              <a:t>.</a:t>
            </a:r>
            <a:r>
              <a:rPr lang="en-US" altLang="zh-CN" b="0" i="0" dirty="0" err="1">
                <a:solidFill>
                  <a:srgbClr val="795E26"/>
                </a:solidFill>
                <a:latin typeface="+mn-ea"/>
                <a:ea typeface="+mn-ea"/>
              </a:rPr>
              <a:t>push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i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);</a:t>
            </a:r>
          </a:p>
          <a:p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    </a:t>
            </a:r>
            <a:r>
              <a:rPr lang="en-US" altLang="zh-CN" b="0" i="0" dirty="0">
                <a:solidFill>
                  <a:srgbClr val="AF00DB"/>
                </a:solidFill>
                <a:latin typeface="+mn-ea"/>
                <a:ea typeface="+mn-ea"/>
              </a:rPr>
              <a:t>while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(!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s</a:t>
            </a:r>
            <a:r>
              <a:rPr lang="en-US" altLang="zh-CN" b="0" i="0" dirty="0" err="1">
                <a:solidFill>
                  <a:srgbClr val="000000"/>
                </a:solidFill>
                <a:latin typeface="+mn-ea"/>
                <a:ea typeface="+mn-ea"/>
              </a:rPr>
              <a:t>.</a:t>
            </a:r>
            <a:r>
              <a:rPr lang="en-US" altLang="zh-CN" b="0" i="0" dirty="0" err="1">
                <a:solidFill>
                  <a:srgbClr val="795E26"/>
                </a:solidFill>
                <a:latin typeface="+mn-ea"/>
                <a:ea typeface="+mn-ea"/>
              </a:rPr>
              <a:t>empty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()) {</a:t>
            </a:r>
            <a:r>
              <a:rPr lang="en-US" altLang="zh-CN" b="0" i="0" dirty="0">
                <a:solidFill>
                  <a:srgbClr val="008000"/>
                </a:solidFill>
                <a:latin typeface="+mn-ea"/>
                <a:ea typeface="+mn-ea"/>
              </a:rPr>
              <a:t>              //</a:t>
            </a:r>
            <a:r>
              <a:rPr lang="zh-CN" altLang="en-US" b="0" i="0" dirty="0">
                <a:solidFill>
                  <a:srgbClr val="008000"/>
                </a:solidFill>
                <a:latin typeface="+mn-ea"/>
                <a:ea typeface="+mn-ea"/>
              </a:rPr>
              <a:t>栈不空 </a:t>
            </a:r>
            <a:endParaRPr lang="zh-CN" altLang="en-US" b="0" i="0" dirty="0">
              <a:solidFill>
                <a:srgbClr val="000000"/>
              </a:solidFill>
              <a:latin typeface="+mn-ea"/>
              <a:ea typeface="+mn-ea"/>
            </a:endParaRPr>
          </a:p>
          <a:p>
            <a:r>
              <a:rPr lang="zh-CN" altLang="en-US" b="0" i="0" dirty="0">
                <a:solidFill>
                  <a:srgbClr val="000000"/>
                </a:solidFill>
                <a:latin typeface="+mn-ea"/>
                <a:ea typeface="+mn-ea"/>
              </a:rPr>
              <a:t>         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i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 = 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q</a:t>
            </a:r>
            <a:r>
              <a:rPr lang="en-US" altLang="zh-CN" b="0" i="0" dirty="0" err="1">
                <a:solidFill>
                  <a:srgbClr val="000000"/>
                </a:solidFill>
                <a:latin typeface="+mn-ea"/>
                <a:ea typeface="+mn-ea"/>
              </a:rPr>
              <a:t>.</a:t>
            </a:r>
            <a:r>
              <a:rPr lang="en-US" altLang="zh-CN" b="0" i="0" dirty="0" err="1">
                <a:solidFill>
                  <a:srgbClr val="795E26"/>
                </a:solidFill>
                <a:latin typeface="+mn-ea"/>
                <a:ea typeface="+mn-ea"/>
              </a:rPr>
              <a:t>top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(); </a:t>
            </a:r>
          </a:p>
          <a:p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         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q</a:t>
            </a:r>
            <a:r>
              <a:rPr lang="en-US" altLang="zh-CN" b="0" i="0" dirty="0" err="1">
                <a:solidFill>
                  <a:srgbClr val="000000"/>
                </a:solidFill>
                <a:latin typeface="+mn-ea"/>
                <a:ea typeface="+mn-ea"/>
              </a:rPr>
              <a:t>.</a:t>
            </a:r>
            <a:r>
              <a:rPr lang="en-US" altLang="zh-CN" b="0" i="0" dirty="0" err="1">
                <a:solidFill>
                  <a:srgbClr val="795E26"/>
                </a:solidFill>
                <a:latin typeface="+mn-ea"/>
                <a:ea typeface="+mn-ea"/>
              </a:rPr>
              <a:t>pop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();  </a:t>
            </a:r>
          </a:p>
          <a:p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         </a:t>
            </a:r>
            <a:r>
              <a:rPr lang="en-US" altLang="zh-CN" b="0" i="0" dirty="0">
                <a:solidFill>
                  <a:srgbClr val="001080"/>
                </a:solidFill>
                <a:latin typeface="+mn-ea"/>
                <a:ea typeface="+mn-ea"/>
              </a:rPr>
              <a:t>count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++;</a:t>
            </a:r>
          </a:p>
          <a:p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         </a:t>
            </a:r>
            <a:r>
              <a:rPr lang="zh-CN" altLang="en-US" b="0" i="0" dirty="0">
                <a:solidFill>
                  <a:srgbClr val="000000"/>
                </a:solidFill>
                <a:latin typeface="+mn-ea"/>
                <a:ea typeface="+mn-ea"/>
              </a:rPr>
              <a:t>输出顶点</a:t>
            </a:r>
            <a:r>
              <a:rPr lang="en-US" altLang="zh-CN" b="0" i="0" dirty="0" err="1">
                <a:solidFill>
                  <a:srgbClr val="000000"/>
                </a:solidFill>
                <a:latin typeface="+mn-ea"/>
                <a:ea typeface="+mn-ea"/>
              </a:rPr>
              <a:t>i</a:t>
            </a:r>
            <a:endParaRPr lang="en-US" altLang="zh-CN" b="0" i="0" dirty="0">
              <a:solidFill>
                <a:srgbClr val="000000"/>
              </a:solidFill>
              <a:latin typeface="+mn-ea"/>
              <a:ea typeface="+mn-ea"/>
            </a:endParaRPr>
          </a:p>
          <a:p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         </a:t>
            </a:r>
            <a:r>
              <a:rPr lang="zh-CN" altLang="en-US" b="0" i="0" dirty="0">
                <a:solidFill>
                  <a:srgbClr val="000000"/>
                </a:solidFill>
                <a:latin typeface="+mn-ea"/>
                <a:ea typeface="+mn-ea"/>
              </a:rPr>
              <a:t>循环访问</a:t>
            </a:r>
            <a:r>
              <a:rPr lang="en-US" altLang="zh-CN" b="0" i="0" dirty="0" err="1">
                <a:solidFill>
                  <a:srgbClr val="000000"/>
                </a:solidFill>
                <a:latin typeface="+mn-ea"/>
                <a:ea typeface="+mn-ea"/>
              </a:rPr>
              <a:t>i</a:t>
            </a:r>
            <a:r>
              <a:rPr lang="zh-CN" altLang="en-US" b="0" i="0" dirty="0">
                <a:solidFill>
                  <a:srgbClr val="000000"/>
                </a:solidFill>
                <a:latin typeface="+mn-ea"/>
                <a:ea typeface="+mn-ea"/>
              </a:rPr>
              <a:t>的所有邻接点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j:</a:t>
            </a:r>
          </a:p>
          <a:p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               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Indgree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[</a:t>
            </a:r>
            <a:r>
              <a:rPr lang="en-US" altLang="zh-CN" b="0" i="0" dirty="0">
                <a:solidFill>
                  <a:srgbClr val="001080"/>
                </a:solidFill>
                <a:latin typeface="+mn-ea"/>
                <a:ea typeface="+mn-ea"/>
              </a:rPr>
              <a:t>j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]--;</a:t>
            </a:r>
            <a:r>
              <a:rPr lang="en-US" altLang="zh-CN" b="0" i="0" dirty="0">
                <a:solidFill>
                  <a:srgbClr val="008000"/>
                </a:solidFill>
                <a:latin typeface="+mn-ea"/>
                <a:ea typeface="+mn-ea"/>
              </a:rPr>
              <a:t>      //</a:t>
            </a:r>
            <a:r>
              <a:rPr lang="zh-CN" altLang="en-US" b="0" i="0" dirty="0">
                <a:solidFill>
                  <a:srgbClr val="008000"/>
                </a:solidFill>
                <a:latin typeface="+mn-ea"/>
                <a:ea typeface="+mn-ea"/>
              </a:rPr>
              <a:t>修改邻接点</a:t>
            </a:r>
            <a:r>
              <a:rPr lang="en-US" altLang="zh-CN" b="0" i="0" dirty="0">
                <a:solidFill>
                  <a:srgbClr val="008000"/>
                </a:solidFill>
                <a:latin typeface="+mn-ea"/>
                <a:ea typeface="+mn-ea"/>
              </a:rPr>
              <a:t>j</a:t>
            </a:r>
            <a:r>
              <a:rPr lang="zh-CN" altLang="en-US" b="0" i="0" dirty="0">
                <a:solidFill>
                  <a:srgbClr val="008000"/>
                </a:solidFill>
                <a:latin typeface="+mn-ea"/>
                <a:ea typeface="+mn-ea"/>
              </a:rPr>
              <a:t>的入度</a:t>
            </a:r>
            <a:endParaRPr lang="zh-CN" altLang="en-US" b="0" i="0" dirty="0">
              <a:solidFill>
                <a:srgbClr val="000000"/>
              </a:solidFill>
              <a:latin typeface="+mn-ea"/>
              <a:ea typeface="+mn-ea"/>
            </a:endParaRPr>
          </a:p>
          <a:p>
            <a:r>
              <a:rPr lang="zh-CN" altLang="en-US" b="0" i="0" dirty="0">
                <a:solidFill>
                  <a:srgbClr val="000000"/>
                </a:solidFill>
                <a:latin typeface="+mn-ea"/>
                <a:ea typeface="+mn-ea"/>
              </a:rPr>
              <a:t>               </a:t>
            </a:r>
            <a:r>
              <a:rPr lang="en-US" altLang="zh-CN" b="0" i="0" dirty="0">
                <a:solidFill>
                  <a:srgbClr val="AF00DB"/>
                </a:solidFill>
                <a:latin typeface="+mn-ea"/>
                <a:ea typeface="+mn-ea"/>
              </a:rPr>
              <a:t>if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(!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Indgree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[</a:t>
            </a:r>
            <a:r>
              <a:rPr lang="en-US" altLang="zh-CN" b="0" i="0" dirty="0">
                <a:solidFill>
                  <a:srgbClr val="001080"/>
                </a:solidFill>
                <a:latin typeface="+mn-ea"/>
                <a:ea typeface="+mn-ea"/>
              </a:rPr>
              <a:t>j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])</a:t>
            </a:r>
          </a:p>
          <a:p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                    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s</a:t>
            </a:r>
            <a:r>
              <a:rPr lang="en-US" altLang="zh-CN" b="0" i="0" dirty="0" err="1">
                <a:solidFill>
                  <a:srgbClr val="000000"/>
                </a:solidFill>
                <a:latin typeface="+mn-ea"/>
                <a:ea typeface="+mn-ea"/>
              </a:rPr>
              <a:t>.</a:t>
            </a:r>
            <a:r>
              <a:rPr lang="en-US" altLang="zh-CN" b="0" i="0" dirty="0" err="1">
                <a:solidFill>
                  <a:srgbClr val="795E26"/>
                </a:solidFill>
                <a:latin typeface="+mn-ea"/>
                <a:ea typeface="+mn-ea"/>
              </a:rPr>
              <a:t>push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zh-CN" b="0" i="0" dirty="0">
                <a:solidFill>
                  <a:srgbClr val="001080"/>
                </a:solidFill>
                <a:latin typeface="+mn-ea"/>
                <a:ea typeface="+mn-ea"/>
              </a:rPr>
              <a:t>j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);</a:t>
            </a:r>
          </a:p>
          <a:p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    }</a:t>
            </a:r>
          </a:p>
          <a:p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    </a:t>
            </a:r>
            <a:r>
              <a:rPr lang="en-US" altLang="zh-CN" b="0" i="0" dirty="0">
                <a:solidFill>
                  <a:srgbClr val="AF00DB"/>
                </a:solidFill>
                <a:latin typeface="+mn-ea"/>
                <a:ea typeface="+mn-ea"/>
              </a:rPr>
              <a:t>if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zh-CN" b="0" i="0" dirty="0">
                <a:solidFill>
                  <a:srgbClr val="001080"/>
                </a:solidFill>
                <a:latin typeface="+mn-ea"/>
                <a:ea typeface="+mn-ea"/>
              </a:rPr>
              <a:t>count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&lt;</a:t>
            </a:r>
            <a:r>
              <a:rPr lang="en-US" altLang="zh-CN" b="0" i="0" dirty="0" err="1">
                <a:solidFill>
                  <a:srgbClr val="001080"/>
                </a:solidFill>
                <a:latin typeface="+mn-ea"/>
                <a:ea typeface="+mn-ea"/>
              </a:rPr>
              <a:t>vexnum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)   </a:t>
            </a:r>
            <a:r>
              <a:rPr lang="en-US" altLang="zh-CN" b="0" i="0" dirty="0">
                <a:solidFill>
                  <a:srgbClr val="AF00DB"/>
                </a:solidFill>
                <a:latin typeface="+mn-ea"/>
                <a:ea typeface="+mn-ea"/>
              </a:rPr>
              <a:t>return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zh-CN" b="0" i="0" dirty="0">
                <a:solidFill>
                  <a:srgbClr val="0000FF"/>
                </a:solidFill>
                <a:latin typeface="+mn-ea"/>
                <a:ea typeface="+mn-ea"/>
              </a:rPr>
              <a:t>false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;</a:t>
            </a:r>
          </a:p>
          <a:p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    </a:t>
            </a:r>
            <a:r>
              <a:rPr lang="en-US" altLang="zh-CN" b="0" i="0" dirty="0">
                <a:solidFill>
                  <a:srgbClr val="AF00DB"/>
                </a:solidFill>
                <a:latin typeface="+mn-ea"/>
                <a:ea typeface="+mn-ea"/>
              </a:rPr>
              <a:t>return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zh-CN" b="0" i="0" dirty="0">
                <a:solidFill>
                  <a:srgbClr val="0000FF"/>
                </a:solidFill>
                <a:latin typeface="+mn-ea"/>
                <a:ea typeface="+mn-ea"/>
              </a:rPr>
              <a:t>true</a:t>
            </a:r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;</a:t>
            </a:r>
          </a:p>
          <a:p>
            <a:r>
              <a:rPr lang="en-US" altLang="zh-CN" b="0" i="0" dirty="0">
                <a:solidFill>
                  <a:srgbClr val="000000"/>
                </a:solidFill>
                <a:latin typeface="+mn-ea"/>
                <a:ea typeface="+mn-ea"/>
              </a:rPr>
              <a:t>}     </a:t>
            </a:r>
          </a:p>
          <a:p>
            <a:b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615195" y="175084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  <a:sym typeface="Arial" pitchFamily="34" charset="0"/>
              </a:rPr>
              <a:t>拓扑排序实现</a:t>
            </a: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  <a:sym typeface="Arial" pitchFamily="34" charset="0"/>
              </a:rPr>
              <a:t>拓扑排序时间复杂度分析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EDBF483D-99A1-5573-E1F7-81006271C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340768"/>
            <a:ext cx="78454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</a:t>
            </a:r>
            <a:r>
              <a:rPr lang="zh-CN" altLang="en-US" sz="2800" b="0" i="0" dirty="0">
                <a:latin typeface="+mn-ea"/>
                <a:ea typeface="+mn-ea"/>
              </a:rPr>
              <a:t>邻接矩阵存储：统计入度，列</a:t>
            </a:r>
            <a:r>
              <a:rPr lang="en-US" altLang="zh-CN" sz="2800" b="0" i="0" dirty="0">
                <a:latin typeface="+mn-ea"/>
                <a:ea typeface="+mn-ea"/>
              </a:rPr>
              <a:t>1</a:t>
            </a:r>
            <a:r>
              <a:rPr lang="zh-CN" altLang="en-US" sz="2800" b="0" i="0" dirty="0">
                <a:latin typeface="+mn-ea"/>
                <a:ea typeface="+mn-ea"/>
              </a:rPr>
              <a:t>的个数，</a:t>
            </a:r>
            <a:r>
              <a:rPr lang="en-US" altLang="zh-CN" sz="2800" b="0" i="0" dirty="0">
                <a:latin typeface="+mn-ea"/>
                <a:ea typeface="+mn-ea"/>
              </a:rPr>
              <a:t>O(n</a:t>
            </a:r>
            <a:r>
              <a:rPr lang="en-US" altLang="zh-CN" sz="2800" b="0" i="0" baseline="30000" dirty="0">
                <a:latin typeface="+mn-ea"/>
                <a:ea typeface="+mn-ea"/>
              </a:rPr>
              <a:t>2</a:t>
            </a:r>
            <a:r>
              <a:rPr lang="en-US" altLang="zh-CN" sz="2800" b="0" i="0" dirty="0">
                <a:latin typeface="+mn-ea"/>
                <a:ea typeface="+mn-ea"/>
              </a:rPr>
              <a:t>)</a:t>
            </a:r>
            <a:r>
              <a:rPr lang="zh-CN" altLang="en-US" sz="2800" b="0" i="0" dirty="0">
                <a:latin typeface="+mn-ea"/>
                <a:ea typeface="+mn-ea"/>
              </a:rPr>
              <a:t>。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4969780E-FE84-20E5-A86C-CC1FE3B53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283" y="1957978"/>
            <a:ext cx="68275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               循环栈或队列元素，</a:t>
            </a:r>
            <a:r>
              <a:rPr lang="en-US" altLang="zh-CN" sz="2800" b="0" i="0" dirty="0">
                <a:latin typeface="+mn-ea"/>
                <a:ea typeface="+mn-ea"/>
              </a:rPr>
              <a:t>O(n)</a:t>
            </a:r>
            <a:endParaRPr lang="zh-CN" altLang="en-US" sz="2800" b="0" i="0" dirty="0">
              <a:latin typeface="+mn-ea"/>
              <a:ea typeface="+mn-ea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07D6CD75-1D43-CB0A-CE79-40CC48940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237" y="2575188"/>
            <a:ext cx="736611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               弧头入度减</a:t>
            </a:r>
            <a:r>
              <a:rPr lang="en-US" altLang="zh-CN" sz="2800" b="0" i="0" dirty="0">
                <a:latin typeface="+mn-ea"/>
                <a:ea typeface="+mn-ea"/>
              </a:rPr>
              <a:t>1</a:t>
            </a:r>
            <a:r>
              <a:rPr lang="zh-CN" altLang="en-US" sz="2800" b="0" i="0" dirty="0">
                <a:latin typeface="+mn-ea"/>
                <a:ea typeface="+mn-ea"/>
              </a:rPr>
              <a:t>，访问行，</a:t>
            </a:r>
            <a:r>
              <a:rPr lang="en-US" altLang="zh-CN" sz="2800" b="0" i="0" dirty="0">
                <a:latin typeface="+mn-ea"/>
                <a:ea typeface="+mn-ea"/>
              </a:rPr>
              <a:t>O(n)</a:t>
            </a:r>
            <a:endParaRPr lang="zh-CN" altLang="en-US" sz="2800" b="0" i="0" dirty="0">
              <a:latin typeface="+mn-ea"/>
              <a:ea typeface="+mn-ea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4559D373-534E-9752-45A6-0564CBC19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237" y="3192398"/>
            <a:ext cx="551144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               时间复杂度</a:t>
            </a:r>
            <a:r>
              <a:rPr lang="en-US" altLang="zh-CN" sz="2800" b="0" i="0" dirty="0">
                <a:latin typeface="+mn-ea"/>
                <a:ea typeface="+mn-ea"/>
              </a:rPr>
              <a:t>O(n</a:t>
            </a:r>
            <a:r>
              <a:rPr lang="en-US" altLang="zh-CN" sz="2800" b="0" i="0" baseline="30000" dirty="0">
                <a:latin typeface="+mn-ea"/>
                <a:ea typeface="+mn-ea"/>
              </a:rPr>
              <a:t>2</a:t>
            </a:r>
            <a:r>
              <a:rPr lang="en-US" altLang="zh-CN" sz="2800" b="0" i="0" dirty="0">
                <a:latin typeface="+mn-ea"/>
                <a:ea typeface="+mn-ea"/>
              </a:rPr>
              <a:t>)</a:t>
            </a:r>
            <a:endParaRPr lang="zh-CN" altLang="en-US" sz="2800" b="0" i="0" dirty="0">
              <a:latin typeface="+mn-ea"/>
              <a:ea typeface="+mn-ea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2A6EC030-59B7-95BE-C0FC-EC44E03B2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976" y="3746944"/>
            <a:ext cx="83840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</a:t>
            </a:r>
            <a:r>
              <a:rPr lang="zh-CN" altLang="en-US" sz="2800" b="0" i="0" dirty="0">
                <a:latin typeface="+mn-ea"/>
                <a:ea typeface="+mn-ea"/>
              </a:rPr>
              <a:t>邻接表存储：统计入度，遍历所有邻接表，</a:t>
            </a:r>
            <a:r>
              <a:rPr lang="en-US" altLang="zh-CN" sz="2800" b="0" i="0" dirty="0">
                <a:latin typeface="+mn-ea"/>
                <a:ea typeface="+mn-ea"/>
              </a:rPr>
              <a:t>O(e)</a:t>
            </a:r>
            <a:r>
              <a:rPr lang="zh-CN" altLang="en-US" sz="2800" b="0" i="0" dirty="0">
                <a:latin typeface="+mn-ea"/>
                <a:ea typeface="+mn-ea"/>
              </a:rPr>
              <a:t>。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D26038C7-54D6-C72F-CB6C-824ADAD05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731" y="4364154"/>
            <a:ext cx="64684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             循环栈或队列元素，</a:t>
            </a:r>
            <a:r>
              <a:rPr lang="en-US" altLang="zh-CN" sz="2800" b="0" i="0" dirty="0">
                <a:latin typeface="+mn-ea"/>
                <a:ea typeface="+mn-ea"/>
              </a:rPr>
              <a:t>O(n)</a:t>
            </a:r>
            <a:endParaRPr lang="zh-CN" altLang="en-US" sz="2800" b="0" i="0" dirty="0">
              <a:latin typeface="+mn-ea"/>
              <a:ea typeface="+mn-ea"/>
            </a:endParaRP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95E591A8-7CB9-34CB-7C22-8E3230D02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85" y="4981364"/>
            <a:ext cx="64684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             访问该顶点邻接表，</a:t>
            </a:r>
            <a:r>
              <a:rPr lang="en-US" altLang="zh-CN" sz="2800" b="0" i="0" dirty="0">
                <a:latin typeface="+mn-ea"/>
                <a:ea typeface="+mn-ea"/>
              </a:rPr>
              <a:t>O(e)</a:t>
            </a:r>
            <a:endParaRPr lang="zh-CN" altLang="en-US" sz="2800" b="0" i="0" dirty="0">
              <a:latin typeface="+mn-ea"/>
              <a:ea typeface="+mn-ea"/>
            </a:endParaRP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80D0BDC3-4AFE-DD68-EDEB-6A292FB1C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85" y="5598574"/>
            <a:ext cx="539121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             时间复杂度</a:t>
            </a:r>
            <a:r>
              <a:rPr lang="en-US" altLang="zh-CN" sz="2800" b="0" i="0" dirty="0">
                <a:latin typeface="+mn-ea"/>
                <a:ea typeface="+mn-ea"/>
              </a:rPr>
              <a:t>O(</a:t>
            </a:r>
            <a:r>
              <a:rPr lang="en-US" altLang="zh-CN" sz="2800" b="0" i="0" dirty="0" err="1">
                <a:latin typeface="+mn-ea"/>
                <a:ea typeface="+mn-ea"/>
              </a:rPr>
              <a:t>n+e</a:t>
            </a:r>
            <a:r>
              <a:rPr lang="en-US" altLang="zh-CN" sz="2800" b="0" i="0" dirty="0">
                <a:latin typeface="+mn-ea"/>
                <a:ea typeface="+mn-ea"/>
              </a:rPr>
              <a:t>)</a:t>
            </a:r>
            <a:endParaRPr lang="zh-CN" altLang="en-US" sz="2800" b="0" i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391846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8" grpId="0"/>
      <p:bldP spid="9" grpId="0"/>
      <p:bldP spid="1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buClr>
                <a:schemeClr val="folHlink"/>
              </a:buClr>
              <a:buSzPct val="60000"/>
            </a:pPr>
            <a:r>
              <a:rPr lang="zh-CN" altLang="en-US" sz="440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  <a:sym typeface="Arial" pitchFamily="34" charset="0"/>
              </a:rPr>
              <a:t>练习</a:t>
            </a:r>
          </a:p>
        </p:txBody>
      </p:sp>
      <p:sp>
        <p:nvSpPr>
          <p:cNvPr id="50180" name="Rectangle 4"/>
          <p:cNvSpPr>
            <a:spLocks noGrp="1" noChangeArrowheads="1"/>
          </p:cNvSpPr>
          <p:nvPr/>
        </p:nvSpPr>
        <p:spPr bwMode="auto">
          <a:xfrm>
            <a:off x="500034" y="1276344"/>
            <a:ext cx="8207375" cy="494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0" i="0" dirty="0">
                <a:latin typeface="黑体" pitchFamily="49" charset="-122"/>
                <a:ea typeface="黑体" pitchFamily="49" charset="-122"/>
              </a:rPr>
              <a:t>某AOV网的邻接表存储结构如下，写出拓扑排序序列。</a:t>
            </a:r>
            <a:endParaRPr lang="zh-CN" altLang="en-US" sz="2800" b="0" i="0" dirty="0">
              <a:latin typeface="黑体" pitchFamily="49" charset="-122"/>
              <a:ea typeface="黑体" pitchFamily="49" charset="-122"/>
              <a:sym typeface="Arial" pitchFamily="34" charset="0"/>
            </a:endParaRPr>
          </a:p>
        </p:txBody>
      </p:sp>
      <p:sp>
        <p:nvSpPr>
          <p:cNvPr id="117765" name="Rectangle 5" descr="白色大理石"/>
          <p:cNvSpPr>
            <a:spLocks noChangeArrowheads="1"/>
          </p:cNvSpPr>
          <p:nvPr/>
        </p:nvSpPr>
        <p:spPr bwMode="auto">
          <a:xfrm>
            <a:off x="1156643" y="1916832"/>
            <a:ext cx="685800" cy="36576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38100">
            <a:solidFill>
              <a:srgbClr val="008080"/>
            </a:solidFill>
            <a:bevel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charset="0"/>
              <a:buNone/>
              <a:defRPr/>
            </a:pPr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117766" name="Rectangle 6" descr="白色大理石"/>
          <p:cNvSpPr>
            <a:spLocks noChangeArrowheads="1"/>
          </p:cNvSpPr>
          <p:nvPr/>
        </p:nvSpPr>
        <p:spPr bwMode="auto">
          <a:xfrm>
            <a:off x="1994843" y="1916832"/>
            <a:ext cx="1371600" cy="36576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38100">
            <a:solidFill>
              <a:srgbClr val="008080"/>
            </a:solidFill>
            <a:bevel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 typeface="Arial" charset="0"/>
              <a:buNone/>
              <a:defRPr/>
            </a:pPr>
            <a:r>
              <a:rPr lang="zh-CN" altLang="en-US" sz="2800" b="0" i="0">
                <a:latin typeface="+mn-ea"/>
                <a:ea typeface="+mn-ea"/>
              </a:rPr>
              <a:t> </a:t>
            </a:r>
            <a:r>
              <a:rPr lang="en-US" altLang="zh-CN" sz="2800" b="0" i="0">
                <a:latin typeface="+mn-ea"/>
                <a:ea typeface="+mn-ea"/>
              </a:rPr>
              <a:t>C0</a:t>
            </a:r>
          </a:p>
          <a:p>
            <a:pPr eaLnBrk="1" hangingPunct="1">
              <a:lnSpc>
                <a:spcPct val="120000"/>
              </a:lnSpc>
              <a:buClrTx/>
              <a:buSzTx/>
              <a:buFont typeface="Arial" charset="0"/>
              <a:buNone/>
              <a:defRPr/>
            </a:pPr>
            <a:r>
              <a:rPr lang="en-US" altLang="zh-CN" sz="2800" b="0" i="0">
                <a:latin typeface="+mn-ea"/>
                <a:ea typeface="+mn-ea"/>
              </a:rPr>
              <a:t> C1</a:t>
            </a:r>
          </a:p>
          <a:p>
            <a:pPr eaLnBrk="1" hangingPunct="1">
              <a:lnSpc>
                <a:spcPct val="120000"/>
              </a:lnSpc>
              <a:buClrTx/>
              <a:buSzTx/>
              <a:buFont typeface="Arial" charset="0"/>
              <a:buNone/>
              <a:defRPr/>
            </a:pPr>
            <a:r>
              <a:rPr lang="en-US" altLang="zh-CN" sz="2800" b="0" i="0">
                <a:latin typeface="+mn-ea"/>
                <a:ea typeface="+mn-ea"/>
              </a:rPr>
              <a:t> C2</a:t>
            </a:r>
          </a:p>
          <a:p>
            <a:pPr eaLnBrk="1" hangingPunct="1">
              <a:lnSpc>
                <a:spcPct val="120000"/>
              </a:lnSpc>
              <a:buClrTx/>
              <a:buSzTx/>
              <a:buFont typeface="Arial" charset="0"/>
              <a:buNone/>
              <a:defRPr/>
            </a:pPr>
            <a:r>
              <a:rPr lang="en-US" altLang="zh-CN" sz="2800" b="0" i="0">
                <a:latin typeface="+mn-ea"/>
                <a:ea typeface="+mn-ea"/>
              </a:rPr>
              <a:t> C3    ^</a:t>
            </a:r>
          </a:p>
          <a:p>
            <a:pPr eaLnBrk="1" hangingPunct="1">
              <a:lnSpc>
                <a:spcPct val="120000"/>
              </a:lnSpc>
              <a:buClrTx/>
              <a:buSzTx/>
              <a:buFont typeface="Arial" charset="0"/>
              <a:buNone/>
              <a:defRPr/>
            </a:pPr>
            <a:r>
              <a:rPr lang="en-US" altLang="zh-CN" sz="2800" b="0" i="0">
                <a:latin typeface="+mn-ea"/>
                <a:ea typeface="+mn-ea"/>
              </a:rPr>
              <a:t> C4</a:t>
            </a:r>
          </a:p>
          <a:p>
            <a:pPr eaLnBrk="1" hangingPunct="1">
              <a:lnSpc>
                <a:spcPct val="120000"/>
              </a:lnSpc>
              <a:buClrTx/>
              <a:buSzTx/>
              <a:buFont typeface="Arial" charset="0"/>
              <a:buNone/>
              <a:defRPr/>
            </a:pPr>
            <a:r>
              <a:rPr lang="en-US" altLang="zh-CN" sz="2800" b="0" i="0">
                <a:latin typeface="+mn-ea"/>
                <a:ea typeface="+mn-ea"/>
              </a:rPr>
              <a:t> C5   ^</a:t>
            </a:r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683568" y="1935882"/>
            <a:ext cx="365806" cy="3556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800" b="0" i="0">
                <a:solidFill>
                  <a:srgbClr val="008080"/>
                </a:solidFill>
                <a:latin typeface="+mn-ea"/>
                <a:ea typeface="+mn-ea"/>
              </a:rPr>
              <a:t>0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800" b="0" i="0">
                <a:solidFill>
                  <a:srgbClr val="008080"/>
                </a:solidFill>
                <a:latin typeface="+mn-ea"/>
                <a:ea typeface="+mn-ea"/>
              </a:rPr>
              <a:t>1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800" b="0" i="0">
                <a:solidFill>
                  <a:srgbClr val="008080"/>
                </a:solidFill>
                <a:latin typeface="+mn-ea"/>
                <a:ea typeface="+mn-ea"/>
              </a:rPr>
              <a:t>2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800" b="0" i="0">
                <a:solidFill>
                  <a:srgbClr val="008080"/>
                </a:solidFill>
                <a:latin typeface="+mn-ea"/>
                <a:ea typeface="+mn-ea"/>
              </a:rPr>
              <a:t>3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800" b="0" i="0">
                <a:solidFill>
                  <a:srgbClr val="008080"/>
                </a:solidFill>
                <a:latin typeface="+mn-ea"/>
                <a:ea typeface="+mn-ea"/>
              </a:rPr>
              <a:t>4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800" b="0" i="0">
                <a:solidFill>
                  <a:srgbClr val="008080"/>
                </a:solidFill>
                <a:latin typeface="+mn-ea"/>
                <a:ea typeface="+mn-ea"/>
              </a:rPr>
              <a:t>5</a:t>
            </a:r>
            <a:endParaRPr lang="en-US" altLang="zh-CN" sz="2800" b="0" i="0">
              <a:latin typeface="+mn-ea"/>
              <a:ea typeface="+mn-ea"/>
            </a:endParaRPr>
          </a:p>
        </p:txBody>
      </p:sp>
      <p:sp>
        <p:nvSpPr>
          <p:cNvPr id="50184" name="Text Box 8"/>
          <p:cNvSpPr txBox="1">
            <a:spLocks noChangeArrowheads="1"/>
          </p:cNvSpPr>
          <p:nvPr/>
        </p:nvSpPr>
        <p:spPr bwMode="auto">
          <a:xfrm>
            <a:off x="1328093" y="1916832"/>
            <a:ext cx="365806" cy="3556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800" b="0" i="0">
                <a:solidFill>
                  <a:srgbClr val="FF3300"/>
                </a:solidFill>
                <a:latin typeface="+mn-ea"/>
                <a:ea typeface="+mn-ea"/>
              </a:rPr>
              <a:t>1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800" b="0" i="0">
                <a:solidFill>
                  <a:srgbClr val="FF3300"/>
                </a:solidFill>
                <a:latin typeface="+mn-ea"/>
                <a:ea typeface="+mn-ea"/>
              </a:rPr>
              <a:t>3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800" b="0" i="0">
                <a:solidFill>
                  <a:srgbClr val="FF3300"/>
                </a:solidFill>
                <a:latin typeface="+mn-ea"/>
                <a:ea typeface="+mn-ea"/>
              </a:rPr>
              <a:t>0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800" b="0" i="0">
                <a:solidFill>
                  <a:srgbClr val="FF3300"/>
                </a:solidFill>
                <a:latin typeface="+mn-ea"/>
                <a:ea typeface="+mn-ea"/>
              </a:rPr>
              <a:t>1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800" b="0" i="0">
                <a:solidFill>
                  <a:srgbClr val="FF3300"/>
                </a:solidFill>
                <a:latin typeface="+mn-ea"/>
                <a:ea typeface="+mn-ea"/>
              </a:rPr>
              <a:t>0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800" b="0" i="0">
                <a:solidFill>
                  <a:srgbClr val="FF3300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50185" name="Line 9"/>
          <p:cNvSpPr>
            <a:spLocks noChangeShapeType="1"/>
          </p:cNvSpPr>
          <p:nvPr/>
        </p:nvSpPr>
        <p:spPr bwMode="auto">
          <a:xfrm>
            <a:off x="1156643" y="2526432"/>
            <a:ext cx="685800" cy="0"/>
          </a:xfrm>
          <a:prstGeom prst="line">
            <a:avLst/>
          </a:prstGeom>
          <a:noFill/>
          <a:ln w="38100">
            <a:solidFill>
              <a:srgbClr val="008080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186" name="Line 10"/>
          <p:cNvSpPr>
            <a:spLocks noChangeShapeType="1"/>
          </p:cNvSpPr>
          <p:nvPr/>
        </p:nvSpPr>
        <p:spPr bwMode="auto">
          <a:xfrm>
            <a:off x="1156643" y="3136032"/>
            <a:ext cx="685800" cy="0"/>
          </a:xfrm>
          <a:prstGeom prst="line">
            <a:avLst/>
          </a:prstGeom>
          <a:noFill/>
          <a:ln w="38100">
            <a:solidFill>
              <a:srgbClr val="008080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187" name="Line 11"/>
          <p:cNvSpPr>
            <a:spLocks noChangeShapeType="1"/>
          </p:cNvSpPr>
          <p:nvPr/>
        </p:nvSpPr>
        <p:spPr bwMode="auto">
          <a:xfrm>
            <a:off x="1156643" y="3745632"/>
            <a:ext cx="685800" cy="0"/>
          </a:xfrm>
          <a:prstGeom prst="line">
            <a:avLst/>
          </a:prstGeom>
          <a:noFill/>
          <a:ln w="38100">
            <a:solidFill>
              <a:srgbClr val="008080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188" name="Line 12"/>
          <p:cNvSpPr>
            <a:spLocks noChangeShapeType="1"/>
          </p:cNvSpPr>
          <p:nvPr/>
        </p:nvSpPr>
        <p:spPr bwMode="auto">
          <a:xfrm>
            <a:off x="1156643" y="4355232"/>
            <a:ext cx="685800" cy="0"/>
          </a:xfrm>
          <a:prstGeom prst="line">
            <a:avLst/>
          </a:prstGeom>
          <a:noFill/>
          <a:ln w="38100">
            <a:solidFill>
              <a:srgbClr val="008080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189" name="Line 13"/>
          <p:cNvSpPr>
            <a:spLocks noChangeShapeType="1"/>
          </p:cNvSpPr>
          <p:nvPr/>
        </p:nvSpPr>
        <p:spPr bwMode="auto">
          <a:xfrm>
            <a:off x="1156643" y="4964832"/>
            <a:ext cx="685800" cy="0"/>
          </a:xfrm>
          <a:prstGeom prst="line">
            <a:avLst/>
          </a:prstGeom>
          <a:noFill/>
          <a:ln w="38100">
            <a:solidFill>
              <a:srgbClr val="008080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190" name="Line 14"/>
          <p:cNvSpPr>
            <a:spLocks noChangeShapeType="1"/>
          </p:cNvSpPr>
          <p:nvPr/>
        </p:nvSpPr>
        <p:spPr bwMode="auto">
          <a:xfrm>
            <a:off x="1994843" y="2526432"/>
            <a:ext cx="1371600" cy="0"/>
          </a:xfrm>
          <a:prstGeom prst="line">
            <a:avLst/>
          </a:prstGeom>
          <a:noFill/>
          <a:ln w="38100">
            <a:solidFill>
              <a:srgbClr val="008080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191" name="Line 15"/>
          <p:cNvSpPr>
            <a:spLocks noChangeShapeType="1"/>
          </p:cNvSpPr>
          <p:nvPr/>
        </p:nvSpPr>
        <p:spPr bwMode="auto">
          <a:xfrm>
            <a:off x="1994843" y="3136032"/>
            <a:ext cx="1371600" cy="0"/>
          </a:xfrm>
          <a:prstGeom prst="line">
            <a:avLst/>
          </a:prstGeom>
          <a:noFill/>
          <a:ln w="38100">
            <a:solidFill>
              <a:srgbClr val="008080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192" name="Line 16"/>
          <p:cNvSpPr>
            <a:spLocks noChangeShapeType="1"/>
          </p:cNvSpPr>
          <p:nvPr/>
        </p:nvSpPr>
        <p:spPr bwMode="auto">
          <a:xfrm>
            <a:off x="1994843" y="3745632"/>
            <a:ext cx="1371600" cy="0"/>
          </a:xfrm>
          <a:prstGeom prst="line">
            <a:avLst/>
          </a:prstGeom>
          <a:noFill/>
          <a:ln w="38100">
            <a:solidFill>
              <a:srgbClr val="008080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193" name="Line 17"/>
          <p:cNvSpPr>
            <a:spLocks noChangeShapeType="1"/>
          </p:cNvSpPr>
          <p:nvPr/>
        </p:nvSpPr>
        <p:spPr bwMode="auto">
          <a:xfrm>
            <a:off x="1994843" y="4355232"/>
            <a:ext cx="1371600" cy="0"/>
          </a:xfrm>
          <a:prstGeom prst="line">
            <a:avLst/>
          </a:prstGeom>
          <a:noFill/>
          <a:ln w="38100">
            <a:solidFill>
              <a:srgbClr val="008080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194" name="Line 18"/>
          <p:cNvSpPr>
            <a:spLocks noChangeShapeType="1"/>
          </p:cNvSpPr>
          <p:nvPr/>
        </p:nvSpPr>
        <p:spPr bwMode="auto">
          <a:xfrm>
            <a:off x="1994843" y="4964832"/>
            <a:ext cx="1371600" cy="0"/>
          </a:xfrm>
          <a:prstGeom prst="line">
            <a:avLst/>
          </a:prstGeom>
          <a:noFill/>
          <a:ln w="38100">
            <a:solidFill>
              <a:srgbClr val="008080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195" name="Line 19"/>
          <p:cNvSpPr>
            <a:spLocks noChangeShapeType="1"/>
          </p:cNvSpPr>
          <p:nvPr/>
        </p:nvSpPr>
        <p:spPr bwMode="auto">
          <a:xfrm>
            <a:off x="2833043" y="1916832"/>
            <a:ext cx="0" cy="3657600"/>
          </a:xfrm>
          <a:prstGeom prst="line">
            <a:avLst/>
          </a:prstGeom>
          <a:noFill/>
          <a:ln w="38100">
            <a:solidFill>
              <a:srgbClr val="008080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117780" name="Rectangle 20" descr="羊皮纸"/>
          <p:cNvSpPr>
            <a:spLocks noChangeArrowheads="1"/>
          </p:cNvSpPr>
          <p:nvPr/>
        </p:nvSpPr>
        <p:spPr bwMode="auto">
          <a:xfrm>
            <a:off x="3976043" y="1993032"/>
            <a:ext cx="1219200" cy="4572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38100">
            <a:solidFill>
              <a:schemeClr val="tx1"/>
            </a:solidFill>
            <a:bevel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charset="0"/>
              <a:buNone/>
              <a:defRPr/>
            </a:pPr>
            <a:r>
              <a:rPr lang="zh-CN" altLang="en-US" sz="2800" b="0" i="0">
                <a:solidFill>
                  <a:srgbClr val="FF3300"/>
                </a:solidFill>
                <a:latin typeface="+mn-ea"/>
                <a:ea typeface="+mn-ea"/>
              </a:rPr>
              <a:t>  </a:t>
            </a:r>
            <a:r>
              <a:rPr lang="en-US" altLang="zh-CN" sz="2800" b="0" i="0">
                <a:solidFill>
                  <a:srgbClr val="FF3300"/>
                </a:solidFill>
                <a:latin typeface="+mn-ea"/>
                <a:ea typeface="+mn-ea"/>
              </a:rPr>
              <a:t>1</a:t>
            </a:r>
            <a:endParaRPr lang="en-US" altLang="zh-CN" sz="2800" b="0" i="0">
              <a:latin typeface="+mn-ea"/>
              <a:ea typeface="+mn-ea"/>
            </a:endParaRPr>
          </a:p>
        </p:txBody>
      </p:sp>
      <p:sp>
        <p:nvSpPr>
          <p:cNvPr id="50197" name="Line 21"/>
          <p:cNvSpPr>
            <a:spLocks noChangeShapeType="1"/>
          </p:cNvSpPr>
          <p:nvPr/>
        </p:nvSpPr>
        <p:spPr bwMode="auto">
          <a:xfrm>
            <a:off x="4661843" y="1993032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198" name="Line 22"/>
          <p:cNvSpPr>
            <a:spLocks noChangeShapeType="1"/>
          </p:cNvSpPr>
          <p:nvPr/>
        </p:nvSpPr>
        <p:spPr bwMode="auto">
          <a:xfrm>
            <a:off x="3137843" y="2221632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199" name="Line 23"/>
          <p:cNvSpPr>
            <a:spLocks noChangeShapeType="1"/>
          </p:cNvSpPr>
          <p:nvPr/>
        </p:nvSpPr>
        <p:spPr bwMode="auto">
          <a:xfrm>
            <a:off x="4890443" y="2221632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117784" name="Rectangle 24" descr="羊皮纸"/>
          <p:cNvSpPr>
            <a:spLocks noChangeArrowheads="1"/>
          </p:cNvSpPr>
          <p:nvPr/>
        </p:nvSpPr>
        <p:spPr bwMode="auto">
          <a:xfrm>
            <a:off x="5728643" y="1993032"/>
            <a:ext cx="1219200" cy="4572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38100">
            <a:solidFill>
              <a:schemeClr val="tx1"/>
            </a:solidFill>
            <a:bevel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charset="0"/>
              <a:buNone/>
              <a:defRPr/>
            </a:pPr>
            <a:r>
              <a:rPr lang="zh-CN" altLang="en-US" sz="2800" b="0" i="0">
                <a:solidFill>
                  <a:srgbClr val="FF3300"/>
                </a:solidFill>
                <a:latin typeface="+mn-ea"/>
                <a:ea typeface="+mn-ea"/>
              </a:rPr>
              <a:t>  </a:t>
            </a:r>
            <a:r>
              <a:rPr lang="en-US" altLang="zh-CN" sz="2800" b="0" i="0">
                <a:solidFill>
                  <a:srgbClr val="FF3300"/>
                </a:solidFill>
                <a:latin typeface="+mn-ea"/>
                <a:ea typeface="+mn-ea"/>
              </a:rPr>
              <a:t>3    ^</a:t>
            </a:r>
            <a:endParaRPr lang="en-US" altLang="zh-CN" sz="2800" b="0" i="0">
              <a:latin typeface="+mn-ea"/>
              <a:ea typeface="+mn-ea"/>
            </a:endParaRPr>
          </a:p>
        </p:txBody>
      </p:sp>
      <p:sp>
        <p:nvSpPr>
          <p:cNvPr id="50201" name="Line 25"/>
          <p:cNvSpPr>
            <a:spLocks noChangeShapeType="1"/>
          </p:cNvSpPr>
          <p:nvPr/>
        </p:nvSpPr>
        <p:spPr bwMode="auto">
          <a:xfrm>
            <a:off x="6414443" y="1993032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202" name="Line 26"/>
          <p:cNvSpPr>
            <a:spLocks noChangeShapeType="1"/>
          </p:cNvSpPr>
          <p:nvPr/>
        </p:nvSpPr>
        <p:spPr bwMode="auto">
          <a:xfrm>
            <a:off x="3137843" y="2831232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117787" name="Rectangle 27" descr="羊皮纸"/>
          <p:cNvSpPr>
            <a:spLocks noChangeArrowheads="1"/>
          </p:cNvSpPr>
          <p:nvPr/>
        </p:nvSpPr>
        <p:spPr bwMode="auto">
          <a:xfrm>
            <a:off x="3953818" y="2615332"/>
            <a:ext cx="1219200" cy="4572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38100">
            <a:solidFill>
              <a:schemeClr val="tx1"/>
            </a:solidFill>
            <a:bevel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charset="0"/>
              <a:buNone/>
              <a:defRPr/>
            </a:pPr>
            <a:r>
              <a:rPr lang="zh-CN" altLang="en-US" sz="2800" b="0" i="0">
                <a:solidFill>
                  <a:srgbClr val="FF3300"/>
                </a:solidFill>
                <a:latin typeface="+mn-ea"/>
                <a:ea typeface="+mn-ea"/>
              </a:rPr>
              <a:t>  </a:t>
            </a:r>
            <a:r>
              <a:rPr lang="en-US" altLang="zh-CN" sz="2800" b="0" i="0">
                <a:solidFill>
                  <a:srgbClr val="FF3300"/>
                </a:solidFill>
                <a:latin typeface="+mn-ea"/>
                <a:ea typeface="+mn-ea"/>
              </a:rPr>
              <a:t>5     ^</a:t>
            </a:r>
            <a:endParaRPr lang="en-US" altLang="zh-CN" sz="2800" b="0" i="0">
              <a:latin typeface="+mn-ea"/>
              <a:ea typeface="+mn-ea"/>
            </a:endParaRPr>
          </a:p>
        </p:txBody>
      </p:sp>
      <p:sp>
        <p:nvSpPr>
          <p:cNvPr id="50204" name="Line 28"/>
          <p:cNvSpPr>
            <a:spLocks noChangeShapeType="1"/>
          </p:cNvSpPr>
          <p:nvPr/>
        </p:nvSpPr>
        <p:spPr bwMode="auto">
          <a:xfrm>
            <a:off x="4661843" y="2602632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205" name="Line 29"/>
          <p:cNvSpPr>
            <a:spLocks noChangeShapeType="1"/>
          </p:cNvSpPr>
          <p:nvPr/>
        </p:nvSpPr>
        <p:spPr bwMode="auto">
          <a:xfrm>
            <a:off x="3137843" y="3440832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206" name="Line 30"/>
          <p:cNvSpPr>
            <a:spLocks noChangeShapeType="1"/>
          </p:cNvSpPr>
          <p:nvPr/>
        </p:nvSpPr>
        <p:spPr bwMode="auto">
          <a:xfrm>
            <a:off x="3137843" y="4660032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117791" name="Rectangle 31" descr="羊皮纸"/>
          <p:cNvSpPr>
            <a:spLocks noChangeArrowheads="1"/>
          </p:cNvSpPr>
          <p:nvPr/>
        </p:nvSpPr>
        <p:spPr bwMode="auto">
          <a:xfrm>
            <a:off x="3976043" y="3212232"/>
            <a:ext cx="1219200" cy="4572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38100">
            <a:solidFill>
              <a:schemeClr val="tx1"/>
            </a:solidFill>
            <a:bevel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charset="0"/>
              <a:buNone/>
              <a:defRPr/>
            </a:pPr>
            <a:r>
              <a:rPr lang="zh-CN" altLang="en-US" sz="2800" b="0" i="0">
                <a:solidFill>
                  <a:srgbClr val="FF3300"/>
                </a:solidFill>
                <a:latin typeface="+mn-ea"/>
                <a:ea typeface="+mn-ea"/>
              </a:rPr>
              <a:t>  </a:t>
            </a:r>
            <a:r>
              <a:rPr lang="en-US" altLang="zh-CN" sz="2800" b="0" i="0">
                <a:solidFill>
                  <a:srgbClr val="FF3300"/>
                </a:solidFill>
                <a:latin typeface="+mn-ea"/>
                <a:ea typeface="+mn-ea"/>
              </a:rPr>
              <a:t>1</a:t>
            </a:r>
            <a:endParaRPr lang="en-US" altLang="zh-CN" sz="2800" b="0" i="0">
              <a:latin typeface="+mn-ea"/>
              <a:ea typeface="+mn-ea"/>
            </a:endParaRPr>
          </a:p>
        </p:txBody>
      </p:sp>
      <p:sp>
        <p:nvSpPr>
          <p:cNvPr id="117792" name="Rectangle 32" descr="羊皮纸"/>
          <p:cNvSpPr>
            <a:spLocks noChangeArrowheads="1"/>
          </p:cNvSpPr>
          <p:nvPr/>
        </p:nvSpPr>
        <p:spPr bwMode="auto">
          <a:xfrm>
            <a:off x="5754043" y="3190007"/>
            <a:ext cx="1219200" cy="4572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38100">
            <a:solidFill>
              <a:schemeClr val="tx1"/>
            </a:solidFill>
            <a:bevel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charset="0"/>
              <a:buNone/>
              <a:defRPr/>
            </a:pPr>
            <a:r>
              <a:rPr lang="zh-CN" altLang="en-US" sz="2800" b="0" i="0">
                <a:solidFill>
                  <a:srgbClr val="FF3300"/>
                </a:solidFill>
                <a:latin typeface="+mn-ea"/>
                <a:ea typeface="+mn-ea"/>
              </a:rPr>
              <a:t>  </a:t>
            </a:r>
            <a:r>
              <a:rPr lang="en-US" altLang="zh-CN" sz="2800" b="0" i="0">
                <a:solidFill>
                  <a:srgbClr val="FF3300"/>
                </a:solidFill>
                <a:latin typeface="+mn-ea"/>
                <a:ea typeface="+mn-ea"/>
              </a:rPr>
              <a:t>5    ^</a:t>
            </a:r>
            <a:endParaRPr lang="en-US" altLang="zh-CN" sz="2800" b="0" i="0">
              <a:latin typeface="+mn-ea"/>
              <a:ea typeface="+mn-ea"/>
            </a:endParaRPr>
          </a:p>
        </p:txBody>
      </p:sp>
      <p:sp>
        <p:nvSpPr>
          <p:cNvPr id="50209" name="Line 33"/>
          <p:cNvSpPr>
            <a:spLocks noChangeShapeType="1"/>
          </p:cNvSpPr>
          <p:nvPr/>
        </p:nvSpPr>
        <p:spPr bwMode="auto">
          <a:xfrm>
            <a:off x="4661843" y="3212232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210" name="Line 34"/>
          <p:cNvSpPr>
            <a:spLocks noChangeShapeType="1"/>
          </p:cNvSpPr>
          <p:nvPr/>
        </p:nvSpPr>
        <p:spPr bwMode="auto">
          <a:xfrm>
            <a:off x="6414443" y="3212232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117795" name="Line 35"/>
          <p:cNvSpPr>
            <a:spLocks noChangeShapeType="1"/>
          </p:cNvSpPr>
          <p:nvPr/>
        </p:nvSpPr>
        <p:spPr bwMode="auto">
          <a:xfrm>
            <a:off x="4890443" y="3440832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 eaLnBrk="1" hangingPunct="1">
              <a:buFont typeface="Arial" charset="0"/>
              <a:buNone/>
              <a:defRPr/>
            </a:pPr>
            <a:endParaRPr lang="en-US" sz="2800" b="0" i="0">
              <a:latin typeface="+mn-ea"/>
              <a:ea typeface="+mn-ea"/>
            </a:endParaRPr>
          </a:p>
        </p:txBody>
      </p:sp>
      <p:sp>
        <p:nvSpPr>
          <p:cNvPr id="117796" name="Rectangle 36" descr="羊皮纸"/>
          <p:cNvSpPr>
            <a:spLocks noChangeArrowheads="1"/>
          </p:cNvSpPr>
          <p:nvPr/>
        </p:nvSpPr>
        <p:spPr bwMode="auto">
          <a:xfrm>
            <a:off x="3976043" y="4431432"/>
            <a:ext cx="1219200" cy="4572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38100">
            <a:solidFill>
              <a:schemeClr val="tx1"/>
            </a:solidFill>
            <a:bevel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charset="0"/>
              <a:buNone/>
              <a:defRPr/>
            </a:pPr>
            <a:r>
              <a:rPr lang="zh-CN" altLang="en-US" sz="2800" b="0" i="0">
                <a:solidFill>
                  <a:srgbClr val="FF3300"/>
                </a:solidFill>
                <a:latin typeface="+mn-ea"/>
                <a:ea typeface="+mn-ea"/>
              </a:rPr>
              <a:t>  </a:t>
            </a:r>
            <a:r>
              <a:rPr lang="en-US" altLang="zh-CN" sz="2800" b="0" i="0">
                <a:solidFill>
                  <a:srgbClr val="FF3300"/>
                </a:solidFill>
                <a:latin typeface="+mn-ea"/>
                <a:ea typeface="+mn-ea"/>
              </a:rPr>
              <a:t>0</a:t>
            </a:r>
            <a:endParaRPr lang="en-US" altLang="zh-CN" sz="2800" b="0" i="0">
              <a:latin typeface="+mn-ea"/>
              <a:ea typeface="+mn-ea"/>
            </a:endParaRPr>
          </a:p>
        </p:txBody>
      </p:sp>
      <p:sp>
        <p:nvSpPr>
          <p:cNvPr id="50213" name="Line 37"/>
          <p:cNvSpPr>
            <a:spLocks noChangeShapeType="1"/>
          </p:cNvSpPr>
          <p:nvPr/>
        </p:nvSpPr>
        <p:spPr bwMode="auto">
          <a:xfrm>
            <a:off x="4661843" y="4431432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214" name="Line 38"/>
          <p:cNvSpPr>
            <a:spLocks noChangeShapeType="1"/>
          </p:cNvSpPr>
          <p:nvPr/>
        </p:nvSpPr>
        <p:spPr bwMode="auto">
          <a:xfrm>
            <a:off x="4890443" y="4660032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117799" name="Rectangle 39" descr="羊皮纸"/>
          <p:cNvSpPr>
            <a:spLocks noChangeArrowheads="1"/>
          </p:cNvSpPr>
          <p:nvPr/>
        </p:nvSpPr>
        <p:spPr bwMode="auto">
          <a:xfrm>
            <a:off x="5728643" y="4431432"/>
            <a:ext cx="1219200" cy="4572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38100">
            <a:solidFill>
              <a:schemeClr val="tx1"/>
            </a:solidFill>
            <a:bevel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charset="0"/>
              <a:buNone/>
              <a:defRPr/>
            </a:pPr>
            <a:r>
              <a:rPr lang="zh-CN" altLang="en-US" sz="2800" b="0" i="0">
                <a:solidFill>
                  <a:srgbClr val="FF3300"/>
                </a:solidFill>
                <a:latin typeface="+mn-ea"/>
                <a:ea typeface="+mn-ea"/>
              </a:rPr>
              <a:t>  </a:t>
            </a:r>
            <a:r>
              <a:rPr lang="en-US" altLang="zh-CN" sz="2800" b="0" i="0">
                <a:solidFill>
                  <a:srgbClr val="FF3300"/>
                </a:solidFill>
                <a:latin typeface="+mn-ea"/>
                <a:ea typeface="+mn-ea"/>
              </a:rPr>
              <a:t>1</a:t>
            </a:r>
            <a:endParaRPr lang="en-US" altLang="zh-CN" sz="2800" b="0" i="0">
              <a:latin typeface="+mn-ea"/>
              <a:ea typeface="+mn-ea"/>
            </a:endParaRPr>
          </a:p>
        </p:txBody>
      </p:sp>
      <p:sp>
        <p:nvSpPr>
          <p:cNvPr id="50216" name="Line 40"/>
          <p:cNvSpPr>
            <a:spLocks noChangeShapeType="1"/>
          </p:cNvSpPr>
          <p:nvPr/>
        </p:nvSpPr>
        <p:spPr bwMode="auto">
          <a:xfrm>
            <a:off x="6414443" y="4431432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217" name="Line 41"/>
          <p:cNvSpPr>
            <a:spLocks noChangeShapeType="1"/>
          </p:cNvSpPr>
          <p:nvPr/>
        </p:nvSpPr>
        <p:spPr bwMode="auto">
          <a:xfrm>
            <a:off x="6643043" y="4660032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117802" name="Rectangle 42" descr="羊皮纸"/>
          <p:cNvSpPr>
            <a:spLocks noChangeArrowheads="1"/>
          </p:cNvSpPr>
          <p:nvPr/>
        </p:nvSpPr>
        <p:spPr bwMode="auto">
          <a:xfrm>
            <a:off x="7481243" y="4431432"/>
            <a:ext cx="1219200" cy="4572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38100">
            <a:solidFill>
              <a:schemeClr val="tx1"/>
            </a:solidFill>
            <a:bevel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charset="0"/>
              <a:buNone/>
              <a:defRPr/>
            </a:pPr>
            <a:r>
              <a:rPr lang="zh-CN" altLang="en-US" sz="2800" b="0" i="0">
                <a:solidFill>
                  <a:srgbClr val="FF3300"/>
                </a:solidFill>
                <a:latin typeface="+mn-ea"/>
                <a:ea typeface="+mn-ea"/>
              </a:rPr>
              <a:t>  </a:t>
            </a:r>
            <a:r>
              <a:rPr lang="en-US" altLang="zh-CN" sz="2800" b="0" i="0">
                <a:solidFill>
                  <a:srgbClr val="FF3300"/>
                </a:solidFill>
                <a:latin typeface="+mn-ea"/>
                <a:ea typeface="+mn-ea"/>
              </a:rPr>
              <a:t>5    ^</a:t>
            </a:r>
            <a:endParaRPr lang="en-US" altLang="zh-CN" sz="2800" b="0" i="0">
              <a:latin typeface="+mn-ea"/>
              <a:ea typeface="+mn-ea"/>
            </a:endParaRPr>
          </a:p>
        </p:txBody>
      </p:sp>
      <p:sp>
        <p:nvSpPr>
          <p:cNvPr id="50219" name="Line 43"/>
          <p:cNvSpPr>
            <a:spLocks noChangeShapeType="1"/>
          </p:cNvSpPr>
          <p:nvPr/>
        </p:nvSpPr>
        <p:spPr bwMode="auto">
          <a:xfrm>
            <a:off x="8167043" y="4431432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bevel/>
            <a:headEnd/>
            <a:tailEnd/>
          </a:ln>
        </p:spPr>
        <p:txBody>
          <a:bodyPr wrap="none" anchor="ctr"/>
          <a:lstStyle/>
          <a:p>
            <a:endParaRPr lang="zh-CN" altLang="en-US" sz="2800" b="0" i="0">
              <a:latin typeface="+mn-ea"/>
              <a:ea typeface="+mn-ea"/>
            </a:endParaRPr>
          </a:p>
        </p:txBody>
      </p:sp>
      <p:sp>
        <p:nvSpPr>
          <p:cNvPr id="50220" name="Text Box 44"/>
          <p:cNvSpPr txBox="1">
            <a:spLocks noChangeArrowheads="1"/>
          </p:cNvSpPr>
          <p:nvPr/>
        </p:nvSpPr>
        <p:spPr bwMode="auto">
          <a:xfrm>
            <a:off x="876397" y="5632156"/>
            <a:ext cx="12969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400" b="0" i="0" dirty="0">
                <a:latin typeface="+mn-ea"/>
                <a:ea typeface="+mn-ea"/>
              </a:rPr>
              <a:t>Indgree</a:t>
            </a:r>
          </a:p>
        </p:txBody>
      </p:sp>
      <p:sp>
        <p:nvSpPr>
          <p:cNvPr id="2" name="Text Box 17">
            <a:extLst>
              <a:ext uri="{FF2B5EF4-FFF2-40B4-BE49-F238E27FC236}">
                <a16:creationId xmlns:a16="http://schemas.microsoft.com/office/drawing/2014/main" id="{CB023FB3-01E8-188C-8D24-036A0F868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202" y="5696999"/>
            <a:ext cx="6302798" cy="1113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2400" b="0" i="0" dirty="0">
                <a:latin typeface="黑体" pitchFamily="49" charset="-122"/>
                <a:ea typeface="黑体" pitchFamily="49" charset="-122"/>
              </a:rPr>
              <a:t>拓扑排序：</a:t>
            </a:r>
            <a:r>
              <a:rPr lang="zh-CN" altLang="en-US" sz="24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C4、C0、C3、C2、C1、C5（栈，出）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2400" b="0" i="0" dirty="0">
                <a:latin typeface="黑体" pitchFamily="49" charset="-122"/>
                <a:ea typeface="黑体" pitchFamily="49" charset="-122"/>
              </a:rPr>
              <a:t>          </a:t>
            </a:r>
            <a:r>
              <a:rPr lang="zh-CN" altLang="en-US" sz="24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C2、</a:t>
            </a:r>
            <a:r>
              <a:rPr lang="en-US" altLang="zh-CN" sz="24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C4</a:t>
            </a:r>
            <a:r>
              <a:rPr lang="zh-CN" altLang="en-US" sz="24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C0</a:t>
            </a:r>
            <a:r>
              <a:rPr lang="zh-CN" altLang="en-US" sz="24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C1</a:t>
            </a:r>
            <a:r>
              <a:rPr lang="zh-CN" altLang="en-US" sz="24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C3</a:t>
            </a:r>
            <a:r>
              <a:rPr lang="zh-CN" altLang="en-US" sz="24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C5</a:t>
            </a:r>
            <a:r>
              <a:rPr lang="zh-CN" altLang="en-US" sz="2400" b="0" i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（队列)</a:t>
            </a:r>
            <a:r>
              <a:rPr lang="zh-CN" altLang="en-US" sz="2400" b="0" i="0" dirty="0">
                <a:latin typeface="黑体" pitchFamily="49" charset="-122"/>
                <a:ea typeface="黑体" pitchFamily="49" charset="-122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1_Profile">
  <a:themeElements>
    <a:clrScheme name="1_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1_Profile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1800" b="1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>
    <a:extraClrScheme>
      <a:clrScheme name="1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第五章演示文稿</Template>
  <TotalTime>18548</TotalTime>
  <Words>4978</Words>
  <Application>Microsoft Office PowerPoint</Application>
  <PresentationFormat>全屏显示(4:3)</PresentationFormat>
  <Paragraphs>957</Paragraphs>
  <Slides>60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77" baseType="lpstr">
      <vt:lpstr>黑体</vt:lpstr>
      <vt:lpstr>华文行楷</vt:lpstr>
      <vt:lpstr>楷体_GB2312</vt:lpstr>
      <vt:lpstr>隶书</vt:lpstr>
      <vt:lpstr>宋体</vt:lpstr>
      <vt:lpstr>Arial</vt:lpstr>
      <vt:lpstr>Calibri</vt:lpstr>
      <vt:lpstr>Cambria Math</vt:lpstr>
      <vt:lpstr>Consolas</vt:lpstr>
      <vt:lpstr>Symbol</vt:lpstr>
      <vt:lpstr>Tahoma</vt:lpstr>
      <vt:lpstr>Times New Roman</vt:lpstr>
      <vt:lpstr>Verdana</vt:lpstr>
      <vt:lpstr>Wingdings</vt:lpstr>
      <vt:lpstr>1_Profile</vt:lpstr>
      <vt:lpstr>Visio.Drawing.6</vt:lpstr>
      <vt:lpstr>Visio.Drawing.11</vt:lpstr>
      <vt:lpstr>数据结构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例：求下图A顶点到各顶点的最短路径。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对下图求从V0出发到各顶点的最短路径。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一、AOV-网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拓扑排序与AOV网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dongfanghong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</dc:creator>
  <cp:lastModifiedBy>SZU</cp:lastModifiedBy>
  <cp:revision>1529</cp:revision>
  <cp:lastPrinted>2019-12-25T01:12:26Z</cp:lastPrinted>
  <dcterms:created xsi:type="dcterms:W3CDTF">2002-01-07T04:58:02Z</dcterms:created>
  <dcterms:modified xsi:type="dcterms:W3CDTF">2024-11-06T03:41:50Z</dcterms:modified>
</cp:coreProperties>
</file>